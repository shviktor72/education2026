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83" r:id="rId11"/>
    <p:sldId id="284" r:id="rId12"/>
    <p:sldId id="266" r:id="rId13"/>
    <p:sldId id="285" r:id="rId14"/>
    <p:sldId id="287" r:id="rId15"/>
    <p:sldId id="286" r:id="rId16"/>
    <p:sldId id="267" r:id="rId17"/>
    <p:sldId id="268" r:id="rId18"/>
    <p:sldId id="288" r:id="rId19"/>
    <p:sldId id="290" r:id="rId20"/>
    <p:sldId id="302" r:id="rId21"/>
    <p:sldId id="269" r:id="rId22"/>
    <p:sldId id="303" r:id="rId23"/>
    <p:sldId id="301" r:id="rId24"/>
    <p:sldId id="270" r:id="rId25"/>
    <p:sldId id="289" r:id="rId26"/>
    <p:sldId id="291" r:id="rId27"/>
    <p:sldId id="271" r:id="rId28"/>
    <p:sldId id="304" r:id="rId29"/>
    <p:sldId id="292" r:id="rId30"/>
    <p:sldId id="273" r:id="rId31"/>
    <p:sldId id="305" r:id="rId32"/>
    <p:sldId id="272" r:id="rId33"/>
    <p:sldId id="298" r:id="rId34"/>
    <p:sldId id="276" r:id="rId35"/>
    <p:sldId id="299" r:id="rId36"/>
    <p:sldId id="278" r:id="rId37"/>
    <p:sldId id="279" r:id="rId38"/>
    <p:sldId id="306" r:id="rId39"/>
    <p:sldId id="307" r:id="rId4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83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21748" y="1230015"/>
            <a:ext cx="8348504" cy="15696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800" dirty="0" err="1"/>
              <a:t>Лекция</a:t>
            </a:r>
            <a:r>
              <a:rPr sz="4800" dirty="0"/>
              <a:t> 3. </a:t>
            </a:r>
            <a:endParaRPr lang="ru-RU" sz="4800" dirty="0"/>
          </a:p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800" dirty="0"/>
              <a:t>Ethernet и </a:t>
            </a:r>
            <a:r>
              <a:rPr sz="4800" dirty="0" err="1"/>
              <a:t>канальный</a:t>
            </a:r>
            <a:r>
              <a:rPr sz="4800" dirty="0"/>
              <a:t> </a:t>
            </a:r>
            <a:r>
              <a:rPr sz="4800" dirty="0" err="1"/>
              <a:t>уровень</a:t>
            </a:r>
            <a:endParaRPr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Цель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Сформировать</a:t>
            </a:r>
            <a:r>
              <a:rPr dirty="0"/>
              <a:t> у </a:t>
            </a:r>
            <a:r>
              <a:rPr dirty="0" err="1"/>
              <a:t>обучающихся</a:t>
            </a:r>
            <a:r>
              <a:rPr dirty="0"/>
              <a:t> </a:t>
            </a:r>
            <a:r>
              <a:rPr dirty="0" err="1"/>
              <a:t>понимание</a:t>
            </a:r>
            <a:r>
              <a:rPr dirty="0"/>
              <a:t> </a:t>
            </a:r>
            <a:r>
              <a:rPr dirty="0" err="1"/>
              <a:t>работы</a:t>
            </a:r>
            <a:r>
              <a:rPr dirty="0"/>
              <a:t> Ethernet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канальном</a:t>
            </a:r>
            <a:r>
              <a:rPr dirty="0"/>
              <a:t> </a:t>
            </a:r>
            <a:r>
              <a:rPr dirty="0" err="1"/>
              <a:t>уровне</a:t>
            </a:r>
            <a:r>
              <a:rPr dirty="0"/>
              <a:t>, </a:t>
            </a:r>
            <a:r>
              <a:rPr dirty="0" err="1"/>
              <a:t>назначения</a:t>
            </a:r>
            <a:r>
              <a:rPr dirty="0"/>
              <a:t> MAC-</a:t>
            </a:r>
            <a:r>
              <a:rPr dirty="0" err="1"/>
              <a:t>адресов</a:t>
            </a:r>
            <a:r>
              <a:rPr dirty="0"/>
              <a:t>, Ethernet-</a:t>
            </a:r>
            <a:r>
              <a:rPr dirty="0" err="1"/>
              <a:t>кадра</a:t>
            </a:r>
            <a:r>
              <a:rPr dirty="0"/>
              <a:t>, </a:t>
            </a:r>
            <a:r>
              <a:rPr dirty="0" err="1"/>
              <a:t>коммутатора</a:t>
            </a:r>
            <a:r>
              <a:rPr dirty="0"/>
              <a:t>, broadcast-</a:t>
            </a:r>
            <a:r>
              <a:rPr dirty="0" err="1"/>
              <a:t>домена</a:t>
            </a:r>
            <a:r>
              <a:rPr dirty="0"/>
              <a:t>, collision-</a:t>
            </a:r>
            <a:r>
              <a:rPr dirty="0" err="1"/>
              <a:t>домена</a:t>
            </a:r>
            <a:r>
              <a:rPr dirty="0"/>
              <a:t> и </a:t>
            </a:r>
            <a:r>
              <a:rPr dirty="0" err="1"/>
              <a:t>типовых</a:t>
            </a:r>
            <a:r>
              <a:rPr dirty="0"/>
              <a:t> </a:t>
            </a:r>
            <a:r>
              <a:rPr dirty="0" err="1"/>
              <a:t>проблем</a:t>
            </a:r>
            <a:r>
              <a:rPr dirty="0"/>
              <a:t> </a:t>
            </a:r>
            <a:r>
              <a:rPr dirty="0" err="1"/>
              <a:t>локального</a:t>
            </a:r>
            <a:r>
              <a:rPr dirty="0"/>
              <a:t> </a:t>
            </a:r>
            <a:r>
              <a:rPr dirty="0" err="1"/>
              <a:t>сегмента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Список учебных вопросов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rPr lang="ru-RU" sz="3200" dirty="0"/>
              <a:t>1. Назначение канального уровня.</a:t>
            </a:r>
          </a:p>
          <a:p>
            <a:pPr>
              <a:defRPr sz="3600"/>
            </a:pPr>
            <a:r>
              <a:rPr lang="ru-RU" sz="3200" dirty="0"/>
              <a:t>Ethernet как базовая технология локальных сетей.</a:t>
            </a:r>
          </a:p>
          <a:p>
            <a:pPr>
              <a:defRPr sz="3600"/>
            </a:pPr>
            <a:r>
              <a:rPr lang="ru-RU" sz="3200" dirty="0"/>
              <a:t>MAC-адрес: назначение, формат и роль в локальной сети.</a:t>
            </a:r>
          </a:p>
          <a:p>
            <a:pPr>
              <a:defRPr sz="3600"/>
            </a:pPr>
            <a:r>
              <a:rPr lang="ru-RU" sz="3200" dirty="0"/>
              <a:t>2. Ethernet </a:t>
            </a:r>
            <a:r>
              <a:rPr lang="ru-RU" sz="3200" dirty="0" err="1"/>
              <a:t>frame</a:t>
            </a:r>
            <a:r>
              <a:rPr lang="ru-RU" sz="3200" dirty="0"/>
              <a:t>: основные поля на уровне понимания.</a:t>
            </a:r>
          </a:p>
          <a:p>
            <a:pPr>
              <a:defRPr sz="3600"/>
            </a:pPr>
            <a:r>
              <a:rPr lang="ru-RU" sz="3200" dirty="0"/>
              <a:t>3. Проблема множественного доступа. </a:t>
            </a:r>
          </a:p>
          <a:p>
            <a:pPr>
              <a:defRPr sz="3600"/>
            </a:pPr>
            <a:r>
              <a:rPr lang="ru-RU" sz="3200" dirty="0"/>
              <a:t>4. </a:t>
            </a:r>
            <a:r>
              <a:rPr lang="ru-RU" sz="3200" dirty="0" err="1"/>
              <a:t>Switch</a:t>
            </a:r>
            <a:r>
              <a:rPr lang="ru-RU" sz="3200" dirty="0"/>
              <a:t> и таблица коммутации MAC-адресов.</a:t>
            </a:r>
          </a:p>
          <a:p>
            <a:pPr>
              <a:defRPr sz="3600"/>
            </a:pPr>
            <a:r>
              <a:rPr lang="ru-RU" sz="3200" dirty="0"/>
              <a:t>5. Петля коммутации и ее влияние на сеть на уровне понимания.</a:t>
            </a:r>
          </a:p>
          <a:p>
            <a:pPr>
              <a:defRPr sz="3600"/>
            </a:pPr>
            <a:endParaRPr sz="3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Основные термины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Data Link layer - </a:t>
            </a:r>
            <a:r>
              <a:rPr dirty="0" err="1"/>
              <a:t>канальный</a:t>
            </a:r>
            <a:r>
              <a:rPr dirty="0"/>
              <a:t> </a:t>
            </a:r>
            <a:r>
              <a:rPr dirty="0" err="1"/>
              <a:t>уровень</a:t>
            </a:r>
            <a:r>
              <a:rPr dirty="0"/>
              <a:t>, </a:t>
            </a:r>
            <a:r>
              <a:rPr dirty="0" err="1"/>
              <a:t>доставка</a:t>
            </a:r>
            <a:r>
              <a:rPr dirty="0"/>
              <a:t> </a:t>
            </a:r>
            <a:r>
              <a:rPr dirty="0" err="1"/>
              <a:t>кадров</a:t>
            </a:r>
            <a:r>
              <a:rPr dirty="0"/>
              <a:t> </a:t>
            </a:r>
            <a:r>
              <a:rPr dirty="0" err="1"/>
              <a:t>внутри</a:t>
            </a:r>
            <a:r>
              <a:rPr dirty="0"/>
              <a:t> </a:t>
            </a:r>
            <a:r>
              <a:rPr dirty="0" err="1"/>
              <a:t>локального</a:t>
            </a:r>
            <a:r>
              <a:rPr dirty="0"/>
              <a:t> </a:t>
            </a:r>
            <a:r>
              <a:rPr dirty="0" err="1"/>
              <a:t>сегмента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Ethernet - </a:t>
            </a:r>
            <a:r>
              <a:rPr dirty="0" err="1"/>
              <a:t>технология</a:t>
            </a:r>
            <a:r>
              <a:rPr dirty="0"/>
              <a:t> </a:t>
            </a:r>
            <a:r>
              <a:rPr dirty="0" err="1"/>
              <a:t>локальных</a:t>
            </a:r>
            <a:r>
              <a:rPr dirty="0"/>
              <a:t> </a:t>
            </a:r>
            <a:r>
              <a:rPr dirty="0" err="1"/>
              <a:t>сетей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MAC - Media Access Control, </a:t>
            </a:r>
            <a:r>
              <a:rPr dirty="0" err="1"/>
              <a:t>аппаратный</a:t>
            </a:r>
            <a:r>
              <a:rPr dirty="0"/>
              <a:t> </a:t>
            </a:r>
            <a:r>
              <a:rPr dirty="0" err="1"/>
              <a:t>адрес</a:t>
            </a:r>
            <a:r>
              <a:rPr dirty="0"/>
              <a:t> </a:t>
            </a:r>
            <a:r>
              <a:rPr dirty="0" err="1"/>
              <a:t>сетевого</a:t>
            </a:r>
            <a:r>
              <a:rPr dirty="0"/>
              <a:t> </a:t>
            </a:r>
            <a:r>
              <a:rPr dirty="0" err="1"/>
              <a:t>интерфейса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Frame - </a:t>
            </a:r>
            <a:r>
              <a:rPr dirty="0" err="1"/>
              <a:t>кадр</a:t>
            </a:r>
            <a:r>
              <a:rPr dirty="0"/>
              <a:t> Ethernet, </a:t>
            </a:r>
            <a:r>
              <a:rPr dirty="0" err="1"/>
              <a:t>блок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 </a:t>
            </a:r>
            <a:r>
              <a:rPr dirty="0" err="1"/>
              <a:t>канального</a:t>
            </a:r>
            <a:r>
              <a:rPr dirty="0"/>
              <a:t> </a:t>
            </a:r>
            <a:r>
              <a:rPr dirty="0" err="1"/>
              <a:t>уровня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Broadcast - </a:t>
            </a:r>
            <a:r>
              <a:rPr dirty="0" err="1"/>
              <a:t>передача</a:t>
            </a:r>
            <a:r>
              <a:rPr dirty="0"/>
              <a:t> </a:t>
            </a:r>
            <a:r>
              <a:rPr dirty="0" err="1"/>
              <a:t>всем</a:t>
            </a:r>
            <a:r>
              <a:rPr dirty="0"/>
              <a:t> </a:t>
            </a:r>
            <a:r>
              <a:rPr dirty="0" err="1"/>
              <a:t>узлам</a:t>
            </a:r>
            <a:r>
              <a:rPr dirty="0"/>
              <a:t> </a:t>
            </a:r>
            <a:r>
              <a:rPr dirty="0" err="1"/>
              <a:t>локального</a:t>
            </a:r>
            <a:r>
              <a:rPr dirty="0"/>
              <a:t> </a:t>
            </a:r>
            <a:r>
              <a:rPr dirty="0" err="1"/>
              <a:t>сегмента</a:t>
            </a:r>
            <a:r>
              <a:rPr dirty="0"/>
              <a:t>.</a:t>
            </a:r>
            <a:endParaRPr lang="ru-RU"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en-US" dirty="0"/>
              <a:t>Collision domain - </a:t>
            </a:r>
            <a:r>
              <a:rPr lang="ru-RU" dirty="0"/>
              <a:t>область, где возможны коллизии передачи.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en-US" dirty="0"/>
              <a:t>CSMA/CD - Carrier Sense Multiple Access with Collision Detection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56129" y="182880"/>
            <a:ext cx="9249262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800" dirty="0"/>
              <a:t>1. </a:t>
            </a:r>
            <a:r>
              <a:rPr sz="4800" dirty="0" err="1"/>
              <a:t>Назначение</a:t>
            </a:r>
            <a:r>
              <a:rPr sz="4800" dirty="0"/>
              <a:t> </a:t>
            </a:r>
            <a:r>
              <a:rPr sz="4800" dirty="0" err="1"/>
              <a:t>канального</a:t>
            </a:r>
            <a:r>
              <a:rPr sz="4800" dirty="0"/>
              <a:t> </a:t>
            </a:r>
            <a:r>
              <a:rPr sz="4800" dirty="0" err="1"/>
              <a:t>уровня</a:t>
            </a:r>
            <a:endParaRPr sz="4800"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Канальный</a:t>
            </a:r>
            <a:r>
              <a:rPr dirty="0"/>
              <a:t> </a:t>
            </a:r>
            <a:r>
              <a:rPr dirty="0" err="1"/>
              <a:t>уровень</a:t>
            </a:r>
            <a:r>
              <a:rPr dirty="0"/>
              <a:t> </a:t>
            </a:r>
            <a:r>
              <a:rPr dirty="0" err="1"/>
              <a:t>передает</a:t>
            </a:r>
            <a:r>
              <a:rPr dirty="0"/>
              <a:t> </a:t>
            </a:r>
            <a:r>
              <a:rPr dirty="0" err="1"/>
              <a:t>кадры</a:t>
            </a:r>
            <a:r>
              <a:rPr dirty="0"/>
              <a:t> в </a:t>
            </a:r>
            <a:r>
              <a:rPr dirty="0" err="1"/>
              <a:t>пределах</a:t>
            </a:r>
            <a:r>
              <a:rPr dirty="0"/>
              <a:t> </a:t>
            </a:r>
            <a:r>
              <a:rPr dirty="0" err="1"/>
              <a:t>локальной</a:t>
            </a:r>
            <a:r>
              <a:rPr dirty="0"/>
              <a:t> </a:t>
            </a:r>
            <a:r>
              <a:rPr dirty="0" err="1"/>
              <a:t>сети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Он</a:t>
            </a:r>
            <a:r>
              <a:rPr dirty="0"/>
              <a:t> </a:t>
            </a:r>
            <a:r>
              <a:rPr dirty="0" err="1"/>
              <a:t>использует</a:t>
            </a:r>
            <a:r>
              <a:rPr dirty="0"/>
              <a:t> MAC-</a:t>
            </a:r>
            <a:r>
              <a:rPr dirty="0" err="1"/>
              <a:t>адреса</a:t>
            </a:r>
            <a:r>
              <a:rPr dirty="0"/>
              <a:t>, а </a:t>
            </a:r>
            <a:r>
              <a:rPr dirty="0" err="1"/>
              <a:t>не</a:t>
            </a:r>
            <a:r>
              <a:rPr dirty="0"/>
              <a:t> IP-</a:t>
            </a:r>
            <a:r>
              <a:rPr dirty="0" err="1"/>
              <a:t>маршруты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Здесь</a:t>
            </a:r>
            <a:r>
              <a:rPr dirty="0"/>
              <a:t> </a:t>
            </a:r>
            <a:r>
              <a:rPr dirty="0" err="1"/>
              <a:t>работают</a:t>
            </a:r>
            <a:r>
              <a:rPr dirty="0"/>
              <a:t> Ethernet-</a:t>
            </a:r>
            <a:r>
              <a:rPr dirty="0" err="1"/>
              <a:t>кадры</a:t>
            </a:r>
            <a:r>
              <a:rPr dirty="0"/>
              <a:t> и </a:t>
            </a:r>
            <a:r>
              <a:rPr dirty="0" err="1"/>
              <a:t>коммутация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Канальный</a:t>
            </a:r>
            <a:r>
              <a:rPr dirty="0"/>
              <a:t> </a:t>
            </a:r>
            <a:r>
              <a:rPr dirty="0" err="1"/>
              <a:t>уровень</a:t>
            </a:r>
            <a:r>
              <a:rPr dirty="0"/>
              <a:t> </a:t>
            </a:r>
            <a:r>
              <a:rPr dirty="0" err="1"/>
              <a:t>опирается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физический</a:t>
            </a:r>
            <a:r>
              <a:rPr dirty="0"/>
              <a:t> </a:t>
            </a:r>
            <a:r>
              <a:rPr dirty="0" err="1"/>
              <a:t>уровень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Если</a:t>
            </a:r>
            <a:r>
              <a:rPr dirty="0"/>
              <a:t> L2 </a:t>
            </a:r>
            <a:r>
              <a:rPr dirty="0" err="1"/>
              <a:t>работает</a:t>
            </a:r>
            <a:r>
              <a:rPr dirty="0"/>
              <a:t> </a:t>
            </a:r>
            <a:r>
              <a:rPr dirty="0" err="1"/>
              <a:t>неправильно</a:t>
            </a:r>
            <a:r>
              <a:rPr dirty="0"/>
              <a:t>, IP-</a:t>
            </a:r>
            <a:r>
              <a:rPr dirty="0" err="1"/>
              <a:t>связность</a:t>
            </a:r>
            <a:r>
              <a:rPr dirty="0"/>
              <a:t> </a:t>
            </a:r>
            <a:r>
              <a:rPr dirty="0" err="1"/>
              <a:t>тоже</a:t>
            </a:r>
            <a:r>
              <a:rPr dirty="0"/>
              <a:t> </a:t>
            </a:r>
            <a:r>
              <a:rPr dirty="0" err="1"/>
              <a:t>нарушается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69913" y="182880"/>
            <a:ext cx="782169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lang="ru-RU" sz="32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Четыре задачи, требующие решения: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>
              <a:defRPr sz="3600"/>
            </a:pPr>
            <a:r>
              <a:rPr lang="ru-RU" dirty="0"/>
              <a:t>1.Решить вопрос с адресацией фреймов. </a:t>
            </a:r>
          </a:p>
          <a:p>
            <a:pPr>
              <a:defRPr sz="3600"/>
            </a:pPr>
            <a:r>
              <a:rPr lang="ru-RU" dirty="0"/>
              <a:t>2.Решить вопрос проверки целостности фрейма после приёма. </a:t>
            </a:r>
          </a:p>
          <a:p>
            <a:pPr>
              <a:defRPr sz="3600"/>
            </a:pPr>
            <a:r>
              <a:rPr lang="ru-RU" dirty="0"/>
              <a:t>3.Решить, какому протоколу отдать этот пакет для дальнейшей обработки. </a:t>
            </a:r>
          </a:p>
          <a:p>
            <a:pPr>
              <a:defRPr sz="3600"/>
            </a:pPr>
            <a:r>
              <a:rPr lang="ru-RU" dirty="0"/>
              <a:t>4.Решить проблему с множественным доступом к среде передачи данных. 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На физическом уровне решить проблему адресации невозможно.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/>
              <a:t>Ethernet - </a:t>
            </a:r>
            <a:r>
              <a:rPr dirty="0" err="1"/>
              <a:t>основная</a:t>
            </a:r>
            <a:r>
              <a:rPr dirty="0"/>
              <a:t> </a:t>
            </a:r>
            <a:r>
              <a:rPr dirty="0" err="1"/>
              <a:t>технология</a:t>
            </a:r>
            <a:r>
              <a:rPr dirty="0"/>
              <a:t> </a:t>
            </a:r>
            <a:r>
              <a:rPr dirty="0" err="1"/>
              <a:t>проводных</a:t>
            </a:r>
            <a:r>
              <a:rPr dirty="0"/>
              <a:t> </a:t>
            </a:r>
            <a:r>
              <a:rPr dirty="0" err="1"/>
              <a:t>локальных</a:t>
            </a:r>
            <a:r>
              <a:rPr dirty="0"/>
              <a:t> </a:t>
            </a:r>
            <a:r>
              <a:rPr dirty="0" err="1"/>
              <a:t>сетей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Она</a:t>
            </a:r>
            <a:r>
              <a:rPr dirty="0"/>
              <a:t> </a:t>
            </a:r>
            <a:r>
              <a:rPr dirty="0" err="1"/>
              <a:t>определяет</a:t>
            </a:r>
            <a:r>
              <a:rPr dirty="0"/>
              <a:t> </a:t>
            </a:r>
            <a:r>
              <a:rPr dirty="0" err="1"/>
              <a:t>правила</a:t>
            </a:r>
            <a:r>
              <a:rPr dirty="0"/>
              <a:t> </a:t>
            </a:r>
            <a:r>
              <a:rPr dirty="0" err="1"/>
              <a:t>передачи</a:t>
            </a:r>
            <a:r>
              <a:rPr dirty="0"/>
              <a:t> </a:t>
            </a:r>
            <a:r>
              <a:rPr dirty="0" err="1"/>
              <a:t>кадров</a:t>
            </a:r>
            <a:r>
              <a:rPr dirty="0"/>
              <a:t> в LAN.</a:t>
            </a:r>
          </a:p>
          <a:p>
            <a:pPr indent="354013">
              <a:defRPr sz="3600"/>
            </a:pPr>
            <a:r>
              <a:rPr dirty="0"/>
              <a:t>Ethernet </a:t>
            </a:r>
            <a:r>
              <a:rPr dirty="0" err="1"/>
              <a:t>работает</a:t>
            </a:r>
            <a:r>
              <a:rPr dirty="0"/>
              <a:t> </a:t>
            </a:r>
            <a:r>
              <a:rPr dirty="0" err="1"/>
              <a:t>поверх</a:t>
            </a:r>
            <a:r>
              <a:rPr dirty="0"/>
              <a:t> </a:t>
            </a:r>
            <a:r>
              <a:rPr dirty="0" err="1"/>
              <a:t>физической</a:t>
            </a:r>
            <a:r>
              <a:rPr dirty="0"/>
              <a:t> </a:t>
            </a:r>
            <a:r>
              <a:rPr dirty="0" err="1"/>
              <a:t>среды</a:t>
            </a:r>
            <a:r>
              <a:rPr dirty="0"/>
              <a:t>: </a:t>
            </a:r>
            <a:r>
              <a:rPr dirty="0" err="1"/>
              <a:t>витой</a:t>
            </a:r>
            <a:r>
              <a:rPr dirty="0"/>
              <a:t> </a:t>
            </a:r>
            <a:r>
              <a:rPr dirty="0" err="1"/>
              <a:t>пары</a:t>
            </a:r>
            <a:r>
              <a:rPr dirty="0"/>
              <a:t>, </a:t>
            </a:r>
            <a:r>
              <a:rPr dirty="0" err="1"/>
              <a:t>оптики</a:t>
            </a:r>
            <a:r>
              <a:rPr dirty="0"/>
              <a:t> и </a:t>
            </a:r>
            <a:r>
              <a:rPr dirty="0" err="1"/>
              <a:t>других</a:t>
            </a:r>
            <a:r>
              <a:rPr dirty="0"/>
              <a:t> </a:t>
            </a:r>
            <a:r>
              <a:rPr dirty="0" err="1"/>
              <a:t>вариантов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В </a:t>
            </a:r>
            <a:r>
              <a:rPr dirty="0" err="1"/>
              <a:t>современной</a:t>
            </a:r>
            <a:r>
              <a:rPr dirty="0"/>
              <a:t> </a:t>
            </a:r>
            <a:r>
              <a:rPr dirty="0" err="1"/>
              <a:t>офисной</a:t>
            </a:r>
            <a:r>
              <a:rPr dirty="0"/>
              <a:t> </a:t>
            </a:r>
            <a:r>
              <a:rPr dirty="0" err="1"/>
              <a:t>сети</a:t>
            </a:r>
            <a:r>
              <a:rPr dirty="0"/>
              <a:t> Ethernet </a:t>
            </a:r>
            <a:r>
              <a:rPr dirty="0" err="1"/>
              <a:t>обычно</a:t>
            </a:r>
            <a:r>
              <a:rPr dirty="0"/>
              <a:t> </a:t>
            </a:r>
            <a:r>
              <a:rPr dirty="0" err="1"/>
              <a:t>строится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коммутаторах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Понимание</a:t>
            </a:r>
            <a:r>
              <a:rPr dirty="0"/>
              <a:t> Ethernet </a:t>
            </a: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перед</a:t>
            </a:r>
            <a:r>
              <a:rPr dirty="0"/>
              <a:t> VLAN и </a:t>
            </a:r>
            <a:r>
              <a:rPr dirty="0" err="1"/>
              <a:t>настройкой</a:t>
            </a:r>
            <a:r>
              <a:rPr dirty="0"/>
              <a:t> </a:t>
            </a:r>
            <a:r>
              <a:rPr dirty="0" err="1"/>
              <a:t>коммутаторов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/>
              <a:t>Ethernet в LAN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ED47AD4-0770-5FE1-C388-8C15F89DB9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/>
              <a:t>3. MAC-</a:t>
            </a:r>
            <a:r>
              <a:rPr dirty="0" err="1"/>
              <a:t>адрес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MAC - Media Access Control, </a:t>
            </a:r>
            <a:r>
              <a:rPr dirty="0" err="1"/>
              <a:t>адрес</a:t>
            </a:r>
            <a:r>
              <a:rPr dirty="0"/>
              <a:t> </a:t>
            </a:r>
            <a:r>
              <a:rPr dirty="0" err="1"/>
              <a:t>сетевого</a:t>
            </a:r>
            <a:r>
              <a:rPr dirty="0"/>
              <a:t> </a:t>
            </a:r>
            <a:r>
              <a:rPr dirty="0" err="1"/>
              <a:t>интерфейса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MAC-</a:t>
            </a:r>
            <a:r>
              <a:rPr dirty="0" err="1"/>
              <a:t>адрес</a:t>
            </a:r>
            <a:r>
              <a:rPr dirty="0"/>
              <a:t> </a:t>
            </a:r>
            <a:r>
              <a:rPr dirty="0" err="1"/>
              <a:t>обычно</a:t>
            </a:r>
            <a:r>
              <a:rPr dirty="0"/>
              <a:t> </a:t>
            </a:r>
            <a:r>
              <a:rPr dirty="0" err="1"/>
              <a:t>записывают</a:t>
            </a:r>
            <a:r>
              <a:rPr dirty="0"/>
              <a:t> в </a:t>
            </a:r>
            <a:r>
              <a:rPr dirty="0" err="1"/>
              <a:t>шестнадцатеричном</a:t>
            </a:r>
            <a:r>
              <a:rPr dirty="0"/>
              <a:t> </a:t>
            </a:r>
            <a:r>
              <a:rPr dirty="0" err="1"/>
              <a:t>виде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Пример</a:t>
            </a:r>
            <a:r>
              <a:rPr dirty="0"/>
              <a:t>: 00:1A:2B:3C:4D:5E.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Коммутатор</a:t>
            </a:r>
            <a:r>
              <a:rPr dirty="0"/>
              <a:t> </a:t>
            </a:r>
            <a:r>
              <a:rPr dirty="0" err="1"/>
              <a:t>использует</a:t>
            </a:r>
            <a:r>
              <a:rPr dirty="0"/>
              <a:t> MAC-</a:t>
            </a:r>
            <a:r>
              <a:rPr dirty="0" err="1"/>
              <a:t>адреса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пересылки</a:t>
            </a:r>
            <a:r>
              <a:rPr dirty="0"/>
              <a:t> </a:t>
            </a:r>
            <a:r>
              <a:rPr dirty="0" err="1"/>
              <a:t>кадров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MAC </a:t>
            </a:r>
            <a:r>
              <a:rPr dirty="0" err="1"/>
              <a:t>действует</a:t>
            </a:r>
            <a:r>
              <a:rPr dirty="0"/>
              <a:t> в </a:t>
            </a:r>
            <a:r>
              <a:rPr dirty="0" err="1"/>
              <a:t>пределах</a:t>
            </a:r>
            <a:r>
              <a:rPr dirty="0"/>
              <a:t> </a:t>
            </a:r>
            <a:r>
              <a:rPr dirty="0" err="1"/>
              <a:t>локального</a:t>
            </a:r>
            <a:r>
              <a:rPr dirty="0"/>
              <a:t> </a:t>
            </a:r>
            <a:r>
              <a:rPr dirty="0" err="1"/>
              <a:t>канального</a:t>
            </a:r>
            <a:r>
              <a:rPr dirty="0"/>
              <a:t> </a:t>
            </a:r>
            <a:r>
              <a:rPr dirty="0" err="1"/>
              <a:t>сегмента</a:t>
            </a:r>
            <a:r>
              <a:rPr dirty="0"/>
              <a:t>.</a:t>
            </a:r>
            <a:r>
              <a:rPr lang="ru-RU" dirty="0"/>
              <a:t> 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MAC-адрес присваивается сетевому устройству на заводе.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У компьютера может быть несколько MAC-адресов: Ethernet, </a:t>
            </a:r>
            <a:r>
              <a:rPr lang="ru-RU" dirty="0" err="1"/>
              <a:t>Wi</a:t>
            </a:r>
            <a:r>
              <a:rPr lang="ru-RU" dirty="0"/>
              <a:t>-Fi, виртуальные адаптеры.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endParaRPr lang="ru-RU" dirty="0"/>
          </a:p>
          <a:p>
            <a:pPr>
              <a:defRPr sz="3600"/>
            </a:pP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0E4E74-3988-61F0-7E79-1D8732C8F5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10264" y="587794"/>
            <a:ext cx="8257736" cy="636099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143764"/>
                </a:solidFill>
                <a:latin typeface="+mn-lt"/>
                <a:ea typeface="+mn-ea"/>
                <a:cs typeface="+mn-cs"/>
              </a:rPr>
              <a:t>MAC-address</a:t>
            </a:r>
            <a:endParaRPr lang="ru-RU" sz="3200" b="1" dirty="0">
              <a:solidFill>
                <a:srgbClr val="143764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D5FC9A2-E176-ACF7-7085-371C7EC48F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2671" y="1741476"/>
            <a:ext cx="10530348" cy="1803582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ru-RU" dirty="0">
                <a:solidFill>
                  <a:schemeClr val="tx1"/>
                </a:solidFill>
              </a:rPr>
              <a:t>MAC-адрес состоит из двух частей, первая распределяется между производителями оборудования, а вторая распределяется самим производителем. Таким образом по MAC-адресу можно понять фирму-производитель оборудования (если адрес не был </a:t>
            </a:r>
            <a:r>
              <a:rPr lang="ru-RU" dirty="0" err="1">
                <a:solidFill>
                  <a:schemeClr val="tx1"/>
                </a:solidFill>
              </a:rPr>
              <a:t>програмно</a:t>
            </a:r>
            <a:r>
              <a:rPr lang="ru-RU" dirty="0">
                <a:solidFill>
                  <a:schemeClr val="tx1"/>
                </a:solidFill>
              </a:rPr>
              <a:t> изменен).</a:t>
            </a:r>
          </a:p>
        </p:txBody>
      </p:sp>
      <p:pic>
        <p:nvPicPr>
          <p:cNvPr id="4" name="image3.jpeg">
            <a:extLst>
              <a:ext uri="{FF2B5EF4-FFF2-40B4-BE49-F238E27FC236}">
                <a16:creationId xmlns:a16="http://schemas.microsoft.com/office/drawing/2014/main" id="{5404A93B-DC5A-4BA4-6AD6-CD2BE08D51C7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021341" y="3545058"/>
            <a:ext cx="6149318" cy="2461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1261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0E4E74-3988-61F0-7E79-1D8732C8F5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10264" y="587794"/>
            <a:ext cx="8257736" cy="636099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143764"/>
                </a:solidFill>
                <a:latin typeface="+mn-lt"/>
                <a:ea typeface="+mn-ea"/>
                <a:cs typeface="+mn-cs"/>
              </a:rPr>
              <a:t>Broadcast MAC </a:t>
            </a:r>
            <a:r>
              <a:rPr lang="ru-RU" sz="3200" b="1" dirty="0">
                <a:solidFill>
                  <a:srgbClr val="143764"/>
                </a:solidFill>
                <a:latin typeface="+mn-lt"/>
                <a:ea typeface="+mn-ea"/>
                <a:cs typeface="+mn-cs"/>
              </a:rPr>
              <a:t>адрес</a:t>
            </a:r>
          </a:p>
        </p:txBody>
      </p:sp>
      <p:pic>
        <p:nvPicPr>
          <p:cNvPr id="4" name="image4.jpeg">
            <a:extLst>
              <a:ext uri="{FF2B5EF4-FFF2-40B4-BE49-F238E27FC236}">
                <a16:creationId xmlns:a16="http://schemas.microsoft.com/office/drawing/2014/main" id="{CC1D6907-6977-9F72-7949-4EEA6A843781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410264" y="2706330"/>
            <a:ext cx="7694295" cy="772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7389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494556" y="182880"/>
            <a:ext cx="317240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lang="ru-RU" dirty="0"/>
              <a:t>2</a:t>
            </a:r>
            <a:r>
              <a:rPr dirty="0"/>
              <a:t>. Ethernet frame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rPr dirty="0"/>
              <a:t>Ethernet frame - </a:t>
            </a:r>
            <a:r>
              <a:rPr dirty="0" err="1"/>
              <a:t>кадр</a:t>
            </a:r>
            <a:r>
              <a:rPr dirty="0"/>
              <a:t> </a:t>
            </a:r>
            <a:r>
              <a:rPr dirty="0" err="1"/>
              <a:t>канального</a:t>
            </a:r>
            <a:r>
              <a:rPr dirty="0"/>
              <a:t> </a:t>
            </a:r>
            <a:r>
              <a:rPr dirty="0" err="1"/>
              <a:t>уровня</a:t>
            </a:r>
            <a:r>
              <a:rPr dirty="0"/>
              <a:t>.</a:t>
            </a:r>
          </a:p>
          <a:p>
            <a:pPr>
              <a:defRPr sz="3600"/>
            </a:pPr>
            <a:r>
              <a:rPr dirty="0" err="1"/>
              <a:t>Кадр</a:t>
            </a:r>
            <a:r>
              <a:rPr dirty="0"/>
              <a:t> </a:t>
            </a:r>
            <a:r>
              <a:rPr dirty="0" err="1"/>
              <a:t>содержит</a:t>
            </a:r>
            <a:r>
              <a:rPr dirty="0"/>
              <a:t> MAC-</a:t>
            </a:r>
            <a:r>
              <a:rPr dirty="0" err="1"/>
              <a:t>адрес</a:t>
            </a:r>
            <a:r>
              <a:rPr dirty="0"/>
              <a:t> </a:t>
            </a:r>
            <a:r>
              <a:rPr dirty="0" err="1"/>
              <a:t>получателя</a:t>
            </a:r>
            <a:r>
              <a:rPr dirty="0"/>
              <a:t> и </a:t>
            </a:r>
            <a:r>
              <a:rPr dirty="0" err="1"/>
              <a:t>отправителя</a:t>
            </a:r>
            <a:r>
              <a:rPr dirty="0"/>
              <a:t>.</a:t>
            </a:r>
          </a:p>
          <a:p>
            <a:pPr>
              <a:defRPr sz="3600"/>
            </a:pPr>
            <a:r>
              <a:rPr dirty="0" err="1"/>
              <a:t>Поле</a:t>
            </a:r>
            <a:r>
              <a:rPr dirty="0"/>
              <a:t> </a:t>
            </a:r>
            <a:r>
              <a:rPr dirty="0" err="1"/>
              <a:t>EtherType</a:t>
            </a:r>
            <a:r>
              <a:rPr dirty="0"/>
              <a:t> </a:t>
            </a:r>
            <a:r>
              <a:rPr dirty="0" err="1"/>
              <a:t>указывает</a:t>
            </a:r>
            <a:r>
              <a:rPr dirty="0"/>
              <a:t>, </a:t>
            </a:r>
            <a:r>
              <a:rPr dirty="0" err="1"/>
              <a:t>какой</a:t>
            </a:r>
            <a:r>
              <a:rPr dirty="0"/>
              <a:t> </a:t>
            </a:r>
            <a:r>
              <a:rPr dirty="0" err="1"/>
              <a:t>протокол</a:t>
            </a:r>
            <a:r>
              <a:rPr dirty="0"/>
              <a:t> </a:t>
            </a:r>
            <a:r>
              <a:rPr dirty="0" err="1"/>
              <a:t>вложен</a:t>
            </a:r>
            <a:r>
              <a:rPr dirty="0"/>
              <a:t> в </a:t>
            </a:r>
            <a:r>
              <a:rPr dirty="0" err="1"/>
              <a:t>кадр</a:t>
            </a:r>
            <a:r>
              <a:rPr dirty="0"/>
              <a:t>.</a:t>
            </a:r>
          </a:p>
          <a:p>
            <a:pPr>
              <a:defRPr sz="3600"/>
            </a:pPr>
            <a:r>
              <a:rPr dirty="0" err="1"/>
              <a:t>Полезная</a:t>
            </a:r>
            <a:r>
              <a:rPr dirty="0"/>
              <a:t> </a:t>
            </a:r>
            <a:r>
              <a:rPr dirty="0" err="1"/>
              <a:t>нагрузка</a:t>
            </a:r>
            <a:r>
              <a:rPr dirty="0"/>
              <a:t> </a:t>
            </a:r>
            <a:r>
              <a:rPr dirty="0" err="1"/>
              <a:t>несет</a:t>
            </a:r>
            <a:r>
              <a:rPr dirty="0"/>
              <a:t> </a:t>
            </a:r>
            <a:r>
              <a:rPr dirty="0" err="1"/>
              <a:t>данные</a:t>
            </a:r>
            <a:r>
              <a:rPr dirty="0"/>
              <a:t> </a:t>
            </a:r>
            <a:r>
              <a:rPr dirty="0" err="1"/>
              <a:t>верхнего</a:t>
            </a:r>
            <a:r>
              <a:rPr dirty="0"/>
              <a:t> </a:t>
            </a:r>
            <a:r>
              <a:rPr dirty="0" err="1"/>
              <a:t>уровня</a:t>
            </a:r>
            <a:r>
              <a:rPr dirty="0"/>
              <a:t>, </a:t>
            </a:r>
            <a:r>
              <a:rPr dirty="0" err="1"/>
              <a:t>например</a:t>
            </a:r>
            <a:r>
              <a:rPr dirty="0"/>
              <a:t> IPv4.</a:t>
            </a:r>
          </a:p>
          <a:p>
            <a:pPr>
              <a:defRPr sz="3600"/>
            </a:pPr>
            <a:r>
              <a:rPr dirty="0"/>
              <a:t>FCS </a:t>
            </a:r>
            <a:r>
              <a:rPr dirty="0" err="1"/>
              <a:t>помогает</a:t>
            </a:r>
            <a:r>
              <a:rPr dirty="0"/>
              <a:t> </a:t>
            </a:r>
            <a:r>
              <a:rPr dirty="0" err="1"/>
              <a:t>обнаружить</a:t>
            </a:r>
            <a:r>
              <a:rPr dirty="0"/>
              <a:t> </a:t>
            </a:r>
            <a:r>
              <a:rPr dirty="0" err="1"/>
              <a:t>повреждение</a:t>
            </a:r>
            <a:r>
              <a:rPr dirty="0"/>
              <a:t> </a:t>
            </a:r>
            <a:r>
              <a:rPr dirty="0" err="1"/>
              <a:t>кадра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0E4E74-3988-61F0-7E79-1D8732C8F5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10264" y="587794"/>
            <a:ext cx="8257736" cy="636099"/>
          </a:xfrm>
        </p:spPr>
        <p:txBody>
          <a:bodyPr>
            <a:normAutofit/>
          </a:bodyPr>
          <a:lstStyle/>
          <a:p>
            <a:r>
              <a:rPr lang="ru-RU" sz="3200" b="1" dirty="0">
                <a:solidFill>
                  <a:srgbClr val="143764"/>
                </a:solidFill>
                <a:latin typeface="+mn-lt"/>
                <a:ea typeface="+mn-ea"/>
                <a:cs typeface="+mn-cs"/>
              </a:rPr>
              <a:t>Формат </a:t>
            </a:r>
            <a:r>
              <a:rPr lang="en-US" sz="3200" b="1" dirty="0">
                <a:solidFill>
                  <a:srgbClr val="143764"/>
                </a:solidFill>
                <a:latin typeface="+mn-lt"/>
                <a:ea typeface="+mn-ea"/>
                <a:cs typeface="+mn-cs"/>
              </a:rPr>
              <a:t>Ethernet </a:t>
            </a:r>
            <a:r>
              <a:rPr lang="ru-RU" sz="3200" b="1" dirty="0">
                <a:solidFill>
                  <a:srgbClr val="143764"/>
                </a:solidFill>
                <a:latin typeface="+mn-lt"/>
                <a:ea typeface="+mn-ea"/>
                <a:cs typeface="+mn-cs"/>
              </a:rPr>
              <a:t>фрейма 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6C33CEB-BC6D-7E17-8132-5A10B00650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445" y="1833972"/>
            <a:ext cx="11105536" cy="1966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2294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F9E96-18A1-46CF-D6FA-AD230C512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C0ECF9D-945A-5FC9-A1FF-5580DE27E194}"/>
              </a:ext>
            </a:extLst>
          </p:cNvPr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/>
              <a:t>4. Ethernet frame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F800B9-323F-F553-CEF6-60A2EC076E37}"/>
              </a:ext>
            </a:extLst>
          </p:cNvPr>
          <p:cNvSpPr txBox="1"/>
          <p:nvPr/>
        </p:nvSpPr>
        <p:spPr>
          <a:xfrm>
            <a:off x="457200" y="914400"/>
            <a:ext cx="11430000" cy="5760720"/>
          </a:xfrm>
          <a:prstGeom prst="rect">
            <a:avLst/>
          </a:prstGeom>
          <a:noFill/>
        </p:spPr>
        <p:txBody>
          <a:bodyPr wrap="square">
            <a:normAutofit fontScale="85000" lnSpcReduction="10000"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en-US" dirty="0"/>
              <a:t>DA (</a:t>
            </a:r>
            <a:r>
              <a:rPr lang="en-US" b="1" dirty="0"/>
              <a:t>Destination Address</a:t>
            </a:r>
            <a:r>
              <a:rPr lang="en-US" dirty="0"/>
              <a:t>) – MAC </a:t>
            </a:r>
            <a:r>
              <a:rPr lang="ru-RU" dirty="0"/>
              <a:t>адрес назначения, может быть </a:t>
            </a:r>
            <a:r>
              <a:rPr lang="ru-RU" dirty="0" err="1"/>
              <a:t>юникастом</a:t>
            </a:r>
            <a:r>
              <a:rPr lang="ru-RU" dirty="0"/>
              <a:t>, </a:t>
            </a:r>
            <a:r>
              <a:rPr lang="ru-RU" dirty="0" err="1"/>
              <a:t>мультикастом</a:t>
            </a:r>
            <a:r>
              <a:rPr lang="ru-RU" dirty="0"/>
              <a:t>, </a:t>
            </a:r>
            <a:r>
              <a:rPr lang="ru-RU" dirty="0" err="1"/>
              <a:t>бродкастом</a:t>
            </a:r>
            <a:r>
              <a:rPr lang="ru-RU"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en-US" dirty="0"/>
              <a:t>SA (</a:t>
            </a:r>
            <a:r>
              <a:rPr lang="en-US" b="1" dirty="0"/>
              <a:t>Source Address</a:t>
            </a:r>
            <a:r>
              <a:rPr lang="en-US" dirty="0"/>
              <a:t>) – MAC </a:t>
            </a:r>
            <a:r>
              <a:rPr lang="ru-RU" dirty="0"/>
              <a:t>адрес отправителя. Всегда </a:t>
            </a:r>
            <a:r>
              <a:rPr lang="ru-RU" dirty="0" err="1"/>
              <a:t>юникаст</a:t>
            </a:r>
            <a:r>
              <a:rPr lang="ru-RU"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en-US" dirty="0"/>
              <a:t>E-TYPE (</a:t>
            </a:r>
            <a:r>
              <a:rPr lang="en-US" b="1" dirty="0" err="1"/>
              <a:t>EtherType</a:t>
            </a:r>
            <a:r>
              <a:rPr lang="en-US" dirty="0"/>
              <a:t>) – </a:t>
            </a:r>
            <a:r>
              <a:rPr lang="ru-RU" dirty="0"/>
              <a:t>Идентифицирует </a:t>
            </a:r>
            <a:r>
              <a:rPr lang="en-US" dirty="0"/>
              <a:t>L3 </a:t>
            </a:r>
            <a:r>
              <a:rPr lang="ru-RU" dirty="0"/>
              <a:t>протокол (к примеру 0</a:t>
            </a:r>
            <a:r>
              <a:rPr lang="en-US" dirty="0"/>
              <a:t>x0800 – Ipv4, 0x86DD – IPv6, 0x8100- </a:t>
            </a:r>
            <a:r>
              <a:rPr lang="ru-RU" dirty="0"/>
              <a:t>указывает что фрейм тегирован заголовком 802.1</a:t>
            </a:r>
            <a:r>
              <a:rPr lang="en-US" dirty="0"/>
              <a:t>q, </a:t>
            </a:r>
            <a:r>
              <a:rPr lang="ru-RU" dirty="0"/>
              <a:t>и т.д. Список всех </a:t>
            </a:r>
            <a:r>
              <a:rPr lang="en-US" dirty="0" err="1"/>
              <a:t>EtherType</a:t>
            </a:r>
            <a:r>
              <a:rPr lang="en-US" dirty="0"/>
              <a:t> — standards.ieee.org/develop/</a:t>
            </a:r>
            <a:r>
              <a:rPr lang="en-US" dirty="0" err="1"/>
              <a:t>regauth</a:t>
            </a:r>
            <a:r>
              <a:rPr lang="en-US" dirty="0"/>
              <a:t>/</a:t>
            </a:r>
            <a:r>
              <a:rPr lang="en-US" dirty="0" err="1"/>
              <a:t>ethertype</a:t>
            </a:r>
            <a:r>
              <a:rPr lang="en-US" dirty="0"/>
              <a:t>/eth.txt )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en-US" b="1" dirty="0"/>
              <a:t>Payload</a:t>
            </a:r>
            <a:r>
              <a:rPr lang="en-US" dirty="0"/>
              <a:t> – L3 </a:t>
            </a:r>
            <a:r>
              <a:rPr lang="ru-RU" dirty="0"/>
              <a:t>пакет размером от 46 до 1500 байт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en-US" b="1" dirty="0"/>
              <a:t>FCS</a:t>
            </a:r>
            <a:r>
              <a:rPr lang="en-US" dirty="0"/>
              <a:t> (Frame Check Sequences) – 4 </a:t>
            </a:r>
            <a:r>
              <a:rPr lang="ru-RU" dirty="0"/>
              <a:t>байтное значение </a:t>
            </a:r>
            <a:r>
              <a:rPr lang="en-US" dirty="0"/>
              <a:t>CRC </a:t>
            </a:r>
            <a:r>
              <a:rPr lang="ru-RU" dirty="0"/>
              <a:t>используемое для выявления ошибок передачи. Вычисляется отправляющей стороной, и помещается в поле </a:t>
            </a:r>
            <a:r>
              <a:rPr lang="en-US" dirty="0"/>
              <a:t>FCS. </a:t>
            </a:r>
            <a:r>
              <a:rPr lang="ru-RU" dirty="0"/>
              <a:t>Принимающая сторона вычисляет данное значение самостоятельно и сравнивает с полученным.</a:t>
            </a:r>
          </a:p>
        </p:txBody>
      </p:sp>
    </p:spTree>
    <p:extLst>
      <p:ext uri="{BB962C8B-B14F-4D97-AF65-F5344CB8AC3E}">
        <p14:creationId xmlns:p14="http://schemas.microsoft.com/office/powerpoint/2010/main" val="22966308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0E4E74-3988-61F0-7E79-1D8732C8F5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10264" y="587794"/>
            <a:ext cx="8257736" cy="636099"/>
          </a:xfrm>
        </p:spPr>
        <p:txBody>
          <a:bodyPr>
            <a:normAutofit/>
          </a:bodyPr>
          <a:lstStyle/>
          <a:p>
            <a:r>
              <a:rPr lang="ru-RU" sz="3200" b="1" dirty="0">
                <a:solidFill>
                  <a:srgbClr val="143764"/>
                </a:solidFill>
                <a:latin typeface="+mn-lt"/>
                <a:ea typeface="+mn-ea"/>
                <a:cs typeface="+mn-cs"/>
              </a:rPr>
              <a:t>MTU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D5FC9A2-E176-ACF7-7085-371C7EC48F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5406" y="1355648"/>
            <a:ext cx="10884309" cy="2183410"/>
          </a:xfrm>
        </p:spPr>
        <p:txBody>
          <a:bodyPr>
            <a:normAutofit/>
          </a:bodyPr>
          <a:lstStyle/>
          <a:p>
            <a:pPr algn="l"/>
            <a:r>
              <a:rPr lang="ru-RU" dirty="0">
                <a:solidFill>
                  <a:schemeClr val="tx1"/>
                </a:solidFill>
              </a:rPr>
              <a:t>MTU (</a:t>
            </a:r>
            <a:r>
              <a:rPr lang="ru-RU" dirty="0" err="1">
                <a:solidFill>
                  <a:schemeClr val="tx1"/>
                </a:solidFill>
              </a:rPr>
              <a:t>Maximum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ru-RU" dirty="0" err="1">
                <a:solidFill>
                  <a:schemeClr val="tx1"/>
                </a:solidFill>
              </a:rPr>
              <a:t>Transmission</a:t>
            </a:r>
            <a:r>
              <a:rPr lang="ru-RU" dirty="0">
                <a:solidFill>
                  <a:schemeClr val="tx1"/>
                </a:solidFill>
              </a:rPr>
              <a:t> Unit; максимальная единица передачи) - максимальный размер пакета, который может быть передан по сети без фрагментации. </a:t>
            </a:r>
          </a:p>
          <a:p>
            <a:pPr algn="l"/>
            <a:r>
              <a:rPr lang="ru-RU" dirty="0">
                <a:solidFill>
                  <a:schemeClr val="tx1"/>
                </a:solidFill>
              </a:rPr>
              <a:t>Для Ethernet это значение составляет 1500 байт.</a:t>
            </a:r>
          </a:p>
        </p:txBody>
      </p:sp>
      <p:pic>
        <p:nvPicPr>
          <p:cNvPr id="4" name="image5.jpeg">
            <a:extLst>
              <a:ext uri="{FF2B5EF4-FFF2-40B4-BE49-F238E27FC236}">
                <a16:creationId xmlns:a16="http://schemas.microsoft.com/office/drawing/2014/main" id="{EE5A861A-EB90-F107-4250-101C3E7F1511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88783" y="3670815"/>
            <a:ext cx="8000365" cy="2132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4623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Структура</a:t>
            </a:r>
            <a:r>
              <a:rPr dirty="0"/>
              <a:t> Ethernet frame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7AE4414-307F-7D4C-5E57-61BBE0028A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5678" y="182880"/>
            <a:ext cx="10430164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lang="ru-RU" sz="4800" dirty="0"/>
              <a:t>3</a:t>
            </a:r>
            <a:r>
              <a:rPr sz="4800" dirty="0"/>
              <a:t>. </a:t>
            </a:r>
            <a:r>
              <a:rPr lang="ru-RU" sz="4800" dirty="0"/>
              <a:t>Проблема множественного доступа</a:t>
            </a:r>
            <a:endParaRPr sz="4800"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1445342"/>
            <a:ext cx="10972800" cy="468113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rPr lang="ru-RU" dirty="0"/>
              <a:t>Множественный доступ — это ситуация, когда несколько устройств делят между собой общую среду передачи данных и пытаются одновременно отправлять информацию.</a:t>
            </a:r>
          </a:p>
          <a:p>
            <a:pPr>
              <a:defRPr sz="3600"/>
            </a:pPr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16A2D-607B-B52A-82A9-A396C4F24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2BD9B06-0169-89DE-5EBE-65598CD5A933}"/>
              </a:ext>
            </a:extLst>
          </p:cNvPr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Hub - </a:t>
            </a:r>
            <a:r>
              <a:rPr dirty="0" err="1"/>
              <a:t>концентратор</a:t>
            </a:r>
            <a:r>
              <a:rPr dirty="0"/>
              <a:t>, </a:t>
            </a:r>
            <a:r>
              <a:rPr dirty="0" err="1"/>
              <a:t>простое</a:t>
            </a:r>
            <a:r>
              <a:rPr dirty="0"/>
              <a:t> </a:t>
            </a:r>
            <a:r>
              <a:rPr dirty="0" err="1"/>
              <a:t>устройство</a:t>
            </a:r>
            <a:r>
              <a:rPr dirty="0"/>
              <a:t> </a:t>
            </a:r>
            <a:r>
              <a:rPr dirty="0" err="1"/>
              <a:t>физического</a:t>
            </a:r>
            <a:r>
              <a:rPr dirty="0"/>
              <a:t> </a:t>
            </a:r>
            <a:r>
              <a:rPr dirty="0" err="1"/>
              <a:t>уровня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Он</a:t>
            </a:r>
            <a:r>
              <a:rPr dirty="0"/>
              <a:t> </a:t>
            </a:r>
            <a:r>
              <a:rPr dirty="0" err="1"/>
              <a:t>повторяет</a:t>
            </a:r>
            <a:r>
              <a:rPr dirty="0"/>
              <a:t> </a:t>
            </a:r>
            <a:r>
              <a:rPr dirty="0" err="1"/>
              <a:t>сигнал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все</a:t>
            </a:r>
            <a:r>
              <a:rPr dirty="0"/>
              <a:t> </a:t>
            </a:r>
            <a:r>
              <a:rPr dirty="0" err="1"/>
              <a:t>порты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Hub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анализирует</a:t>
            </a:r>
            <a:r>
              <a:rPr dirty="0"/>
              <a:t> MAC-</a:t>
            </a:r>
            <a:r>
              <a:rPr dirty="0" err="1"/>
              <a:t>адреса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Все</a:t>
            </a:r>
            <a:r>
              <a:rPr dirty="0"/>
              <a:t> </a:t>
            </a:r>
            <a:r>
              <a:rPr dirty="0" err="1"/>
              <a:t>устройства</a:t>
            </a:r>
            <a:r>
              <a:rPr dirty="0"/>
              <a:t> </a:t>
            </a:r>
            <a:r>
              <a:rPr dirty="0" err="1"/>
              <a:t>делят</a:t>
            </a:r>
            <a:r>
              <a:rPr dirty="0"/>
              <a:t> </a:t>
            </a:r>
            <a:r>
              <a:rPr dirty="0" err="1"/>
              <a:t>одну</a:t>
            </a:r>
            <a:r>
              <a:rPr dirty="0"/>
              <a:t> </a:t>
            </a:r>
            <a:r>
              <a:rPr dirty="0" err="1"/>
              <a:t>среду</a:t>
            </a:r>
            <a:r>
              <a:rPr dirty="0"/>
              <a:t> </a:t>
            </a:r>
            <a:r>
              <a:rPr dirty="0" err="1"/>
              <a:t>передачи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Hub </a:t>
            </a:r>
            <a:r>
              <a:rPr dirty="0" err="1"/>
              <a:t>важен</a:t>
            </a:r>
            <a:r>
              <a:rPr dirty="0"/>
              <a:t>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исторический</a:t>
            </a:r>
            <a:r>
              <a:rPr dirty="0"/>
              <a:t> </a:t>
            </a:r>
            <a:r>
              <a:rPr dirty="0" err="1"/>
              <a:t>пример</a:t>
            </a:r>
            <a:r>
              <a:rPr dirty="0"/>
              <a:t> </a:t>
            </a:r>
            <a:r>
              <a:rPr dirty="0" err="1"/>
              <a:t>коллизий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в </a:t>
            </a:r>
            <a:r>
              <a:rPr dirty="0" err="1"/>
              <a:t>современных</a:t>
            </a:r>
            <a:r>
              <a:rPr dirty="0"/>
              <a:t> </a:t>
            </a:r>
            <a:r>
              <a:rPr dirty="0" err="1"/>
              <a:t>сетях</a:t>
            </a:r>
            <a:r>
              <a:rPr dirty="0"/>
              <a:t> </a:t>
            </a:r>
            <a:r>
              <a:rPr dirty="0" err="1"/>
              <a:t>почти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применяется</a:t>
            </a:r>
            <a:r>
              <a:rPr dirty="0"/>
              <a:t>.</a:t>
            </a:r>
            <a:endParaRPr lang="ru-RU" dirty="0"/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Хаб решает проблему множественного доступа исключительно на физическом уровне (1-й уровень OSI) с помощью механизма </a:t>
            </a:r>
            <a:r>
              <a:rPr lang="ru-RU" b="1" dirty="0"/>
              <a:t>CSMA/CD</a:t>
            </a:r>
            <a:r>
              <a:rPr lang="ru-RU" dirty="0"/>
              <a:t> (Carrier </a:t>
            </a:r>
            <a:r>
              <a:rPr lang="ru-RU" dirty="0" err="1"/>
              <a:t>Sense</a:t>
            </a:r>
            <a:r>
              <a:rPr lang="ru-RU" dirty="0"/>
              <a:t> </a:t>
            </a:r>
            <a:r>
              <a:rPr lang="ru-RU" dirty="0" err="1"/>
              <a:t>Multiple</a:t>
            </a:r>
            <a:r>
              <a:rPr lang="ru-RU" dirty="0"/>
              <a:t> Access </a:t>
            </a:r>
            <a:r>
              <a:rPr lang="ru-RU" dirty="0" err="1"/>
              <a:t>with</a:t>
            </a:r>
            <a:r>
              <a:rPr lang="ru-RU" dirty="0"/>
              <a:t> </a:t>
            </a:r>
            <a:r>
              <a:rPr lang="ru-RU" dirty="0" err="1"/>
              <a:t>Collision</a:t>
            </a:r>
            <a:r>
              <a:rPr lang="ru-RU" dirty="0"/>
              <a:t> </a:t>
            </a:r>
            <a:r>
              <a:rPr lang="ru-RU" dirty="0" err="1"/>
              <a:t>Detection</a:t>
            </a:r>
            <a:r>
              <a:rPr lang="ru-RU" dirty="0"/>
              <a:t>).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561AA4-E237-091D-A286-9F7180B794CE}"/>
              </a:ext>
            </a:extLst>
          </p:cNvPr>
          <p:cNvSpPr txBox="1"/>
          <p:nvPr/>
        </p:nvSpPr>
        <p:spPr>
          <a:xfrm>
            <a:off x="5592485" y="270631"/>
            <a:ext cx="97654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/>
              <a:t> </a:t>
            </a:r>
            <a:r>
              <a:rPr lang="en-US" dirty="0"/>
              <a:t>Hub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342003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09268-AA0E-6591-19DD-9DA923F4E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24857E8-6CEF-24C0-C2CA-503786911CCF}"/>
              </a:ext>
            </a:extLst>
          </p:cNvPr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>
              <a:defRPr sz="3600"/>
            </a:pPr>
            <a:r>
              <a:rPr lang="ru-RU" dirty="0"/>
              <a:t>Как работает</a:t>
            </a:r>
            <a:r>
              <a:rPr lang="en-US" dirty="0"/>
              <a:t> </a:t>
            </a:r>
            <a:r>
              <a:rPr lang="ru-RU" dirty="0"/>
              <a:t>хаб: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Хаб создает один общий домен коллизий. Все провода, подключенные к нему, внутри объединены в одну шину.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Устройства вынуждены «слушать» эфир перед отправкой данных. Если сеть свободна — компьютер передает пакет.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Проблема коллизий: Если два компьютера начинают передачу одновременно, их сигналы сталкиваются (происходит коллизия) и искажаются. Хаб фиксирует это, посылает всем джем-сигнал (сигнал глушения), устройства замолкают, ждут случайное количество миллисекунд и пробуют снова.</a:t>
            </a:r>
          </a:p>
          <a:p>
            <a:pPr>
              <a:defRPr sz="3600"/>
            </a:pPr>
            <a:r>
              <a:rPr lang="ru-RU" dirty="0"/>
              <a:t>Итог: Хаб не устраняет коллизии, он просто предоставляет правила, как устройствам «разруливать» эти столкновения. Чем больше компьютеров в хабе, тем медленнее сеть, так как они постоянно ждут своей очереди.</a:t>
            </a:r>
          </a:p>
          <a:p>
            <a:pPr>
              <a:defRPr sz="3600"/>
            </a:pP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652956-EF28-27D2-E991-81EF4469F21D}"/>
              </a:ext>
            </a:extLst>
          </p:cNvPr>
          <p:cNvSpPr txBox="1"/>
          <p:nvPr/>
        </p:nvSpPr>
        <p:spPr>
          <a:xfrm>
            <a:off x="5592485" y="270631"/>
            <a:ext cx="97654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/>
              <a:t> </a:t>
            </a:r>
            <a:r>
              <a:rPr lang="en-US" dirty="0"/>
              <a:t>Hub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98410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45D1AC-651D-E4A7-4A56-F3A35C418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6966EC3-AD74-18EA-9105-4171C50B108C}"/>
              </a:ext>
            </a:extLst>
          </p:cNvPr>
          <p:cNvSpPr txBox="1"/>
          <p:nvPr/>
        </p:nvSpPr>
        <p:spPr>
          <a:xfrm>
            <a:off x="457200" y="914399"/>
            <a:ext cx="10972800" cy="5672969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indent="354013">
              <a:defRPr sz="3600"/>
            </a:pPr>
            <a:r>
              <a:rPr lang="ru-RU" dirty="0"/>
              <a:t>Домен коллизий (</a:t>
            </a:r>
            <a:r>
              <a:rPr lang="ru-RU" dirty="0" err="1"/>
              <a:t>Collision</a:t>
            </a:r>
            <a:r>
              <a:rPr lang="ru-RU" dirty="0"/>
              <a:t> Domain) — это часть компьютерной сети, в которой все подключенные устройства делят между собой одну общую среду передачи данных.</a:t>
            </a:r>
          </a:p>
          <a:p>
            <a:pPr indent="354013">
              <a:defRPr sz="3600"/>
            </a:pPr>
            <a:r>
              <a:rPr lang="ru-RU" dirty="0"/>
              <a:t>Если в таком домене два или более устройства начинают передавать данные одновременно, их сигналы неизбежно сталкиваются, искажаются и теряются. Это столкновение сигналов и называется коллизией.</a:t>
            </a:r>
          </a:p>
          <a:p>
            <a:pPr>
              <a:defRPr sz="3600"/>
            </a:pPr>
            <a:r>
              <a:rPr lang="ru-RU" dirty="0"/>
              <a:t>Главное правило разделения доменов коллизий: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Хаб (</a:t>
            </a:r>
            <a:r>
              <a:rPr lang="ru-RU" dirty="0" err="1"/>
              <a:t>Hub</a:t>
            </a:r>
            <a:r>
              <a:rPr lang="ru-RU" dirty="0"/>
              <a:t>) — объединяет все свои порты в один большой домен коллизий. Чем больше устройств в хабе, тем чаще происходят столкновения и тем медленнее работает сеть.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Коммутатор (</a:t>
            </a:r>
            <a:r>
              <a:rPr lang="ru-RU" dirty="0" err="1"/>
              <a:t>Switch</a:t>
            </a:r>
            <a:r>
              <a:rPr lang="ru-RU" dirty="0"/>
              <a:t>) или Роутер (</a:t>
            </a:r>
            <a:r>
              <a:rPr lang="ru-RU" dirty="0" err="1"/>
              <a:t>Router</a:t>
            </a:r>
            <a:r>
              <a:rPr lang="ru-RU" dirty="0"/>
              <a:t>) — делят сеть так, что каждый отдельный порт является своим собственным, изолированным доменом коллизий.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326B79-C1AC-5948-B64C-1EFE04BACFBA}"/>
              </a:ext>
            </a:extLst>
          </p:cNvPr>
          <p:cNvSpPr txBox="1"/>
          <p:nvPr/>
        </p:nvSpPr>
        <p:spPr>
          <a:xfrm>
            <a:off x="4432905" y="270631"/>
            <a:ext cx="329571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/>
              <a:t> </a:t>
            </a:r>
            <a:r>
              <a:rPr lang="ru-RU" dirty="0"/>
              <a:t>Домен коллизий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073788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2067" y="270631"/>
            <a:ext cx="11757386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/>
              <a:t> </a:t>
            </a:r>
            <a:r>
              <a:rPr lang="ru-RU" sz="4400" dirty="0"/>
              <a:t>4. </a:t>
            </a:r>
            <a:r>
              <a:rPr lang="ru-RU" sz="4400" dirty="0" err="1"/>
              <a:t>Switch</a:t>
            </a:r>
            <a:r>
              <a:rPr lang="ru-RU" sz="4400" dirty="0"/>
              <a:t> и таблица коммутации MAC-адресов.</a:t>
            </a:r>
            <a:endParaRPr sz="4400" dirty="0"/>
          </a:p>
        </p:txBody>
      </p:sp>
      <p:sp>
        <p:nvSpPr>
          <p:cNvPr id="3" name="TextBox 2"/>
          <p:cNvSpPr txBox="1"/>
          <p:nvPr/>
        </p:nvSpPr>
        <p:spPr>
          <a:xfrm>
            <a:off x="457199" y="1622323"/>
            <a:ext cx="11253019" cy="510294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Switch - </a:t>
            </a:r>
            <a:r>
              <a:rPr dirty="0" err="1"/>
              <a:t>коммутатор</a:t>
            </a:r>
            <a:r>
              <a:rPr dirty="0"/>
              <a:t>, </a:t>
            </a:r>
            <a:r>
              <a:rPr dirty="0" err="1"/>
              <a:t>устройство</a:t>
            </a:r>
            <a:r>
              <a:rPr dirty="0"/>
              <a:t> </a:t>
            </a:r>
            <a:r>
              <a:rPr dirty="0" err="1"/>
              <a:t>канального</a:t>
            </a:r>
            <a:r>
              <a:rPr dirty="0"/>
              <a:t> </a:t>
            </a:r>
            <a:r>
              <a:rPr dirty="0" err="1"/>
              <a:t>уровня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Он</a:t>
            </a:r>
            <a:r>
              <a:rPr dirty="0"/>
              <a:t> </a:t>
            </a:r>
            <a:r>
              <a:rPr dirty="0" err="1"/>
              <a:t>изучает</a:t>
            </a:r>
            <a:r>
              <a:rPr dirty="0"/>
              <a:t> MAC-</a:t>
            </a:r>
            <a:r>
              <a:rPr dirty="0" err="1"/>
              <a:t>адреса</a:t>
            </a:r>
            <a:r>
              <a:rPr dirty="0"/>
              <a:t> </a:t>
            </a:r>
            <a:r>
              <a:rPr dirty="0" err="1"/>
              <a:t>отправителей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Коммутатор</a:t>
            </a:r>
            <a:r>
              <a:rPr dirty="0"/>
              <a:t> </a:t>
            </a:r>
            <a:r>
              <a:rPr dirty="0" err="1"/>
              <a:t>строит</a:t>
            </a:r>
            <a:r>
              <a:rPr dirty="0"/>
              <a:t> MAC address table.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Кадр</a:t>
            </a:r>
            <a:r>
              <a:rPr dirty="0"/>
              <a:t> </a:t>
            </a:r>
            <a:r>
              <a:rPr dirty="0" err="1"/>
              <a:t>пересылается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нужный</a:t>
            </a:r>
            <a:r>
              <a:rPr dirty="0"/>
              <a:t> </a:t>
            </a:r>
            <a:r>
              <a:rPr dirty="0" err="1"/>
              <a:t>порт</a:t>
            </a:r>
            <a:r>
              <a:rPr dirty="0"/>
              <a:t>, </a:t>
            </a: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адрес</a:t>
            </a:r>
            <a:r>
              <a:rPr dirty="0"/>
              <a:t> </a:t>
            </a:r>
            <a:r>
              <a:rPr dirty="0" err="1"/>
              <a:t>известен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адрес</a:t>
            </a:r>
            <a:r>
              <a:rPr dirty="0"/>
              <a:t> </a:t>
            </a:r>
            <a:r>
              <a:rPr dirty="0" err="1"/>
              <a:t>неизвестен</a:t>
            </a:r>
            <a:r>
              <a:rPr dirty="0"/>
              <a:t>, </a:t>
            </a:r>
            <a:r>
              <a:rPr dirty="0" err="1"/>
              <a:t>кадр</a:t>
            </a:r>
            <a:r>
              <a:rPr dirty="0"/>
              <a:t> </a:t>
            </a:r>
            <a:r>
              <a:rPr dirty="0" err="1"/>
              <a:t>рассылается</a:t>
            </a:r>
            <a:r>
              <a:rPr dirty="0"/>
              <a:t> </a:t>
            </a:r>
            <a:r>
              <a:rPr dirty="0" err="1"/>
              <a:t>как</a:t>
            </a:r>
            <a:r>
              <a:rPr dirty="0"/>
              <a:t> unknown unicast flood.</a:t>
            </a:r>
            <a:endParaRPr lang="en-US" dirty="0"/>
          </a:p>
          <a:p>
            <a:pPr>
              <a:defRPr sz="3600"/>
            </a:pPr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C3DF5-0583-15CA-BB4A-515A0A9BB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ED749FA-CB49-3442-27B5-03961E7FEFB0}"/>
              </a:ext>
            </a:extLst>
          </p:cNvPr>
          <p:cNvSpPr txBox="1"/>
          <p:nvPr/>
        </p:nvSpPr>
        <p:spPr>
          <a:xfrm>
            <a:off x="457199" y="1040071"/>
            <a:ext cx="11253019" cy="568519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endParaRPr lang="en-US" dirty="0"/>
          </a:p>
          <a:p>
            <a:pPr indent="442913">
              <a:defRPr sz="3600"/>
            </a:pPr>
            <a:r>
              <a:rPr lang="ru-RU" dirty="0"/>
              <a:t>Свитч решает проблему множественного доступа на канальном уровне (2-й уровень OSI), используя </a:t>
            </a:r>
            <a:r>
              <a:rPr lang="ru-RU" b="1" dirty="0"/>
              <a:t>таблицу MAC-адресов</a:t>
            </a:r>
            <a:r>
              <a:rPr lang="ru-RU" dirty="0"/>
              <a:t> и микропроцессорную коммутацию.</a:t>
            </a:r>
          </a:p>
          <a:p>
            <a:pPr indent="442913">
              <a:defRPr sz="3600"/>
            </a:pPr>
            <a:endParaRPr lang="ru-RU" dirty="0"/>
          </a:p>
          <a:p>
            <a:pPr indent="442913">
              <a:defRPr sz="3600"/>
            </a:pPr>
            <a:r>
              <a:rPr lang="ru-RU" b="1" dirty="0"/>
              <a:t>Итог:</a:t>
            </a:r>
            <a:r>
              <a:rPr lang="ru-RU" dirty="0"/>
              <a:t> Свитч полностью </a:t>
            </a:r>
            <a:r>
              <a:rPr lang="ru-RU" b="1" dirty="0"/>
              <a:t>ликвидирует проблему коллизий</a:t>
            </a:r>
            <a:r>
              <a:rPr lang="ru-RU" dirty="0"/>
              <a:t>. С ним множественный доступ перестает быть проблемой «очереди», так как трафик разных пар устройств больше физически не пересекается.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358223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FA298-D31C-5B4E-FE0C-C4F724C21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D855EC3-9DE7-2D0A-6567-A9F3539CF24B}"/>
              </a:ext>
            </a:extLst>
          </p:cNvPr>
          <p:cNvSpPr txBox="1"/>
          <p:nvPr/>
        </p:nvSpPr>
        <p:spPr>
          <a:xfrm>
            <a:off x="5379060" y="270631"/>
            <a:ext cx="140339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/>
              <a:t> Switch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CDDFDDC-947D-A0E3-00E1-D418054676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291" y="1463449"/>
            <a:ext cx="10379232" cy="3978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4546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Таблица</a:t>
            </a:r>
            <a:r>
              <a:rPr dirty="0"/>
              <a:t> </a:t>
            </a:r>
            <a:r>
              <a:rPr dirty="0" err="1"/>
              <a:t>коммутации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399"/>
            <a:ext cx="10972800" cy="3672350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MAC address table </a:t>
            </a:r>
            <a:r>
              <a:rPr dirty="0" err="1"/>
              <a:t>связывает</a:t>
            </a:r>
            <a:r>
              <a:rPr dirty="0"/>
              <a:t> MAC-</a:t>
            </a:r>
            <a:r>
              <a:rPr dirty="0" err="1"/>
              <a:t>адрес</a:t>
            </a:r>
            <a:r>
              <a:rPr dirty="0"/>
              <a:t> с </a:t>
            </a:r>
            <a:r>
              <a:rPr dirty="0" err="1"/>
              <a:t>портом</a:t>
            </a:r>
            <a:r>
              <a:rPr dirty="0"/>
              <a:t> </a:t>
            </a:r>
            <a:r>
              <a:rPr dirty="0" err="1"/>
              <a:t>коммутатора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Запись</a:t>
            </a:r>
            <a:r>
              <a:rPr dirty="0"/>
              <a:t> </a:t>
            </a:r>
            <a:r>
              <a:rPr dirty="0" err="1"/>
              <a:t>появляется</a:t>
            </a:r>
            <a:r>
              <a:rPr dirty="0"/>
              <a:t>, </a:t>
            </a:r>
            <a:r>
              <a:rPr dirty="0" err="1"/>
              <a:t>когда</a:t>
            </a:r>
            <a:r>
              <a:rPr dirty="0"/>
              <a:t> </a:t>
            </a:r>
            <a:r>
              <a:rPr dirty="0" err="1"/>
              <a:t>коммутатор</a:t>
            </a:r>
            <a:r>
              <a:rPr dirty="0"/>
              <a:t> </a:t>
            </a:r>
            <a:r>
              <a:rPr dirty="0" err="1"/>
              <a:t>видит</a:t>
            </a:r>
            <a:r>
              <a:rPr dirty="0"/>
              <a:t> </a:t>
            </a:r>
            <a:r>
              <a:rPr dirty="0" err="1"/>
              <a:t>кадр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устройства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Записи</a:t>
            </a:r>
            <a:r>
              <a:rPr dirty="0"/>
              <a:t> </a:t>
            </a:r>
            <a:r>
              <a:rPr dirty="0" err="1"/>
              <a:t>устаревают</a:t>
            </a:r>
            <a:r>
              <a:rPr dirty="0"/>
              <a:t> и </a:t>
            </a:r>
            <a:r>
              <a:rPr dirty="0" err="1"/>
              <a:t>удаляются</a:t>
            </a:r>
            <a:r>
              <a:rPr dirty="0"/>
              <a:t> </a:t>
            </a:r>
            <a:r>
              <a:rPr dirty="0" err="1"/>
              <a:t>автоматически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Пустая</a:t>
            </a:r>
            <a:r>
              <a:rPr dirty="0"/>
              <a:t> </a:t>
            </a:r>
            <a:r>
              <a:rPr dirty="0" err="1"/>
              <a:t>таблица</a:t>
            </a:r>
            <a:r>
              <a:rPr dirty="0"/>
              <a:t> </a:t>
            </a:r>
            <a:r>
              <a:rPr dirty="0" err="1"/>
              <a:t>приводит</a:t>
            </a:r>
            <a:r>
              <a:rPr dirty="0"/>
              <a:t> к </a:t>
            </a:r>
            <a:r>
              <a:rPr dirty="0" err="1"/>
              <a:t>большему</a:t>
            </a:r>
            <a:r>
              <a:rPr dirty="0"/>
              <a:t> </a:t>
            </a:r>
            <a:r>
              <a:rPr dirty="0" err="1"/>
              <a:t>количеству</a:t>
            </a:r>
            <a:r>
              <a:rPr dirty="0"/>
              <a:t> flood-</a:t>
            </a:r>
            <a:r>
              <a:rPr dirty="0" err="1"/>
              <a:t>трафика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диагностики</a:t>
            </a:r>
            <a:r>
              <a:rPr dirty="0"/>
              <a:t> </a:t>
            </a:r>
            <a:r>
              <a:rPr dirty="0" err="1"/>
              <a:t>важно</a:t>
            </a:r>
            <a:r>
              <a:rPr dirty="0"/>
              <a:t> </a:t>
            </a:r>
            <a:r>
              <a:rPr dirty="0" err="1"/>
              <a:t>знать</a:t>
            </a:r>
            <a:r>
              <a:rPr dirty="0"/>
              <a:t>,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каком</a:t>
            </a:r>
            <a:r>
              <a:rPr dirty="0"/>
              <a:t> </a:t>
            </a:r>
            <a:r>
              <a:rPr dirty="0" err="1"/>
              <a:t>порту</a:t>
            </a:r>
            <a:r>
              <a:rPr dirty="0"/>
              <a:t> </a:t>
            </a:r>
            <a:r>
              <a:rPr dirty="0" err="1"/>
              <a:t>коммутатор</a:t>
            </a:r>
            <a:r>
              <a:rPr dirty="0"/>
              <a:t> </a:t>
            </a:r>
            <a:r>
              <a:rPr dirty="0" err="1"/>
              <a:t>видит</a:t>
            </a:r>
            <a:r>
              <a:rPr dirty="0"/>
              <a:t> MAC.</a:t>
            </a:r>
            <a:endParaRPr lang="ru-RU"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Посмотреть таблицу коммутации: </a:t>
            </a:r>
            <a:r>
              <a:rPr lang="ru-RU" dirty="0" err="1">
                <a:solidFill>
                  <a:schemeClr val="tx2"/>
                </a:solidFill>
              </a:rPr>
              <a:t>Switch#show</a:t>
            </a:r>
            <a:r>
              <a:rPr lang="ru-RU" dirty="0">
                <a:solidFill>
                  <a:schemeClr val="tx2"/>
                </a:solidFill>
              </a:rPr>
              <a:t> </a:t>
            </a:r>
            <a:r>
              <a:rPr lang="ru-RU" dirty="0" err="1">
                <a:solidFill>
                  <a:schemeClr val="tx2"/>
                </a:solidFill>
              </a:rPr>
              <a:t>mac-address-table</a:t>
            </a:r>
            <a:r>
              <a:rPr lang="ru-RU" dirty="0">
                <a:solidFill>
                  <a:schemeClr val="tx2"/>
                </a:solidFill>
              </a:rPr>
              <a:t> </a:t>
            </a:r>
            <a:endParaRPr dirty="0">
              <a:solidFill>
                <a:schemeClr val="tx2"/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78619D5-72ED-318A-F461-FEBB513F4FF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63"/>
          <a:stretch>
            <a:fillRect/>
          </a:stretch>
        </p:blipFill>
        <p:spPr>
          <a:xfrm>
            <a:off x="2521974" y="3640521"/>
            <a:ext cx="7263350" cy="3034599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0E4E74-3988-61F0-7E79-1D8732C8F5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6176" y="455059"/>
            <a:ext cx="8257736" cy="636099"/>
          </a:xfrm>
        </p:spPr>
        <p:txBody>
          <a:bodyPr>
            <a:normAutofit/>
          </a:bodyPr>
          <a:lstStyle/>
          <a:p>
            <a:r>
              <a:rPr lang="ru-RU" sz="3200" b="1" dirty="0">
                <a:solidFill>
                  <a:srgbClr val="143764"/>
                </a:solidFill>
                <a:latin typeface="+mn-lt"/>
                <a:ea typeface="+mn-ea"/>
                <a:cs typeface="+mn-cs"/>
              </a:rPr>
              <a:t>Таблица коммутации</a:t>
            </a:r>
          </a:p>
        </p:txBody>
      </p:sp>
      <p:pic>
        <p:nvPicPr>
          <p:cNvPr id="7" name="image9.jpeg">
            <a:extLst>
              <a:ext uri="{FF2B5EF4-FFF2-40B4-BE49-F238E27FC236}">
                <a16:creationId xmlns:a16="http://schemas.microsoft.com/office/drawing/2014/main" id="{C8DD4D0B-3173-CE51-927A-914C1C3B2AAB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56852" y="1453289"/>
            <a:ext cx="9306231" cy="5005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9874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0E4E74-3988-61F0-7E79-1D8732C8F5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60097" y="855080"/>
            <a:ext cx="8257736" cy="636099"/>
          </a:xfrm>
        </p:spPr>
        <p:txBody>
          <a:bodyPr>
            <a:normAutofit fontScale="90000"/>
          </a:bodyPr>
          <a:lstStyle/>
          <a:p>
            <a:r>
              <a:rPr lang="ru-RU" sz="3600" b="1" dirty="0">
                <a:solidFill>
                  <a:srgbClr val="143764"/>
                </a:solidFill>
                <a:latin typeface="+mn-lt"/>
                <a:ea typeface="+mn-ea"/>
                <a:cs typeface="+mn-cs"/>
              </a:rPr>
              <a:t>Коммутатор </a:t>
            </a:r>
            <a:r>
              <a:rPr lang="en-US" sz="3600" b="1" dirty="0">
                <a:solidFill>
                  <a:srgbClr val="143764"/>
                </a:solidFill>
                <a:latin typeface="+mn-lt"/>
                <a:ea typeface="+mn-ea"/>
                <a:cs typeface="+mn-cs"/>
              </a:rPr>
              <a:t>(Switch, Bridge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endParaRPr lang="ru-RU" sz="36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D5FC9A2-E176-ACF7-7085-371C7EC48F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445" y="1873045"/>
            <a:ext cx="11282516" cy="3967315"/>
          </a:xfrm>
        </p:spPr>
        <p:txBody>
          <a:bodyPr>
            <a:normAutofit/>
          </a:bodyPr>
          <a:lstStyle/>
          <a:p>
            <a:pPr algn="l"/>
            <a:r>
              <a:rPr lang="ru-RU" dirty="0">
                <a:solidFill>
                  <a:schemeClr val="tx1"/>
                </a:solidFill>
              </a:rPr>
              <a:t>1. Коммутатор имеет буфер для хранения пакетов </a:t>
            </a:r>
          </a:p>
          <a:p>
            <a:pPr algn="l"/>
            <a:r>
              <a:rPr lang="ru-RU" dirty="0">
                <a:solidFill>
                  <a:schemeClr val="tx1"/>
                </a:solidFill>
              </a:rPr>
              <a:t>2. Не имеет своего </a:t>
            </a:r>
            <a:r>
              <a:rPr lang="en-US" dirty="0">
                <a:solidFill>
                  <a:schemeClr val="tx1"/>
                </a:solidFill>
              </a:rPr>
              <a:t>mac</a:t>
            </a:r>
            <a:r>
              <a:rPr lang="ru-RU" dirty="0">
                <a:solidFill>
                  <a:schemeClr val="tx1"/>
                </a:solidFill>
              </a:rPr>
              <a:t>-адреса</a:t>
            </a:r>
          </a:p>
          <a:p>
            <a:pPr algn="l"/>
            <a:r>
              <a:rPr lang="ru-RU" dirty="0">
                <a:solidFill>
                  <a:schemeClr val="tx1"/>
                </a:solidFill>
              </a:rPr>
              <a:t>3. Коммутатор имеет таблицу </a:t>
            </a:r>
            <a:r>
              <a:rPr lang="en-US" dirty="0">
                <a:solidFill>
                  <a:schemeClr val="tx1"/>
                </a:solidFill>
              </a:rPr>
              <a:t>mac</a:t>
            </a:r>
            <a:r>
              <a:rPr lang="ru-RU" dirty="0">
                <a:solidFill>
                  <a:schemeClr val="tx1"/>
                </a:solidFill>
              </a:rPr>
              <a:t>-адресов</a:t>
            </a:r>
            <a:r>
              <a:rPr lang="en-US" dirty="0">
                <a:solidFill>
                  <a:schemeClr val="tx1"/>
                </a:solidFill>
              </a:rPr>
              <a:t> (</a:t>
            </a:r>
            <a:r>
              <a:rPr lang="ru-RU" dirty="0">
                <a:solidFill>
                  <a:schemeClr val="tx1"/>
                </a:solidFill>
              </a:rPr>
              <a:t>заполняется по факту прибытия пакетов</a:t>
            </a:r>
            <a:r>
              <a:rPr lang="en-US" dirty="0">
                <a:solidFill>
                  <a:schemeClr val="tx1"/>
                </a:solidFill>
              </a:rPr>
              <a:t>)</a:t>
            </a:r>
            <a:r>
              <a:rPr lang="ru-RU" dirty="0">
                <a:solidFill>
                  <a:schemeClr val="tx1"/>
                </a:solidFill>
              </a:rPr>
              <a:t>. Один </a:t>
            </a:r>
            <a:r>
              <a:rPr lang="en-US" dirty="0">
                <a:solidFill>
                  <a:schemeClr val="tx1"/>
                </a:solidFill>
              </a:rPr>
              <a:t>mac-</a:t>
            </a:r>
            <a:r>
              <a:rPr lang="ru-RU" dirty="0">
                <a:solidFill>
                  <a:schemeClr val="tx1"/>
                </a:solidFill>
              </a:rPr>
              <a:t>адрес может быть привязан к одному интерфейсу. К одному интерфейсу может быть привязано множество </a:t>
            </a:r>
            <a:r>
              <a:rPr lang="en-US" dirty="0">
                <a:solidFill>
                  <a:schemeClr val="tx1"/>
                </a:solidFill>
              </a:rPr>
              <a:t>mac</a:t>
            </a:r>
            <a:r>
              <a:rPr lang="ru-RU" dirty="0">
                <a:solidFill>
                  <a:schemeClr val="tx1"/>
                </a:solidFill>
              </a:rPr>
              <a:t>-адресов.</a:t>
            </a:r>
          </a:p>
          <a:p>
            <a:pPr algn="l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630316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Работа</a:t>
            </a:r>
            <a:r>
              <a:rPr dirty="0"/>
              <a:t> </a:t>
            </a:r>
            <a:r>
              <a:rPr dirty="0" err="1"/>
              <a:t>коммутатора</a:t>
            </a:r>
            <a:endParaRPr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5AE8281-C078-0B61-5A98-2643BC63F1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FB648-EDBE-7F41-7008-0CBAADCBB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8409BA-025C-FBA5-F921-5C243921D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60097" y="855080"/>
            <a:ext cx="8257736" cy="636099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143764"/>
                </a:solidFill>
                <a:latin typeface="+mn-lt"/>
                <a:ea typeface="+mn-ea"/>
                <a:cs typeface="+mn-cs"/>
              </a:rPr>
              <a:t>Unknow destination unicast flood</a:t>
            </a:r>
            <a:endParaRPr lang="ru-RU" sz="3200" b="1" dirty="0">
              <a:solidFill>
                <a:srgbClr val="143764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E3B5192-BB47-F7E9-EC10-451BAD7104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181" y="2304184"/>
            <a:ext cx="10899058" cy="3154081"/>
          </a:xfrm>
        </p:spPr>
        <p:txBody>
          <a:bodyPr/>
          <a:lstStyle/>
          <a:p>
            <a:pPr algn="l"/>
            <a:r>
              <a:rPr lang="ru-RU" dirty="0">
                <a:solidFill>
                  <a:schemeClr val="tx1"/>
                </a:solidFill>
              </a:rPr>
              <a:t>Если в таблице нет </a:t>
            </a:r>
            <a:r>
              <a:rPr lang="en-US" dirty="0">
                <a:solidFill>
                  <a:schemeClr val="tx1"/>
                </a:solidFill>
              </a:rPr>
              <a:t>mac</a:t>
            </a:r>
            <a:r>
              <a:rPr lang="ru-RU" dirty="0">
                <a:solidFill>
                  <a:schemeClr val="tx1"/>
                </a:solidFill>
              </a:rPr>
              <a:t>-адреса получателя, коммутатор отправляет пакет во все интерфейсы</a:t>
            </a:r>
          </a:p>
        </p:txBody>
      </p:sp>
    </p:spTree>
    <p:extLst>
      <p:ext uri="{BB962C8B-B14F-4D97-AF65-F5344CB8AC3E}">
        <p14:creationId xmlns:p14="http://schemas.microsoft.com/office/powerpoint/2010/main" val="25735853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0E4E74-3988-61F0-7E79-1D8732C8F5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10264" y="587794"/>
            <a:ext cx="8257736" cy="636099"/>
          </a:xfrm>
        </p:spPr>
        <p:txBody>
          <a:bodyPr>
            <a:normAutofit fontScale="90000"/>
          </a:bodyPr>
          <a:lstStyle/>
          <a:p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Unknow destination unicast flood</a:t>
            </a:r>
            <a:endParaRPr lang="ru-RU" sz="36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90BB6D5-D0A0-ED5C-0D6F-D9F0B7AB72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0259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Broadcast flood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en-US" dirty="0"/>
              <a:t>broadcast-</a:t>
            </a:r>
            <a:r>
              <a:rPr lang="ru-RU" dirty="0"/>
              <a:t>кадр – кадр у которого</a:t>
            </a:r>
            <a:r>
              <a:rPr lang="en-US" dirty="0"/>
              <a:t> </a:t>
            </a:r>
            <a:r>
              <a:rPr lang="ru-RU" dirty="0"/>
              <a:t>в поле получателя - </a:t>
            </a:r>
            <a:r>
              <a:rPr lang="en-US" dirty="0"/>
              <a:t>broadcast</a:t>
            </a:r>
            <a:endParaRPr lang="ru-RU"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Broadcast flood - </a:t>
            </a:r>
            <a:r>
              <a:rPr dirty="0" err="1"/>
              <a:t>распространение</a:t>
            </a:r>
            <a:r>
              <a:rPr dirty="0"/>
              <a:t> broadcast-</a:t>
            </a:r>
            <a:r>
              <a:rPr dirty="0" err="1"/>
              <a:t>кадра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всем</a:t>
            </a:r>
            <a:r>
              <a:rPr dirty="0"/>
              <a:t> </a:t>
            </a:r>
            <a:r>
              <a:rPr dirty="0" err="1"/>
              <a:t>подходящим</a:t>
            </a:r>
            <a:r>
              <a:rPr dirty="0"/>
              <a:t> </a:t>
            </a:r>
            <a:r>
              <a:rPr dirty="0" err="1"/>
              <a:t>портам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нормальное</a:t>
            </a:r>
            <a:r>
              <a:rPr dirty="0"/>
              <a:t> </a:t>
            </a:r>
            <a:r>
              <a:rPr dirty="0" err="1"/>
              <a:t>поведение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broadcast-</a:t>
            </a:r>
            <a:r>
              <a:rPr dirty="0" err="1"/>
              <a:t>трафика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Проблемой</a:t>
            </a:r>
            <a:r>
              <a:rPr dirty="0"/>
              <a:t> </a:t>
            </a:r>
            <a:r>
              <a:rPr dirty="0" err="1"/>
              <a:t>становится</a:t>
            </a:r>
            <a:r>
              <a:rPr dirty="0"/>
              <a:t> </a:t>
            </a:r>
            <a:r>
              <a:rPr dirty="0" err="1"/>
              <a:t>слишком</a:t>
            </a:r>
            <a:r>
              <a:rPr dirty="0"/>
              <a:t> </a:t>
            </a:r>
            <a:r>
              <a:rPr dirty="0" err="1"/>
              <a:t>большое</a:t>
            </a:r>
            <a:r>
              <a:rPr dirty="0"/>
              <a:t> </a:t>
            </a:r>
            <a:r>
              <a:rPr dirty="0" err="1"/>
              <a:t>количество</a:t>
            </a:r>
            <a:r>
              <a:rPr dirty="0"/>
              <a:t> broadcast.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Петли</a:t>
            </a:r>
            <a:r>
              <a:rPr dirty="0"/>
              <a:t> </a:t>
            </a:r>
            <a:r>
              <a:rPr dirty="0" err="1"/>
              <a:t>коммутации</a:t>
            </a:r>
            <a:r>
              <a:rPr dirty="0"/>
              <a:t> </a:t>
            </a:r>
            <a:r>
              <a:rPr dirty="0" err="1"/>
              <a:t>могут</a:t>
            </a:r>
            <a:r>
              <a:rPr dirty="0"/>
              <a:t> </a:t>
            </a:r>
            <a:r>
              <a:rPr dirty="0" err="1"/>
              <a:t>резко</a:t>
            </a:r>
            <a:r>
              <a:rPr dirty="0"/>
              <a:t> </a:t>
            </a:r>
            <a:r>
              <a:rPr dirty="0" err="1"/>
              <a:t>усилить</a:t>
            </a:r>
            <a:r>
              <a:rPr dirty="0"/>
              <a:t> flood.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Администратор</a:t>
            </a:r>
            <a:r>
              <a:rPr dirty="0"/>
              <a:t> </a:t>
            </a:r>
            <a:r>
              <a:rPr dirty="0" err="1"/>
              <a:t>должен</a:t>
            </a:r>
            <a:r>
              <a:rPr dirty="0"/>
              <a:t> </a:t>
            </a:r>
            <a:r>
              <a:rPr dirty="0" err="1"/>
              <a:t>понимать</a:t>
            </a:r>
            <a:r>
              <a:rPr dirty="0"/>
              <a:t> </a:t>
            </a:r>
            <a:r>
              <a:rPr dirty="0" err="1"/>
              <a:t>границы</a:t>
            </a:r>
            <a:r>
              <a:rPr dirty="0"/>
              <a:t> broadcast-</a:t>
            </a:r>
            <a:r>
              <a:rPr dirty="0" err="1"/>
              <a:t>домена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99808-13BA-22B0-1C12-2CF7A98FB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D958B8C-1ED9-1B83-6D11-E241A481A7AA}"/>
              </a:ext>
            </a:extLst>
          </p:cNvPr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Broadcast flood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9A53B04-97B3-9183-066B-C45E8C0D07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9953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449960" y="182880"/>
            <a:ext cx="326159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/>
              <a:t>Broadcast domain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199" y="914400"/>
            <a:ext cx="11253019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Broadcast domain - </a:t>
            </a:r>
            <a:r>
              <a:rPr dirty="0" err="1"/>
              <a:t>область</a:t>
            </a:r>
            <a:r>
              <a:rPr dirty="0"/>
              <a:t> </a:t>
            </a:r>
            <a:r>
              <a:rPr dirty="0" err="1"/>
              <a:t>распространения</a:t>
            </a:r>
            <a:r>
              <a:rPr dirty="0"/>
              <a:t> </a:t>
            </a:r>
            <a:r>
              <a:rPr dirty="0" err="1"/>
              <a:t>широковещательных</a:t>
            </a:r>
            <a:r>
              <a:rPr dirty="0"/>
              <a:t> </a:t>
            </a:r>
            <a:r>
              <a:rPr dirty="0" err="1"/>
              <a:t>кадров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Broadcast </a:t>
            </a:r>
            <a:r>
              <a:rPr dirty="0" err="1"/>
              <a:t>получают</a:t>
            </a:r>
            <a:r>
              <a:rPr dirty="0"/>
              <a:t> </a:t>
            </a:r>
            <a:r>
              <a:rPr dirty="0" err="1"/>
              <a:t>все</a:t>
            </a:r>
            <a:r>
              <a:rPr dirty="0"/>
              <a:t> </a:t>
            </a:r>
            <a:r>
              <a:rPr dirty="0" err="1"/>
              <a:t>устройства</a:t>
            </a:r>
            <a:r>
              <a:rPr dirty="0"/>
              <a:t> в </a:t>
            </a:r>
            <a:r>
              <a:rPr dirty="0" err="1"/>
              <a:t>одном</a:t>
            </a:r>
            <a:r>
              <a:rPr dirty="0"/>
              <a:t> </a:t>
            </a:r>
            <a:r>
              <a:rPr dirty="0" err="1"/>
              <a:t>сегменте</a:t>
            </a:r>
            <a:r>
              <a:rPr dirty="0"/>
              <a:t> L2.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ARP-</a:t>
            </a:r>
            <a:r>
              <a:rPr dirty="0" err="1"/>
              <a:t>запрос</a:t>
            </a:r>
            <a:r>
              <a:rPr dirty="0"/>
              <a:t> </a:t>
            </a:r>
            <a:r>
              <a:rPr dirty="0" err="1"/>
              <a:t>является</a:t>
            </a:r>
            <a:r>
              <a:rPr dirty="0"/>
              <a:t> </a:t>
            </a:r>
            <a:r>
              <a:rPr dirty="0" err="1"/>
              <a:t>типичным</a:t>
            </a:r>
            <a:r>
              <a:rPr dirty="0"/>
              <a:t> broadcast-</a:t>
            </a:r>
            <a:r>
              <a:rPr dirty="0" err="1"/>
              <a:t>примером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Избыточный</a:t>
            </a:r>
            <a:r>
              <a:rPr dirty="0"/>
              <a:t> broadcast </a:t>
            </a:r>
            <a:r>
              <a:rPr dirty="0" err="1"/>
              <a:t>нагружает</a:t>
            </a:r>
            <a:r>
              <a:rPr dirty="0"/>
              <a:t> </a:t>
            </a:r>
            <a:r>
              <a:rPr dirty="0" err="1"/>
              <a:t>устройства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Маршрутизатор</a:t>
            </a:r>
            <a:r>
              <a:rPr dirty="0"/>
              <a:t> </a:t>
            </a:r>
            <a:r>
              <a:rPr dirty="0" err="1"/>
              <a:t>обычно</a:t>
            </a:r>
            <a:r>
              <a:rPr dirty="0"/>
              <a:t> </a:t>
            </a:r>
            <a:r>
              <a:rPr dirty="0" err="1"/>
              <a:t>разделяет</a:t>
            </a:r>
            <a:r>
              <a:rPr dirty="0"/>
              <a:t> broadcast-</a:t>
            </a:r>
            <a:r>
              <a:rPr dirty="0" err="1"/>
              <a:t>домены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68AE401-2EE1-3D89-0283-1BD3B5EB12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650" y="412360"/>
            <a:ext cx="8648700" cy="8001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48D71A5-3863-7856-C889-0A354C0C14E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702" b="3428"/>
          <a:stretch/>
        </p:blipFill>
        <p:spPr>
          <a:xfrm>
            <a:off x="2062822" y="951398"/>
            <a:ext cx="8066356" cy="5906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1879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97781" y="182880"/>
            <a:ext cx="396595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lang="ru-RU" dirty="0"/>
              <a:t>5</a:t>
            </a:r>
            <a:r>
              <a:rPr dirty="0"/>
              <a:t>. </a:t>
            </a:r>
            <a:r>
              <a:rPr dirty="0" err="1"/>
              <a:t>Петля</a:t>
            </a:r>
            <a:r>
              <a:rPr dirty="0"/>
              <a:t> </a:t>
            </a:r>
            <a:r>
              <a:rPr dirty="0" err="1"/>
              <a:t>коммутации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Петля</a:t>
            </a:r>
            <a:r>
              <a:rPr dirty="0"/>
              <a:t> </a:t>
            </a:r>
            <a:r>
              <a:rPr dirty="0" err="1"/>
              <a:t>возникает</a:t>
            </a:r>
            <a:r>
              <a:rPr dirty="0"/>
              <a:t>, </a:t>
            </a:r>
            <a:r>
              <a:rPr dirty="0" err="1"/>
              <a:t>когда</a:t>
            </a:r>
            <a:r>
              <a:rPr dirty="0"/>
              <a:t> </a:t>
            </a:r>
            <a:r>
              <a:rPr dirty="0" err="1"/>
              <a:t>кадры</a:t>
            </a:r>
            <a:r>
              <a:rPr dirty="0"/>
              <a:t> </a:t>
            </a:r>
            <a:r>
              <a:rPr dirty="0" err="1"/>
              <a:t>могут</a:t>
            </a:r>
            <a:r>
              <a:rPr dirty="0"/>
              <a:t> </a:t>
            </a:r>
            <a:r>
              <a:rPr dirty="0" err="1"/>
              <a:t>ходить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кругу</a:t>
            </a:r>
            <a:r>
              <a:rPr dirty="0"/>
              <a:t> </a:t>
            </a:r>
            <a:r>
              <a:rPr dirty="0" err="1"/>
              <a:t>между</a:t>
            </a:r>
            <a:r>
              <a:rPr dirty="0"/>
              <a:t> </a:t>
            </a:r>
            <a:r>
              <a:rPr dirty="0" err="1"/>
              <a:t>коммутаторами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Ethernet frame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имеет</a:t>
            </a:r>
            <a:r>
              <a:rPr dirty="0"/>
              <a:t> TTL </a:t>
            </a:r>
            <a:r>
              <a:rPr dirty="0" err="1"/>
              <a:t>как</a:t>
            </a:r>
            <a:r>
              <a:rPr dirty="0"/>
              <a:t> IP-</a:t>
            </a:r>
            <a:r>
              <a:rPr dirty="0" err="1"/>
              <a:t>пакет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Broadcast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петле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быстро</a:t>
            </a:r>
            <a:r>
              <a:rPr dirty="0"/>
              <a:t> </a:t>
            </a:r>
            <a:r>
              <a:rPr dirty="0" err="1"/>
              <a:t>перегрузить</a:t>
            </a:r>
            <a:r>
              <a:rPr dirty="0"/>
              <a:t> </a:t>
            </a:r>
            <a:r>
              <a:rPr dirty="0" err="1"/>
              <a:t>сеть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Симптомы</a:t>
            </a:r>
            <a:r>
              <a:rPr dirty="0"/>
              <a:t>: </a:t>
            </a:r>
            <a:r>
              <a:rPr dirty="0" err="1"/>
              <a:t>пропадание</a:t>
            </a:r>
            <a:r>
              <a:rPr dirty="0"/>
              <a:t> </a:t>
            </a:r>
            <a:r>
              <a:rPr dirty="0" err="1"/>
              <a:t>связи</a:t>
            </a:r>
            <a:r>
              <a:rPr dirty="0"/>
              <a:t>, </a:t>
            </a:r>
            <a:r>
              <a:rPr dirty="0" err="1"/>
              <a:t>высокая</a:t>
            </a:r>
            <a:r>
              <a:rPr dirty="0"/>
              <a:t> </a:t>
            </a:r>
            <a:r>
              <a:rPr dirty="0" err="1"/>
              <a:t>загрузка</a:t>
            </a:r>
            <a:r>
              <a:rPr dirty="0"/>
              <a:t>, </a:t>
            </a:r>
            <a:r>
              <a:rPr dirty="0" err="1"/>
              <a:t>мигание</a:t>
            </a:r>
            <a:r>
              <a:rPr dirty="0"/>
              <a:t> </a:t>
            </a:r>
            <a:r>
              <a:rPr dirty="0" err="1"/>
              <a:t>портов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Подробно</a:t>
            </a:r>
            <a:r>
              <a:rPr dirty="0"/>
              <a:t> </a:t>
            </a:r>
            <a:r>
              <a:rPr dirty="0" err="1"/>
              <a:t>защита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петель</a:t>
            </a:r>
            <a:r>
              <a:rPr dirty="0"/>
              <a:t> </a:t>
            </a:r>
            <a:r>
              <a:rPr dirty="0" err="1"/>
              <a:t>будет</a:t>
            </a:r>
            <a:r>
              <a:rPr dirty="0"/>
              <a:t> </a:t>
            </a:r>
            <a:r>
              <a:rPr dirty="0" err="1"/>
              <a:t>изучаться</a:t>
            </a:r>
            <a:r>
              <a:rPr dirty="0"/>
              <a:t> </a:t>
            </a:r>
            <a:r>
              <a:rPr dirty="0" err="1"/>
              <a:t>позже</a:t>
            </a:r>
            <a:r>
              <a:rPr dirty="0"/>
              <a:t> в </a:t>
            </a:r>
            <a:r>
              <a:rPr dirty="0" err="1"/>
              <a:t>теме</a:t>
            </a:r>
            <a:r>
              <a:rPr dirty="0"/>
              <a:t> STP.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A91DFE1-8414-3A83-B683-2316B04279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3114" y="1002324"/>
            <a:ext cx="9044886" cy="4853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236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Итоги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Ethernet </a:t>
            </a:r>
            <a:r>
              <a:rPr dirty="0" err="1"/>
              <a:t>работает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канальном</a:t>
            </a:r>
            <a:r>
              <a:rPr dirty="0"/>
              <a:t> </a:t>
            </a:r>
            <a:r>
              <a:rPr dirty="0" err="1"/>
              <a:t>уровне</a:t>
            </a:r>
            <a:r>
              <a:rPr dirty="0"/>
              <a:t> и </a:t>
            </a:r>
            <a:r>
              <a:rPr dirty="0" err="1"/>
              <a:t>передает</a:t>
            </a:r>
            <a:r>
              <a:rPr dirty="0"/>
              <a:t> </a:t>
            </a:r>
            <a:r>
              <a:rPr dirty="0" err="1"/>
              <a:t>кадры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MAC-</a:t>
            </a:r>
            <a:r>
              <a:rPr dirty="0" err="1"/>
              <a:t>адрес</a:t>
            </a:r>
            <a:r>
              <a:rPr dirty="0"/>
              <a:t> </a:t>
            </a:r>
            <a:r>
              <a:rPr dirty="0" err="1"/>
              <a:t>нужен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доставки</a:t>
            </a:r>
            <a:r>
              <a:rPr dirty="0"/>
              <a:t> </a:t>
            </a:r>
            <a:r>
              <a:rPr dirty="0" err="1"/>
              <a:t>внутри</a:t>
            </a:r>
            <a:r>
              <a:rPr dirty="0"/>
              <a:t> </a:t>
            </a:r>
            <a:r>
              <a:rPr dirty="0" err="1"/>
              <a:t>локального</a:t>
            </a:r>
            <a:r>
              <a:rPr dirty="0"/>
              <a:t> </a:t>
            </a:r>
            <a:r>
              <a:rPr dirty="0" err="1"/>
              <a:t>сегмента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Коммутатор</a:t>
            </a:r>
            <a:r>
              <a:rPr dirty="0"/>
              <a:t> </a:t>
            </a:r>
            <a:r>
              <a:rPr dirty="0" err="1"/>
              <a:t>изучает</a:t>
            </a:r>
            <a:r>
              <a:rPr dirty="0"/>
              <a:t> MAC-</a:t>
            </a:r>
            <a:r>
              <a:rPr dirty="0" err="1"/>
              <a:t>адреса</a:t>
            </a:r>
            <a:r>
              <a:rPr dirty="0"/>
              <a:t> и </a:t>
            </a:r>
            <a:r>
              <a:rPr dirty="0" err="1"/>
              <a:t>строит</a:t>
            </a:r>
            <a:r>
              <a:rPr dirty="0"/>
              <a:t> </a:t>
            </a:r>
            <a:r>
              <a:rPr dirty="0" err="1"/>
              <a:t>таблицу</a:t>
            </a:r>
            <a:r>
              <a:rPr dirty="0"/>
              <a:t> </a:t>
            </a:r>
            <a:r>
              <a:rPr dirty="0" err="1"/>
              <a:t>коммутации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Broadcast </a:t>
            </a:r>
            <a:r>
              <a:rPr dirty="0" err="1"/>
              <a:t>распространяется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всему</a:t>
            </a:r>
            <a:r>
              <a:rPr dirty="0"/>
              <a:t> broadcast-</a:t>
            </a:r>
            <a:r>
              <a:rPr dirty="0" err="1"/>
              <a:t>домену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Петли</a:t>
            </a:r>
            <a:r>
              <a:rPr dirty="0"/>
              <a:t> и duplex-</a:t>
            </a:r>
            <a:r>
              <a:rPr dirty="0" err="1"/>
              <a:t>проблемы</a:t>
            </a:r>
            <a:r>
              <a:rPr dirty="0"/>
              <a:t> </a:t>
            </a:r>
            <a:r>
              <a:rPr dirty="0" err="1"/>
              <a:t>могут</a:t>
            </a:r>
            <a:r>
              <a:rPr dirty="0"/>
              <a:t> </a:t>
            </a:r>
            <a:r>
              <a:rPr dirty="0" err="1"/>
              <a:t>нарушить</a:t>
            </a:r>
            <a:r>
              <a:rPr dirty="0"/>
              <a:t> </a:t>
            </a:r>
            <a:r>
              <a:rPr dirty="0" err="1"/>
              <a:t>работу</a:t>
            </a:r>
            <a:r>
              <a:rPr dirty="0"/>
              <a:t> </a:t>
            </a:r>
            <a:r>
              <a:rPr dirty="0" err="1"/>
              <a:t>всей</a:t>
            </a:r>
            <a:r>
              <a:rPr dirty="0"/>
              <a:t> LAN.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Контрольные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делает</a:t>
            </a:r>
            <a:r>
              <a:rPr dirty="0"/>
              <a:t> </a:t>
            </a:r>
            <a:r>
              <a:rPr dirty="0" err="1"/>
              <a:t>канальный</a:t>
            </a:r>
            <a:r>
              <a:rPr dirty="0"/>
              <a:t> </a:t>
            </a:r>
            <a:r>
              <a:rPr dirty="0" err="1"/>
              <a:t>уровень</a:t>
            </a:r>
            <a:r>
              <a:rPr dirty="0"/>
              <a:t>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такое</a:t>
            </a:r>
            <a:r>
              <a:rPr dirty="0"/>
              <a:t> MAC-</a:t>
            </a:r>
            <a:r>
              <a:rPr dirty="0" err="1"/>
              <a:t>адрес</a:t>
            </a:r>
            <a:r>
              <a:rPr dirty="0"/>
              <a:t>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Какие</a:t>
            </a:r>
            <a:r>
              <a:rPr dirty="0"/>
              <a:t> </a:t>
            </a:r>
            <a:r>
              <a:rPr dirty="0" err="1"/>
              <a:t>основные</a:t>
            </a:r>
            <a:r>
              <a:rPr dirty="0"/>
              <a:t> </a:t>
            </a:r>
            <a:r>
              <a:rPr dirty="0" err="1"/>
              <a:t>поля</a:t>
            </a:r>
            <a:r>
              <a:rPr dirty="0"/>
              <a:t> </a:t>
            </a:r>
            <a:r>
              <a:rPr dirty="0" err="1"/>
              <a:t>есть</a:t>
            </a:r>
            <a:r>
              <a:rPr dirty="0"/>
              <a:t> в Ethernet frame?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Чем</a:t>
            </a:r>
            <a:r>
              <a:rPr dirty="0"/>
              <a:t> hub </a:t>
            </a:r>
            <a:r>
              <a:rPr dirty="0" err="1"/>
              <a:t>отличается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switch?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коммутатор</a:t>
            </a:r>
            <a:r>
              <a:rPr dirty="0"/>
              <a:t> </a:t>
            </a:r>
            <a:r>
              <a:rPr dirty="0" err="1"/>
              <a:t>строит</a:t>
            </a:r>
            <a:r>
              <a:rPr dirty="0"/>
              <a:t> MAC-</a:t>
            </a:r>
            <a:r>
              <a:rPr dirty="0" err="1"/>
              <a:t>таблицу</a:t>
            </a:r>
            <a:r>
              <a:rPr dirty="0"/>
              <a:t>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такое</a:t>
            </a:r>
            <a:r>
              <a:rPr dirty="0"/>
              <a:t> broadcast domain?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Почему</a:t>
            </a:r>
            <a:r>
              <a:rPr dirty="0"/>
              <a:t> </a:t>
            </a:r>
            <a:r>
              <a:rPr dirty="0" err="1"/>
              <a:t>петля</a:t>
            </a:r>
            <a:r>
              <a:rPr dirty="0"/>
              <a:t> </a:t>
            </a:r>
            <a:r>
              <a:rPr dirty="0" err="1"/>
              <a:t>коммутации</a:t>
            </a:r>
            <a:r>
              <a:rPr dirty="0"/>
              <a:t> </a:t>
            </a:r>
            <a:r>
              <a:rPr dirty="0" err="1"/>
              <a:t>опасна</a:t>
            </a:r>
            <a:r>
              <a:rPr dirty="0"/>
              <a:t>?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227DC-23BC-ED69-57CB-63A2DF32C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5551F27-3DED-D336-AA9B-566E8694AD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9898"/>
            <a:ext cx="12192000" cy="6897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35828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12AC0-5260-A389-7728-CE21B779E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EA59B3D-16C8-ACAF-EFE4-08FA3FB125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8979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</TotalTime>
  <Words>1455</Words>
  <Application>Microsoft Office PowerPoint</Application>
  <PresentationFormat>Широкоэкранный</PresentationFormat>
  <Paragraphs>150</Paragraphs>
  <Slides>39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MAC-address</vt:lpstr>
      <vt:lpstr>Broadcast MAC адрес</vt:lpstr>
      <vt:lpstr>Презентация PowerPoint</vt:lpstr>
      <vt:lpstr>Формат Ethernet фрейма </vt:lpstr>
      <vt:lpstr>Презентация PowerPoint</vt:lpstr>
      <vt:lpstr>MTU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Таблица коммутации</vt:lpstr>
      <vt:lpstr>Коммутатор (Switch, Bridge) </vt:lpstr>
      <vt:lpstr>Презентация PowerPoint</vt:lpstr>
      <vt:lpstr>Unknow destination unicast flood</vt:lpstr>
      <vt:lpstr>Unknow destination unicast flood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user</cp:lastModifiedBy>
  <cp:revision>10</cp:revision>
  <dcterms:created xsi:type="dcterms:W3CDTF">2013-01-27T09:14:16Z</dcterms:created>
  <dcterms:modified xsi:type="dcterms:W3CDTF">2026-06-29T12:35:23Z</dcterms:modified>
  <cp:category/>
</cp:coreProperties>
</file>