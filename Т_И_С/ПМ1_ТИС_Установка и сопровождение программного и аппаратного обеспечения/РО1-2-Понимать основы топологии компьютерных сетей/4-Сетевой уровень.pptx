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79" r:id="rId9"/>
    <p:sldId id="276" r:id="rId10"/>
    <p:sldId id="280" r:id="rId11"/>
    <p:sldId id="282" r:id="rId12"/>
    <p:sldId id="289" r:id="rId13"/>
    <p:sldId id="290" r:id="rId14"/>
    <p:sldId id="283" r:id="rId15"/>
    <p:sldId id="281" r:id="rId16"/>
    <p:sldId id="262" r:id="rId17"/>
    <p:sldId id="263" r:id="rId18"/>
    <p:sldId id="264" r:id="rId19"/>
    <p:sldId id="265" r:id="rId20"/>
    <p:sldId id="291" r:id="rId21"/>
    <p:sldId id="292" r:id="rId22"/>
    <p:sldId id="293" r:id="rId23"/>
    <p:sldId id="294" r:id="rId24"/>
    <p:sldId id="296" r:id="rId25"/>
    <p:sldId id="295" r:id="rId26"/>
    <p:sldId id="266" r:id="rId27"/>
    <p:sldId id="267" r:id="rId28"/>
    <p:sldId id="284" r:id="rId29"/>
    <p:sldId id="268" r:id="rId30"/>
    <p:sldId id="269" r:id="rId31"/>
    <p:sldId id="285" r:id="rId32"/>
    <p:sldId id="270" r:id="rId33"/>
    <p:sldId id="286" r:id="rId34"/>
    <p:sldId id="271" r:id="rId35"/>
    <p:sldId id="287" r:id="rId36"/>
    <p:sldId id="288" r:id="rId37"/>
    <p:sldId id="272" r:id="rId38"/>
    <p:sldId id="273" r:id="rId39"/>
    <p:sldId id="297" r:id="rId40"/>
    <p:sldId id="298" r:id="rId41"/>
    <p:sldId id="274" r:id="rId42"/>
    <p:sldId id="27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9711" y="1480738"/>
            <a:ext cx="941257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4. </a:t>
            </a:r>
            <a:endParaRPr lang="en-US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Сетевой</a:t>
            </a:r>
            <a:r>
              <a:rPr sz="4800" dirty="0"/>
              <a:t> </a:t>
            </a:r>
            <a:r>
              <a:rPr sz="4800" dirty="0" err="1"/>
              <a:t>уровень</a:t>
            </a:r>
            <a:r>
              <a:rPr sz="4800" dirty="0"/>
              <a:t>: IPv4, ARP и ICMP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Сформировать</a:t>
            </a:r>
            <a:r>
              <a:rPr dirty="0"/>
              <a:t> у </a:t>
            </a:r>
            <a:r>
              <a:rPr dirty="0" err="1"/>
              <a:t>обучающихся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, IPv4-пакета, </a:t>
            </a:r>
            <a:r>
              <a:rPr dirty="0" err="1"/>
              <a:t>связи</a:t>
            </a:r>
            <a:r>
              <a:rPr dirty="0"/>
              <a:t> IP- и MAC-</a:t>
            </a:r>
            <a:r>
              <a:rPr dirty="0" err="1"/>
              <a:t>адресации</a:t>
            </a:r>
            <a:r>
              <a:rPr dirty="0"/>
              <a:t>, </a:t>
            </a:r>
            <a:r>
              <a:rPr dirty="0" err="1"/>
              <a:t>работы</a:t>
            </a:r>
            <a:r>
              <a:rPr dirty="0"/>
              <a:t> ARP и ICMP,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связности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sz="3600" dirty="0" err="1"/>
              <a:t>Назначение</a:t>
            </a:r>
            <a:r>
              <a:rPr sz="3600" dirty="0"/>
              <a:t> </a:t>
            </a:r>
            <a:r>
              <a:rPr sz="3600" dirty="0" err="1"/>
              <a:t>сетевого</a:t>
            </a:r>
            <a:r>
              <a:rPr sz="3600" dirty="0"/>
              <a:t> </a:t>
            </a:r>
            <a:r>
              <a:rPr sz="3600" dirty="0" err="1"/>
              <a:t>уровня</a:t>
            </a:r>
            <a:r>
              <a:rPr sz="3600" dirty="0"/>
              <a:t>.</a:t>
            </a:r>
          </a:p>
          <a:p>
            <a:pPr>
              <a:defRPr sz="3600"/>
            </a:pPr>
            <a:r>
              <a:rPr sz="3600" dirty="0"/>
              <a:t>2. Internet Protocol version 4: </a:t>
            </a:r>
            <a:r>
              <a:rPr sz="3600" dirty="0" err="1"/>
              <a:t>назначение</a:t>
            </a:r>
            <a:r>
              <a:rPr sz="3600" dirty="0"/>
              <a:t> IPv4.</a:t>
            </a:r>
          </a:p>
          <a:p>
            <a:pPr>
              <a:defRPr sz="3600"/>
            </a:pPr>
            <a:r>
              <a:rPr sz="3600" dirty="0"/>
              <a:t>3. IPv4-пакет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уровне</a:t>
            </a:r>
            <a:r>
              <a:rPr sz="3600" dirty="0"/>
              <a:t> </a:t>
            </a:r>
            <a:r>
              <a:rPr sz="3600" dirty="0" err="1"/>
              <a:t>основных</a:t>
            </a:r>
            <a:r>
              <a:rPr sz="3600" dirty="0"/>
              <a:t> </a:t>
            </a:r>
            <a:r>
              <a:rPr sz="3600" dirty="0" err="1"/>
              <a:t>полей</a:t>
            </a:r>
            <a:r>
              <a:rPr sz="3600" dirty="0"/>
              <a:t>.</a:t>
            </a:r>
          </a:p>
          <a:p>
            <a:pPr>
              <a:defRPr sz="3600"/>
            </a:pPr>
            <a:r>
              <a:rPr sz="3600" dirty="0"/>
              <a:t>4. </a:t>
            </a:r>
            <a:r>
              <a:rPr sz="3600" dirty="0" err="1"/>
              <a:t>Связь</a:t>
            </a:r>
            <a:r>
              <a:rPr sz="3600" dirty="0"/>
              <a:t> </a:t>
            </a:r>
            <a:r>
              <a:rPr sz="3600" dirty="0" err="1"/>
              <a:t>сетевого</a:t>
            </a:r>
            <a:r>
              <a:rPr sz="3600" dirty="0"/>
              <a:t> и </a:t>
            </a:r>
            <a:r>
              <a:rPr sz="3600" dirty="0" err="1"/>
              <a:t>канального</a:t>
            </a:r>
            <a:r>
              <a:rPr sz="3600" dirty="0"/>
              <a:t> </a:t>
            </a:r>
            <a:r>
              <a:rPr sz="3600" dirty="0" err="1"/>
              <a:t>уровней</a:t>
            </a:r>
            <a:r>
              <a:rPr sz="3600" dirty="0"/>
              <a:t>.</a:t>
            </a:r>
          </a:p>
          <a:p>
            <a:pPr>
              <a:defRPr sz="3600"/>
            </a:pPr>
            <a:r>
              <a:rPr sz="3600" dirty="0"/>
              <a:t>5. ARP: </a:t>
            </a:r>
            <a:r>
              <a:rPr sz="3600" dirty="0" err="1"/>
              <a:t>связь</a:t>
            </a:r>
            <a:r>
              <a:rPr sz="3600" dirty="0"/>
              <a:t> IPv4-адреса и MAC-</a:t>
            </a:r>
            <a:r>
              <a:rPr sz="3600" dirty="0" err="1"/>
              <a:t>адреса</a:t>
            </a:r>
            <a:r>
              <a:rPr sz="3600" dirty="0"/>
              <a:t>.</a:t>
            </a:r>
          </a:p>
          <a:p>
            <a:pPr>
              <a:defRPr sz="3600"/>
            </a:pPr>
            <a:r>
              <a:rPr sz="3600" dirty="0"/>
              <a:t>6. ARP-</a:t>
            </a:r>
            <a:r>
              <a:rPr sz="3600" dirty="0" err="1"/>
              <a:t>таблица</a:t>
            </a:r>
            <a:r>
              <a:rPr sz="3600" dirty="0"/>
              <a:t> и </a:t>
            </a:r>
            <a:r>
              <a:rPr sz="3600" dirty="0" err="1"/>
              <a:t>ее</a:t>
            </a:r>
            <a:r>
              <a:rPr sz="3600" dirty="0"/>
              <a:t> </a:t>
            </a:r>
            <a:r>
              <a:rPr sz="3600" dirty="0" err="1"/>
              <a:t>практическое</a:t>
            </a:r>
            <a:r>
              <a:rPr sz="3600" dirty="0"/>
              <a:t> </a:t>
            </a:r>
            <a:r>
              <a:rPr sz="3600" dirty="0" err="1"/>
              <a:t>значение</a:t>
            </a:r>
            <a:r>
              <a:rPr sz="3600" dirty="0"/>
              <a:t>.</a:t>
            </a:r>
          </a:p>
          <a:p>
            <a:pPr>
              <a:defRPr sz="3600"/>
            </a:pPr>
            <a:r>
              <a:rPr sz="3600" dirty="0"/>
              <a:t>7. ICMP: </a:t>
            </a:r>
            <a:r>
              <a:rPr sz="3600" dirty="0" err="1"/>
              <a:t>назначение</a:t>
            </a:r>
            <a:r>
              <a:rPr sz="3600" dirty="0"/>
              <a:t> и </a:t>
            </a:r>
            <a:r>
              <a:rPr sz="3600" dirty="0" err="1"/>
              <a:t>роль</a:t>
            </a:r>
            <a:r>
              <a:rPr sz="3600" dirty="0"/>
              <a:t> в </a:t>
            </a:r>
            <a:r>
              <a:rPr sz="3600" dirty="0" err="1"/>
              <a:t>диагностике</a:t>
            </a:r>
            <a:r>
              <a:rPr sz="3600" dirty="0"/>
              <a:t>.</a:t>
            </a:r>
          </a:p>
          <a:p>
            <a:pPr>
              <a:defRPr sz="3600"/>
            </a:pPr>
            <a:r>
              <a:rPr sz="3600" dirty="0"/>
              <a:t>8. ping, traceroute и </a:t>
            </a:r>
            <a:r>
              <a:rPr sz="3600" dirty="0" err="1"/>
              <a:t>tracert</a:t>
            </a:r>
            <a:r>
              <a:rPr sz="3600" dirty="0"/>
              <a:t> </a:t>
            </a:r>
            <a:r>
              <a:rPr sz="3600" dirty="0" err="1"/>
              <a:t>как</a:t>
            </a:r>
            <a:r>
              <a:rPr sz="3600" dirty="0"/>
              <a:t> </a:t>
            </a:r>
            <a:r>
              <a:rPr sz="3600" dirty="0" err="1"/>
              <a:t>базовые</a:t>
            </a:r>
            <a:r>
              <a:rPr sz="3600" dirty="0"/>
              <a:t> </a:t>
            </a:r>
            <a:r>
              <a:rPr sz="3600" dirty="0" err="1"/>
              <a:t>инструменты</a:t>
            </a:r>
            <a:r>
              <a:rPr sz="3600" dirty="0"/>
              <a:t> </a:t>
            </a:r>
            <a:r>
              <a:rPr sz="3600" dirty="0" err="1"/>
              <a:t>проверки</a:t>
            </a:r>
            <a:r>
              <a:rPr sz="3600" dirty="0"/>
              <a:t>.</a:t>
            </a:r>
          </a:p>
          <a:p>
            <a:pPr>
              <a:defRPr sz="3600"/>
            </a:pPr>
            <a:r>
              <a:rPr sz="3600" dirty="0"/>
              <a:t>9. Типовые </a:t>
            </a:r>
            <a:r>
              <a:rPr sz="3600" dirty="0" err="1"/>
              <a:t>причины</a:t>
            </a:r>
            <a:r>
              <a:rPr sz="3600" dirty="0"/>
              <a:t> </a:t>
            </a:r>
            <a:r>
              <a:rPr sz="3600" dirty="0" err="1"/>
              <a:t>отсутствия</a:t>
            </a:r>
            <a:r>
              <a:rPr sz="3600" dirty="0"/>
              <a:t> </a:t>
            </a:r>
            <a:r>
              <a:rPr sz="3600" dirty="0" err="1"/>
              <a:t>связи</a:t>
            </a:r>
            <a:r>
              <a:rPr sz="3600" dirty="0"/>
              <a:t> </a:t>
            </a:r>
            <a:r>
              <a:rPr sz="3600" dirty="0" err="1"/>
              <a:t>на</a:t>
            </a:r>
            <a:r>
              <a:rPr sz="3600" dirty="0"/>
              <a:t> </a:t>
            </a:r>
            <a:r>
              <a:rPr sz="3600" dirty="0" err="1"/>
              <a:t>сетевом</a:t>
            </a:r>
            <a:r>
              <a:rPr sz="3600" dirty="0"/>
              <a:t> </a:t>
            </a:r>
            <a:r>
              <a:rPr sz="3600" dirty="0" err="1"/>
              <a:t>уровне</a:t>
            </a:r>
            <a:r>
              <a:rPr sz="3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Network layer -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, </a:t>
            </a:r>
            <a:r>
              <a:rPr dirty="0" err="1"/>
              <a:t>доставка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IP-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IPv4 - Internet Protocol version 4,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 и </a:t>
            </a:r>
            <a:r>
              <a:rPr dirty="0" err="1"/>
              <a:t>доставки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 - Address Resolution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определения</a:t>
            </a:r>
            <a:r>
              <a:rPr dirty="0"/>
              <a:t> MAC </a:t>
            </a:r>
            <a:r>
              <a:rPr dirty="0" err="1"/>
              <a:t>по</a:t>
            </a:r>
            <a:r>
              <a:rPr dirty="0"/>
              <a:t> IPv4.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ICMP - Internet Control Message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сообщений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 - </a:t>
            </a:r>
            <a:r>
              <a:rPr dirty="0" err="1"/>
              <a:t>шлюз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выхода</a:t>
            </a:r>
            <a:r>
              <a:rPr dirty="0"/>
              <a:t> в </a:t>
            </a:r>
            <a:r>
              <a:rPr dirty="0" err="1"/>
              <a:t>другую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0050" y="182880"/>
            <a:ext cx="846141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сетевого</a:t>
            </a:r>
            <a:r>
              <a:rPr sz="4800" dirty="0"/>
              <a:t> </a:t>
            </a:r>
            <a:r>
              <a:rPr sz="4800" dirty="0" err="1"/>
              <a:t>уровня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логическую</a:t>
            </a:r>
            <a:r>
              <a:rPr dirty="0"/>
              <a:t> </a:t>
            </a:r>
            <a:r>
              <a:rPr dirty="0" err="1"/>
              <a:t>адресацию</a:t>
            </a:r>
            <a:r>
              <a:rPr dirty="0"/>
              <a:t> и </a:t>
            </a:r>
            <a:r>
              <a:rPr dirty="0" err="1"/>
              <a:t>доставку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Маршрутизаторы</a:t>
            </a:r>
            <a:r>
              <a:rPr dirty="0"/>
              <a:t> </a:t>
            </a:r>
            <a:r>
              <a:rPr dirty="0" err="1"/>
              <a:t>принимают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сетевом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кабелю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опирается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dirty="0"/>
              <a:t> в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локальном</a:t>
            </a:r>
            <a:r>
              <a:rPr dirty="0"/>
              <a:t> </a:t>
            </a:r>
            <a:r>
              <a:rPr dirty="0" err="1"/>
              <a:t>сегменте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9A65-4DF6-619E-A1B8-3CE6309F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B1AF6-309D-8F14-9839-3F6A99FF419A}"/>
              </a:ext>
            </a:extLst>
          </p:cNvPr>
          <p:cNvSpPr txBox="1"/>
          <p:nvPr/>
        </p:nvSpPr>
        <p:spPr>
          <a:xfrm>
            <a:off x="2268754" y="182880"/>
            <a:ext cx="76240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Проблемы не решаемые на 2 уровне OSI: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24435-197C-BF7D-5369-48CF8756D410}"/>
              </a:ext>
            </a:extLst>
          </p:cNvPr>
          <p:cNvSpPr txBox="1"/>
          <p:nvPr/>
        </p:nvSpPr>
        <p:spPr>
          <a:xfrm>
            <a:off x="457200" y="1371600"/>
            <a:ext cx="10972800" cy="4754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1. </a:t>
            </a:r>
            <a:r>
              <a:rPr lang="ru-RU" dirty="0" err="1"/>
              <a:t>Broadcast</a:t>
            </a:r>
            <a:r>
              <a:rPr lang="ru-RU" dirty="0"/>
              <a:t> </a:t>
            </a:r>
            <a:r>
              <a:rPr lang="ru-RU" dirty="0" err="1"/>
              <a:t>flood</a:t>
            </a:r>
            <a:endParaRPr lang="ru-RU" dirty="0"/>
          </a:p>
          <a:p>
            <a:pPr>
              <a:defRPr sz="3600"/>
            </a:pPr>
            <a:r>
              <a:rPr lang="ru-RU" dirty="0"/>
              <a:t>2. Нет контроля адресации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3510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B582-2B60-516D-4A51-6A90E7BAC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C6E512-4773-C4C0-B499-AA76398EE3B6}"/>
              </a:ext>
            </a:extLst>
          </p:cNvPr>
          <p:cNvSpPr txBox="1"/>
          <p:nvPr/>
        </p:nvSpPr>
        <p:spPr>
          <a:xfrm>
            <a:off x="457199" y="516194"/>
            <a:ext cx="11312013" cy="56102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Канальный уровень - физическая адресация, обеспечивает доставку пакетов внутри локальной сети.</a:t>
            </a:r>
            <a:endParaRPr lang="en-US" dirty="0"/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Задача адресации на сетевом - глобальная адресация.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Задачи решаемые на сетевом уровне:</a:t>
            </a:r>
          </a:p>
          <a:p>
            <a:pPr indent="354013">
              <a:defRPr sz="3600"/>
            </a:pPr>
            <a:r>
              <a:rPr lang="en-US" dirty="0"/>
              <a:t>1. </a:t>
            </a:r>
            <a:r>
              <a:rPr lang="ru-RU" dirty="0"/>
              <a:t>Создать глобальную адресацию, позволяющую связать разные сети в единое адресное пространство. </a:t>
            </a:r>
          </a:p>
          <a:p>
            <a:pPr indent="354013">
              <a:defRPr sz="3600"/>
            </a:pPr>
            <a:r>
              <a:rPr lang="ru-RU" dirty="0"/>
              <a:t>2. Обеспечить доставку (маршрутизацию) через разнородное оборудование</a:t>
            </a:r>
          </a:p>
        </p:txBody>
      </p:sp>
    </p:spTree>
    <p:extLst>
      <p:ext uri="{BB962C8B-B14F-4D97-AF65-F5344CB8AC3E}">
        <p14:creationId xmlns:p14="http://schemas.microsoft.com/office/powerpoint/2010/main" val="70234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7EC7A-164F-F94E-46CF-A94C7C23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1C099E-F526-2158-1BA3-D383CF954430}"/>
              </a:ext>
            </a:extLst>
          </p:cNvPr>
          <p:cNvSpPr txBox="1"/>
          <p:nvPr/>
        </p:nvSpPr>
        <p:spPr>
          <a:xfrm>
            <a:off x="457200" y="516193"/>
            <a:ext cx="10972800" cy="6091083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dirty="0"/>
              <a:t>Таким образом, протоколы сетевого уровня выполняют следующее: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Инкапсулируют протоколы транспортного уровня и некоторые протоколы сетевого уровня.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Осуществляют адресацию отправителя и получателя, позволяющую доставить пакеты между разными сетями (логическая адресация).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Преобразуют логические (сетевые) адреса в физические для доставки через локальную сеть.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Осуществляют маршрутизацию и пересылку пакетов.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Передают данные на канальный уровень. 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Сообщают об ошибках в случае невозможности доставки. </a:t>
            </a:r>
          </a:p>
        </p:txBody>
      </p:sp>
    </p:spTree>
    <p:extLst>
      <p:ext uri="{BB962C8B-B14F-4D97-AF65-F5344CB8AC3E}">
        <p14:creationId xmlns:p14="http://schemas.microsoft.com/office/powerpoint/2010/main" val="405300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1AB1-6914-9E7D-41C4-F56850904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E7404-F3B6-3883-9DDF-CEBABE779A4B}"/>
              </a:ext>
            </a:extLst>
          </p:cNvPr>
          <p:cNvSpPr txBox="1"/>
          <p:nvPr/>
        </p:nvSpPr>
        <p:spPr>
          <a:xfrm>
            <a:off x="3788307" y="182880"/>
            <a:ext cx="458490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</a:t>
            </a:r>
            <a:r>
              <a:rPr lang="ru-RU" sz="4800" dirty="0"/>
              <a:t>Протокол</a:t>
            </a:r>
            <a:r>
              <a:rPr sz="4800" dirty="0"/>
              <a:t> IPv4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2C7BE-50F3-3297-260A-608034D4E4B8}"/>
              </a:ext>
            </a:extLst>
          </p:cNvPr>
          <p:cNvSpPr txBox="1"/>
          <p:nvPr/>
        </p:nvSpPr>
        <p:spPr>
          <a:xfrm>
            <a:off x="457200" y="1058122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IPv4 (Internet Protocol </a:t>
            </a:r>
            <a:r>
              <a:rPr lang="ru-RU" dirty="0" err="1"/>
              <a:t>version</a:t>
            </a:r>
            <a:r>
              <a:rPr lang="ru-RU" dirty="0"/>
              <a:t> 4) — это четвертая версия базового межсетевого протокола, который используется для работы интернета и локальных сетей.</a:t>
            </a:r>
            <a:endParaRPr lang="en-US" dirty="0"/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совсем просто: IPv4 — это система цифровых «домашних адресов» для компьютеров, смартфонов и серверов.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901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C340-CC9A-4D32-A9E9-8AF05F9B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2C56AA-9E40-060F-0E9A-BF2EDDE015EE}"/>
              </a:ext>
            </a:extLst>
          </p:cNvPr>
          <p:cNvSpPr txBox="1"/>
          <p:nvPr/>
        </p:nvSpPr>
        <p:spPr>
          <a:xfrm>
            <a:off x="4259100" y="329625"/>
            <a:ext cx="33689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Как это устроено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8054D-B1B7-4627-DF95-44C3A338CF9D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dirty="0"/>
              <a:t>Когда вы отправляете обычное письмо по почте, вы пишете на конверте адрес: страну, город, улицу и номер дома. Без этого почтальон не поймет, куда нести письмо.</a:t>
            </a:r>
          </a:p>
          <a:p>
            <a:pPr indent="354013">
              <a:defRPr sz="3600"/>
            </a:pPr>
            <a:r>
              <a:rPr lang="ru-RU" dirty="0"/>
              <a:t>В интернете всё работает точно так же. Чтобы ваш смартфон мог открыть сайт, он должен знать точный адрес сервера, где этот сайт лежит. </a:t>
            </a:r>
            <a:endParaRPr lang="en-US" dirty="0"/>
          </a:p>
          <a:p>
            <a:pPr indent="354013">
              <a:defRPr sz="3600"/>
            </a:pPr>
            <a:r>
              <a:rPr lang="ru-RU" dirty="0"/>
              <a:t>А сервер должен знать адрес вашего смартфона, чтобы отправить ответ. Эти адреса и называются IP-адресами.</a:t>
            </a:r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5090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22E8-FB7B-2DF3-80AD-0EB87B00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D02DF3-6CEB-2A6E-60C2-8155B07F3F93}"/>
              </a:ext>
            </a:extLst>
          </p:cNvPr>
          <p:cNvSpPr txBox="1"/>
          <p:nvPr/>
        </p:nvSpPr>
        <p:spPr>
          <a:xfrm>
            <a:off x="3561185" y="182880"/>
            <a:ext cx="476483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Как выглядит IPv4-адрес?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12B3CC-FEE2-4DD4-7634-52B5C9F8AA6E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lang="ru-RU" dirty="0"/>
              <a:t>Обычный человек видит IPv4-адрес как четыре блока чисел, разделенных точками. Например:</a:t>
            </a:r>
          </a:p>
          <a:p>
            <a:pPr>
              <a:defRPr sz="3600"/>
            </a:pPr>
            <a:r>
              <a:rPr lang="ru-RU" dirty="0">
                <a:solidFill>
                  <a:schemeClr val="tx2"/>
                </a:solidFill>
              </a:rPr>
              <a:t>192.168.1.1</a:t>
            </a:r>
          </a:p>
          <a:p>
            <a:pPr>
              <a:defRPr sz="3600"/>
            </a:pPr>
            <a:r>
              <a:rPr lang="ru-RU" dirty="0"/>
              <a:t>или</a:t>
            </a:r>
          </a:p>
          <a:p>
            <a:pPr>
              <a:defRPr sz="3600"/>
            </a:pPr>
            <a:r>
              <a:rPr lang="ru-RU" dirty="0">
                <a:solidFill>
                  <a:schemeClr val="tx2"/>
                </a:solidFill>
              </a:rPr>
              <a:t>172.217.16.142</a:t>
            </a:r>
          </a:p>
          <a:p>
            <a:pPr>
              <a:defRPr sz="3600"/>
            </a:pPr>
            <a:r>
              <a:rPr lang="ru-RU" dirty="0"/>
              <a:t>(это один из адресов Google).</a:t>
            </a:r>
          </a:p>
          <a:p>
            <a:pPr>
              <a:defRPr sz="3600"/>
            </a:pPr>
            <a:r>
              <a:rPr lang="ru-RU" dirty="0"/>
              <a:t>	Диапазон чисел: В каждом блоке может быть число строго от 0 до 255.</a:t>
            </a:r>
          </a:p>
          <a:p>
            <a:pPr>
              <a:defRPr sz="3600"/>
            </a:pPr>
            <a:r>
              <a:rPr lang="ru-RU" dirty="0"/>
              <a:t>	Размер в памяти: Компьютер видит этот адрес не как текст, а как 32-битное двоичное число (состоящее из 32 единиц и нулей)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328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014F9-CBF1-E63F-58E8-55758B375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616A6F-09BF-2BC2-47A2-3EAC34036BBE}"/>
              </a:ext>
            </a:extLst>
          </p:cNvPr>
          <p:cNvSpPr txBox="1"/>
          <p:nvPr/>
        </p:nvSpPr>
        <p:spPr>
          <a:xfrm>
            <a:off x="3561185" y="182880"/>
            <a:ext cx="476483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Как выглядит IPv4-адрес?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F79528-A693-C6D7-9F0F-EA09C9D3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290" y="1068369"/>
            <a:ext cx="10205457" cy="524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43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18D5-F763-D8A9-42EF-F07E92B8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83DB57-C3F0-171E-2B00-4102ABDE301C}"/>
              </a:ext>
            </a:extLst>
          </p:cNvPr>
          <p:cNvSpPr txBox="1"/>
          <p:nvPr/>
        </p:nvSpPr>
        <p:spPr>
          <a:xfrm>
            <a:off x="3561185" y="182880"/>
            <a:ext cx="476483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Как выглядит IPv4-адрес?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377F53-BF7C-FBDA-F33A-9A891461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69" y="2257424"/>
            <a:ext cx="11704977" cy="349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6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51E7-C41D-E922-DF75-5C2FC7699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BBF40-FDA3-94B0-7A14-CB99C13E2A39}"/>
              </a:ext>
            </a:extLst>
          </p:cNvPr>
          <p:cNvSpPr txBox="1"/>
          <p:nvPr/>
        </p:nvSpPr>
        <p:spPr>
          <a:xfrm>
            <a:off x="2881649" y="192911"/>
            <a:ext cx="5771773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Главная проблема IPv4 сегодня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D04B9-9351-9977-4B48-03E7230B2EA4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lang="ru-RU" dirty="0"/>
              <a:t>Так как IPv4 использует всего 32 бита, математически на нем можно создать максимум около 4,3 миллиарда уникальных адресов.</a:t>
            </a:r>
          </a:p>
          <a:p>
            <a:pPr indent="354013">
              <a:defRPr sz="3600"/>
            </a:pPr>
            <a:r>
              <a:rPr lang="ru-RU" dirty="0"/>
              <a:t>Когда IPv4 создавали (в начале 1980-х годов), казалось, что 4 миллиарда — это бесконечно много. Но сегодня, когда у каждого человека есть по смартфона, ноутбуку, умным часам и телевизору, свободные адреса IPv4 в мире официально закончились.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Как решают эту проблему?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Технология NAT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Переход на IPv6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8468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13B52-7452-70B7-503D-3942CBFC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A2E25-1F4F-E335-4005-6969DC02E01D}"/>
              </a:ext>
            </a:extLst>
          </p:cNvPr>
          <p:cNvSpPr txBox="1"/>
          <p:nvPr/>
        </p:nvSpPr>
        <p:spPr>
          <a:xfrm>
            <a:off x="4512061" y="182880"/>
            <a:ext cx="313739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Назначение</a:t>
            </a:r>
            <a:r>
              <a:rPr dirty="0"/>
              <a:t> IPv4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12DFF-AA20-44ED-E907-D926ABA7151F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и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IPv4-пакет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проходить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маршрутизаторов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отправителя</a:t>
            </a:r>
            <a:r>
              <a:rPr dirty="0"/>
              <a:t> и </a:t>
            </a:r>
            <a:r>
              <a:rPr dirty="0" err="1"/>
              <a:t>получателя</a:t>
            </a:r>
            <a:r>
              <a:rPr dirty="0"/>
              <a:t> </a:t>
            </a:r>
            <a:r>
              <a:rPr dirty="0" err="1"/>
              <a:t>указываются</a:t>
            </a:r>
            <a:r>
              <a:rPr dirty="0"/>
              <a:t> в </a:t>
            </a:r>
            <a:r>
              <a:rPr dirty="0" err="1"/>
              <a:t>заголовке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 </a:t>
            </a:r>
            <a:r>
              <a:rPr dirty="0" err="1"/>
              <a:t>остается</a:t>
            </a:r>
            <a:r>
              <a:rPr dirty="0"/>
              <a:t>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темой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Большинство</a:t>
            </a:r>
            <a:r>
              <a:rPr dirty="0"/>
              <a:t>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стендов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курса</a:t>
            </a:r>
            <a:r>
              <a:rPr dirty="0"/>
              <a:t> </a:t>
            </a:r>
            <a:r>
              <a:rPr dirty="0" err="1"/>
              <a:t>строятся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IPv4.</a:t>
            </a:r>
          </a:p>
        </p:txBody>
      </p:sp>
    </p:spTree>
    <p:extLst>
      <p:ext uri="{BB962C8B-B14F-4D97-AF65-F5344CB8AC3E}">
        <p14:creationId xmlns:p14="http://schemas.microsoft.com/office/powerpoint/2010/main" val="3980686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99599" y="182880"/>
            <a:ext cx="356232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IPv4-пакет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IPv4-пакет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заголовок</a:t>
            </a:r>
            <a:r>
              <a:rPr dirty="0"/>
              <a:t> и </a:t>
            </a:r>
            <a:r>
              <a:rPr dirty="0" err="1"/>
              <a:t>полезную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Source IP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отправителя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Destination IP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получателя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TTL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жизни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Protocol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вложенный</a:t>
            </a:r>
            <a:r>
              <a:rPr dirty="0"/>
              <a:t> </a:t>
            </a:r>
            <a:r>
              <a:rPr dirty="0" err="1"/>
              <a:t>протокол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TCP, UDP </a:t>
            </a:r>
            <a:r>
              <a:rPr dirty="0" err="1"/>
              <a:t>или</a:t>
            </a:r>
            <a:r>
              <a:rPr dirty="0"/>
              <a:t> ICMP.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Структура IPv4-пакета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2580FB-657E-0D3C-C045-75DBF1387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98785" y="182880"/>
            <a:ext cx="576394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Связь</a:t>
            </a:r>
            <a:r>
              <a:rPr sz="4800" dirty="0"/>
              <a:t> IP и Ethernet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логической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MAC-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dirty="0"/>
              <a:t> </a:t>
            </a:r>
            <a:r>
              <a:rPr dirty="0" err="1"/>
              <a:t>кадра</a:t>
            </a:r>
            <a:r>
              <a:rPr dirty="0"/>
              <a:t> в </a:t>
            </a:r>
            <a:r>
              <a:rPr dirty="0" err="1"/>
              <a:t>текущем</a:t>
            </a:r>
            <a:r>
              <a:rPr dirty="0"/>
              <a:t> </a:t>
            </a:r>
            <a:r>
              <a:rPr dirty="0" err="1"/>
              <a:t>локальном</a:t>
            </a:r>
            <a:r>
              <a:rPr dirty="0"/>
              <a:t> </a:t>
            </a:r>
            <a:r>
              <a:rPr dirty="0" err="1"/>
              <a:t>сегменте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IPv4-пакет </a:t>
            </a:r>
            <a:r>
              <a:rPr dirty="0" err="1"/>
              <a:t>вкладывается</a:t>
            </a:r>
            <a:r>
              <a:rPr dirty="0"/>
              <a:t> в Ethernet frame.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участке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меняться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отправителя</a:t>
            </a:r>
            <a:r>
              <a:rPr dirty="0"/>
              <a:t> и </a:t>
            </a:r>
            <a:r>
              <a:rPr dirty="0" err="1"/>
              <a:t>получателя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сохраняются</a:t>
            </a:r>
            <a:r>
              <a:rPr dirty="0"/>
              <a:t> end-to-end.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IP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Ethernet </a:t>
            </a:r>
            <a:r>
              <a:rPr dirty="0" err="1"/>
              <a:t>кадра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B62C71D-0F39-5941-6673-89552CD3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0A515-247F-E53A-8810-A2A87019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40B6CA-48EA-DDD4-4E88-2CB35EA70BB8}"/>
              </a:ext>
            </a:extLst>
          </p:cNvPr>
          <p:cNvSpPr txBox="1"/>
          <p:nvPr/>
        </p:nvSpPr>
        <p:spPr>
          <a:xfrm>
            <a:off x="381000" y="575187"/>
            <a:ext cx="11430000" cy="609698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dirty="0">
                <a:solidFill>
                  <a:srgbClr val="002060"/>
                </a:solidFill>
              </a:rPr>
              <a:t>«Жизненный цикл» пакета при прохождении через промежуточные устройства (маршрутизаторы).</a:t>
            </a:r>
          </a:p>
          <a:p>
            <a:pPr algn="ctr">
              <a:defRPr sz="3600"/>
            </a:pPr>
            <a:endParaRPr lang="ru-RU" dirty="0">
              <a:solidFill>
                <a:srgbClr val="002060"/>
              </a:solidFill>
            </a:endParaRPr>
          </a:p>
          <a:p>
            <a:pPr indent="354013">
              <a:defRPr sz="3600"/>
            </a:pPr>
            <a:r>
              <a:rPr lang="ru-RU" dirty="0"/>
              <a:t>Когда данные пересылаются из одной сети в другую, они проходят через «транзитные пункты» — маршрутизаторы (роутеры). </a:t>
            </a:r>
          </a:p>
          <a:p>
            <a:pPr algn="ctr">
              <a:defRPr sz="3600"/>
            </a:pPr>
            <a:endParaRPr lang="en-US" dirty="0">
              <a:solidFill>
                <a:srgbClr val="002060"/>
              </a:solidFill>
            </a:endParaRPr>
          </a:p>
          <a:p>
            <a:pPr>
              <a:defRPr sz="36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6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53B1-5E8A-3066-5C8F-5B281D46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148C6-86F9-E26F-1E7E-01BB796242DC}"/>
              </a:ext>
            </a:extLst>
          </p:cNvPr>
          <p:cNvSpPr txBox="1"/>
          <p:nvPr/>
        </p:nvSpPr>
        <p:spPr>
          <a:xfrm>
            <a:off x="457200" y="235974"/>
            <a:ext cx="11430000" cy="625331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lang="ru-RU" dirty="0"/>
              <a:t>На каждом таком пункте происходит процедура, похожая на пересылку посылки на почте:</a:t>
            </a:r>
          </a:p>
          <a:p>
            <a:pPr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b="1" dirty="0"/>
              <a:t>1.	Снятие старой «упаковки» (</a:t>
            </a:r>
            <a:r>
              <a:rPr lang="ru-RU" b="1" dirty="0" err="1"/>
              <a:t>Декапсуляция</a:t>
            </a:r>
            <a:r>
              <a:rPr lang="ru-RU" b="1" dirty="0"/>
              <a:t> L2): </a:t>
            </a:r>
            <a:r>
              <a:rPr lang="ru-RU" dirty="0"/>
              <a:t>Маршрутизатор принимает сигнал из кабеля и видит кадр (L2). </a:t>
            </a:r>
          </a:p>
          <a:p>
            <a:pPr indent="354013">
              <a:defRPr sz="3600"/>
            </a:pPr>
            <a:r>
              <a:rPr lang="ru-RU" dirty="0"/>
              <a:t>Он проверяет MAC-адрес получателя. Если этот MAC-адрес принадлежит самому маршрутизатору, он понимает, что кадр пришел по адресу, и «сдирает» (удаляет) L2-заголовок. </a:t>
            </a:r>
          </a:p>
          <a:p>
            <a:pPr indent="354013">
              <a:defRPr sz="3600"/>
            </a:pPr>
            <a:r>
              <a:rPr lang="ru-RU" dirty="0"/>
              <a:t>Внутри кадра, как начинка в пироге, находится IP-пакет (L3).</a:t>
            </a:r>
          </a:p>
          <a:p>
            <a:pPr>
              <a:defRPr sz="36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426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AD28A-D8B1-B330-1C70-B3DF87444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EEA8C2-EC0B-F34E-FC88-B9537E37CFAE}"/>
              </a:ext>
            </a:extLst>
          </p:cNvPr>
          <p:cNvSpPr txBox="1"/>
          <p:nvPr/>
        </p:nvSpPr>
        <p:spPr>
          <a:xfrm>
            <a:off x="457200" y="235974"/>
            <a:ext cx="11430000" cy="58905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b="1" dirty="0"/>
              <a:t>2.	Изучение «адреса на конверте» (Анализ L3): </a:t>
            </a:r>
            <a:r>
              <a:rPr lang="ru-RU" dirty="0"/>
              <a:t>Маршрутизатор заглядывает внутрь IP-пакета и смотрит на IP-адрес получателя (</a:t>
            </a:r>
            <a:r>
              <a:rPr lang="ru-RU" dirty="0" err="1"/>
              <a:t>Destination</a:t>
            </a:r>
            <a:r>
              <a:rPr lang="ru-RU" dirty="0"/>
              <a:t> IP). Ему неважно, какой путь пакет уже прошел, главное — куда он идет.</a:t>
            </a:r>
          </a:p>
          <a:p>
            <a:pPr indent="354013">
              <a:defRPr sz="3600"/>
            </a:pPr>
            <a:r>
              <a:rPr lang="ru-RU" dirty="0"/>
              <a:t>Маршрутизатор сверяется со своей картой дорог — таблицей маршрутизации — и решает, через какой свой порт и к какому следующему соседу нужно этот пакет отправить.</a:t>
            </a:r>
          </a:p>
          <a:p>
            <a:pPr>
              <a:defRPr sz="36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46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9778-B761-0F5E-5665-29661B716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2F9092-8C1F-2A15-FA90-D79BDBDCDF69}"/>
              </a:ext>
            </a:extLst>
          </p:cNvPr>
          <p:cNvSpPr txBox="1"/>
          <p:nvPr/>
        </p:nvSpPr>
        <p:spPr>
          <a:xfrm>
            <a:off x="457200" y="235974"/>
            <a:ext cx="11430000" cy="5890506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lang="ru-RU" b="1" dirty="0"/>
              <a:t>3.	Создание новой «упаковки» (Инкапсуляция L2): </a:t>
            </a:r>
          </a:p>
          <a:p>
            <a:pPr indent="354013">
              <a:defRPr sz="3600"/>
            </a:pPr>
            <a:r>
              <a:rPr lang="ru-RU" dirty="0"/>
              <a:t>IP-пакет сетевого уровня остается абсолютно неизменным (IP-адреса внутри не меняются!). Но чтобы отправить его дальше по проводу к следующему роутеру или компьютеру, его нужно снова упаковать в кадр канального уровня. </a:t>
            </a:r>
          </a:p>
          <a:p>
            <a:pPr indent="354013">
              <a:defRPr sz="3600"/>
            </a:pPr>
            <a:r>
              <a:rPr lang="ru-RU" dirty="0"/>
              <a:t>Маршрутизатор создает совершенно новый L2-заголовок. В качестве MAC-адреса источника (Source MAC) он указывает свой собственный порт, а в качестве MAC-адреса получателя (</a:t>
            </a:r>
            <a:r>
              <a:rPr lang="ru-RU" dirty="0" err="1"/>
              <a:t>Destination</a:t>
            </a:r>
            <a:r>
              <a:rPr lang="ru-RU" dirty="0"/>
              <a:t> MAC) — адрес следующего устройства в цепочке (который он узнает через ARP).</a:t>
            </a:r>
          </a:p>
          <a:p>
            <a:pPr>
              <a:defRPr sz="36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180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5104-D29B-3D2B-7DE0-E5562657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E6D11-C818-9C28-C605-89D50885D196}"/>
              </a:ext>
            </a:extLst>
          </p:cNvPr>
          <p:cNvSpPr txBox="1"/>
          <p:nvPr/>
        </p:nvSpPr>
        <p:spPr>
          <a:xfrm>
            <a:off x="457200" y="235974"/>
            <a:ext cx="11430000" cy="58905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b="1" dirty="0"/>
              <a:t>Золотое правило сети: </a:t>
            </a:r>
          </a:p>
          <a:p>
            <a:pPr indent="354013">
              <a:defRPr sz="3600"/>
            </a:pPr>
            <a:r>
              <a:rPr lang="ru-RU" dirty="0"/>
              <a:t>IP-адреса (L3) пишутся один раз на компьютере-отправителе и не меняются до самого компьютера-получателя. А MAC-адреса (L2) меняются на каждом маршрутизаторе, выполняя роль «билета» только на одну короткую поездку между двумя соседними устройствами.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66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E85D-043F-CACC-B2A0-F2FADB80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8B1F4A-444F-A6F6-4A1F-8B3D573E9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92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56468" y="182880"/>
            <a:ext cx="184858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 - Address Resolution Protocol.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: </a:t>
            </a:r>
            <a:r>
              <a:rPr dirty="0" err="1"/>
              <a:t>какой</a:t>
            </a:r>
            <a:r>
              <a:rPr dirty="0"/>
              <a:t> MAC-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этому</a:t>
            </a:r>
            <a:r>
              <a:rPr dirty="0"/>
              <a:t> IPv4-адресу?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ARP-</a:t>
            </a:r>
            <a:r>
              <a:rPr dirty="0" err="1"/>
              <a:t>запрос</a:t>
            </a:r>
            <a:r>
              <a:rPr dirty="0"/>
              <a:t> </a:t>
            </a:r>
            <a:r>
              <a:rPr dirty="0" err="1"/>
              <a:t>отправляется</a:t>
            </a:r>
            <a:r>
              <a:rPr dirty="0"/>
              <a:t> broadcast-</a:t>
            </a:r>
            <a:r>
              <a:rPr dirty="0" err="1"/>
              <a:t>кадром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Устройство</a:t>
            </a:r>
            <a:r>
              <a:rPr dirty="0"/>
              <a:t> с </a:t>
            </a:r>
            <a:r>
              <a:rPr dirty="0" err="1"/>
              <a:t>нужным</a:t>
            </a:r>
            <a:r>
              <a:rPr dirty="0"/>
              <a:t> IPv4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своим</a:t>
            </a:r>
            <a:r>
              <a:rPr dirty="0"/>
              <a:t> MAC-</a:t>
            </a:r>
            <a:r>
              <a:rPr dirty="0" err="1"/>
              <a:t>адресом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ARP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отправить</a:t>
            </a:r>
            <a:r>
              <a:rPr dirty="0"/>
              <a:t> </a:t>
            </a:r>
            <a:r>
              <a:rPr dirty="0" err="1"/>
              <a:t>кадр</a:t>
            </a:r>
            <a:r>
              <a:rPr dirty="0"/>
              <a:t> </a:t>
            </a:r>
            <a:r>
              <a:rPr dirty="0" err="1"/>
              <a:t>получателю</a:t>
            </a:r>
            <a:r>
              <a:rPr dirty="0"/>
              <a:t> в LAN.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работает ARP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ARP-</a:t>
            </a:r>
            <a:r>
              <a:rPr dirty="0" err="1"/>
              <a:t>таблицу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отправляет</a:t>
            </a:r>
            <a:r>
              <a:rPr dirty="0"/>
              <a:t> ARP Request </a:t>
            </a:r>
            <a:r>
              <a:rPr dirty="0" err="1"/>
              <a:t>всем</a:t>
            </a:r>
            <a:r>
              <a:rPr dirty="0"/>
              <a:t> в </a:t>
            </a:r>
            <a:r>
              <a:rPr dirty="0" err="1"/>
              <a:t>сегменте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ARP Reply.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сохраняет</a:t>
            </a:r>
            <a:r>
              <a:rPr dirty="0"/>
              <a:t> </a:t>
            </a:r>
            <a:r>
              <a:rPr dirty="0" err="1"/>
              <a:t>соответствие</a:t>
            </a:r>
            <a:r>
              <a:rPr dirty="0"/>
              <a:t> IP-MAC.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Ethernet frame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найденный</a:t>
            </a:r>
            <a:r>
              <a:rPr dirty="0"/>
              <a:t> MAC.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D1165-A407-F285-B34F-8DD5EA0A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573E4-E237-27D5-95CD-690109F9AC27}"/>
              </a:ext>
            </a:extLst>
          </p:cNvPr>
          <p:cNvSpPr txBox="1"/>
          <p:nvPr/>
        </p:nvSpPr>
        <p:spPr>
          <a:xfrm>
            <a:off x="2092282" y="182880"/>
            <a:ext cx="744402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Как это работает в компьютерной сети: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A57C8-19F8-B147-06C4-804031F8A11A}"/>
              </a:ext>
            </a:extLst>
          </p:cNvPr>
          <p:cNvSpPr txBox="1"/>
          <p:nvPr/>
        </p:nvSpPr>
        <p:spPr>
          <a:xfrm>
            <a:off x="457199" y="914399"/>
            <a:ext cx="11385755" cy="5530645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Запрос (</a:t>
            </a:r>
            <a:r>
              <a:rPr lang="ru-RU" dirty="0" err="1"/>
              <a:t>Бродкаст</a:t>
            </a:r>
            <a:r>
              <a:rPr lang="ru-RU" dirty="0"/>
              <a:t>): Компьютер А хочет отправить данные на IP 192.168.1.5. Он не знает его физического адреса, поэтому отправляет «крик» (широковещательный запрос) абсолютно всем устройствам в сети: «У кого IP 192.168.1.5? Скажите свой MAC-адрес!»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Ответ (</a:t>
            </a:r>
            <a:r>
              <a:rPr lang="ru-RU" dirty="0" err="1"/>
              <a:t>Юникаст</a:t>
            </a:r>
            <a:r>
              <a:rPr lang="ru-RU" dirty="0"/>
              <a:t>): Устройство с этим IP узнает себя и отвечает компьютеру А лично: «Этот IP у меня, мой MAC-адрес — 00:1A:2B:3C:4D:5E».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Кэширование: Компьютер А записывает этот адрес в свою временную ARP-таблицу, чтобы следующий раз не кричать на всю сеть, а отправлять данные сразу.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9949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Процесс</a:t>
            </a:r>
            <a:r>
              <a:rPr dirty="0"/>
              <a:t> ARP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31E6AB-A217-AC7D-578E-7D3326F05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2298" y="182880"/>
            <a:ext cx="421692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ARP-</a:t>
            </a:r>
            <a:r>
              <a:rPr sz="4800" dirty="0" err="1"/>
              <a:t>таблица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97858"/>
            <a:ext cx="11518490" cy="482862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ARP-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соответствие</a:t>
            </a:r>
            <a:r>
              <a:rPr dirty="0"/>
              <a:t> IPv4 и MAC.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создаются</a:t>
            </a:r>
            <a:r>
              <a:rPr dirty="0"/>
              <a:t> </a:t>
            </a:r>
            <a:r>
              <a:rPr dirty="0" err="1"/>
              <a:t>динамически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имеют</a:t>
            </a:r>
            <a:r>
              <a:rPr dirty="0"/>
              <a:t> </a:t>
            </a:r>
            <a:r>
              <a:rPr dirty="0" err="1"/>
              <a:t>ограниченное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жизни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Очистка</a:t>
            </a:r>
            <a:r>
              <a:rPr dirty="0"/>
              <a:t> ARP-</a:t>
            </a: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полезна</a:t>
            </a:r>
            <a:r>
              <a:rPr dirty="0"/>
              <a:t> 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диагностике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Неверная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устаревшая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мешать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E502-7465-9957-FD48-A94122E9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FFAC61-85CD-9538-5D9B-B17F421F4003}"/>
              </a:ext>
            </a:extLst>
          </p:cNvPr>
          <p:cNvSpPr txBox="1"/>
          <p:nvPr/>
        </p:nvSpPr>
        <p:spPr>
          <a:xfrm>
            <a:off x="4851384" y="182880"/>
            <a:ext cx="245875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ARP-</a:t>
            </a:r>
            <a:r>
              <a:rPr dirty="0" err="1"/>
              <a:t>таблица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412502-D0F2-18A5-EA7C-02F592A22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27" y="822960"/>
            <a:ext cx="11423673" cy="3911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DBCD5D-9EF0-B01B-F627-09E2904B7C1F}"/>
              </a:ext>
            </a:extLst>
          </p:cNvPr>
          <p:cNvSpPr txBox="1"/>
          <p:nvPr/>
        </p:nvSpPr>
        <p:spPr>
          <a:xfrm>
            <a:off x="612796" y="5209658"/>
            <a:ext cx="11126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Все устройства работающие с IP адресами хранят ARP таблицу.</a:t>
            </a:r>
          </a:p>
        </p:txBody>
      </p:sp>
    </p:spTree>
    <p:extLst>
      <p:ext uri="{BB962C8B-B14F-4D97-AF65-F5344CB8AC3E}">
        <p14:creationId xmlns:p14="http://schemas.microsoft.com/office/powerpoint/2010/main" val="1169388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2580" y="157145"/>
            <a:ext cx="215636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ICMP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474839"/>
            <a:ext cx="11621729" cy="45572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ICMP - Internet Control Message Protocol.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ICMP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сообщения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ping </a:t>
            </a:r>
            <a:r>
              <a:rPr dirty="0" err="1"/>
              <a:t>использует</a:t>
            </a:r>
            <a:r>
              <a:rPr dirty="0"/>
              <a:t> ICMP Echo Request и Echo Reply.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ICMP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IP-</a:t>
            </a:r>
            <a:r>
              <a:rPr dirty="0" err="1"/>
              <a:t>уровне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Блокировка</a:t>
            </a:r>
            <a:r>
              <a:rPr dirty="0"/>
              <a:t> ICMP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отсутствие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9947B-6AB7-5BFB-BC98-71A93EBD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6DDB23-6F4C-2258-B50E-1CA986AD229F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ICMP (Internet Control Message Protocol) — это сетевой протокол, который используется компьютерами, роутерами и серверами для обмена служебными сообщениями и отчетами об ошибках.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Если совсем просто: ICMP — это «служба технической поддержки» и система диагностики внутри интернета.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7997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7964" y="182880"/>
            <a:ext cx="52055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ping и traceroute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>
                <a:solidFill>
                  <a:schemeClr val="tx2"/>
                </a:solidFill>
              </a:rPr>
              <a:t>ping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IP-</a:t>
            </a:r>
            <a:r>
              <a:rPr dirty="0" err="1"/>
              <a:t>узла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>
                <a:solidFill>
                  <a:schemeClr val="tx2"/>
                </a:solidFill>
              </a:rPr>
              <a:t>traceroute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промежуточные</a:t>
            </a:r>
            <a:r>
              <a:rPr dirty="0"/>
              <a:t> </a:t>
            </a:r>
            <a:r>
              <a:rPr dirty="0" err="1"/>
              <a:t>маршрутизаторы</a:t>
            </a:r>
            <a:r>
              <a:rPr dirty="0"/>
              <a:t> в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>
                <a:solidFill>
                  <a:schemeClr val="tx2"/>
                </a:solidFill>
              </a:rPr>
              <a:t>tracert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похожую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в Windows.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dirty="0"/>
          </a:p>
          <a:p>
            <a:pPr indent="354013">
              <a:defRPr sz="3600"/>
            </a:pPr>
            <a:r>
              <a:rPr dirty="0"/>
              <a:t>Эти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локализовать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адресацией</a:t>
            </a:r>
            <a:r>
              <a:rPr dirty="0"/>
              <a:t> и </a:t>
            </a:r>
            <a:r>
              <a:rPr dirty="0" err="1"/>
              <a:t>таблицами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5B30-422E-F9F3-DFBE-92625AE9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1A2C7-4A29-4B72-A971-016614B15F8A}"/>
              </a:ext>
            </a:extLst>
          </p:cNvPr>
          <p:cNvSpPr txBox="1"/>
          <p:nvPr/>
        </p:nvSpPr>
        <p:spPr>
          <a:xfrm>
            <a:off x="5621339" y="182880"/>
            <a:ext cx="9188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ping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9F6564-B355-C353-5E5C-D0FAF1BC1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613" y="739687"/>
            <a:ext cx="10205884" cy="566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82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F5331-4D68-86D1-DBE2-CBCB3B3C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651BA-948C-5689-2694-F42C1BAB011B}"/>
              </a:ext>
            </a:extLst>
          </p:cNvPr>
          <p:cNvSpPr txBox="1"/>
          <p:nvPr/>
        </p:nvSpPr>
        <p:spPr>
          <a:xfrm>
            <a:off x="4340156" y="182880"/>
            <a:ext cx="348120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en-US" dirty="0" err="1"/>
              <a:t>tracert</a:t>
            </a:r>
            <a:r>
              <a:rPr lang="en-US" dirty="0"/>
              <a:t> / </a:t>
            </a:r>
            <a:r>
              <a:rPr dirty="0"/>
              <a:t>traceroute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7D0810-99F0-4D70-E2D6-3222522A5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818" y="767655"/>
            <a:ext cx="9335729" cy="595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1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9. Типовые причины отсутствия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Неверный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маска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Неверный</a:t>
            </a:r>
            <a:r>
              <a:rPr dirty="0"/>
              <a:t> gateway.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Нет</a:t>
            </a:r>
            <a:r>
              <a:rPr dirty="0"/>
              <a:t> ARP-</a:t>
            </a:r>
            <a:r>
              <a:rPr dirty="0" err="1"/>
              <a:t>ответа</a:t>
            </a:r>
            <a:r>
              <a:rPr dirty="0"/>
              <a:t> в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к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Firewall </a:t>
            </a:r>
            <a:r>
              <a:rPr dirty="0" err="1"/>
              <a:t>блокирует</a:t>
            </a:r>
            <a:r>
              <a:rPr dirty="0"/>
              <a:t> ICMP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Алгоритм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L3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B6D487-896F-3BCA-5AF8-24EB6E94A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2865-E955-3D45-3512-C8281AAF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762199-8DA5-2710-2EDA-2B9200F8BA01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/>
              <a:t>Коммутатор</a:t>
            </a:r>
            <a:r>
              <a:rPr lang="ru-RU" dirty="0"/>
              <a:t> (</a:t>
            </a:r>
            <a:r>
              <a:rPr lang="ru-RU" dirty="0" err="1"/>
              <a:t>Switch</a:t>
            </a:r>
            <a:r>
              <a:rPr lang="ru-RU" dirty="0"/>
              <a:t>): Если в его таблице MAC-адресов нет адреса получателя (так называемый </a:t>
            </a:r>
            <a:r>
              <a:rPr lang="ru-RU" dirty="0" err="1"/>
              <a:t>Unknown</a:t>
            </a:r>
            <a:r>
              <a:rPr lang="ru-RU" dirty="0"/>
              <a:t> </a:t>
            </a:r>
            <a:r>
              <a:rPr lang="ru-RU" dirty="0" err="1"/>
              <a:t>Unicast</a:t>
            </a:r>
            <a:r>
              <a:rPr lang="ru-RU" dirty="0"/>
              <a:t>), он включает режим </a:t>
            </a:r>
            <a:r>
              <a:rPr lang="ru-RU" b="1" dirty="0"/>
              <a:t>флуда (</a:t>
            </a:r>
            <a:r>
              <a:rPr lang="ru-RU" b="1" dirty="0" err="1"/>
              <a:t>Flood</a:t>
            </a:r>
            <a:r>
              <a:rPr lang="ru-RU" b="1" dirty="0"/>
              <a:t>) </a:t>
            </a:r>
            <a:r>
              <a:rPr lang="ru-RU" dirty="0"/>
              <a:t>— копирует кадр и рассылает его во все порты, кроме того, откуда он пришел, в надежде, что адресат откликнется.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b="1" dirty="0"/>
              <a:t>Маршрутизатор</a:t>
            </a:r>
            <a:r>
              <a:rPr lang="ru-RU" dirty="0"/>
              <a:t> (</a:t>
            </a:r>
            <a:r>
              <a:rPr lang="ru-RU" dirty="0" err="1"/>
              <a:t>Router</a:t>
            </a:r>
            <a:r>
              <a:rPr lang="ru-RU" dirty="0"/>
              <a:t>): Работает совершенно иначе. Он мыслит глобальными сетями. Если роутер получает пакет, заглядывает в заголовок L3, видит IP-адрес назначения, но в его таблице маршрутизации нет подходящей записи (нет конкретной сети и не настроен маршрут по умолчанию / 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Route</a:t>
            </a:r>
            <a:r>
              <a:rPr lang="ru-RU" dirty="0"/>
              <a:t>), он сразу же </a:t>
            </a:r>
            <a:r>
              <a:rPr lang="ru-RU" b="1" dirty="0"/>
              <a:t>уничтожает</a:t>
            </a:r>
            <a:r>
              <a:rPr lang="ru-RU" dirty="0"/>
              <a:t> (сбрасывает) этот пакет. Никакого флуда наружу не происходит.</a:t>
            </a:r>
          </a:p>
          <a:p>
            <a:pPr>
              <a:defRPr sz="3600"/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F74D4-A121-14EC-8BD7-0B9BAED79863}"/>
              </a:ext>
            </a:extLst>
          </p:cNvPr>
          <p:cNvSpPr txBox="1"/>
          <p:nvPr/>
        </p:nvSpPr>
        <p:spPr>
          <a:xfrm>
            <a:off x="871161" y="182880"/>
            <a:ext cx="1041919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10</a:t>
            </a:r>
            <a:r>
              <a:rPr dirty="0"/>
              <a:t>. </a:t>
            </a:r>
            <a:r>
              <a:rPr lang="ru-RU" dirty="0"/>
              <a:t>Поведение коммутатора (L2) </a:t>
            </a:r>
            <a:r>
              <a:rPr lang="ru-RU" dirty="0" err="1"/>
              <a:t>vs</a:t>
            </a:r>
            <a:r>
              <a:rPr lang="ru-RU" dirty="0"/>
              <a:t>. Маршрутизатора (L3)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1514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BA8C-A8CB-F787-6307-9A45C6540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0FB9D-33AA-9339-F19D-F0D8155E2937}"/>
              </a:ext>
            </a:extLst>
          </p:cNvPr>
          <p:cNvSpPr txBox="1"/>
          <p:nvPr/>
        </p:nvSpPr>
        <p:spPr>
          <a:xfrm>
            <a:off x="457200" y="250723"/>
            <a:ext cx="10972800" cy="5875757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3600"/>
            </a:pPr>
            <a:r>
              <a:rPr lang="ru-RU" b="1" dirty="0"/>
              <a:t>Что происходит в момент сброса? (Связь с ICMP)</a:t>
            </a:r>
          </a:p>
          <a:p>
            <a:pPr indent="354013">
              <a:defRPr sz="3600"/>
            </a:pPr>
            <a:r>
              <a:rPr lang="ru-RU" dirty="0"/>
              <a:t>Роутер не просто молча выбрасывает пакет в корзину. Поскольку он работает на сетевом уровне, он задействует «службу поддержки» — протокол ICMP: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Роутер уничтожает пакет, который не знает куда отправить.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Роутер генерирует и отправляет обратно отправителю служебное ICMP-сообщение типа: «</a:t>
            </a:r>
            <a:r>
              <a:rPr lang="ru-RU" dirty="0" err="1"/>
              <a:t>Destination</a:t>
            </a:r>
            <a:r>
              <a:rPr lang="ru-RU" dirty="0"/>
              <a:t> Host </a:t>
            </a:r>
            <a:r>
              <a:rPr lang="ru-RU" dirty="0" err="1"/>
              <a:t>Unreachable</a:t>
            </a:r>
            <a:r>
              <a:rPr lang="ru-RU" dirty="0"/>
              <a:t>» или «</a:t>
            </a:r>
            <a:r>
              <a:rPr lang="ru-RU" dirty="0" err="1"/>
              <a:t>Destination</a:t>
            </a:r>
            <a:r>
              <a:rPr lang="ru-RU" dirty="0"/>
              <a:t> Network </a:t>
            </a:r>
            <a:r>
              <a:rPr lang="ru-RU" dirty="0" err="1"/>
              <a:t>Unreachable</a:t>
            </a:r>
            <a:r>
              <a:rPr lang="ru-RU" dirty="0"/>
              <a:t>».</a:t>
            </a:r>
          </a:p>
          <a:p>
            <a:pPr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Именно поэтому, когда вы будете </a:t>
            </a:r>
            <a:r>
              <a:rPr lang="ru-RU" dirty="0" err="1"/>
              <a:t>пинговать</a:t>
            </a:r>
            <a:r>
              <a:rPr lang="ru-RU" dirty="0"/>
              <a:t> далекий IP-адрес, а на роутере не будет маршрута, в командной строке ПК увидите четкий ответ от IP-адреса роутера: Ответ от 192.168.1.1: Заданный узел недоступен. </a:t>
            </a:r>
          </a:p>
          <a:p>
            <a:pPr indent="354013">
              <a:defRPr sz="3600"/>
            </a:pPr>
            <a:r>
              <a:rPr lang="ru-RU" dirty="0"/>
              <a:t>Это и есть доказательство того, что роутер пакет сбросил, но предупредил об этом.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2501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IP-</a:t>
            </a:r>
            <a:r>
              <a:rPr dirty="0" err="1"/>
              <a:t>адреса</a:t>
            </a:r>
            <a:r>
              <a:rPr dirty="0"/>
              <a:t> и </a:t>
            </a:r>
            <a:r>
              <a:rPr dirty="0" err="1"/>
              <a:t>пакеты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IPv4-пакет </a:t>
            </a:r>
            <a:r>
              <a:rPr dirty="0" err="1"/>
              <a:t>передается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ARP </a:t>
            </a:r>
            <a:r>
              <a:rPr dirty="0" err="1"/>
              <a:t>связывает</a:t>
            </a:r>
            <a:r>
              <a:rPr dirty="0"/>
              <a:t> IPv4-адрес с MAC-</a:t>
            </a:r>
            <a:r>
              <a:rPr dirty="0" err="1"/>
              <a:t>адресом</a:t>
            </a:r>
            <a:r>
              <a:rPr dirty="0"/>
              <a:t> в </a:t>
            </a:r>
            <a:r>
              <a:rPr dirty="0" err="1"/>
              <a:t>локальном</a:t>
            </a:r>
            <a:r>
              <a:rPr dirty="0"/>
              <a:t> </a:t>
            </a:r>
            <a:r>
              <a:rPr dirty="0" err="1"/>
              <a:t>сегменте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ICMP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сообщений</a:t>
            </a:r>
            <a:r>
              <a:rPr dirty="0"/>
              <a:t> и </a:t>
            </a:r>
            <a:r>
              <a:rPr dirty="0" err="1"/>
              <a:t>диагностики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ping и traceroute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место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.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Роутер не </a:t>
            </a:r>
            <a:r>
              <a:rPr lang="ru-RU" dirty="0" err="1"/>
              <a:t>флудит</a:t>
            </a:r>
            <a:r>
              <a:rPr lang="ru-RU" dirty="0"/>
              <a:t>, а сбрасывает пакет.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MAC-</a:t>
            </a:r>
            <a:r>
              <a:rPr dirty="0" err="1"/>
              <a:t>адреса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ARP?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в ARP-</a:t>
            </a:r>
            <a:r>
              <a:rPr dirty="0" err="1"/>
              <a:t>таблице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ping?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traceroute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ping?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ping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проходить</a:t>
            </a:r>
            <a:r>
              <a:rPr dirty="0"/>
              <a:t>, </a:t>
            </a:r>
            <a:r>
              <a:rPr dirty="0" err="1"/>
              <a:t>хотя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1864</Words>
  <Application>Microsoft Office PowerPoint</Application>
  <PresentationFormat>Широкоэкранный</PresentationFormat>
  <Paragraphs>179</Paragraphs>
  <Slides>42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2026-06-29T12:56:25Z</dcterms:modified>
  <cp:category/>
</cp:coreProperties>
</file>