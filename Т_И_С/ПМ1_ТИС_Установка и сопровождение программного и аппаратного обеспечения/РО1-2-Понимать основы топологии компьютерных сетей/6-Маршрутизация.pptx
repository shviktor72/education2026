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75" r:id="rId12"/>
    <p:sldId id="276" r:id="rId13"/>
    <p:sldId id="265" r:id="rId14"/>
    <p:sldId id="266" r:id="rId15"/>
    <p:sldId id="267" r:id="rId16"/>
    <p:sldId id="277" r:id="rId17"/>
    <p:sldId id="268" r:id="rId18"/>
    <p:sldId id="279" r:id="rId19"/>
    <p:sldId id="280" r:id="rId20"/>
    <p:sldId id="281" r:id="rId21"/>
    <p:sldId id="282" r:id="rId22"/>
    <p:sldId id="283" r:id="rId23"/>
    <p:sldId id="284" r:id="rId24"/>
    <p:sldId id="287" r:id="rId25"/>
    <p:sldId id="278" r:id="rId26"/>
    <p:sldId id="285" r:id="rId27"/>
    <p:sldId id="286" r:id="rId28"/>
    <p:sldId id="292" r:id="rId29"/>
    <p:sldId id="288" r:id="rId30"/>
    <p:sldId id="289" r:id="rId31"/>
    <p:sldId id="290" r:id="rId32"/>
    <p:sldId id="291" r:id="rId33"/>
    <p:sldId id="273" r:id="rId34"/>
    <p:sldId id="269" r:id="rId35"/>
    <p:sldId id="270" r:id="rId36"/>
    <p:sldId id="293" r:id="rId37"/>
    <p:sldId id="294" r:id="rId38"/>
    <p:sldId id="271" r:id="rId39"/>
    <p:sldId id="272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8526" y="967710"/>
            <a:ext cx="4754956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6.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Маршрутизация.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Сформировать</a:t>
            </a:r>
            <a:r>
              <a:rPr dirty="0"/>
              <a:t> у </a:t>
            </a:r>
            <a:r>
              <a:rPr dirty="0" err="1"/>
              <a:t>обучающихся</a:t>
            </a:r>
            <a:r>
              <a:rPr dirty="0"/>
              <a:t> </a:t>
            </a: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назначения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, gateway, 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, connected, static и default route, а </a:t>
            </a:r>
            <a:r>
              <a:rPr dirty="0" err="1"/>
              <a:t>также</a:t>
            </a:r>
            <a:r>
              <a:rPr dirty="0"/>
              <a:t> </a:t>
            </a:r>
            <a:r>
              <a:rPr dirty="0" err="1"/>
              <a:t>базовой</a:t>
            </a:r>
            <a:r>
              <a:rPr dirty="0"/>
              <a:t> </a:t>
            </a:r>
            <a:r>
              <a:rPr dirty="0" err="1"/>
              <a:t>проверки</a:t>
            </a:r>
            <a:r>
              <a:rPr dirty="0"/>
              <a:t> </a:t>
            </a:r>
            <a:r>
              <a:rPr dirty="0" err="1"/>
              <a:t>прохождения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3600"/>
            </a:pPr>
            <a:r>
              <a:rPr dirty="0"/>
              <a:t>1.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2. Router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3. Gateway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конечного</a:t>
            </a:r>
            <a:r>
              <a:rPr dirty="0"/>
              <a:t> </a:t>
            </a:r>
            <a:r>
              <a:rPr dirty="0" err="1"/>
              <a:t>узла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4. Routing table: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5. Connected route: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подключенная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6. Static route: </a:t>
            </a:r>
            <a:r>
              <a:rPr dirty="0" err="1"/>
              <a:t>статический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/>
              <a:t>7. Default route: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  <a:endParaRPr lang="ru-RU" dirty="0"/>
          </a:p>
          <a:p>
            <a:pPr>
              <a:defRPr sz="3600"/>
            </a:pPr>
            <a:r>
              <a:rPr lang="ru-RU" dirty="0"/>
              <a:t>8. Типы маршрутизации: Статическая и Динамическая</a:t>
            </a:r>
            <a:endParaRPr dirty="0"/>
          </a:p>
          <a:p>
            <a:pPr>
              <a:defRPr sz="3600"/>
            </a:pPr>
            <a:r>
              <a:rPr lang="ru-RU" dirty="0"/>
              <a:t>9</a:t>
            </a:r>
            <a:r>
              <a:rPr dirty="0"/>
              <a:t>.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принимает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о </a:t>
            </a:r>
            <a:r>
              <a:rPr dirty="0" err="1"/>
              <a:t>пересылке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>
              <a:defRPr sz="3600"/>
            </a:pPr>
            <a:r>
              <a:rPr lang="ru-RU" dirty="0"/>
              <a:t>10</a:t>
            </a:r>
            <a:r>
              <a:rPr dirty="0"/>
              <a:t>. </a:t>
            </a:r>
            <a:r>
              <a:rPr dirty="0" err="1"/>
              <a:t>Диагностика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Routing - </a:t>
            </a:r>
            <a:r>
              <a:rPr dirty="0" err="1"/>
              <a:t>маршрутизация</a:t>
            </a:r>
            <a:r>
              <a:rPr dirty="0"/>
              <a:t>, </a:t>
            </a: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пути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Router - </a:t>
            </a:r>
            <a:r>
              <a:rPr dirty="0" err="1"/>
              <a:t>маршрутизатор</a:t>
            </a:r>
            <a:r>
              <a:rPr dirty="0"/>
              <a:t>, </a:t>
            </a:r>
            <a:r>
              <a:rPr dirty="0" err="1"/>
              <a:t>устройство</a:t>
            </a:r>
            <a:r>
              <a:rPr dirty="0"/>
              <a:t> </a:t>
            </a:r>
            <a:r>
              <a:rPr dirty="0" err="1"/>
              <a:t>сетевого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- </a:t>
            </a:r>
            <a:r>
              <a:rPr dirty="0" err="1"/>
              <a:t>шлюз</a:t>
            </a:r>
            <a:r>
              <a:rPr dirty="0"/>
              <a:t>,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</a:t>
            </a:r>
            <a:r>
              <a:rPr dirty="0" err="1"/>
              <a:t>из</a:t>
            </a:r>
            <a:r>
              <a:rPr dirty="0"/>
              <a:t>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Routing table - </a:t>
            </a:r>
            <a:r>
              <a:rPr dirty="0" err="1"/>
              <a:t>таблица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Default route -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42195" y="182880"/>
            <a:ext cx="847712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маршрутизации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Маршрутизация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источник</a:t>
            </a:r>
            <a:r>
              <a:rPr dirty="0"/>
              <a:t> и </a:t>
            </a:r>
            <a:r>
              <a:rPr dirty="0" err="1"/>
              <a:t>получатель</a:t>
            </a:r>
            <a:r>
              <a:rPr dirty="0"/>
              <a:t> </a:t>
            </a:r>
            <a:r>
              <a:rPr dirty="0" err="1"/>
              <a:t>находятся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IP-</a:t>
            </a:r>
            <a:r>
              <a:rPr dirty="0" err="1"/>
              <a:t>сетях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LAN </a:t>
            </a:r>
            <a:r>
              <a:rPr dirty="0" err="1"/>
              <a:t>узлы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ARP и Ethernet.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отправляется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gateway.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следующий</a:t>
            </a:r>
            <a:r>
              <a:rPr dirty="0"/>
              <a:t> </a:t>
            </a:r>
            <a:r>
              <a:rPr dirty="0" err="1"/>
              <a:t>шаг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таблице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дойдет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удаленной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814580" y="182880"/>
            <a:ext cx="253236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2. 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Router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IP-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Каждый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принадлежит</a:t>
            </a:r>
            <a:r>
              <a:rPr dirty="0"/>
              <a:t> </a:t>
            </a:r>
            <a:r>
              <a:rPr dirty="0" err="1"/>
              <a:t>отдельной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анализирует</a:t>
            </a:r>
            <a:r>
              <a:rPr dirty="0"/>
              <a:t> destination IP.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пересылает</a:t>
            </a:r>
            <a:r>
              <a:rPr dirty="0"/>
              <a:t> broadcast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в </a:t>
            </a:r>
            <a:r>
              <a:rPr dirty="0" err="1"/>
              <a:t>другую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Router </a:t>
            </a:r>
            <a:r>
              <a:rPr dirty="0" err="1"/>
              <a:t>является</a:t>
            </a:r>
            <a:r>
              <a:rPr dirty="0"/>
              <a:t> </a:t>
            </a:r>
            <a:r>
              <a:rPr dirty="0" err="1"/>
              <a:t>границей</a:t>
            </a:r>
            <a:r>
              <a:rPr dirty="0"/>
              <a:t> broadcast-</a:t>
            </a:r>
            <a:r>
              <a:rPr dirty="0" err="1"/>
              <a:t>домена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сетями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8896029-083A-C16E-40F9-19A063573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31519" y="182880"/>
            <a:ext cx="709848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Gateway </a:t>
            </a:r>
            <a:r>
              <a:rPr sz="4800" dirty="0" err="1"/>
              <a:t>по</a:t>
            </a:r>
            <a:r>
              <a:rPr sz="4800" dirty="0"/>
              <a:t> </a:t>
            </a:r>
            <a:r>
              <a:rPr sz="4800" dirty="0" err="1"/>
              <a:t>умолчанию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b="1" dirty="0"/>
              <a:t>Default gateway </a:t>
            </a:r>
            <a:r>
              <a:rPr dirty="0" err="1"/>
              <a:t>настраивается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конечном</a:t>
            </a:r>
            <a:r>
              <a:rPr dirty="0"/>
              <a:t> </a:t>
            </a:r>
            <a:r>
              <a:rPr dirty="0" err="1"/>
              <a:t>узле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 в </a:t>
            </a:r>
            <a:r>
              <a:rPr dirty="0" err="1"/>
              <a:t>той</a:t>
            </a:r>
            <a:r>
              <a:rPr dirty="0"/>
              <a:t> </a:t>
            </a:r>
            <a:r>
              <a:rPr dirty="0" err="1"/>
              <a:t>же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и </a:t>
            </a:r>
            <a:r>
              <a:rPr dirty="0" err="1"/>
              <a:t>узел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получатель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в </a:t>
            </a:r>
            <a:r>
              <a:rPr dirty="0" err="1"/>
              <a:t>локальной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,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отправляется</a:t>
            </a:r>
            <a:r>
              <a:rPr dirty="0"/>
              <a:t> gateway.</a:t>
            </a:r>
          </a:p>
          <a:p>
            <a:pPr indent="354013">
              <a:defRPr sz="3600"/>
            </a:pPr>
            <a:r>
              <a:rPr dirty="0" err="1"/>
              <a:t>Неверный</a:t>
            </a:r>
            <a:r>
              <a:rPr dirty="0"/>
              <a:t> gateway </a:t>
            </a:r>
            <a:r>
              <a:rPr dirty="0" err="1"/>
              <a:t>нарушает</a:t>
            </a:r>
            <a:r>
              <a:rPr dirty="0"/>
              <a:t> </a:t>
            </a:r>
            <a:r>
              <a:rPr dirty="0" err="1"/>
              <a:t>связь</a:t>
            </a:r>
            <a:r>
              <a:rPr dirty="0"/>
              <a:t> с </a:t>
            </a:r>
            <a:r>
              <a:rPr dirty="0" err="1"/>
              <a:t>удаленными</a:t>
            </a:r>
            <a:r>
              <a:rPr dirty="0"/>
              <a:t> </a:t>
            </a:r>
            <a:r>
              <a:rPr dirty="0" err="1"/>
              <a:t>сетями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Gateway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доступен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канальном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1C4D7-1587-A65E-0A8E-A806719EC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875CC7-596D-6C0E-16C8-9C15C43870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56" y="1342163"/>
            <a:ext cx="11127088" cy="443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422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8258" y="182880"/>
            <a:ext cx="422500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Routing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Таблица </a:t>
            </a:r>
            <a:r>
              <a:rPr lang="ru-RU" dirty="0" err="1"/>
              <a:t>маршутизации</a:t>
            </a:r>
            <a:r>
              <a:rPr lang="ru-RU" dirty="0"/>
              <a:t> (</a:t>
            </a:r>
            <a:r>
              <a:rPr dirty="0"/>
              <a:t>Routing table</a:t>
            </a:r>
            <a:r>
              <a:rPr lang="ru-RU" dirty="0"/>
              <a:t>)</a:t>
            </a:r>
            <a:r>
              <a:rPr dirty="0"/>
              <a:t> </a:t>
            </a:r>
            <a:r>
              <a:rPr dirty="0" err="1"/>
              <a:t>содержит</a:t>
            </a:r>
            <a:r>
              <a:rPr dirty="0"/>
              <a:t> </a:t>
            </a:r>
            <a:r>
              <a:rPr dirty="0" err="1"/>
              <a:t>известные</a:t>
            </a:r>
            <a:r>
              <a:rPr dirty="0"/>
              <a:t> </a:t>
            </a:r>
            <a:r>
              <a:rPr dirty="0" err="1"/>
              <a:t>маршруты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destination network и next hop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выходной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ОС </a:t>
            </a:r>
            <a:r>
              <a:rPr dirty="0" err="1"/>
              <a:t>компьютера</a:t>
            </a:r>
            <a:r>
              <a:rPr dirty="0"/>
              <a:t> </a:t>
            </a:r>
            <a:r>
              <a:rPr dirty="0" err="1"/>
              <a:t>тоже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таблицу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пересылаемого</a:t>
            </a:r>
            <a:r>
              <a:rPr dirty="0"/>
              <a:t>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Понимание</a:t>
            </a:r>
            <a:r>
              <a:rPr dirty="0"/>
              <a:t> </a:t>
            </a:r>
            <a:r>
              <a:rPr dirty="0" err="1"/>
              <a:t>таблицы</a:t>
            </a:r>
            <a:r>
              <a:rPr dirty="0"/>
              <a:t> </a:t>
            </a:r>
            <a:r>
              <a:rPr dirty="0" err="1"/>
              <a:t>маршрутизации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0548-7D4A-57CF-21B7-C5D7A065C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39378-2100-1F58-C057-DF86F559072D}"/>
              </a:ext>
            </a:extLst>
          </p:cNvPr>
          <p:cNvSpPr txBox="1"/>
          <p:nvPr/>
        </p:nvSpPr>
        <p:spPr>
          <a:xfrm>
            <a:off x="457200" y="339213"/>
            <a:ext cx="10972800" cy="57872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На роутере </a:t>
            </a:r>
            <a:r>
              <a:rPr lang="en-US" dirty="0"/>
              <a:t>cisco</a:t>
            </a:r>
            <a:r>
              <a:rPr lang="ru-RU" dirty="0"/>
              <a:t> можно посмотреть таблицу маршрутизации с помощью команды: </a:t>
            </a:r>
            <a:r>
              <a:rPr lang="en-US" b="1" dirty="0">
                <a:solidFill>
                  <a:srgbClr val="002060"/>
                </a:solidFill>
              </a:rPr>
              <a:t>show </a:t>
            </a:r>
            <a:r>
              <a:rPr lang="en-US" b="1" dirty="0" err="1">
                <a:solidFill>
                  <a:srgbClr val="002060"/>
                </a:solidFill>
              </a:rPr>
              <a:t>ip</a:t>
            </a:r>
            <a:r>
              <a:rPr lang="en-US" b="1" dirty="0">
                <a:solidFill>
                  <a:srgbClr val="002060"/>
                </a:solidFill>
              </a:rPr>
              <a:t> route</a:t>
            </a:r>
            <a:endParaRPr b="1" dirty="0">
              <a:solidFill>
                <a:srgbClr val="00206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175DDB0-7834-392B-14EE-98F8E308F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161" y="1730477"/>
            <a:ext cx="9038878" cy="463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759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4A1D7-7C8E-7FD7-A5A1-33367C4C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604AAE-F6BA-D25B-AAE4-A4D7F8BABDAC}"/>
              </a:ext>
            </a:extLst>
          </p:cNvPr>
          <p:cNvSpPr txBox="1"/>
          <p:nvPr/>
        </p:nvSpPr>
        <p:spPr>
          <a:xfrm>
            <a:off x="457200" y="339213"/>
            <a:ext cx="10972800" cy="5787267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В </a:t>
            </a:r>
            <a:r>
              <a:rPr lang="en-US" dirty="0"/>
              <a:t>Windows</a:t>
            </a:r>
            <a:r>
              <a:rPr lang="ru-RU" dirty="0"/>
              <a:t> с помощью команды: </a:t>
            </a:r>
            <a:r>
              <a:rPr lang="en-US" b="1" dirty="0">
                <a:solidFill>
                  <a:srgbClr val="002060"/>
                </a:solidFill>
              </a:rPr>
              <a:t>route print</a:t>
            </a:r>
            <a:endParaRPr b="1" dirty="0">
              <a:solidFill>
                <a:srgbClr val="00206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38D0E71-E329-75EE-F088-FE088DBE7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638" y="1039147"/>
            <a:ext cx="9717923" cy="477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82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51894" y="182880"/>
            <a:ext cx="505773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5. Connected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dirty="0"/>
              <a:t>Connected route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напрямую</a:t>
            </a:r>
            <a:r>
              <a:rPr dirty="0"/>
              <a:t> </a:t>
            </a:r>
            <a:r>
              <a:rPr dirty="0" err="1"/>
              <a:t>подключенной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знает</a:t>
            </a:r>
            <a:r>
              <a:rPr dirty="0"/>
              <a:t> </a:t>
            </a:r>
            <a:r>
              <a:rPr dirty="0" err="1"/>
              <a:t>такую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своего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Например</a:t>
            </a:r>
            <a:r>
              <a:rPr dirty="0"/>
              <a:t>, </a:t>
            </a:r>
            <a:r>
              <a:rPr dirty="0" err="1"/>
              <a:t>интерфейс</a:t>
            </a:r>
            <a:r>
              <a:rPr dirty="0"/>
              <a:t> 192.168.1.1/24 </a:t>
            </a:r>
            <a:r>
              <a:rPr dirty="0" err="1"/>
              <a:t>создает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к 192.168.1.0/24.</a:t>
            </a:r>
          </a:p>
          <a:p>
            <a:pPr indent="354013">
              <a:defRPr sz="3600"/>
            </a:pPr>
            <a:r>
              <a:rPr dirty="0"/>
              <a:t>Connected routes </a:t>
            </a:r>
            <a:r>
              <a:rPr dirty="0" err="1"/>
              <a:t>являются</a:t>
            </a:r>
            <a:r>
              <a:rPr dirty="0"/>
              <a:t> </a:t>
            </a:r>
            <a:r>
              <a:rPr dirty="0" err="1"/>
              <a:t>основой</a:t>
            </a:r>
            <a:r>
              <a:rPr dirty="0"/>
              <a:t> </a:t>
            </a:r>
            <a:r>
              <a:rPr dirty="0" err="1"/>
              <a:t>работы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выключен</a:t>
            </a:r>
            <a:r>
              <a:rPr dirty="0"/>
              <a:t>, connected route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исчезнуть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6432" y="182880"/>
            <a:ext cx="374865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Static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44748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Static route </a:t>
            </a:r>
            <a:r>
              <a:rPr dirty="0" err="1"/>
              <a:t>настраивается</a:t>
            </a:r>
            <a:r>
              <a:rPr dirty="0"/>
              <a:t> </a:t>
            </a:r>
            <a:r>
              <a:rPr dirty="0" err="1"/>
              <a:t>администратором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, </a:t>
            </a:r>
            <a:r>
              <a:rPr dirty="0" err="1"/>
              <a:t>куда</a:t>
            </a:r>
            <a:r>
              <a:rPr dirty="0"/>
              <a:t> </a:t>
            </a:r>
            <a:r>
              <a:rPr dirty="0" err="1"/>
              <a:t>отправлять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 к </a:t>
            </a:r>
            <a:r>
              <a:rPr dirty="0" err="1"/>
              <a:t>конкретной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Статические</a:t>
            </a:r>
            <a:r>
              <a:rPr dirty="0"/>
              <a:t> </a:t>
            </a:r>
            <a:r>
              <a:rPr dirty="0" err="1"/>
              <a:t>маршруты</a:t>
            </a:r>
            <a:r>
              <a:rPr dirty="0"/>
              <a:t> </a:t>
            </a:r>
            <a:r>
              <a:rPr dirty="0" err="1"/>
              <a:t>просты</a:t>
            </a:r>
            <a:r>
              <a:rPr dirty="0"/>
              <a:t> и </a:t>
            </a:r>
            <a:r>
              <a:rPr dirty="0" err="1"/>
              <a:t>понятны</a:t>
            </a:r>
            <a:r>
              <a:rPr dirty="0"/>
              <a:t> в </a:t>
            </a:r>
            <a:r>
              <a:rPr dirty="0" err="1"/>
              <a:t>небольших</a:t>
            </a:r>
            <a:r>
              <a:rPr dirty="0"/>
              <a:t> </a:t>
            </a:r>
            <a:r>
              <a:rPr dirty="0" err="1"/>
              <a:t>сетях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изменении</a:t>
            </a:r>
            <a:r>
              <a:rPr dirty="0"/>
              <a:t> </a:t>
            </a:r>
            <a:r>
              <a:rPr dirty="0" err="1"/>
              <a:t>топологии</a:t>
            </a:r>
            <a:r>
              <a:rPr dirty="0"/>
              <a:t> </a:t>
            </a:r>
            <a:r>
              <a:rPr dirty="0" err="1"/>
              <a:t>их</a:t>
            </a:r>
            <a:r>
              <a:rPr dirty="0"/>
              <a:t> </a:t>
            </a: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обновлять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Ошибка</a:t>
            </a:r>
            <a:r>
              <a:rPr dirty="0"/>
              <a:t> next hop </a:t>
            </a:r>
            <a:r>
              <a:rPr dirty="0" err="1"/>
              <a:t>приводит</a:t>
            </a:r>
            <a:r>
              <a:rPr dirty="0"/>
              <a:t> к </a:t>
            </a:r>
            <a:r>
              <a:rPr dirty="0" err="1"/>
              <a:t>потере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77748" y="182880"/>
            <a:ext cx="420602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Default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194620"/>
            <a:ext cx="11385755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Default route </a:t>
            </a:r>
            <a:r>
              <a:rPr dirty="0" err="1"/>
              <a:t>используется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более</a:t>
            </a:r>
            <a:r>
              <a:rPr dirty="0"/>
              <a:t> </a:t>
            </a:r>
            <a:r>
              <a:rPr dirty="0" err="1"/>
              <a:t>точного</a:t>
            </a:r>
            <a:r>
              <a:rPr dirty="0"/>
              <a:t> </a:t>
            </a:r>
            <a:r>
              <a:rPr dirty="0" err="1"/>
              <a:t>маршрута</a:t>
            </a:r>
            <a:r>
              <a:rPr lang="en-US" dirty="0"/>
              <a:t> (gateway of last resort)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записывается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0.0.0.0/0.</a:t>
            </a:r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офисной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default route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в </a:t>
            </a:r>
            <a:r>
              <a:rPr dirty="0" err="1"/>
              <a:t>сторону</a:t>
            </a:r>
            <a:r>
              <a:rPr dirty="0"/>
              <a:t> </a:t>
            </a:r>
            <a:r>
              <a:rPr dirty="0" err="1"/>
              <a:t>провайдера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клиенте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default route </a:t>
            </a:r>
            <a:r>
              <a:rPr dirty="0" err="1"/>
              <a:t>выполняет</a:t>
            </a:r>
            <a:r>
              <a:rPr dirty="0"/>
              <a:t> gateway.</a:t>
            </a:r>
          </a:p>
          <a:p>
            <a:pPr indent="354013">
              <a:defRPr sz="3600"/>
            </a:pPr>
            <a:r>
              <a:rPr dirty="0" err="1"/>
              <a:t>Отсутствие</a:t>
            </a:r>
            <a:r>
              <a:rPr dirty="0"/>
              <a:t> default route </a:t>
            </a:r>
            <a:r>
              <a:rPr dirty="0" err="1"/>
              <a:t>мешает</a:t>
            </a:r>
            <a:r>
              <a:rPr dirty="0"/>
              <a:t> </a:t>
            </a:r>
            <a:r>
              <a:rPr dirty="0" err="1"/>
              <a:t>доступу</a:t>
            </a:r>
            <a:r>
              <a:rPr dirty="0"/>
              <a:t> к </a:t>
            </a:r>
            <a:r>
              <a:rPr dirty="0" err="1"/>
              <a:t>неизвестным</a:t>
            </a:r>
            <a:r>
              <a:rPr dirty="0"/>
              <a:t> </a:t>
            </a:r>
            <a:r>
              <a:rPr dirty="0" err="1"/>
              <a:t>внешним</a:t>
            </a:r>
            <a:r>
              <a:rPr dirty="0"/>
              <a:t> </a:t>
            </a:r>
            <a:r>
              <a:rPr dirty="0" err="1"/>
              <a:t>сетям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05EE9-4ACB-DB23-B6D7-7D35B1CC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916FF32-74C4-371D-2FAE-CDE1ECB87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2"/>
          <a:stretch>
            <a:fillRect/>
          </a:stretch>
        </p:blipFill>
        <p:spPr>
          <a:xfrm>
            <a:off x="383457" y="428778"/>
            <a:ext cx="11750049" cy="600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11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38168" y="210777"/>
            <a:ext cx="991566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3200" dirty="0"/>
              <a:t>8. </a:t>
            </a:r>
            <a:r>
              <a:rPr lang="ru-RU" sz="3200" dirty="0"/>
              <a:t>Типы маршрутизации: Статическая и Динамическая</a:t>
            </a:r>
          </a:p>
          <a:p>
            <a:pPr algn="ctr">
              <a:defRPr sz="3200" b="1">
                <a:solidFill>
                  <a:srgbClr val="143764"/>
                </a:solidFill>
              </a:defRPr>
            </a:pP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013876"/>
            <a:ext cx="11430000" cy="51126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b="1" dirty="0"/>
              <a:t>Статическая маршрутизация </a:t>
            </a:r>
            <a:r>
              <a:rPr lang="ru-RU" dirty="0"/>
              <a:t>(</a:t>
            </a:r>
            <a:r>
              <a:rPr lang="ru-RU" dirty="0" err="1"/>
              <a:t>Static</a:t>
            </a:r>
            <a:r>
              <a:rPr lang="ru-RU" dirty="0"/>
              <a:t>): * Аналогия: Карта дорог, нарисованная от руки.</a:t>
            </a:r>
          </a:p>
          <a:p>
            <a:pPr indent="354013">
              <a:defRPr sz="3600"/>
            </a:pPr>
            <a:r>
              <a:rPr lang="ru-RU" dirty="0"/>
              <a:t>Суть: Администратор сам пишет: «Чтобы попасть в сеть Х, иди через роутер Y».</a:t>
            </a:r>
          </a:p>
          <a:p>
            <a:pPr indent="354013">
              <a:defRPr sz="3600"/>
            </a:pPr>
            <a:r>
              <a:rPr lang="ru-RU" dirty="0"/>
              <a:t>Плюсы/Минусы: Надежно, не тратит ресурсы роутера, но если провод перережут, сеть упадет сама — статический маршрут не умеет перестраиваться автоматически. Идеально для маленьких сетей.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4D35-0B82-78DC-0687-6A1474B0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7B2F73-9EBB-559E-A663-275F1EB27BBE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Статический маршрут (</a:t>
            </a: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) — это маршрут к сети назначения, который системный администратор вручную прописывает в таблице маршрутизации устройства.</a:t>
            </a:r>
          </a:p>
          <a:p>
            <a:pPr indent="354013">
              <a:defRPr sz="3600"/>
            </a:pPr>
            <a:r>
              <a:rPr lang="ru-RU" dirty="0"/>
              <a:t>	Административное расстояние (</a:t>
            </a:r>
            <a:r>
              <a:rPr lang="ru-RU" dirty="0" err="1"/>
              <a:t>Administrative</a:t>
            </a:r>
            <a:r>
              <a:rPr lang="ru-RU" dirty="0"/>
              <a:t> </a:t>
            </a:r>
            <a:r>
              <a:rPr lang="ru-RU" dirty="0" err="1"/>
              <a:t>Distance</a:t>
            </a:r>
            <a:r>
              <a:rPr lang="ru-RU" dirty="0"/>
              <a:t>, AD) по умолчанию: 1 (роутер доверяет статическим маршрутам безоговорочно, выше приоритет только у напрямую подключенных сетей </a:t>
            </a:r>
            <a:r>
              <a:rPr lang="ru-RU" dirty="0" err="1"/>
              <a:t>Connected</a:t>
            </a:r>
            <a:r>
              <a:rPr lang="ru-RU" dirty="0"/>
              <a:t> с AD=0).</a:t>
            </a:r>
          </a:p>
          <a:p>
            <a:pPr indent="354013">
              <a:defRPr sz="3600"/>
            </a:pPr>
            <a:r>
              <a:rPr lang="ru-RU" dirty="0"/>
              <a:t>	Обозначение в таблице маршрутизации (</a:t>
            </a:r>
            <a:r>
              <a:rPr lang="ru-RU" dirty="0" err="1"/>
              <a:t>show</a:t>
            </a:r>
            <a:r>
              <a:rPr lang="ru-RU" dirty="0"/>
              <a:t> </a:t>
            </a:r>
            <a:r>
              <a:rPr lang="ru-RU" dirty="0" err="1"/>
              <a:t>ip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): Буква S (</a:t>
            </a:r>
            <a:r>
              <a:rPr lang="ru-RU" dirty="0" err="1"/>
              <a:t>Static</a:t>
            </a:r>
            <a:r>
              <a:rPr lang="ru-RU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74382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C230C-B38A-7785-344F-2276EC8BC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E2B6CD-6B28-D68C-FFA3-C197EB5E9E0F}"/>
              </a:ext>
            </a:extLst>
          </p:cNvPr>
          <p:cNvSpPr txBox="1"/>
          <p:nvPr/>
        </p:nvSpPr>
        <p:spPr>
          <a:xfrm>
            <a:off x="457200" y="471948"/>
            <a:ext cx="11430000" cy="4586749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Синтаксис команды настройки</a:t>
            </a:r>
          </a:p>
          <a:p>
            <a:pPr indent="354013">
              <a:defRPr sz="3600"/>
            </a:pPr>
            <a:r>
              <a:rPr lang="ru-RU" dirty="0"/>
              <a:t>Настройка выполняется строго в режиме глобальной конфигурации (</a:t>
            </a:r>
            <a:r>
              <a:rPr lang="ru-RU" dirty="0" err="1"/>
              <a:t>config</a:t>
            </a:r>
            <a:r>
              <a:rPr lang="ru-RU" dirty="0"/>
              <a:t> t):</a:t>
            </a: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r>
              <a:rPr lang="ru-RU" dirty="0"/>
              <a:t>В качестве [следующего шага] (Next </a:t>
            </a:r>
            <a:r>
              <a:rPr lang="ru-RU" dirty="0" err="1"/>
              <a:t>Hop</a:t>
            </a:r>
            <a:r>
              <a:rPr lang="ru-RU" dirty="0"/>
              <a:t>) можно указать два варианта:</a:t>
            </a:r>
          </a:p>
          <a:p>
            <a:pPr indent="354013">
              <a:defRPr sz="3600"/>
            </a:pPr>
            <a:r>
              <a:rPr lang="ru-RU" dirty="0"/>
              <a:t>	IP-адрес следующего роутера (Gateway IP) — используется чаще всего.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E68380C-2BFA-933B-A2DA-2F73FAD3E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4" y="1927613"/>
            <a:ext cx="11487151" cy="9144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9445F93-3A6E-C030-51D2-D0598B0EB1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71459"/>
            <a:ext cx="11194026" cy="9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00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1CC3C-D4CB-5E30-5765-29C9E9C9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A93F0-6FDF-6B6A-70A2-F55E211A21DA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Выходной интерфейс самого роутера (</a:t>
            </a:r>
            <a:r>
              <a:rPr lang="ru-RU" dirty="0" err="1"/>
              <a:t>Exit</a:t>
            </a:r>
            <a:r>
              <a:rPr lang="ru-RU" dirty="0"/>
              <a:t> Interface) — применяется в основном для соединений типа Point-</a:t>
            </a:r>
            <a:r>
              <a:rPr lang="ru-RU" dirty="0" err="1"/>
              <a:t>to</a:t>
            </a:r>
            <a:r>
              <a:rPr lang="ru-RU" dirty="0"/>
              <a:t>-Point (например, </a:t>
            </a:r>
            <a:r>
              <a:rPr lang="ru-RU" dirty="0" err="1"/>
              <a:t>Serial</a:t>
            </a:r>
            <a:r>
              <a:rPr lang="ru-RU" dirty="0"/>
              <a:t>-интерфейсы).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86F95D0-673A-96D8-BF78-4BAF5F3D9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74492"/>
            <a:ext cx="11000003" cy="70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09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76A57-7669-9A86-D007-A08234D0A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8FD36-710D-D2ED-310B-19A7E98BFB18}"/>
              </a:ext>
            </a:extLst>
          </p:cNvPr>
          <p:cNvSpPr txBox="1"/>
          <p:nvPr/>
        </p:nvSpPr>
        <p:spPr>
          <a:xfrm>
            <a:off x="457200" y="471948"/>
            <a:ext cx="11430000" cy="6223319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indent="354013">
              <a:defRPr sz="3600"/>
            </a:pPr>
            <a:r>
              <a:rPr lang="ru-RU" dirty="0"/>
              <a:t>Специальные виды статических маршрутов</a:t>
            </a:r>
          </a:p>
          <a:p>
            <a:pPr indent="354013">
              <a:defRPr sz="3600"/>
            </a:pPr>
            <a:r>
              <a:rPr lang="ru-RU" dirty="0"/>
              <a:t>А. </a:t>
            </a:r>
            <a:r>
              <a:rPr lang="ru-RU" b="1" dirty="0"/>
              <a:t>Маршрут по умолчанию </a:t>
            </a:r>
            <a:r>
              <a:rPr lang="ru-RU" dirty="0"/>
              <a:t>(</a:t>
            </a:r>
            <a:r>
              <a:rPr lang="ru-RU" dirty="0" err="1"/>
              <a:t>Default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 / Gateway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Last</a:t>
            </a:r>
            <a:r>
              <a:rPr lang="ru-RU" dirty="0"/>
              <a:t> Resort)</a:t>
            </a:r>
          </a:p>
          <a:p>
            <a:pPr indent="354013">
              <a:defRPr sz="3600"/>
            </a:pPr>
            <a:r>
              <a:rPr lang="ru-RU" dirty="0"/>
              <a:t>Используется для отправки трафика в неизвестные сети (например, в Интернет). Если точного маршрута к IP-адресу в таблице нет, роутер отправит пакет сюда.</a:t>
            </a:r>
          </a:p>
          <a:p>
            <a:pPr indent="354013">
              <a:defRPr sz="3600"/>
            </a:pPr>
            <a:r>
              <a:rPr lang="ru-RU" dirty="0"/>
              <a:t>	Маска и сеть состоят из одних нулей («</a:t>
            </a:r>
            <a:r>
              <a:rPr lang="ru-RU" dirty="0" err="1"/>
              <a:t>квадро</a:t>
            </a:r>
            <a:r>
              <a:rPr lang="ru-RU" dirty="0"/>
              <a:t>-ноль»):</a:t>
            </a: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r>
              <a:rPr lang="ru-RU" dirty="0"/>
              <a:t>Обозначение в таблице: S* (звездочка означает маршрут по умолчанию).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4E5B20-4447-0149-9A58-F48720A61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912572"/>
            <a:ext cx="11701220" cy="1170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85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88F58-B052-716C-26E8-62AED567D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5BFD8-8EDA-90FC-8817-1178B123A8A5}"/>
              </a:ext>
            </a:extLst>
          </p:cNvPr>
          <p:cNvSpPr txBox="1"/>
          <p:nvPr/>
        </p:nvSpPr>
        <p:spPr>
          <a:xfrm>
            <a:off x="457200" y="471948"/>
            <a:ext cx="11430000" cy="6269815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>
              <a:defRPr sz="3600"/>
            </a:pPr>
            <a:r>
              <a:rPr lang="ru-RU" dirty="0"/>
              <a:t>Плавающий статический маршрут (</a:t>
            </a:r>
            <a:r>
              <a:rPr lang="ru-RU" dirty="0" err="1"/>
              <a:t>Floating</a:t>
            </a:r>
            <a:r>
              <a:rPr lang="ru-RU" dirty="0"/>
              <a:t> </a:t>
            </a:r>
            <a:r>
              <a:rPr lang="ru-RU" dirty="0" err="1"/>
              <a:t>Static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)</a:t>
            </a:r>
          </a:p>
          <a:p>
            <a:pPr indent="354013">
              <a:defRPr sz="3600"/>
            </a:pPr>
            <a:r>
              <a:rPr lang="ru-RU" dirty="0"/>
              <a:t>Используется как резервный канал связи. Он настраивается путем искусственного завышения Административного расстояния (AD).</a:t>
            </a:r>
          </a:p>
          <a:p>
            <a:pPr indent="354013">
              <a:defRPr sz="3600"/>
            </a:pPr>
            <a:r>
              <a:rPr lang="ru-RU" dirty="0"/>
              <a:t>	Пример: Основной канал идет через динамический протокол OSPF (AD=110). Мы создаем резервную статику и пишем в конце команды AD=120:</a:t>
            </a:r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endParaRPr lang="ru-RU" dirty="0"/>
          </a:p>
          <a:p>
            <a:pPr indent="354013">
              <a:defRPr sz="3600"/>
            </a:pPr>
            <a:r>
              <a:rPr lang="ru-RU" dirty="0"/>
              <a:t>	Как это работает: Пока работает OSPF, этот маршрут спрятан и не виден в таблице. Если основной линк падает, OSPF-маршрут исчезает, и резервная статика мгновенно «всплывает» в таблицу.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00BB9C1-7BA6-B657-2464-57B1F3493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82" y="3553310"/>
            <a:ext cx="11491718" cy="106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462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DD1CD-B717-4DAC-E6FC-A99214717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0EAE1A-6425-DA64-D856-49ECF23B75B6}"/>
              </a:ext>
            </a:extLst>
          </p:cNvPr>
          <p:cNvSpPr txBox="1"/>
          <p:nvPr/>
        </p:nvSpPr>
        <p:spPr>
          <a:xfrm>
            <a:off x="457200" y="471948"/>
            <a:ext cx="11430000" cy="6253317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indent="354013">
              <a:defRPr sz="3600"/>
            </a:pPr>
            <a:r>
              <a:rPr lang="ru-RU" dirty="0"/>
              <a:t>Административное расстояние (</a:t>
            </a:r>
            <a:r>
              <a:rPr lang="ru-RU" b="1" dirty="0" err="1"/>
              <a:t>Administrative</a:t>
            </a:r>
            <a:r>
              <a:rPr lang="ru-RU" b="1" dirty="0"/>
              <a:t> </a:t>
            </a:r>
            <a:r>
              <a:rPr lang="ru-RU" b="1" dirty="0" err="1"/>
              <a:t>Distance</a:t>
            </a:r>
            <a:r>
              <a:rPr lang="ru-RU" dirty="0"/>
              <a:t>, AD) — это показатель степени доверия роутера к источнику маршрута.</a:t>
            </a:r>
          </a:p>
          <a:p>
            <a:pPr indent="354013">
              <a:defRPr sz="3600"/>
            </a:pPr>
            <a:r>
              <a:rPr lang="ru-RU" dirty="0"/>
              <a:t>Главное правило: Чем меньше число AD, тем выше приоритет и доверие к маршруту. В таблицу маршрутизации попадет только тот путь, у которого AD меньше.</a:t>
            </a:r>
          </a:p>
          <a:p>
            <a:pPr indent="354013">
              <a:defRPr sz="3600"/>
            </a:pPr>
            <a:r>
              <a:rPr lang="ru-RU" dirty="0"/>
              <a:t>Стандартная шкала доверия (для Cisco):</a:t>
            </a:r>
          </a:p>
          <a:p>
            <a:pPr indent="354013">
              <a:defRPr sz="3600"/>
            </a:pPr>
            <a:r>
              <a:rPr lang="ru-RU" dirty="0"/>
              <a:t>•	0 — </a:t>
            </a:r>
            <a:r>
              <a:rPr lang="ru-RU" dirty="0" err="1"/>
              <a:t>Connected</a:t>
            </a:r>
            <a:r>
              <a:rPr lang="ru-RU" dirty="0"/>
              <a:t> (Напрямую подключенная сеть). </a:t>
            </a:r>
          </a:p>
          <a:p>
            <a:pPr indent="354013">
              <a:defRPr sz="3600"/>
            </a:pPr>
            <a:r>
              <a:rPr lang="ru-RU" dirty="0"/>
              <a:t>•	1 — </a:t>
            </a:r>
            <a:r>
              <a:rPr lang="ru-RU" dirty="0" err="1"/>
              <a:t>Static</a:t>
            </a:r>
            <a:r>
              <a:rPr lang="ru-RU" dirty="0"/>
              <a:t> (Статический маршрут, прописанный админом руками). </a:t>
            </a:r>
          </a:p>
          <a:p>
            <a:pPr indent="354013">
              <a:defRPr sz="3600"/>
            </a:pPr>
            <a:r>
              <a:rPr lang="ru-RU" dirty="0"/>
              <a:t>•	90 — EIGRP (Динамический протокол Cisco).</a:t>
            </a:r>
          </a:p>
          <a:p>
            <a:pPr indent="354013">
              <a:defRPr sz="3600"/>
            </a:pPr>
            <a:r>
              <a:rPr lang="ru-RU" dirty="0"/>
              <a:t>•	110 — OSPF (Самый популярный стандартный протокол динамической маршрутизации).</a:t>
            </a:r>
          </a:p>
          <a:p>
            <a:pPr indent="354013">
              <a:defRPr sz="3600"/>
            </a:pPr>
            <a:r>
              <a:rPr lang="ru-RU" dirty="0"/>
              <a:t>•	120 — RIP (Старый, медленный протокол, поэтому доверие к нему самое низкое).</a:t>
            </a:r>
          </a:p>
        </p:txBody>
      </p:sp>
    </p:spTree>
    <p:extLst>
      <p:ext uri="{BB962C8B-B14F-4D97-AF65-F5344CB8AC3E}">
        <p14:creationId xmlns:p14="http://schemas.microsoft.com/office/powerpoint/2010/main" val="33786445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DB71D-5ECC-3CA2-7D47-35802408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C12E08-3D12-67F2-8286-53606B3D0ECB}"/>
              </a:ext>
            </a:extLst>
          </p:cNvPr>
          <p:cNvSpPr txBox="1"/>
          <p:nvPr/>
        </p:nvSpPr>
        <p:spPr>
          <a:xfrm>
            <a:off x="457200" y="471948"/>
            <a:ext cx="11430000" cy="6253317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indent="354013" algn="ctr">
              <a:defRPr sz="3600"/>
            </a:pPr>
            <a:r>
              <a:rPr lang="ru-RU" b="1" dirty="0"/>
              <a:t>Проверка и верификация (Команды Show)</a:t>
            </a:r>
          </a:p>
          <a:p>
            <a:pPr indent="354013">
              <a:defRPr sz="3600"/>
            </a:pPr>
            <a:r>
              <a:rPr lang="ru-RU" dirty="0"/>
              <a:t>Выполняются в привилегированном режиме (</a:t>
            </a:r>
            <a:r>
              <a:rPr lang="ru-RU" dirty="0" err="1"/>
              <a:t>Router</a:t>
            </a:r>
            <a:r>
              <a:rPr lang="ru-RU" dirty="0"/>
              <a:t>#):</a:t>
            </a:r>
          </a:p>
          <a:p>
            <a:pPr indent="354013">
              <a:defRPr sz="3600"/>
            </a:pPr>
            <a:r>
              <a:rPr lang="ru-RU" dirty="0"/>
              <a:t>	</a:t>
            </a:r>
            <a:r>
              <a:rPr lang="ru-RU" dirty="0" err="1">
                <a:solidFill>
                  <a:srgbClr val="002060"/>
                </a:solidFill>
              </a:rPr>
              <a:t>show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ip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route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— просмотр всей таблицы маршрутизации.</a:t>
            </a:r>
          </a:p>
          <a:p>
            <a:pPr indent="354013">
              <a:defRPr sz="3600"/>
            </a:pPr>
            <a:r>
              <a:rPr lang="ru-RU" dirty="0"/>
              <a:t>	</a:t>
            </a:r>
            <a:r>
              <a:rPr lang="ru-RU" dirty="0" err="1">
                <a:solidFill>
                  <a:srgbClr val="002060"/>
                </a:solidFill>
              </a:rPr>
              <a:t>show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ip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route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static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— фильтр, показывающий только статические маршруты.</a:t>
            </a:r>
          </a:p>
          <a:p>
            <a:pPr indent="354013">
              <a:defRPr sz="3600"/>
            </a:pPr>
            <a:r>
              <a:rPr lang="ru-RU" dirty="0"/>
              <a:t>	</a:t>
            </a:r>
            <a:r>
              <a:rPr lang="ru-RU" dirty="0" err="1">
                <a:solidFill>
                  <a:srgbClr val="002060"/>
                </a:solidFill>
              </a:rPr>
              <a:t>show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run</a:t>
            </a:r>
            <a:r>
              <a:rPr lang="ru-RU" dirty="0">
                <a:solidFill>
                  <a:srgbClr val="002060"/>
                </a:solidFill>
              </a:rPr>
              <a:t> | </a:t>
            </a:r>
            <a:r>
              <a:rPr lang="ru-RU" dirty="0" err="1">
                <a:solidFill>
                  <a:srgbClr val="002060"/>
                </a:solidFill>
              </a:rPr>
              <a:t>include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ip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 err="1">
                <a:solidFill>
                  <a:srgbClr val="002060"/>
                </a:solidFill>
              </a:rPr>
              <a:t>route</a:t>
            </a:r>
            <a:r>
              <a:rPr lang="ru-RU" dirty="0">
                <a:solidFill>
                  <a:srgbClr val="002060"/>
                </a:solidFill>
              </a:rPr>
              <a:t> </a:t>
            </a:r>
            <a:r>
              <a:rPr lang="ru-RU" dirty="0"/>
              <a:t>— посмотреть, какие именно команды статической маршрутизации прописаны в текущей конфигурации.</a:t>
            </a:r>
          </a:p>
          <a:p>
            <a:pPr indent="354013">
              <a:defRPr sz="3600"/>
            </a:pPr>
            <a:endParaRPr lang="en-US" dirty="0"/>
          </a:p>
          <a:p>
            <a:pPr indent="354013">
              <a:defRPr sz="3600"/>
            </a:pPr>
            <a:r>
              <a:rPr lang="ru-RU" dirty="0"/>
              <a:t>Главное правило, о котором забывают студенты</a:t>
            </a:r>
          </a:p>
          <a:p>
            <a:pPr indent="354013">
              <a:defRPr sz="3600"/>
            </a:pPr>
            <a:r>
              <a:rPr lang="ru-RU" dirty="0"/>
              <a:t>⚠️ «Трафик всегда должен уметь возвращаться назад».</a:t>
            </a:r>
          </a:p>
          <a:p>
            <a:pPr indent="354013">
              <a:defRPr sz="3600"/>
            </a:pPr>
            <a:r>
              <a:rPr lang="ru-RU" dirty="0"/>
              <a:t>Если вы прописали статический маршрут от Роутера А к Роутеру Б, пакеты успешно дойдут до цели. Но если на Роутере Б нет обратного маршрута к Роутеру А, сеть работать не будет (пакеты ответа будут сбрасываться). Маршрутизация настраивается в обе стороны.</a:t>
            </a:r>
          </a:p>
        </p:txBody>
      </p:sp>
    </p:spTree>
    <p:extLst>
      <p:ext uri="{BB962C8B-B14F-4D97-AF65-F5344CB8AC3E}">
        <p14:creationId xmlns:p14="http://schemas.microsoft.com/office/powerpoint/2010/main" val="4828617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2EEAB-5E29-8E27-FC79-4C203C02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E29245-650F-5EA9-3C60-E6EB923A447B}"/>
              </a:ext>
            </a:extLst>
          </p:cNvPr>
          <p:cNvSpPr txBox="1"/>
          <p:nvPr/>
        </p:nvSpPr>
        <p:spPr>
          <a:xfrm>
            <a:off x="457200" y="575188"/>
            <a:ext cx="11430000" cy="55512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b="1" dirty="0"/>
              <a:t>Динамическая маршрутизация </a:t>
            </a:r>
            <a:r>
              <a:rPr lang="ru-RU" dirty="0"/>
              <a:t>(Dynamic):</a:t>
            </a:r>
          </a:p>
          <a:p>
            <a:pPr indent="354013">
              <a:defRPr sz="3600"/>
            </a:pPr>
            <a:r>
              <a:rPr lang="ru-RU" dirty="0"/>
              <a:t>Навигатор 2ГИС или </a:t>
            </a:r>
            <a:r>
              <a:rPr lang="ru-RU" dirty="0" err="1"/>
              <a:t>Яндекс.Карты</a:t>
            </a:r>
            <a:r>
              <a:rPr lang="ru-RU" dirty="0"/>
              <a:t>.</a:t>
            </a:r>
          </a:p>
          <a:p>
            <a:pPr indent="354013">
              <a:defRPr sz="3600"/>
            </a:pPr>
            <a:r>
              <a:rPr lang="ru-RU" dirty="0"/>
              <a:t>Суть: Роутеры запускают специальные протоколы (программы) и «разговаривают» друг с другом, обмениваясь информацией о сетях.</a:t>
            </a:r>
          </a:p>
          <a:p>
            <a:pPr indent="354013">
              <a:defRPr sz="3600"/>
            </a:pPr>
            <a:r>
              <a:rPr lang="ru-RU" dirty="0"/>
              <a:t>Плюсы/Минусы: Если падает один канал, протокол за секунды находит обходной путь. Но это нагружает процессор роутера и требует сложной настройки. Идеально для средних и огромных сетей.</a:t>
            </a:r>
          </a:p>
          <a:p>
            <a:pPr indent="354013">
              <a:defRPr sz="3600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99256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DBBDF-5769-66AB-35F1-8FCBBCEBB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86E16-7E43-659E-6609-87DCE034C0B4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Динамическая маршрутизация — автоматический обмен информацией о топологии сети между роутерами с помощью специальных протоколов. </a:t>
            </a:r>
          </a:p>
          <a:p>
            <a:pPr indent="354013">
              <a:defRPr sz="3600"/>
            </a:pPr>
            <a:r>
              <a:rPr lang="ru-RU" dirty="0"/>
              <a:t>Она самостоятельно адаптируется к изменениям (обрывам линий).</a:t>
            </a:r>
          </a:p>
        </p:txBody>
      </p:sp>
    </p:spTree>
    <p:extLst>
      <p:ext uri="{BB962C8B-B14F-4D97-AF65-F5344CB8AC3E}">
        <p14:creationId xmlns:p14="http://schemas.microsoft.com/office/powerpoint/2010/main" val="3630686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B3849-7AB3-6E7D-B140-B717D66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281AC0B-01A5-B98A-B137-CFD916BFB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42" y="201943"/>
            <a:ext cx="10368116" cy="671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018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FBBC6-A222-9E86-369F-EA6156D3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6621C9-90C3-D3E6-0A98-8950F527F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989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AE289-B0C2-FE59-A0DB-94773468A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2BDC9C-5EB0-C52B-9FCF-59CCD903FC53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Протокол OSPF: главное</a:t>
            </a:r>
          </a:p>
          <a:p>
            <a:pPr indent="354013">
              <a:defRPr sz="3600"/>
            </a:pPr>
            <a:r>
              <a:rPr lang="ru-RU" dirty="0"/>
              <a:t>	Тип: Link-State (протокол состояния канала). Каждый роутер знает полную карту всей сети.</a:t>
            </a:r>
          </a:p>
          <a:p>
            <a:pPr indent="354013">
              <a:defRPr sz="3600"/>
            </a:pPr>
            <a:r>
              <a:rPr lang="ru-RU" dirty="0"/>
              <a:t>	Алгоритм: SPF (</a:t>
            </a:r>
            <a:r>
              <a:rPr lang="ru-RU" dirty="0" err="1"/>
              <a:t>Дейкстры</a:t>
            </a:r>
            <a:r>
              <a:rPr lang="ru-RU" dirty="0"/>
              <a:t>) — строит дерево кратчайших путей.</a:t>
            </a:r>
          </a:p>
          <a:p>
            <a:pPr indent="354013">
              <a:defRPr sz="3600"/>
            </a:pPr>
            <a:r>
              <a:rPr lang="ru-RU" dirty="0"/>
              <a:t>	Метрика: Cost (Стоимость). Рассчитывается на основе скорости интерфейса ("Cost"=10^8/"</a:t>
            </a:r>
            <a:r>
              <a:rPr lang="ru-RU" dirty="0" err="1"/>
              <a:t>Bandwidth</a:t>
            </a:r>
            <a:r>
              <a:rPr lang="ru-RU" dirty="0"/>
              <a:t>" ). Чем быстрее кабель, тем меньше стоимость (маршрут лучше).</a:t>
            </a:r>
          </a:p>
          <a:p>
            <a:pPr indent="354013">
              <a:defRPr sz="3600"/>
            </a:pPr>
            <a:r>
              <a:rPr lang="ru-RU" dirty="0"/>
              <a:t>	Административное расстояние (AD): 110.</a:t>
            </a:r>
          </a:p>
        </p:txBody>
      </p:sp>
    </p:spTree>
    <p:extLst>
      <p:ext uri="{BB962C8B-B14F-4D97-AF65-F5344CB8AC3E}">
        <p14:creationId xmlns:p14="http://schemas.microsoft.com/office/powerpoint/2010/main" val="31102552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6D6A6-A444-F9FA-77A1-67CD21339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CC07C8-3AFA-CAAE-F3A6-8AECA6FCF216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Пример настройки OSPF в Cisco</a:t>
            </a:r>
          </a:p>
          <a:p>
            <a:pPr indent="354013">
              <a:defRPr sz="3600"/>
            </a:pPr>
            <a:r>
              <a:rPr lang="ru-RU" dirty="0"/>
              <a:t>Задача:</a:t>
            </a:r>
          </a:p>
          <a:p>
            <a:pPr indent="354013">
              <a:defRPr sz="3600"/>
            </a:pPr>
            <a:r>
              <a:rPr lang="ru-RU" dirty="0"/>
              <a:t>Включить OSPF на роутере в одной зоне (Area 0) для двух локальных сетей: 192.168.1.0/24 и 10.0.0.0/30.</a:t>
            </a:r>
          </a:p>
          <a:p>
            <a:pPr indent="354013">
              <a:defRPr sz="3600"/>
            </a:pPr>
            <a:r>
              <a:rPr lang="ru-RU" dirty="0"/>
              <a:t>Команды настройки: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8E038F8-18D2-5846-5D32-DF5CDED41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34" y="3429000"/>
            <a:ext cx="9141235" cy="151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1261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F78A8-7B84-73BA-6354-AB5E1EDB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189A35-BC78-F97B-F037-3DEF7381E0A0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lang="ru-RU" dirty="0"/>
              <a:t>Важно знать (</a:t>
            </a:r>
            <a:r>
              <a:rPr lang="ru-RU" dirty="0" err="1"/>
              <a:t>Wildcard</a:t>
            </a:r>
            <a:r>
              <a:rPr lang="ru-RU" dirty="0"/>
              <a:t>-маска):</a:t>
            </a:r>
          </a:p>
          <a:p>
            <a:pPr indent="354013">
              <a:defRPr sz="3600"/>
            </a:pPr>
            <a:r>
              <a:rPr lang="ru-RU" dirty="0"/>
              <a:t>В OSPF вместо обычной маски используется обратная маска (</a:t>
            </a:r>
            <a:r>
              <a:rPr lang="ru-RU" dirty="0" err="1"/>
              <a:t>Wildcard</a:t>
            </a:r>
            <a:r>
              <a:rPr lang="ru-RU" dirty="0"/>
              <a:t>). Чтобы её получить, нужно вычесть обычную маску из 255.255.255.255.</a:t>
            </a:r>
          </a:p>
          <a:p>
            <a:pPr indent="354013">
              <a:defRPr sz="3600"/>
            </a:pPr>
            <a:r>
              <a:rPr lang="ru-RU" dirty="0"/>
              <a:t>	Для /24 (255.255.255.0) обратная маска: 0.0.0.255</a:t>
            </a:r>
          </a:p>
          <a:p>
            <a:pPr indent="354013">
              <a:defRPr sz="3600"/>
            </a:pPr>
            <a:r>
              <a:rPr lang="ru-RU" dirty="0"/>
              <a:t>	Для /30 (255.255.255.252) обратная маска: 0.0.0.3</a:t>
            </a:r>
          </a:p>
        </p:txBody>
      </p:sp>
    </p:spTree>
    <p:extLst>
      <p:ext uri="{BB962C8B-B14F-4D97-AF65-F5344CB8AC3E}">
        <p14:creationId xmlns:p14="http://schemas.microsoft.com/office/powerpoint/2010/main" val="18385585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A80DD-0643-E783-73EA-29998F57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68ADBD9-A423-8C68-CC1D-253A1AE9B380}"/>
              </a:ext>
            </a:extLst>
          </p:cNvPr>
          <p:cNvSpPr txBox="1"/>
          <p:nvPr/>
        </p:nvSpPr>
        <p:spPr>
          <a:xfrm>
            <a:off x="457200" y="471948"/>
            <a:ext cx="11430000" cy="5654531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indent="354013">
              <a:defRPr sz="3600"/>
            </a:pPr>
            <a:r>
              <a:rPr lang="ru-RU" dirty="0"/>
              <a:t>Команды проверки (Шпаргалка для лаб)</a:t>
            </a:r>
          </a:p>
          <a:p>
            <a:pPr indent="354013">
              <a:defRPr sz="3600"/>
            </a:pPr>
            <a:r>
              <a:rPr lang="ru-RU" dirty="0"/>
              <a:t>Выполняются в привилегированном режиме (</a:t>
            </a:r>
            <a:r>
              <a:rPr lang="ru-RU" dirty="0" err="1"/>
              <a:t>Router</a:t>
            </a:r>
            <a:r>
              <a:rPr lang="ru-RU" dirty="0"/>
              <a:t>#):</a:t>
            </a:r>
          </a:p>
          <a:p>
            <a:pPr indent="354013">
              <a:defRPr sz="3600"/>
            </a:pPr>
            <a:r>
              <a:rPr lang="ru-RU" dirty="0"/>
              <a:t>	</a:t>
            </a:r>
            <a:r>
              <a:rPr lang="ru-RU" dirty="0" err="1"/>
              <a:t>show</a:t>
            </a:r>
            <a:r>
              <a:rPr lang="ru-RU" dirty="0"/>
              <a:t> </a:t>
            </a:r>
            <a:r>
              <a:rPr lang="ru-RU" dirty="0" err="1"/>
              <a:t>ip</a:t>
            </a:r>
            <a:r>
              <a:rPr lang="ru-RU" dirty="0"/>
              <a:t> </a:t>
            </a:r>
            <a:r>
              <a:rPr lang="ru-RU" dirty="0" err="1"/>
              <a:t>route</a:t>
            </a:r>
            <a:r>
              <a:rPr lang="ru-RU" dirty="0"/>
              <a:t> — в таблице маршруты OSPF помечаются буквой O. Вывод выглядит так:</a:t>
            </a:r>
          </a:p>
          <a:p>
            <a:pPr indent="354013">
              <a:defRPr sz="3600"/>
            </a:pPr>
            <a:r>
              <a:rPr lang="ru-RU" dirty="0"/>
              <a:t>O 192.168.2.0/24 [110/65] </a:t>
            </a:r>
            <a:r>
              <a:rPr lang="ru-RU" dirty="0" err="1"/>
              <a:t>via</a:t>
            </a:r>
            <a:r>
              <a:rPr lang="ru-RU" dirty="0"/>
              <a:t> 10.0.0.2 (где 110 — AD, а 65 — стоимость пути).</a:t>
            </a:r>
          </a:p>
          <a:p>
            <a:pPr indent="354013">
              <a:defRPr sz="3600"/>
            </a:pPr>
            <a:r>
              <a:rPr lang="ru-RU" dirty="0"/>
              <a:t>	</a:t>
            </a:r>
            <a:r>
              <a:rPr lang="ru-RU" dirty="0" err="1"/>
              <a:t>show</a:t>
            </a:r>
            <a:r>
              <a:rPr lang="ru-RU" dirty="0"/>
              <a:t> </a:t>
            </a:r>
            <a:r>
              <a:rPr lang="ru-RU" dirty="0" err="1"/>
              <a:t>ip</a:t>
            </a:r>
            <a:r>
              <a:rPr lang="ru-RU" dirty="0"/>
              <a:t> </a:t>
            </a:r>
            <a:r>
              <a:rPr lang="ru-RU" dirty="0" err="1"/>
              <a:t>ospf</a:t>
            </a:r>
            <a:r>
              <a:rPr lang="ru-RU" dirty="0"/>
              <a:t> </a:t>
            </a:r>
            <a:r>
              <a:rPr lang="ru-RU" dirty="0" err="1"/>
              <a:t>neighbor</a:t>
            </a:r>
            <a:r>
              <a:rPr lang="ru-RU" dirty="0"/>
              <a:t> — проверить, нашел ли роутер своих соседей по кабелю (главная команда для поиска проблем).</a:t>
            </a:r>
          </a:p>
          <a:p>
            <a:pPr indent="354013">
              <a:defRPr sz="3600"/>
            </a:pPr>
            <a:r>
              <a:rPr lang="ru-RU" dirty="0"/>
              <a:t>	</a:t>
            </a:r>
            <a:r>
              <a:rPr lang="ru-RU" dirty="0" err="1"/>
              <a:t>show</a:t>
            </a:r>
            <a:r>
              <a:rPr lang="ru-RU" dirty="0"/>
              <a:t> </a:t>
            </a:r>
            <a:r>
              <a:rPr lang="ru-RU" dirty="0" err="1"/>
              <a:t>ip</a:t>
            </a:r>
            <a:r>
              <a:rPr lang="ru-RU" dirty="0"/>
              <a:t> </a:t>
            </a:r>
            <a:r>
              <a:rPr lang="ru-RU" dirty="0" err="1"/>
              <a:t>ospf</a:t>
            </a:r>
            <a:r>
              <a:rPr lang="ru-RU" dirty="0"/>
              <a:t>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brief</a:t>
            </a:r>
            <a:r>
              <a:rPr lang="ru-RU" dirty="0"/>
              <a:t> — посмотреть, на каких портах роутера сейчас запущен OSPF.</a:t>
            </a:r>
          </a:p>
        </p:txBody>
      </p:sp>
    </p:spTree>
    <p:extLst>
      <p:ext uri="{BB962C8B-B14F-4D97-AF65-F5344CB8AC3E}">
        <p14:creationId xmlns:p14="http://schemas.microsoft.com/office/powerpoint/2010/main" val="17784541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F3DD0-2ACB-4A87-ACBC-CA9569283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5DC50D-159C-8D32-1714-8EB4FEA1914C}"/>
              </a:ext>
            </a:extLst>
          </p:cNvPr>
          <p:cNvSpPr txBox="1"/>
          <p:nvPr/>
        </p:nvSpPr>
        <p:spPr>
          <a:xfrm>
            <a:off x="2725803" y="182880"/>
            <a:ext cx="670991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9</a:t>
            </a:r>
            <a:r>
              <a:rPr sz="4800" dirty="0"/>
              <a:t>. </a:t>
            </a:r>
            <a:r>
              <a:rPr sz="4800" dirty="0" err="1"/>
              <a:t>Решение</a:t>
            </a:r>
            <a:r>
              <a:rPr sz="4800" dirty="0"/>
              <a:t> о </a:t>
            </a:r>
            <a:r>
              <a:rPr sz="4800" dirty="0" err="1"/>
              <a:t>пересылке</a:t>
            </a:r>
            <a:endParaRPr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E37EE-B662-C391-4E25-2E26411CA15E}"/>
              </a:ext>
            </a:extLst>
          </p:cNvPr>
          <p:cNvSpPr txBox="1"/>
          <p:nvPr/>
        </p:nvSpPr>
        <p:spPr>
          <a:xfrm>
            <a:off x="457200" y="1013876"/>
            <a:ext cx="11430000" cy="511260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смотрит</a:t>
            </a:r>
            <a:r>
              <a:rPr dirty="0"/>
              <a:t> destination IP.</a:t>
            </a:r>
          </a:p>
          <a:p>
            <a:pPr indent="354013">
              <a:defRPr sz="3600"/>
            </a:pP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ищет</a:t>
            </a:r>
            <a:r>
              <a:rPr dirty="0"/>
              <a:t> </a:t>
            </a:r>
            <a:r>
              <a:rPr dirty="0" err="1"/>
              <a:t>наиболее</a:t>
            </a:r>
            <a:r>
              <a:rPr dirty="0"/>
              <a:t> </a:t>
            </a:r>
            <a:r>
              <a:rPr dirty="0" err="1"/>
              <a:t>точное</a:t>
            </a:r>
            <a:r>
              <a:rPr dirty="0"/>
              <a:t> </a:t>
            </a:r>
            <a:r>
              <a:rPr dirty="0" err="1"/>
              <a:t>совпадение</a:t>
            </a:r>
            <a:r>
              <a:rPr dirty="0"/>
              <a:t> prefix в routing table.</a:t>
            </a:r>
          </a:p>
          <a:p>
            <a:pPr indent="354013">
              <a:defRPr sz="3600"/>
            </a:pPr>
            <a:r>
              <a:rPr dirty="0" err="1"/>
              <a:t>Выбирает</a:t>
            </a:r>
            <a:r>
              <a:rPr dirty="0"/>
              <a:t> next hop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выходной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Уменьшает</a:t>
            </a:r>
            <a:r>
              <a:rPr dirty="0"/>
              <a:t> TTL </a:t>
            </a:r>
            <a:r>
              <a:rPr dirty="0" err="1"/>
              <a:t>пакета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Передает</a:t>
            </a:r>
            <a:r>
              <a:rPr dirty="0"/>
              <a:t> </a:t>
            </a:r>
            <a:r>
              <a:rPr dirty="0" err="1"/>
              <a:t>пакет</a:t>
            </a:r>
            <a:r>
              <a:rPr dirty="0"/>
              <a:t> </a:t>
            </a:r>
            <a:r>
              <a:rPr dirty="0" err="1"/>
              <a:t>дальше</a:t>
            </a:r>
            <a:r>
              <a:rPr dirty="0"/>
              <a:t> в </a:t>
            </a:r>
            <a:r>
              <a:rPr dirty="0" err="1"/>
              <a:t>новом</a:t>
            </a:r>
            <a:r>
              <a:rPr dirty="0"/>
              <a:t> </a:t>
            </a:r>
            <a:r>
              <a:rPr dirty="0" err="1"/>
              <a:t>кадре</a:t>
            </a:r>
            <a:r>
              <a:rPr dirty="0"/>
              <a:t> </a:t>
            </a:r>
            <a:r>
              <a:rPr dirty="0" err="1"/>
              <a:t>канального</a:t>
            </a:r>
            <a:r>
              <a:rPr dirty="0"/>
              <a:t> </a:t>
            </a:r>
            <a:r>
              <a:rPr dirty="0" err="1"/>
              <a:t>уровня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89240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Выбор</a:t>
            </a:r>
            <a:r>
              <a:rPr dirty="0"/>
              <a:t> </a:t>
            </a:r>
            <a:r>
              <a:rPr dirty="0" err="1"/>
              <a:t>маршрута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4E2983-E52E-8E44-CDAC-CDC20869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88824" y="182880"/>
            <a:ext cx="89838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10</a:t>
            </a:r>
            <a:r>
              <a:rPr sz="4800" dirty="0"/>
              <a:t>. </a:t>
            </a:r>
            <a:r>
              <a:rPr sz="4800" dirty="0" err="1"/>
              <a:t>Диагностика</a:t>
            </a:r>
            <a:r>
              <a:rPr sz="4800" dirty="0"/>
              <a:t> </a:t>
            </a:r>
            <a:r>
              <a:rPr sz="4800" dirty="0" err="1"/>
              <a:t>маршрутизации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209368"/>
            <a:ext cx="10972800" cy="49171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IP-</a:t>
            </a:r>
            <a:r>
              <a:rPr dirty="0" err="1"/>
              <a:t>адрес</a:t>
            </a:r>
            <a:r>
              <a:rPr dirty="0"/>
              <a:t> и </a:t>
            </a:r>
            <a:r>
              <a:rPr dirty="0" err="1"/>
              <a:t>маску</a:t>
            </a:r>
            <a:r>
              <a:rPr dirty="0"/>
              <a:t> </a:t>
            </a:r>
            <a:r>
              <a:rPr dirty="0" err="1"/>
              <a:t>отправителя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gateway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конечном</a:t>
            </a:r>
            <a:r>
              <a:rPr dirty="0"/>
              <a:t> </a:t>
            </a:r>
            <a:r>
              <a:rPr dirty="0" err="1"/>
              <a:t>узле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connected routes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маршрутизаторе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Проверить</a:t>
            </a:r>
            <a:r>
              <a:rPr dirty="0"/>
              <a:t> static/default routes.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Использовать</a:t>
            </a:r>
            <a:r>
              <a:rPr dirty="0"/>
              <a:t> ping и traceroute/</a:t>
            </a:r>
            <a:r>
              <a:rPr dirty="0" err="1"/>
              <a:t>tracert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</a:t>
            </a:r>
            <a:r>
              <a:rPr dirty="0" err="1"/>
              <a:t>места</a:t>
            </a:r>
            <a:r>
              <a:rPr dirty="0"/>
              <a:t> </a:t>
            </a:r>
            <a:r>
              <a:rPr dirty="0" err="1"/>
              <a:t>остановки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3E98F-9422-9A3C-63E0-819A88E2C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107B15-677A-A83C-8CBF-4BD43094048B}"/>
              </a:ext>
            </a:extLst>
          </p:cNvPr>
          <p:cNvSpPr txBox="1"/>
          <p:nvPr/>
        </p:nvSpPr>
        <p:spPr>
          <a:xfrm>
            <a:off x="1588824" y="182880"/>
            <a:ext cx="89838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10</a:t>
            </a:r>
            <a:r>
              <a:rPr sz="4800" dirty="0"/>
              <a:t>. </a:t>
            </a:r>
            <a:r>
              <a:rPr sz="4800" dirty="0" err="1"/>
              <a:t>Диагностика</a:t>
            </a:r>
            <a:r>
              <a:rPr sz="4800" dirty="0"/>
              <a:t> </a:t>
            </a:r>
            <a:r>
              <a:rPr sz="4800" dirty="0" err="1"/>
              <a:t>маршрутизации</a:t>
            </a:r>
            <a:endParaRPr sz="4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6934725-AFE1-F07B-3C04-C8B978F95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28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485F9-FAC1-45CD-DF8A-537350B14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0ACBA2-FA62-ED40-D1D0-00430B93D23D}"/>
              </a:ext>
            </a:extLst>
          </p:cNvPr>
          <p:cNvSpPr txBox="1"/>
          <p:nvPr/>
        </p:nvSpPr>
        <p:spPr>
          <a:xfrm>
            <a:off x="1588824" y="182880"/>
            <a:ext cx="8983871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lang="ru-RU" sz="4800" dirty="0"/>
              <a:t>10</a:t>
            </a:r>
            <a:r>
              <a:rPr sz="4800" dirty="0"/>
              <a:t>. </a:t>
            </a:r>
            <a:r>
              <a:rPr sz="4800" dirty="0" err="1"/>
              <a:t>Диагностика</a:t>
            </a:r>
            <a:r>
              <a:rPr sz="4800" dirty="0"/>
              <a:t> </a:t>
            </a:r>
            <a:r>
              <a:rPr sz="4800" dirty="0" err="1"/>
              <a:t>маршрутизации</a:t>
            </a:r>
            <a:endParaRPr sz="4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80AFF9-C281-AC7F-D8ED-980A1AB0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126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Маршрутизация</a:t>
            </a:r>
            <a:r>
              <a:rPr dirty="0"/>
              <a:t> </a:t>
            </a:r>
            <a:r>
              <a:rPr dirty="0" err="1"/>
              <a:t>соединяет</a:t>
            </a:r>
            <a:r>
              <a:rPr dirty="0"/>
              <a:t> </a:t>
            </a:r>
            <a:r>
              <a:rPr dirty="0" err="1"/>
              <a:t>разные</a:t>
            </a:r>
            <a:r>
              <a:rPr dirty="0"/>
              <a:t> IP-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Gateway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конечному</a:t>
            </a:r>
            <a:r>
              <a:rPr dirty="0"/>
              <a:t> </a:t>
            </a:r>
            <a:r>
              <a:rPr dirty="0" err="1"/>
              <a:t>узлу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выхода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пределы</a:t>
            </a:r>
            <a:r>
              <a:rPr dirty="0"/>
              <a:t> </a:t>
            </a:r>
            <a:r>
              <a:rPr dirty="0" err="1"/>
              <a:t>своей</a:t>
            </a:r>
            <a:r>
              <a:rPr dirty="0"/>
              <a:t> </a:t>
            </a:r>
            <a:r>
              <a:rPr dirty="0" err="1"/>
              <a:t>подсети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Connected route </a:t>
            </a:r>
            <a:r>
              <a:rPr dirty="0" err="1"/>
              <a:t>появляется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подключенной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Static route </a:t>
            </a:r>
            <a:r>
              <a:rPr dirty="0" err="1"/>
              <a:t>задается</a:t>
            </a:r>
            <a:r>
              <a:rPr dirty="0"/>
              <a:t> </a:t>
            </a:r>
            <a:r>
              <a:rPr dirty="0" err="1"/>
              <a:t>вручную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Default route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последней</a:t>
            </a:r>
            <a:r>
              <a:rPr dirty="0"/>
              <a:t> </a:t>
            </a:r>
            <a:r>
              <a:rPr dirty="0" err="1"/>
              <a:t>надежды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маршрутизация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gateway?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хранится</a:t>
            </a:r>
            <a:r>
              <a:rPr dirty="0"/>
              <a:t> в routing table?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connected route?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static route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default route?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выбирает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диагностировать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1625</Words>
  <Application>Microsoft Office PowerPoint</Application>
  <PresentationFormat>Широкоэкранный</PresentationFormat>
  <Paragraphs>170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2026-06-29T14:23:08Z</dcterms:modified>
  <cp:category/>
</cp:coreProperties>
</file>