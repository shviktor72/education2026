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310" r:id="rId14"/>
    <p:sldId id="268" r:id="rId15"/>
    <p:sldId id="311" r:id="rId16"/>
    <p:sldId id="269" r:id="rId17"/>
    <p:sldId id="270" r:id="rId18"/>
    <p:sldId id="271" r:id="rId19"/>
    <p:sldId id="272" r:id="rId20"/>
    <p:sldId id="273" r:id="rId21"/>
    <p:sldId id="274" r:id="rId22"/>
    <p:sldId id="309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83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1979" y="182880"/>
            <a:ext cx="11237563" cy="15696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 err="1"/>
              <a:t>Лекция</a:t>
            </a:r>
            <a:r>
              <a:rPr sz="4800" dirty="0"/>
              <a:t> 9. </a:t>
            </a:r>
            <a:endParaRPr lang="ru-RU" sz="4800" dirty="0"/>
          </a:p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 err="1"/>
              <a:t>Комплексная</a:t>
            </a:r>
            <a:r>
              <a:rPr sz="4800" dirty="0"/>
              <a:t> </a:t>
            </a:r>
            <a:r>
              <a:rPr sz="4800" dirty="0" err="1"/>
              <a:t>базовая</a:t>
            </a:r>
            <a:r>
              <a:rPr sz="4800" dirty="0"/>
              <a:t> </a:t>
            </a:r>
            <a:r>
              <a:rPr sz="4800" dirty="0" err="1"/>
              <a:t>сеть</a:t>
            </a:r>
            <a:r>
              <a:rPr sz="4800" dirty="0"/>
              <a:t> и </a:t>
            </a:r>
            <a:r>
              <a:rPr sz="4800" dirty="0" err="1"/>
              <a:t>диагностика</a:t>
            </a:r>
            <a:endParaRPr sz="4800"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2595716"/>
            <a:ext cx="10972800" cy="353076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dirty="0" err="1"/>
              <a:t>Проектирование</a:t>
            </a:r>
            <a:r>
              <a:rPr dirty="0"/>
              <a:t> </a:t>
            </a:r>
            <a:r>
              <a:rPr dirty="0" err="1"/>
              <a:t>небольшой</a:t>
            </a:r>
            <a:r>
              <a:rPr dirty="0"/>
              <a:t> </a:t>
            </a:r>
            <a:r>
              <a:rPr dirty="0" err="1"/>
              <a:t>сети</a:t>
            </a:r>
            <a:endParaRPr dirty="0"/>
          </a:p>
          <a:p>
            <a:pPr>
              <a:defRPr sz="3600"/>
            </a:pPr>
            <a:r>
              <a:rPr dirty="0" err="1"/>
              <a:t>Связь</a:t>
            </a:r>
            <a:r>
              <a:rPr dirty="0"/>
              <a:t> </a:t>
            </a:r>
            <a:r>
              <a:rPr dirty="0" err="1"/>
              <a:t>топологии</a:t>
            </a:r>
            <a:r>
              <a:rPr dirty="0"/>
              <a:t>, </a:t>
            </a:r>
            <a:r>
              <a:rPr dirty="0" err="1"/>
              <a:t>адресации</a:t>
            </a:r>
            <a:r>
              <a:rPr dirty="0"/>
              <a:t>, </a:t>
            </a:r>
            <a:r>
              <a:rPr dirty="0" err="1"/>
              <a:t>маршрутизации</a:t>
            </a:r>
            <a:r>
              <a:rPr dirty="0"/>
              <a:t> и NAT</a:t>
            </a:r>
          </a:p>
          <a:p>
            <a:pPr>
              <a:defRPr sz="3600"/>
            </a:pPr>
            <a:r>
              <a:rPr dirty="0" err="1"/>
              <a:t>Диагностика</a:t>
            </a:r>
            <a:r>
              <a:rPr dirty="0"/>
              <a:t> и </a:t>
            </a:r>
            <a:r>
              <a:rPr dirty="0" err="1"/>
              <a:t>документирование</a:t>
            </a:r>
            <a:r>
              <a:rPr dirty="0"/>
              <a:t> </a:t>
            </a:r>
            <a:r>
              <a:rPr dirty="0" err="1"/>
              <a:t>результата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Цель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199" y="914400"/>
            <a:ext cx="11297265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Научиться</a:t>
            </a:r>
            <a:r>
              <a:rPr dirty="0"/>
              <a:t> </a:t>
            </a:r>
            <a:r>
              <a:rPr dirty="0" err="1"/>
              <a:t>рассматривать</a:t>
            </a:r>
            <a:r>
              <a:rPr dirty="0"/>
              <a:t> </a:t>
            </a:r>
            <a:r>
              <a:rPr dirty="0" err="1"/>
              <a:t>сеть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единую</a:t>
            </a:r>
            <a:r>
              <a:rPr dirty="0"/>
              <a:t> </a:t>
            </a:r>
            <a:r>
              <a:rPr dirty="0" err="1"/>
              <a:t>систему</a:t>
            </a:r>
            <a:r>
              <a:rPr lang="ru-RU" dirty="0"/>
              <a:t>.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Понимать</a:t>
            </a:r>
            <a:r>
              <a:rPr dirty="0"/>
              <a:t> </a:t>
            </a:r>
            <a:r>
              <a:rPr dirty="0" err="1"/>
              <a:t>состав</a:t>
            </a:r>
            <a:r>
              <a:rPr dirty="0"/>
              <a:t> </a:t>
            </a:r>
            <a:r>
              <a:rPr dirty="0" err="1"/>
              <a:t>базовой</a:t>
            </a:r>
            <a:r>
              <a:rPr dirty="0"/>
              <a:t> </a:t>
            </a:r>
            <a:r>
              <a:rPr dirty="0" err="1"/>
              <a:t>сети</a:t>
            </a:r>
            <a:r>
              <a:rPr dirty="0"/>
              <a:t> и </a:t>
            </a:r>
            <a:r>
              <a:rPr dirty="0" err="1"/>
              <a:t>назначение</a:t>
            </a:r>
            <a:r>
              <a:rPr dirty="0"/>
              <a:t> </a:t>
            </a:r>
            <a:r>
              <a:rPr dirty="0" err="1"/>
              <a:t>ее</a:t>
            </a:r>
            <a:r>
              <a:rPr dirty="0"/>
              <a:t> </a:t>
            </a:r>
            <a:r>
              <a:rPr dirty="0" err="1"/>
              <a:t>компонентов</a:t>
            </a:r>
            <a:r>
              <a:rPr lang="ru-RU" dirty="0"/>
              <a:t>.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Уметь</a:t>
            </a:r>
            <a:r>
              <a:rPr dirty="0"/>
              <a:t> </a:t>
            </a:r>
            <a:r>
              <a:rPr dirty="0" err="1"/>
              <a:t>объяснять</a:t>
            </a:r>
            <a:r>
              <a:rPr dirty="0"/>
              <a:t> </a:t>
            </a:r>
            <a:r>
              <a:rPr dirty="0" err="1"/>
              <a:t>связь</a:t>
            </a:r>
            <a:r>
              <a:rPr dirty="0"/>
              <a:t> </a:t>
            </a:r>
            <a:r>
              <a:rPr dirty="0" err="1"/>
              <a:t>адресации</a:t>
            </a:r>
            <a:r>
              <a:rPr dirty="0"/>
              <a:t>, gateway, </a:t>
            </a:r>
            <a:r>
              <a:rPr dirty="0" err="1"/>
              <a:t>маршрутизации</a:t>
            </a:r>
            <a:r>
              <a:rPr dirty="0"/>
              <a:t> и NAT</a:t>
            </a:r>
            <a:r>
              <a:rPr lang="ru-RU" dirty="0"/>
              <a:t>.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Знать</a:t>
            </a:r>
            <a:r>
              <a:rPr dirty="0"/>
              <a:t> </a:t>
            </a:r>
            <a:r>
              <a:rPr dirty="0" err="1"/>
              <a:t>последовательность</a:t>
            </a:r>
            <a:r>
              <a:rPr dirty="0"/>
              <a:t> </a:t>
            </a:r>
            <a:r>
              <a:rPr dirty="0" err="1"/>
              <a:t>диагностики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уровням</a:t>
            </a:r>
            <a:r>
              <a:rPr lang="ru-RU" dirty="0"/>
              <a:t>.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Понимать</a:t>
            </a:r>
            <a:r>
              <a:rPr dirty="0"/>
              <a:t>,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оформлять</a:t>
            </a:r>
            <a:r>
              <a:rPr dirty="0"/>
              <a:t> </a:t>
            </a:r>
            <a:r>
              <a:rPr dirty="0" err="1"/>
              <a:t>схему</a:t>
            </a:r>
            <a:r>
              <a:rPr dirty="0"/>
              <a:t>, </a:t>
            </a:r>
            <a:r>
              <a:rPr dirty="0" err="1"/>
              <a:t>адресный</a:t>
            </a:r>
            <a:r>
              <a:rPr dirty="0"/>
              <a:t> </a:t>
            </a:r>
            <a:r>
              <a:rPr dirty="0" err="1"/>
              <a:t>план</a:t>
            </a:r>
            <a:r>
              <a:rPr dirty="0"/>
              <a:t> и </a:t>
            </a:r>
            <a:r>
              <a:rPr dirty="0" err="1"/>
              <a:t>результаты</a:t>
            </a:r>
            <a:r>
              <a:rPr dirty="0"/>
              <a:t> </a:t>
            </a:r>
            <a:r>
              <a:rPr dirty="0" err="1"/>
              <a:t>проверки</a:t>
            </a:r>
            <a:r>
              <a:rPr lang="ru-RU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Список учебных вопросов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>
              <a:defRPr sz="3600"/>
            </a:pPr>
            <a:r>
              <a:rPr dirty="0"/>
              <a:t>1. </a:t>
            </a:r>
            <a:r>
              <a:rPr dirty="0" err="1"/>
              <a:t>Состав</a:t>
            </a:r>
            <a:r>
              <a:rPr dirty="0"/>
              <a:t> </a:t>
            </a:r>
            <a:r>
              <a:rPr sz="3200" dirty="0" err="1"/>
              <a:t>базовой</a:t>
            </a:r>
            <a:r>
              <a:rPr sz="3200" dirty="0"/>
              <a:t> </a:t>
            </a:r>
            <a:r>
              <a:rPr sz="3200" dirty="0" err="1"/>
              <a:t>сети</a:t>
            </a:r>
            <a:r>
              <a:rPr sz="3200" dirty="0"/>
              <a:t>: </a:t>
            </a:r>
            <a:r>
              <a:rPr sz="3200" dirty="0" err="1"/>
              <a:t>клиенты</a:t>
            </a:r>
            <a:r>
              <a:rPr sz="3200" dirty="0"/>
              <a:t>, </a:t>
            </a:r>
            <a:r>
              <a:rPr sz="3200" dirty="0" err="1"/>
              <a:t>сервер</a:t>
            </a:r>
            <a:r>
              <a:rPr sz="3200" dirty="0"/>
              <a:t>, switch, router, </a:t>
            </a:r>
            <a:r>
              <a:rPr sz="3200" dirty="0" err="1"/>
              <a:t>адресный</a:t>
            </a:r>
            <a:r>
              <a:rPr sz="3200" dirty="0"/>
              <a:t> </a:t>
            </a:r>
            <a:r>
              <a:rPr sz="3200" dirty="0" err="1"/>
              <a:t>план</a:t>
            </a:r>
            <a:r>
              <a:rPr sz="3200" dirty="0"/>
              <a:t>.</a:t>
            </a:r>
          </a:p>
          <a:p>
            <a:pPr>
              <a:defRPr sz="3600"/>
            </a:pPr>
            <a:r>
              <a:rPr sz="3200" dirty="0"/>
              <a:t>2. </a:t>
            </a:r>
            <a:r>
              <a:rPr sz="3200" dirty="0" err="1"/>
              <a:t>Физическая</a:t>
            </a:r>
            <a:r>
              <a:rPr sz="3200" dirty="0"/>
              <a:t> и </a:t>
            </a:r>
            <a:r>
              <a:rPr sz="3200" dirty="0" err="1"/>
              <a:t>логическая</a:t>
            </a:r>
            <a:r>
              <a:rPr sz="3200" dirty="0"/>
              <a:t> </a:t>
            </a:r>
            <a:r>
              <a:rPr sz="3200" dirty="0" err="1"/>
              <a:t>топология</a:t>
            </a:r>
            <a:r>
              <a:rPr sz="3200" dirty="0"/>
              <a:t>.</a:t>
            </a:r>
          </a:p>
          <a:p>
            <a:pPr>
              <a:defRPr sz="3600"/>
            </a:pPr>
            <a:r>
              <a:rPr sz="3200" dirty="0"/>
              <a:t>3. </a:t>
            </a:r>
            <a:r>
              <a:rPr sz="3200" dirty="0" err="1"/>
              <a:t>Последовательность</a:t>
            </a:r>
            <a:r>
              <a:rPr sz="3200" dirty="0"/>
              <a:t> </a:t>
            </a:r>
            <a:r>
              <a:rPr sz="3200" dirty="0" err="1"/>
              <a:t>проектирования</a:t>
            </a:r>
            <a:r>
              <a:rPr sz="3200" dirty="0"/>
              <a:t> </a:t>
            </a:r>
            <a:r>
              <a:rPr sz="3200" dirty="0" err="1"/>
              <a:t>небольшой</a:t>
            </a:r>
            <a:r>
              <a:rPr sz="3200" dirty="0"/>
              <a:t> </a:t>
            </a:r>
            <a:r>
              <a:rPr sz="3200" dirty="0" err="1"/>
              <a:t>сети</a:t>
            </a:r>
            <a:r>
              <a:rPr sz="3200" dirty="0"/>
              <a:t>.</a:t>
            </a:r>
          </a:p>
          <a:p>
            <a:pPr>
              <a:defRPr sz="3600"/>
            </a:pPr>
            <a:r>
              <a:rPr sz="3200" dirty="0"/>
              <a:t>4. </a:t>
            </a:r>
            <a:r>
              <a:rPr sz="3200" dirty="0" err="1"/>
              <a:t>Связь</a:t>
            </a:r>
            <a:r>
              <a:rPr sz="3200" dirty="0"/>
              <a:t> </a:t>
            </a:r>
            <a:r>
              <a:rPr sz="3200" dirty="0" err="1"/>
              <a:t>адресации</a:t>
            </a:r>
            <a:r>
              <a:rPr sz="3200" dirty="0"/>
              <a:t>, gateway, </a:t>
            </a:r>
            <a:r>
              <a:rPr sz="3200" dirty="0" err="1"/>
              <a:t>маршрутизации</a:t>
            </a:r>
            <a:r>
              <a:rPr sz="3200" dirty="0"/>
              <a:t> и NAT.</a:t>
            </a:r>
          </a:p>
          <a:p>
            <a:pPr>
              <a:defRPr sz="3600"/>
            </a:pPr>
            <a:r>
              <a:rPr sz="3200" dirty="0"/>
              <a:t>5. </a:t>
            </a:r>
            <a:r>
              <a:rPr sz="3200" dirty="0" err="1"/>
              <a:t>Последовательность</a:t>
            </a:r>
            <a:r>
              <a:rPr sz="3200" dirty="0"/>
              <a:t> </a:t>
            </a:r>
            <a:r>
              <a:rPr sz="3200" dirty="0" err="1"/>
              <a:t>базовой</a:t>
            </a:r>
            <a:r>
              <a:rPr sz="3200" dirty="0"/>
              <a:t> </a:t>
            </a:r>
            <a:r>
              <a:rPr sz="3200" dirty="0" err="1"/>
              <a:t>диагностики</a:t>
            </a:r>
            <a:r>
              <a:rPr sz="3200" dirty="0"/>
              <a:t> </a:t>
            </a:r>
            <a:r>
              <a:rPr sz="3200" dirty="0" err="1"/>
              <a:t>по</a:t>
            </a:r>
            <a:r>
              <a:rPr sz="3200" dirty="0"/>
              <a:t> </a:t>
            </a:r>
            <a:r>
              <a:rPr sz="3200" dirty="0" err="1"/>
              <a:t>уровням</a:t>
            </a:r>
            <a:r>
              <a:rPr sz="3200" dirty="0"/>
              <a:t>.</a:t>
            </a:r>
          </a:p>
          <a:p>
            <a:pPr>
              <a:defRPr sz="3600"/>
            </a:pPr>
            <a:r>
              <a:rPr sz="3200" dirty="0"/>
              <a:t>6. </a:t>
            </a:r>
            <a:r>
              <a:rPr sz="3200" dirty="0" err="1"/>
              <a:t>Проверка</a:t>
            </a:r>
            <a:r>
              <a:rPr sz="3200" dirty="0"/>
              <a:t> </a:t>
            </a:r>
            <a:r>
              <a:rPr sz="3200" dirty="0" err="1"/>
              <a:t>физического</a:t>
            </a:r>
            <a:r>
              <a:rPr sz="3200" dirty="0"/>
              <a:t> </a:t>
            </a:r>
            <a:r>
              <a:rPr sz="3200" dirty="0" err="1"/>
              <a:t>уровня</a:t>
            </a:r>
            <a:r>
              <a:rPr sz="3200" dirty="0"/>
              <a:t>.</a:t>
            </a:r>
          </a:p>
          <a:p>
            <a:pPr>
              <a:defRPr sz="3600"/>
            </a:pPr>
            <a:r>
              <a:rPr sz="3200" dirty="0"/>
              <a:t>7. </a:t>
            </a:r>
            <a:r>
              <a:rPr sz="3200" dirty="0" err="1"/>
              <a:t>Проверка</a:t>
            </a:r>
            <a:r>
              <a:rPr sz="3200" dirty="0"/>
              <a:t> </a:t>
            </a:r>
            <a:r>
              <a:rPr sz="3200" dirty="0" err="1"/>
              <a:t>канального</a:t>
            </a:r>
            <a:r>
              <a:rPr sz="3200" dirty="0"/>
              <a:t> </a:t>
            </a:r>
            <a:r>
              <a:rPr sz="3200" dirty="0" err="1"/>
              <a:t>уровня</a:t>
            </a:r>
            <a:r>
              <a:rPr sz="3200" dirty="0"/>
              <a:t>.</a:t>
            </a:r>
          </a:p>
          <a:p>
            <a:pPr>
              <a:defRPr sz="3600"/>
            </a:pPr>
            <a:r>
              <a:rPr sz="3200" dirty="0"/>
              <a:t>8. </a:t>
            </a:r>
            <a:r>
              <a:rPr sz="3200" dirty="0" err="1"/>
              <a:t>Проверка</a:t>
            </a:r>
            <a:r>
              <a:rPr sz="3200" dirty="0"/>
              <a:t> </a:t>
            </a:r>
            <a:r>
              <a:rPr sz="3200" dirty="0" err="1"/>
              <a:t>сетевого</a:t>
            </a:r>
            <a:r>
              <a:rPr sz="3200" dirty="0"/>
              <a:t> и </a:t>
            </a:r>
            <a:r>
              <a:rPr sz="3200" dirty="0" err="1"/>
              <a:t>транспортного</a:t>
            </a:r>
            <a:r>
              <a:rPr sz="3200" dirty="0"/>
              <a:t> </a:t>
            </a:r>
            <a:r>
              <a:rPr sz="3200" dirty="0" err="1"/>
              <a:t>уровней</a:t>
            </a:r>
            <a:r>
              <a:rPr sz="3200" dirty="0"/>
              <a:t>.</a:t>
            </a:r>
          </a:p>
          <a:p>
            <a:pPr>
              <a:defRPr sz="3600"/>
            </a:pPr>
            <a:r>
              <a:rPr sz="3200" dirty="0"/>
              <a:t>9. </a:t>
            </a:r>
            <a:r>
              <a:rPr sz="3200" dirty="0" err="1"/>
              <a:t>Документирование</a:t>
            </a:r>
            <a:r>
              <a:rPr sz="3200" dirty="0"/>
              <a:t> </a:t>
            </a:r>
            <a:r>
              <a:rPr sz="3200" dirty="0" err="1"/>
              <a:t>схемы</a:t>
            </a:r>
            <a:r>
              <a:rPr sz="3200" dirty="0"/>
              <a:t>, </a:t>
            </a:r>
            <a:r>
              <a:rPr sz="3200" dirty="0" err="1"/>
              <a:t>адресов</a:t>
            </a:r>
            <a:r>
              <a:rPr sz="3200" dirty="0"/>
              <a:t>, </a:t>
            </a:r>
            <a:r>
              <a:rPr sz="3200" dirty="0" err="1"/>
              <a:t>маршрутов</a:t>
            </a:r>
            <a:r>
              <a:rPr sz="3200" dirty="0"/>
              <a:t> и </a:t>
            </a:r>
            <a:r>
              <a:rPr sz="3200" dirty="0" err="1"/>
              <a:t>результатов</a:t>
            </a:r>
            <a:r>
              <a:rPr sz="3200" dirty="0"/>
              <a:t> </a:t>
            </a:r>
            <a:r>
              <a:rPr sz="3200" dirty="0" err="1"/>
              <a:t>проверки</a:t>
            </a:r>
            <a:r>
              <a:rPr sz="3200"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82732" y="182880"/>
            <a:ext cx="6196055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/>
              <a:t>1. </a:t>
            </a:r>
            <a:r>
              <a:rPr sz="4800" dirty="0" err="1"/>
              <a:t>Состав</a:t>
            </a:r>
            <a:r>
              <a:rPr sz="4800" dirty="0"/>
              <a:t> </a:t>
            </a:r>
            <a:r>
              <a:rPr sz="4800" dirty="0" err="1"/>
              <a:t>базовой</a:t>
            </a:r>
            <a:r>
              <a:rPr sz="4800" dirty="0"/>
              <a:t> </a:t>
            </a:r>
            <a:r>
              <a:rPr sz="4800" dirty="0" err="1"/>
              <a:t>сети</a:t>
            </a:r>
            <a:endParaRPr sz="4800"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indent="354013">
              <a:defRPr sz="3600"/>
            </a:pPr>
            <a:r>
              <a:rPr dirty="0" err="1"/>
              <a:t>Базовая</a:t>
            </a:r>
            <a:r>
              <a:rPr dirty="0"/>
              <a:t> </a:t>
            </a:r>
            <a:r>
              <a:rPr dirty="0" err="1"/>
              <a:t>сеть</a:t>
            </a:r>
            <a:r>
              <a:rPr dirty="0"/>
              <a:t> </a:t>
            </a:r>
            <a:r>
              <a:rPr dirty="0" err="1"/>
              <a:t>состоит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конечных</a:t>
            </a:r>
            <a:r>
              <a:rPr dirty="0"/>
              <a:t> </a:t>
            </a:r>
            <a:r>
              <a:rPr dirty="0" err="1"/>
              <a:t>устройств</a:t>
            </a:r>
            <a:r>
              <a:rPr dirty="0"/>
              <a:t>, </a:t>
            </a:r>
            <a:r>
              <a:rPr dirty="0" err="1"/>
              <a:t>сетевых</a:t>
            </a:r>
            <a:r>
              <a:rPr dirty="0"/>
              <a:t> </a:t>
            </a:r>
            <a:r>
              <a:rPr dirty="0" err="1"/>
              <a:t>устройств</a:t>
            </a:r>
            <a:r>
              <a:rPr dirty="0"/>
              <a:t> и </a:t>
            </a:r>
            <a:r>
              <a:rPr dirty="0" err="1"/>
              <a:t>служб</a:t>
            </a:r>
            <a:r>
              <a:rPr lang="ru-RU" dirty="0"/>
              <a:t>.</a:t>
            </a:r>
            <a:endParaRPr dirty="0"/>
          </a:p>
          <a:p>
            <a:pPr indent="354013">
              <a:defRPr sz="3600"/>
            </a:pPr>
            <a:r>
              <a:rPr dirty="0" err="1"/>
              <a:t>Клиенты</a:t>
            </a:r>
            <a:r>
              <a:rPr dirty="0"/>
              <a:t> </a:t>
            </a:r>
            <a:r>
              <a:rPr dirty="0" err="1"/>
              <a:t>используют</a:t>
            </a:r>
            <a:r>
              <a:rPr dirty="0"/>
              <a:t> </a:t>
            </a:r>
            <a:r>
              <a:rPr dirty="0" err="1"/>
              <a:t>сеть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доступа</a:t>
            </a:r>
            <a:r>
              <a:rPr dirty="0"/>
              <a:t> к </a:t>
            </a:r>
            <a:r>
              <a:rPr dirty="0" err="1"/>
              <a:t>приложениям</a:t>
            </a:r>
            <a:r>
              <a:rPr dirty="0"/>
              <a:t> и </a:t>
            </a:r>
            <a:r>
              <a:rPr dirty="0" err="1"/>
              <a:t>данным</a:t>
            </a:r>
            <a:r>
              <a:rPr lang="ru-RU" dirty="0"/>
              <a:t>.</a:t>
            </a:r>
            <a:endParaRPr dirty="0"/>
          </a:p>
          <a:p>
            <a:pPr indent="354013">
              <a:defRPr sz="3600"/>
            </a:pPr>
            <a:r>
              <a:rPr dirty="0" err="1"/>
              <a:t>Серверы</a:t>
            </a:r>
            <a:r>
              <a:rPr dirty="0"/>
              <a:t> </a:t>
            </a:r>
            <a:r>
              <a:rPr dirty="0" err="1"/>
              <a:t>предоставляют</a:t>
            </a:r>
            <a:r>
              <a:rPr dirty="0"/>
              <a:t> </a:t>
            </a:r>
            <a:r>
              <a:rPr dirty="0" err="1"/>
              <a:t>службы</a:t>
            </a:r>
            <a:r>
              <a:rPr dirty="0"/>
              <a:t> </a:t>
            </a:r>
            <a:r>
              <a:rPr dirty="0" err="1"/>
              <a:t>пользователям</a:t>
            </a:r>
            <a:r>
              <a:rPr dirty="0"/>
              <a:t> и </a:t>
            </a:r>
            <a:r>
              <a:rPr dirty="0" err="1"/>
              <a:t>другим</a:t>
            </a:r>
            <a:r>
              <a:rPr dirty="0"/>
              <a:t> </a:t>
            </a:r>
            <a:r>
              <a:rPr dirty="0" err="1"/>
              <a:t>системам</a:t>
            </a:r>
            <a:r>
              <a:rPr lang="ru-RU" dirty="0"/>
              <a:t>.</a:t>
            </a:r>
            <a:endParaRPr dirty="0"/>
          </a:p>
          <a:p>
            <a:pPr indent="354013">
              <a:defRPr sz="3600"/>
            </a:pPr>
            <a:r>
              <a:rPr dirty="0"/>
              <a:t>Switch </a:t>
            </a:r>
            <a:r>
              <a:rPr dirty="0" err="1"/>
              <a:t>объединяет</a:t>
            </a:r>
            <a:r>
              <a:rPr dirty="0"/>
              <a:t> </a:t>
            </a:r>
            <a:r>
              <a:rPr dirty="0" err="1"/>
              <a:t>устройства</a:t>
            </a:r>
            <a:r>
              <a:rPr dirty="0"/>
              <a:t> </a:t>
            </a:r>
            <a:r>
              <a:rPr dirty="0" err="1"/>
              <a:t>внутри</a:t>
            </a:r>
            <a:r>
              <a:rPr dirty="0"/>
              <a:t> </a:t>
            </a:r>
            <a:r>
              <a:rPr dirty="0" err="1"/>
              <a:t>локального</a:t>
            </a:r>
            <a:r>
              <a:rPr dirty="0"/>
              <a:t> </a:t>
            </a:r>
            <a:r>
              <a:rPr dirty="0" err="1"/>
              <a:t>сегмента</a:t>
            </a:r>
            <a:r>
              <a:rPr lang="ru-RU" dirty="0"/>
              <a:t>.</a:t>
            </a:r>
            <a:endParaRPr dirty="0"/>
          </a:p>
          <a:p>
            <a:pPr indent="354013">
              <a:defRPr sz="3600"/>
            </a:pPr>
            <a:r>
              <a:rPr dirty="0"/>
              <a:t>Router </a:t>
            </a:r>
            <a:r>
              <a:rPr dirty="0" err="1"/>
              <a:t>связывает</a:t>
            </a:r>
            <a:r>
              <a:rPr dirty="0"/>
              <a:t> </a:t>
            </a:r>
            <a:r>
              <a:rPr dirty="0" err="1"/>
              <a:t>разные</a:t>
            </a:r>
            <a:r>
              <a:rPr dirty="0"/>
              <a:t> </a:t>
            </a:r>
            <a:r>
              <a:rPr dirty="0" err="1"/>
              <a:t>сети</a:t>
            </a:r>
            <a:r>
              <a:rPr dirty="0"/>
              <a:t> и </a:t>
            </a:r>
            <a:r>
              <a:rPr dirty="0" err="1"/>
              <a:t>передает</a:t>
            </a:r>
            <a:r>
              <a:rPr dirty="0"/>
              <a:t> </a:t>
            </a:r>
            <a:r>
              <a:rPr dirty="0" err="1"/>
              <a:t>трафик</a:t>
            </a:r>
            <a:r>
              <a:rPr dirty="0"/>
              <a:t> </a:t>
            </a:r>
            <a:r>
              <a:rPr dirty="0" err="1"/>
              <a:t>между</a:t>
            </a:r>
            <a:r>
              <a:rPr dirty="0"/>
              <a:t> </a:t>
            </a:r>
            <a:r>
              <a:rPr dirty="0" err="1"/>
              <a:t>ними</a:t>
            </a:r>
            <a:r>
              <a:rPr lang="ru-RU" dirty="0"/>
              <a:t>.</a:t>
            </a:r>
            <a:endParaRPr dirty="0"/>
          </a:p>
          <a:p>
            <a:pPr indent="354013">
              <a:defRPr sz="3600"/>
            </a:pPr>
            <a:r>
              <a:rPr dirty="0" err="1"/>
              <a:t>Адресный</a:t>
            </a:r>
            <a:r>
              <a:rPr dirty="0"/>
              <a:t> </a:t>
            </a:r>
            <a:r>
              <a:rPr dirty="0" err="1"/>
              <a:t>план</a:t>
            </a:r>
            <a:r>
              <a:rPr dirty="0"/>
              <a:t> </a:t>
            </a:r>
            <a:r>
              <a:rPr dirty="0" err="1"/>
              <a:t>фиксирует</a:t>
            </a:r>
            <a:r>
              <a:rPr dirty="0"/>
              <a:t>, </a:t>
            </a:r>
            <a:r>
              <a:rPr dirty="0" err="1"/>
              <a:t>какие</a:t>
            </a:r>
            <a:r>
              <a:rPr dirty="0"/>
              <a:t> IP-</a:t>
            </a:r>
            <a:r>
              <a:rPr dirty="0" err="1"/>
              <a:t>адреса</a:t>
            </a:r>
            <a:r>
              <a:rPr dirty="0"/>
              <a:t> и </a:t>
            </a:r>
            <a:r>
              <a:rPr dirty="0" err="1"/>
              <a:t>подсети</a:t>
            </a:r>
            <a:r>
              <a:rPr dirty="0"/>
              <a:t> </a:t>
            </a:r>
            <a:r>
              <a:rPr dirty="0" err="1"/>
              <a:t>используются</a:t>
            </a:r>
            <a:r>
              <a:rPr lang="ru-RU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Клиенты в базовой сети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67768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Клиент</a:t>
            </a:r>
            <a:r>
              <a:rPr dirty="0"/>
              <a:t> - </a:t>
            </a:r>
            <a:r>
              <a:rPr dirty="0" err="1"/>
              <a:t>устройство</a:t>
            </a:r>
            <a:r>
              <a:rPr dirty="0"/>
              <a:t> </a:t>
            </a:r>
            <a:r>
              <a:rPr dirty="0" err="1"/>
              <a:t>пользователя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рабочая</a:t>
            </a:r>
            <a:r>
              <a:rPr dirty="0"/>
              <a:t> </a:t>
            </a:r>
            <a:r>
              <a:rPr dirty="0" err="1"/>
              <a:t>станция</a:t>
            </a:r>
            <a:r>
              <a:rPr lang="ru-RU" dirty="0"/>
              <a:t>.</a:t>
            </a:r>
            <a:endParaRPr dirty="0"/>
          </a:p>
          <a:p>
            <a:pPr indent="354013">
              <a:defRPr sz="3600"/>
            </a:pPr>
            <a:r>
              <a:rPr dirty="0" err="1"/>
              <a:t>Клиент</a:t>
            </a:r>
            <a:r>
              <a:rPr dirty="0"/>
              <a:t> </a:t>
            </a:r>
            <a:r>
              <a:rPr dirty="0" err="1"/>
              <a:t>получает</a:t>
            </a:r>
            <a:r>
              <a:rPr dirty="0"/>
              <a:t> IP-</a:t>
            </a:r>
            <a:r>
              <a:rPr dirty="0" err="1"/>
              <a:t>параметры</a:t>
            </a:r>
            <a:r>
              <a:rPr dirty="0"/>
              <a:t> </a:t>
            </a:r>
            <a:r>
              <a:rPr dirty="0" err="1"/>
              <a:t>вручную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DHCP</a:t>
            </a:r>
            <a:r>
              <a:rPr lang="ru-RU" dirty="0"/>
              <a:t>.</a:t>
            </a:r>
            <a:endParaRPr dirty="0"/>
          </a:p>
          <a:p>
            <a:pPr indent="354013">
              <a:defRPr sz="3600"/>
            </a:pPr>
            <a:r>
              <a:rPr dirty="0" err="1"/>
              <a:t>Клиент</a:t>
            </a:r>
            <a:r>
              <a:rPr dirty="0"/>
              <a:t> </a:t>
            </a:r>
            <a:r>
              <a:rPr dirty="0" err="1"/>
              <a:t>обращается</a:t>
            </a:r>
            <a:r>
              <a:rPr dirty="0"/>
              <a:t> к </a:t>
            </a:r>
            <a:r>
              <a:rPr dirty="0" err="1"/>
              <a:t>серверу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имени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IP-</a:t>
            </a:r>
            <a:r>
              <a:rPr dirty="0" err="1"/>
              <a:t>адресу</a:t>
            </a:r>
            <a:r>
              <a:rPr lang="ru-RU" dirty="0"/>
              <a:t>.</a:t>
            </a:r>
            <a:endParaRPr dirty="0"/>
          </a:p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доступа</a:t>
            </a:r>
            <a:r>
              <a:rPr dirty="0"/>
              <a:t> к </a:t>
            </a:r>
            <a:r>
              <a:rPr dirty="0" err="1"/>
              <a:t>внешним</a:t>
            </a:r>
            <a:r>
              <a:rPr dirty="0"/>
              <a:t> </a:t>
            </a:r>
            <a:r>
              <a:rPr dirty="0" err="1"/>
              <a:t>сетям</a:t>
            </a:r>
            <a:r>
              <a:rPr dirty="0"/>
              <a:t> </a:t>
            </a:r>
            <a:r>
              <a:rPr dirty="0" err="1"/>
              <a:t>клиент</a:t>
            </a:r>
            <a:r>
              <a:rPr dirty="0"/>
              <a:t> </a:t>
            </a:r>
            <a:r>
              <a:rPr dirty="0" err="1"/>
              <a:t>использует</a:t>
            </a:r>
            <a:r>
              <a:rPr dirty="0"/>
              <a:t> default gateway</a:t>
            </a:r>
            <a:r>
              <a:rPr lang="ru-RU" dirty="0"/>
              <a:t>.</a:t>
            </a:r>
            <a:endParaRPr dirty="0"/>
          </a:p>
          <a:p>
            <a:pPr indent="354013">
              <a:defRPr sz="3600"/>
            </a:pPr>
            <a:r>
              <a:rPr dirty="0"/>
              <a:t>Типовые </a:t>
            </a:r>
            <a:r>
              <a:rPr dirty="0" err="1"/>
              <a:t>клиенты</a:t>
            </a:r>
            <a:r>
              <a:rPr dirty="0"/>
              <a:t>: Windows PC, Linux workstation, </a:t>
            </a:r>
            <a:r>
              <a:rPr dirty="0" err="1"/>
              <a:t>ноутбук</a:t>
            </a:r>
            <a:r>
              <a:rPr dirty="0"/>
              <a:t>, IP-</a:t>
            </a:r>
            <a:r>
              <a:rPr dirty="0" err="1"/>
              <a:t>телефон</a:t>
            </a:r>
            <a:r>
              <a:rPr lang="ru-RU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Серверы в базовой сети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Сервер</a:t>
            </a:r>
            <a:r>
              <a:rPr dirty="0"/>
              <a:t> - </a:t>
            </a:r>
            <a:r>
              <a:rPr dirty="0" err="1"/>
              <a:t>устройство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ВМ, </a:t>
            </a:r>
            <a:r>
              <a:rPr dirty="0" err="1"/>
              <a:t>предоставляющее</a:t>
            </a:r>
            <a:r>
              <a:rPr dirty="0"/>
              <a:t> </a:t>
            </a:r>
            <a:r>
              <a:rPr dirty="0" err="1"/>
              <a:t>сетевую</a:t>
            </a:r>
            <a:r>
              <a:rPr dirty="0"/>
              <a:t> </a:t>
            </a:r>
            <a:r>
              <a:rPr dirty="0" err="1"/>
              <a:t>службу</a:t>
            </a:r>
            <a:r>
              <a:rPr lang="ru-RU" dirty="0"/>
              <a:t>.</a:t>
            </a:r>
            <a:endParaRPr dirty="0"/>
          </a:p>
          <a:p>
            <a:pPr indent="354013">
              <a:defRPr sz="3600"/>
            </a:pPr>
            <a:r>
              <a:rPr dirty="0"/>
              <a:t>ВМ - </a:t>
            </a:r>
            <a:r>
              <a:rPr dirty="0" err="1"/>
              <a:t>виртуальная</a:t>
            </a:r>
            <a:r>
              <a:rPr dirty="0"/>
              <a:t> </a:t>
            </a:r>
            <a:r>
              <a:rPr dirty="0" err="1"/>
              <a:t>машина</a:t>
            </a:r>
            <a:r>
              <a:rPr dirty="0"/>
              <a:t>, </a:t>
            </a:r>
            <a:r>
              <a:rPr dirty="0" err="1"/>
              <a:t>программная</a:t>
            </a:r>
            <a:r>
              <a:rPr dirty="0"/>
              <a:t> </a:t>
            </a:r>
            <a:r>
              <a:rPr dirty="0" err="1"/>
              <a:t>имитация</a:t>
            </a:r>
            <a:r>
              <a:rPr dirty="0"/>
              <a:t> </a:t>
            </a:r>
            <a:r>
              <a:rPr dirty="0" err="1"/>
              <a:t>отдельного</a:t>
            </a:r>
            <a:r>
              <a:rPr dirty="0"/>
              <a:t> </a:t>
            </a:r>
            <a:r>
              <a:rPr dirty="0" err="1"/>
              <a:t>компьютера</a:t>
            </a:r>
            <a:r>
              <a:rPr lang="ru-RU" dirty="0"/>
              <a:t>.</a:t>
            </a:r>
            <a:endParaRPr dirty="0"/>
          </a:p>
          <a:p>
            <a:pPr indent="354013">
              <a:defRPr sz="3600"/>
            </a:pPr>
            <a:r>
              <a:rPr dirty="0" err="1"/>
              <a:t>Сервер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выполнять</a:t>
            </a:r>
            <a:r>
              <a:rPr dirty="0"/>
              <a:t> </a:t>
            </a:r>
            <a:r>
              <a:rPr dirty="0" err="1"/>
              <a:t>роль</a:t>
            </a:r>
            <a:r>
              <a:rPr dirty="0"/>
              <a:t> DNS, DHCP, web, file </a:t>
            </a:r>
            <a:r>
              <a:rPr dirty="0" err="1"/>
              <a:t>или</a:t>
            </a:r>
            <a:r>
              <a:rPr dirty="0"/>
              <a:t> authentication server</a:t>
            </a:r>
            <a:r>
              <a:rPr lang="ru-RU" dirty="0"/>
              <a:t>.</a:t>
            </a:r>
            <a:endParaRPr dirty="0"/>
          </a:p>
          <a:p>
            <a:pPr indent="354013">
              <a:defRPr sz="3600"/>
            </a:pPr>
            <a:r>
              <a:rPr dirty="0" err="1"/>
              <a:t>Серверу</a:t>
            </a:r>
            <a:r>
              <a:rPr dirty="0"/>
              <a:t> </a:t>
            </a:r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назначают</a:t>
            </a:r>
            <a:r>
              <a:rPr dirty="0"/>
              <a:t> </a:t>
            </a:r>
            <a:r>
              <a:rPr dirty="0" err="1"/>
              <a:t>постоянный</a:t>
            </a:r>
            <a:r>
              <a:rPr dirty="0"/>
              <a:t> IP-</a:t>
            </a:r>
            <a:r>
              <a:rPr dirty="0" err="1"/>
              <a:t>адрес</a:t>
            </a:r>
            <a:r>
              <a:rPr lang="ru-RU" dirty="0"/>
              <a:t>.</a:t>
            </a:r>
            <a:endParaRPr dirty="0"/>
          </a:p>
          <a:p>
            <a:pPr indent="354013">
              <a:defRPr sz="3600"/>
            </a:pPr>
            <a:r>
              <a:rPr dirty="0" err="1"/>
              <a:t>Службы</a:t>
            </a:r>
            <a:r>
              <a:rPr dirty="0"/>
              <a:t> </a:t>
            </a:r>
            <a:r>
              <a:rPr dirty="0" err="1"/>
              <a:t>сервера</a:t>
            </a:r>
            <a:r>
              <a:rPr dirty="0"/>
              <a:t> </a:t>
            </a:r>
            <a:r>
              <a:rPr dirty="0" err="1"/>
              <a:t>должны</a:t>
            </a:r>
            <a:r>
              <a:rPr dirty="0"/>
              <a:t> </a:t>
            </a:r>
            <a:r>
              <a:rPr dirty="0" err="1"/>
              <a:t>быть</a:t>
            </a:r>
            <a:r>
              <a:rPr dirty="0"/>
              <a:t> </a:t>
            </a:r>
            <a:r>
              <a:rPr dirty="0" err="1"/>
              <a:t>доступны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нужных</a:t>
            </a:r>
            <a:r>
              <a:rPr dirty="0"/>
              <a:t> TCP/UDP-</a:t>
            </a:r>
            <a:r>
              <a:rPr dirty="0" err="1"/>
              <a:t>портах</a:t>
            </a:r>
            <a:r>
              <a:rPr lang="ru-RU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Коммутатор в базовой сети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/>
              <a:t>Switch - </a:t>
            </a:r>
            <a:r>
              <a:rPr dirty="0" err="1"/>
              <a:t>коммутатор</a:t>
            </a:r>
            <a:r>
              <a:rPr dirty="0"/>
              <a:t>, </a:t>
            </a:r>
            <a:r>
              <a:rPr dirty="0" err="1"/>
              <a:t>устройство</a:t>
            </a:r>
            <a:r>
              <a:rPr dirty="0"/>
              <a:t> </a:t>
            </a:r>
            <a:r>
              <a:rPr dirty="0" err="1"/>
              <a:t>канального</a:t>
            </a:r>
            <a:r>
              <a:rPr dirty="0"/>
              <a:t> </a:t>
            </a:r>
            <a:r>
              <a:rPr dirty="0" err="1"/>
              <a:t>уровня</a:t>
            </a:r>
            <a:r>
              <a:rPr lang="ru-RU" dirty="0"/>
              <a:t>.</a:t>
            </a:r>
            <a:endParaRPr dirty="0"/>
          </a:p>
          <a:p>
            <a:pPr indent="354013">
              <a:defRPr sz="3600"/>
            </a:pPr>
            <a:r>
              <a:rPr dirty="0" err="1"/>
              <a:t>Коммутатор</a:t>
            </a:r>
            <a:r>
              <a:rPr dirty="0"/>
              <a:t> </a:t>
            </a:r>
            <a:r>
              <a:rPr dirty="0" err="1"/>
              <a:t>соединяет</a:t>
            </a:r>
            <a:r>
              <a:rPr dirty="0"/>
              <a:t> </a:t>
            </a:r>
            <a:r>
              <a:rPr dirty="0" err="1"/>
              <a:t>устройства</a:t>
            </a:r>
            <a:r>
              <a:rPr dirty="0"/>
              <a:t> в </a:t>
            </a:r>
            <a:r>
              <a:rPr dirty="0" err="1"/>
              <a:t>одной</a:t>
            </a:r>
            <a:r>
              <a:rPr dirty="0"/>
              <a:t> </a:t>
            </a:r>
            <a:r>
              <a:rPr dirty="0" err="1"/>
              <a:t>локальной</a:t>
            </a:r>
            <a:r>
              <a:rPr dirty="0"/>
              <a:t> </a:t>
            </a:r>
            <a:r>
              <a:rPr dirty="0" err="1"/>
              <a:t>сети</a:t>
            </a:r>
            <a:r>
              <a:rPr lang="ru-RU" dirty="0"/>
              <a:t>.</a:t>
            </a:r>
            <a:endParaRPr dirty="0"/>
          </a:p>
          <a:p>
            <a:pPr indent="354013">
              <a:defRPr sz="3600"/>
            </a:pPr>
            <a:r>
              <a:rPr dirty="0" err="1"/>
              <a:t>Он</a:t>
            </a:r>
            <a:r>
              <a:rPr dirty="0"/>
              <a:t> </a:t>
            </a:r>
            <a:r>
              <a:rPr dirty="0" err="1"/>
              <a:t>передает</a:t>
            </a:r>
            <a:r>
              <a:rPr dirty="0"/>
              <a:t> </a:t>
            </a:r>
            <a:r>
              <a:rPr dirty="0" err="1"/>
              <a:t>кадры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основе</a:t>
            </a:r>
            <a:r>
              <a:rPr dirty="0"/>
              <a:t> MAC-</a:t>
            </a:r>
            <a:r>
              <a:rPr dirty="0" err="1"/>
              <a:t>адресов</a:t>
            </a:r>
            <a:r>
              <a:rPr lang="ru-RU" dirty="0"/>
              <a:t>.</a:t>
            </a:r>
            <a:endParaRPr dirty="0"/>
          </a:p>
          <a:p>
            <a:pPr indent="354013">
              <a:defRPr sz="3600"/>
            </a:pPr>
            <a:r>
              <a:rPr dirty="0"/>
              <a:t>MAC-</a:t>
            </a:r>
            <a:r>
              <a:rPr dirty="0" err="1"/>
              <a:t>адрес</a:t>
            </a:r>
            <a:r>
              <a:rPr dirty="0"/>
              <a:t> - </a:t>
            </a:r>
            <a:r>
              <a:rPr dirty="0" err="1"/>
              <a:t>аппаратный</a:t>
            </a:r>
            <a:r>
              <a:rPr dirty="0"/>
              <a:t> </a:t>
            </a:r>
            <a:r>
              <a:rPr dirty="0" err="1"/>
              <a:t>адрес</a:t>
            </a:r>
            <a:r>
              <a:rPr dirty="0"/>
              <a:t> </a:t>
            </a:r>
            <a:r>
              <a:rPr dirty="0" err="1"/>
              <a:t>сетевого</a:t>
            </a:r>
            <a:r>
              <a:rPr dirty="0"/>
              <a:t> </a:t>
            </a:r>
            <a:r>
              <a:rPr dirty="0" err="1"/>
              <a:t>интерфейса</a:t>
            </a:r>
            <a:r>
              <a:rPr lang="ru-RU" dirty="0"/>
              <a:t>.</a:t>
            </a:r>
            <a:endParaRPr dirty="0"/>
          </a:p>
          <a:p>
            <a:pPr indent="354013">
              <a:defRPr sz="3600"/>
            </a:pPr>
            <a:r>
              <a:rPr dirty="0" err="1"/>
              <a:t>Коммутатор</a:t>
            </a:r>
            <a:r>
              <a:rPr dirty="0"/>
              <a:t> </a:t>
            </a:r>
            <a:r>
              <a:rPr dirty="0" err="1"/>
              <a:t>формирует</a:t>
            </a:r>
            <a:r>
              <a:rPr dirty="0"/>
              <a:t> </a:t>
            </a:r>
            <a:r>
              <a:rPr dirty="0" err="1"/>
              <a:t>таблицу</a:t>
            </a:r>
            <a:r>
              <a:rPr dirty="0"/>
              <a:t> MAC-</a:t>
            </a:r>
            <a:r>
              <a:rPr dirty="0" err="1"/>
              <a:t>адресов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входящему</a:t>
            </a:r>
            <a:r>
              <a:rPr dirty="0"/>
              <a:t> </a:t>
            </a:r>
            <a:r>
              <a:rPr dirty="0" err="1"/>
              <a:t>трафику</a:t>
            </a:r>
            <a:r>
              <a:rPr lang="ru-RU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Маршрутизатор в базовой сети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199" y="914400"/>
            <a:ext cx="11238271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/>
              <a:t>Router - </a:t>
            </a:r>
            <a:r>
              <a:rPr dirty="0" err="1"/>
              <a:t>маршрутизатор</a:t>
            </a:r>
            <a:r>
              <a:rPr dirty="0"/>
              <a:t>, </a:t>
            </a:r>
            <a:r>
              <a:rPr dirty="0" err="1"/>
              <a:t>устройство</a:t>
            </a:r>
            <a:r>
              <a:rPr dirty="0"/>
              <a:t> </a:t>
            </a:r>
            <a:r>
              <a:rPr dirty="0" err="1"/>
              <a:t>сетевого</a:t>
            </a:r>
            <a:r>
              <a:rPr dirty="0"/>
              <a:t> </a:t>
            </a:r>
            <a:r>
              <a:rPr dirty="0" err="1"/>
              <a:t>уровня</a:t>
            </a:r>
            <a:r>
              <a:rPr lang="ru-RU" dirty="0"/>
              <a:t>.</a:t>
            </a:r>
            <a:endParaRPr dirty="0"/>
          </a:p>
          <a:p>
            <a:pPr indent="354013">
              <a:defRPr sz="3600"/>
            </a:pPr>
            <a:r>
              <a:rPr dirty="0" err="1"/>
              <a:t>Маршрутизатор</a:t>
            </a:r>
            <a:r>
              <a:rPr dirty="0"/>
              <a:t> </a:t>
            </a:r>
            <a:r>
              <a:rPr dirty="0" err="1"/>
              <a:t>соединяет</a:t>
            </a:r>
            <a:r>
              <a:rPr dirty="0"/>
              <a:t> </a:t>
            </a:r>
            <a:r>
              <a:rPr dirty="0" err="1"/>
              <a:t>разные</a:t>
            </a:r>
            <a:r>
              <a:rPr dirty="0"/>
              <a:t> IP-</a:t>
            </a:r>
            <a:r>
              <a:rPr dirty="0" err="1"/>
              <a:t>сети</a:t>
            </a:r>
            <a:r>
              <a:rPr lang="ru-RU" dirty="0"/>
              <a:t>.</a:t>
            </a:r>
            <a:endParaRPr dirty="0"/>
          </a:p>
          <a:p>
            <a:pPr indent="354013">
              <a:defRPr sz="3600"/>
            </a:pPr>
            <a:r>
              <a:rPr dirty="0" err="1"/>
              <a:t>Он</a:t>
            </a:r>
            <a:r>
              <a:rPr dirty="0"/>
              <a:t> </a:t>
            </a:r>
            <a:r>
              <a:rPr dirty="0" err="1"/>
              <a:t>принимает</a:t>
            </a:r>
            <a:r>
              <a:rPr dirty="0"/>
              <a:t> </a:t>
            </a:r>
            <a:r>
              <a:rPr dirty="0" err="1"/>
              <a:t>решение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основе</a:t>
            </a:r>
            <a:r>
              <a:rPr dirty="0"/>
              <a:t> IP-</a:t>
            </a:r>
            <a:r>
              <a:rPr dirty="0" err="1"/>
              <a:t>адреса</a:t>
            </a:r>
            <a:r>
              <a:rPr lang="ru-RU" dirty="0"/>
              <a:t>.</a:t>
            </a:r>
            <a:r>
              <a:rPr dirty="0"/>
              <a:t> </a:t>
            </a:r>
            <a:r>
              <a:rPr dirty="0" err="1"/>
              <a:t>назначения</a:t>
            </a:r>
            <a:r>
              <a:rPr lang="ru-RU" dirty="0"/>
              <a:t>.</a:t>
            </a:r>
            <a:endParaRPr dirty="0"/>
          </a:p>
          <a:p>
            <a:pPr indent="354013">
              <a:defRPr sz="3600"/>
            </a:pPr>
            <a:r>
              <a:rPr dirty="0"/>
              <a:t>В </a:t>
            </a:r>
            <a:r>
              <a:rPr dirty="0" err="1"/>
              <a:t>небольшой</a:t>
            </a:r>
            <a:r>
              <a:rPr dirty="0"/>
              <a:t> </a:t>
            </a:r>
            <a:r>
              <a:rPr dirty="0" err="1"/>
              <a:t>сети</a:t>
            </a:r>
            <a:r>
              <a:rPr dirty="0"/>
              <a:t> </a:t>
            </a:r>
            <a:r>
              <a:rPr dirty="0" err="1"/>
              <a:t>маршрутизатор</a:t>
            </a:r>
            <a:r>
              <a:rPr dirty="0"/>
              <a:t> </a:t>
            </a:r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является</a:t>
            </a:r>
            <a:r>
              <a:rPr dirty="0"/>
              <a:t> default gateway</a:t>
            </a:r>
            <a:r>
              <a:rPr lang="ru-RU" dirty="0"/>
              <a:t>.</a:t>
            </a:r>
            <a:endParaRPr dirty="0"/>
          </a:p>
          <a:p>
            <a:pPr indent="354013">
              <a:defRPr sz="3600"/>
            </a:pP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маршрутизаторе</a:t>
            </a:r>
            <a:r>
              <a:rPr dirty="0"/>
              <a:t> </a:t>
            </a:r>
            <a:r>
              <a:rPr dirty="0" err="1"/>
              <a:t>обычно</a:t>
            </a:r>
            <a:r>
              <a:rPr dirty="0"/>
              <a:t> </a:t>
            </a:r>
            <a:r>
              <a:rPr dirty="0" err="1"/>
              <a:t>настраивают</a:t>
            </a:r>
            <a:r>
              <a:rPr dirty="0"/>
              <a:t> NAT, </a:t>
            </a:r>
            <a:r>
              <a:rPr dirty="0" err="1"/>
              <a:t>маршруты</a:t>
            </a:r>
            <a:r>
              <a:rPr dirty="0"/>
              <a:t> и </a:t>
            </a:r>
            <a:r>
              <a:rPr dirty="0" err="1"/>
              <a:t>фильтрацию</a:t>
            </a:r>
            <a:r>
              <a:rPr lang="ru-RU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Адресный план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08774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indent="354013">
              <a:defRPr sz="3600"/>
            </a:pPr>
            <a:r>
              <a:rPr dirty="0" err="1"/>
              <a:t>Адресный</a:t>
            </a:r>
            <a:r>
              <a:rPr dirty="0"/>
              <a:t> </a:t>
            </a:r>
            <a:r>
              <a:rPr dirty="0" err="1"/>
              <a:t>план</a:t>
            </a:r>
            <a:r>
              <a:rPr dirty="0"/>
              <a:t> - </a:t>
            </a:r>
            <a:r>
              <a:rPr dirty="0" err="1"/>
              <a:t>таблица</a:t>
            </a:r>
            <a:r>
              <a:rPr dirty="0"/>
              <a:t> </a:t>
            </a:r>
            <a:r>
              <a:rPr dirty="0" err="1"/>
              <a:t>подсетей</a:t>
            </a:r>
            <a:r>
              <a:rPr dirty="0"/>
              <a:t>, </a:t>
            </a:r>
            <a:r>
              <a:rPr dirty="0" err="1"/>
              <a:t>адресов</a:t>
            </a:r>
            <a:r>
              <a:rPr dirty="0"/>
              <a:t> и </a:t>
            </a:r>
            <a:r>
              <a:rPr dirty="0" err="1"/>
              <a:t>назначений</a:t>
            </a:r>
            <a:r>
              <a:rPr lang="ru-RU" dirty="0"/>
              <a:t>.</a:t>
            </a:r>
            <a:endParaRPr dirty="0"/>
          </a:p>
          <a:p>
            <a:pPr indent="354013">
              <a:defRPr sz="3600"/>
            </a:pPr>
            <a:r>
              <a:rPr dirty="0"/>
              <a:t>В </a:t>
            </a:r>
            <a:r>
              <a:rPr dirty="0" err="1"/>
              <a:t>нем</a:t>
            </a:r>
            <a:r>
              <a:rPr dirty="0"/>
              <a:t> </a:t>
            </a:r>
            <a:r>
              <a:rPr dirty="0" err="1"/>
              <a:t>указывают</a:t>
            </a:r>
            <a:r>
              <a:rPr dirty="0"/>
              <a:t> </a:t>
            </a:r>
            <a:r>
              <a:rPr dirty="0" err="1"/>
              <a:t>сеть</a:t>
            </a:r>
            <a:r>
              <a:rPr dirty="0"/>
              <a:t>, </a:t>
            </a:r>
            <a:r>
              <a:rPr dirty="0" err="1"/>
              <a:t>маску</a:t>
            </a:r>
            <a:r>
              <a:rPr dirty="0"/>
              <a:t>, gateway и </a:t>
            </a:r>
            <a:r>
              <a:rPr dirty="0" err="1"/>
              <a:t>диапазон</a:t>
            </a:r>
            <a:r>
              <a:rPr dirty="0"/>
              <a:t> DHCP</a:t>
            </a:r>
            <a:r>
              <a:rPr lang="ru-RU" dirty="0"/>
              <a:t>.</a:t>
            </a:r>
            <a:endParaRPr dirty="0"/>
          </a:p>
          <a:p>
            <a:pPr indent="354013">
              <a:defRPr sz="3600"/>
            </a:pPr>
            <a:r>
              <a:rPr dirty="0" err="1"/>
              <a:t>Отдельно</a:t>
            </a:r>
            <a:r>
              <a:rPr dirty="0"/>
              <a:t> </a:t>
            </a:r>
            <a:r>
              <a:rPr dirty="0" err="1"/>
              <a:t>фиксируют</a:t>
            </a:r>
            <a:r>
              <a:rPr dirty="0"/>
              <a:t> </a:t>
            </a:r>
            <a:r>
              <a:rPr dirty="0" err="1"/>
              <a:t>статические</a:t>
            </a:r>
            <a:r>
              <a:rPr dirty="0"/>
              <a:t> </a:t>
            </a:r>
            <a:r>
              <a:rPr dirty="0" err="1"/>
              <a:t>адреса</a:t>
            </a:r>
            <a:r>
              <a:rPr dirty="0"/>
              <a:t> </a:t>
            </a:r>
            <a:r>
              <a:rPr dirty="0" err="1"/>
              <a:t>серверов</a:t>
            </a:r>
            <a:r>
              <a:rPr dirty="0"/>
              <a:t> и </a:t>
            </a:r>
            <a:r>
              <a:rPr dirty="0" err="1"/>
              <a:t>сетевых</a:t>
            </a:r>
            <a:r>
              <a:rPr dirty="0"/>
              <a:t> </a:t>
            </a:r>
            <a:r>
              <a:rPr dirty="0" err="1"/>
              <a:t>устройств</a:t>
            </a:r>
            <a:r>
              <a:rPr lang="ru-RU" dirty="0"/>
              <a:t>.</a:t>
            </a:r>
            <a:endParaRPr dirty="0"/>
          </a:p>
          <a:p>
            <a:pPr indent="354013">
              <a:defRPr sz="3600"/>
            </a:pPr>
            <a:r>
              <a:rPr dirty="0" err="1"/>
              <a:t>План</a:t>
            </a:r>
            <a:r>
              <a:rPr dirty="0"/>
              <a:t> </a:t>
            </a:r>
            <a:r>
              <a:rPr dirty="0" err="1"/>
              <a:t>должен</a:t>
            </a:r>
            <a:r>
              <a:rPr dirty="0"/>
              <a:t> </a:t>
            </a:r>
            <a:r>
              <a:rPr dirty="0" err="1"/>
              <a:t>исключать</a:t>
            </a:r>
            <a:r>
              <a:rPr dirty="0"/>
              <a:t> </a:t>
            </a:r>
            <a:r>
              <a:rPr dirty="0" err="1"/>
              <a:t>пересечения</a:t>
            </a:r>
            <a:r>
              <a:rPr dirty="0"/>
              <a:t> и </a:t>
            </a:r>
            <a:r>
              <a:rPr dirty="0" err="1"/>
              <a:t>конфликты</a:t>
            </a:r>
            <a:r>
              <a:rPr dirty="0"/>
              <a:t> </a:t>
            </a:r>
            <a:r>
              <a:rPr dirty="0" err="1"/>
              <a:t>адресов</a:t>
            </a:r>
            <a:r>
              <a:rPr lang="ru-RU" dirty="0"/>
              <a:t>.</a:t>
            </a:r>
            <a:endParaRPr dirty="0"/>
          </a:p>
          <a:p>
            <a:pPr indent="354013">
              <a:defRPr sz="3600"/>
            </a:pPr>
            <a:r>
              <a:rPr dirty="0" err="1"/>
              <a:t>Хороший</a:t>
            </a:r>
            <a:r>
              <a:rPr dirty="0"/>
              <a:t> </a:t>
            </a:r>
            <a:r>
              <a:rPr dirty="0" err="1"/>
              <a:t>адресный</a:t>
            </a:r>
            <a:r>
              <a:rPr dirty="0"/>
              <a:t> </a:t>
            </a:r>
            <a:r>
              <a:rPr dirty="0" err="1"/>
              <a:t>план</a:t>
            </a:r>
            <a:r>
              <a:rPr dirty="0"/>
              <a:t> </a:t>
            </a:r>
            <a:r>
              <a:rPr dirty="0" err="1"/>
              <a:t>облегчает</a:t>
            </a:r>
            <a:r>
              <a:rPr dirty="0"/>
              <a:t> </a:t>
            </a:r>
            <a:r>
              <a:rPr dirty="0" err="1"/>
              <a:t>диагностику</a:t>
            </a:r>
            <a:r>
              <a:rPr dirty="0"/>
              <a:t> и </a:t>
            </a:r>
            <a:r>
              <a:rPr dirty="0" err="1"/>
              <a:t>расширение</a:t>
            </a:r>
            <a:r>
              <a:rPr dirty="0"/>
              <a:t> </a:t>
            </a:r>
            <a:r>
              <a:rPr dirty="0" err="1"/>
              <a:t>сети</a:t>
            </a:r>
            <a:r>
              <a:rPr lang="ru-RU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Схема</a:t>
            </a:r>
            <a:r>
              <a:rPr dirty="0"/>
              <a:t>: </a:t>
            </a:r>
            <a:r>
              <a:rPr dirty="0" err="1"/>
              <a:t>состав</a:t>
            </a:r>
            <a:r>
              <a:rPr dirty="0"/>
              <a:t> </a:t>
            </a:r>
            <a:r>
              <a:rPr dirty="0" err="1"/>
              <a:t>небольшой</a:t>
            </a:r>
            <a:r>
              <a:rPr dirty="0"/>
              <a:t> </a:t>
            </a:r>
            <a:r>
              <a:rPr dirty="0" err="1"/>
              <a:t>сети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B4BBB22-850D-7B6A-E324-9B3FEB0217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2. Физическая и логическая топология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Физическая</a:t>
            </a:r>
            <a:r>
              <a:rPr dirty="0"/>
              <a:t> </a:t>
            </a:r>
            <a:r>
              <a:rPr dirty="0" err="1"/>
              <a:t>топология</a:t>
            </a:r>
            <a:r>
              <a:rPr dirty="0"/>
              <a:t> </a:t>
            </a:r>
            <a:r>
              <a:rPr dirty="0" err="1"/>
              <a:t>показывает</a:t>
            </a:r>
            <a:r>
              <a:rPr dirty="0"/>
              <a:t> </a:t>
            </a:r>
            <a:r>
              <a:rPr dirty="0" err="1"/>
              <a:t>реальные</a:t>
            </a:r>
            <a:r>
              <a:rPr dirty="0"/>
              <a:t> </a:t>
            </a:r>
            <a:r>
              <a:rPr dirty="0" err="1"/>
              <a:t>соединения</a:t>
            </a:r>
            <a:r>
              <a:rPr dirty="0"/>
              <a:t> </a:t>
            </a:r>
            <a:r>
              <a:rPr dirty="0" err="1"/>
              <a:t>устройств</a:t>
            </a:r>
            <a:endParaRPr dirty="0"/>
          </a:p>
          <a:p>
            <a:pPr indent="354013">
              <a:defRPr sz="3600"/>
            </a:pPr>
            <a:r>
              <a:rPr dirty="0" err="1"/>
              <a:t>Логическая</a:t>
            </a:r>
            <a:r>
              <a:rPr dirty="0"/>
              <a:t> </a:t>
            </a:r>
            <a:r>
              <a:rPr dirty="0" err="1"/>
              <a:t>топология</a:t>
            </a:r>
            <a:r>
              <a:rPr dirty="0"/>
              <a:t> </a:t>
            </a:r>
            <a:r>
              <a:rPr dirty="0" err="1"/>
              <a:t>показывает</a:t>
            </a:r>
            <a:r>
              <a:rPr dirty="0"/>
              <a:t> </a:t>
            </a:r>
            <a:r>
              <a:rPr dirty="0" err="1"/>
              <a:t>сети</a:t>
            </a:r>
            <a:r>
              <a:rPr dirty="0"/>
              <a:t>, </a:t>
            </a:r>
            <a:r>
              <a:rPr dirty="0" err="1"/>
              <a:t>подсети</a:t>
            </a:r>
            <a:r>
              <a:rPr dirty="0"/>
              <a:t>, gateway и </a:t>
            </a:r>
            <a:r>
              <a:rPr dirty="0" err="1"/>
              <a:t>маршруты</a:t>
            </a:r>
            <a:endParaRPr dirty="0"/>
          </a:p>
          <a:p>
            <a:pPr indent="354013">
              <a:defRPr sz="3600"/>
            </a:pPr>
            <a:r>
              <a:rPr dirty="0" err="1"/>
              <a:t>Один</a:t>
            </a:r>
            <a:r>
              <a:rPr dirty="0"/>
              <a:t> и </a:t>
            </a:r>
            <a:r>
              <a:rPr dirty="0" err="1"/>
              <a:t>тот</a:t>
            </a:r>
            <a:r>
              <a:rPr dirty="0"/>
              <a:t> </a:t>
            </a:r>
            <a:r>
              <a:rPr dirty="0" err="1"/>
              <a:t>же</a:t>
            </a:r>
            <a:r>
              <a:rPr dirty="0"/>
              <a:t> </a:t>
            </a:r>
            <a:r>
              <a:rPr dirty="0" err="1"/>
              <a:t>физический</a:t>
            </a:r>
            <a:r>
              <a:rPr dirty="0"/>
              <a:t> switch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обслуживать</a:t>
            </a:r>
            <a:r>
              <a:rPr dirty="0"/>
              <a:t> </a:t>
            </a:r>
            <a:r>
              <a:rPr dirty="0" err="1"/>
              <a:t>разные</a:t>
            </a:r>
            <a:r>
              <a:rPr dirty="0"/>
              <a:t> </a:t>
            </a:r>
            <a:r>
              <a:rPr dirty="0" err="1"/>
              <a:t>логические</a:t>
            </a:r>
            <a:r>
              <a:rPr dirty="0"/>
              <a:t> </a:t>
            </a:r>
            <a:r>
              <a:rPr dirty="0" err="1"/>
              <a:t>сегменты</a:t>
            </a:r>
            <a:endParaRPr dirty="0"/>
          </a:p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диагностики</a:t>
            </a:r>
            <a:r>
              <a:rPr dirty="0"/>
              <a:t> </a:t>
            </a:r>
            <a:r>
              <a:rPr dirty="0" err="1"/>
              <a:t>нужны</a:t>
            </a:r>
            <a:r>
              <a:rPr dirty="0"/>
              <a:t> </a:t>
            </a:r>
            <a:r>
              <a:rPr dirty="0" err="1"/>
              <a:t>оба</a:t>
            </a:r>
            <a:r>
              <a:rPr dirty="0"/>
              <a:t> </a:t>
            </a:r>
            <a:r>
              <a:rPr dirty="0" err="1"/>
              <a:t>представления</a:t>
            </a:r>
            <a:endParaRPr dirty="0"/>
          </a:p>
          <a:p>
            <a:pPr indent="354013">
              <a:defRPr sz="3600"/>
            </a:pPr>
            <a:r>
              <a:rPr dirty="0" err="1"/>
              <a:t>Ошибка</a:t>
            </a:r>
            <a:r>
              <a:rPr dirty="0"/>
              <a:t> в </a:t>
            </a:r>
            <a:r>
              <a:rPr dirty="0" err="1"/>
              <a:t>физике</a:t>
            </a:r>
            <a:r>
              <a:rPr dirty="0"/>
              <a:t> и </a:t>
            </a:r>
            <a:r>
              <a:rPr dirty="0" err="1"/>
              <a:t>ошибка</a:t>
            </a:r>
            <a:r>
              <a:rPr dirty="0"/>
              <a:t> в </a:t>
            </a:r>
            <a:r>
              <a:rPr dirty="0" err="1"/>
              <a:t>логике</a:t>
            </a:r>
            <a:r>
              <a:rPr dirty="0"/>
              <a:t> </a:t>
            </a:r>
            <a:r>
              <a:rPr dirty="0" err="1"/>
              <a:t>проявляются</a:t>
            </a:r>
            <a:r>
              <a:rPr dirty="0"/>
              <a:t> </a:t>
            </a:r>
            <a:r>
              <a:rPr dirty="0" err="1"/>
              <a:t>по-разному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Физическая топология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Показывает</a:t>
            </a:r>
            <a:r>
              <a:rPr dirty="0"/>
              <a:t> </a:t>
            </a:r>
            <a:r>
              <a:rPr dirty="0" err="1"/>
              <a:t>кабели</a:t>
            </a:r>
            <a:r>
              <a:rPr dirty="0"/>
              <a:t>, </a:t>
            </a:r>
            <a:r>
              <a:rPr dirty="0" err="1"/>
              <a:t>порты</a:t>
            </a:r>
            <a:r>
              <a:rPr dirty="0"/>
              <a:t> и </a:t>
            </a:r>
            <a:r>
              <a:rPr dirty="0" err="1"/>
              <a:t>устройства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Помогает</a:t>
            </a:r>
            <a:r>
              <a:rPr dirty="0"/>
              <a:t> </a:t>
            </a:r>
            <a:r>
              <a:rPr dirty="0" err="1"/>
              <a:t>понять</a:t>
            </a:r>
            <a:r>
              <a:rPr dirty="0"/>
              <a:t>, </a:t>
            </a:r>
            <a:r>
              <a:rPr dirty="0" err="1"/>
              <a:t>где</a:t>
            </a:r>
            <a:r>
              <a:rPr dirty="0"/>
              <a:t> </a:t>
            </a:r>
            <a:r>
              <a:rPr dirty="0" err="1"/>
              <a:t>искать</a:t>
            </a:r>
            <a:r>
              <a:rPr dirty="0"/>
              <a:t> </a:t>
            </a:r>
            <a:r>
              <a:rPr dirty="0" err="1"/>
              <a:t>проблему</a:t>
            </a:r>
            <a:r>
              <a:rPr dirty="0"/>
              <a:t> </a:t>
            </a:r>
            <a:r>
              <a:rPr dirty="0" err="1"/>
              <a:t>связи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Включает</a:t>
            </a:r>
            <a:r>
              <a:rPr dirty="0"/>
              <a:t> </a:t>
            </a:r>
            <a:r>
              <a:rPr dirty="0" err="1"/>
              <a:t>номера</a:t>
            </a:r>
            <a:r>
              <a:rPr dirty="0"/>
              <a:t> </a:t>
            </a:r>
            <a:r>
              <a:rPr dirty="0" err="1"/>
              <a:t>портов</a:t>
            </a:r>
            <a:r>
              <a:rPr dirty="0"/>
              <a:t> </a:t>
            </a:r>
            <a:r>
              <a:rPr dirty="0" err="1"/>
              <a:t>коммутатора</a:t>
            </a:r>
            <a:r>
              <a:rPr dirty="0"/>
              <a:t> и </a:t>
            </a:r>
            <a:r>
              <a:rPr dirty="0" err="1"/>
              <a:t>маршрутизатора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Включает</a:t>
            </a:r>
            <a:r>
              <a:rPr dirty="0"/>
              <a:t> </a:t>
            </a:r>
            <a:r>
              <a:rPr dirty="0" err="1"/>
              <a:t>тип</a:t>
            </a:r>
            <a:r>
              <a:rPr dirty="0"/>
              <a:t> </a:t>
            </a:r>
            <a:r>
              <a:rPr dirty="0" err="1"/>
              <a:t>соединения</a:t>
            </a:r>
            <a:r>
              <a:rPr dirty="0"/>
              <a:t> и </a:t>
            </a:r>
            <a:r>
              <a:rPr dirty="0" err="1"/>
              <a:t>скорость</a:t>
            </a:r>
            <a:r>
              <a:rPr dirty="0"/>
              <a:t> </a:t>
            </a:r>
            <a:r>
              <a:rPr dirty="0" err="1"/>
              <a:t>интерфейса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Полезна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замене</a:t>
            </a:r>
            <a:r>
              <a:rPr dirty="0"/>
              <a:t> </a:t>
            </a:r>
            <a:r>
              <a:rPr dirty="0" err="1"/>
              <a:t>кабеля</a:t>
            </a:r>
            <a:r>
              <a:rPr dirty="0"/>
              <a:t>, </a:t>
            </a:r>
            <a:r>
              <a:rPr dirty="0" err="1"/>
              <a:t>проверке</a:t>
            </a:r>
            <a:r>
              <a:rPr dirty="0"/>
              <a:t> </a:t>
            </a:r>
            <a:r>
              <a:rPr dirty="0" err="1"/>
              <a:t>линка</a:t>
            </a:r>
            <a:r>
              <a:rPr dirty="0"/>
              <a:t> и </a:t>
            </a:r>
            <a:r>
              <a:rPr dirty="0" err="1"/>
              <a:t>инвентаризации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C3D82-6D14-7D87-1C9D-A51CC6A87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29B15D-063C-9B68-9814-AE2E8E894219}"/>
              </a:ext>
            </a:extLst>
          </p:cNvPr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Физическая топология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58B3FD5-5CD8-D901-392C-EF6EDA37DC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6981" y="0"/>
            <a:ext cx="123689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3101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Логическая топология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Показывает</a:t>
            </a:r>
            <a:r>
              <a:rPr dirty="0"/>
              <a:t> IP-</a:t>
            </a:r>
            <a:r>
              <a:rPr dirty="0" err="1"/>
              <a:t>сети</a:t>
            </a:r>
            <a:r>
              <a:rPr dirty="0"/>
              <a:t> и </a:t>
            </a:r>
            <a:r>
              <a:rPr dirty="0" err="1"/>
              <a:t>маршруты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Показывает</a:t>
            </a:r>
            <a:r>
              <a:rPr dirty="0"/>
              <a:t>, </a:t>
            </a:r>
            <a:r>
              <a:rPr dirty="0" err="1"/>
              <a:t>где</a:t>
            </a:r>
            <a:r>
              <a:rPr dirty="0"/>
              <a:t> </a:t>
            </a:r>
            <a:r>
              <a:rPr dirty="0" err="1"/>
              <a:t>находится</a:t>
            </a:r>
            <a:r>
              <a:rPr dirty="0"/>
              <a:t> gateway </a:t>
            </a:r>
            <a:r>
              <a:rPr dirty="0" err="1"/>
              <a:t>каждой</a:t>
            </a:r>
            <a:r>
              <a:rPr dirty="0"/>
              <a:t> </a:t>
            </a:r>
            <a:r>
              <a:rPr dirty="0" err="1"/>
              <a:t>подсети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Показывает</a:t>
            </a:r>
            <a:r>
              <a:rPr dirty="0"/>
              <a:t>, </a:t>
            </a:r>
            <a:r>
              <a:rPr dirty="0" err="1"/>
              <a:t>какие</a:t>
            </a:r>
            <a:r>
              <a:rPr dirty="0"/>
              <a:t> </a:t>
            </a:r>
            <a:r>
              <a:rPr dirty="0" err="1"/>
              <a:t>сервисы</a:t>
            </a:r>
            <a:r>
              <a:rPr dirty="0"/>
              <a:t> </a:t>
            </a:r>
            <a:r>
              <a:rPr dirty="0" err="1"/>
              <a:t>используются</a:t>
            </a:r>
            <a:r>
              <a:rPr dirty="0"/>
              <a:t> </a:t>
            </a:r>
            <a:r>
              <a:rPr dirty="0" err="1"/>
              <a:t>клиентами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обязана</a:t>
            </a:r>
            <a:r>
              <a:rPr dirty="0"/>
              <a:t> </a:t>
            </a:r>
            <a:r>
              <a:rPr dirty="0" err="1"/>
              <a:t>повторять</a:t>
            </a:r>
            <a:r>
              <a:rPr dirty="0"/>
              <a:t> </a:t>
            </a:r>
            <a:r>
              <a:rPr dirty="0" err="1"/>
              <a:t>физическое</a:t>
            </a:r>
            <a:r>
              <a:rPr dirty="0"/>
              <a:t> </a:t>
            </a:r>
            <a:r>
              <a:rPr dirty="0" err="1"/>
              <a:t>расположение</a:t>
            </a:r>
            <a:r>
              <a:rPr dirty="0"/>
              <a:t> </a:t>
            </a:r>
            <a:r>
              <a:rPr dirty="0" err="1"/>
              <a:t>оборудования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Полезна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настройки</a:t>
            </a:r>
            <a:r>
              <a:rPr dirty="0"/>
              <a:t> </a:t>
            </a:r>
            <a:r>
              <a:rPr dirty="0" err="1"/>
              <a:t>адресации</a:t>
            </a:r>
            <a:r>
              <a:rPr dirty="0"/>
              <a:t>, </a:t>
            </a:r>
            <a:r>
              <a:rPr dirty="0" err="1"/>
              <a:t>маршрутизации</a:t>
            </a:r>
            <a:r>
              <a:rPr dirty="0"/>
              <a:t> и NAT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6C273-B7AB-51D3-0014-3006539F6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D9AAEEE-5C29-FF13-31CD-0BADE52B3190}"/>
              </a:ext>
            </a:extLst>
          </p:cNvPr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Логическая топология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6FD430F-B17A-2FB0-63D4-FA70122B1A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6052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Сравнение топологий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194026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Физическая</a:t>
            </a:r>
            <a:r>
              <a:rPr dirty="0"/>
              <a:t> </a:t>
            </a:r>
            <a:r>
              <a:rPr dirty="0" err="1"/>
              <a:t>топология</a:t>
            </a:r>
            <a:r>
              <a:rPr dirty="0"/>
              <a:t> </a:t>
            </a:r>
            <a:r>
              <a:rPr dirty="0" err="1"/>
              <a:t>отвечает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вопрос</a:t>
            </a:r>
            <a:r>
              <a:rPr dirty="0"/>
              <a:t>: </a:t>
            </a:r>
            <a:r>
              <a:rPr dirty="0" err="1"/>
              <a:t>что</a:t>
            </a:r>
            <a:r>
              <a:rPr dirty="0"/>
              <a:t> к </a:t>
            </a:r>
            <a:r>
              <a:rPr dirty="0" err="1"/>
              <a:t>чему</a:t>
            </a:r>
            <a:r>
              <a:rPr dirty="0"/>
              <a:t> </a:t>
            </a:r>
            <a:r>
              <a:rPr dirty="0" err="1"/>
              <a:t>подключено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Логическая</a:t>
            </a:r>
            <a:r>
              <a:rPr dirty="0"/>
              <a:t> </a:t>
            </a:r>
            <a:r>
              <a:rPr dirty="0" err="1"/>
              <a:t>топология</a:t>
            </a:r>
            <a:r>
              <a:rPr dirty="0"/>
              <a:t> </a:t>
            </a:r>
            <a:r>
              <a:rPr dirty="0" err="1"/>
              <a:t>отвечает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вопрос</a:t>
            </a:r>
            <a:r>
              <a:rPr dirty="0"/>
              <a:t>: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движется</a:t>
            </a:r>
            <a:r>
              <a:rPr dirty="0"/>
              <a:t> </a:t>
            </a:r>
            <a:r>
              <a:rPr dirty="0" err="1"/>
              <a:t>трафик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Физическая</a:t>
            </a:r>
            <a:r>
              <a:rPr dirty="0"/>
              <a:t> </a:t>
            </a:r>
            <a:r>
              <a:rPr dirty="0" err="1"/>
              <a:t>ошибка</a:t>
            </a:r>
            <a:r>
              <a:rPr dirty="0"/>
              <a:t>: </a:t>
            </a:r>
            <a:r>
              <a:rPr dirty="0" err="1"/>
              <a:t>отключен</a:t>
            </a:r>
            <a:r>
              <a:rPr dirty="0"/>
              <a:t> </a:t>
            </a:r>
            <a:r>
              <a:rPr dirty="0" err="1"/>
              <a:t>кабель</a:t>
            </a:r>
            <a:r>
              <a:rPr dirty="0"/>
              <a:t>, </a:t>
            </a:r>
            <a:r>
              <a:rPr dirty="0" err="1"/>
              <a:t>неверный</a:t>
            </a:r>
            <a:r>
              <a:rPr dirty="0"/>
              <a:t> </a:t>
            </a:r>
            <a:r>
              <a:rPr dirty="0" err="1"/>
              <a:t>порт</a:t>
            </a:r>
            <a:r>
              <a:rPr dirty="0"/>
              <a:t>, </a:t>
            </a:r>
            <a:r>
              <a:rPr dirty="0" err="1"/>
              <a:t>нет</a:t>
            </a:r>
            <a:r>
              <a:rPr dirty="0"/>
              <a:t> </a:t>
            </a:r>
            <a:r>
              <a:rPr dirty="0" err="1"/>
              <a:t>линка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Логическая</a:t>
            </a:r>
            <a:r>
              <a:rPr dirty="0"/>
              <a:t> </a:t>
            </a:r>
            <a:r>
              <a:rPr dirty="0" err="1"/>
              <a:t>ошибка</a:t>
            </a:r>
            <a:r>
              <a:rPr dirty="0"/>
              <a:t>: </a:t>
            </a:r>
            <a:r>
              <a:rPr dirty="0" err="1"/>
              <a:t>неверная</a:t>
            </a:r>
            <a:r>
              <a:rPr dirty="0"/>
              <a:t> </a:t>
            </a:r>
            <a:r>
              <a:rPr dirty="0" err="1"/>
              <a:t>маска</a:t>
            </a:r>
            <a:r>
              <a:rPr dirty="0"/>
              <a:t>, gateway, </a:t>
            </a:r>
            <a:r>
              <a:rPr dirty="0" err="1"/>
              <a:t>маршрут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DNS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расследовании</a:t>
            </a:r>
            <a:r>
              <a:rPr dirty="0"/>
              <a:t> </a:t>
            </a:r>
            <a:r>
              <a:rPr dirty="0" err="1"/>
              <a:t>инцидента</a:t>
            </a:r>
            <a:r>
              <a:rPr dirty="0"/>
              <a:t> </a:t>
            </a:r>
            <a:r>
              <a:rPr dirty="0" err="1"/>
              <a:t>схемы</a:t>
            </a:r>
            <a:r>
              <a:rPr dirty="0"/>
              <a:t>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сопоставлять</a:t>
            </a: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Диаграмма</a:t>
            </a:r>
            <a:r>
              <a:rPr dirty="0"/>
              <a:t>: </a:t>
            </a:r>
            <a:r>
              <a:rPr dirty="0" err="1"/>
              <a:t>физическая</a:t>
            </a:r>
            <a:r>
              <a:rPr dirty="0"/>
              <a:t> и </a:t>
            </a:r>
            <a:r>
              <a:rPr dirty="0" err="1"/>
              <a:t>логическая</a:t>
            </a:r>
            <a:r>
              <a:rPr dirty="0"/>
              <a:t> </a:t>
            </a:r>
            <a:r>
              <a:rPr dirty="0" err="1"/>
              <a:t>топология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7C07B9B-8FD4-8096-EF60-ADEE16C81D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3. Последовательность проектирования небольшой сети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Сначала</a:t>
            </a:r>
            <a:r>
              <a:rPr dirty="0"/>
              <a:t> </a:t>
            </a:r>
            <a:r>
              <a:rPr dirty="0" err="1"/>
              <a:t>определяют</a:t>
            </a:r>
            <a:r>
              <a:rPr dirty="0"/>
              <a:t> </a:t>
            </a:r>
            <a:r>
              <a:rPr dirty="0" err="1"/>
              <a:t>требования</a:t>
            </a:r>
            <a:r>
              <a:rPr dirty="0"/>
              <a:t> и </a:t>
            </a:r>
            <a:r>
              <a:rPr dirty="0" err="1"/>
              <a:t>состав</a:t>
            </a:r>
            <a:r>
              <a:rPr dirty="0"/>
              <a:t> </a:t>
            </a:r>
            <a:r>
              <a:rPr dirty="0" err="1"/>
              <a:t>пользователей</a:t>
            </a:r>
            <a:r>
              <a:rPr lang="ru-RU" dirty="0"/>
              <a:t>.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Затем</a:t>
            </a:r>
            <a:r>
              <a:rPr dirty="0"/>
              <a:t> </a:t>
            </a:r>
            <a:r>
              <a:rPr dirty="0" err="1"/>
              <a:t>определяют</a:t>
            </a:r>
            <a:r>
              <a:rPr dirty="0"/>
              <a:t> </a:t>
            </a:r>
            <a:r>
              <a:rPr dirty="0" err="1"/>
              <a:t>нужные</a:t>
            </a:r>
            <a:r>
              <a:rPr dirty="0"/>
              <a:t> </a:t>
            </a:r>
            <a:r>
              <a:rPr dirty="0" err="1"/>
              <a:t>сервисы</a:t>
            </a:r>
            <a:r>
              <a:rPr lang="ru-RU" dirty="0"/>
              <a:t>.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этого</a:t>
            </a:r>
            <a:r>
              <a:rPr dirty="0"/>
              <a:t> </a:t>
            </a:r>
            <a:r>
              <a:rPr dirty="0" err="1"/>
              <a:t>выбирают</a:t>
            </a:r>
            <a:r>
              <a:rPr dirty="0"/>
              <a:t> </a:t>
            </a:r>
            <a:r>
              <a:rPr dirty="0" err="1"/>
              <a:t>топологию</a:t>
            </a:r>
            <a:r>
              <a:rPr dirty="0"/>
              <a:t> и </a:t>
            </a:r>
            <a:r>
              <a:rPr dirty="0" err="1"/>
              <a:t>оборудование</a:t>
            </a:r>
            <a:r>
              <a:rPr lang="ru-RU" dirty="0"/>
              <a:t>.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Далее</a:t>
            </a:r>
            <a:r>
              <a:rPr dirty="0"/>
              <a:t> </a:t>
            </a:r>
            <a:r>
              <a:rPr dirty="0" err="1"/>
              <a:t>составляют</a:t>
            </a:r>
            <a:r>
              <a:rPr dirty="0"/>
              <a:t> </a:t>
            </a:r>
            <a:r>
              <a:rPr dirty="0" err="1"/>
              <a:t>адресный</a:t>
            </a:r>
            <a:r>
              <a:rPr dirty="0"/>
              <a:t> </a:t>
            </a:r>
            <a:r>
              <a:rPr dirty="0" err="1"/>
              <a:t>план</a:t>
            </a:r>
            <a:r>
              <a:rPr lang="ru-RU" dirty="0"/>
              <a:t>.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Затем</a:t>
            </a:r>
            <a:r>
              <a:rPr dirty="0"/>
              <a:t> </a:t>
            </a:r>
            <a:r>
              <a:rPr dirty="0" err="1"/>
              <a:t>планируют</a:t>
            </a:r>
            <a:r>
              <a:rPr dirty="0"/>
              <a:t> </a:t>
            </a:r>
            <a:r>
              <a:rPr dirty="0" err="1"/>
              <a:t>маршрутизацию</a:t>
            </a:r>
            <a:r>
              <a:rPr dirty="0"/>
              <a:t>, DNS, DHCP и NAT</a:t>
            </a:r>
            <a:r>
              <a:rPr lang="ru-RU" dirty="0"/>
              <a:t>.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В </a:t>
            </a:r>
            <a:r>
              <a:rPr dirty="0" err="1"/>
              <a:t>конце</a:t>
            </a:r>
            <a:r>
              <a:rPr dirty="0"/>
              <a:t> </a:t>
            </a:r>
            <a:r>
              <a:rPr dirty="0" err="1"/>
              <a:t>задают</a:t>
            </a:r>
            <a:r>
              <a:rPr dirty="0"/>
              <a:t> </a:t>
            </a:r>
            <a:r>
              <a:rPr dirty="0" err="1"/>
              <a:t>порядок</a:t>
            </a:r>
            <a:r>
              <a:rPr dirty="0"/>
              <a:t> </a:t>
            </a:r>
            <a:r>
              <a:rPr dirty="0" err="1"/>
              <a:t>проверки</a:t>
            </a:r>
            <a:r>
              <a:rPr dirty="0"/>
              <a:t> и </a:t>
            </a:r>
            <a:r>
              <a:rPr dirty="0" err="1"/>
              <a:t>документации</a:t>
            </a:r>
            <a:r>
              <a:rPr lang="ru-RU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Шаг 1: требования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Сколько</a:t>
            </a:r>
            <a:r>
              <a:rPr dirty="0"/>
              <a:t> </a:t>
            </a:r>
            <a:r>
              <a:rPr dirty="0" err="1"/>
              <a:t>будет</a:t>
            </a:r>
            <a:r>
              <a:rPr dirty="0"/>
              <a:t> </a:t>
            </a:r>
            <a:r>
              <a:rPr dirty="0" err="1"/>
              <a:t>клиентов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Какие</a:t>
            </a:r>
            <a:r>
              <a:rPr dirty="0"/>
              <a:t> </a:t>
            </a:r>
            <a:r>
              <a:rPr dirty="0" err="1"/>
              <a:t>серверы</a:t>
            </a:r>
            <a:r>
              <a:rPr dirty="0"/>
              <a:t> и </a:t>
            </a:r>
            <a:r>
              <a:rPr dirty="0" err="1"/>
              <a:t>сервисы</a:t>
            </a:r>
            <a:r>
              <a:rPr dirty="0"/>
              <a:t> </a:t>
            </a:r>
            <a:r>
              <a:rPr dirty="0" err="1"/>
              <a:t>нужны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Нужен</a:t>
            </a:r>
            <a:r>
              <a:rPr dirty="0"/>
              <a:t> </a:t>
            </a:r>
            <a:r>
              <a:rPr dirty="0" err="1"/>
              <a:t>ли</a:t>
            </a:r>
            <a:r>
              <a:rPr dirty="0"/>
              <a:t> </a:t>
            </a:r>
            <a:r>
              <a:rPr dirty="0" err="1"/>
              <a:t>доступ</a:t>
            </a:r>
            <a:r>
              <a:rPr dirty="0"/>
              <a:t> </a:t>
            </a:r>
            <a:r>
              <a:rPr dirty="0" err="1"/>
              <a:t>во</a:t>
            </a:r>
            <a:r>
              <a:rPr dirty="0"/>
              <a:t> </a:t>
            </a:r>
            <a:r>
              <a:rPr dirty="0" err="1"/>
              <a:t>внешнюю</a:t>
            </a:r>
            <a:r>
              <a:rPr dirty="0"/>
              <a:t> </a:t>
            </a:r>
            <a:r>
              <a:rPr dirty="0" err="1"/>
              <a:t>сеть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Нужен</a:t>
            </a:r>
            <a:r>
              <a:rPr dirty="0"/>
              <a:t> </a:t>
            </a:r>
            <a:r>
              <a:rPr dirty="0" err="1"/>
              <a:t>ли</a:t>
            </a:r>
            <a:r>
              <a:rPr dirty="0"/>
              <a:t> </a:t>
            </a:r>
            <a:r>
              <a:rPr dirty="0" err="1"/>
              <a:t>доступ</a:t>
            </a:r>
            <a:r>
              <a:rPr dirty="0"/>
              <a:t> </a:t>
            </a:r>
            <a:r>
              <a:rPr dirty="0" err="1"/>
              <a:t>внешних</a:t>
            </a:r>
            <a:r>
              <a:rPr dirty="0"/>
              <a:t> </a:t>
            </a:r>
            <a:r>
              <a:rPr dirty="0" err="1"/>
              <a:t>клиентов</a:t>
            </a:r>
            <a:r>
              <a:rPr dirty="0"/>
              <a:t> к </a:t>
            </a:r>
            <a:r>
              <a:rPr dirty="0" err="1"/>
              <a:t>внутреннему</a:t>
            </a:r>
            <a:r>
              <a:rPr dirty="0"/>
              <a:t> </a:t>
            </a:r>
            <a:r>
              <a:rPr dirty="0" err="1"/>
              <a:t>сервису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Какие</a:t>
            </a:r>
            <a:r>
              <a:rPr dirty="0"/>
              <a:t> </a:t>
            </a:r>
            <a:r>
              <a:rPr dirty="0" err="1"/>
              <a:t>требования</a:t>
            </a:r>
            <a:r>
              <a:rPr dirty="0"/>
              <a:t> </a:t>
            </a:r>
            <a:r>
              <a:rPr dirty="0" err="1"/>
              <a:t>есть</a:t>
            </a:r>
            <a:r>
              <a:rPr dirty="0"/>
              <a:t> к </a:t>
            </a:r>
            <a:r>
              <a:rPr dirty="0" err="1"/>
              <a:t>безопасности</a:t>
            </a:r>
            <a:r>
              <a:rPr dirty="0"/>
              <a:t> и </a:t>
            </a:r>
            <a:r>
              <a:rPr dirty="0" err="1"/>
              <a:t>управлению</a:t>
            </a:r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Шаг 2: сервисы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DHCP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автоматической</a:t>
            </a:r>
            <a:r>
              <a:rPr dirty="0"/>
              <a:t> </a:t>
            </a:r>
            <a:r>
              <a:rPr dirty="0" err="1"/>
              <a:t>настройки</a:t>
            </a:r>
            <a:r>
              <a:rPr dirty="0"/>
              <a:t> </a:t>
            </a:r>
            <a:r>
              <a:rPr dirty="0" err="1"/>
              <a:t>клиентов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DNS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обращения</a:t>
            </a:r>
            <a:r>
              <a:rPr dirty="0"/>
              <a:t> к </a:t>
            </a:r>
            <a:r>
              <a:rPr dirty="0" err="1"/>
              <a:t>сервисам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имени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Web </a:t>
            </a:r>
            <a:r>
              <a:rPr dirty="0" err="1"/>
              <a:t>или</a:t>
            </a:r>
            <a:r>
              <a:rPr dirty="0"/>
              <a:t> file server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учебной</a:t>
            </a:r>
            <a:r>
              <a:rPr dirty="0"/>
              <a:t> </a:t>
            </a:r>
            <a:r>
              <a:rPr dirty="0" err="1"/>
              <a:t>проверки</a:t>
            </a:r>
            <a:r>
              <a:rPr dirty="0"/>
              <a:t> </a:t>
            </a:r>
            <a:r>
              <a:rPr dirty="0" err="1"/>
              <a:t>сервиса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NAT/PAT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выхода</a:t>
            </a:r>
            <a:r>
              <a:rPr dirty="0"/>
              <a:t> </a:t>
            </a:r>
            <a:r>
              <a:rPr dirty="0" err="1"/>
              <a:t>во</a:t>
            </a:r>
            <a:r>
              <a:rPr dirty="0"/>
              <a:t> </a:t>
            </a:r>
            <a:r>
              <a:rPr dirty="0" err="1"/>
              <a:t>внешнюю</a:t>
            </a:r>
            <a:r>
              <a:rPr dirty="0"/>
              <a:t> </a:t>
            </a:r>
            <a:r>
              <a:rPr dirty="0" err="1"/>
              <a:t>сеть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Port forwarding, </a:t>
            </a: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внутренний</a:t>
            </a:r>
            <a:r>
              <a:rPr dirty="0"/>
              <a:t> </a:t>
            </a:r>
            <a:r>
              <a:rPr dirty="0" err="1"/>
              <a:t>сервис</a:t>
            </a:r>
            <a:r>
              <a:rPr dirty="0"/>
              <a:t>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опубликовать</a:t>
            </a:r>
            <a:r>
              <a:rPr dirty="0"/>
              <a:t> </a:t>
            </a:r>
            <a:r>
              <a:rPr dirty="0" err="1"/>
              <a:t>наружу</a:t>
            </a:r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Шаг 3: адресация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199" y="914400"/>
            <a:ext cx="11238271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Выбрать</a:t>
            </a:r>
            <a:r>
              <a:rPr dirty="0"/>
              <a:t> private IPv4-подсеть </a:t>
            </a:r>
            <a:r>
              <a:rPr dirty="0" err="1"/>
              <a:t>для</a:t>
            </a:r>
            <a:r>
              <a:rPr dirty="0"/>
              <a:t> LAN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Определить</a:t>
            </a:r>
            <a:r>
              <a:rPr dirty="0"/>
              <a:t> gateway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клиентов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Зарезервировать</a:t>
            </a:r>
            <a:r>
              <a:rPr dirty="0"/>
              <a:t> </a:t>
            </a:r>
            <a:r>
              <a:rPr dirty="0" err="1"/>
              <a:t>статические</a:t>
            </a:r>
            <a:r>
              <a:rPr dirty="0"/>
              <a:t> </a:t>
            </a:r>
            <a:r>
              <a:rPr dirty="0" err="1"/>
              <a:t>адреса</a:t>
            </a:r>
            <a:r>
              <a:rPr dirty="0"/>
              <a:t> </a:t>
            </a:r>
            <a:r>
              <a:rPr dirty="0" err="1"/>
              <a:t>серверов</a:t>
            </a:r>
            <a:r>
              <a:rPr dirty="0"/>
              <a:t> и </a:t>
            </a:r>
            <a:r>
              <a:rPr dirty="0" err="1"/>
              <a:t>сетевых</a:t>
            </a:r>
            <a:r>
              <a:rPr dirty="0"/>
              <a:t> </a:t>
            </a:r>
            <a:r>
              <a:rPr dirty="0" err="1"/>
              <a:t>устройств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Определить</a:t>
            </a:r>
            <a:r>
              <a:rPr dirty="0"/>
              <a:t> DHCP-</a:t>
            </a:r>
            <a:r>
              <a:rPr dirty="0" err="1"/>
              <a:t>диапазон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рабочих</a:t>
            </a:r>
            <a:r>
              <a:rPr dirty="0"/>
              <a:t> </a:t>
            </a:r>
            <a:r>
              <a:rPr dirty="0" err="1"/>
              <a:t>станций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Подготовить</a:t>
            </a:r>
            <a:r>
              <a:rPr dirty="0"/>
              <a:t> </a:t>
            </a:r>
            <a:r>
              <a:rPr dirty="0" err="1"/>
              <a:t>таблицу</a:t>
            </a:r>
            <a:r>
              <a:rPr dirty="0"/>
              <a:t> </a:t>
            </a:r>
            <a:r>
              <a:rPr dirty="0" err="1"/>
              <a:t>адресов</a:t>
            </a:r>
            <a:r>
              <a:rPr dirty="0"/>
              <a:t> </a:t>
            </a:r>
            <a:r>
              <a:rPr dirty="0" err="1"/>
              <a:t>до</a:t>
            </a:r>
            <a:r>
              <a:rPr dirty="0"/>
              <a:t> </a:t>
            </a:r>
            <a:r>
              <a:rPr dirty="0" err="1"/>
              <a:t>начала</a:t>
            </a:r>
            <a:r>
              <a:rPr dirty="0"/>
              <a:t> </a:t>
            </a:r>
            <a:r>
              <a:rPr dirty="0" err="1"/>
              <a:t>настройки</a:t>
            </a:r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02502-3A06-15D3-A410-18A483CAD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BA53EF4-AEAA-BA11-A301-70F7D8537C89}"/>
              </a:ext>
            </a:extLst>
          </p:cNvPr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Шаг</a:t>
            </a:r>
            <a:r>
              <a:rPr dirty="0"/>
              <a:t> 3: </a:t>
            </a:r>
            <a:r>
              <a:rPr dirty="0" err="1"/>
              <a:t>адресация</a:t>
            </a:r>
            <a:endParaRPr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DF49FED-7163-5633-4E00-958F1CE602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7292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Шаг 4: конфигурация и проверка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82516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Настроить</a:t>
            </a:r>
            <a:r>
              <a:rPr dirty="0"/>
              <a:t> </a:t>
            </a:r>
            <a:r>
              <a:rPr dirty="0" err="1"/>
              <a:t>интерфейсы</a:t>
            </a:r>
            <a:r>
              <a:rPr dirty="0"/>
              <a:t> </a:t>
            </a:r>
            <a:r>
              <a:rPr dirty="0" err="1"/>
              <a:t>сетевых</a:t>
            </a:r>
            <a:r>
              <a:rPr dirty="0"/>
              <a:t> </a:t>
            </a:r>
            <a:r>
              <a:rPr dirty="0" err="1"/>
              <a:t>устройств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Настроить</a:t>
            </a:r>
            <a:r>
              <a:rPr dirty="0"/>
              <a:t> DHCP, DNS и </a:t>
            </a:r>
            <a:r>
              <a:rPr dirty="0" err="1"/>
              <a:t>необходимые</a:t>
            </a:r>
            <a:r>
              <a:rPr dirty="0"/>
              <a:t> </a:t>
            </a:r>
            <a:r>
              <a:rPr dirty="0" err="1"/>
              <a:t>службы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Настроить</a:t>
            </a:r>
            <a:r>
              <a:rPr dirty="0"/>
              <a:t> </a:t>
            </a:r>
            <a:r>
              <a:rPr dirty="0" err="1"/>
              <a:t>маршруты</a:t>
            </a:r>
            <a:r>
              <a:rPr dirty="0"/>
              <a:t> и NAT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Проверить</a:t>
            </a:r>
            <a:r>
              <a:rPr dirty="0"/>
              <a:t> </a:t>
            </a:r>
            <a:r>
              <a:rPr dirty="0" err="1"/>
              <a:t>связь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простого</a:t>
            </a:r>
            <a:r>
              <a:rPr dirty="0"/>
              <a:t> к </a:t>
            </a:r>
            <a:r>
              <a:rPr dirty="0" err="1"/>
              <a:t>сложному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Зафиксировать</a:t>
            </a:r>
            <a:r>
              <a:rPr dirty="0"/>
              <a:t> </a:t>
            </a:r>
            <a:r>
              <a:rPr dirty="0" err="1"/>
              <a:t>команды</a:t>
            </a:r>
            <a:r>
              <a:rPr dirty="0"/>
              <a:t>, </a:t>
            </a:r>
            <a:r>
              <a:rPr dirty="0" err="1"/>
              <a:t>результаты</a:t>
            </a:r>
            <a:r>
              <a:rPr dirty="0"/>
              <a:t> и </a:t>
            </a:r>
            <a:r>
              <a:rPr dirty="0" err="1"/>
              <a:t>найденные</a:t>
            </a:r>
            <a:r>
              <a:rPr dirty="0"/>
              <a:t> </a:t>
            </a:r>
            <a:r>
              <a:rPr dirty="0" err="1"/>
              <a:t>ошибки</a:t>
            </a:r>
            <a:endParaRPr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Диаграмма</a:t>
            </a:r>
            <a:r>
              <a:rPr dirty="0"/>
              <a:t>: </a:t>
            </a:r>
            <a:r>
              <a:rPr dirty="0" err="1"/>
              <a:t>цикл</a:t>
            </a:r>
            <a:r>
              <a:rPr dirty="0"/>
              <a:t> </a:t>
            </a:r>
            <a:r>
              <a:rPr dirty="0" err="1"/>
              <a:t>проектирования</a:t>
            </a:r>
            <a:r>
              <a:rPr dirty="0"/>
              <a:t> </a:t>
            </a:r>
            <a:r>
              <a:rPr dirty="0" err="1"/>
              <a:t>сети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1B27344-A131-59F2-3DF7-D7F159155D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6786" y="182880"/>
            <a:ext cx="11707949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000" dirty="0"/>
              <a:t>4. </a:t>
            </a:r>
            <a:r>
              <a:rPr sz="4000" dirty="0" err="1"/>
              <a:t>Связь</a:t>
            </a:r>
            <a:r>
              <a:rPr sz="4000" dirty="0"/>
              <a:t> </a:t>
            </a:r>
            <a:r>
              <a:rPr sz="4000" dirty="0" err="1"/>
              <a:t>адресации</a:t>
            </a:r>
            <a:r>
              <a:rPr sz="4000" dirty="0"/>
              <a:t>, gateway, </a:t>
            </a:r>
            <a:r>
              <a:rPr sz="4000" dirty="0" err="1"/>
              <a:t>маршрутизации</a:t>
            </a:r>
            <a:r>
              <a:rPr sz="4000" dirty="0"/>
              <a:t> и NAT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199" y="914400"/>
            <a:ext cx="11223523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IP-</a:t>
            </a:r>
            <a:r>
              <a:rPr dirty="0" err="1"/>
              <a:t>адрес</a:t>
            </a:r>
            <a:r>
              <a:rPr dirty="0"/>
              <a:t> и </a:t>
            </a:r>
            <a:r>
              <a:rPr dirty="0" err="1"/>
              <a:t>маска</a:t>
            </a:r>
            <a:r>
              <a:rPr dirty="0"/>
              <a:t> </a:t>
            </a:r>
            <a:r>
              <a:rPr dirty="0" err="1"/>
              <a:t>определяют</a:t>
            </a:r>
            <a:r>
              <a:rPr dirty="0"/>
              <a:t> </a:t>
            </a:r>
            <a:r>
              <a:rPr dirty="0" err="1"/>
              <a:t>локальную</a:t>
            </a:r>
            <a:r>
              <a:rPr dirty="0"/>
              <a:t> </a:t>
            </a:r>
            <a:r>
              <a:rPr dirty="0" err="1"/>
              <a:t>подсеть</a:t>
            </a:r>
            <a:r>
              <a:rPr dirty="0"/>
              <a:t> </a:t>
            </a:r>
            <a:r>
              <a:rPr dirty="0" err="1"/>
              <a:t>клиента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Gateway </a:t>
            </a:r>
            <a:r>
              <a:rPr dirty="0" err="1"/>
              <a:t>принимает</a:t>
            </a:r>
            <a:r>
              <a:rPr dirty="0"/>
              <a:t> </a:t>
            </a:r>
            <a:r>
              <a:rPr dirty="0" err="1"/>
              <a:t>трафик</a:t>
            </a:r>
            <a:r>
              <a:rPr dirty="0"/>
              <a:t> к </a:t>
            </a:r>
            <a:r>
              <a:rPr dirty="0" err="1"/>
              <a:t>удаленным</a:t>
            </a:r>
            <a:r>
              <a:rPr dirty="0"/>
              <a:t> </a:t>
            </a:r>
            <a:r>
              <a:rPr dirty="0" err="1"/>
              <a:t>сетям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Маршрутизация</a:t>
            </a:r>
            <a:r>
              <a:rPr dirty="0"/>
              <a:t> </a:t>
            </a:r>
            <a:r>
              <a:rPr dirty="0" err="1"/>
              <a:t>выбирает</a:t>
            </a:r>
            <a:r>
              <a:rPr dirty="0"/>
              <a:t> </a:t>
            </a:r>
            <a:r>
              <a:rPr dirty="0" err="1"/>
              <a:t>следующий</a:t>
            </a:r>
            <a:r>
              <a:rPr dirty="0"/>
              <a:t> </a:t>
            </a:r>
            <a:r>
              <a:rPr dirty="0" err="1"/>
              <a:t>переход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пакета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NAT </a:t>
            </a:r>
            <a:r>
              <a:rPr dirty="0" err="1"/>
              <a:t>изменяет</a:t>
            </a:r>
            <a:r>
              <a:rPr dirty="0"/>
              <a:t> </a:t>
            </a:r>
            <a:r>
              <a:rPr dirty="0" err="1"/>
              <a:t>адреса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прохождении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</a:t>
            </a:r>
            <a:r>
              <a:rPr dirty="0" err="1"/>
              <a:t>границу</a:t>
            </a:r>
            <a:r>
              <a:rPr dirty="0"/>
              <a:t> </a:t>
            </a:r>
            <a:r>
              <a:rPr dirty="0" err="1"/>
              <a:t>сети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Все</a:t>
            </a:r>
            <a:r>
              <a:rPr dirty="0"/>
              <a:t> </a:t>
            </a:r>
            <a:r>
              <a:rPr dirty="0" err="1"/>
              <a:t>эти</a:t>
            </a:r>
            <a:r>
              <a:rPr dirty="0"/>
              <a:t> </a:t>
            </a:r>
            <a:r>
              <a:rPr dirty="0" err="1"/>
              <a:t>элементы</a:t>
            </a:r>
            <a:r>
              <a:rPr dirty="0"/>
              <a:t> </a:t>
            </a:r>
            <a:r>
              <a:rPr dirty="0" err="1"/>
              <a:t>должны</a:t>
            </a:r>
            <a:r>
              <a:rPr dirty="0"/>
              <a:t> </a:t>
            </a:r>
            <a:r>
              <a:rPr dirty="0" err="1"/>
              <a:t>быть</a:t>
            </a:r>
            <a:r>
              <a:rPr dirty="0"/>
              <a:t> </a:t>
            </a:r>
            <a:r>
              <a:rPr dirty="0" err="1"/>
              <a:t>согласованы</a:t>
            </a:r>
            <a:endParaRPr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Как клиент выбирает путь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Клиент</a:t>
            </a:r>
            <a:r>
              <a:rPr dirty="0"/>
              <a:t> </a:t>
            </a:r>
            <a:r>
              <a:rPr dirty="0" err="1"/>
              <a:t>сравнивает</a:t>
            </a:r>
            <a:r>
              <a:rPr dirty="0"/>
              <a:t> </a:t>
            </a:r>
            <a:r>
              <a:rPr dirty="0" err="1"/>
              <a:t>адрес</a:t>
            </a:r>
            <a:r>
              <a:rPr dirty="0"/>
              <a:t> </a:t>
            </a:r>
            <a:r>
              <a:rPr dirty="0" err="1"/>
              <a:t>назначения</a:t>
            </a:r>
            <a:r>
              <a:rPr dirty="0"/>
              <a:t> </a:t>
            </a:r>
            <a:r>
              <a:rPr dirty="0" err="1"/>
              <a:t>со</a:t>
            </a:r>
            <a:r>
              <a:rPr dirty="0"/>
              <a:t> </a:t>
            </a:r>
            <a:r>
              <a:rPr dirty="0" err="1"/>
              <a:t>своей</a:t>
            </a:r>
            <a:r>
              <a:rPr dirty="0"/>
              <a:t> </a:t>
            </a:r>
            <a:r>
              <a:rPr dirty="0" err="1"/>
              <a:t>подсетью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адрес</a:t>
            </a:r>
            <a:r>
              <a:rPr dirty="0"/>
              <a:t> </a:t>
            </a:r>
            <a:r>
              <a:rPr dirty="0" err="1"/>
              <a:t>локальный</a:t>
            </a:r>
            <a:r>
              <a:rPr dirty="0"/>
              <a:t>, </a:t>
            </a:r>
            <a:r>
              <a:rPr dirty="0" err="1"/>
              <a:t>клиент</a:t>
            </a:r>
            <a:r>
              <a:rPr dirty="0"/>
              <a:t> </a:t>
            </a:r>
            <a:r>
              <a:rPr dirty="0" err="1"/>
              <a:t>отправляет</a:t>
            </a:r>
            <a:r>
              <a:rPr dirty="0"/>
              <a:t> </a:t>
            </a:r>
            <a:r>
              <a:rPr dirty="0" err="1"/>
              <a:t>кадр</a:t>
            </a:r>
            <a:r>
              <a:rPr dirty="0"/>
              <a:t> </a:t>
            </a:r>
            <a:r>
              <a:rPr dirty="0" err="1"/>
              <a:t>напрямую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switch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адрес</a:t>
            </a:r>
            <a:r>
              <a:rPr dirty="0"/>
              <a:t> </a:t>
            </a:r>
            <a:r>
              <a:rPr dirty="0" err="1"/>
              <a:t>удаленный</a:t>
            </a:r>
            <a:r>
              <a:rPr dirty="0"/>
              <a:t>, </a:t>
            </a:r>
            <a:r>
              <a:rPr dirty="0" err="1"/>
              <a:t>клиент</a:t>
            </a:r>
            <a:r>
              <a:rPr dirty="0"/>
              <a:t> </a:t>
            </a:r>
            <a:r>
              <a:rPr dirty="0" err="1"/>
              <a:t>отправляет</a:t>
            </a:r>
            <a:r>
              <a:rPr dirty="0"/>
              <a:t> </a:t>
            </a:r>
            <a:r>
              <a:rPr dirty="0" err="1"/>
              <a:t>пакет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gateway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Gateway </a:t>
            </a:r>
            <a:r>
              <a:rPr dirty="0" err="1"/>
              <a:t>дальше</a:t>
            </a:r>
            <a:r>
              <a:rPr dirty="0"/>
              <a:t> </a:t>
            </a:r>
            <a:r>
              <a:rPr dirty="0" err="1"/>
              <a:t>использует</a:t>
            </a:r>
            <a:r>
              <a:rPr dirty="0"/>
              <a:t> </a:t>
            </a:r>
            <a:r>
              <a:rPr dirty="0" err="1"/>
              <a:t>таблицу</a:t>
            </a:r>
            <a:r>
              <a:rPr dirty="0"/>
              <a:t> </a:t>
            </a:r>
            <a:r>
              <a:rPr dirty="0" err="1"/>
              <a:t>маршрутизации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Ошибка</a:t>
            </a:r>
            <a:r>
              <a:rPr dirty="0"/>
              <a:t> в </a:t>
            </a:r>
            <a:r>
              <a:rPr dirty="0" err="1"/>
              <a:t>маске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привести</a:t>
            </a:r>
            <a:r>
              <a:rPr dirty="0"/>
              <a:t> к </a:t>
            </a:r>
            <a:r>
              <a:rPr dirty="0" err="1"/>
              <a:t>неверному</a:t>
            </a:r>
            <a:r>
              <a:rPr dirty="0"/>
              <a:t> </a:t>
            </a:r>
            <a:r>
              <a:rPr dirty="0" err="1"/>
              <a:t>выбору</a:t>
            </a:r>
            <a:r>
              <a:rPr dirty="0"/>
              <a:t> </a:t>
            </a:r>
            <a:r>
              <a:rPr dirty="0" err="1"/>
              <a:t>локального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удаленного</a:t>
            </a:r>
            <a:r>
              <a:rPr dirty="0"/>
              <a:t> </a:t>
            </a:r>
            <a:r>
              <a:rPr dirty="0" err="1"/>
              <a:t>пути</a:t>
            </a:r>
            <a:endParaRPr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Роль gateway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67768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Gateway </a:t>
            </a:r>
            <a:r>
              <a:rPr dirty="0" err="1"/>
              <a:t>должен</a:t>
            </a:r>
            <a:r>
              <a:rPr dirty="0"/>
              <a:t> </a:t>
            </a:r>
            <a:r>
              <a:rPr dirty="0" err="1"/>
              <a:t>находиться</a:t>
            </a:r>
            <a:r>
              <a:rPr dirty="0"/>
              <a:t> в </a:t>
            </a:r>
            <a:r>
              <a:rPr dirty="0" err="1"/>
              <a:t>той</a:t>
            </a:r>
            <a:r>
              <a:rPr dirty="0"/>
              <a:t> </a:t>
            </a:r>
            <a:r>
              <a:rPr dirty="0" err="1"/>
              <a:t>же</a:t>
            </a:r>
            <a:r>
              <a:rPr dirty="0"/>
              <a:t> </a:t>
            </a:r>
            <a:r>
              <a:rPr dirty="0" err="1"/>
              <a:t>подсети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и </a:t>
            </a:r>
            <a:r>
              <a:rPr dirty="0" err="1"/>
              <a:t>клиент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Обычно</a:t>
            </a:r>
            <a:r>
              <a:rPr dirty="0"/>
              <a:t> gateway - </a:t>
            </a:r>
            <a:r>
              <a:rPr dirty="0" err="1"/>
              <a:t>интерфейс</a:t>
            </a:r>
            <a:r>
              <a:rPr dirty="0"/>
              <a:t> </a:t>
            </a:r>
            <a:r>
              <a:rPr dirty="0" err="1"/>
              <a:t>маршрутизатора</a:t>
            </a:r>
            <a:r>
              <a:rPr dirty="0"/>
              <a:t> в LAN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DHCP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автоматически</a:t>
            </a:r>
            <a:r>
              <a:rPr dirty="0"/>
              <a:t> </a:t>
            </a:r>
            <a:r>
              <a:rPr dirty="0" err="1"/>
              <a:t>выдать</a:t>
            </a:r>
            <a:r>
              <a:rPr dirty="0"/>
              <a:t> </a:t>
            </a:r>
            <a:r>
              <a:rPr dirty="0" err="1"/>
              <a:t>клиенту</a:t>
            </a:r>
            <a:r>
              <a:rPr dirty="0"/>
              <a:t> </a:t>
            </a:r>
            <a:r>
              <a:rPr dirty="0" err="1"/>
              <a:t>адрес</a:t>
            </a:r>
            <a:r>
              <a:rPr dirty="0"/>
              <a:t> gateway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Если</a:t>
            </a:r>
            <a:r>
              <a:rPr dirty="0"/>
              <a:t> gateway </a:t>
            </a:r>
            <a:r>
              <a:rPr dirty="0" err="1"/>
              <a:t>недоступен</a:t>
            </a:r>
            <a:r>
              <a:rPr dirty="0"/>
              <a:t>, </a:t>
            </a:r>
            <a:r>
              <a:rPr dirty="0" err="1"/>
              <a:t>клиент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выйдет</a:t>
            </a:r>
            <a:r>
              <a:rPr dirty="0"/>
              <a:t> в </a:t>
            </a:r>
            <a:r>
              <a:rPr dirty="0" err="1"/>
              <a:t>другие</a:t>
            </a:r>
            <a:r>
              <a:rPr dirty="0"/>
              <a:t> </a:t>
            </a:r>
            <a:r>
              <a:rPr dirty="0" err="1"/>
              <a:t>сети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Ping </a:t>
            </a:r>
            <a:r>
              <a:rPr dirty="0" err="1"/>
              <a:t>до</a:t>
            </a:r>
            <a:r>
              <a:rPr dirty="0"/>
              <a:t> gateway - </a:t>
            </a:r>
            <a:r>
              <a:rPr dirty="0" err="1"/>
              <a:t>одна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первых</a:t>
            </a:r>
            <a:r>
              <a:rPr dirty="0"/>
              <a:t> </a:t>
            </a:r>
            <a:r>
              <a:rPr dirty="0" err="1"/>
              <a:t>проверок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диагностике</a:t>
            </a:r>
            <a:endParaRPr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Роль маршрутизации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199" y="914400"/>
            <a:ext cx="11223523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Маршрут</a:t>
            </a:r>
            <a:r>
              <a:rPr dirty="0"/>
              <a:t> </a:t>
            </a:r>
            <a:r>
              <a:rPr dirty="0" err="1"/>
              <a:t>указывает</a:t>
            </a:r>
            <a:r>
              <a:rPr dirty="0"/>
              <a:t>, </a:t>
            </a:r>
            <a:r>
              <a:rPr dirty="0" err="1"/>
              <a:t>куда</a:t>
            </a:r>
            <a:r>
              <a:rPr dirty="0"/>
              <a:t> </a:t>
            </a:r>
            <a:r>
              <a:rPr dirty="0" err="1"/>
              <a:t>отправлять</a:t>
            </a:r>
            <a:r>
              <a:rPr dirty="0"/>
              <a:t> </a:t>
            </a:r>
            <a:r>
              <a:rPr dirty="0" err="1"/>
              <a:t>пакет</a:t>
            </a:r>
            <a:r>
              <a:rPr dirty="0"/>
              <a:t> к </a:t>
            </a:r>
            <a:r>
              <a:rPr dirty="0" err="1"/>
              <a:t>определенной</a:t>
            </a:r>
            <a:r>
              <a:rPr dirty="0"/>
              <a:t> </a:t>
            </a:r>
            <a:r>
              <a:rPr dirty="0" err="1"/>
              <a:t>сети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Default route </a:t>
            </a:r>
            <a:r>
              <a:rPr dirty="0" err="1"/>
              <a:t>используется</a:t>
            </a:r>
            <a:r>
              <a:rPr dirty="0"/>
              <a:t>, </a:t>
            </a:r>
            <a:r>
              <a:rPr dirty="0" err="1"/>
              <a:t>когда</a:t>
            </a:r>
            <a:r>
              <a:rPr dirty="0"/>
              <a:t> </a:t>
            </a:r>
            <a:r>
              <a:rPr dirty="0" err="1"/>
              <a:t>более</a:t>
            </a:r>
            <a:r>
              <a:rPr dirty="0"/>
              <a:t> </a:t>
            </a:r>
            <a:r>
              <a:rPr dirty="0" err="1"/>
              <a:t>точного</a:t>
            </a:r>
            <a:r>
              <a:rPr dirty="0"/>
              <a:t> </a:t>
            </a:r>
            <a:r>
              <a:rPr dirty="0" err="1"/>
              <a:t>маршрута</a:t>
            </a:r>
            <a:r>
              <a:rPr dirty="0"/>
              <a:t> </a:t>
            </a:r>
            <a:r>
              <a:rPr dirty="0" err="1"/>
              <a:t>нет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малом</a:t>
            </a:r>
            <a:r>
              <a:rPr dirty="0"/>
              <a:t> </a:t>
            </a:r>
            <a:r>
              <a:rPr dirty="0" err="1"/>
              <a:t>маршрутизаторе</a:t>
            </a:r>
            <a:r>
              <a:rPr dirty="0"/>
              <a:t> </a:t>
            </a:r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достаточно</a:t>
            </a:r>
            <a:r>
              <a:rPr dirty="0"/>
              <a:t> </a:t>
            </a:r>
            <a:r>
              <a:rPr dirty="0" err="1"/>
              <a:t>маршрута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умолчанию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У </a:t>
            </a:r>
            <a:r>
              <a:rPr dirty="0" err="1"/>
              <a:t>провайдера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второго</a:t>
            </a:r>
            <a:r>
              <a:rPr dirty="0"/>
              <a:t> </a:t>
            </a:r>
            <a:r>
              <a:rPr dirty="0" err="1"/>
              <a:t>маршрутизатора</a:t>
            </a:r>
            <a:r>
              <a:rPr dirty="0"/>
              <a:t> </a:t>
            </a:r>
            <a:r>
              <a:rPr dirty="0" err="1"/>
              <a:t>должен</a:t>
            </a:r>
            <a:r>
              <a:rPr dirty="0"/>
              <a:t> </a:t>
            </a:r>
            <a:r>
              <a:rPr dirty="0" err="1"/>
              <a:t>быть</a:t>
            </a:r>
            <a:r>
              <a:rPr dirty="0"/>
              <a:t> </a:t>
            </a:r>
            <a:r>
              <a:rPr dirty="0" err="1"/>
              <a:t>обратный</a:t>
            </a:r>
            <a:r>
              <a:rPr dirty="0"/>
              <a:t> </a:t>
            </a:r>
            <a:r>
              <a:rPr dirty="0" err="1"/>
              <a:t>маршрут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обратного</a:t>
            </a:r>
            <a:r>
              <a:rPr dirty="0"/>
              <a:t> </a:t>
            </a:r>
            <a:r>
              <a:rPr dirty="0" err="1"/>
              <a:t>маршрута</a:t>
            </a:r>
            <a:r>
              <a:rPr dirty="0"/>
              <a:t> </a:t>
            </a:r>
            <a:r>
              <a:rPr dirty="0" err="1"/>
              <a:t>ответы</a:t>
            </a:r>
            <a:r>
              <a:rPr dirty="0"/>
              <a:t> </a:t>
            </a:r>
            <a:r>
              <a:rPr dirty="0" err="1"/>
              <a:t>могут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вернуться</a:t>
            </a:r>
            <a:r>
              <a:rPr dirty="0"/>
              <a:t> к </a:t>
            </a:r>
            <a:r>
              <a:rPr dirty="0" err="1"/>
              <a:t>клиенту</a:t>
            </a:r>
            <a:endParaRPr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Роль NAT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199" y="914400"/>
            <a:ext cx="11326761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NAT </a:t>
            </a:r>
            <a:r>
              <a:rPr dirty="0" err="1"/>
              <a:t>нужен</a:t>
            </a:r>
            <a:r>
              <a:rPr dirty="0"/>
              <a:t>, </a:t>
            </a:r>
            <a:r>
              <a:rPr dirty="0" err="1"/>
              <a:t>когда</a:t>
            </a:r>
            <a:r>
              <a:rPr dirty="0"/>
              <a:t> private IPv4-сеть </a:t>
            </a:r>
            <a:r>
              <a:rPr dirty="0" err="1"/>
              <a:t>выходит</a:t>
            </a:r>
            <a:r>
              <a:rPr dirty="0"/>
              <a:t> </a:t>
            </a:r>
            <a:r>
              <a:rPr dirty="0" err="1"/>
              <a:t>во</a:t>
            </a:r>
            <a:r>
              <a:rPr dirty="0"/>
              <a:t> </a:t>
            </a:r>
            <a:r>
              <a:rPr dirty="0" err="1"/>
              <a:t>внешнюю</a:t>
            </a:r>
            <a:r>
              <a:rPr dirty="0"/>
              <a:t> </a:t>
            </a:r>
            <a:r>
              <a:rPr dirty="0" err="1"/>
              <a:t>сеть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NAT </a:t>
            </a:r>
            <a:r>
              <a:rPr dirty="0" err="1"/>
              <a:t>обычно</a:t>
            </a:r>
            <a:r>
              <a:rPr dirty="0"/>
              <a:t> </a:t>
            </a:r>
            <a:r>
              <a:rPr dirty="0" err="1"/>
              <a:t>выполняется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пограничном</a:t>
            </a:r>
            <a:r>
              <a:rPr dirty="0"/>
              <a:t> </a:t>
            </a:r>
            <a:r>
              <a:rPr dirty="0" err="1"/>
              <a:t>маршрутизаторе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исходящего</a:t>
            </a:r>
            <a:r>
              <a:rPr dirty="0"/>
              <a:t> </a:t>
            </a:r>
            <a:r>
              <a:rPr dirty="0" err="1"/>
              <a:t>доступа</a:t>
            </a:r>
            <a:r>
              <a:rPr dirty="0"/>
              <a:t> </a:t>
            </a:r>
            <a:r>
              <a:rPr dirty="0" err="1"/>
              <a:t>чаще</a:t>
            </a:r>
            <a:r>
              <a:rPr dirty="0"/>
              <a:t> </a:t>
            </a:r>
            <a:r>
              <a:rPr dirty="0" err="1"/>
              <a:t>применяют</a:t>
            </a:r>
            <a:r>
              <a:rPr dirty="0"/>
              <a:t> PAT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входящего</a:t>
            </a:r>
            <a:r>
              <a:rPr dirty="0"/>
              <a:t> </a:t>
            </a:r>
            <a:r>
              <a:rPr dirty="0" err="1"/>
              <a:t>доступа</a:t>
            </a:r>
            <a:r>
              <a:rPr dirty="0"/>
              <a:t> к </a:t>
            </a:r>
            <a:r>
              <a:rPr dirty="0" err="1"/>
              <a:t>внутреннему</a:t>
            </a:r>
            <a:r>
              <a:rPr dirty="0"/>
              <a:t> </a:t>
            </a:r>
            <a:r>
              <a:rPr dirty="0" err="1"/>
              <a:t>серверу</a:t>
            </a:r>
            <a:r>
              <a:rPr dirty="0"/>
              <a:t> </a:t>
            </a:r>
            <a:r>
              <a:rPr dirty="0" err="1"/>
              <a:t>используют</a:t>
            </a:r>
            <a:r>
              <a:rPr dirty="0"/>
              <a:t> port forwarding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NAT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исправит</a:t>
            </a:r>
            <a:r>
              <a:rPr dirty="0"/>
              <a:t> </a:t>
            </a:r>
            <a:r>
              <a:rPr dirty="0" err="1"/>
              <a:t>ошибку</a:t>
            </a:r>
            <a:r>
              <a:rPr dirty="0"/>
              <a:t> gateway, </a:t>
            </a:r>
            <a:r>
              <a:rPr dirty="0" err="1"/>
              <a:t>маршрута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DNS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Схема</a:t>
            </a:r>
            <a:r>
              <a:rPr dirty="0"/>
              <a:t>: </a:t>
            </a:r>
            <a:r>
              <a:rPr dirty="0" err="1"/>
              <a:t>путь</a:t>
            </a:r>
            <a:r>
              <a:rPr dirty="0"/>
              <a:t> </a:t>
            </a:r>
            <a:r>
              <a:rPr dirty="0" err="1"/>
              <a:t>пакета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LAN </a:t>
            </a:r>
            <a:r>
              <a:rPr dirty="0" err="1"/>
              <a:t>во</a:t>
            </a:r>
            <a:r>
              <a:rPr dirty="0"/>
              <a:t> </a:t>
            </a:r>
            <a:r>
              <a:rPr dirty="0" err="1"/>
              <a:t>внешнюю</a:t>
            </a:r>
            <a:r>
              <a:rPr dirty="0"/>
              <a:t> </a:t>
            </a:r>
            <a:r>
              <a:rPr dirty="0" err="1"/>
              <a:t>сеть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A9F5310-85B4-B92E-2D83-7202633978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3600" dirty="0"/>
              <a:t>5. </a:t>
            </a:r>
            <a:r>
              <a:rPr sz="3600" dirty="0" err="1"/>
              <a:t>Последовательность</a:t>
            </a:r>
            <a:r>
              <a:rPr sz="3600" dirty="0"/>
              <a:t> </a:t>
            </a:r>
            <a:r>
              <a:rPr sz="3600" dirty="0" err="1"/>
              <a:t>базовой</a:t>
            </a:r>
            <a:r>
              <a:rPr sz="3600" dirty="0"/>
              <a:t> </a:t>
            </a:r>
            <a:r>
              <a:rPr sz="3600" dirty="0" err="1"/>
              <a:t>диагностики</a:t>
            </a:r>
            <a:r>
              <a:rPr sz="3600" dirty="0"/>
              <a:t> </a:t>
            </a:r>
            <a:r>
              <a:rPr sz="3600" dirty="0" err="1"/>
              <a:t>по</a:t>
            </a:r>
            <a:r>
              <a:rPr sz="3600" dirty="0"/>
              <a:t> </a:t>
            </a:r>
            <a:r>
              <a:rPr sz="3600" dirty="0" err="1"/>
              <a:t>уровням</a:t>
            </a:r>
            <a:endParaRPr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08774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Диагностика</a:t>
            </a:r>
            <a:r>
              <a:rPr dirty="0"/>
              <a:t> </a:t>
            </a:r>
            <a:r>
              <a:rPr dirty="0" err="1"/>
              <a:t>должна</a:t>
            </a:r>
            <a:r>
              <a:rPr dirty="0"/>
              <a:t> </a:t>
            </a:r>
            <a:r>
              <a:rPr dirty="0" err="1"/>
              <a:t>идти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простого</a:t>
            </a:r>
            <a:r>
              <a:rPr dirty="0"/>
              <a:t> к </a:t>
            </a:r>
            <a:r>
              <a:rPr dirty="0" err="1"/>
              <a:t>сложному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Сначала</a:t>
            </a:r>
            <a:r>
              <a:rPr dirty="0"/>
              <a:t> </a:t>
            </a:r>
            <a:r>
              <a:rPr dirty="0" err="1"/>
              <a:t>проверяют</a:t>
            </a:r>
            <a:r>
              <a:rPr dirty="0"/>
              <a:t> </a:t>
            </a:r>
            <a:r>
              <a:rPr dirty="0" err="1"/>
              <a:t>физическое</a:t>
            </a:r>
            <a:r>
              <a:rPr dirty="0"/>
              <a:t> </a:t>
            </a:r>
            <a:r>
              <a:rPr dirty="0" err="1"/>
              <a:t>подключение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Затем</a:t>
            </a:r>
            <a:r>
              <a:rPr dirty="0"/>
              <a:t> </a:t>
            </a:r>
            <a:r>
              <a:rPr dirty="0" err="1"/>
              <a:t>проверяют</a:t>
            </a:r>
            <a:r>
              <a:rPr dirty="0"/>
              <a:t> </a:t>
            </a:r>
            <a:r>
              <a:rPr dirty="0" err="1"/>
              <a:t>канальный</a:t>
            </a:r>
            <a:r>
              <a:rPr dirty="0"/>
              <a:t> </a:t>
            </a:r>
            <a:r>
              <a:rPr dirty="0" err="1"/>
              <a:t>уровень</a:t>
            </a:r>
            <a:r>
              <a:rPr dirty="0"/>
              <a:t> и </a:t>
            </a:r>
            <a:r>
              <a:rPr dirty="0" err="1"/>
              <a:t>локальный</a:t>
            </a:r>
            <a:r>
              <a:rPr dirty="0"/>
              <a:t> </a:t>
            </a:r>
            <a:r>
              <a:rPr dirty="0" err="1"/>
              <a:t>сегмент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этого</a:t>
            </a:r>
            <a:r>
              <a:rPr dirty="0"/>
              <a:t> </a:t>
            </a:r>
            <a:r>
              <a:rPr dirty="0" err="1"/>
              <a:t>проверяют</a:t>
            </a:r>
            <a:r>
              <a:rPr dirty="0"/>
              <a:t> IP-</a:t>
            </a:r>
            <a:r>
              <a:rPr dirty="0" err="1"/>
              <a:t>адресацию</a:t>
            </a:r>
            <a:r>
              <a:rPr dirty="0"/>
              <a:t> и </a:t>
            </a:r>
            <a:r>
              <a:rPr dirty="0" err="1"/>
              <a:t>маршруты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Затем</a:t>
            </a:r>
            <a:r>
              <a:rPr dirty="0"/>
              <a:t> </a:t>
            </a:r>
            <a:r>
              <a:rPr dirty="0" err="1"/>
              <a:t>проверяют</a:t>
            </a:r>
            <a:r>
              <a:rPr dirty="0"/>
              <a:t> </a:t>
            </a:r>
            <a:r>
              <a:rPr dirty="0" err="1"/>
              <a:t>порты</a:t>
            </a:r>
            <a:r>
              <a:rPr dirty="0"/>
              <a:t> и </a:t>
            </a:r>
            <a:r>
              <a:rPr dirty="0" err="1"/>
              <a:t>службы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В </a:t>
            </a:r>
            <a:r>
              <a:rPr dirty="0" err="1"/>
              <a:t>конце</a:t>
            </a:r>
            <a:r>
              <a:rPr dirty="0"/>
              <a:t> </a:t>
            </a:r>
            <a:r>
              <a:rPr dirty="0" err="1"/>
              <a:t>проверяют</a:t>
            </a:r>
            <a:r>
              <a:rPr dirty="0"/>
              <a:t> </a:t>
            </a:r>
            <a:r>
              <a:rPr dirty="0" err="1"/>
              <a:t>прикладную</a:t>
            </a:r>
            <a:r>
              <a:rPr dirty="0"/>
              <a:t> </a:t>
            </a:r>
            <a:r>
              <a:rPr dirty="0" err="1"/>
              <a:t>логику</a:t>
            </a:r>
            <a:r>
              <a:rPr dirty="0"/>
              <a:t>, </a:t>
            </a:r>
            <a:r>
              <a:rPr dirty="0" err="1"/>
              <a:t>учетные</a:t>
            </a:r>
            <a:r>
              <a:rPr dirty="0"/>
              <a:t> </a:t>
            </a:r>
            <a:r>
              <a:rPr dirty="0" err="1"/>
              <a:t>данные</a:t>
            </a:r>
            <a:r>
              <a:rPr dirty="0"/>
              <a:t> и </a:t>
            </a:r>
            <a:r>
              <a:rPr dirty="0" err="1"/>
              <a:t>права</a:t>
            </a:r>
            <a:endParaRPr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Почему нельзя начинать с настроек сервиса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Сервис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быть</a:t>
            </a:r>
            <a:r>
              <a:rPr dirty="0"/>
              <a:t> </a:t>
            </a:r>
            <a:r>
              <a:rPr dirty="0" err="1"/>
              <a:t>исправен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кабель</a:t>
            </a:r>
            <a:r>
              <a:rPr dirty="0"/>
              <a:t> </a:t>
            </a:r>
            <a:r>
              <a:rPr dirty="0" err="1"/>
              <a:t>отключен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DNS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быть</a:t>
            </a:r>
            <a:r>
              <a:rPr dirty="0"/>
              <a:t> </a:t>
            </a:r>
            <a:r>
              <a:rPr dirty="0" err="1"/>
              <a:t>исправен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клиент</a:t>
            </a:r>
            <a:r>
              <a:rPr dirty="0"/>
              <a:t> </a:t>
            </a:r>
            <a:r>
              <a:rPr dirty="0" err="1"/>
              <a:t>получил</a:t>
            </a:r>
            <a:r>
              <a:rPr dirty="0"/>
              <a:t> </a:t>
            </a:r>
            <a:r>
              <a:rPr dirty="0" err="1"/>
              <a:t>неверный</a:t>
            </a:r>
            <a:r>
              <a:rPr dirty="0"/>
              <a:t> gateway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NAT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быть</a:t>
            </a:r>
            <a:r>
              <a:rPr dirty="0"/>
              <a:t> </a:t>
            </a:r>
            <a:r>
              <a:rPr dirty="0" err="1"/>
              <a:t>исправен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нет</a:t>
            </a:r>
            <a:r>
              <a:rPr dirty="0"/>
              <a:t> </a:t>
            </a:r>
            <a:r>
              <a:rPr dirty="0" err="1"/>
              <a:t>маршрута</a:t>
            </a:r>
            <a:r>
              <a:rPr dirty="0"/>
              <a:t> </a:t>
            </a:r>
            <a:r>
              <a:rPr dirty="0" err="1"/>
              <a:t>обратно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Firewall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быть</a:t>
            </a:r>
            <a:r>
              <a:rPr dirty="0"/>
              <a:t> </a:t>
            </a:r>
            <a:r>
              <a:rPr dirty="0" err="1"/>
              <a:t>исправен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служба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слушает</a:t>
            </a:r>
            <a:r>
              <a:rPr dirty="0"/>
              <a:t> </a:t>
            </a:r>
            <a:r>
              <a:rPr dirty="0" err="1"/>
              <a:t>порт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последовательности</a:t>
            </a:r>
            <a:r>
              <a:rPr dirty="0"/>
              <a:t> </a:t>
            </a:r>
            <a:r>
              <a:rPr dirty="0" err="1"/>
              <a:t>легко</a:t>
            </a:r>
            <a:r>
              <a:rPr dirty="0"/>
              <a:t> </a:t>
            </a:r>
            <a:r>
              <a:rPr dirty="0" err="1"/>
              <a:t>потратить</a:t>
            </a:r>
            <a:r>
              <a:rPr dirty="0"/>
              <a:t> </a:t>
            </a:r>
            <a:r>
              <a:rPr dirty="0" err="1"/>
              <a:t>время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неверный</a:t>
            </a:r>
            <a:r>
              <a:rPr dirty="0"/>
              <a:t> </a:t>
            </a:r>
            <a:r>
              <a:rPr dirty="0" err="1"/>
              <a:t>уровень</a:t>
            </a:r>
            <a:endParaRPr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Симптом и причина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Симптом</a:t>
            </a:r>
            <a:r>
              <a:rPr dirty="0"/>
              <a:t> - </a:t>
            </a:r>
            <a:r>
              <a:rPr dirty="0" err="1"/>
              <a:t>внешнее</a:t>
            </a:r>
            <a:r>
              <a:rPr dirty="0"/>
              <a:t> </a:t>
            </a:r>
            <a:r>
              <a:rPr dirty="0" err="1"/>
              <a:t>проявление</a:t>
            </a:r>
            <a:r>
              <a:rPr dirty="0"/>
              <a:t> </a:t>
            </a:r>
            <a:r>
              <a:rPr dirty="0" err="1"/>
              <a:t>проблемы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Причина</a:t>
            </a:r>
            <a:r>
              <a:rPr dirty="0"/>
              <a:t> - </a:t>
            </a:r>
            <a:r>
              <a:rPr dirty="0" err="1"/>
              <a:t>конкретная</a:t>
            </a:r>
            <a:r>
              <a:rPr dirty="0"/>
              <a:t> </a:t>
            </a:r>
            <a:r>
              <a:rPr dirty="0" err="1"/>
              <a:t>ошибка</a:t>
            </a:r>
            <a:r>
              <a:rPr dirty="0"/>
              <a:t> в </a:t>
            </a:r>
            <a:r>
              <a:rPr dirty="0" err="1"/>
              <a:t>настройке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работе</a:t>
            </a:r>
            <a:r>
              <a:rPr dirty="0"/>
              <a:t> </a:t>
            </a:r>
            <a:r>
              <a:rPr dirty="0" err="1"/>
              <a:t>системы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"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работает</a:t>
            </a:r>
            <a:r>
              <a:rPr dirty="0"/>
              <a:t> </a:t>
            </a:r>
            <a:r>
              <a:rPr dirty="0" err="1"/>
              <a:t>интернет</a:t>
            </a:r>
            <a:r>
              <a:rPr dirty="0"/>
              <a:t>" </a:t>
            </a:r>
            <a:r>
              <a:rPr dirty="0" err="1"/>
              <a:t>является</a:t>
            </a:r>
            <a:r>
              <a:rPr dirty="0"/>
              <a:t> </a:t>
            </a:r>
            <a:r>
              <a:rPr dirty="0" err="1"/>
              <a:t>симптомом</a:t>
            </a:r>
            <a:r>
              <a:rPr dirty="0"/>
              <a:t>, а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диагнозом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Причина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быть</a:t>
            </a:r>
            <a:r>
              <a:rPr dirty="0"/>
              <a:t> в </a:t>
            </a:r>
            <a:r>
              <a:rPr dirty="0" err="1"/>
              <a:t>кабеле</a:t>
            </a:r>
            <a:r>
              <a:rPr dirty="0"/>
              <a:t>, DHCP, DNS, gateway, NAT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сервисе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Задача</a:t>
            </a:r>
            <a:r>
              <a:rPr dirty="0"/>
              <a:t> </a:t>
            </a:r>
            <a:r>
              <a:rPr dirty="0" err="1"/>
              <a:t>администратора</a:t>
            </a:r>
            <a:r>
              <a:rPr dirty="0"/>
              <a:t> - </a:t>
            </a:r>
            <a:r>
              <a:rPr dirty="0" err="1"/>
              <a:t>доказать</a:t>
            </a:r>
            <a:r>
              <a:rPr dirty="0"/>
              <a:t> </a:t>
            </a:r>
            <a:r>
              <a:rPr dirty="0" err="1"/>
              <a:t>причину</a:t>
            </a:r>
            <a:r>
              <a:rPr dirty="0"/>
              <a:t> </a:t>
            </a:r>
            <a:r>
              <a:rPr dirty="0" err="1"/>
              <a:t>проверками</a:t>
            </a:r>
            <a:endParaRPr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Диаграмма</a:t>
            </a:r>
            <a:r>
              <a:rPr dirty="0"/>
              <a:t>: </a:t>
            </a:r>
            <a:r>
              <a:rPr dirty="0" err="1"/>
              <a:t>диагностика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уровням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6A5FF93-1B7D-7452-0925-61BEEBB34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Базовый набор проверок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Есть</a:t>
            </a:r>
            <a:r>
              <a:rPr dirty="0"/>
              <a:t> </a:t>
            </a:r>
            <a:r>
              <a:rPr dirty="0" err="1"/>
              <a:t>ли</a:t>
            </a:r>
            <a:r>
              <a:rPr dirty="0"/>
              <a:t> </a:t>
            </a:r>
            <a:r>
              <a:rPr dirty="0" err="1"/>
              <a:t>линк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интерфейсе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Получил</a:t>
            </a:r>
            <a:r>
              <a:rPr dirty="0"/>
              <a:t> </a:t>
            </a:r>
            <a:r>
              <a:rPr dirty="0" err="1"/>
              <a:t>ли</a:t>
            </a:r>
            <a:r>
              <a:rPr dirty="0"/>
              <a:t> </a:t>
            </a:r>
            <a:r>
              <a:rPr dirty="0" err="1"/>
              <a:t>клиент</a:t>
            </a:r>
            <a:r>
              <a:rPr dirty="0"/>
              <a:t> </a:t>
            </a:r>
            <a:r>
              <a:rPr dirty="0" err="1"/>
              <a:t>правильные</a:t>
            </a:r>
            <a:r>
              <a:rPr dirty="0"/>
              <a:t> IP-</a:t>
            </a:r>
            <a:r>
              <a:rPr dirty="0" err="1"/>
              <a:t>параметры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Доступен</a:t>
            </a:r>
            <a:r>
              <a:rPr dirty="0"/>
              <a:t> </a:t>
            </a:r>
            <a:r>
              <a:rPr dirty="0" err="1"/>
              <a:t>ли</a:t>
            </a:r>
            <a:r>
              <a:rPr dirty="0"/>
              <a:t> gateway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Есть</a:t>
            </a:r>
            <a:r>
              <a:rPr dirty="0"/>
              <a:t> </a:t>
            </a:r>
            <a:r>
              <a:rPr dirty="0" err="1"/>
              <a:t>ли</a:t>
            </a:r>
            <a:r>
              <a:rPr dirty="0"/>
              <a:t> </a:t>
            </a:r>
            <a:r>
              <a:rPr dirty="0" err="1"/>
              <a:t>маршрут</a:t>
            </a:r>
            <a:r>
              <a:rPr dirty="0"/>
              <a:t> </a:t>
            </a:r>
            <a:r>
              <a:rPr dirty="0" err="1"/>
              <a:t>до</a:t>
            </a:r>
            <a:r>
              <a:rPr dirty="0"/>
              <a:t> </a:t>
            </a:r>
            <a:r>
              <a:rPr dirty="0" err="1"/>
              <a:t>удаленной</a:t>
            </a:r>
            <a:r>
              <a:rPr dirty="0"/>
              <a:t> </a:t>
            </a:r>
            <a:r>
              <a:rPr dirty="0" err="1"/>
              <a:t>сети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Разрешается</a:t>
            </a:r>
            <a:r>
              <a:rPr dirty="0"/>
              <a:t> </a:t>
            </a:r>
            <a:r>
              <a:rPr dirty="0" err="1"/>
              <a:t>ли</a:t>
            </a:r>
            <a:r>
              <a:rPr dirty="0"/>
              <a:t> </a:t>
            </a:r>
            <a:r>
              <a:rPr dirty="0" err="1"/>
              <a:t>имя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DNS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Открыт</a:t>
            </a:r>
            <a:r>
              <a:rPr dirty="0"/>
              <a:t> </a:t>
            </a:r>
            <a:r>
              <a:rPr dirty="0" err="1"/>
              <a:t>ли</a:t>
            </a:r>
            <a:r>
              <a:rPr dirty="0"/>
              <a:t> </a:t>
            </a:r>
            <a:r>
              <a:rPr dirty="0" err="1"/>
              <a:t>нужный</a:t>
            </a:r>
            <a:r>
              <a:rPr dirty="0"/>
              <a:t> TCP </a:t>
            </a:r>
            <a:r>
              <a:rPr dirty="0" err="1"/>
              <a:t>или</a:t>
            </a:r>
            <a:r>
              <a:rPr dirty="0"/>
              <a:t> UDP-</a:t>
            </a:r>
            <a:r>
              <a:rPr dirty="0" err="1"/>
              <a:t>порт</a:t>
            </a:r>
            <a:endParaRPr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94435" y="182880"/>
            <a:ext cx="8972649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/>
              <a:t>6. </a:t>
            </a:r>
            <a:r>
              <a:rPr sz="4800" dirty="0" err="1"/>
              <a:t>Проверка</a:t>
            </a:r>
            <a:r>
              <a:rPr sz="4800" dirty="0"/>
              <a:t> </a:t>
            </a:r>
            <a:r>
              <a:rPr sz="4800" dirty="0" err="1"/>
              <a:t>физического</a:t>
            </a:r>
            <a:r>
              <a:rPr sz="4800" dirty="0"/>
              <a:t> </a:t>
            </a:r>
            <a:r>
              <a:rPr sz="4800" dirty="0" err="1"/>
              <a:t>уровня</a:t>
            </a:r>
            <a:endParaRPr sz="4800"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88994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Физический</a:t>
            </a:r>
            <a:r>
              <a:rPr dirty="0"/>
              <a:t> </a:t>
            </a:r>
            <a:r>
              <a:rPr dirty="0" err="1"/>
              <a:t>уровень</a:t>
            </a:r>
            <a:r>
              <a:rPr dirty="0"/>
              <a:t> </a:t>
            </a:r>
            <a:r>
              <a:rPr dirty="0" err="1"/>
              <a:t>связан</a:t>
            </a:r>
            <a:r>
              <a:rPr dirty="0"/>
              <a:t> с </a:t>
            </a:r>
            <a:r>
              <a:rPr dirty="0" err="1"/>
              <a:t>передачей</a:t>
            </a:r>
            <a:r>
              <a:rPr dirty="0"/>
              <a:t> </a:t>
            </a:r>
            <a:r>
              <a:rPr dirty="0" err="1"/>
              <a:t>сигналов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среде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Проверяют</a:t>
            </a:r>
            <a:r>
              <a:rPr dirty="0"/>
              <a:t> </a:t>
            </a:r>
            <a:r>
              <a:rPr dirty="0" err="1"/>
              <a:t>кабель</a:t>
            </a:r>
            <a:r>
              <a:rPr dirty="0"/>
              <a:t>, </a:t>
            </a:r>
            <a:r>
              <a:rPr dirty="0" err="1"/>
              <a:t>порт</a:t>
            </a:r>
            <a:r>
              <a:rPr dirty="0"/>
              <a:t>, </a:t>
            </a:r>
            <a:r>
              <a:rPr dirty="0" err="1"/>
              <a:t>питание</a:t>
            </a:r>
            <a:r>
              <a:rPr dirty="0"/>
              <a:t> и </a:t>
            </a:r>
            <a:r>
              <a:rPr dirty="0" err="1"/>
              <a:t>состояние</a:t>
            </a:r>
            <a:r>
              <a:rPr dirty="0"/>
              <a:t> </a:t>
            </a:r>
            <a:r>
              <a:rPr dirty="0" err="1"/>
              <a:t>интерфейса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реальном</a:t>
            </a:r>
            <a:r>
              <a:rPr dirty="0"/>
              <a:t> </a:t>
            </a:r>
            <a:r>
              <a:rPr dirty="0" err="1"/>
              <a:t>оборудовании</a:t>
            </a:r>
            <a:r>
              <a:rPr dirty="0"/>
              <a:t> </a:t>
            </a:r>
            <a:r>
              <a:rPr dirty="0" err="1"/>
              <a:t>смотрят</a:t>
            </a:r>
            <a:r>
              <a:rPr dirty="0"/>
              <a:t> </a:t>
            </a:r>
            <a:r>
              <a:rPr dirty="0" err="1"/>
              <a:t>индикаторы</a:t>
            </a:r>
            <a:r>
              <a:rPr dirty="0"/>
              <a:t> </a:t>
            </a:r>
            <a:r>
              <a:rPr dirty="0" err="1"/>
              <a:t>линка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В Packet Tracer </a:t>
            </a:r>
            <a:r>
              <a:rPr dirty="0" err="1"/>
              <a:t>проверяют</a:t>
            </a:r>
            <a:r>
              <a:rPr dirty="0"/>
              <a:t> </a:t>
            </a:r>
            <a:r>
              <a:rPr dirty="0" err="1"/>
              <a:t>тип</a:t>
            </a:r>
            <a:r>
              <a:rPr dirty="0"/>
              <a:t> </a:t>
            </a:r>
            <a:r>
              <a:rPr dirty="0" err="1"/>
              <a:t>кабеля</a:t>
            </a:r>
            <a:r>
              <a:rPr dirty="0"/>
              <a:t> и </a:t>
            </a:r>
            <a:r>
              <a:rPr dirty="0" err="1"/>
              <a:t>состояние</a:t>
            </a:r>
            <a:r>
              <a:rPr dirty="0"/>
              <a:t> </a:t>
            </a:r>
            <a:r>
              <a:rPr dirty="0" err="1"/>
              <a:t>соединения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На</a:t>
            </a:r>
            <a:r>
              <a:rPr dirty="0"/>
              <a:t> ОС </a:t>
            </a:r>
            <a:r>
              <a:rPr dirty="0" err="1"/>
              <a:t>проверяют</a:t>
            </a:r>
            <a:r>
              <a:rPr dirty="0"/>
              <a:t>, </a:t>
            </a:r>
            <a:r>
              <a:rPr dirty="0" err="1"/>
              <a:t>видит</a:t>
            </a:r>
            <a:r>
              <a:rPr dirty="0"/>
              <a:t> </a:t>
            </a:r>
            <a:r>
              <a:rPr dirty="0" err="1"/>
              <a:t>ли</a:t>
            </a:r>
            <a:r>
              <a:rPr dirty="0"/>
              <a:t> </a:t>
            </a:r>
            <a:r>
              <a:rPr dirty="0" err="1"/>
              <a:t>сетевой</a:t>
            </a:r>
            <a:r>
              <a:rPr dirty="0"/>
              <a:t> </a:t>
            </a:r>
            <a:r>
              <a:rPr dirty="0" err="1"/>
              <a:t>адаптер</a:t>
            </a:r>
            <a:r>
              <a:rPr dirty="0"/>
              <a:t> </a:t>
            </a:r>
            <a:r>
              <a:rPr dirty="0" err="1"/>
              <a:t>подключение</a:t>
            </a:r>
            <a:endParaRPr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Что проверять на физическом уровне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Правильный</a:t>
            </a:r>
            <a:r>
              <a:rPr dirty="0"/>
              <a:t> </a:t>
            </a:r>
            <a:r>
              <a:rPr dirty="0" err="1"/>
              <a:t>ли</a:t>
            </a:r>
            <a:r>
              <a:rPr dirty="0"/>
              <a:t> </a:t>
            </a:r>
            <a:r>
              <a:rPr dirty="0" err="1"/>
              <a:t>кабель</a:t>
            </a:r>
            <a:r>
              <a:rPr dirty="0"/>
              <a:t> </a:t>
            </a:r>
            <a:r>
              <a:rPr dirty="0" err="1"/>
              <a:t>подключен</a:t>
            </a:r>
            <a:r>
              <a:rPr dirty="0"/>
              <a:t> к </a:t>
            </a:r>
            <a:r>
              <a:rPr dirty="0" err="1"/>
              <a:t>нужному</a:t>
            </a:r>
            <a:r>
              <a:rPr dirty="0"/>
              <a:t> </a:t>
            </a:r>
            <a:r>
              <a:rPr dirty="0" err="1"/>
              <a:t>порту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Включен</a:t>
            </a:r>
            <a:r>
              <a:rPr dirty="0"/>
              <a:t> </a:t>
            </a:r>
            <a:r>
              <a:rPr dirty="0" err="1"/>
              <a:t>ли</a:t>
            </a:r>
            <a:r>
              <a:rPr dirty="0"/>
              <a:t> </a:t>
            </a:r>
            <a:r>
              <a:rPr dirty="0" err="1"/>
              <a:t>интерфейс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маршрутизаторе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коммутаторе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Нет</a:t>
            </a:r>
            <a:r>
              <a:rPr dirty="0"/>
              <a:t> </a:t>
            </a:r>
            <a:r>
              <a:rPr dirty="0" err="1"/>
              <a:t>ли</a:t>
            </a:r>
            <a:r>
              <a:rPr dirty="0"/>
              <a:t> </a:t>
            </a:r>
            <a:r>
              <a:rPr dirty="0" err="1"/>
              <a:t>административного</a:t>
            </a:r>
            <a:r>
              <a:rPr dirty="0"/>
              <a:t> </a:t>
            </a:r>
            <a:r>
              <a:rPr dirty="0" err="1"/>
              <a:t>отключения</a:t>
            </a:r>
            <a:r>
              <a:rPr dirty="0"/>
              <a:t> </a:t>
            </a:r>
            <a:r>
              <a:rPr dirty="0" err="1"/>
              <a:t>интерфейса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Совпадают</a:t>
            </a:r>
            <a:r>
              <a:rPr dirty="0"/>
              <a:t> </a:t>
            </a:r>
            <a:r>
              <a:rPr dirty="0" err="1"/>
              <a:t>ли</a:t>
            </a:r>
            <a:r>
              <a:rPr dirty="0"/>
              <a:t> </a:t>
            </a:r>
            <a:r>
              <a:rPr dirty="0" err="1"/>
              <a:t>скорость</a:t>
            </a:r>
            <a:r>
              <a:rPr dirty="0"/>
              <a:t> и duplex, </a:t>
            </a: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они</a:t>
            </a:r>
            <a:r>
              <a:rPr dirty="0"/>
              <a:t> </a:t>
            </a:r>
            <a:r>
              <a:rPr dirty="0" err="1"/>
              <a:t>заданы</a:t>
            </a:r>
            <a:r>
              <a:rPr dirty="0"/>
              <a:t> </a:t>
            </a:r>
            <a:r>
              <a:rPr dirty="0" err="1"/>
              <a:t>вручную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Нет</a:t>
            </a:r>
            <a:r>
              <a:rPr dirty="0"/>
              <a:t> </a:t>
            </a:r>
            <a:r>
              <a:rPr dirty="0" err="1"/>
              <a:t>ли</a:t>
            </a:r>
            <a:r>
              <a:rPr dirty="0"/>
              <a:t> </a:t>
            </a:r>
            <a:r>
              <a:rPr dirty="0" err="1"/>
              <a:t>повреждения</a:t>
            </a:r>
            <a:r>
              <a:rPr dirty="0"/>
              <a:t> </a:t>
            </a:r>
            <a:r>
              <a:rPr dirty="0" err="1"/>
              <a:t>кабеля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ошибки</a:t>
            </a:r>
            <a:r>
              <a:rPr dirty="0"/>
              <a:t> </a:t>
            </a:r>
            <a:r>
              <a:rPr dirty="0" err="1"/>
              <a:t>порта</a:t>
            </a:r>
            <a:endParaRPr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Команды проверки физического уровня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На Cisco: `show ip interface brief`</a:t>
            </a:r>
          </a:p>
          <a:p>
            <a:pPr>
              <a:defRPr sz="3600"/>
            </a:pPr>
            <a:r>
              <a:t>На Cisco: `show interfaces status`</a:t>
            </a:r>
          </a:p>
          <a:p>
            <a:pPr>
              <a:defRPr sz="3600"/>
            </a:pPr>
            <a:r>
              <a:t>На Linux: `ip link`</a:t>
            </a:r>
          </a:p>
          <a:p>
            <a:pPr>
              <a:defRPr sz="3600"/>
            </a:pPr>
            <a:r>
              <a:t>На Windows: состояние сетевого адаптера в параметрах сети</a:t>
            </a:r>
          </a:p>
          <a:p>
            <a:pPr>
              <a:defRPr sz="3600"/>
            </a:pPr>
            <a:r>
              <a:t>В Packet Tracer: цвет соединения и состояние интерфейса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Типовые физические ошибки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Кабель</a:t>
            </a:r>
            <a:r>
              <a:rPr dirty="0"/>
              <a:t> </a:t>
            </a:r>
            <a:r>
              <a:rPr dirty="0" err="1"/>
              <a:t>подключен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в </a:t>
            </a:r>
            <a:r>
              <a:rPr dirty="0" err="1"/>
              <a:t>тот</a:t>
            </a:r>
            <a:r>
              <a:rPr dirty="0"/>
              <a:t> </a:t>
            </a:r>
            <a:r>
              <a:rPr dirty="0" err="1"/>
              <a:t>порт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Интерфейс</a:t>
            </a:r>
            <a:r>
              <a:rPr dirty="0"/>
              <a:t> </a:t>
            </a:r>
            <a:r>
              <a:rPr dirty="0" err="1"/>
              <a:t>находится</a:t>
            </a:r>
            <a:r>
              <a:rPr dirty="0"/>
              <a:t> в </a:t>
            </a:r>
            <a:r>
              <a:rPr dirty="0" err="1"/>
              <a:t>состоянии</a:t>
            </a:r>
            <a:r>
              <a:rPr dirty="0"/>
              <a:t> administratively down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Использован</a:t>
            </a:r>
            <a:r>
              <a:rPr dirty="0"/>
              <a:t> </a:t>
            </a:r>
            <a:r>
              <a:rPr dirty="0" err="1"/>
              <a:t>неверный</a:t>
            </a:r>
            <a:r>
              <a:rPr dirty="0"/>
              <a:t> </a:t>
            </a:r>
            <a:r>
              <a:rPr dirty="0" err="1"/>
              <a:t>тип</a:t>
            </a:r>
            <a:r>
              <a:rPr dirty="0"/>
              <a:t> </a:t>
            </a:r>
            <a:r>
              <a:rPr dirty="0" err="1"/>
              <a:t>кабеля</a:t>
            </a:r>
            <a:r>
              <a:rPr dirty="0"/>
              <a:t> в </a:t>
            </a:r>
            <a:r>
              <a:rPr dirty="0" err="1"/>
              <a:t>учебном</a:t>
            </a:r>
            <a:r>
              <a:rPr dirty="0"/>
              <a:t> </a:t>
            </a:r>
            <a:r>
              <a:rPr dirty="0" err="1"/>
              <a:t>симуляторе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Сервер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маршрутизатор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включен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Ошибка</a:t>
            </a:r>
            <a:r>
              <a:rPr dirty="0"/>
              <a:t> </a:t>
            </a:r>
            <a:r>
              <a:rPr dirty="0" err="1"/>
              <a:t>физического</a:t>
            </a:r>
            <a:r>
              <a:rPr dirty="0"/>
              <a:t> </a:t>
            </a:r>
            <a:r>
              <a:rPr dirty="0" err="1"/>
              <a:t>уровня</a:t>
            </a:r>
            <a:r>
              <a:rPr dirty="0"/>
              <a:t> </a:t>
            </a:r>
            <a:r>
              <a:rPr dirty="0" err="1"/>
              <a:t>блокирует</a:t>
            </a:r>
            <a:r>
              <a:rPr dirty="0"/>
              <a:t> </a:t>
            </a:r>
            <a:r>
              <a:rPr dirty="0" err="1"/>
              <a:t>все</a:t>
            </a:r>
            <a:r>
              <a:rPr dirty="0"/>
              <a:t> </a:t>
            </a:r>
            <a:r>
              <a:rPr dirty="0" err="1"/>
              <a:t>уровни</a:t>
            </a:r>
            <a:r>
              <a:rPr dirty="0"/>
              <a:t> </a:t>
            </a:r>
            <a:r>
              <a:rPr dirty="0" err="1"/>
              <a:t>выше</a:t>
            </a:r>
            <a:endParaRPr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55794" y="182880"/>
            <a:ext cx="8649932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/>
              <a:t>7. </a:t>
            </a:r>
            <a:r>
              <a:rPr sz="4800" dirty="0" err="1"/>
              <a:t>Проверка</a:t>
            </a:r>
            <a:r>
              <a:rPr sz="4800" dirty="0"/>
              <a:t> </a:t>
            </a:r>
            <a:r>
              <a:rPr sz="4800" dirty="0" err="1"/>
              <a:t>канального</a:t>
            </a:r>
            <a:r>
              <a:rPr sz="4800" dirty="0"/>
              <a:t> </a:t>
            </a:r>
            <a:r>
              <a:rPr sz="4800" dirty="0" err="1"/>
              <a:t>уровня</a:t>
            </a:r>
            <a:endParaRPr sz="4800"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15252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Канальный</a:t>
            </a:r>
            <a:r>
              <a:rPr dirty="0"/>
              <a:t> </a:t>
            </a:r>
            <a:r>
              <a:rPr dirty="0" err="1"/>
              <a:t>уровень</a:t>
            </a:r>
            <a:r>
              <a:rPr dirty="0"/>
              <a:t> </a:t>
            </a:r>
            <a:r>
              <a:rPr dirty="0" err="1"/>
              <a:t>работает</a:t>
            </a:r>
            <a:r>
              <a:rPr dirty="0"/>
              <a:t> с </a:t>
            </a:r>
            <a:r>
              <a:rPr dirty="0" err="1"/>
              <a:t>кадрами</a:t>
            </a:r>
            <a:r>
              <a:rPr dirty="0"/>
              <a:t> </a:t>
            </a:r>
            <a:r>
              <a:rPr dirty="0" err="1"/>
              <a:t>внутри</a:t>
            </a:r>
            <a:r>
              <a:rPr dirty="0"/>
              <a:t> </a:t>
            </a:r>
            <a:r>
              <a:rPr dirty="0" err="1"/>
              <a:t>локального</a:t>
            </a:r>
            <a:r>
              <a:rPr dirty="0"/>
              <a:t> </a:t>
            </a:r>
            <a:r>
              <a:rPr dirty="0" err="1"/>
              <a:t>сегмента</a:t>
            </a:r>
            <a:r>
              <a:rPr lang="ru-RU" dirty="0"/>
              <a:t>.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Ethernet </a:t>
            </a:r>
            <a:r>
              <a:rPr dirty="0" err="1"/>
              <a:t>использует</a:t>
            </a:r>
            <a:r>
              <a:rPr dirty="0"/>
              <a:t> MAC-</a:t>
            </a:r>
            <a:r>
              <a:rPr dirty="0" err="1"/>
              <a:t>адреса</a:t>
            </a:r>
            <a:r>
              <a:rPr lang="ru-RU" dirty="0"/>
              <a:t>.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Коммутатор</a:t>
            </a:r>
            <a:r>
              <a:rPr dirty="0"/>
              <a:t> </a:t>
            </a:r>
            <a:r>
              <a:rPr dirty="0" err="1"/>
              <a:t>принимает</a:t>
            </a:r>
            <a:r>
              <a:rPr dirty="0"/>
              <a:t> </a:t>
            </a:r>
            <a:r>
              <a:rPr dirty="0" err="1"/>
              <a:t>решения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таблице</a:t>
            </a:r>
            <a:r>
              <a:rPr dirty="0"/>
              <a:t> MAC-</a:t>
            </a:r>
            <a:r>
              <a:rPr dirty="0" err="1"/>
              <a:t>адресов</a:t>
            </a:r>
            <a:r>
              <a:rPr lang="ru-RU" dirty="0"/>
              <a:t>.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ARP </a:t>
            </a:r>
            <a:r>
              <a:rPr dirty="0" err="1"/>
              <a:t>связывает</a:t>
            </a:r>
            <a:r>
              <a:rPr dirty="0"/>
              <a:t> IPv4-адрес с MAC-</a:t>
            </a:r>
            <a:r>
              <a:rPr dirty="0" err="1"/>
              <a:t>адресом</a:t>
            </a:r>
            <a:r>
              <a:rPr dirty="0"/>
              <a:t> в </a:t>
            </a:r>
            <a:r>
              <a:rPr dirty="0" err="1"/>
              <a:t>локальной</a:t>
            </a:r>
            <a:r>
              <a:rPr dirty="0"/>
              <a:t> </a:t>
            </a:r>
            <a:r>
              <a:rPr dirty="0" err="1"/>
              <a:t>сети</a:t>
            </a:r>
            <a:r>
              <a:rPr lang="ru-RU" dirty="0"/>
              <a:t>.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Проблемы</a:t>
            </a:r>
            <a:r>
              <a:rPr dirty="0"/>
              <a:t> </a:t>
            </a:r>
            <a:r>
              <a:rPr dirty="0" err="1"/>
              <a:t>канального</a:t>
            </a:r>
            <a:r>
              <a:rPr dirty="0"/>
              <a:t> </a:t>
            </a:r>
            <a:r>
              <a:rPr dirty="0" err="1"/>
              <a:t>уровня</a:t>
            </a:r>
            <a:r>
              <a:rPr dirty="0"/>
              <a:t> </a:t>
            </a:r>
            <a:r>
              <a:rPr dirty="0" err="1"/>
              <a:t>мешают</a:t>
            </a:r>
            <a:r>
              <a:rPr dirty="0"/>
              <a:t> </a:t>
            </a:r>
            <a:r>
              <a:rPr dirty="0" err="1"/>
              <a:t>локальной</a:t>
            </a:r>
            <a:r>
              <a:rPr dirty="0"/>
              <a:t> </a:t>
            </a:r>
            <a:r>
              <a:rPr dirty="0" err="1"/>
              <a:t>связи</a:t>
            </a:r>
            <a:r>
              <a:rPr lang="ru-RU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MAC-таблицы коммутатора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MAC-</a:t>
            </a:r>
            <a:r>
              <a:rPr dirty="0" err="1"/>
              <a:t>таблица</a:t>
            </a:r>
            <a:r>
              <a:rPr dirty="0"/>
              <a:t> </a:t>
            </a:r>
            <a:r>
              <a:rPr dirty="0" err="1"/>
              <a:t>показывает</a:t>
            </a:r>
            <a:r>
              <a:rPr dirty="0"/>
              <a:t>, </a:t>
            </a:r>
            <a:r>
              <a:rPr dirty="0" err="1"/>
              <a:t>какие</a:t>
            </a:r>
            <a:r>
              <a:rPr dirty="0"/>
              <a:t> MAC-</a:t>
            </a:r>
            <a:r>
              <a:rPr dirty="0" err="1"/>
              <a:t>адреса</a:t>
            </a:r>
            <a:r>
              <a:rPr dirty="0"/>
              <a:t> </a:t>
            </a:r>
            <a:r>
              <a:rPr dirty="0" err="1"/>
              <a:t>видны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портах</a:t>
            </a:r>
            <a:r>
              <a:rPr lang="ru-RU" dirty="0"/>
              <a:t>.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адрес</a:t>
            </a:r>
            <a:r>
              <a:rPr dirty="0"/>
              <a:t> </a:t>
            </a:r>
            <a:r>
              <a:rPr dirty="0" err="1"/>
              <a:t>устройства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появляется</a:t>
            </a:r>
            <a:r>
              <a:rPr dirty="0"/>
              <a:t>,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проверять</a:t>
            </a:r>
            <a:r>
              <a:rPr dirty="0"/>
              <a:t> </a:t>
            </a:r>
            <a:r>
              <a:rPr dirty="0" err="1"/>
              <a:t>порт</a:t>
            </a:r>
            <a:r>
              <a:rPr dirty="0"/>
              <a:t> и </a:t>
            </a:r>
            <a:r>
              <a:rPr dirty="0" err="1"/>
              <a:t>кабель</a:t>
            </a:r>
            <a:r>
              <a:rPr lang="ru-RU" dirty="0"/>
              <a:t>.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На</a:t>
            </a:r>
            <a:r>
              <a:rPr dirty="0"/>
              <a:t> Cisco </a:t>
            </a:r>
            <a:r>
              <a:rPr dirty="0" err="1"/>
              <a:t>используют</a:t>
            </a:r>
            <a:r>
              <a:rPr dirty="0"/>
              <a:t> `show mac address-table`</a:t>
            </a:r>
            <a:r>
              <a:rPr lang="ru-RU" dirty="0"/>
              <a:t>.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Таблица</a:t>
            </a:r>
            <a:r>
              <a:rPr dirty="0"/>
              <a:t> </a:t>
            </a:r>
            <a:r>
              <a:rPr dirty="0" err="1"/>
              <a:t>заполняется</a:t>
            </a:r>
            <a:r>
              <a:rPr dirty="0"/>
              <a:t> </a:t>
            </a: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появления</a:t>
            </a:r>
            <a:r>
              <a:rPr dirty="0"/>
              <a:t> </a:t>
            </a:r>
            <a:r>
              <a:rPr dirty="0" err="1"/>
              <a:t>трафика</a:t>
            </a:r>
            <a:r>
              <a:rPr lang="ru-RU" dirty="0"/>
              <a:t>.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Отсутствие</a:t>
            </a:r>
            <a:r>
              <a:rPr dirty="0"/>
              <a:t> MAC-</a:t>
            </a:r>
            <a:r>
              <a:rPr dirty="0" err="1"/>
              <a:t>адреса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указывать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проблему</a:t>
            </a:r>
            <a:r>
              <a:rPr dirty="0"/>
              <a:t> </a:t>
            </a:r>
            <a:r>
              <a:rPr dirty="0" err="1"/>
              <a:t>подключения</a:t>
            </a:r>
            <a:r>
              <a:rPr lang="ru-RU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ARP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ARP - Address Resolution Protocol, </a:t>
            </a:r>
            <a:r>
              <a:rPr dirty="0" err="1"/>
              <a:t>протокол</a:t>
            </a:r>
            <a:r>
              <a:rPr dirty="0"/>
              <a:t> </a:t>
            </a:r>
            <a:r>
              <a:rPr dirty="0" err="1"/>
              <a:t>разрешения</a:t>
            </a:r>
            <a:r>
              <a:rPr dirty="0"/>
              <a:t> </a:t>
            </a:r>
            <a:r>
              <a:rPr dirty="0" err="1"/>
              <a:t>адресов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ARP </a:t>
            </a:r>
            <a:r>
              <a:rPr dirty="0" err="1"/>
              <a:t>нужен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поиска</a:t>
            </a:r>
            <a:r>
              <a:rPr dirty="0"/>
              <a:t> MAC-</a:t>
            </a:r>
            <a:r>
              <a:rPr dirty="0" err="1"/>
              <a:t>адреса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IPv4-адресу в LAN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На</a:t>
            </a:r>
            <a:r>
              <a:rPr dirty="0"/>
              <a:t> Windows </a:t>
            </a:r>
            <a:r>
              <a:rPr dirty="0" err="1"/>
              <a:t>используют</a:t>
            </a:r>
            <a:r>
              <a:rPr dirty="0"/>
              <a:t> `</a:t>
            </a:r>
            <a:r>
              <a:rPr dirty="0" err="1"/>
              <a:t>arp</a:t>
            </a:r>
            <a:r>
              <a:rPr dirty="0"/>
              <a:t> -a`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На</a:t>
            </a:r>
            <a:r>
              <a:rPr dirty="0"/>
              <a:t> Linux </a:t>
            </a:r>
            <a:r>
              <a:rPr dirty="0" err="1"/>
              <a:t>используют</a:t>
            </a:r>
            <a:r>
              <a:rPr dirty="0"/>
              <a:t> `</a:t>
            </a:r>
            <a:r>
              <a:rPr dirty="0" err="1"/>
              <a:t>ip</a:t>
            </a:r>
            <a:r>
              <a:rPr dirty="0"/>
              <a:t> neigh`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Если</a:t>
            </a:r>
            <a:r>
              <a:rPr dirty="0"/>
              <a:t> ARP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получает</a:t>
            </a:r>
            <a:r>
              <a:rPr dirty="0"/>
              <a:t> </a:t>
            </a:r>
            <a:r>
              <a:rPr dirty="0" err="1"/>
              <a:t>ответ</a:t>
            </a:r>
            <a:r>
              <a:rPr dirty="0"/>
              <a:t>, </a:t>
            </a:r>
            <a:r>
              <a:rPr dirty="0" err="1"/>
              <a:t>локальная</a:t>
            </a:r>
            <a:r>
              <a:rPr dirty="0"/>
              <a:t> </a:t>
            </a:r>
            <a:r>
              <a:rPr dirty="0" err="1"/>
              <a:t>связь</a:t>
            </a:r>
            <a:r>
              <a:rPr dirty="0"/>
              <a:t> </a:t>
            </a:r>
            <a:r>
              <a:rPr dirty="0" err="1"/>
              <a:t>нарушена</a:t>
            </a:r>
            <a:endParaRPr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Типовые ошибки канального уровня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Устройство</a:t>
            </a:r>
            <a:r>
              <a:rPr dirty="0"/>
              <a:t> </a:t>
            </a:r>
            <a:r>
              <a:rPr dirty="0" err="1"/>
              <a:t>подключено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к </a:t>
            </a:r>
            <a:r>
              <a:rPr dirty="0" err="1"/>
              <a:t>тому</a:t>
            </a:r>
            <a:r>
              <a:rPr dirty="0"/>
              <a:t> </a:t>
            </a:r>
            <a:r>
              <a:rPr dirty="0" err="1"/>
              <a:t>коммутатору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порту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Коммутатор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видит</a:t>
            </a:r>
            <a:r>
              <a:rPr dirty="0"/>
              <a:t> MAC-</a:t>
            </a:r>
            <a:r>
              <a:rPr dirty="0" err="1"/>
              <a:t>адрес</a:t>
            </a:r>
            <a:r>
              <a:rPr dirty="0"/>
              <a:t> </a:t>
            </a:r>
            <a:r>
              <a:rPr dirty="0" err="1"/>
              <a:t>клиента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ARP-</a:t>
            </a:r>
            <a:r>
              <a:rPr dirty="0" err="1"/>
              <a:t>запросы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получают</a:t>
            </a:r>
            <a:r>
              <a:rPr dirty="0"/>
              <a:t> </a:t>
            </a:r>
            <a:r>
              <a:rPr dirty="0" err="1"/>
              <a:t>ответа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В </a:t>
            </a:r>
            <a:r>
              <a:rPr dirty="0" err="1"/>
              <a:t>более</a:t>
            </a:r>
            <a:r>
              <a:rPr dirty="0"/>
              <a:t> </a:t>
            </a:r>
            <a:r>
              <a:rPr dirty="0" err="1"/>
              <a:t>сложных</a:t>
            </a:r>
            <a:r>
              <a:rPr dirty="0"/>
              <a:t> </a:t>
            </a:r>
            <a:r>
              <a:rPr dirty="0" err="1"/>
              <a:t>сетях</a:t>
            </a:r>
            <a:r>
              <a:rPr dirty="0"/>
              <a:t> </a:t>
            </a:r>
            <a:r>
              <a:rPr dirty="0" err="1"/>
              <a:t>возможны</a:t>
            </a:r>
            <a:r>
              <a:rPr dirty="0"/>
              <a:t> </a:t>
            </a:r>
            <a:r>
              <a:rPr dirty="0" err="1"/>
              <a:t>ошибки</a:t>
            </a:r>
            <a:r>
              <a:rPr dirty="0"/>
              <a:t> VLAN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данном</a:t>
            </a:r>
            <a:r>
              <a:rPr dirty="0"/>
              <a:t> </a:t>
            </a:r>
            <a:r>
              <a:rPr dirty="0" err="1"/>
              <a:t>этапе</a:t>
            </a:r>
            <a:r>
              <a:rPr dirty="0"/>
              <a:t> </a:t>
            </a:r>
            <a:r>
              <a:rPr dirty="0" err="1"/>
              <a:t>важно</a:t>
            </a:r>
            <a:r>
              <a:rPr dirty="0"/>
              <a:t> </a:t>
            </a:r>
            <a:r>
              <a:rPr dirty="0" err="1"/>
              <a:t>доказать</a:t>
            </a:r>
            <a:r>
              <a:rPr dirty="0"/>
              <a:t> </a:t>
            </a:r>
            <a:r>
              <a:rPr dirty="0" err="1"/>
              <a:t>локальную</a:t>
            </a:r>
            <a:r>
              <a:rPr dirty="0"/>
              <a:t> </a:t>
            </a:r>
            <a:r>
              <a:rPr dirty="0" err="1"/>
              <a:t>доступность</a:t>
            </a:r>
            <a:r>
              <a:rPr dirty="0"/>
              <a:t> gateway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5026" y="182880"/>
            <a:ext cx="11691469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400" dirty="0"/>
              <a:t>8. </a:t>
            </a:r>
            <a:r>
              <a:rPr sz="4400" dirty="0" err="1"/>
              <a:t>Проверка</a:t>
            </a:r>
            <a:r>
              <a:rPr sz="4400" dirty="0"/>
              <a:t> </a:t>
            </a:r>
            <a:r>
              <a:rPr sz="4400" dirty="0" err="1"/>
              <a:t>сетевого</a:t>
            </a:r>
            <a:r>
              <a:rPr sz="4400" dirty="0"/>
              <a:t> и </a:t>
            </a:r>
            <a:r>
              <a:rPr sz="4400" dirty="0" err="1"/>
              <a:t>транспортного</a:t>
            </a:r>
            <a:r>
              <a:rPr sz="4400" dirty="0"/>
              <a:t> </a:t>
            </a:r>
            <a:r>
              <a:rPr sz="4400" dirty="0" err="1"/>
              <a:t>уровней</a:t>
            </a:r>
            <a:endParaRPr sz="4400" dirty="0"/>
          </a:p>
        </p:txBody>
      </p:sp>
      <p:sp>
        <p:nvSpPr>
          <p:cNvPr id="3" name="TextBox 2"/>
          <p:cNvSpPr txBox="1"/>
          <p:nvPr/>
        </p:nvSpPr>
        <p:spPr>
          <a:xfrm>
            <a:off x="457199" y="914400"/>
            <a:ext cx="11253019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Сетевой</a:t>
            </a:r>
            <a:r>
              <a:rPr dirty="0"/>
              <a:t> </a:t>
            </a:r>
            <a:r>
              <a:rPr dirty="0" err="1"/>
              <a:t>уровень</a:t>
            </a:r>
            <a:r>
              <a:rPr dirty="0"/>
              <a:t> </a:t>
            </a:r>
            <a:r>
              <a:rPr dirty="0" err="1"/>
              <a:t>проверяют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IP-</a:t>
            </a:r>
            <a:r>
              <a:rPr dirty="0" err="1"/>
              <a:t>адресацию</a:t>
            </a:r>
            <a:r>
              <a:rPr dirty="0"/>
              <a:t> и </a:t>
            </a:r>
            <a:r>
              <a:rPr dirty="0" err="1"/>
              <a:t>маршруты</a:t>
            </a:r>
            <a:r>
              <a:rPr lang="ru-RU" dirty="0"/>
              <a:t>.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Транспортный</a:t>
            </a:r>
            <a:r>
              <a:rPr dirty="0"/>
              <a:t> </a:t>
            </a:r>
            <a:r>
              <a:rPr dirty="0" err="1"/>
              <a:t>уровень</a:t>
            </a:r>
            <a:r>
              <a:rPr dirty="0"/>
              <a:t> </a:t>
            </a:r>
            <a:r>
              <a:rPr dirty="0" err="1"/>
              <a:t>проверяют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TCP/UDP-</a:t>
            </a:r>
            <a:r>
              <a:rPr dirty="0" err="1"/>
              <a:t>порты</a:t>
            </a:r>
            <a:r>
              <a:rPr lang="ru-RU" dirty="0"/>
              <a:t>.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ICMP </a:t>
            </a:r>
            <a:r>
              <a:rPr dirty="0" err="1"/>
              <a:t>помогает</a:t>
            </a:r>
            <a:r>
              <a:rPr dirty="0"/>
              <a:t> </a:t>
            </a:r>
            <a:r>
              <a:rPr dirty="0" err="1"/>
              <a:t>проверить</a:t>
            </a:r>
            <a:r>
              <a:rPr dirty="0"/>
              <a:t> </a:t>
            </a:r>
            <a:r>
              <a:rPr dirty="0" err="1"/>
              <a:t>базовую</a:t>
            </a:r>
            <a:r>
              <a:rPr dirty="0"/>
              <a:t> IP-</a:t>
            </a:r>
            <a:r>
              <a:rPr dirty="0" err="1"/>
              <a:t>связность</a:t>
            </a:r>
            <a:r>
              <a:rPr lang="ru-RU" dirty="0"/>
              <a:t>.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Успешный</a:t>
            </a:r>
            <a:r>
              <a:rPr dirty="0"/>
              <a:t> ping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доказывает</a:t>
            </a:r>
            <a:r>
              <a:rPr dirty="0"/>
              <a:t> </a:t>
            </a:r>
            <a:r>
              <a:rPr dirty="0" err="1"/>
              <a:t>доступность</a:t>
            </a:r>
            <a:r>
              <a:rPr dirty="0"/>
              <a:t> </a:t>
            </a:r>
            <a:r>
              <a:rPr dirty="0" err="1"/>
              <a:t>приложения</a:t>
            </a:r>
            <a:r>
              <a:rPr lang="ru-RU" dirty="0"/>
              <a:t>.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проверять</a:t>
            </a:r>
            <a:r>
              <a:rPr dirty="0"/>
              <a:t> </a:t>
            </a:r>
            <a:r>
              <a:rPr dirty="0" err="1"/>
              <a:t>именно</a:t>
            </a:r>
            <a:r>
              <a:rPr dirty="0"/>
              <a:t> </a:t>
            </a:r>
            <a:r>
              <a:rPr dirty="0" err="1"/>
              <a:t>тот</a:t>
            </a:r>
            <a:r>
              <a:rPr dirty="0"/>
              <a:t> </a:t>
            </a:r>
            <a:r>
              <a:rPr dirty="0" err="1"/>
              <a:t>сервис</a:t>
            </a:r>
            <a:r>
              <a:rPr dirty="0"/>
              <a:t> и </a:t>
            </a:r>
            <a:r>
              <a:rPr dirty="0" err="1"/>
              <a:t>порт</a:t>
            </a:r>
            <a:r>
              <a:rPr dirty="0"/>
              <a:t>, </a:t>
            </a:r>
            <a:r>
              <a:rPr dirty="0" err="1"/>
              <a:t>которые</a:t>
            </a:r>
            <a:r>
              <a:rPr dirty="0"/>
              <a:t> </a:t>
            </a:r>
            <a:r>
              <a:rPr dirty="0" err="1"/>
              <a:t>требуются</a:t>
            </a:r>
            <a:r>
              <a:rPr lang="ru-RU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IP-параметров клиента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На</a:t>
            </a:r>
            <a:r>
              <a:rPr dirty="0"/>
              <a:t> Windows </a:t>
            </a:r>
            <a:r>
              <a:rPr dirty="0" err="1"/>
              <a:t>используют</a:t>
            </a:r>
            <a:r>
              <a:rPr dirty="0"/>
              <a:t> `ipconfig /all`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На</a:t>
            </a:r>
            <a:r>
              <a:rPr dirty="0"/>
              <a:t> Linux </a:t>
            </a:r>
            <a:r>
              <a:rPr dirty="0" err="1"/>
              <a:t>используют</a:t>
            </a:r>
            <a:r>
              <a:rPr dirty="0"/>
              <a:t> `</a:t>
            </a:r>
            <a:r>
              <a:rPr dirty="0" err="1"/>
              <a:t>ip</a:t>
            </a:r>
            <a:r>
              <a:rPr dirty="0"/>
              <a:t> </a:t>
            </a:r>
            <a:r>
              <a:rPr dirty="0" err="1"/>
              <a:t>addr</a:t>
            </a:r>
            <a:r>
              <a:rPr dirty="0"/>
              <a:t>` и `</a:t>
            </a:r>
            <a:r>
              <a:rPr dirty="0" err="1"/>
              <a:t>ip</a:t>
            </a:r>
            <a:r>
              <a:rPr dirty="0"/>
              <a:t> route`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Проверяют</a:t>
            </a:r>
            <a:r>
              <a:rPr dirty="0"/>
              <a:t> IP-</a:t>
            </a:r>
            <a:r>
              <a:rPr dirty="0" err="1"/>
              <a:t>адрес</a:t>
            </a:r>
            <a:r>
              <a:rPr dirty="0"/>
              <a:t>, </a:t>
            </a:r>
            <a:r>
              <a:rPr dirty="0" err="1"/>
              <a:t>маску</a:t>
            </a:r>
            <a:r>
              <a:rPr dirty="0"/>
              <a:t>, gateway и DNS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Проверяют</a:t>
            </a:r>
            <a:r>
              <a:rPr dirty="0"/>
              <a:t>,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попал</a:t>
            </a:r>
            <a:r>
              <a:rPr dirty="0"/>
              <a:t> </a:t>
            </a:r>
            <a:r>
              <a:rPr dirty="0" err="1"/>
              <a:t>ли</a:t>
            </a:r>
            <a:r>
              <a:rPr dirty="0"/>
              <a:t> </a:t>
            </a:r>
            <a:r>
              <a:rPr dirty="0" err="1"/>
              <a:t>клиент</a:t>
            </a:r>
            <a:r>
              <a:rPr dirty="0"/>
              <a:t> в </a:t>
            </a:r>
            <a:r>
              <a:rPr dirty="0" err="1"/>
              <a:t>неверную</a:t>
            </a:r>
            <a:r>
              <a:rPr dirty="0"/>
              <a:t> </a:t>
            </a:r>
            <a:r>
              <a:rPr dirty="0" err="1"/>
              <a:t>подсеть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Проверяют</a:t>
            </a:r>
            <a:r>
              <a:rPr dirty="0"/>
              <a:t>,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получил</a:t>
            </a:r>
            <a:r>
              <a:rPr dirty="0"/>
              <a:t> </a:t>
            </a:r>
            <a:r>
              <a:rPr dirty="0" err="1"/>
              <a:t>ли</a:t>
            </a:r>
            <a:r>
              <a:rPr dirty="0"/>
              <a:t> </a:t>
            </a:r>
            <a:r>
              <a:rPr dirty="0" err="1"/>
              <a:t>клиент</a:t>
            </a:r>
            <a:r>
              <a:rPr dirty="0"/>
              <a:t> </a:t>
            </a:r>
            <a:r>
              <a:rPr dirty="0" err="1"/>
              <a:t>адрес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неправильного</a:t>
            </a:r>
            <a:r>
              <a:rPr dirty="0"/>
              <a:t> DHCP-</a:t>
            </a:r>
            <a:r>
              <a:rPr dirty="0" err="1"/>
              <a:t>пула</a:t>
            </a:r>
            <a:endParaRPr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маршрута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199" y="914400"/>
            <a:ext cx="11253019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`ping gateway` </a:t>
            </a:r>
            <a:r>
              <a:rPr dirty="0" err="1"/>
              <a:t>проверяет</a:t>
            </a:r>
            <a:r>
              <a:rPr dirty="0"/>
              <a:t> </a:t>
            </a:r>
            <a:r>
              <a:rPr dirty="0" err="1"/>
              <a:t>доступность</a:t>
            </a:r>
            <a:r>
              <a:rPr dirty="0"/>
              <a:t> </a:t>
            </a:r>
            <a:r>
              <a:rPr dirty="0" err="1"/>
              <a:t>шлюза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`</a:t>
            </a:r>
            <a:r>
              <a:rPr dirty="0" err="1"/>
              <a:t>tracert</a:t>
            </a:r>
            <a:r>
              <a:rPr dirty="0"/>
              <a:t>` в Windows </a:t>
            </a:r>
            <a:r>
              <a:rPr dirty="0" err="1"/>
              <a:t>показывает</a:t>
            </a:r>
            <a:r>
              <a:rPr dirty="0"/>
              <a:t> </a:t>
            </a:r>
            <a:r>
              <a:rPr dirty="0" err="1"/>
              <a:t>путь</a:t>
            </a:r>
            <a:r>
              <a:rPr dirty="0"/>
              <a:t> </a:t>
            </a:r>
            <a:r>
              <a:rPr dirty="0" err="1"/>
              <a:t>до</a:t>
            </a:r>
            <a:r>
              <a:rPr dirty="0"/>
              <a:t> </a:t>
            </a:r>
            <a:r>
              <a:rPr dirty="0" err="1"/>
              <a:t>узла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`traceroute` </a:t>
            </a:r>
            <a:r>
              <a:rPr dirty="0" err="1"/>
              <a:t>или</a:t>
            </a:r>
            <a:r>
              <a:rPr dirty="0"/>
              <a:t> `</a:t>
            </a:r>
            <a:r>
              <a:rPr dirty="0" err="1"/>
              <a:t>tracepath</a:t>
            </a:r>
            <a:r>
              <a:rPr dirty="0"/>
              <a:t>` в Linux </a:t>
            </a:r>
            <a:r>
              <a:rPr dirty="0" err="1"/>
              <a:t>показывает</a:t>
            </a:r>
            <a:r>
              <a:rPr dirty="0"/>
              <a:t> </a:t>
            </a:r>
            <a:r>
              <a:rPr dirty="0" err="1"/>
              <a:t>путь</a:t>
            </a:r>
            <a:r>
              <a:rPr dirty="0"/>
              <a:t> </a:t>
            </a:r>
            <a:r>
              <a:rPr dirty="0" err="1"/>
              <a:t>до</a:t>
            </a:r>
            <a:r>
              <a:rPr dirty="0"/>
              <a:t> </a:t>
            </a:r>
            <a:r>
              <a:rPr dirty="0" err="1"/>
              <a:t>узла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Таблица</a:t>
            </a:r>
            <a:r>
              <a:rPr dirty="0"/>
              <a:t> </a:t>
            </a:r>
            <a:r>
              <a:rPr dirty="0" err="1"/>
              <a:t>маршрутизации</a:t>
            </a:r>
            <a:r>
              <a:rPr dirty="0"/>
              <a:t> </a:t>
            </a:r>
            <a:r>
              <a:rPr dirty="0" err="1"/>
              <a:t>показывает</a:t>
            </a:r>
            <a:r>
              <a:rPr dirty="0"/>
              <a:t> </a:t>
            </a:r>
            <a:r>
              <a:rPr dirty="0" err="1"/>
              <a:t>выбранный</a:t>
            </a:r>
            <a:r>
              <a:rPr dirty="0"/>
              <a:t> next hop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маршрут</a:t>
            </a:r>
            <a:r>
              <a:rPr dirty="0"/>
              <a:t> </a:t>
            </a:r>
            <a:r>
              <a:rPr dirty="0" err="1"/>
              <a:t>есть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в </a:t>
            </a:r>
            <a:r>
              <a:rPr dirty="0" err="1"/>
              <a:t>одну</a:t>
            </a:r>
            <a:r>
              <a:rPr dirty="0"/>
              <a:t> </a:t>
            </a:r>
            <a:r>
              <a:rPr dirty="0" err="1"/>
              <a:t>сторону</a:t>
            </a:r>
            <a:r>
              <a:rPr dirty="0"/>
              <a:t>, </a:t>
            </a:r>
            <a:r>
              <a:rPr dirty="0" err="1"/>
              <a:t>обмен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работать</a:t>
            </a:r>
            <a:endParaRPr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транспортного уровня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Проверяют</a:t>
            </a:r>
            <a:r>
              <a:rPr dirty="0"/>
              <a:t>, </a:t>
            </a:r>
            <a:r>
              <a:rPr dirty="0" err="1"/>
              <a:t>слушает</a:t>
            </a:r>
            <a:r>
              <a:rPr dirty="0"/>
              <a:t> </a:t>
            </a:r>
            <a:r>
              <a:rPr dirty="0" err="1"/>
              <a:t>ли</a:t>
            </a:r>
            <a:r>
              <a:rPr dirty="0"/>
              <a:t> </a:t>
            </a:r>
            <a:r>
              <a:rPr dirty="0" err="1"/>
              <a:t>сервер</a:t>
            </a:r>
            <a:r>
              <a:rPr dirty="0"/>
              <a:t> </a:t>
            </a:r>
            <a:r>
              <a:rPr dirty="0" err="1"/>
              <a:t>нужный</a:t>
            </a:r>
            <a:r>
              <a:rPr dirty="0"/>
              <a:t> </a:t>
            </a:r>
            <a:r>
              <a:rPr dirty="0" err="1"/>
              <a:t>порт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В Linux </a:t>
            </a:r>
            <a:r>
              <a:rPr dirty="0" err="1"/>
              <a:t>используют</a:t>
            </a:r>
            <a:r>
              <a:rPr dirty="0"/>
              <a:t> `ss -</a:t>
            </a:r>
            <a:r>
              <a:rPr dirty="0" err="1"/>
              <a:t>tulpen</a:t>
            </a:r>
            <a:r>
              <a:rPr dirty="0"/>
              <a:t>`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В Windows </a:t>
            </a:r>
            <a:r>
              <a:rPr dirty="0" err="1"/>
              <a:t>используют</a:t>
            </a:r>
            <a:r>
              <a:rPr dirty="0"/>
              <a:t> `netstat -</a:t>
            </a:r>
            <a:r>
              <a:rPr dirty="0" err="1"/>
              <a:t>ano</a:t>
            </a:r>
            <a:r>
              <a:rPr dirty="0"/>
              <a:t>`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С </a:t>
            </a:r>
            <a:r>
              <a:rPr dirty="0" err="1"/>
              <a:t>клиента</a:t>
            </a:r>
            <a:r>
              <a:rPr dirty="0"/>
              <a:t> </a:t>
            </a:r>
            <a:r>
              <a:rPr dirty="0" err="1"/>
              <a:t>проверяют</a:t>
            </a:r>
            <a:r>
              <a:rPr dirty="0"/>
              <a:t> TCP-</a:t>
            </a:r>
            <a:r>
              <a:rPr dirty="0" err="1"/>
              <a:t>порт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`Test-</a:t>
            </a:r>
            <a:r>
              <a:rPr dirty="0" err="1"/>
              <a:t>NetConnection</a:t>
            </a:r>
            <a:r>
              <a:rPr dirty="0"/>
              <a:t>` </a:t>
            </a:r>
            <a:r>
              <a:rPr dirty="0" err="1"/>
              <a:t>или</a:t>
            </a:r>
            <a:r>
              <a:rPr dirty="0"/>
              <a:t> `nc`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Для</a:t>
            </a:r>
            <a:r>
              <a:rPr dirty="0"/>
              <a:t> UDP </a:t>
            </a:r>
            <a:r>
              <a:rPr dirty="0" err="1"/>
              <a:t>оценивают</a:t>
            </a:r>
            <a:r>
              <a:rPr dirty="0"/>
              <a:t> </a:t>
            </a:r>
            <a:r>
              <a:rPr dirty="0" err="1"/>
              <a:t>ответ</a:t>
            </a:r>
            <a:r>
              <a:rPr dirty="0"/>
              <a:t> </a:t>
            </a:r>
            <a:r>
              <a:rPr dirty="0" err="1"/>
              <a:t>конкретного</a:t>
            </a:r>
            <a:r>
              <a:rPr dirty="0"/>
              <a:t> </a:t>
            </a:r>
            <a:r>
              <a:rPr dirty="0" err="1"/>
              <a:t>протокола</a:t>
            </a:r>
            <a:r>
              <a:rPr dirty="0"/>
              <a:t>, </a:t>
            </a:r>
            <a:r>
              <a:rPr dirty="0" err="1"/>
              <a:t>например</a:t>
            </a:r>
            <a:r>
              <a:rPr dirty="0"/>
              <a:t> DNS-</a:t>
            </a:r>
            <a:r>
              <a:rPr dirty="0" err="1"/>
              <a:t>запрос</a:t>
            </a:r>
            <a:endParaRPr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приложения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HTTP </a:t>
            </a:r>
            <a:r>
              <a:rPr dirty="0" err="1"/>
              <a:t>проверяют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</a:t>
            </a:r>
            <a:r>
              <a:rPr dirty="0" err="1"/>
              <a:t>браузер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`curl`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DNS </a:t>
            </a:r>
            <a:r>
              <a:rPr dirty="0" err="1"/>
              <a:t>проверяют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`</a:t>
            </a:r>
            <a:r>
              <a:rPr dirty="0" err="1"/>
              <a:t>nslookup</a:t>
            </a:r>
            <a:r>
              <a:rPr dirty="0"/>
              <a:t>`, `Resolve-</a:t>
            </a:r>
            <a:r>
              <a:rPr dirty="0" err="1"/>
              <a:t>DnsName</a:t>
            </a:r>
            <a:r>
              <a:rPr dirty="0"/>
              <a:t>` </a:t>
            </a:r>
            <a:r>
              <a:rPr dirty="0" err="1"/>
              <a:t>или</a:t>
            </a:r>
            <a:r>
              <a:rPr dirty="0"/>
              <a:t> `dig`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SSH </a:t>
            </a:r>
            <a:r>
              <a:rPr dirty="0" err="1"/>
              <a:t>проверяют</a:t>
            </a:r>
            <a:r>
              <a:rPr dirty="0"/>
              <a:t> </a:t>
            </a:r>
            <a:r>
              <a:rPr dirty="0" err="1"/>
              <a:t>попыткой</a:t>
            </a:r>
            <a:r>
              <a:rPr dirty="0"/>
              <a:t> </a:t>
            </a:r>
            <a:r>
              <a:rPr dirty="0" err="1"/>
              <a:t>подключения</a:t>
            </a:r>
            <a:r>
              <a:rPr dirty="0"/>
              <a:t> к TCP 22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Ошибка</a:t>
            </a:r>
            <a:r>
              <a:rPr dirty="0"/>
              <a:t> </a:t>
            </a:r>
            <a:r>
              <a:rPr dirty="0" err="1"/>
              <a:t>аутентификации</a:t>
            </a:r>
            <a:r>
              <a:rPr dirty="0"/>
              <a:t> </a:t>
            </a:r>
            <a:r>
              <a:rPr dirty="0" err="1"/>
              <a:t>означает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сервис</a:t>
            </a:r>
            <a:r>
              <a:rPr dirty="0"/>
              <a:t> </a:t>
            </a:r>
            <a:r>
              <a:rPr dirty="0" err="1"/>
              <a:t>уже</a:t>
            </a:r>
            <a:r>
              <a:rPr dirty="0"/>
              <a:t> </a:t>
            </a:r>
            <a:r>
              <a:rPr dirty="0" err="1"/>
              <a:t>отвечает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Ошибка</a:t>
            </a:r>
            <a:r>
              <a:rPr dirty="0"/>
              <a:t> </a:t>
            </a:r>
            <a:r>
              <a:rPr dirty="0" err="1"/>
              <a:t>сертификата</a:t>
            </a:r>
            <a:r>
              <a:rPr dirty="0"/>
              <a:t> </a:t>
            </a:r>
            <a:r>
              <a:rPr dirty="0" err="1"/>
              <a:t>отличается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недоступности</a:t>
            </a:r>
            <a:r>
              <a:rPr dirty="0"/>
              <a:t> </a:t>
            </a:r>
            <a:r>
              <a:rPr dirty="0" err="1"/>
              <a:t>порта</a:t>
            </a:r>
            <a:endParaRPr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23716" y="182880"/>
            <a:ext cx="9314088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/>
              <a:t>9. </a:t>
            </a:r>
            <a:r>
              <a:rPr dirty="0" err="1"/>
              <a:t>Документирование</a:t>
            </a:r>
            <a:r>
              <a:rPr dirty="0"/>
              <a:t> </a:t>
            </a:r>
            <a:r>
              <a:rPr dirty="0" err="1"/>
              <a:t>схемы</a:t>
            </a:r>
            <a:r>
              <a:rPr dirty="0"/>
              <a:t>, </a:t>
            </a:r>
            <a:r>
              <a:rPr dirty="0" err="1"/>
              <a:t>адресов</a:t>
            </a:r>
            <a:r>
              <a:rPr dirty="0"/>
              <a:t>, </a:t>
            </a:r>
            <a:r>
              <a:rPr dirty="0" err="1"/>
              <a:t>маршрутов</a:t>
            </a:r>
            <a:r>
              <a:rPr dirty="0"/>
              <a:t> </a:t>
            </a:r>
            <a:endParaRPr lang="ru-RU" dirty="0"/>
          </a:p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/>
              <a:t>и </a:t>
            </a:r>
            <a:r>
              <a:rPr dirty="0" err="1"/>
              <a:t>результатов</a:t>
            </a:r>
            <a:r>
              <a:rPr dirty="0"/>
              <a:t> </a:t>
            </a:r>
            <a:r>
              <a:rPr dirty="0" err="1"/>
              <a:t>проверки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199" y="1415844"/>
            <a:ext cx="11385755" cy="4710635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Документация</a:t>
            </a:r>
            <a:r>
              <a:rPr dirty="0"/>
              <a:t> </a:t>
            </a:r>
            <a:r>
              <a:rPr dirty="0" err="1"/>
              <a:t>нужна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повторяемости</a:t>
            </a:r>
            <a:r>
              <a:rPr dirty="0"/>
              <a:t> и </a:t>
            </a:r>
            <a:r>
              <a:rPr dirty="0" err="1"/>
              <a:t>контроля</a:t>
            </a:r>
            <a:r>
              <a:rPr dirty="0"/>
              <a:t> </a:t>
            </a:r>
            <a:r>
              <a:rPr dirty="0" err="1"/>
              <a:t>качества</a:t>
            </a:r>
            <a:r>
              <a:rPr lang="ru-RU" dirty="0"/>
              <a:t>.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документации</a:t>
            </a:r>
            <a:r>
              <a:rPr dirty="0"/>
              <a:t> </a:t>
            </a:r>
            <a:r>
              <a:rPr dirty="0" err="1"/>
              <a:t>сложно</a:t>
            </a:r>
            <a:r>
              <a:rPr dirty="0"/>
              <a:t> </a:t>
            </a:r>
            <a:r>
              <a:rPr dirty="0" err="1"/>
              <a:t>понять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было</a:t>
            </a:r>
            <a:r>
              <a:rPr dirty="0"/>
              <a:t> </a:t>
            </a:r>
            <a:r>
              <a:rPr dirty="0" err="1"/>
              <a:t>настроено</a:t>
            </a:r>
            <a:r>
              <a:rPr lang="ru-RU" dirty="0"/>
              <a:t>.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Документация</a:t>
            </a:r>
            <a:r>
              <a:rPr dirty="0"/>
              <a:t> </a:t>
            </a:r>
            <a:r>
              <a:rPr dirty="0" err="1"/>
              <a:t>помогает</a:t>
            </a:r>
            <a:r>
              <a:rPr dirty="0"/>
              <a:t> </a:t>
            </a:r>
            <a:r>
              <a:rPr dirty="0" err="1"/>
              <a:t>другому</a:t>
            </a:r>
            <a:r>
              <a:rPr dirty="0"/>
              <a:t> </a:t>
            </a:r>
            <a:r>
              <a:rPr dirty="0" err="1"/>
              <a:t>специалисту</a:t>
            </a:r>
            <a:r>
              <a:rPr dirty="0"/>
              <a:t> </a:t>
            </a:r>
            <a:r>
              <a:rPr dirty="0" err="1"/>
              <a:t>продолжить</a:t>
            </a:r>
            <a:r>
              <a:rPr dirty="0"/>
              <a:t> </a:t>
            </a:r>
            <a:r>
              <a:rPr dirty="0" err="1"/>
              <a:t>работу</a:t>
            </a:r>
            <a:r>
              <a:rPr lang="ru-RU" dirty="0"/>
              <a:t>.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В </a:t>
            </a:r>
            <a:r>
              <a:rPr dirty="0" err="1"/>
              <a:t>учебном</a:t>
            </a:r>
            <a:r>
              <a:rPr dirty="0"/>
              <a:t> </a:t>
            </a:r>
            <a:r>
              <a:rPr dirty="0" err="1"/>
              <a:t>проекте</a:t>
            </a:r>
            <a:r>
              <a:rPr dirty="0"/>
              <a:t> </a:t>
            </a:r>
            <a:r>
              <a:rPr dirty="0" err="1"/>
              <a:t>документация</a:t>
            </a:r>
            <a:r>
              <a:rPr dirty="0"/>
              <a:t> </a:t>
            </a:r>
            <a:r>
              <a:rPr dirty="0" err="1"/>
              <a:t>показывает</a:t>
            </a:r>
            <a:r>
              <a:rPr dirty="0"/>
              <a:t> </a:t>
            </a:r>
            <a:r>
              <a:rPr dirty="0" err="1"/>
              <a:t>ход</a:t>
            </a:r>
            <a:r>
              <a:rPr dirty="0"/>
              <a:t> </a:t>
            </a:r>
            <a:r>
              <a:rPr dirty="0" err="1"/>
              <a:t>мышления</a:t>
            </a:r>
            <a:r>
              <a:rPr dirty="0"/>
              <a:t> </a:t>
            </a:r>
            <a:r>
              <a:rPr dirty="0" err="1"/>
              <a:t>студента</a:t>
            </a:r>
            <a:r>
              <a:rPr lang="ru-RU" dirty="0"/>
              <a:t>.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Хороший</a:t>
            </a:r>
            <a:r>
              <a:rPr dirty="0"/>
              <a:t> </a:t>
            </a:r>
            <a:r>
              <a:rPr dirty="0" err="1"/>
              <a:t>отчет</a:t>
            </a:r>
            <a:r>
              <a:rPr dirty="0"/>
              <a:t> </a:t>
            </a:r>
            <a:r>
              <a:rPr dirty="0" err="1"/>
              <a:t>содержит</a:t>
            </a:r>
            <a:r>
              <a:rPr dirty="0"/>
              <a:t> </a:t>
            </a:r>
            <a:r>
              <a:rPr dirty="0" err="1"/>
              <a:t>схему</a:t>
            </a:r>
            <a:r>
              <a:rPr dirty="0"/>
              <a:t>, </a:t>
            </a:r>
            <a:r>
              <a:rPr dirty="0" err="1"/>
              <a:t>таблицы</a:t>
            </a:r>
            <a:r>
              <a:rPr dirty="0"/>
              <a:t> и </a:t>
            </a:r>
            <a:r>
              <a:rPr dirty="0" err="1"/>
              <a:t>результаты</a:t>
            </a:r>
            <a:r>
              <a:rPr dirty="0"/>
              <a:t> </a:t>
            </a:r>
            <a:r>
              <a:rPr dirty="0" err="1"/>
              <a:t>проверок</a:t>
            </a:r>
            <a:r>
              <a:rPr lang="ru-RU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Что должно быть в схеме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Названия</a:t>
            </a:r>
            <a:r>
              <a:rPr dirty="0"/>
              <a:t> </a:t>
            </a:r>
            <a:r>
              <a:rPr dirty="0" err="1"/>
              <a:t>устройств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Типы</a:t>
            </a:r>
            <a:r>
              <a:rPr dirty="0"/>
              <a:t> </a:t>
            </a:r>
            <a:r>
              <a:rPr dirty="0" err="1"/>
              <a:t>устройств</a:t>
            </a:r>
            <a:r>
              <a:rPr dirty="0"/>
              <a:t> и </a:t>
            </a:r>
            <a:r>
              <a:rPr dirty="0" err="1"/>
              <a:t>их</a:t>
            </a:r>
            <a:r>
              <a:rPr dirty="0"/>
              <a:t> </a:t>
            </a:r>
            <a:r>
              <a:rPr dirty="0" err="1"/>
              <a:t>роли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Соединения</a:t>
            </a:r>
            <a:r>
              <a:rPr dirty="0"/>
              <a:t> </a:t>
            </a:r>
            <a:r>
              <a:rPr dirty="0" err="1"/>
              <a:t>между</a:t>
            </a:r>
            <a:r>
              <a:rPr dirty="0"/>
              <a:t> </a:t>
            </a:r>
            <a:r>
              <a:rPr dirty="0" err="1"/>
              <a:t>устройствами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Подсети</a:t>
            </a:r>
            <a:r>
              <a:rPr dirty="0"/>
              <a:t> и </a:t>
            </a:r>
            <a:r>
              <a:rPr dirty="0" err="1"/>
              <a:t>адреса</a:t>
            </a:r>
            <a:r>
              <a:rPr dirty="0"/>
              <a:t> gateway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Основные</a:t>
            </a:r>
            <a:r>
              <a:rPr dirty="0"/>
              <a:t> </a:t>
            </a:r>
            <a:r>
              <a:rPr dirty="0" err="1"/>
              <a:t>службы</a:t>
            </a:r>
            <a:r>
              <a:rPr dirty="0"/>
              <a:t>: DHCP, DNS, web, NAT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Что должно быть в адресном плане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Название</a:t>
            </a:r>
            <a:r>
              <a:rPr dirty="0"/>
              <a:t> </a:t>
            </a:r>
            <a:r>
              <a:rPr dirty="0" err="1"/>
              <a:t>устройства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Интерфейс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сетевой</a:t>
            </a:r>
            <a:r>
              <a:rPr dirty="0"/>
              <a:t> </a:t>
            </a:r>
            <a:r>
              <a:rPr dirty="0" err="1"/>
              <a:t>адаптер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IP-</a:t>
            </a:r>
            <a:r>
              <a:rPr dirty="0" err="1"/>
              <a:t>адрес</a:t>
            </a:r>
            <a:r>
              <a:rPr dirty="0"/>
              <a:t> и </a:t>
            </a:r>
            <a:r>
              <a:rPr dirty="0" err="1"/>
              <a:t>маска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Gateway, </a:t>
            </a: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применимо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Способ</a:t>
            </a:r>
            <a:r>
              <a:rPr dirty="0"/>
              <a:t> </a:t>
            </a:r>
            <a:r>
              <a:rPr dirty="0" err="1"/>
              <a:t>назначения</a:t>
            </a:r>
            <a:r>
              <a:rPr dirty="0"/>
              <a:t> </a:t>
            </a:r>
            <a:r>
              <a:rPr dirty="0" err="1"/>
              <a:t>адреса</a:t>
            </a:r>
            <a:r>
              <a:rPr dirty="0"/>
              <a:t>: static </a:t>
            </a:r>
            <a:r>
              <a:rPr dirty="0" err="1"/>
              <a:t>или</a:t>
            </a:r>
            <a:r>
              <a:rPr dirty="0"/>
              <a:t> DHCP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Назначение</a:t>
            </a:r>
            <a:r>
              <a:rPr dirty="0"/>
              <a:t> </a:t>
            </a:r>
            <a:r>
              <a:rPr dirty="0" err="1"/>
              <a:t>устройства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сервиса</a:t>
            </a:r>
            <a:endParaRPr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Что фиксировать по маршрутизации и NAT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Маршруты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умолчанию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Статические</a:t>
            </a:r>
            <a:r>
              <a:rPr dirty="0"/>
              <a:t> </a:t>
            </a:r>
            <a:r>
              <a:rPr dirty="0" err="1"/>
              <a:t>маршруты</a:t>
            </a:r>
            <a:r>
              <a:rPr dirty="0"/>
              <a:t>, </a:t>
            </a: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они</a:t>
            </a:r>
            <a:r>
              <a:rPr dirty="0"/>
              <a:t> </a:t>
            </a:r>
            <a:r>
              <a:rPr dirty="0" err="1"/>
              <a:t>есть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NAT inside и NAT outside </a:t>
            </a:r>
            <a:r>
              <a:rPr dirty="0" err="1"/>
              <a:t>интерфейсы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Правила</a:t>
            </a:r>
            <a:r>
              <a:rPr dirty="0"/>
              <a:t> PAT </a:t>
            </a:r>
            <a:r>
              <a:rPr dirty="0" err="1"/>
              <a:t>или</a:t>
            </a:r>
            <a:r>
              <a:rPr dirty="0"/>
              <a:t> static NAT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Правила</a:t>
            </a:r>
            <a:r>
              <a:rPr dirty="0"/>
              <a:t> port forwarding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Проверку</a:t>
            </a:r>
            <a:r>
              <a:rPr dirty="0"/>
              <a:t> NAT-</a:t>
            </a:r>
            <a:r>
              <a:rPr dirty="0" err="1"/>
              <a:t>трансляций</a:t>
            </a:r>
            <a:endParaRPr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Что фиксировать по диагностике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199" y="914400"/>
            <a:ext cx="11312013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Проверяемый</a:t>
            </a:r>
            <a:r>
              <a:rPr dirty="0"/>
              <a:t> </a:t>
            </a:r>
            <a:r>
              <a:rPr dirty="0" err="1"/>
              <a:t>узел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сервис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Команду</a:t>
            </a:r>
            <a:r>
              <a:rPr dirty="0"/>
              <a:t> </a:t>
            </a:r>
            <a:r>
              <a:rPr dirty="0" err="1"/>
              <a:t>проверки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Ожидаемый</a:t>
            </a:r>
            <a:r>
              <a:rPr dirty="0"/>
              <a:t> </a:t>
            </a:r>
            <a:r>
              <a:rPr dirty="0" err="1"/>
              <a:t>результат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Фактический</a:t>
            </a:r>
            <a:r>
              <a:rPr dirty="0"/>
              <a:t> </a:t>
            </a:r>
            <a:r>
              <a:rPr dirty="0" err="1"/>
              <a:t>результат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Вывод</a:t>
            </a:r>
            <a:r>
              <a:rPr dirty="0"/>
              <a:t> </a:t>
            </a:r>
            <a:r>
              <a:rPr dirty="0" err="1"/>
              <a:t>студента</a:t>
            </a:r>
            <a:r>
              <a:rPr dirty="0"/>
              <a:t> о </a:t>
            </a:r>
            <a:r>
              <a:rPr dirty="0" err="1"/>
              <a:t>причине</a:t>
            </a:r>
            <a:r>
              <a:rPr dirty="0"/>
              <a:t> </a:t>
            </a:r>
            <a:r>
              <a:rPr dirty="0" err="1"/>
              <a:t>успеха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ошибки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Исправление</a:t>
            </a:r>
            <a:r>
              <a:rPr dirty="0"/>
              <a:t>, </a:t>
            </a: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ошибка</a:t>
            </a:r>
            <a:r>
              <a:rPr dirty="0"/>
              <a:t> </a:t>
            </a:r>
            <a:r>
              <a:rPr dirty="0" err="1"/>
              <a:t>была</a:t>
            </a:r>
            <a:r>
              <a:rPr dirty="0"/>
              <a:t> </a:t>
            </a:r>
            <a:r>
              <a:rPr dirty="0" err="1"/>
              <a:t>найдена</a:t>
            </a:r>
            <a:endParaRPr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Итоговый подход администратора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Сначала</a:t>
            </a:r>
            <a:r>
              <a:rPr dirty="0"/>
              <a:t> </a:t>
            </a:r>
            <a:r>
              <a:rPr dirty="0" err="1"/>
              <a:t>понять</a:t>
            </a:r>
            <a:r>
              <a:rPr dirty="0"/>
              <a:t> </a:t>
            </a:r>
            <a:r>
              <a:rPr dirty="0" err="1"/>
              <a:t>задачу</a:t>
            </a:r>
            <a:r>
              <a:rPr dirty="0"/>
              <a:t> </a:t>
            </a:r>
            <a:r>
              <a:rPr dirty="0" err="1"/>
              <a:t>сети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Затем</a:t>
            </a:r>
            <a:r>
              <a:rPr dirty="0"/>
              <a:t> </a:t>
            </a:r>
            <a:r>
              <a:rPr dirty="0" err="1"/>
              <a:t>проверить</a:t>
            </a:r>
            <a:r>
              <a:rPr dirty="0"/>
              <a:t> </a:t>
            </a:r>
            <a:r>
              <a:rPr dirty="0" err="1"/>
              <a:t>схему</a:t>
            </a:r>
            <a:r>
              <a:rPr dirty="0"/>
              <a:t> и </a:t>
            </a:r>
            <a:r>
              <a:rPr dirty="0" err="1"/>
              <a:t>адресный</a:t>
            </a:r>
            <a:r>
              <a:rPr dirty="0"/>
              <a:t> </a:t>
            </a:r>
            <a:r>
              <a:rPr dirty="0" err="1"/>
              <a:t>план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Настраивать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базовой</a:t>
            </a:r>
            <a:r>
              <a:rPr dirty="0"/>
              <a:t> </a:t>
            </a:r>
            <a:r>
              <a:rPr dirty="0" err="1"/>
              <a:t>связности</a:t>
            </a:r>
            <a:r>
              <a:rPr dirty="0"/>
              <a:t> к </a:t>
            </a:r>
            <a:r>
              <a:rPr dirty="0" err="1"/>
              <a:t>службам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Диагностировать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уровням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Документировать</a:t>
            </a:r>
            <a:r>
              <a:rPr dirty="0"/>
              <a:t> </a:t>
            </a:r>
            <a:r>
              <a:rPr dirty="0" err="1"/>
              <a:t>решения</a:t>
            </a:r>
            <a:r>
              <a:rPr dirty="0"/>
              <a:t> и </a:t>
            </a:r>
            <a:r>
              <a:rPr dirty="0" err="1"/>
              <a:t>результаты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изменений</a:t>
            </a:r>
            <a:r>
              <a:rPr dirty="0"/>
              <a:t> </a:t>
            </a:r>
            <a:r>
              <a:rPr dirty="0" err="1"/>
              <a:t>повторно</a:t>
            </a:r>
            <a:r>
              <a:rPr dirty="0"/>
              <a:t> </a:t>
            </a:r>
            <a:r>
              <a:rPr dirty="0" err="1"/>
              <a:t>проверять</a:t>
            </a:r>
            <a:r>
              <a:rPr dirty="0"/>
              <a:t> </a:t>
            </a:r>
            <a:r>
              <a:rPr dirty="0" err="1"/>
              <a:t>ключевые</a:t>
            </a:r>
            <a:r>
              <a:rPr dirty="0"/>
              <a:t> </a:t>
            </a:r>
            <a:r>
              <a:rPr dirty="0" err="1"/>
              <a:t>сервисы</a:t>
            </a:r>
            <a:endParaRPr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Итоги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Базовая</a:t>
            </a:r>
            <a:r>
              <a:rPr dirty="0"/>
              <a:t> </a:t>
            </a:r>
            <a:r>
              <a:rPr dirty="0" err="1"/>
              <a:t>сеть</a:t>
            </a:r>
            <a:r>
              <a:rPr dirty="0"/>
              <a:t> </a:t>
            </a:r>
            <a:r>
              <a:rPr dirty="0" err="1"/>
              <a:t>состоит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клиентов</a:t>
            </a:r>
            <a:r>
              <a:rPr dirty="0"/>
              <a:t>, </a:t>
            </a:r>
            <a:r>
              <a:rPr dirty="0" err="1"/>
              <a:t>серверов</a:t>
            </a:r>
            <a:r>
              <a:rPr dirty="0"/>
              <a:t>, </a:t>
            </a:r>
            <a:r>
              <a:rPr dirty="0" err="1"/>
              <a:t>коммутатора</a:t>
            </a:r>
            <a:r>
              <a:rPr dirty="0"/>
              <a:t>, </a:t>
            </a:r>
            <a:r>
              <a:rPr dirty="0" err="1"/>
              <a:t>маршрутизатора</a:t>
            </a:r>
            <a:r>
              <a:rPr dirty="0"/>
              <a:t> и </a:t>
            </a:r>
            <a:r>
              <a:rPr dirty="0" err="1"/>
              <a:t>служб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Физическая</a:t>
            </a:r>
            <a:r>
              <a:rPr dirty="0"/>
              <a:t> и </a:t>
            </a:r>
            <a:r>
              <a:rPr dirty="0" err="1"/>
              <a:t>логическая</a:t>
            </a:r>
            <a:r>
              <a:rPr dirty="0"/>
              <a:t> </a:t>
            </a:r>
            <a:r>
              <a:rPr dirty="0" err="1"/>
              <a:t>топология</a:t>
            </a:r>
            <a:r>
              <a:rPr dirty="0"/>
              <a:t> </a:t>
            </a:r>
            <a:r>
              <a:rPr dirty="0" err="1"/>
              <a:t>отвечают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разные</a:t>
            </a:r>
            <a:r>
              <a:rPr dirty="0"/>
              <a:t> </a:t>
            </a:r>
            <a:r>
              <a:rPr dirty="0" err="1"/>
              <a:t>вопросы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Проектирование</a:t>
            </a:r>
            <a:r>
              <a:rPr dirty="0"/>
              <a:t> </a:t>
            </a:r>
            <a:r>
              <a:rPr dirty="0" err="1"/>
              <a:t>начинается</a:t>
            </a:r>
            <a:r>
              <a:rPr dirty="0"/>
              <a:t> с </a:t>
            </a:r>
            <a:r>
              <a:rPr dirty="0" err="1"/>
              <a:t>требований</a:t>
            </a:r>
            <a:r>
              <a:rPr dirty="0"/>
              <a:t> и </a:t>
            </a:r>
            <a:r>
              <a:rPr dirty="0" err="1"/>
              <a:t>адресного</a:t>
            </a:r>
            <a:r>
              <a:rPr dirty="0"/>
              <a:t> </a:t>
            </a:r>
            <a:r>
              <a:rPr dirty="0" err="1"/>
              <a:t>плана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Gateway, </a:t>
            </a:r>
            <a:r>
              <a:rPr dirty="0" err="1"/>
              <a:t>маршрутизация</a:t>
            </a:r>
            <a:r>
              <a:rPr dirty="0"/>
              <a:t> и NAT </a:t>
            </a:r>
            <a:r>
              <a:rPr dirty="0" err="1"/>
              <a:t>должны</a:t>
            </a:r>
            <a:r>
              <a:rPr dirty="0"/>
              <a:t> </a:t>
            </a:r>
            <a:r>
              <a:rPr dirty="0" err="1"/>
              <a:t>работать</a:t>
            </a:r>
            <a:r>
              <a:rPr dirty="0"/>
              <a:t> </a:t>
            </a:r>
            <a:r>
              <a:rPr dirty="0" err="1"/>
              <a:t>согласованно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Диагностика</a:t>
            </a:r>
            <a:r>
              <a:rPr dirty="0"/>
              <a:t> </a:t>
            </a:r>
            <a:r>
              <a:rPr dirty="0" err="1"/>
              <a:t>выполняется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уровням</a:t>
            </a:r>
            <a:r>
              <a:rPr dirty="0"/>
              <a:t>,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физики</a:t>
            </a:r>
            <a:r>
              <a:rPr dirty="0"/>
              <a:t> к </a:t>
            </a:r>
            <a:r>
              <a:rPr dirty="0" err="1"/>
              <a:t>приложению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Документация</a:t>
            </a:r>
            <a:r>
              <a:rPr dirty="0"/>
              <a:t> </a:t>
            </a:r>
            <a:r>
              <a:rPr dirty="0" err="1"/>
              <a:t>является</a:t>
            </a:r>
            <a:r>
              <a:rPr dirty="0"/>
              <a:t> </a:t>
            </a:r>
            <a:r>
              <a:rPr dirty="0" err="1"/>
              <a:t>частью</a:t>
            </a:r>
            <a:r>
              <a:rPr dirty="0"/>
              <a:t> </a:t>
            </a:r>
            <a:r>
              <a:rPr dirty="0" err="1"/>
              <a:t>работы</a:t>
            </a:r>
            <a:r>
              <a:rPr dirty="0"/>
              <a:t> </a:t>
            </a:r>
            <a:r>
              <a:rPr dirty="0" err="1"/>
              <a:t>администратора</a:t>
            </a:r>
            <a:endParaRPr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Контрольные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/>
            </a:pPr>
            <a:r>
              <a:rPr sz="2800" dirty="0"/>
              <a:t>1. </a:t>
            </a:r>
            <a:r>
              <a:rPr sz="2800" dirty="0" err="1"/>
              <a:t>Какие</a:t>
            </a:r>
            <a:r>
              <a:rPr sz="2800" dirty="0"/>
              <a:t> </a:t>
            </a:r>
            <a:r>
              <a:rPr sz="2800" dirty="0" err="1"/>
              <a:t>элементы</a:t>
            </a:r>
            <a:r>
              <a:rPr sz="2800" dirty="0"/>
              <a:t> </a:t>
            </a:r>
            <a:r>
              <a:rPr sz="2800" dirty="0" err="1"/>
              <a:t>входят</a:t>
            </a:r>
            <a:r>
              <a:rPr sz="2800" dirty="0"/>
              <a:t> в </a:t>
            </a:r>
            <a:r>
              <a:rPr sz="2800" dirty="0" err="1"/>
              <a:t>состав</a:t>
            </a:r>
            <a:r>
              <a:rPr sz="2800" dirty="0"/>
              <a:t> </a:t>
            </a:r>
            <a:r>
              <a:rPr sz="2800" dirty="0" err="1"/>
              <a:t>базовой</a:t>
            </a:r>
            <a:r>
              <a:rPr sz="2800" dirty="0"/>
              <a:t> </a:t>
            </a:r>
            <a:r>
              <a:rPr sz="2800" dirty="0" err="1"/>
              <a:t>сети</a:t>
            </a:r>
            <a:r>
              <a:rPr sz="2800" dirty="0"/>
              <a:t>?</a:t>
            </a:r>
          </a:p>
          <a:p>
            <a:pPr>
              <a:defRPr sz="3600"/>
            </a:pPr>
            <a:r>
              <a:rPr sz="2800" dirty="0"/>
              <a:t>2. </a:t>
            </a:r>
            <a:r>
              <a:rPr sz="2800" dirty="0" err="1"/>
              <a:t>Чем</a:t>
            </a:r>
            <a:r>
              <a:rPr sz="2800" dirty="0"/>
              <a:t> </a:t>
            </a:r>
            <a:r>
              <a:rPr sz="2800" dirty="0" err="1"/>
              <a:t>физическая</a:t>
            </a:r>
            <a:r>
              <a:rPr sz="2800" dirty="0"/>
              <a:t> </a:t>
            </a:r>
            <a:r>
              <a:rPr sz="2800" dirty="0" err="1"/>
              <a:t>топология</a:t>
            </a:r>
            <a:r>
              <a:rPr sz="2800" dirty="0"/>
              <a:t> </a:t>
            </a:r>
            <a:r>
              <a:rPr sz="2800" dirty="0" err="1"/>
              <a:t>отличается</a:t>
            </a:r>
            <a:r>
              <a:rPr sz="2800" dirty="0"/>
              <a:t> </a:t>
            </a:r>
            <a:r>
              <a:rPr sz="2800" dirty="0" err="1"/>
              <a:t>от</a:t>
            </a:r>
            <a:r>
              <a:rPr sz="2800" dirty="0"/>
              <a:t> </a:t>
            </a:r>
            <a:r>
              <a:rPr sz="2800" dirty="0" err="1"/>
              <a:t>логической</a:t>
            </a:r>
            <a:r>
              <a:rPr sz="2800" dirty="0"/>
              <a:t>?</a:t>
            </a:r>
          </a:p>
          <a:p>
            <a:pPr>
              <a:defRPr sz="3600"/>
            </a:pPr>
            <a:r>
              <a:rPr sz="2800" dirty="0"/>
              <a:t>3. </a:t>
            </a:r>
            <a:r>
              <a:rPr sz="2800" dirty="0" err="1"/>
              <a:t>Что</a:t>
            </a:r>
            <a:r>
              <a:rPr sz="2800" dirty="0"/>
              <a:t> </a:t>
            </a:r>
            <a:r>
              <a:rPr sz="2800" dirty="0" err="1"/>
              <a:t>должно</a:t>
            </a:r>
            <a:r>
              <a:rPr sz="2800" dirty="0"/>
              <a:t> </a:t>
            </a:r>
            <a:r>
              <a:rPr sz="2800" dirty="0" err="1"/>
              <a:t>быть</a:t>
            </a:r>
            <a:r>
              <a:rPr sz="2800" dirty="0"/>
              <a:t> в </a:t>
            </a:r>
            <a:r>
              <a:rPr sz="2800" dirty="0" err="1"/>
              <a:t>адресном</a:t>
            </a:r>
            <a:r>
              <a:rPr sz="2800" dirty="0"/>
              <a:t> </a:t>
            </a:r>
            <a:r>
              <a:rPr sz="2800" dirty="0" err="1"/>
              <a:t>плане</a:t>
            </a:r>
            <a:r>
              <a:rPr sz="2800" dirty="0"/>
              <a:t>?</a:t>
            </a:r>
          </a:p>
          <a:p>
            <a:pPr>
              <a:defRPr sz="3600"/>
            </a:pPr>
            <a:r>
              <a:rPr sz="2800" dirty="0"/>
              <a:t>4. </a:t>
            </a:r>
            <a:r>
              <a:rPr sz="2800" dirty="0" err="1"/>
              <a:t>Почему</a:t>
            </a:r>
            <a:r>
              <a:rPr sz="2800" dirty="0"/>
              <a:t> gateway </a:t>
            </a:r>
            <a:r>
              <a:rPr sz="2800" dirty="0" err="1"/>
              <a:t>должен</a:t>
            </a:r>
            <a:r>
              <a:rPr sz="2800" dirty="0"/>
              <a:t> </a:t>
            </a:r>
            <a:r>
              <a:rPr sz="2800" dirty="0" err="1"/>
              <a:t>находиться</a:t>
            </a:r>
            <a:r>
              <a:rPr sz="2800" dirty="0"/>
              <a:t> в </a:t>
            </a:r>
            <a:r>
              <a:rPr sz="2800" dirty="0" err="1"/>
              <a:t>той</a:t>
            </a:r>
            <a:r>
              <a:rPr sz="2800" dirty="0"/>
              <a:t> </a:t>
            </a:r>
            <a:r>
              <a:rPr sz="2800" dirty="0" err="1"/>
              <a:t>же</a:t>
            </a:r>
            <a:r>
              <a:rPr sz="2800" dirty="0"/>
              <a:t> </a:t>
            </a:r>
            <a:r>
              <a:rPr sz="2800" dirty="0" err="1"/>
              <a:t>подсети</a:t>
            </a:r>
            <a:r>
              <a:rPr sz="2800" dirty="0"/>
              <a:t>, </a:t>
            </a:r>
            <a:r>
              <a:rPr sz="2800" dirty="0" err="1"/>
              <a:t>что</a:t>
            </a:r>
            <a:r>
              <a:rPr sz="2800" dirty="0"/>
              <a:t> и </a:t>
            </a:r>
            <a:r>
              <a:rPr sz="2800" dirty="0" err="1"/>
              <a:t>клиент</a:t>
            </a:r>
            <a:r>
              <a:rPr sz="2800" dirty="0"/>
              <a:t>?</a:t>
            </a:r>
          </a:p>
          <a:p>
            <a:pPr>
              <a:defRPr sz="3600"/>
            </a:pPr>
            <a:r>
              <a:rPr sz="2800" dirty="0"/>
              <a:t>5. </a:t>
            </a:r>
            <a:r>
              <a:rPr sz="2800" dirty="0" err="1"/>
              <a:t>Как</a:t>
            </a:r>
            <a:r>
              <a:rPr sz="2800" dirty="0"/>
              <a:t> </a:t>
            </a:r>
            <a:r>
              <a:rPr sz="2800" dirty="0" err="1"/>
              <a:t>связаны</a:t>
            </a:r>
            <a:r>
              <a:rPr sz="2800" dirty="0"/>
              <a:t> </a:t>
            </a:r>
            <a:r>
              <a:rPr sz="2800" dirty="0" err="1"/>
              <a:t>маршрутизация</a:t>
            </a:r>
            <a:r>
              <a:rPr sz="2800" dirty="0"/>
              <a:t> и NAT?</a:t>
            </a:r>
          </a:p>
          <a:p>
            <a:pPr>
              <a:defRPr sz="3600"/>
            </a:pPr>
            <a:r>
              <a:rPr sz="2800" dirty="0"/>
              <a:t>6. </a:t>
            </a:r>
            <a:r>
              <a:rPr sz="2800" dirty="0" err="1"/>
              <a:t>Почему</a:t>
            </a:r>
            <a:r>
              <a:rPr sz="2800" dirty="0"/>
              <a:t> </a:t>
            </a:r>
            <a:r>
              <a:rPr sz="2800" dirty="0" err="1"/>
              <a:t>диагностику</a:t>
            </a:r>
            <a:r>
              <a:rPr sz="2800" dirty="0"/>
              <a:t> </a:t>
            </a:r>
            <a:r>
              <a:rPr sz="2800" dirty="0" err="1"/>
              <a:t>начинают</a:t>
            </a:r>
            <a:r>
              <a:rPr sz="2800" dirty="0"/>
              <a:t> с </a:t>
            </a:r>
            <a:r>
              <a:rPr sz="2800" dirty="0" err="1"/>
              <a:t>физического</a:t>
            </a:r>
            <a:r>
              <a:rPr sz="2800" dirty="0"/>
              <a:t> </a:t>
            </a:r>
            <a:r>
              <a:rPr sz="2800" dirty="0" err="1"/>
              <a:t>уровня</a:t>
            </a:r>
            <a:r>
              <a:rPr sz="2800" dirty="0"/>
              <a:t>?</a:t>
            </a:r>
          </a:p>
          <a:p>
            <a:pPr>
              <a:defRPr sz="3600"/>
            </a:pPr>
            <a:r>
              <a:rPr sz="2800" dirty="0"/>
              <a:t>7. </a:t>
            </a:r>
            <a:r>
              <a:rPr sz="2800" dirty="0" err="1"/>
              <a:t>Как</a:t>
            </a:r>
            <a:r>
              <a:rPr sz="2800" dirty="0"/>
              <a:t> </a:t>
            </a:r>
            <a:r>
              <a:rPr sz="2800" dirty="0" err="1"/>
              <a:t>проверить</a:t>
            </a:r>
            <a:r>
              <a:rPr sz="2800" dirty="0"/>
              <a:t> </a:t>
            </a:r>
            <a:r>
              <a:rPr sz="2800" dirty="0" err="1"/>
              <a:t>канальный</a:t>
            </a:r>
            <a:r>
              <a:rPr sz="2800" dirty="0"/>
              <a:t> </a:t>
            </a:r>
            <a:r>
              <a:rPr sz="2800" dirty="0" err="1"/>
              <a:t>уровень</a:t>
            </a:r>
            <a:r>
              <a:rPr sz="2800" dirty="0"/>
              <a:t> в </a:t>
            </a:r>
            <a:r>
              <a:rPr sz="2800" dirty="0" err="1"/>
              <a:t>локальной</a:t>
            </a:r>
            <a:r>
              <a:rPr sz="2800" dirty="0"/>
              <a:t> </a:t>
            </a:r>
            <a:r>
              <a:rPr sz="2800" dirty="0" err="1"/>
              <a:t>сети</a:t>
            </a:r>
            <a:r>
              <a:rPr sz="2800" dirty="0"/>
              <a:t>?</a:t>
            </a:r>
          </a:p>
          <a:p>
            <a:pPr>
              <a:defRPr sz="3600"/>
            </a:pPr>
            <a:r>
              <a:rPr sz="2800" dirty="0"/>
              <a:t>8. </a:t>
            </a:r>
            <a:r>
              <a:rPr sz="2800" dirty="0" err="1"/>
              <a:t>Почему</a:t>
            </a:r>
            <a:r>
              <a:rPr sz="2800" dirty="0"/>
              <a:t> </a:t>
            </a:r>
            <a:r>
              <a:rPr sz="2800" dirty="0" err="1"/>
              <a:t>успешный</a:t>
            </a:r>
            <a:r>
              <a:rPr sz="2800" dirty="0"/>
              <a:t> ping </a:t>
            </a:r>
            <a:r>
              <a:rPr sz="2800" dirty="0" err="1"/>
              <a:t>не</a:t>
            </a:r>
            <a:r>
              <a:rPr sz="2800" dirty="0"/>
              <a:t> </a:t>
            </a:r>
            <a:r>
              <a:rPr sz="2800" dirty="0" err="1"/>
              <a:t>доказывает</a:t>
            </a:r>
            <a:r>
              <a:rPr sz="2800" dirty="0"/>
              <a:t> </a:t>
            </a:r>
            <a:r>
              <a:rPr sz="2800" dirty="0" err="1"/>
              <a:t>доступность</a:t>
            </a:r>
            <a:r>
              <a:rPr sz="2800" dirty="0"/>
              <a:t> </a:t>
            </a:r>
            <a:r>
              <a:rPr sz="2800" dirty="0" err="1"/>
              <a:t>приложения</a:t>
            </a:r>
            <a:r>
              <a:rPr sz="2800" dirty="0"/>
              <a:t>?</a:t>
            </a:r>
          </a:p>
          <a:p>
            <a:pPr>
              <a:defRPr sz="3600"/>
            </a:pPr>
            <a:r>
              <a:rPr sz="2800" dirty="0"/>
              <a:t>9. </a:t>
            </a:r>
            <a:r>
              <a:rPr sz="2800" dirty="0" err="1"/>
              <a:t>Какие</a:t>
            </a:r>
            <a:r>
              <a:rPr sz="2800" dirty="0"/>
              <a:t> </a:t>
            </a:r>
            <a:r>
              <a:rPr sz="2800" dirty="0" err="1"/>
              <a:t>данные</a:t>
            </a:r>
            <a:r>
              <a:rPr sz="2800" dirty="0"/>
              <a:t> </a:t>
            </a:r>
            <a:r>
              <a:rPr sz="2800" dirty="0" err="1"/>
              <a:t>нужно</a:t>
            </a:r>
            <a:r>
              <a:rPr sz="2800" dirty="0"/>
              <a:t> </a:t>
            </a:r>
            <a:r>
              <a:rPr sz="2800" dirty="0" err="1"/>
              <a:t>включить</a:t>
            </a:r>
            <a:r>
              <a:rPr sz="2800" dirty="0"/>
              <a:t> в </a:t>
            </a:r>
            <a:r>
              <a:rPr sz="2800" dirty="0" err="1"/>
              <a:t>техническую</a:t>
            </a:r>
            <a:r>
              <a:rPr sz="2800" dirty="0"/>
              <a:t> </a:t>
            </a:r>
            <a:r>
              <a:rPr sz="2800" dirty="0" err="1"/>
              <a:t>документацию</a:t>
            </a:r>
            <a:r>
              <a:rPr sz="2800" dirty="0"/>
              <a:t>?</a:t>
            </a:r>
          </a:p>
          <a:p>
            <a:pPr>
              <a:defRPr sz="3600"/>
            </a:pPr>
            <a:r>
              <a:rPr sz="2800" dirty="0"/>
              <a:t>10. </a:t>
            </a:r>
            <a:r>
              <a:rPr sz="2800" dirty="0" err="1"/>
              <a:t>Какой</a:t>
            </a:r>
            <a:r>
              <a:rPr sz="2800" dirty="0"/>
              <a:t> </a:t>
            </a:r>
            <a:r>
              <a:rPr sz="2800" dirty="0" err="1"/>
              <a:t>порядок</a:t>
            </a:r>
            <a:r>
              <a:rPr sz="2800" dirty="0"/>
              <a:t> </a:t>
            </a:r>
            <a:r>
              <a:rPr sz="2800" dirty="0" err="1"/>
              <a:t>проверки</a:t>
            </a:r>
            <a:r>
              <a:rPr sz="2800" dirty="0"/>
              <a:t> </a:t>
            </a:r>
            <a:r>
              <a:rPr sz="2800" dirty="0" err="1"/>
              <a:t>использовать</a:t>
            </a:r>
            <a:r>
              <a:rPr sz="2800" dirty="0"/>
              <a:t> в </a:t>
            </a:r>
            <a:r>
              <a:rPr sz="2800" dirty="0" err="1"/>
              <a:t>итоговом</a:t>
            </a:r>
            <a:r>
              <a:rPr sz="2800" dirty="0"/>
              <a:t> </a:t>
            </a:r>
            <a:r>
              <a:rPr sz="2800" dirty="0" err="1"/>
              <a:t>мини-проекте</a:t>
            </a:r>
            <a:r>
              <a:rPr sz="2800" dirty="0"/>
              <a:t>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2185</Words>
  <Application>Microsoft Office PowerPoint</Application>
  <PresentationFormat>Широкоэкранный</PresentationFormat>
  <Paragraphs>314</Paragraphs>
  <Slides>56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56</vt:i4>
      </vt:variant>
    </vt:vector>
  </HeadingPairs>
  <TitlesOfParts>
    <vt:vector size="59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5</cp:revision>
  <dcterms:created xsi:type="dcterms:W3CDTF">2013-01-27T09:14:16Z</dcterms:created>
  <dcterms:modified xsi:type="dcterms:W3CDTF">2026-06-28T05:37:39Z</dcterms:modified>
  <cp:category/>
</cp:coreProperties>
</file>