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79" r:id="rId15"/>
    <p:sldId id="281" r:id="rId16"/>
    <p:sldId id="278" r:id="rId17"/>
    <p:sldId id="283" r:id="rId18"/>
    <p:sldId id="284" r:id="rId19"/>
    <p:sldId id="285" r:id="rId20"/>
    <p:sldId id="286" r:id="rId21"/>
    <p:sldId id="276" r:id="rId22"/>
    <p:sldId id="269" r:id="rId23"/>
    <p:sldId id="282" r:id="rId24"/>
    <p:sldId id="287" r:id="rId25"/>
    <p:sldId id="270" r:id="rId26"/>
    <p:sldId id="288" r:id="rId27"/>
    <p:sldId id="271" r:id="rId28"/>
    <p:sldId id="272" r:id="rId29"/>
    <p:sldId id="273" r:id="rId30"/>
    <p:sldId id="274" r:id="rId31"/>
    <p:sldId id="290" r:id="rId32"/>
    <p:sldId id="291" r:id="rId33"/>
    <p:sldId id="293" r:id="rId34"/>
    <p:sldId id="292" r:id="rId35"/>
    <p:sldId id="294" r:id="rId36"/>
    <p:sldId id="275" r:id="rId37"/>
    <p:sldId id="289" r:id="rId38"/>
    <p:sldId id="29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netlab-ipv4-trainer.ardent-ape-2691.chatgpt.site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6983" y="1244764"/>
            <a:ext cx="709803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5.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IPv4-адресация и </a:t>
            </a:r>
            <a:r>
              <a:rPr sz="4800" dirty="0" err="1"/>
              <a:t>подсети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Сформировать</a:t>
            </a:r>
            <a:r>
              <a:rPr dirty="0"/>
              <a:t> у </a:t>
            </a:r>
            <a:r>
              <a:rPr dirty="0" err="1"/>
              <a:t>обучающихся</a:t>
            </a:r>
            <a:r>
              <a:rPr dirty="0"/>
              <a:t> </a:t>
            </a:r>
            <a:r>
              <a:rPr dirty="0" err="1"/>
              <a:t>умение</a:t>
            </a:r>
            <a:r>
              <a:rPr dirty="0"/>
              <a:t> </a:t>
            </a: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IPv4-адресации, </a:t>
            </a:r>
            <a:r>
              <a:rPr dirty="0" err="1"/>
              <a:t>рассчитывать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, broadcast, </a:t>
            </a:r>
            <a:r>
              <a:rPr dirty="0" err="1"/>
              <a:t>диапазон</a:t>
            </a:r>
            <a:r>
              <a:rPr dirty="0"/>
              <a:t> </a:t>
            </a:r>
            <a:r>
              <a:rPr dirty="0" err="1"/>
              <a:t>хостов</a:t>
            </a:r>
            <a:r>
              <a:rPr dirty="0"/>
              <a:t>, private IPv4, CIDR и </a:t>
            </a:r>
            <a:r>
              <a:rPr dirty="0" err="1"/>
              <a:t>базовый</a:t>
            </a:r>
            <a:r>
              <a:rPr dirty="0"/>
              <a:t> VLSM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небольшой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rPr dirty="0"/>
              <a:t>1. IPv4-адрес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идентификатор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 в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2. </a:t>
            </a:r>
            <a:r>
              <a:rPr dirty="0" err="1"/>
              <a:t>Маска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 и prefix.</a:t>
            </a:r>
          </a:p>
          <a:p>
            <a:pPr>
              <a:defRPr sz="3600"/>
            </a:pPr>
            <a:r>
              <a:rPr dirty="0"/>
              <a:t>3. Network address, broadcast address и </a:t>
            </a:r>
            <a:r>
              <a:rPr dirty="0" err="1"/>
              <a:t>диапазон</a:t>
            </a:r>
            <a:r>
              <a:rPr dirty="0"/>
              <a:t> </a:t>
            </a:r>
            <a:r>
              <a:rPr dirty="0" err="1"/>
              <a:t>хостов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4. Private IPv4-диапазоны.</a:t>
            </a:r>
          </a:p>
          <a:p>
            <a:pPr>
              <a:defRPr sz="3600"/>
            </a:pPr>
            <a:r>
              <a:rPr dirty="0"/>
              <a:t>5. Public IPv4 и </a:t>
            </a:r>
            <a:r>
              <a:rPr dirty="0" err="1"/>
              <a:t>отличие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private IPv4.</a:t>
            </a:r>
            <a:endParaRPr lang="ru-RU" dirty="0"/>
          </a:p>
          <a:p>
            <a:pPr>
              <a:defRPr sz="3600"/>
            </a:pPr>
            <a:r>
              <a:rPr lang="ru-RU" dirty="0"/>
              <a:t>6. Классовая адресация.</a:t>
            </a:r>
            <a:endParaRPr dirty="0"/>
          </a:p>
          <a:p>
            <a:pPr>
              <a:defRPr sz="3600"/>
            </a:pPr>
            <a:r>
              <a:rPr lang="ru-RU" dirty="0"/>
              <a:t>7</a:t>
            </a:r>
            <a:r>
              <a:rPr dirty="0"/>
              <a:t>. CIDR: </a:t>
            </a:r>
            <a:r>
              <a:rPr dirty="0" err="1"/>
              <a:t>бесклассовая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.</a:t>
            </a:r>
          </a:p>
          <a:p>
            <a:pPr>
              <a:defRPr sz="3600"/>
            </a:pPr>
            <a:r>
              <a:rPr lang="ru-RU" dirty="0"/>
              <a:t>8</a:t>
            </a:r>
            <a:r>
              <a:rPr dirty="0"/>
              <a:t>. VLSM: </a:t>
            </a:r>
            <a:r>
              <a:rPr dirty="0" err="1"/>
              <a:t>маски</a:t>
            </a:r>
            <a:r>
              <a:rPr dirty="0"/>
              <a:t> </a:t>
            </a:r>
            <a:r>
              <a:rPr dirty="0" err="1"/>
              <a:t>переменной</a:t>
            </a:r>
            <a:r>
              <a:rPr dirty="0"/>
              <a:t> </a:t>
            </a:r>
            <a:r>
              <a:rPr dirty="0" err="1"/>
              <a:t>длины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базовом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.</a:t>
            </a:r>
          </a:p>
          <a:p>
            <a:pPr>
              <a:defRPr sz="3600"/>
            </a:pPr>
            <a:r>
              <a:rPr lang="ru-RU" dirty="0"/>
              <a:t>9</a:t>
            </a:r>
            <a:r>
              <a:rPr dirty="0"/>
              <a:t>. </a:t>
            </a:r>
            <a:r>
              <a:rPr dirty="0" err="1"/>
              <a:t>Расчет</a:t>
            </a:r>
            <a:r>
              <a:rPr dirty="0"/>
              <a:t> </a:t>
            </a:r>
            <a:r>
              <a:rPr dirty="0" err="1"/>
              <a:t>количества</a:t>
            </a:r>
            <a:r>
              <a:rPr dirty="0"/>
              <a:t> </a:t>
            </a:r>
            <a:r>
              <a:rPr dirty="0" err="1"/>
              <a:t>хостов</a:t>
            </a:r>
            <a:r>
              <a:rPr dirty="0"/>
              <a:t> в </a:t>
            </a:r>
            <a:r>
              <a:rPr dirty="0" err="1"/>
              <a:t>подсети</a:t>
            </a:r>
            <a:r>
              <a:rPr dirty="0"/>
              <a:t>.</a:t>
            </a:r>
          </a:p>
          <a:p>
            <a:pPr>
              <a:defRPr sz="3600"/>
            </a:pPr>
            <a:r>
              <a:rPr lang="ru-RU" dirty="0"/>
              <a:t>10</a:t>
            </a:r>
            <a:r>
              <a:rPr dirty="0"/>
              <a:t>. </a:t>
            </a:r>
            <a:r>
              <a:rPr dirty="0" err="1"/>
              <a:t>Адресный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небольшой</a:t>
            </a:r>
            <a:r>
              <a:rPr dirty="0"/>
              <a:t> </a:t>
            </a:r>
            <a:r>
              <a:rPr dirty="0" err="1"/>
              <a:t>организации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IPv4 address - 32-битный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Subnet mask - </a:t>
            </a:r>
            <a:r>
              <a:rPr dirty="0" err="1"/>
              <a:t>маска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, </a:t>
            </a:r>
            <a:r>
              <a:rPr dirty="0" err="1"/>
              <a:t>разделяет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и host-</a:t>
            </a:r>
            <a:r>
              <a:rPr dirty="0" err="1"/>
              <a:t>часть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Prefix - </a:t>
            </a:r>
            <a:r>
              <a:rPr dirty="0" err="1"/>
              <a:t>длина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/24.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Network address -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Broadcast address -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рассылки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 </a:t>
            </a:r>
            <a:r>
              <a:rPr dirty="0" err="1"/>
              <a:t>узлам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57184" y="182880"/>
            <a:ext cx="364715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IPv4-адрес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IPv4-адрес </a:t>
            </a:r>
            <a:r>
              <a:rPr dirty="0" err="1"/>
              <a:t>записывается</a:t>
            </a:r>
            <a:r>
              <a:rPr dirty="0"/>
              <a:t> </a:t>
            </a:r>
            <a:r>
              <a:rPr dirty="0" err="1"/>
              <a:t>четырьмя</a:t>
            </a:r>
            <a:r>
              <a:rPr dirty="0"/>
              <a:t> </a:t>
            </a:r>
            <a:r>
              <a:rPr dirty="0" err="1"/>
              <a:t>десятичными</a:t>
            </a:r>
            <a:r>
              <a:rPr dirty="0"/>
              <a:t> </a:t>
            </a:r>
            <a:r>
              <a:rPr dirty="0" err="1"/>
              <a:t>числами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192.168.10.15.</a:t>
            </a:r>
          </a:p>
          <a:p>
            <a:pPr indent="354013">
              <a:defRPr sz="3600"/>
            </a:pP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назначается</a:t>
            </a:r>
            <a:r>
              <a:rPr dirty="0"/>
              <a:t> </a:t>
            </a:r>
            <a:r>
              <a:rPr dirty="0" err="1"/>
              <a:t>интерфейсу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человеку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компьютеру</a:t>
            </a:r>
            <a:r>
              <a:rPr dirty="0"/>
              <a:t> </a:t>
            </a:r>
            <a:r>
              <a:rPr dirty="0" err="1"/>
              <a:t>целиком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 в IP-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, </a:t>
            </a:r>
            <a:r>
              <a:rPr b="1" dirty="0" err="1"/>
              <a:t>маска</a:t>
            </a:r>
            <a:r>
              <a:rPr dirty="0"/>
              <a:t> и </a:t>
            </a:r>
            <a:r>
              <a:rPr b="1" dirty="0"/>
              <a:t>gateway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узел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IP-</a:t>
            </a:r>
            <a:r>
              <a:rPr dirty="0" err="1"/>
              <a:t>адресов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интерфейсах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9489" y="182880"/>
            <a:ext cx="460254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2. </a:t>
            </a:r>
            <a:r>
              <a:rPr sz="4800" dirty="0" err="1"/>
              <a:t>Маска</a:t>
            </a:r>
            <a:r>
              <a:rPr sz="4800" dirty="0"/>
              <a:t> и prefix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Маска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какая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относится</a:t>
            </a:r>
            <a:r>
              <a:rPr dirty="0"/>
              <a:t> к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Prefix </a:t>
            </a:r>
            <a:r>
              <a:rPr dirty="0" err="1"/>
              <a:t>записывает</a:t>
            </a:r>
            <a:r>
              <a:rPr dirty="0"/>
              <a:t> </a:t>
            </a:r>
            <a:r>
              <a:rPr dirty="0" err="1"/>
              <a:t>длину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slash.</a:t>
            </a:r>
          </a:p>
          <a:p>
            <a:pPr indent="354013">
              <a:defRPr sz="3600"/>
            </a:pPr>
            <a:r>
              <a:rPr dirty="0"/>
              <a:t>/24 </a:t>
            </a:r>
            <a:r>
              <a:rPr dirty="0" err="1"/>
              <a:t>соответствует</a:t>
            </a:r>
            <a:r>
              <a:rPr dirty="0"/>
              <a:t> </a:t>
            </a:r>
            <a:r>
              <a:rPr dirty="0" err="1"/>
              <a:t>маске</a:t>
            </a:r>
            <a:r>
              <a:rPr dirty="0"/>
              <a:t> 255.255.255.0.</a:t>
            </a:r>
          </a:p>
          <a:p>
            <a:pPr indent="354013">
              <a:defRPr sz="3600"/>
            </a:pPr>
            <a:r>
              <a:rPr dirty="0" err="1"/>
              <a:t>Устройства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одинаковую</a:t>
            </a:r>
            <a:r>
              <a:rPr dirty="0"/>
              <a:t> </a:t>
            </a:r>
            <a:r>
              <a:rPr dirty="0" err="1"/>
              <a:t>сетевую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Неверная</a:t>
            </a:r>
            <a:r>
              <a:rPr dirty="0"/>
              <a:t> </a:t>
            </a:r>
            <a:r>
              <a:rPr dirty="0" err="1"/>
              <a:t>маска</a:t>
            </a:r>
            <a:r>
              <a:rPr dirty="0"/>
              <a:t> </a:t>
            </a:r>
            <a:r>
              <a:rPr dirty="0" err="1"/>
              <a:t>приводит</a:t>
            </a:r>
            <a:r>
              <a:rPr dirty="0"/>
              <a:t> к </a:t>
            </a:r>
            <a:r>
              <a:rPr dirty="0" err="1"/>
              <a:t>ошибкам</a:t>
            </a:r>
            <a:r>
              <a:rPr dirty="0"/>
              <a:t> </a:t>
            </a:r>
            <a:r>
              <a:rPr dirty="0" err="1"/>
              <a:t>определения</a:t>
            </a:r>
            <a:r>
              <a:rPr dirty="0"/>
              <a:t> </a:t>
            </a:r>
            <a:r>
              <a:rPr dirty="0" err="1"/>
              <a:t>локальных</a:t>
            </a:r>
            <a:r>
              <a:rPr dirty="0"/>
              <a:t> и </a:t>
            </a:r>
            <a:r>
              <a:rPr dirty="0" err="1"/>
              <a:t>удаленных</a:t>
            </a:r>
            <a:r>
              <a:rPr dirty="0"/>
              <a:t> </a:t>
            </a:r>
            <a:r>
              <a:rPr dirty="0" err="1"/>
              <a:t>узлов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IPv4 </a:t>
            </a:r>
            <a:r>
              <a:rPr dirty="0" err="1"/>
              <a:t>адрес</a:t>
            </a:r>
            <a:r>
              <a:rPr dirty="0"/>
              <a:t> и </a:t>
            </a:r>
            <a:r>
              <a:rPr dirty="0" err="1"/>
              <a:t>маска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088917-5FFD-D1A9-1C3F-DFF334C96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8890" y="182880"/>
            <a:ext cx="616373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3. Network и broadcast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3110"/>
            <a:ext cx="10972800" cy="484337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Network address </a:t>
            </a:r>
            <a:r>
              <a:rPr dirty="0" err="1"/>
              <a:t>обозначает</a:t>
            </a:r>
            <a:r>
              <a:rPr dirty="0"/>
              <a:t> </a:t>
            </a:r>
            <a:r>
              <a:rPr dirty="0" err="1"/>
              <a:t>саму</a:t>
            </a:r>
            <a:r>
              <a:rPr dirty="0"/>
              <a:t> </a:t>
            </a:r>
            <a:r>
              <a:rPr dirty="0" err="1"/>
              <a:t>подсеть</a:t>
            </a:r>
            <a:r>
              <a:rPr lang="ru-RU" dirty="0"/>
              <a:t> (все </a:t>
            </a:r>
            <a:r>
              <a:rPr lang="ru-RU" dirty="0" err="1"/>
              <a:t>хостовые</a:t>
            </a:r>
            <a:r>
              <a:rPr lang="ru-RU" dirty="0"/>
              <a:t> биты – нули)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Broadcast address </a:t>
            </a:r>
            <a:r>
              <a:rPr lang="ru-RU" dirty="0"/>
              <a:t>(все </a:t>
            </a:r>
            <a:r>
              <a:rPr lang="ru-RU" dirty="0" err="1"/>
              <a:t>хостовые</a:t>
            </a:r>
            <a:r>
              <a:rPr lang="ru-RU" dirty="0"/>
              <a:t> биты - единицы)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рассылки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 </a:t>
            </a:r>
            <a:r>
              <a:rPr dirty="0" err="1"/>
              <a:t>узлам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Эти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назначать</a:t>
            </a:r>
            <a:r>
              <a:rPr dirty="0"/>
              <a:t> </a:t>
            </a:r>
            <a:r>
              <a:rPr dirty="0" err="1"/>
              <a:t>обычным</a:t>
            </a:r>
            <a:r>
              <a:rPr dirty="0"/>
              <a:t> </a:t>
            </a:r>
            <a:r>
              <a:rPr dirty="0" err="1"/>
              <a:t>хостам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Диапазон</a:t>
            </a:r>
            <a:r>
              <a:rPr dirty="0"/>
              <a:t> </a:t>
            </a:r>
            <a:r>
              <a:rPr dirty="0" err="1"/>
              <a:t>хостов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network и broadcast.</a:t>
            </a:r>
          </a:p>
          <a:p>
            <a:pPr indent="354013">
              <a:defRPr sz="3600"/>
            </a:pPr>
            <a:r>
              <a:rPr dirty="0"/>
              <a:t>Gateway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выбирают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допустимого</a:t>
            </a:r>
            <a:r>
              <a:rPr dirty="0"/>
              <a:t> </a:t>
            </a:r>
            <a:r>
              <a:rPr dirty="0" err="1"/>
              <a:t>диапазона</a:t>
            </a:r>
            <a:r>
              <a:rPr dirty="0"/>
              <a:t> </a:t>
            </a:r>
            <a:r>
              <a:rPr dirty="0" err="1"/>
              <a:t>хостов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Диапазон хостов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сети 192.168.1.0/24 network address: 192.168.1.0.</a:t>
            </a:r>
          </a:p>
          <a:p>
            <a:pPr>
              <a:defRPr sz="3600"/>
            </a:pPr>
            <a:r>
              <a:t>Broadcast address: 192.168.1.255.</a:t>
            </a:r>
          </a:p>
          <a:p>
            <a:pPr>
              <a:defRPr sz="3600"/>
            </a:pPr>
            <a:r>
              <a:t>Диапазон хостов: 192.168.1.1-192.168.1.254.</a:t>
            </a:r>
          </a:p>
          <a:p>
            <a:pPr>
              <a:defRPr sz="3600"/>
            </a:pPr>
            <a:r>
              <a:t>Количество usable hosts: 254.</a:t>
            </a:r>
          </a:p>
          <a:p>
            <a:pPr>
              <a:defRPr sz="3600"/>
            </a:pPr>
            <a:r>
              <a:t>Один из адресов обычно назначается шлюзу.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5717" y="182880"/>
            <a:ext cx="383008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4. Private IPv4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Private IPv4 - </a:t>
            </a:r>
            <a:r>
              <a:rPr dirty="0" err="1"/>
              <a:t>частные</a:t>
            </a:r>
            <a:r>
              <a:rPr dirty="0"/>
              <a:t> </a:t>
            </a:r>
            <a:r>
              <a:rPr dirty="0" err="1"/>
              <a:t>диапазоны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внутренних</a:t>
            </a:r>
            <a:r>
              <a:rPr dirty="0"/>
              <a:t> </a:t>
            </a:r>
            <a:r>
              <a:rPr dirty="0" err="1"/>
              <a:t>сетей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10.0.0.0/8.</a:t>
            </a:r>
          </a:p>
          <a:p>
            <a:pPr>
              <a:defRPr sz="3600"/>
            </a:pPr>
            <a:r>
              <a:rPr dirty="0"/>
              <a:t>172.16.0.0/12.</a:t>
            </a:r>
          </a:p>
          <a:p>
            <a:pPr>
              <a:defRPr sz="3600"/>
            </a:pPr>
            <a:r>
              <a:rPr dirty="0"/>
              <a:t>192.168.0.0/16.</a:t>
            </a:r>
          </a:p>
          <a:p>
            <a:pPr>
              <a:defRPr sz="3600"/>
            </a:pPr>
            <a:r>
              <a:rPr dirty="0" err="1"/>
              <a:t>Частные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выходят</a:t>
            </a:r>
            <a:r>
              <a:rPr dirty="0"/>
              <a:t> в </a:t>
            </a:r>
            <a:r>
              <a:rPr dirty="0" err="1"/>
              <a:t>интернет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NAT.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9244" y="182880"/>
            <a:ext cx="358303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5. Public IPv4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65122"/>
            <a:ext cx="10972800" cy="496135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Public IPv4 - </a:t>
            </a:r>
            <a:r>
              <a:rPr dirty="0" err="1"/>
              <a:t>публичные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, </a:t>
            </a:r>
            <a:r>
              <a:rPr dirty="0" err="1"/>
              <a:t>маршрутизируемые</a:t>
            </a:r>
            <a:r>
              <a:rPr dirty="0"/>
              <a:t> в </a:t>
            </a:r>
            <a:r>
              <a:rPr dirty="0" err="1"/>
              <a:t>интернете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Публичные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выдаются</a:t>
            </a:r>
            <a:r>
              <a:rPr dirty="0"/>
              <a:t> </a:t>
            </a:r>
            <a:r>
              <a:rPr dirty="0" err="1"/>
              <a:t>провайдерами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организациями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офисов</a:t>
            </a:r>
            <a:r>
              <a:rPr dirty="0"/>
              <a:t>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private IPv4.</a:t>
            </a:r>
          </a:p>
          <a:p>
            <a:pPr indent="354013"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произвольно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чужой</a:t>
            </a:r>
            <a:r>
              <a:rPr dirty="0"/>
              <a:t> public IPv4.</a:t>
            </a:r>
          </a:p>
          <a:p>
            <a:pPr indent="354013">
              <a:defRPr sz="3600"/>
            </a:pPr>
            <a:r>
              <a:rPr dirty="0" err="1"/>
              <a:t>Разделение</a:t>
            </a:r>
            <a:r>
              <a:rPr dirty="0"/>
              <a:t> private/public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NAT и </a:t>
            </a:r>
            <a:r>
              <a:rPr dirty="0" err="1"/>
              <a:t>безопасности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Private и public IPv4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E0DAD4-9473-0183-260E-FC8151CEF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B676-E236-8A55-0420-1B9F61AE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E01EF0-9450-092A-DD8A-1F19E2FB08B7}"/>
              </a:ext>
            </a:extLst>
          </p:cNvPr>
          <p:cNvSpPr txBox="1"/>
          <p:nvPr/>
        </p:nvSpPr>
        <p:spPr>
          <a:xfrm>
            <a:off x="2335329" y="182880"/>
            <a:ext cx="670048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6. Классовая адресация.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4E087-CF31-9A86-2103-6D5B1175F170}"/>
              </a:ext>
            </a:extLst>
          </p:cNvPr>
          <p:cNvSpPr txBox="1"/>
          <p:nvPr/>
        </p:nvSpPr>
        <p:spPr>
          <a:xfrm>
            <a:off x="457200" y="1342102"/>
            <a:ext cx="10972800" cy="478437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Классовая адресация — это первоначальная система распределения IP-адресов (использовалась с 1981 по 1993 год), при которой весь объем IPv4-адресов был жестко разделен на 5 фиксированных классов: A, B, C, D и E.</a:t>
            </a:r>
          </a:p>
        </p:txBody>
      </p:sp>
    </p:spTree>
    <p:extLst>
      <p:ext uri="{BB962C8B-B14F-4D97-AF65-F5344CB8AC3E}">
        <p14:creationId xmlns:p14="http://schemas.microsoft.com/office/powerpoint/2010/main" val="934052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184C-8C11-644D-3FC4-966DA5DF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4FC414-DDB2-2735-E8EC-054D2EB30FB8}"/>
              </a:ext>
            </a:extLst>
          </p:cNvPr>
          <p:cNvSpPr txBox="1"/>
          <p:nvPr/>
        </p:nvSpPr>
        <p:spPr>
          <a:xfrm>
            <a:off x="3628374" y="182880"/>
            <a:ext cx="411439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Классовая адресация.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C6512-C527-B621-E7A9-7AE2A61930C1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386B3C-6A64-F147-3A8F-BD9618358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688"/>
            <a:ext cx="12192000" cy="473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38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BDAE-157C-6AB5-B52E-EA9225AFE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7AEC5E-57E6-531D-7A6A-B3FFD500082E}"/>
              </a:ext>
            </a:extLst>
          </p:cNvPr>
          <p:cNvSpPr txBox="1"/>
          <p:nvPr/>
        </p:nvSpPr>
        <p:spPr>
          <a:xfrm>
            <a:off x="3628374" y="182880"/>
            <a:ext cx="411439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Классовая адресация.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8FF71-0688-D912-4766-A353DE30BCAE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lang="ru-RU" dirty="0"/>
              <a:t>Понятие «Маски по умолчанию» (</a:t>
            </a:r>
            <a:r>
              <a:rPr lang="ru-RU" dirty="0" err="1"/>
              <a:t>Default</a:t>
            </a:r>
            <a:r>
              <a:rPr lang="ru-RU" dirty="0"/>
              <a:t> </a:t>
            </a:r>
            <a:r>
              <a:rPr lang="ru-RU" dirty="0" err="1"/>
              <a:t>Mask</a:t>
            </a:r>
            <a:r>
              <a:rPr lang="ru-RU" dirty="0"/>
              <a:t>)</a:t>
            </a:r>
          </a:p>
          <a:p>
            <a:pPr indent="354013">
              <a:defRPr sz="3600"/>
            </a:pPr>
            <a:r>
              <a:rPr lang="ru-RU" dirty="0"/>
              <a:t>В эпоху классовой адресации сисадминам не нужно было вручную вводить маску подсети. Маска была «врожденным» свойством самого IP-адреса.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Сетевое устройство (ПК или роутер) определяло класс адреса по его первым битам, после чего автоматически применяло к нему жестко закрепленную маску по умолчанию. Маску нельзя было «двигать» или изменять её длину.</a:t>
            </a:r>
          </a:p>
        </p:txBody>
      </p:sp>
    </p:spTree>
    <p:extLst>
      <p:ext uri="{BB962C8B-B14F-4D97-AF65-F5344CB8AC3E}">
        <p14:creationId xmlns:p14="http://schemas.microsoft.com/office/powerpoint/2010/main" val="1079204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8299-F305-A690-1B2A-26F1A8403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C9FA0A-0704-853D-DF13-68935F5C78BC}"/>
              </a:ext>
            </a:extLst>
          </p:cNvPr>
          <p:cNvSpPr txBox="1"/>
          <p:nvPr/>
        </p:nvSpPr>
        <p:spPr>
          <a:xfrm>
            <a:off x="2081094" y="192911"/>
            <a:ext cx="722518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Главные минусы классовой адресации.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943FCF-A9F3-2AAE-47FD-082FADE7D53B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indent="354013">
              <a:defRPr sz="3600"/>
            </a:pPr>
            <a:r>
              <a:rPr lang="ru-RU" dirty="0"/>
              <a:t>Из-за этих недостатков в 1993 году от классов полностью отказались в пользу бесклассовой адресации (CIDR):</a:t>
            </a:r>
          </a:p>
          <a:p>
            <a:pPr indent="354013">
              <a:defRPr sz="3600"/>
            </a:pPr>
            <a:r>
              <a:rPr lang="ru-RU" dirty="0"/>
              <a:t>Гигантский неэффективный расход адресов. Если организации нужно было подключить 300 компьютеров, класс C (254 хоста) ей не подходил. Ей выдавали класс B, где было 65 534 адреса. В итоге ~65 тысяч адресов просто сгорали, их никто не мог использовать.</a:t>
            </a:r>
          </a:p>
          <a:p>
            <a:pPr indent="354013">
              <a:defRPr sz="3600"/>
            </a:pPr>
            <a:r>
              <a:rPr lang="ru-RU" dirty="0"/>
              <a:t>Жесткость архитектуры. Сеть нельзя было гибко нарезать на мелкие сегменты (например, сделать сеть строго на 10 или 50 хостов).</a:t>
            </a:r>
          </a:p>
          <a:p>
            <a:pPr indent="354013">
              <a:defRPr sz="3600"/>
            </a:pPr>
            <a:r>
              <a:rPr lang="ru-RU" dirty="0"/>
              <a:t>Быстрое исчерпание IPv4. Из-за расточительного деления на классы свободные адреса стали подходить к концу гораздо быстрее, чем планировалось.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2228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9ACE-1E4A-D6D7-78DF-9D59CE9E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BBA8AC-86A6-1BCF-52CA-2475A43CD533}"/>
              </a:ext>
            </a:extLst>
          </p:cNvPr>
          <p:cNvSpPr txBox="1"/>
          <p:nvPr/>
        </p:nvSpPr>
        <p:spPr>
          <a:xfrm>
            <a:off x="2538911" y="192911"/>
            <a:ext cx="731802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Специальные диапазоны и адреса IPv4.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4961C-E6D5-A227-95DB-F8036C99D09E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lang="ru-RU" dirty="0"/>
              <a:t>Внутри пространства IPv4 существуют адреса, которые нельзя выделять обычным компьютерам в интернете. Они зарезервированы под особые задачи.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1. </a:t>
            </a:r>
            <a:r>
              <a:rPr lang="ru-RU" dirty="0" err="1"/>
              <a:t>Loopback</a:t>
            </a:r>
            <a:r>
              <a:rPr lang="ru-RU" dirty="0"/>
              <a:t> Address (Локальная петля)</a:t>
            </a:r>
          </a:p>
          <a:p>
            <a:pPr indent="354013">
              <a:defRPr sz="3600"/>
            </a:pPr>
            <a:r>
              <a:rPr lang="ru-RU" dirty="0"/>
              <a:t>Диапазон: 127.0.0.0 – 127.255.255.255 (обычно используется самый первый: 127.0.0.1 или имя </a:t>
            </a:r>
            <a:r>
              <a:rPr lang="ru-RU" dirty="0" err="1"/>
              <a:t>localhost</a:t>
            </a:r>
            <a:r>
              <a:rPr lang="ru-RU" dirty="0"/>
              <a:t>).</a:t>
            </a:r>
          </a:p>
          <a:p>
            <a:pPr indent="354013">
              <a:defRPr sz="3600"/>
            </a:pPr>
            <a:r>
              <a:rPr lang="ru-RU" dirty="0"/>
              <a:t>Для чего нужен: Это адрес самого компьютера («внутреннее зеркало»).</a:t>
            </a:r>
          </a:p>
          <a:p>
            <a:pPr indent="354013"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622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3C44B-EA9E-1F33-3F8D-A758A0294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DA7A0B-AB59-33BC-415E-CEE4142BC595}"/>
              </a:ext>
            </a:extLst>
          </p:cNvPr>
          <p:cNvSpPr txBox="1"/>
          <p:nvPr/>
        </p:nvSpPr>
        <p:spPr>
          <a:xfrm>
            <a:off x="2538911" y="192911"/>
            <a:ext cx="731802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Специальные диапазоны и адреса IPv4.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463D7-A6A6-27F3-0A4A-B6F2CAD6413A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indent="354013">
              <a:defRPr sz="3600"/>
            </a:pPr>
            <a:r>
              <a:rPr lang="ru-RU" dirty="0"/>
              <a:t>2. Private IP </a:t>
            </a:r>
            <a:r>
              <a:rPr lang="ru-RU" dirty="0" err="1"/>
              <a:t>Addresses</a:t>
            </a:r>
            <a:r>
              <a:rPr lang="ru-RU" dirty="0"/>
              <a:t> («Серые» или частные адреса)</a:t>
            </a:r>
          </a:p>
          <a:p>
            <a:pPr indent="354013">
              <a:defRPr sz="3600"/>
            </a:pPr>
            <a:r>
              <a:rPr lang="ru-RU" dirty="0"/>
              <a:t>Адреса, созданные для работы внутри локальных сетей (домашних, офисных). Провайдеры в интернете их не маршрутизируют (блокируют).</a:t>
            </a:r>
          </a:p>
          <a:p>
            <a:pPr indent="354013">
              <a:defRPr sz="3600"/>
            </a:pPr>
            <a:r>
              <a:rPr lang="ru-RU" dirty="0"/>
              <a:t>Класс A: 10.0.0.0 – 10.255.255.255 (одна огромная сеть)</a:t>
            </a:r>
          </a:p>
          <a:p>
            <a:pPr indent="354013">
              <a:defRPr sz="3600"/>
            </a:pPr>
            <a:r>
              <a:rPr lang="ru-RU" dirty="0"/>
              <a:t>Класс B: 172.16.0.0 – 172.31.255.255 (16 смежных сетей)</a:t>
            </a:r>
          </a:p>
          <a:p>
            <a:pPr indent="354013">
              <a:defRPr sz="3600"/>
            </a:pPr>
            <a:r>
              <a:rPr lang="ru-RU" dirty="0"/>
              <a:t>Класс C: 192.168.0.0 – 192.168.255.255 (256 привычных нам домашних сетей)</a:t>
            </a:r>
          </a:p>
          <a:p>
            <a:pPr indent="354013">
              <a:defRPr sz="3600"/>
            </a:pPr>
            <a:r>
              <a:rPr lang="ru-RU" dirty="0"/>
              <a:t>Зачем нужны: Экономят IPv4-адреса. Миллионы людей по всему миру имеют домашний IP-адрес 192.168.1.15, и они не конфликтуют, потому что спрятаны за одним «белым» (публичным) адресом роутера с помощью технологии NAT.</a:t>
            </a:r>
          </a:p>
          <a:p>
            <a:pPr indent="354013"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0609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0B9F-BFEF-05B8-A0DE-53A28F7BD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5C0F59-0822-1D2A-8072-15FBDD66CE7D}"/>
              </a:ext>
            </a:extLst>
          </p:cNvPr>
          <p:cNvSpPr txBox="1"/>
          <p:nvPr/>
        </p:nvSpPr>
        <p:spPr>
          <a:xfrm>
            <a:off x="2538911" y="192911"/>
            <a:ext cx="731802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Специальные диапазоны и адреса IPv4.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BB8B7-6B3A-9CE5-CBCF-4F9D7DD04352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3. APIPA (</a:t>
            </a:r>
            <a:r>
              <a:rPr lang="ru-RU" dirty="0" err="1"/>
              <a:t>Automatic</a:t>
            </a:r>
            <a:r>
              <a:rPr lang="ru-RU" dirty="0"/>
              <a:t> Private IP </a:t>
            </a:r>
            <a:r>
              <a:rPr lang="ru-RU" dirty="0" err="1"/>
              <a:t>Addressing</a:t>
            </a:r>
            <a:r>
              <a:rPr lang="ru-RU" dirty="0"/>
              <a:t> / Link-Local)</a:t>
            </a:r>
          </a:p>
          <a:p>
            <a:pPr indent="354013">
              <a:defRPr sz="3600"/>
            </a:pPr>
            <a:r>
              <a:rPr lang="ru-RU" dirty="0"/>
              <a:t>Диапазон: 169.254.0.0 – 169.254.255.255</a:t>
            </a:r>
          </a:p>
          <a:p>
            <a:pPr indent="354013">
              <a:defRPr sz="3600"/>
            </a:pPr>
            <a:r>
              <a:rPr lang="ru-RU" dirty="0"/>
              <a:t>Для чего нужен: Сеть автонастройки. Если компьютер настроен на автоматическое получение IP от роутера (по DHCP), но роутер сломался или кабель отошел, операционная система (Windows/Linux) сама назначает себе случайный адрес из этого диапазона.</a:t>
            </a:r>
          </a:p>
          <a:p>
            <a:pPr indent="354013"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8020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570E6-DE88-831F-6183-9E148C02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238A8E-082A-3C1D-54C7-D4B361278726}"/>
              </a:ext>
            </a:extLst>
          </p:cNvPr>
          <p:cNvSpPr txBox="1"/>
          <p:nvPr/>
        </p:nvSpPr>
        <p:spPr>
          <a:xfrm>
            <a:off x="2538911" y="192911"/>
            <a:ext cx="731802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Специальные диапазоны и адреса IPv4.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1F53B-4EEE-D3E9-662A-DAB4596F593B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indent="354013">
              <a:defRPr sz="3600"/>
            </a:pPr>
            <a:r>
              <a:rPr lang="ru-RU" dirty="0"/>
              <a:t>4. Служебные адреса в каждой подсети (Адрес сети и </a:t>
            </a:r>
            <a:r>
              <a:rPr lang="ru-RU" dirty="0" err="1"/>
              <a:t>Broadcast</a:t>
            </a:r>
            <a:r>
              <a:rPr lang="ru-RU" dirty="0"/>
              <a:t>)</a:t>
            </a:r>
          </a:p>
          <a:p>
            <a:pPr indent="354013">
              <a:defRPr sz="3600"/>
            </a:pPr>
            <a:r>
              <a:rPr lang="ru-RU" dirty="0"/>
              <a:t>В абсолютно любой подсети два адреса всегда зарезервированы и не могут быть выданы устройствам:</a:t>
            </a:r>
          </a:p>
          <a:p>
            <a:pPr indent="354013">
              <a:defRPr sz="3600"/>
            </a:pPr>
            <a:r>
              <a:rPr lang="ru-RU" b="1" dirty="0"/>
              <a:t>Первый адрес </a:t>
            </a:r>
            <a:r>
              <a:rPr lang="ru-RU" dirty="0"/>
              <a:t>(Хост равен всем нулям в двоичной системе): Это </a:t>
            </a:r>
            <a:r>
              <a:rPr lang="ru-RU" b="1" dirty="0"/>
              <a:t>Адрес сети </a:t>
            </a:r>
            <a:r>
              <a:rPr lang="ru-RU" dirty="0"/>
              <a:t>(Network ID). Например, 192.168.1.0. Он используется роутерами в таблицах маршрутизации для указания пути к целой группе компьютеров.</a:t>
            </a:r>
          </a:p>
          <a:p>
            <a:pPr indent="354013">
              <a:defRPr sz="3600"/>
            </a:pPr>
            <a:r>
              <a:rPr lang="ru-RU" b="1" dirty="0"/>
              <a:t>Последний адрес </a:t>
            </a:r>
            <a:r>
              <a:rPr lang="ru-RU" dirty="0"/>
              <a:t>(Хост равен всем единицам в двоичной системе): Это Широковещательный адрес (</a:t>
            </a:r>
            <a:r>
              <a:rPr lang="ru-RU" b="1" dirty="0" err="1"/>
              <a:t>Broadcast</a:t>
            </a:r>
            <a:r>
              <a:rPr lang="ru-RU" b="1" dirty="0"/>
              <a:t>)</a:t>
            </a:r>
            <a:r>
              <a:rPr lang="ru-RU" dirty="0"/>
              <a:t>. Например, 192.168.1.255. Если отправить пакет на этот адрес, его получат абсолютно все устройства в этой конкретной локальной сети.</a:t>
            </a:r>
          </a:p>
          <a:p>
            <a:pPr indent="354013"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7015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1268D-1495-C815-AA79-9BE4ECF0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4746F0-E0A9-A3BC-D2B5-4D76AAF8A5FB}"/>
              </a:ext>
            </a:extLst>
          </p:cNvPr>
          <p:cNvSpPr txBox="1"/>
          <p:nvPr/>
        </p:nvSpPr>
        <p:spPr>
          <a:xfrm>
            <a:off x="716343" y="182880"/>
            <a:ext cx="1072883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7</a:t>
            </a:r>
            <a:r>
              <a:rPr sz="4800" dirty="0"/>
              <a:t>. CIDR</a:t>
            </a:r>
            <a:r>
              <a:rPr lang="ru-RU" sz="4800" dirty="0"/>
              <a:t> бесклассовая запись адресации</a:t>
            </a:r>
            <a:endParaRPr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4EFE5-06EB-3F86-ABC9-8228C48933D0}"/>
              </a:ext>
            </a:extLst>
          </p:cNvPr>
          <p:cNvSpPr txBox="1"/>
          <p:nvPr/>
        </p:nvSpPr>
        <p:spPr>
          <a:xfrm>
            <a:off x="457200" y="1312606"/>
            <a:ext cx="10972800" cy="481387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CIDR - Classless Inter-Domain Routing.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CIDR </a:t>
            </a:r>
            <a:r>
              <a:rPr dirty="0" err="1"/>
              <a:t>отказался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жесткой</a:t>
            </a:r>
            <a:r>
              <a:rPr dirty="0"/>
              <a:t> </a:t>
            </a:r>
            <a:r>
              <a:rPr dirty="0" err="1"/>
              <a:t>классовой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Запись</a:t>
            </a:r>
            <a:r>
              <a:rPr dirty="0"/>
              <a:t> /24, /25, /26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prefix,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хостов</a:t>
            </a:r>
            <a:r>
              <a:rPr dirty="0"/>
              <a:t> в </a:t>
            </a:r>
            <a:r>
              <a:rPr dirty="0" err="1"/>
              <a:t>подсети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CIDR </a:t>
            </a:r>
            <a:r>
              <a:rPr dirty="0" err="1"/>
              <a:t>используется</a:t>
            </a:r>
            <a:r>
              <a:rPr dirty="0"/>
              <a:t> в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маршрутах</a:t>
            </a:r>
            <a:r>
              <a:rPr dirty="0"/>
              <a:t> и </a:t>
            </a:r>
            <a:r>
              <a:rPr dirty="0" err="1"/>
              <a:t>адресных</a:t>
            </a:r>
            <a:r>
              <a:rPr dirty="0"/>
              <a:t> </a:t>
            </a:r>
            <a:r>
              <a:rPr dirty="0" err="1"/>
              <a:t>планах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0993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2887" y="182880"/>
            <a:ext cx="225574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7. VLSM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VLSM - Variable Length Subnet Mask.</a:t>
            </a:r>
          </a:p>
          <a:p>
            <a:pPr>
              <a:defRPr sz="3600"/>
            </a:pPr>
            <a:r>
              <a:rPr dirty="0"/>
              <a:t>VLSM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маски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адресного</a:t>
            </a:r>
            <a:r>
              <a:rPr dirty="0"/>
              <a:t> </a:t>
            </a:r>
            <a:r>
              <a:rPr dirty="0" err="1"/>
              <a:t>пространства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Большим</a:t>
            </a:r>
            <a:r>
              <a:rPr dirty="0"/>
              <a:t> </a:t>
            </a:r>
            <a:r>
              <a:rPr dirty="0" err="1"/>
              <a:t>отделам</a:t>
            </a:r>
            <a:r>
              <a:rPr dirty="0"/>
              <a:t> </a:t>
            </a:r>
            <a:r>
              <a:rPr dirty="0" err="1"/>
              <a:t>выделяют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крупные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Маленьким</a:t>
            </a:r>
            <a:r>
              <a:rPr dirty="0"/>
              <a:t> </a:t>
            </a:r>
            <a:r>
              <a:rPr dirty="0" err="1"/>
              <a:t>сегментам</a:t>
            </a:r>
            <a:r>
              <a:rPr dirty="0"/>
              <a:t> </a:t>
            </a:r>
            <a:r>
              <a:rPr dirty="0" err="1"/>
              <a:t>выделяют</a:t>
            </a:r>
            <a:r>
              <a:rPr dirty="0"/>
              <a:t> </a:t>
            </a:r>
            <a:r>
              <a:rPr dirty="0" err="1"/>
              <a:t>меньшие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VLSM </a:t>
            </a:r>
            <a:r>
              <a:rPr dirty="0" err="1"/>
              <a:t>экономит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и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аккуратной</a:t>
            </a:r>
            <a:r>
              <a:rPr dirty="0"/>
              <a:t> </a:t>
            </a:r>
            <a:r>
              <a:rPr dirty="0" err="1"/>
              <a:t>документации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5DBCE-BA2A-6974-1848-7FE2C3060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7E5D0B-CE4C-506D-C5DC-9AEDE9C72566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442913">
              <a:defRPr sz="3600"/>
            </a:pPr>
            <a:r>
              <a:rPr lang="ru-RU" dirty="0"/>
              <a:t>VLSM (</a:t>
            </a:r>
            <a:r>
              <a:rPr lang="ru-RU" dirty="0" err="1"/>
              <a:t>Variable</a:t>
            </a:r>
            <a:r>
              <a:rPr lang="ru-RU" dirty="0"/>
              <a:t> </a:t>
            </a:r>
            <a:r>
              <a:rPr lang="ru-RU" dirty="0" err="1"/>
              <a:t>Length</a:t>
            </a:r>
            <a:r>
              <a:rPr lang="ru-RU" dirty="0"/>
              <a:t> </a:t>
            </a:r>
            <a:r>
              <a:rPr lang="ru-RU" dirty="0" err="1"/>
              <a:t>Subnet</a:t>
            </a:r>
            <a:r>
              <a:rPr lang="ru-RU" dirty="0"/>
              <a:t> </a:t>
            </a:r>
            <a:r>
              <a:rPr lang="ru-RU" dirty="0" err="1"/>
              <a:t>Mask</a:t>
            </a:r>
            <a:r>
              <a:rPr lang="ru-RU" dirty="0"/>
              <a:t> — Маска подсети переменной длины) — это технология, которая позволяет делить одну большую сеть на несколько маленьких подсетей разного размера, подстраиваясь под конкретное количество компьютеров.</a:t>
            </a:r>
          </a:p>
          <a:p>
            <a:pPr indent="442913">
              <a:defRPr sz="3600"/>
            </a:pPr>
            <a:endParaRPr lang="ru-RU" dirty="0"/>
          </a:p>
          <a:p>
            <a:pPr indent="442913">
              <a:defRPr sz="3600"/>
            </a:pPr>
            <a:r>
              <a:rPr lang="ru-RU" dirty="0"/>
              <a:t>Если совсем просто: VLSM — это нарезка пирога (сетевого пространства) на куски разного размера, чтобы каждому досталось ровно столько, сколько он сможет съесть, и ни крошки не пропало зря.</a:t>
            </a:r>
          </a:p>
        </p:txBody>
      </p:sp>
    </p:spTree>
    <p:extLst>
      <p:ext uri="{BB962C8B-B14F-4D97-AF65-F5344CB8AC3E}">
        <p14:creationId xmlns:p14="http://schemas.microsoft.com/office/powerpoint/2010/main" val="2170296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BD4FD-1613-61D3-5691-D2129944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46FDF1-CE72-7225-8F1F-34502DCFA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13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75412" y="182880"/>
            <a:ext cx="441069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8. </a:t>
            </a:r>
            <a:r>
              <a:rPr sz="4800" dirty="0" err="1"/>
              <a:t>Расчет</a:t>
            </a:r>
            <a:r>
              <a:rPr sz="4800" dirty="0"/>
              <a:t> </a:t>
            </a:r>
            <a:r>
              <a:rPr sz="4800" dirty="0" err="1"/>
              <a:t>хостов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42102"/>
            <a:ext cx="10972800" cy="478437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в </a:t>
            </a:r>
            <a:r>
              <a:rPr dirty="0" err="1"/>
              <a:t>подсети</a:t>
            </a:r>
            <a:r>
              <a:rPr dirty="0"/>
              <a:t>: 2 в </a:t>
            </a:r>
            <a:r>
              <a:rPr dirty="0" err="1"/>
              <a:t>степени</a:t>
            </a:r>
            <a:r>
              <a:rPr dirty="0"/>
              <a:t> </a:t>
            </a:r>
            <a:r>
              <a:rPr dirty="0" err="1"/>
              <a:t>количества</a:t>
            </a:r>
            <a:r>
              <a:rPr dirty="0"/>
              <a:t> host-</a:t>
            </a:r>
            <a:r>
              <a:rPr dirty="0" err="1"/>
              <a:t>битов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Обычно</a:t>
            </a:r>
            <a:r>
              <a:rPr dirty="0"/>
              <a:t> usable hosts =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</a:t>
            </a:r>
            <a:r>
              <a:rPr dirty="0" err="1"/>
              <a:t>минус</a:t>
            </a:r>
            <a:r>
              <a:rPr dirty="0"/>
              <a:t> 2.</a:t>
            </a:r>
          </a:p>
          <a:p>
            <a:pPr indent="354013">
              <a:defRPr sz="3600"/>
            </a:pPr>
            <a:r>
              <a:rPr dirty="0"/>
              <a:t>/24 </a:t>
            </a:r>
            <a:r>
              <a:rPr dirty="0" err="1"/>
              <a:t>дает</a:t>
            </a:r>
            <a:r>
              <a:rPr dirty="0"/>
              <a:t> 256 </a:t>
            </a:r>
            <a:r>
              <a:rPr dirty="0" err="1"/>
              <a:t>адресов</a:t>
            </a:r>
            <a:r>
              <a:rPr dirty="0"/>
              <a:t> и 254 usable hosts.</a:t>
            </a:r>
          </a:p>
          <a:p>
            <a:pPr indent="354013">
              <a:defRPr sz="3600"/>
            </a:pPr>
            <a:r>
              <a:rPr dirty="0"/>
              <a:t>/30 </a:t>
            </a:r>
            <a:r>
              <a:rPr dirty="0" err="1"/>
              <a:t>дает</a:t>
            </a:r>
            <a:r>
              <a:rPr dirty="0"/>
              <a:t> 4 </a:t>
            </a:r>
            <a:r>
              <a:rPr dirty="0" err="1"/>
              <a:t>адреса</a:t>
            </a:r>
            <a:r>
              <a:rPr dirty="0"/>
              <a:t> и 2 usable hosts.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линков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маршрутизаторами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маленькие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2689E-E5E8-97BF-C788-131D3DA7A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2572BB-72FE-ED81-F829-F1506FFBCFED}"/>
              </a:ext>
            </a:extLst>
          </p:cNvPr>
          <p:cNvSpPr txBox="1"/>
          <p:nvPr/>
        </p:nvSpPr>
        <p:spPr>
          <a:xfrm>
            <a:off x="3875412" y="182880"/>
            <a:ext cx="441069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8. </a:t>
            </a:r>
            <a:r>
              <a:rPr sz="4800" dirty="0" err="1"/>
              <a:t>Расчет</a:t>
            </a:r>
            <a:r>
              <a:rPr sz="4800" dirty="0"/>
              <a:t> </a:t>
            </a:r>
            <a:r>
              <a:rPr sz="4800" dirty="0" err="1"/>
              <a:t>хостов</a:t>
            </a:r>
            <a:endParaRPr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98C2CA-9620-D8B3-5178-C6D0BDAF6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00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BD181F-0D7E-6565-92A6-21BDFF9D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" y="0"/>
            <a:ext cx="121489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1136" y="182880"/>
            <a:ext cx="497924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9. </a:t>
            </a:r>
            <a:r>
              <a:rPr sz="4800" dirty="0" err="1"/>
              <a:t>Адресный</a:t>
            </a:r>
            <a:r>
              <a:rPr sz="4800" dirty="0"/>
              <a:t> </a:t>
            </a:r>
            <a:r>
              <a:rPr sz="4800" dirty="0" err="1"/>
              <a:t>план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Адресный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, gateway и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важных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выделяют</a:t>
            </a:r>
            <a:r>
              <a:rPr dirty="0"/>
              <a:t> </a:t>
            </a:r>
            <a:r>
              <a:rPr dirty="0" err="1"/>
              <a:t>серверы</a:t>
            </a:r>
            <a:r>
              <a:rPr dirty="0"/>
              <a:t>, </a:t>
            </a:r>
            <a:r>
              <a:rPr dirty="0" err="1"/>
              <a:t>сетевое</a:t>
            </a:r>
            <a:r>
              <a:rPr dirty="0"/>
              <a:t> </a:t>
            </a:r>
            <a:r>
              <a:rPr dirty="0" err="1"/>
              <a:t>оборудование</a:t>
            </a:r>
            <a:r>
              <a:rPr dirty="0"/>
              <a:t> и </a:t>
            </a:r>
            <a:r>
              <a:rPr dirty="0" err="1"/>
              <a:t>клиентов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конфликтов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учитывать</a:t>
            </a:r>
            <a:r>
              <a:rPr dirty="0"/>
              <a:t> </a:t>
            </a:r>
            <a:r>
              <a:rPr dirty="0" err="1"/>
              <a:t>рост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логичными</a:t>
            </a:r>
            <a:r>
              <a:rPr dirty="0"/>
              <a:t> и </a:t>
            </a:r>
            <a:r>
              <a:rPr dirty="0" err="1"/>
              <a:t>проверяемыми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Адресный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организации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42C746-E66B-8953-51E9-D3CE39FF5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IPv4-адрес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</a:t>
            </a:r>
            <a:r>
              <a:rPr dirty="0" err="1"/>
              <a:t>маской</a:t>
            </a:r>
            <a:r>
              <a:rPr dirty="0"/>
              <a:t> и gateway.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Network и broadcast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назначают</a:t>
            </a:r>
            <a:r>
              <a:rPr dirty="0"/>
              <a:t> </a:t>
            </a:r>
            <a:r>
              <a:rPr dirty="0" err="1"/>
              <a:t>обычным</a:t>
            </a:r>
            <a:r>
              <a:rPr dirty="0"/>
              <a:t> </a:t>
            </a:r>
            <a:r>
              <a:rPr dirty="0" err="1"/>
              <a:t>хостам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Private IPv4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внутренних</a:t>
            </a:r>
            <a:r>
              <a:rPr dirty="0"/>
              <a:t> </a:t>
            </a:r>
            <a:r>
              <a:rPr dirty="0" err="1"/>
              <a:t>сетях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CIDR и VLSM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гибко</a:t>
            </a:r>
            <a:r>
              <a:rPr dirty="0"/>
              <a:t> </a:t>
            </a:r>
            <a:r>
              <a:rPr dirty="0" err="1"/>
              <a:t>делить</a:t>
            </a:r>
            <a:r>
              <a:rPr dirty="0"/>
              <a:t> </a:t>
            </a:r>
            <a:r>
              <a:rPr dirty="0" err="1"/>
              <a:t>адресное</a:t>
            </a:r>
            <a:r>
              <a:rPr dirty="0"/>
              <a:t> </a:t>
            </a:r>
            <a:r>
              <a:rPr dirty="0" err="1"/>
              <a:t>пространство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Адресный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обязателен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понятной</a:t>
            </a:r>
            <a:r>
              <a:rPr dirty="0"/>
              <a:t> </a:t>
            </a:r>
            <a:r>
              <a:rPr dirty="0" err="1"/>
              <a:t>эксплуатации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9B61-6290-4709-93A4-4F12D1BDB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4A7F6B-D5DF-8A84-83D0-0652066DC263}"/>
              </a:ext>
            </a:extLst>
          </p:cNvPr>
          <p:cNvSpPr txBox="1"/>
          <p:nvPr/>
        </p:nvSpPr>
        <p:spPr>
          <a:xfrm>
            <a:off x="3842520" y="182880"/>
            <a:ext cx="447648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en-US" dirty="0"/>
              <a:t>10. Loopback-</a:t>
            </a:r>
            <a:r>
              <a:rPr lang="ru-RU" dirty="0"/>
              <a:t>интерфейс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60CCE-3544-04E3-BE78-87F5D7263E67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 err="1"/>
              <a:t>Loopback</a:t>
            </a:r>
            <a:r>
              <a:rPr lang="ru-RU" dirty="0"/>
              <a:t> (петлевой интерфейс) — это виртуальный (программный) интерфейс внутри сетевого устройства (маршрутизатора или коммутатора).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отличие от физических портов (таких как GigabitEthernet0/0), к </a:t>
            </a:r>
            <a:r>
              <a:rPr lang="ru-RU" dirty="0" err="1"/>
              <a:t>Loopback</a:t>
            </a:r>
            <a:r>
              <a:rPr lang="ru-RU" dirty="0"/>
              <a:t>-интерфейсу нельзя подключить кабель. Он существует исключительно в памяти операционной системы устройства.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Главное свойство </a:t>
            </a:r>
            <a:r>
              <a:rPr lang="ru-RU" dirty="0" err="1"/>
              <a:t>Loopback</a:t>
            </a:r>
            <a:r>
              <a:rPr lang="ru-RU" dirty="0"/>
              <a:t>: Он всегда активен (</a:t>
            </a:r>
            <a:r>
              <a:rPr lang="ru-RU" dirty="0" err="1"/>
              <a:t>up</a:t>
            </a:r>
            <a:r>
              <a:rPr lang="ru-RU" dirty="0"/>
              <a:t>/</a:t>
            </a:r>
            <a:r>
              <a:rPr lang="ru-RU" dirty="0" err="1"/>
              <a:t>up</a:t>
            </a:r>
            <a:r>
              <a:rPr lang="ru-RU" dirty="0"/>
              <a:t>), пока включено само устройство. Физический порт может «упасть» (</a:t>
            </a:r>
            <a:r>
              <a:rPr lang="ru-RU" dirty="0" err="1"/>
              <a:t>down</a:t>
            </a:r>
            <a:r>
              <a:rPr lang="ru-RU" dirty="0"/>
              <a:t>), если кто-то случайно заденет кабель, сгорит трансивер или сломается коммутатор на другом конце. </a:t>
            </a:r>
            <a:r>
              <a:rPr lang="ru-RU" dirty="0" err="1"/>
              <a:t>Loopback</a:t>
            </a:r>
            <a:r>
              <a:rPr lang="ru-RU" dirty="0"/>
              <a:t>-интерфейс не зависит от внешних факторов и не может отключиться из-за проблем с проводами.</a:t>
            </a:r>
          </a:p>
        </p:txBody>
      </p:sp>
    </p:spTree>
    <p:extLst>
      <p:ext uri="{BB962C8B-B14F-4D97-AF65-F5344CB8AC3E}">
        <p14:creationId xmlns:p14="http://schemas.microsoft.com/office/powerpoint/2010/main" val="5220611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316B6-D0FF-3D94-C1DA-E9361628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03C465-0922-45F3-DDF3-3482565621B7}"/>
              </a:ext>
            </a:extLst>
          </p:cNvPr>
          <p:cNvSpPr txBox="1"/>
          <p:nvPr/>
        </p:nvSpPr>
        <p:spPr>
          <a:xfrm>
            <a:off x="457200" y="339213"/>
            <a:ext cx="10972800" cy="6386052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3600"/>
            </a:pPr>
            <a:r>
              <a:rPr lang="ru-RU" dirty="0"/>
              <a:t>Зачем он нужен? (Основные сценарии использования)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Идентификация устройства (</a:t>
            </a:r>
            <a:r>
              <a:rPr lang="ru-RU" dirty="0" err="1"/>
              <a:t>Router</a:t>
            </a:r>
            <a:r>
              <a:rPr lang="ru-RU" dirty="0"/>
              <a:t> ID) в протоколах динамической маршрутизации (OSPF, BGP):</a:t>
            </a:r>
            <a:r>
              <a:rPr lang="en-US" dirty="0"/>
              <a:t> </a:t>
            </a:r>
            <a:r>
              <a:rPr lang="ru-RU" dirty="0"/>
              <a:t>Протоколам маршрутизации нужно уникальное имя для каждого роутера в виде IP-адреса. Если выбрать в качестве имени IP-адрес физического порта, и этот порт «падет», протокол начнет перестраивать всю сеть (произойдет перевыборы </a:t>
            </a:r>
            <a:r>
              <a:rPr lang="ru-RU" dirty="0" err="1"/>
              <a:t>Router</a:t>
            </a:r>
            <a:r>
              <a:rPr lang="ru-RU" dirty="0"/>
              <a:t> ID). </a:t>
            </a:r>
            <a:r>
              <a:rPr lang="ru-RU" dirty="0" err="1"/>
              <a:t>Loopback</a:t>
            </a:r>
            <a:r>
              <a:rPr lang="ru-RU" dirty="0"/>
              <a:t>-адрес гарантирует стабильность сети, так как он никогда не отключается.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Управление устройством (Management):</a:t>
            </a:r>
            <a:r>
              <a:rPr lang="en-US" dirty="0"/>
              <a:t> </a:t>
            </a:r>
            <a:r>
              <a:rPr lang="ru-RU" dirty="0"/>
              <a:t>Системные администраторы используют IP-адрес </a:t>
            </a:r>
            <a:r>
              <a:rPr lang="ru-RU" dirty="0" err="1"/>
              <a:t>Loopback</a:t>
            </a:r>
            <a:r>
              <a:rPr lang="ru-RU" dirty="0"/>
              <a:t> для подключения к роутеру по SSH, </a:t>
            </a:r>
            <a:r>
              <a:rPr lang="ru-RU" dirty="0" err="1"/>
              <a:t>Telnet</a:t>
            </a:r>
            <a:r>
              <a:rPr lang="ru-RU" dirty="0"/>
              <a:t> или SNMP. Даже если один из физических каналов до роутера оборвется, администратор сможет подключиться к нему через резервный физический путь, используя всё тот же неизменный </a:t>
            </a:r>
            <a:r>
              <a:rPr lang="ru-RU" dirty="0" err="1"/>
              <a:t>Loopback</a:t>
            </a:r>
            <a:r>
              <a:rPr lang="ru-RU" dirty="0"/>
              <a:t> IP.</a:t>
            </a:r>
          </a:p>
        </p:txBody>
      </p:sp>
    </p:spTree>
    <p:extLst>
      <p:ext uri="{BB962C8B-B14F-4D97-AF65-F5344CB8AC3E}">
        <p14:creationId xmlns:p14="http://schemas.microsoft.com/office/powerpoint/2010/main" val="3643755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76C41-761D-D673-B916-303237B7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EE3FFA-3CB3-E8E9-E543-72E7CA6ECC76}"/>
              </a:ext>
            </a:extLst>
          </p:cNvPr>
          <p:cNvSpPr txBox="1"/>
          <p:nvPr/>
        </p:nvSpPr>
        <p:spPr>
          <a:xfrm>
            <a:off x="457200" y="339213"/>
            <a:ext cx="10972800" cy="638605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Имитация сетей при тестировании (в лабораториях типа CPT / </a:t>
            </a:r>
            <a:r>
              <a:rPr lang="ru-RU" dirty="0" err="1"/>
              <a:t>PNETLab</a:t>
            </a:r>
            <a:r>
              <a:rPr lang="ru-RU" dirty="0"/>
              <a:t>):</a:t>
            </a:r>
            <a:r>
              <a:rPr lang="en-US" dirty="0"/>
              <a:t> </a:t>
            </a:r>
            <a:r>
              <a:rPr lang="ru-RU" dirty="0"/>
              <a:t>Чтобы не </a:t>
            </a:r>
            <a:r>
              <a:rPr lang="ru-RU" dirty="0" err="1"/>
              <a:t>плотить</a:t>
            </a:r>
            <a:r>
              <a:rPr lang="ru-RU" dirty="0"/>
              <a:t> в схеме десятки коммутаторов и компьютеров для имитации пользовательских подсетей или интернета, можно просто поднять на роутере несколько </a:t>
            </a:r>
            <a:r>
              <a:rPr lang="ru-RU" dirty="0" err="1"/>
              <a:t>Loopback</a:t>
            </a:r>
            <a:r>
              <a:rPr lang="ru-RU" dirty="0"/>
              <a:t>-интерфейсов с разными IP-адресами. Роутер будет считать их полноценными напрямую подключенными (</a:t>
            </a:r>
            <a:r>
              <a:rPr lang="ru-RU" dirty="0" err="1"/>
              <a:t>Connected</a:t>
            </a:r>
            <a:r>
              <a:rPr lang="ru-RU" dirty="0"/>
              <a:t>) сетями.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Тестирование стека TCP/IP (на ПК):</a:t>
            </a:r>
            <a:r>
              <a:rPr lang="en-US" dirty="0"/>
              <a:t> </a:t>
            </a:r>
            <a:r>
              <a:rPr lang="ru-RU" dirty="0"/>
              <a:t>На конечных компьютерах тоже есть </a:t>
            </a:r>
            <a:r>
              <a:rPr lang="ru-RU" dirty="0" err="1"/>
              <a:t>loopback</a:t>
            </a:r>
            <a:r>
              <a:rPr lang="ru-RU" dirty="0"/>
              <a:t>-адрес — всем известный 127.0.0.1 (</a:t>
            </a:r>
            <a:r>
              <a:rPr lang="ru-RU" dirty="0" err="1"/>
              <a:t>localhost</a:t>
            </a:r>
            <a:r>
              <a:rPr lang="ru-RU" dirty="0"/>
              <a:t>). Он используется, чтобы проверить, работает ли сетевой стек самой операционной системы без отправки сигналов в реальную сеть.</a:t>
            </a:r>
          </a:p>
        </p:txBody>
      </p:sp>
    </p:spTree>
    <p:extLst>
      <p:ext uri="{BB962C8B-B14F-4D97-AF65-F5344CB8AC3E}">
        <p14:creationId xmlns:p14="http://schemas.microsoft.com/office/powerpoint/2010/main" val="12242526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20AA9-A20F-B028-9801-2268AAA1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7D5D02-FE20-2513-5936-24B8648CED97}"/>
              </a:ext>
            </a:extLst>
          </p:cNvPr>
          <p:cNvSpPr txBox="1"/>
          <p:nvPr/>
        </p:nvSpPr>
        <p:spPr>
          <a:xfrm>
            <a:off x="457200" y="339214"/>
            <a:ext cx="10972800" cy="1533832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lang="ru-RU" dirty="0"/>
              <a:t>Создать </a:t>
            </a:r>
            <a:r>
              <a:rPr lang="ru-RU" dirty="0" err="1"/>
              <a:t>Loopback</a:t>
            </a:r>
            <a:r>
              <a:rPr lang="ru-RU" dirty="0"/>
              <a:t>-интерфейс очень просто. Вы можете создать их огромное количество</a:t>
            </a:r>
            <a:r>
              <a:rPr lang="en-US" dirty="0"/>
              <a:t> </a:t>
            </a:r>
            <a:r>
              <a:rPr lang="ru-RU" dirty="0"/>
              <a:t>(например, </a:t>
            </a:r>
            <a:r>
              <a:rPr lang="ru-RU" dirty="0" err="1"/>
              <a:t>interface</a:t>
            </a:r>
            <a:r>
              <a:rPr lang="ru-RU" dirty="0"/>
              <a:t> Loopback0, Loopback1 и т.д.).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58BAB3-B080-8F41-6C6A-F7CE637E5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1760096"/>
            <a:ext cx="10270439" cy="475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02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8C3AF-DA5B-7CED-D196-D7E7D9A7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F6FB4F-A92C-C422-5A3D-E35E6FA11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82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prefix?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network address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broadcast address?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Какие</a:t>
            </a:r>
            <a:r>
              <a:rPr dirty="0"/>
              <a:t> private IPv4-диапазоны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знать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CIDR?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VLSM?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Сколько</a:t>
            </a:r>
            <a:r>
              <a:rPr dirty="0"/>
              <a:t> usable hosts в /24?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адресный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важен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BB57-01EC-1082-596D-55227D505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EEEBA8-DB0D-9AEE-F488-47BB32280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939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1D7A2-C8B3-82EE-F352-F7EA1BD9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B8AE1D-B0F0-DFA7-E55D-57711CEA610B}"/>
              </a:ext>
            </a:extLst>
          </p:cNvPr>
          <p:cNvSpPr txBox="1"/>
          <p:nvPr/>
        </p:nvSpPr>
        <p:spPr>
          <a:xfrm>
            <a:off x="5110303" y="182880"/>
            <a:ext cx="19409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Тренажер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3FF10-8B20-F832-6A45-2BDC86A5A64D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en-US" dirty="0">
                <a:hlinkClick r:id="rId2"/>
              </a:rPr>
              <a:t>https://netlab-ipv4-trainer.ardent-ape-2691.chatgpt.site/</a:t>
            </a:r>
            <a:endParaRPr lang="ru-RU" dirty="0"/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1677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1721</Words>
  <Application>Microsoft Office PowerPoint</Application>
  <PresentationFormat>Широкоэкранный</PresentationFormat>
  <Paragraphs>149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2026-07-18T07:53:28Z</dcterms:modified>
  <cp:category/>
</cp:coreProperties>
</file>