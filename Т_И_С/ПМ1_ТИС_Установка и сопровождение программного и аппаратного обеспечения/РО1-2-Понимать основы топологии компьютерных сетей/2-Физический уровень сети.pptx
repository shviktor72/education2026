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62" r:id="rId9"/>
    <p:sldId id="263" r:id="rId10"/>
    <p:sldId id="264" r:id="rId11"/>
    <p:sldId id="279" r:id="rId12"/>
    <p:sldId id="265" r:id="rId13"/>
    <p:sldId id="266" r:id="rId14"/>
    <p:sldId id="313" r:id="rId15"/>
    <p:sldId id="316" r:id="rId16"/>
    <p:sldId id="317" r:id="rId17"/>
    <p:sldId id="318" r:id="rId18"/>
    <p:sldId id="280" r:id="rId19"/>
    <p:sldId id="319" r:id="rId20"/>
    <p:sldId id="325" r:id="rId21"/>
    <p:sldId id="334" r:id="rId22"/>
    <p:sldId id="335" r:id="rId23"/>
    <p:sldId id="336" r:id="rId24"/>
    <p:sldId id="337" r:id="rId25"/>
    <p:sldId id="326" r:id="rId26"/>
    <p:sldId id="328" r:id="rId27"/>
    <p:sldId id="329" r:id="rId28"/>
    <p:sldId id="330" r:id="rId29"/>
    <p:sldId id="331" r:id="rId30"/>
    <p:sldId id="332" r:id="rId31"/>
    <p:sldId id="333" r:id="rId32"/>
    <p:sldId id="338" r:id="rId33"/>
    <p:sldId id="324" r:id="rId34"/>
    <p:sldId id="270" r:id="rId35"/>
    <p:sldId id="271" r:id="rId36"/>
    <p:sldId id="272" r:id="rId37"/>
    <p:sldId id="321" r:id="rId38"/>
    <p:sldId id="320" r:id="rId39"/>
    <p:sldId id="273" r:id="rId40"/>
    <p:sldId id="274" r:id="rId41"/>
    <p:sldId id="275" r:id="rId42"/>
    <p:sldId id="322" r:id="rId43"/>
    <p:sldId id="323" r:id="rId44"/>
    <p:sldId id="276" r:id="rId45"/>
    <p:sldId id="277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9551" y="914400"/>
            <a:ext cx="707289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2. </a:t>
            </a:r>
            <a:endParaRPr lang="ru-RU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Физический</a:t>
            </a:r>
            <a:r>
              <a:rPr sz="4800" dirty="0"/>
              <a:t> </a:t>
            </a:r>
            <a:r>
              <a:rPr sz="4800" dirty="0" err="1"/>
              <a:t>уровень</a:t>
            </a:r>
            <a:r>
              <a:rPr sz="4800" dirty="0"/>
              <a:t> </a:t>
            </a:r>
            <a:r>
              <a:rPr sz="4800" dirty="0" err="1"/>
              <a:t>сети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Сформировать у обучающихся понимание физического уровня сети, сред передачи данных, режимов связи, признаков наличия линка и базовых способов диагностики физических неисправностей.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/>
            </a:pPr>
            <a:r>
              <a:rPr sz="3200" dirty="0"/>
              <a:t>1. </a:t>
            </a:r>
            <a:r>
              <a:rPr sz="3200" dirty="0" err="1"/>
              <a:t>Назначение</a:t>
            </a:r>
            <a:r>
              <a:rPr sz="3200" dirty="0"/>
              <a:t> </a:t>
            </a:r>
            <a:r>
              <a:rPr sz="3200" dirty="0" err="1"/>
              <a:t>физического</a:t>
            </a:r>
            <a:r>
              <a:rPr sz="3200" dirty="0"/>
              <a:t> </a:t>
            </a:r>
            <a:r>
              <a:rPr sz="3200" dirty="0" err="1"/>
              <a:t>уровня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2. </a:t>
            </a:r>
            <a:r>
              <a:rPr sz="3200" dirty="0" err="1"/>
              <a:t>Среды</a:t>
            </a:r>
            <a:r>
              <a:rPr sz="3200" dirty="0"/>
              <a:t> </a:t>
            </a:r>
            <a:r>
              <a:rPr sz="3200" dirty="0" err="1"/>
              <a:t>передачи</a:t>
            </a:r>
            <a:r>
              <a:rPr sz="3200" dirty="0"/>
              <a:t> </a:t>
            </a:r>
            <a:r>
              <a:rPr sz="3200" dirty="0" err="1"/>
              <a:t>данных</a:t>
            </a:r>
            <a:r>
              <a:rPr sz="3200" dirty="0"/>
              <a:t>: </a:t>
            </a:r>
            <a:r>
              <a:rPr sz="3200" dirty="0" err="1"/>
              <a:t>витая</a:t>
            </a:r>
            <a:r>
              <a:rPr sz="3200" dirty="0"/>
              <a:t> </a:t>
            </a:r>
            <a:r>
              <a:rPr sz="3200" dirty="0" err="1"/>
              <a:t>пара</a:t>
            </a:r>
            <a:r>
              <a:rPr sz="3200" dirty="0"/>
              <a:t>, </a:t>
            </a:r>
            <a:r>
              <a:rPr sz="3200" dirty="0" err="1"/>
              <a:t>оптоволокно</a:t>
            </a:r>
            <a:r>
              <a:rPr sz="3200" dirty="0"/>
              <a:t>, </a:t>
            </a:r>
            <a:r>
              <a:rPr sz="3200" dirty="0" err="1"/>
              <a:t>беспроводная</a:t>
            </a:r>
            <a:r>
              <a:rPr sz="3200" dirty="0"/>
              <a:t> </a:t>
            </a:r>
            <a:r>
              <a:rPr sz="3200" dirty="0" err="1"/>
              <a:t>среда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3. </a:t>
            </a:r>
            <a:r>
              <a:rPr sz="3200" dirty="0" err="1"/>
              <a:t>Витая</a:t>
            </a:r>
            <a:r>
              <a:rPr sz="3200" dirty="0"/>
              <a:t> </a:t>
            </a:r>
            <a:r>
              <a:rPr sz="3200" dirty="0" err="1"/>
              <a:t>пара</a:t>
            </a:r>
            <a:r>
              <a:rPr sz="3200" dirty="0"/>
              <a:t>: </a:t>
            </a:r>
            <a:r>
              <a:rPr sz="3200" dirty="0" err="1"/>
              <a:t>категории</a:t>
            </a:r>
            <a:r>
              <a:rPr sz="3200" dirty="0"/>
              <a:t>, </a:t>
            </a:r>
            <a:r>
              <a:rPr sz="3200" dirty="0" err="1"/>
              <a:t>коннекторы</a:t>
            </a:r>
            <a:r>
              <a:rPr sz="3200" dirty="0"/>
              <a:t> RJ-45, </a:t>
            </a:r>
            <a:r>
              <a:rPr sz="3200" dirty="0" err="1"/>
              <a:t>прямое</a:t>
            </a:r>
            <a:r>
              <a:rPr sz="3200" dirty="0"/>
              <a:t> и </a:t>
            </a:r>
            <a:r>
              <a:rPr sz="3200" dirty="0" err="1"/>
              <a:t>кроссовое</a:t>
            </a:r>
            <a:r>
              <a:rPr sz="3200" dirty="0"/>
              <a:t> </a:t>
            </a:r>
            <a:r>
              <a:rPr sz="3200" dirty="0" err="1"/>
              <a:t>подключение</a:t>
            </a:r>
            <a:r>
              <a:rPr sz="3200" dirty="0"/>
              <a:t> </a:t>
            </a:r>
            <a:r>
              <a:rPr sz="3200" dirty="0" err="1"/>
              <a:t>на</a:t>
            </a:r>
            <a:r>
              <a:rPr sz="3200" dirty="0"/>
              <a:t> </a:t>
            </a:r>
            <a:r>
              <a:rPr sz="3200" dirty="0" err="1"/>
              <a:t>уровне</a:t>
            </a:r>
            <a:r>
              <a:rPr sz="3200" dirty="0"/>
              <a:t> </a:t>
            </a:r>
            <a:r>
              <a:rPr sz="3200" dirty="0" err="1"/>
              <a:t>понимания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lang="ru-RU" sz="3200" dirty="0"/>
              <a:t>4</a:t>
            </a:r>
            <a:r>
              <a:rPr sz="3200" dirty="0"/>
              <a:t>. </a:t>
            </a:r>
            <a:r>
              <a:rPr sz="3200" dirty="0" err="1"/>
              <a:t>Скорость</a:t>
            </a:r>
            <a:r>
              <a:rPr sz="3200" dirty="0"/>
              <a:t> </a:t>
            </a:r>
            <a:r>
              <a:rPr sz="3200" dirty="0" err="1"/>
              <a:t>соединения</a:t>
            </a:r>
            <a:r>
              <a:rPr sz="3200" dirty="0"/>
              <a:t> и </a:t>
            </a:r>
            <a:r>
              <a:rPr sz="3200" dirty="0" err="1"/>
              <a:t>согласование</a:t>
            </a:r>
            <a:r>
              <a:rPr sz="3200" dirty="0"/>
              <a:t> </a:t>
            </a:r>
            <a:r>
              <a:rPr sz="3200" dirty="0" err="1"/>
              <a:t>параметров</a:t>
            </a:r>
            <a:r>
              <a:rPr sz="3200" dirty="0"/>
              <a:t> </a:t>
            </a:r>
            <a:r>
              <a:rPr sz="3200" dirty="0" err="1"/>
              <a:t>линка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lang="ru-RU" sz="3200" dirty="0"/>
              <a:t>5</a:t>
            </a:r>
            <a:r>
              <a:rPr sz="3200" dirty="0"/>
              <a:t>. Link </a:t>
            </a:r>
            <a:r>
              <a:rPr sz="3200" dirty="0" err="1"/>
              <a:t>как</a:t>
            </a:r>
            <a:r>
              <a:rPr sz="3200" dirty="0"/>
              <a:t> </a:t>
            </a:r>
            <a:r>
              <a:rPr sz="3200" dirty="0" err="1"/>
              <a:t>признак</a:t>
            </a:r>
            <a:r>
              <a:rPr sz="3200" dirty="0"/>
              <a:t> </a:t>
            </a:r>
            <a:r>
              <a:rPr sz="3200" dirty="0" err="1"/>
              <a:t>физического</a:t>
            </a:r>
            <a:r>
              <a:rPr sz="3200" dirty="0"/>
              <a:t> </a:t>
            </a:r>
            <a:r>
              <a:rPr sz="3200" dirty="0" err="1"/>
              <a:t>подключения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lang="ru-RU" sz="3200" dirty="0"/>
              <a:t>6</a:t>
            </a:r>
            <a:r>
              <a:rPr sz="3200" dirty="0"/>
              <a:t>. Типовые </a:t>
            </a:r>
            <a:r>
              <a:rPr sz="3200" dirty="0" err="1"/>
              <a:t>проблемы</a:t>
            </a:r>
            <a:r>
              <a:rPr sz="3200" dirty="0"/>
              <a:t> </a:t>
            </a:r>
            <a:r>
              <a:rPr sz="3200" dirty="0" err="1"/>
              <a:t>физического</a:t>
            </a:r>
            <a:r>
              <a:rPr sz="3200" dirty="0"/>
              <a:t> </a:t>
            </a:r>
            <a:r>
              <a:rPr sz="3200" dirty="0" err="1"/>
              <a:t>уровня</a:t>
            </a:r>
            <a:r>
              <a:rPr sz="3200" dirty="0"/>
              <a:t>: </a:t>
            </a:r>
            <a:r>
              <a:rPr sz="3200" dirty="0" err="1"/>
              <a:t>кабель</a:t>
            </a:r>
            <a:r>
              <a:rPr sz="3200" dirty="0"/>
              <a:t>, </a:t>
            </a:r>
            <a:r>
              <a:rPr sz="3200" dirty="0" err="1"/>
              <a:t>порт</a:t>
            </a:r>
            <a:r>
              <a:rPr sz="3200" dirty="0"/>
              <a:t>, </a:t>
            </a:r>
            <a:r>
              <a:rPr sz="3200" dirty="0" err="1"/>
              <a:t>питание</a:t>
            </a:r>
            <a:r>
              <a:rPr sz="3200" dirty="0"/>
              <a:t>, </a:t>
            </a:r>
            <a:r>
              <a:rPr sz="3200" dirty="0" err="1"/>
              <a:t>неверное</a:t>
            </a:r>
            <a:r>
              <a:rPr sz="3200" dirty="0"/>
              <a:t> </a:t>
            </a:r>
            <a:r>
              <a:rPr sz="3200" dirty="0" err="1"/>
              <a:t>подключение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lang="ru-RU" sz="3200" dirty="0"/>
              <a:t>7</a:t>
            </a:r>
            <a:r>
              <a:rPr sz="3200" dirty="0"/>
              <a:t>. </a:t>
            </a:r>
            <a:r>
              <a:rPr sz="3200" dirty="0" err="1"/>
              <a:t>Базовая</a:t>
            </a:r>
            <a:r>
              <a:rPr sz="3200" dirty="0"/>
              <a:t> </a:t>
            </a:r>
            <a:r>
              <a:rPr sz="3200" dirty="0" err="1"/>
              <a:t>диагностика</a:t>
            </a:r>
            <a:r>
              <a:rPr sz="3200" dirty="0"/>
              <a:t> </a:t>
            </a:r>
            <a:r>
              <a:rPr sz="3200" dirty="0" err="1"/>
              <a:t>физического</a:t>
            </a:r>
            <a:r>
              <a:rPr sz="3200" dirty="0"/>
              <a:t> </a:t>
            </a:r>
            <a:r>
              <a:rPr sz="3200" dirty="0" err="1"/>
              <a:t>уровня</a:t>
            </a:r>
            <a:r>
              <a:rPr sz="3200" dirty="0"/>
              <a:t>.</a:t>
            </a:r>
            <a:endParaRPr lang="ru-RU" sz="3200" dirty="0"/>
          </a:p>
          <a:p>
            <a:pPr>
              <a:defRPr sz="3600"/>
            </a:pPr>
            <a:r>
              <a:rPr lang="ru-RU" sz="3200" dirty="0"/>
              <a:t>8. Концентратор (</a:t>
            </a:r>
            <a:r>
              <a:rPr lang="en-US" sz="3200" dirty="0"/>
              <a:t>Hub)</a:t>
            </a:r>
            <a:endParaRPr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термины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Physical layer - </a:t>
            </a: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, </a:t>
            </a:r>
            <a:r>
              <a:rPr dirty="0" err="1"/>
              <a:t>передача</a:t>
            </a:r>
            <a:r>
              <a:rPr dirty="0"/>
              <a:t> </a:t>
            </a:r>
            <a:r>
              <a:rPr dirty="0" err="1"/>
              <a:t>битов</a:t>
            </a:r>
            <a:r>
              <a:rPr dirty="0"/>
              <a:t> в </a:t>
            </a:r>
            <a:r>
              <a:rPr dirty="0" err="1"/>
              <a:t>виде</a:t>
            </a:r>
            <a:r>
              <a:rPr dirty="0"/>
              <a:t> </a:t>
            </a:r>
            <a:r>
              <a:rPr dirty="0" err="1"/>
              <a:t>сигналов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Medium - </a:t>
            </a:r>
            <a:r>
              <a:rPr dirty="0" err="1"/>
              <a:t>среда</a:t>
            </a:r>
            <a:r>
              <a:rPr dirty="0"/>
              <a:t> </a:t>
            </a:r>
            <a:r>
              <a:rPr dirty="0" err="1"/>
              <a:t>передачи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: </a:t>
            </a:r>
            <a:r>
              <a:rPr dirty="0" err="1"/>
              <a:t>кабель</a:t>
            </a:r>
            <a:r>
              <a:rPr dirty="0"/>
              <a:t>, </a:t>
            </a:r>
            <a:r>
              <a:rPr dirty="0" err="1"/>
              <a:t>оптика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радио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Link - </a:t>
            </a:r>
            <a:r>
              <a:rPr dirty="0" err="1"/>
              <a:t>активное</a:t>
            </a:r>
            <a:r>
              <a:rPr dirty="0"/>
              <a:t> </a:t>
            </a:r>
            <a:r>
              <a:rPr dirty="0" err="1"/>
              <a:t>физическое</a:t>
            </a:r>
            <a:r>
              <a:rPr dirty="0"/>
              <a:t> </a:t>
            </a:r>
            <a:r>
              <a:rPr dirty="0" err="1"/>
              <a:t>соединение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устройствами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Duplex -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передачи</a:t>
            </a:r>
            <a:r>
              <a:rPr dirty="0"/>
              <a:t> в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две</a:t>
            </a:r>
            <a:r>
              <a:rPr dirty="0"/>
              <a:t> </a:t>
            </a:r>
            <a:r>
              <a:rPr dirty="0" err="1"/>
              <a:t>стороны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RJ-45 - </a:t>
            </a:r>
            <a:r>
              <a:rPr dirty="0" err="1"/>
              <a:t>разъем</a:t>
            </a:r>
            <a:r>
              <a:rPr dirty="0"/>
              <a:t>,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используемый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витой</a:t>
            </a:r>
            <a:r>
              <a:rPr dirty="0"/>
              <a:t> </a:t>
            </a:r>
            <a:r>
              <a:rPr dirty="0" err="1"/>
              <a:t>пары</a:t>
            </a:r>
            <a:r>
              <a:rPr dirty="0"/>
              <a:t> Ethernet.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4770" y="182880"/>
            <a:ext cx="957197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</a:t>
            </a:r>
            <a:r>
              <a:rPr sz="4800" dirty="0" err="1"/>
              <a:t>Назначение</a:t>
            </a:r>
            <a:r>
              <a:rPr sz="4800" dirty="0"/>
              <a:t> </a:t>
            </a:r>
            <a:r>
              <a:rPr sz="4800" dirty="0" err="1"/>
              <a:t>физического</a:t>
            </a:r>
            <a:r>
              <a:rPr sz="4800" dirty="0"/>
              <a:t> </a:t>
            </a:r>
            <a:r>
              <a:rPr sz="4800" dirty="0" err="1"/>
              <a:t>уровня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indent="354013">
              <a:defRPr sz="3600"/>
            </a:pP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передачу</a:t>
            </a:r>
            <a:r>
              <a:rPr dirty="0"/>
              <a:t> </a:t>
            </a:r>
            <a:r>
              <a:rPr dirty="0" err="1"/>
              <a:t>битов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среде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знает</a:t>
            </a:r>
            <a:r>
              <a:rPr dirty="0"/>
              <a:t> IP-</a:t>
            </a:r>
            <a:r>
              <a:rPr dirty="0" err="1"/>
              <a:t>адресов</a:t>
            </a:r>
            <a:r>
              <a:rPr dirty="0"/>
              <a:t>, </a:t>
            </a:r>
            <a:r>
              <a:rPr dirty="0" err="1"/>
              <a:t>портов</a:t>
            </a:r>
            <a:r>
              <a:rPr dirty="0"/>
              <a:t> и </a:t>
            </a:r>
            <a:r>
              <a:rPr dirty="0" err="1"/>
              <a:t>приложений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задача</a:t>
            </a:r>
            <a:r>
              <a:rPr dirty="0"/>
              <a:t> - </a:t>
            </a:r>
            <a:r>
              <a:rPr dirty="0" err="1"/>
              <a:t>передать</a:t>
            </a:r>
            <a:r>
              <a:rPr dirty="0"/>
              <a:t> </a:t>
            </a:r>
            <a:r>
              <a:rPr dirty="0" err="1"/>
              <a:t>сигнал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к </a:t>
            </a:r>
            <a:r>
              <a:rPr dirty="0" err="1"/>
              <a:t>другому</a:t>
            </a:r>
            <a:r>
              <a:rPr dirty="0"/>
              <a:t>.</a:t>
            </a:r>
            <a:endParaRPr lang="ru-RU" dirty="0"/>
          </a:p>
          <a:p>
            <a:pPr indent="354013">
              <a:defRPr sz="3600"/>
            </a:pPr>
            <a:r>
              <a:rPr lang="ru-RU" sz="3600" dirty="0"/>
              <a:t>Физический уровень определяет электрические, оптические и механические характеристики для физического соединения между устройствами передачи данных.</a:t>
            </a:r>
            <a:endParaRPr sz="3600" dirty="0"/>
          </a:p>
          <a:p>
            <a:pPr indent="354013">
              <a:defRPr sz="3600"/>
            </a:pPr>
            <a:r>
              <a:rPr sz="3600" dirty="0" err="1"/>
              <a:t>Если</a:t>
            </a:r>
            <a:r>
              <a:rPr sz="3600" dirty="0"/>
              <a:t> </a:t>
            </a:r>
            <a:r>
              <a:rPr sz="3600" dirty="0" err="1"/>
              <a:t>физический</a:t>
            </a:r>
            <a:r>
              <a:rPr sz="3600" dirty="0"/>
              <a:t> </a:t>
            </a:r>
            <a:r>
              <a:rPr sz="3600" dirty="0" err="1"/>
              <a:t>уровень</a:t>
            </a:r>
            <a:r>
              <a:rPr sz="3600" dirty="0"/>
              <a:t> </a:t>
            </a:r>
            <a:r>
              <a:rPr sz="3600" dirty="0" err="1"/>
              <a:t>не</a:t>
            </a:r>
            <a:r>
              <a:rPr sz="3600" dirty="0"/>
              <a:t> </a:t>
            </a:r>
            <a:r>
              <a:rPr sz="3600" dirty="0" err="1"/>
              <a:t>работает</a:t>
            </a:r>
            <a:r>
              <a:rPr sz="3600" dirty="0"/>
              <a:t>, </a:t>
            </a:r>
            <a:r>
              <a:rPr sz="3600" dirty="0" err="1"/>
              <a:t>верхние</a:t>
            </a:r>
            <a:r>
              <a:rPr sz="3600" dirty="0"/>
              <a:t> </a:t>
            </a:r>
            <a:r>
              <a:rPr sz="3600" dirty="0" err="1"/>
              <a:t>уровни</a:t>
            </a:r>
            <a:r>
              <a:rPr sz="3600" dirty="0"/>
              <a:t> </a:t>
            </a:r>
            <a:r>
              <a:rPr sz="3600" dirty="0" err="1"/>
              <a:t>не</a:t>
            </a:r>
            <a:r>
              <a:rPr sz="3600" dirty="0"/>
              <a:t> </a:t>
            </a:r>
            <a:r>
              <a:rPr sz="3600" dirty="0" err="1"/>
              <a:t>смогут</a:t>
            </a:r>
            <a:r>
              <a:rPr sz="3600" dirty="0"/>
              <a:t> </a:t>
            </a:r>
            <a:r>
              <a:rPr sz="3600" dirty="0" err="1"/>
              <a:t>обмениваться</a:t>
            </a:r>
            <a:r>
              <a:rPr sz="3600" dirty="0"/>
              <a:t> </a:t>
            </a:r>
            <a:r>
              <a:rPr sz="3600" dirty="0" err="1"/>
              <a:t>данными</a:t>
            </a:r>
            <a:r>
              <a:rPr sz="3600" dirty="0"/>
              <a:t>.</a:t>
            </a:r>
          </a:p>
          <a:p>
            <a:pPr indent="354013">
              <a:defRPr sz="3600"/>
            </a:pP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физики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282C6C-6FFC-0288-60DD-F297BB8BE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" y="182598"/>
            <a:ext cx="12144285" cy="6492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DE6D4-B024-72D0-0B75-37EB0498B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F293D6-015D-D77E-3F1B-FB83AA7F3882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относится к физическому уровню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74004-895D-DFD0-C01C-CB6E6CBFC420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Кабели</a:t>
            </a:r>
            <a:r>
              <a:rPr dirty="0"/>
              <a:t>, </a:t>
            </a:r>
            <a:r>
              <a:rPr dirty="0" err="1"/>
              <a:t>разъемы</a:t>
            </a:r>
            <a:r>
              <a:rPr dirty="0"/>
              <a:t> и </a:t>
            </a:r>
            <a:r>
              <a:rPr dirty="0" err="1"/>
              <a:t>патч-панели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 </a:t>
            </a:r>
            <a:r>
              <a:rPr dirty="0" err="1"/>
              <a:t>компьютеров</a:t>
            </a:r>
            <a:r>
              <a:rPr dirty="0"/>
              <a:t> и </a:t>
            </a:r>
            <a:r>
              <a:rPr dirty="0" err="1"/>
              <a:t>коммутаторов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Оптические</a:t>
            </a:r>
            <a:r>
              <a:rPr dirty="0"/>
              <a:t> </a:t>
            </a:r>
            <a:r>
              <a:rPr dirty="0" err="1"/>
              <a:t>модули</a:t>
            </a:r>
            <a:r>
              <a:rPr dirty="0"/>
              <a:t> и Wi-Fi </a:t>
            </a:r>
            <a:r>
              <a:rPr dirty="0" err="1"/>
              <a:t>радиоканал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линка</a:t>
            </a:r>
            <a:r>
              <a:rPr dirty="0"/>
              <a:t> и </a:t>
            </a:r>
            <a:r>
              <a:rPr dirty="0" err="1"/>
              <a:t>режим</a:t>
            </a:r>
            <a:r>
              <a:rPr dirty="0"/>
              <a:t> duplex.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Индикаторы</a:t>
            </a:r>
            <a:r>
              <a:rPr dirty="0"/>
              <a:t> link/activity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портах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0166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8712" y="182880"/>
            <a:ext cx="746409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2. </a:t>
            </a:r>
            <a:r>
              <a:rPr sz="4800" dirty="0" err="1"/>
              <a:t>Среды</a:t>
            </a:r>
            <a:r>
              <a:rPr sz="4800" dirty="0"/>
              <a:t> </a:t>
            </a:r>
            <a:r>
              <a:rPr sz="4800" dirty="0" err="1"/>
              <a:t>передачи</a:t>
            </a:r>
            <a:r>
              <a:rPr sz="4800" dirty="0"/>
              <a:t> </a:t>
            </a:r>
            <a:r>
              <a:rPr sz="4800" dirty="0" err="1"/>
              <a:t>данных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Витая</a:t>
            </a:r>
            <a:r>
              <a:rPr dirty="0"/>
              <a:t> </a:t>
            </a:r>
            <a:r>
              <a:rPr dirty="0" err="1"/>
              <a:t>пара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в </a:t>
            </a:r>
            <a:r>
              <a:rPr dirty="0" err="1"/>
              <a:t>большинстве</a:t>
            </a:r>
            <a:r>
              <a:rPr dirty="0"/>
              <a:t> </a:t>
            </a:r>
            <a:r>
              <a:rPr dirty="0" err="1"/>
              <a:t>локальных</a:t>
            </a:r>
            <a:r>
              <a:rPr dirty="0"/>
              <a:t> </a:t>
            </a:r>
            <a:r>
              <a:rPr dirty="0" err="1"/>
              <a:t>сетей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Оптоволокно</a:t>
            </a:r>
            <a:r>
              <a:rPr dirty="0"/>
              <a:t> </a:t>
            </a:r>
            <a:r>
              <a:rPr dirty="0" err="1"/>
              <a:t>применяют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больших</a:t>
            </a:r>
            <a:r>
              <a:rPr dirty="0"/>
              <a:t> </a:t>
            </a:r>
            <a:r>
              <a:rPr dirty="0" err="1"/>
              <a:t>расстояний</a:t>
            </a:r>
            <a:r>
              <a:rPr dirty="0"/>
              <a:t> и </a:t>
            </a:r>
            <a:r>
              <a:rPr dirty="0" err="1"/>
              <a:t>высокой</a:t>
            </a:r>
            <a:r>
              <a:rPr dirty="0"/>
              <a:t> </a:t>
            </a:r>
            <a:r>
              <a:rPr dirty="0" err="1"/>
              <a:t>скорости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Беспроводная</a:t>
            </a:r>
            <a:r>
              <a:rPr dirty="0"/>
              <a:t> </a:t>
            </a:r>
            <a:r>
              <a:rPr dirty="0" err="1"/>
              <a:t>среда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радиосигнал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среда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ограничения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расстоянию</a:t>
            </a:r>
            <a:r>
              <a:rPr dirty="0"/>
              <a:t>, </a:t>
            </a:r>
            <a:r>
              <a:rPr dirty="0" err="1"/>
              <a:t>помехам</a:t>
            </a:r>
            <a:r>
              <a:rPr dirty="0"/>
              <a:t> и </a:t>
            </a:r>
            <a:r>
              <a:rPr dirty="0" err="1"/>
              <a:t>стоимости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среды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надежность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Среды</a:t>
            </a:r>
            <a:r>
              <a:rPr dirty="0"/>
              <a:t> </a:t>
            </a:r>
            <a:r>
              <a:rPr dirty="0" err="1"/>
              <a:t>передачи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1A20ED-5ABC-8FF1-D1ED-907AB98DD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Витая пара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15615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Витая</a:t>
            </a:r>
            <a:r>
              <a:rPr dirty="0"/>
              <a:t> </a:t>
            </a:r>
            <a:r>
              <a:rPr dirty="0" err="1"/>
              <a:t>пара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пар</a:t>
            </a:r>
            <a:r>
              <a:rPr dirty="0"/>
              <a:t> </a:t>
            </a:r>
            <a:r>
              <a:rPr dirty="0" err="1"/>
              <a:t>медных</a:t>
            </a:r>
            <a:r>
              <a:rPr dirty="0"/>
              <a:t> </a:t>
            </a:r>
            <a:r>
              <a:rPr dirty="0" err="1"/>
              <a:t>проводников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Скручивание</a:t>
            </a:r>
            <a:r>
              <a:rPr dirty="0"/>
              <a:t> </a:t>
            </a:r>
            <a:r>
              <a:rPr dirty="0" err="1"/>
              <a:t>пар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влияние</a:t>
            </a:r>
            <a:r>
              <a:rPr dirty="0"/>
              <a:t> </a:t>
            </a:r>
            <a:r>
              <a:rPr dirty="0" err="1"/>
              <a:t>помех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Кабель</a:t>
            </a:r>
            <a:r>
              <a:rPr dirty="0"/>
              <a:t> </a:t>
            </a:r>
            <a:r>
              <a:rPr dirty="0" err="1"/>
              <a:t>подключается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коннектор</a:t>
            </a:r>
            <a:r>
              <a:rPr dirty="0"/>
              <a:t> RJ-45.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Категория</a:t>
            </a:r>
            <a:r>
              <a:rPr dirty="0"/>
              <a:t> </a:t>
            </a:r>
            <a:r>
              <a:rPr dirty="0" err="1"/>
              <a:t>кабеля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поддерживаемую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офиса</a:t>
            </a:r>
            <a:r>
              <a:rPr dirty="0"/>
              <a:t>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Cat5e, Cat6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выше</a:t>
            </a:r>
            <a:r>
              <a:rPr dirty="0"/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79B66BD-2ED7-8BB3-49A1-2EB85F3511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25" b="20215"/>
          <a:stretch>
            <a:fillRect/>
          </a:stretch>
        </p:blipFill>
        <p:spPr>
          <a:xfrm>
            <a:off x="3459726" y="4070555"/>
            <a:ext cx="5846506" cy="23721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7503-90D8-09A7-9F3F-6C2762B92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6897D4-2152-19F0-0DEA-2BDACBE06BAA}"/>
              </a:ext>
            </a:extLst>
          </p:cNvPr>
          <p:cNvSpPr txBox="1"/>
          <p:nvPr/>
        </p:nvSpPr>
        <p:spPr>
          <a:xfrm>
            <a:off x="4798582" y="182880"/>
            <a:ext cx="25643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Оптоволокно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7EDFD-0BAC-4C7F-0C51-E38C1F78635B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Оптоволокно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световым</a:t>
            </a:r>
            <a:r>
              <a:rPr dirty="0"/>
              <a:t> </a:t>
            </a:r>
            <a:r>
              <a:rPr dirty="0" err="1"/>
              <a:t>сигналом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Оно</a:t>
            </a:r>
            <a:r>
              <a:rPr dirty="0"/>
              <a:t> </a:t>
            </a:r>
            <a:r>
              <a:rPr dirty="0" err="1"/>
              <a:t>устойчиво</a:t>
            </a:r>
            <a:r>
              <a:rPr dirty="0"/>
              <a:t> к </a:t>
            </a:r>
            <a:r>
              <a:rPr dirty="0" err="1"/>
              <a:t>электромагнитным</a:t>
            </a:r>
            <a:r>
              <a:rPr dirty="0"/>
              <a:t> </a:t>
            </a:r>
            <a:r>
              <a:rPr dirty="0" err="1"/>
              <a:t>помехам</a:t>
            </a:r>
            <a:r>
              <a:rPr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22B321-3A9F-2E34-C7C0-F65A61CE3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780" y="2518287"/>
            <a:ext cx="6850626" cy="342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12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44395" y="182880"/>
            <a:ext cx="107273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Wi-Fi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Wi-Fi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мобильных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радиосреды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Беспроводная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чувствительна</a:t>
            </a:r>
            <a:r>
              <a:rPr dirty="0"/>
              <a:t> к </a:t>
            </a:r>
            <a:r>
              <a:rPr dirty="0" err="1"/>
              <a:t>стенам</a:t>
            </a:r>
            <a:r>
              <a:rPr dirty="0"/>
              <a:t>,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RJ-45 и подключение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RJ-45 - </a:t>
            </a:r>
            <a:r>
              <a:rPr dirty="0" err="1"/>
              <a:t>распространенный</a:t>
            </a:r>
            <a:r>
              <a:rPr dirty="0"/>
              <a:t> </a:t>
            </a:r>
            <a:r>
              <a:rPr dirty="0" err="1"/>
              <a:t>разъем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Ethernet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витой</a:t>
            </a:r>
            <a:r>
              <a:rPr dirty="0"/>
              <a:t> </a:t>
            </a:r>
            <a:r>
              <a:rPr dirty="0" err="1"/>
              <a:t>паре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Патч-корд</a:t>
            </a:r>
            <a:r>
              <a:rPr dirty="0"/>
              <a:t> </a:t>
            </a:r>
            <a:r>
              <a:rPr dirty="0" err="1"/>
              <a:t>соединяет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с </a:t>
            </a:r>
            <a:r>
              <a:rPr dirty="0" err="1"/>
              <a:t>розеткой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коммутатором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Прямое</a:t>
            </a:r>
            <a:r>
              <a:rPr dirty="0"/>
              <a:t> </a:t>
            </a:r>
            <a:r>
              <a:rPr dirty="0" err="1"/>
              <a:t>подключение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ПК и switch.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Кроссовое</a:t>
            </a:r>
            <a:r>
              <a:rPr dirty="0"/>
              <a:t> </a:t>
            </a:r>
            <a:r>
              <a:rPr dirty="0" err="1"/>
              <a:t>подключение</a:t>
            </a:r>
            <a:r>
              <a:rPr dirty="0"/>
              <a:t> </a:t>
            </a:r>
            <a:r>
              <a:rPr dirty="0" err="1"/>
              <a:t>исторически</a:t>
            </a:r>
            <a:r>
              <a:rPr dirty="0"/>
              <a:t> </a:t>
            </a:r>
            <a:r>
              <a:rPr dirty="0" err="1"/>
              <a:t>применялось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однотипными</a:t>
            </a:r>
            <a:r>
              <a:rPr dirty="0"/>
              <a:t> </a:t>
            </a:r>
            <a:r>
              <a:rPr dirty="0" err="1"/>
              <a:t>устройствами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Современные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поддерживают</a:t>
            </a:r>
            <a:r>
              <a:rPr dirty="0"/>
              <a:t> Auto MDI-X и </a:t>
            </a:r>
            <a:r>
              <a:rPr dirty="0" err="1"/>
              <a:t>сами</a:t>
            </a:r>
            <a:r>
              <a:rPr dirty="0"/>
              <a:t> </a:t>
            </a:r>
            <a:r>
              <a:rPr dirty="0" err="1"/>
              <a:t>определяют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50CB1B-C14E-1B47-6B95-F6A16011D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168" y="747501"/>
            <a:ext cx="8776749" cy="541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98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D02AAE1-B302-795D-9863-A3998B225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927" y="675250"/>
            <a:ext cx="9008409" cy="53597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34FFB9-21FD-2BFC-B036-020C238B9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327" y="827650"/>
            <a:ext cx="9008409" cy="535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56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6344B7-A461-C1BD-C1EE-C523D2A29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219" y="768663"/>
            <a:ext cx="8637562" cy="554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480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11B08-3E67-4921-263E-917BC8C9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79FA45-947E-ECD4-FF7E-E48795EC9E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84"/>
          <a:stretch>
            <a:fillRect/>
          </a:stretch>
        </p:blipFill>
        <p:spPr>
          <a:xfrm>
            <a:off x="1333500" y="571500"/>
            <a:ext cx="9525000" cy="540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324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C78F6-1727-C1A3-2E76-F3158AA0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88BED7-9FC4-57BC-01CA-008F599498E4}"/>
              </a:ext>
            </a:extLst>
          </p:cNvPr>
          <p:cNvSpPr txBox="1"/>
          <p:nvPr/>
        </p:nvSpPr>
        <p:spPr>
          <a:xfrm>
            <a:off x="457200" y="560439"/>
            <a:ext cx="10972800" cy="556604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lang="ru-RU" sz="3600" b="1" dirty="0" err="1"/>
              <a:t>Straight-through</a:t>
            </a:r>
            <a:r>
              <a:rPr lang="ru-RU" sz="3600" dirty="0"/>
              <a:t> используется для соединения устройств которые работают на разных уровнях модели OSI: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- Коммутатор (Свитч)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– Хаб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Роутер – Коммутатор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 err="1"/>
              <a:t>Crossove</a:t>
            </a:r>
            <a:r>
              <a:rPr lang="ru-RU" dirty="0" err="1"/>
              <a:t>r</a:t>
            </a:r>
            <a:r>
              <a:rPr lang="ru-RU" dirty="0"/>
              <a:t> используется для соединения однотипных устройств напрямую: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Компьютер – Компьютер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Коммутатор – Коммутатор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Роутер </a:t>
            </a:r>
            <a:r>
              <a:rPr lang="ru-RU" dirty="0" err="1"/>
              <a:t>Роутер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3624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B4B6B-6CDB-3784-5619-E9ED2CA50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B2E863-D4D6-725D-F386-AFFFB486160D}"/>
              </a:ext>
            </a:extLst>
          </p:cNvPr>
          <p:cNvSpPr txBox="1"/>
          <p:nvPr/>
        </p:nvSpPr>
        <p:spPr>
          <a:xfrm>
            <a:off x="802488" y="182880"/>
            <a:ext cx="105565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3200" dirty="0"/>
              <a:t>Основные протоколы Ethernet Работающие по витой паре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165245-6C36-729C-49E8-0B508EE57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17" y="1828800"/>
            <a:ext cx="11917366" cy="256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003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D71C06-9BED-9090-48E7-1960B8CDE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75" y="353961"/>
            <a:ext cx="11179354" cy="608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91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E72BE-37AF-8CC3-5456-F4FA4ECD6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E02DE-D70F-217A-8E90-A78184C453D4}"/>
              </a:ext>
            </a:extLst>
          </p:cNvPr>
          <p:cNvSpPr txBox="1"/>
          <p:nvPr/>
        </p:nvSpPr>
        <p:spPr>
          <a:xfrm>
            <a:off x="457200" y="560439"/>
            <a:ext cx="10972800" cy="55660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sz="3600" b="1" dirty="0"/>
              <a:t>Оптоволоконные кабели (</a:t>
            </a:r>
            <a:r>
              <a:rPr lang="en-US" sz="3600" b="1" dirty="0"/>
              <a:t>Fiber Optic)</a:t>
            </a:r>
            <a:endParaRPr lang="ru-RU" sz="3600" b="1" dirty="0"/>
          </a:p>
          <a:p>
            <a:pPr>
              <a:defRPr sz="3600"/>
            </a:pPr>
            <a:r>
              <a:rPr lang="ru-RU" dirty="0"/>
              <a:t>Оптоволокно использует для передачи информации световые сигналы. Сердечник такого кабеля состоит из тончайшего стекла или пластика, по которому свет перемещается за счет эффекта полного внутреннего отражения. </a:t>
            </a:r>
          </a:p>
          <a:p>
            <a:pPr>
              <a:defRPr sz="3600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624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03B3D-F8B2-CE87-C23C-3E58C7905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D1EADC-01C6-2A1E-FFDC-F71058DE96B5}"/>
              </a:ext>
            </a:extLst>
          </p:cNvPr>
          <p:cNvSpPr txBox="1"/>
          <p:nvPr/>
        </p:nvSpPr>
        <p:spPr>
          <a:xfrm>
            <a:off x="457200" y="560439"/>
            <a:ext cx="10972800" cy="556604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lang="ru-RU" dirty="0"/>
              <a:t>Оптические кабели делятся на два основных типа: </a:t>
            </a:r>
            <a:r>
              <a:rPr lang="ru-RU" b="1" dirty="0"/>
              <a:t>одномодовые</a:t>
            </a:r>
            <a:r>
              <a:rPr lang="ru-RU" dirty="0"/>
              <a:t> (Single-</a:t>
            </a:r>
            <a:r>
              <a:rPr lang="ru-RU" dirty="0" err="1"/>
              <a:t>mode</a:t>
            </a:r>
            <a:r>
              <a:rPr lang="ru-RU" dirty="0"/>
              <a:t>), использующие тонкий лазерный луч для передачи данных на огромные расстояния (десятки и сотни километров) без потери качества,  и </a:t>
            </a:r>
            <a:r>
              <a:rPr lang="ru-RU" b="1" dirty="0"/>
              <a:t>многомодовые</a:t>
            </a:r>
            <a:r>
              <a:rPr lang="ru-RU" dirty="0"/>
              <a:t> (Multi-</a:t>
            </a:r>
            <a:r>
              <a:rPr lang="ru-RU" dirty="0" err="1"/>
              <a:t>mode</a:t>
            </a:r>
            <a:r>
              <a:rPr lang="ru-RU" dirty="0"/>
              <a:t>), работающие на более дешевых светодиодах внутри локальных сетей или дата-центров на дистанциях до нескольких сотен метров. </a:t>
            </a:r>
          </a:p>
          <a:p>
            <a:pPr indent="354013">
              <a:defRPr sz="3600"/>
            </a:pPr>
            <a:r>
              <a:rPr lang="ru-RU" dirty="0"/>
              <a:t>Главные преимущества оптики — колоссальная пропускная способность и абсолютная устойчивость к любым электромагнитным помехам </a:t>
            </a:r>
          </a:p>
        </p:txBody>
      </p:sp>
    </p:spTree>
    <p:extLst>
      <p:ext uri="{BB962C8B-B14F-4D97-AF65-F5344CB8AC3E}">
        <p14:creationId xmlns:p14="http://schemas.microsoft.com/office/powerpoint/2010/main" val="3155312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B39D7-421B-5BF3-C99B-6EAECFA1D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6D9E3E-6C7A-B62A-2EE8-8C634B5E82E0}"/>
              </a:ext>
            </a:extLst>
          </p:cNvPr>
          <p:cNvSpPr txBox="1"/>
          <p:nvPr/>
        </p:nvSpPr>
        <p:spPr>
          <a:xfrm>
            <a:off x="457200" y="560439"/>
            <a:ext cx="10972800" cy="5566041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 algn="ctr">
              <a:defRPr sz="3600"/>
            </a:pPr>
            <a:r>
              <a:rPr lang="ru-RU" b="1" dirty="0"/>
              <a:t>Оптические разъемы и модули</a:t>
            </a:r>
          </a:p>
          <a:p>
            <a:pPr indent="354013">
              <a:defRPr sz="3600"/>
            </a:pPr>
            <a:r>
              <a:rPr lang="ru-RU" dirty="0"/>
              <a:t>Поскольку стеклянные жилы требуют филигранной точности при стыковке, для оптических кабелей используются специальные наконечники и коннекторы. </a:t>
            </a:r>
          </a:p>
          <a:p>
            <a:pPr indent="354013">
              <a:defRPr sz="3600"/>
            </a:pPr>
            <a:r>
              <a:rPr lang="ru-RU" dirty="0"/>
              <a:t>Самыми популярными в современных сетях являются прямоугольные пластиковые разъемы LC (компактные, часто сдвоенные) и более крупные защелкивающиеся коннекторы SC, </a:t>
            </a:r>
          </a:p>
          <a:p>
            <a:pPr indent="354013">
              <a:defRPr sz="3600"/>
            </a:pPr>
            <a:r>
              <a:rPr lang="ru-RU" dirty="0"/>
              <a:t>повсеместно встречающиеся в абонентских терминалах домашних провайдеров (технология GPON). </a:t>
            </a:r>
          </a:p>
        </p:txBody>
      </p:sp>
    </p:spTree>
    <p:extLst>
      <p:ext uri="{BB962C8B-B14F-4D97-AF65-F5344CB8AC3E}">
        <p14:creationId xmlns:p14="http://schemas.microsoft.com/office/powerpoint/2010/main" val="1700101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29BF0-D934-707D-E06C-1EFEC5E7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D4A8D0-2214-3D82-73BE-58FDFBE5A0BA}"/>
              </a:ext>
            </a:extLst>
          </p:cNvPr>
          <p:cNvSpPr txBox="1"/>
          <p:nvPr/>
        </p:nvSpPr>
        <p:spPr>
          <a:xfrm>
            <a:off x="457200" y="560439"/>
            <a:ext cx="10972800" cy="55660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Для подключения такого кабеля непосредственно к сетевому оборудованию (например, к коммутатору) используются сменные металлические трансиверы — SFP или SFP+ модули. </a:t>
            </a:r>
          </a:p>
          <a:p>
            <a:pPr indent="354013">
              <a:defRPr sz="3600"/>
            </a:pPr>
            <a:r>
              <a:rPr lang="ru-RU" dirty="0"/>
              <a:t>Они выступают в роли переводчиков, преобразуя электрические сигналы из микросхем коммутатора в световые вспышки для оптоволокна и обратно. </a:t>
            </a:r>
          </a:p>
        </p:txBody>
      </p:sp>
    </p:spTree>
    <p:extLst>
      <p:ext uri="{BB962C8B-B14F-4D97-AF65-F5344CB8AC3E}">
        <p14:creationId xmlns:p14="http://schemas.microsoft.com/office/powerpoint/2010/main" val="4055070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45964B-BC6A-199A-0EA7-5539836EB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35" y="280219"/>
            <a:ext cx="11677555" cy="615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920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FCA8CC-FD13-51F7-EA5F-2540CBBAE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10" y="309940"/>
            <a:ext cx="11135031" cy="622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15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2B9A69-544B-30C5-6827-CC71441F7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85" y="412954"/>
            <a:ext cx="11260850" cy="606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48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BF1E47-7356-A4EB-9815-9B677CD8C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95" y="157890"/>
            <a:ext cx="11090786" cy="648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49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9B979B-1047-42BF-22E2-57B69537A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39" y="154496"/>
            <a:ext cx="9763432" cy="656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97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F878A2-32ED-8CA2-E90F-D8D51F35E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31" y="383458"/>
            <a:ext cx="11162259" cy="607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301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A9444D-2533-169B-DE03-F78617902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66" y="412955"/>
            <a:ext cx="11838668" cy="598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417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D51A-5E1D-AD97-99E7-E3E6337CB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D21E27-08CA-7014-E079-C4C3A4065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96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07FD-D04E-355F-3D16-7B034434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F6446D-BD3D-ED6B-C493-CAAC377FCEE6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Порты и кабели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C02286-EFF9-DAD4-8F2C-BDC7C4806598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исправен</a:t>
            </a:r>
            <a:r>
              <a:rPr dirty="0"/>
              <a:t> и </a:t>
            </a:r>
            <a:r>
              <a:rPr dirty="0" err="1"/>
              <a:t>включен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Кабель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соответствовать</a:t>
            </a:r>
            <a:r>
              <a:rPr dirty="0"/>
              <a:t> </a:t>
            </a:r>
            <a:r>
              <a:rPr dirty="0" err="1"/>
              <a:t>нужной</a:t>
            </a:r>
            <a:r>
              <a:rPr dirty="0"/>
              <a:t> </a:t>
            </a:r>
            <a:r>
              <a:rPr dirty="0" err="1"/>
              <a:t>категории</a:t>
            </a:r>
            <a:r>
              <a:rPr dirty="0"/>
              <a:t> и </a:t>
            </a:r>
            <a:r>
              <a:rPr dirty="0" err="1"/>
              <a:t>длине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Плохой</a:t>
            </a:r>
            <a:r>
              <a:rPr dirty="0"/>
              <a:t> </a:t>
            </a:r>
            <a:r>
              <a:rPr dirty="0" err="1"/>
              <a:t>обжим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давать</a:t>
            </a:r>
            <a:r>
              <a:rPr dirty="0"/>
              <a:t> </a:t>
            </a:r>
            <a:r>
              <a:rPr dirty="0" err="1"/>
              <a:t>нестабильный</a:t>
            </a:r>
            <a:r>
              <a:rPr dirty="0"/>
              <a:t> link.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длинный</a:t>
            </a:r>
            <a:r>
              <a:rPr dirty="0"/>
              <a:t> </a:t>
            </a:r>
            <a:r>
              <a:rPr dirty="0" err="1"/>
              <a:t>кабель</a:t>
            </a:r>
            <a:r>
              <a:rPr dirty="0"/>
              <a:t> </a:t>
            </a:r>
            <a:r>
              <a:rPr dirty="0" err="1"/>
              <a:t>ухудшает</a:t>
            </a:r>
            <a:r>
              <a:rPr dirty="0"/>
              <a:t> </a:t>
            </a: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сигнала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Маркировка</a:t>
            </a:r>
            <a:r>
              <a:rPr dirty="0"/>
              <a:t> </a:t>
            </a:r>
            <a:r>
              <a:rPr dirty="0" err="1"/>
              <a:t>кабелей</a:t>
            </a:r>
            <a:r>
              <a:rPr dirty="0"/>
              <a:t> </a:t>
            </a:r>
            <a:r>
              <a:rPr dirty="0" err="1"/>
              <a:t>ускоряет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неисправности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792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4830" y="182880"/>
            <a:ext cx="445186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4</a:t>
            </a:r>
            <a:r>
              <a:rPr dirty="0"/>
              <a:t>. </a:t>
            </a: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соединения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Скорость</a:t>
            </a:r>
            <a:r>
              <a:rPr dirty="0"/>
              <a:t> link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согласованную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Типичные</a:t>
            </a:r>
            <a:r>
              <a:rPr dirty="0"/>
              <a:t> </a:t>
            </a:r>
            <a:r>
              <a:rPr dirty="0" err="1"/>
              <a:t>значения</a:t>
            </a:r>
            <a:r>
              <a:rPr dirty="0"/>
              <a:t>: 100 Мбит/с, 1 </a:t>
            </a:r>
            <a:r>
              <a:rPr dirty="0" err="1"/>
              <a:t>Гбит</a:t>
            </a:r>
            <a:r>
              <a:rPr dirty="0"/>
              <a:t>/с, 10 </a:t>
            </a:r>
            <a:r>
              <a:rPr dirty="0" err="1"/>
              <a:t>Гбит</a:t>
            </a:r>
            <a:r>
              <a:rPr dirty="0"/>
              <a:t>/с.</a:t>
            </a:r>
          </a:p>
          <a:p>
            <a:pPr indent="354013">
              <a:defRPr sz="3600"/>
            </a:pP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, </a:t>
            </a:r>
            <a:r>
              <a:rPr dirty="0" err="1"/>
              <a:t>кабеля</a:t>
            </a:r>
            <a:r>
              <a:rPr dirty="0"/>
              <a:t> и </a:t>
            </a:r>
            <a:r>
              <a:rPr dirty="0" err="1"/>
              <a:t>настроек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Auto-negotiation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устройствам</a:t>
            </a:r>
            <a:r>
              <a:rPr dirty="0"/>
              <a:t> </a:t>
            </a:r>
            <a:r>
              <a:rPr dirty="0" err="1"/>
              <a:t>согласовать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 и duplex.</a:t>
            </a:r>
          </a:p>
          <a:p>
            <a:pPr indent="354013">
              <a:defRPr sz="3600"/>
            </a:pPr>
            <a:r>
              <a:rPr dirty="0" err="1"/>
              <a:t>Низкая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 link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указывать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кабель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старое</a:t>
            </a:r>
            <a:r>
              <a:rPr dirty="0"/>
              <a:t> </a:t>
            </a:r>
            <a:r>
              <a:rPr dirty="0" err="1"/>
              <a:t>оборудование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Auto-negotiation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Auto-negotiation - </a:t>
            </a:r>
            <a:r>
              <a:rPr dirty="0" err="1"/>
              <a:t>автоматическое</a:t>
            </a:r>
            <a:r>
              <a:rPr dirty="0"/>
              <a:t> </a:t>
            </a:r>
            <a:r>
              <a:rPr dirty="0" err="1"/>
              <a:t>согласование</a:t>
            </a:r>
            <a:r>
              <a:rPr dirty="0"/>
              <a:t> </a:t>
            </a:r>
            <a:r>
              <a:rPr dirty="0" err="1"/>
              <a:t>параметров</a:t>
            </a:r>
            <a:r>
              <a:rPr dirty="0"/>
              <a:t> </a:t>
            </a:r>
            <a:r>
              <a:rPr dirty="0" err="1"/>
              <a:t>соединения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Устройства</a:t>
            </a:r>
            <a:r>
              <a:rPr dirty="0"/>
              <a:t> </a:t>
            </a:r>
            <a:r>
              <a:rPr dirty="0" err="1"/>
              <a:t>обмениваются</a:t>
            </a:r>
            <a:r>
              <a:rPr dirty="0"/>
              <a:t> </a:t>
            </a:r>
            <a:r>
              <a:rPr dirty="0" err="1"/>
              <a:t>возможностями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Выбирается</a:t>
            </a:r>
            <a:r>
              <a:rPr dirty="0"/>
              <a:t>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поддерживаемый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согласование</a:t>
            </a:r>
            <a:r>
              <a:rPr dirty="0"/>
              <a:t> </a:t>
            </a:r>
            <a:r>
              <a:rPr dirty="0" err="1"/>
              <a:t>нарушено</a:t>
            </a:r>
            <a:r>
              <a:rPr dirty="0"/>
              <a:t>,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</a:t>
            </a:r>
            <a:r>
              <a:rPr dirty="0" err="1"/>
              <a:t>нестабильно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Ручные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скорости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осторожно</a:t>
            </a:r>
            <a:r>
              <a:rPr dirty="0"/>
              <a:t> и </a:t>
            </a:r>
            <a:r>
              <a:rPr dirty="0" err="1"/>
              <a:t>документируют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16073" y="182880"/>
            <a:ext cx="332937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5</a:t>
            </a:r>
            <a:r>
              <a:rPr dirty="0"/>
              <a:t>. Link-</a:t>
            </a:r>
            <a:r>
              <a:rPr dirty="0" err="1"/>
              <a:t>индикатор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Link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наличие</a:t>
            </a:r>
            <a:r>
              <a:rPr dirty="0"/>
              <a:t> </a:t>
            </a:r>
            <a:r>
              <a:rPr dirty="0" err="1"/>
              <a:t>физического</a:t>
            </a:r>
            <a:r>
              <a:rPr dirty="0"/>
              <a:t> </a:t>
            </a:r>
            <a:r>
              <a:rPr dirty="0" err="1"/>
              <a:t>соединения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Индикатор</a:t>
            </a:r>
            <a:r>
              <a:rPr dirty="0"/>
              <a:t> activity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передачу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Отсутствие</a:t>
            </a:r>
            <a:r>
              <a:rPr dirty="0"/>
              <a:t> link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 </a:t>
            </a:r>
            <a:r>
              <a:rPr dirty="0" err="1"/>
              <a:t>кабеля</a:t>
            </a:r>
            <a:r>
              <a:rPr dirty="0"/>
              <a:t>, </a:t>
            </a:r>
            <a:r>
              <a:rPr dirty="0" err="1"/>
              <a:t>порта</a:t>
            </a:r>
            <a:r>
              <a:rPr dirty="0"/>
              <a:t>, </a:t>
            </a:r>
            <a:r>
              <a:rPr dirty="0" err="1"/>
              <a:t>питания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Наличие</a:t>
            </a:r>
            <a:r>
              <a:rPr dirty="0"/>
              <a:t> link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гарантирует</a:t>
            </a:r>
            <a:r>
              <a:rPr dirty="0"/>
              <a:t> </a:t>
            </a:r>
            <a:r>
              <a:rPr dirty="0" err="1"/>
              <a:t>правильную</a:t>
            </a:r>
            <a:r>
              <a:rPr dirty="0"/>
              <a:t> IP-</a:t>
            </a:r>
            <a:r>
              <a:rPr dirty="0" err="1"/>
              <a:t>настройку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Первый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: </a:t>
            </a:r>
            <a:r>
              <a:rPr dirty="0" err="1"/>
              <a:t>горит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link </a:t>
            </a:r>
            <a:r>
              <a:rPr dirty="0" err="1"/>
              <a:t>там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9E26E-D70C-BECD-9CF9-970FCE8B1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3C42ED-2CAF-4482-2FE1-220BF1EDB4BC}"/>
              </a:ext>
            </a:extLst>
          </p:cNvPr>
          <p:cNvSpPr txBox="1"/>
          <p:nvPr/>
        </p:nvSpPr>
        <p:spPr>
          <a:xfrm>
            <a:off x="457199" y="501445"/>
            <a:ext cx="11223523" cy="5625035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indent="354013">
              <a:defRPr sz="3600"/>
            </a:pPr>
            <a:r>
              <a:rPr lang="ru-RU" dirty="0"/>
              <a:t>1. Зеленый индикатор (Обычно слева)</a:t>
            </a:r>
          </a:p>
          <a:p>
            <a:pPr indent="354013">
              <a:defRPr sz="3600"/>
            </a:pPr>
            <a:r>
              <a:rPr lang="ru-RU" dirty="0"/>
              <a:t>Это индикатор подключения и активности (Link/Act).</a:t>
            </a:r>
          </a:p>
          <a:p>
            <a:pPr indent="354013">
              <a:defRPr sz="3600"/>
            </a:pPr>
            <a:r>
              <a:rPr lang="ru-RU" dirty="0"/>
              <a:t>Горит непрерывно: Кабель подключен, физическое соединение с другим устройством успешно установлено.</a:t>
            </a:r>
          </a:p>
          <a:p>
            <a:pPr indent="354013">
              <a:defRPr sz="3600"/>
            </a:pPr>
            <a:r>
              <a:rPr lang="ru-RU" dirty="0"/>
              <a:t>Мигает: Происходит передача данных (идет трафик).</a:t>
            </a:r>
          </a:p>
          <a:p>
            <a:pPr indent="354013">
              <a:defRPr sz="3600"/>
            </a:pPr>
            <a:r>
              <a:rPr lang="ru-RU" dirty="0"/>
              <a:t>Не горит: Кабеля нет, поврежден провод, либо устройство на другом конце выключено.</a:t>
            </a: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2. Желтый / Оранжевый индикатор (Обычно справа)</a:t>
            </a:r>
          </a:p>
          <a:p>
            <a:pPr indent="354013">
              <a:defRPr sz="3600"/>
            </a:pPr>
            <a:r>
              <a:rPr lang="ru-RU" dirty="0"/>
              <a:t>Это индикатор скорости соединения (Speed). В современных гигабитных портах он помогает сразу понять, на какой максимальной скорости завелся линк:</a:t>
            </a:r>
          </a:p>
          <a:p>
            <a:pPr indent="354013">
              <a:defRPr sz="3600"/>
            </a:pPr>
            <a:r>
              <a:rPr lang="ru-RU" dirty="0"/>
              <a:t>Горит Желтым/Оранжевым: Соединение установлено на максимальной скорости 1 Гбит/с (1000 Мбит/с).</a:t>
            </a:r>
          </a:p>
          <a:p>
            <a:pPr indent="354013">
              <a:defRPr sz="3600"/>
            </a:pPr>
            <a:r>
              <a:rPr lang="ru-RU" dirty="0"/>
              <a:t>Горит Зеленым (или вообще выключен): Соединение упало до 100 Мбит/с или 10 Мбит/с.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40987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29DBA-2EA1-5105-642F-4950F23E7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AC9349-51F4-5B34-483C-9BC38339D9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20"/>
          <a:stretch>
            <a:fillRect/>
          </a:stretch>
        </p:blipFill>
        <p:spPr>
          <a:xfrm>
            <a:off x="932487" y="1725561"/>
            <a:ext cx="10327026" cy="370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91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21350" y="182880"/>
            <a:ext cx="411882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6</a:t>
            </a:r>
            <a:r>
              <a:rPr dirty="0"/>
              <a:t>. Типовые </a:t>
            </a:r>
            <a:r>
              <a:rPr dirty="0" err="1"/>
              <a:t>проблемы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Кабель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подключен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подключен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туда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Неверный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кабеля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поврежденный</a:t>
            </a:r>
            <a:r>
              <a:rPr dirty="0"/>
              <a:t> </a:t>
            </a:r>
            <a:r>
              <a:rPr dirty="0" err="1"/>
              <a:t>патч-корд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выключен</a:t>
            </a:r>
            <a:r>
              <a:rPr dirty="0"/>
              <a:t> </a:t>
            </a:r>
            <a:r>
              <a:rPr dirty="0" err="1"/>
              <a:t>программно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неисправен</a:t>
            </a:r>
            <a:r>
              <a:rPr dirty="0"/>
              <a:t> </a:t>
            </a:r>
            <a:r>
              <a:rPr dirty="0" err="1"/>
              <a:t>физически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включено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питания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Скорость</a:t>
            </a:r>
            <a:r>
              <a:rPr dirty="0"/>
              <a:t> и duplex </a:t>
            </a:r>
            <a:r>
              <a:rPr dirty="0" err="1"/>
              <a:t>согласованы</a:t>
            </a:r>
            <a:r>
              <a:rPr dirty="0"/>
              <a:t> </a:t>
            </a:r>
            <a:r>
              <a:rPr dirty="0" err="1"/>
              <a:t>некорректно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07120" y="182880"/>
            <a:ext cx="43472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7</a:t>
            </a:r>
            <a:r>
              <a:rPr dirty="0"/>
              <a:t>. </a:t>
            </a:r>
            <a:r>
              <a:rPr dirty="0" err="1"/>
              <a:t>Базовая</a:t>
            </a:r>
            <a:r>
              <a:rPr dirty="0"/>
              <a:t> </a:t>
            </a:r>
            <a:r>
              <a:rPr dirty="0" err="1"/>
              <a:t>диагностика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питание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индикаторы</a:t>
            </a:r>
            <a:r>
              <a:rPr dirty="0"/>
              <a:t> link/activity.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Заменить</a:t>
            </a:r>
            <a:r>
              <a:rPr dirty="0"/>
              <a:t> </a:t>
            </a:r>
            <a:r>
              <a:rPr dirty="0" err="1"/>
              <a:t>кабель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заведомо</a:t>
            </a:r>
            <a:r>
              <a:rPr dirty="0"/>
              <a:t> </a:t>
            </a:r>
            <a:r>
              <a:rPr dirty="0" err="1"/>
              <a:t>рабочий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правильность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Packet Tracer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кабеля</a:t>
            </a:r>
            <a:r>
              <a:rPr dirty="0"/>
              <a:t> и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интерфейсов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Алгоритм диагностики физического уровня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B3BF8E-A42A-19E7-4AB6-52535FB61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E57E-5257-5D9F-DA1E-CF92E1863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13B74C-F2FB-F9BB-98AB-49AA6852EEA7}"/>
              </a:ext>
            </a:extLst>
          </p:cNvPr>
          <p:cNvSpPr txBox="1"/>
          <p:nvPr/>
        </p:nvSpPr>
        <p:spPr>
          <a:xfrm>
            <a:off x="3014985" y="182880"/>
            <a:ext cx="613155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8. Концентратор (</a:t>
            </a:r>
            <a:r>
              <a:rPr lang="en-US" sz="4800" dirty="0"/>
              <a:t>Hub)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692E3-0922-D08D-B6CF-DF2D1CE12679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indent="354013">
              <a:defRPr sz="3600"/>
            </a:pPr>
            <a:r>
              <a:rPr lang="ru-RU" dirty="0" err="1"/>
              <a:t>Hub</a:t>
            </a:r>
            <a:r>
              <a:rPr lang="ru-RU" dirty="0"/>
              <a:t> (Сетевой концентратор) — это устаревшее сетевое устройство, которое объединяет компьютеры в локальную сеть на физическом уровне (работает на 1-м уровне модели OSI).</a:t>
            </a:r>
          </a:p>
          <a:p>
            <a:pPr indent="354013">
              <a:defRPr sz="3600"/>
            </a:pPr>
            <a:r>
              <a:rPr lang="ru-RU" dirty="0"/>
              <a:t>Главный принцип его работы: он абсолютно «глупый».</a:t>
            </a:r>
          </a:p>
          <a:p>
            <a:pPr indent="354013">
              <a:defRPr sz="3600"/>
            </a:pPr>
            <a:r>
              <a:rPr lang="ru-RU" dirty="0"/>
              <a:t>Когда один компьютер отправляет через хаб данные другому, хаб не умеет определять, кому именно они адресованы. Он просто копирует этот сигнал и вещает его во все остальные порты одновременно. Нужный компьютер забирает данные себе, а остальные их просто игнорируют.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37818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8C4EC-EC27-6463-674C-375B93C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083429-2B06-81DE-F053-7B9E6C1A3B58}"/>
              </a:ext>
            </a:extLst>
          </p:cNvPr>
          <p:cNvSpPr txBox="1"/>
          <p:nvPr/>
        </p:nvSpPr>
        <p:spPr>
          <a:xfrm>
            <a:off x="3014985" y="182880"/>
            <a:ext cx="613155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8. Концентратор (</a:t>
            </a:r>
            <a:r>
              <a:rPr lang="en-US" sz="4800" dirty="0"/>
              <a:t>Hub)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BFAD24-373A-BC45-1A17-CFD9DAC80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12" y="1651818"/>
            <a:ext cx="6533745" cy="48437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77869F-395F-1555-2A70-E2C71A989B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75" b="64740"/>
          <a:stretch>
            <a:fillRect/>
          </a:stretch>
        </p:blipFill>
        <p:spPr>
          <a:xfrm>
            <a:off x="7964744" y="3165199"/>
            <a:ext cx="3465256" cy="181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910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Физический уровень передает биты через кабель, оптику или радио.</a:t>
            </a:r>
          </a:p>
          <a:p>
            <a:pPr>
              <a:defRPr sz="3600"/>
            </a:pPr>
            <a:r>
              <a:t>Витая пара и RJ-45 остаются основой офисных сетей.</a:t>
            </a:r>
          </a:p>
          <a:p>
            <a:pPr>
              <a:defRPr sz="3600"/>
            </a:pPr>
            <a:r>
              <a:t>Link показывает физическое соединение, но не гарантирует IP-связность.</a:t>
            </a:r>
          </a:p>
          <a:p>
            <a:pPr>
              <a:defRPr sz="3600"/>
            </a:pPr>
            <a:r>
              <a:t>Duplex и скорость влияют на качество обмена.</a:t>
            </a:r>
          </a:p>
          <a:p>
            <a:pPr>
              <a:defRPr sz="3600"/>
            </a:pPr>
            <a:r>
              <a:t>Диагностика начинается с питания, кабелей, портов и индикаторов.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витая</a:t>
            </a:r>
            <a:r>
              <a:rPr dirty="0"/>
              <a:t> </a:t>
            </a:r>
            <a:r>
              <a:rPr dirty="0" err="1"/>
              <a:t>пара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оптоволокна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link-</a:t>
            </a:r>
            <a:r>
              <a:rPr dirty="0" err="1"/>
              <a:t>индикатор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half-duplex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full-duplex?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auto-negotiation?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причины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привести</a:t>
            </a:r>
            <a:r>
              <a:rPr dirty="0"/>
              <a:t> к </a:t>
            </a:r>
            <a:r>
              <a:rPr dirty="0" err="1"/>
              <a:t>отсутствию</a:t>
            </a:r>
            <a:r>
              <a:rPr dirty="0"/>
              <a:t> link?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наличие</a:t>
            </a:r>
            <a:r>
              <a:rPr dirty="0"/>
              <a:t> link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1284</Words>
  <Application>Microsoft Office PowerPoint</Application>
  <PresentationFormat>Широкоэкранный</PresentationFormat>
  <Paragraphs>143</Paragraphs>
  <Slides>45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2026-06-29T09:36:01Z</dcterms:modified>
  <cp:category/>
</cp:coreProperties>
</file>