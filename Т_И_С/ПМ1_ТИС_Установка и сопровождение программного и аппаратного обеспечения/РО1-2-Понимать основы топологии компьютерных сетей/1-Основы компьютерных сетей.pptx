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1" r:id="rId8"/>
    <p:sldId id="302" r:id="rId9"/>
    <p:sldId id="301" r:id="rId10"/>
    <p:sldId id="283" r:id="rId11"/>
    <p:sldId id="287" r:id="rId12"/>
    <p:sldId id="292" r:id="rId13"/>
    <p:sldId id="284" r:id="rId14"/>
    <p:sldId id="303" r:id="rId15"/>
    <p:sldId id="293" r:id="rId16"/>
    <p:sldId id="294" r:id="rId17"/>
    <p:sldId id="304" r:id="rId18"/>
    <p:sldId id="285" r:id="rId19"/>
    <p:sldId id="295" r:id="rId20"/>
    <p:sldId id="286" r:id="rId21"/>
    <p:sldId id="296" r:id="rId22"/>
    <p:sldId id="297" r:id="rId23"/>
    <p:sldId id="288" r:id="rId24"/>
    <p:sldId id="262" r:id="rId25"/>
    <p:sldId id="263" r:id="rId26"/>
    <p:sldId id="264" r:id="rId27"/>
    <p:sldId id="265" r:id="rId28"/>
    <p:sldId id="281" r:id="rId29"/>
    <p:sldId id="266" r:id="rId30"/>
    <p:sldId id="267" r:id="rId31"/>
    <p:sldId id="268" r:id="rId32"/>
    <p:sldId id="282" r:id="rId33"/>
    <p:sldId id="305" r:id="rId34"/>
    <p:sldId id="269" r:id="rId35"/>
    <p:sldId id="270" r:id="rId36"/>
    <p:sldId id="271" r:id="rId37"/>
    <p:sldId id="272" r:id="rId38"/>
    <p:sldId id="298" r:id="rId39"/>
    <p:sldId id="299" r:id="rId40"/>
    <p:sldId id="306" r:id="rId41"/>
    <p:sldId id="273" r:id="rId42"/>
    <p:sldId id="274" r:id="rId43"/>
    <p:sldId id="275" r:id="rId44"/>
    <p:sldId id="276" r:id="rId45"/>
    <p:sldId id="300" r:id="rId46"/>
    <p:sldId id="278" r:id="rId47"/>
    <p:sldId id="279" r:id="rId48"/>
    <p:sldId id="280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843" y="1731460"/>
            <a:ext cx="1201431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 err="1"/>
              <a:t>Лекция</a:t>
            </a:r>
            <a:r>
              <a:rPr sz="4400" dirty="0"/>
              <a:t> 1. </a:t>
            </a:r>
            <a:endParaRPr lang="ru-RU" sz="44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400" dirty="0" err="1"/>
              <a:t>Основы</a:t>
            </a:r>
            <a:r>
              <a:rPr sz="4400" dirty="0"/>
              <a:t> </a:t>
            </a:r>
            <a:r>
              <a:rPr sz="4400" dirty="0" err="1"/>
              <a:t>компьютерных</a:t>
            </a:r>
            <a:r>
              <a:rPr sz="4400" dirty="0"/>
              <a:t> </a:t>
            </a:r>
            <a:r>
              <a:rPr sz="4400" dirty="0" err="1"/>
              <a:t>сетей</a:t>
            </a:r>
            <a:r>
              <a:rPr sz="4400" dirty="0"/>
              <a:t> и </a:t>
            </a:r>
            <a:r>
              <a:rPr sz="4400" dirty="0" err="1"/>
              <a:t>сетевые</a:t>
            </a:r>
            <a:r>
              <a:rPr sz="4400" dirty="0"/>
              <a:t> </a:t>
            </a:r>
            <a:r>
              <a:rPr sz="4400" dirty="0" err="1"/>
              <a:t>модели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9726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Сформировать</a:t>
            </a:r>
            <a:r>
              <a:rPr dirty="0"/>
              <a:t> у </a:t>
            </a:r>
            <a:r>
              <a:rPr dirty="0" err="1"/>
              <a:t>обучающихся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компьютерной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, </a:t>
            </a:r>
            <a:r>
              <a:rPr dirty="0" err="1"/>
              <a:t>ролей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, </a:t>
            </a:r>
            <a:r>
              <a:rPr dirty="0" err="1"/>
              <a:t>моделей</a:t>
            </a:r>
            <a:r>
              <a:rPr dirty="0"/>
              <a:t> OSI и TCP/IP,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принципов</a:t>
            </a:r>
            <a:r>
              <a:rPr dirty="0"/>
              <a:t> </a:t>
            </a:r>
            <a:r>
              <a:rPr dirty="0" err="1"/>
              <a:t>инкапсуляции</a:t>
            </a:r>
            <a:r>
              <a:rPr dirty="0"/>
              <a:t> и </a:t>
            </a:r>
            <a:r>
              <a:rPr dirty="0" err="1"/>
              <a:t>декапсуляции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430000" cy="5852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sz="2400" dirty="0"/>
              <a:t>1. </a:t>
            </a:r>
            <a:r>
              <a:rPr sz="2400" dirty="0" err="1"/>
              <a:t>Понятие</a:t>
            </a:r>
            <a:r>
              <a:rPr sz="2400" dirty="0"/>
              <a:t> </a:t>
            </a:r>
            <a:r>
              <a:rPr sz="2400" dirty="0" err="1"/>
              <a:t>компьютерной</a:t>
            </a:r>
            <a:r>
              <a:rPr sz="2400" dirty="0"/>
              <a:t> </a:t>
            </a:r>
            <a:r>
              <a:rPr sz="2400" dirty="0" err="1"/>
              <a:t>сети</a:t>
            </a:r>
            <a:r>
              <a:rPr sz="2400" dirty="0"/>
              <a:t> и </a:t>
            </a:r>
            <a:r>
              <a:rPr sz="2400" dirty="0" err="1"/>
              <a:t>назначение</a:t>
            </a:r>
            <a:r>
              <a:rPr sz="2400" dirty="0"/>
              <a:t> </a:t>
            </a:r>
            <a:r>
              <a:rPr sz="2400" dirty="0" err="1"/>
              <a:t>сетевого</a:t>
            </a:r>
            <a:r>
              <a:rPr sz="2400" dirty="0"/>
              <a:t> </a:t>
            </a:r>
            <a:r>
              <a:rPr sz="2400" dirty="0" err="1"/>
              <a:t>взаимодействия</a:t>
            </a:r>
            <a:r>
              <a:rPr sz="2400" dirty="0"/>
              <a:t>.</a:t>
            </a:r>
            <a:endParaRPr lang="ru-RU" sz="2400" dirty="0"/>
          </a:p>
          <a:p>
            <a:pPr>
              <a:defRPr sz="3600"/>
            </a:pPr>
            <a:r>
              <a:rPr lang="ru-RU" sz="2400" dirty="0"/>
              <a:t>2. Виды связи.</a:t>
            </a:r>
          </a:p>
          <a:p>
            <a:pPr>
              <a:defRPr sz="3600"/>
            </a:pPr>
            <a:r>
              <a:rPr lang="ru-RU" sz="2400" dirty="0"/>
              <a:t>3. Методы передачи данных</a:t>
            </a:r>
          </a:p>
          <a:p>
            <a:pPr>
              <a:defRPr sz="3600"/>
            </a:pPr>
            <a:r>
              <a:rPr lang="ru-RU" sz="2400" dirty="0"/>
              <a:t>4. Виды коммутации.</a:t>
            </a:r>
          </a:p>
          <a:p>
            <a:pPr>
              <a:defRPr sz="3600"/>
            </a:pPr>
            <a:r>
              <a:rPr lang="ru-RU" sz="2400" dirty="0"/>
              <a:t>5. Виды топологий</a:t>
            </a:r>
            <a:endParaRPr sz="2400" dirty="0"/>
          </a:p>
          <a:p>
            <a:pPr>
              <a:defRPr sz="3600"/>
            </a:pPr>
            <a:r>
              <a:rPr lang="ru-RU" sz="2400" dirty="0"/>
              <a:t>6</a:t>
            </a:r>
            <a:r>
              <a:rPr sz="2400" dirty="0"/>
              <a:t>. </a:t>
            </a:r>
            <a:r>
              <a:rPr sz="2400" dirty="0" err="1"/>
              <a:t>Узлы</a:t>
            </a:r>
            <a:r>
              <a:rPr sz="2400" dirty="0"/>
              <a:t> </a:t>
            </a:r>
            <a:r>
              <a:rPr sz="2400" dirty="0" err="1"/>
              <a:t>сети</a:t>
            </a:r>
            <a:r>
              <a:rPr sz="2400" dirty="0"/>
              <a:t>: </a:t>
            </a:r>
            <a:r>
              <a:rPr sz="2400" dirty="0" err="1"/>
              <a:t>клиент</a:t>
            </a:r>
            <a:r>
              <a:rPr sz="2400" dirty="0"/>
              <a:t>, </a:t>
            </a:r>
            <a:r>
              <a:rPr sz="2400" dirty="0" err="1"/>
              <a:t>сервер</a:t>
            </a:r>
            <a:r>
              <a:rPr sz="2400" dirty="0"/>
              <a:t>, </a:t>
            </a:r>
            <a:r>
              <a:rPr sz="2400" dirty="0" err="1"/>
              <a:t>рабочая</a:t>
            </a:r>
            <a:r>
              <a:rPr sz="2400" dirty="0"/>
              <a:t> </a:t>
            </a:r>
            <a:r>
              <a:rPr sz="2400" dirty="0" err="1"/>
              <a:t>станция</a:t>
            </a:r>
            <a:r>
              <a:rPr sz="2400" dirty="0"/>
              <a:t>, </a:t>
            </a:r>
            <a:r>
              <a:rPr sz="2400" dirty="0" err="1"/>
              <a:t>сетевое</a:t>
            </a:r>
            <a:r>
              <a:rPr sz="2400" dirty="0"/>
              <a:t> </a:t>
            </a:r>
            <a:r>
              <a:rPr sz="2400" dirty="0" err="1"/>
              <a:t>устройство</a:t>
            </a:r>
            <a:r>
              <a:rPr sz="2400" dirty="0"/>
              <a:t>.</a:t>
            </a:r>
          </a:p>
          <a:p>
            <a:pPr>
              <a:defRPr sz="3600"/>
            </a:pPr>
            <a:r>
              <a:rPr lang="ru-RU" sz="2400" dirty="0"/>
              <a:t>7</a:t>
            </a:r>
            <a:r>
              <a:rPr sz="2400" dirty="0"/>
              <a:t>. </a:t>
            </a:r>
            <a:r>
              <a:rPr sz="2400" dirty="0" err="1"/>
              <a:t>Каналы</a:t>
            </a:r>
            <a:r>
              <a:rPr sz="2400" dirty="0"/>
              <a:t> </a:t>
            </a:r>
            <a:r>
              <a:rPr sz="2400" dirty="0" err="1"/>
              <a:t>связи</a:t>
            </a:r>
            <a:r>
              <a:rPr sz="2400" dirty="0"/>
              <a:t> и </a:t>
            </a:r>
            <a:r>
              <a:rPr sz="2400" dirty="0" err="1"/>
              <a:t>передача</a:t>
            </a:r>
            <a:r>
              <a:rPr sz="2400" dirty="0"/>
              <a:t> </a:t>
            </a:r>
            <a:r>
              <a:rPr sz="2400" dirty="0" err="1"/>
              <a:t>данных</a:t>
            </a:r>
            <a:r>
              <a:rPr sz="2400" dirty="0"/>
              <a:t> </a:t>
            </a:r>
            <a:r>
              <a:rPr sz="2400" dirty="0" err="1"/>
              <a:t>между</a:t>
            </a:r>
            <a:r>
              <a:rPr sz="2400" dirty="0"/>
              <a:t> </a:t>
            </a:r>
            <a:r>
              <a:rPr sz="2400" dirty="0" err="1"/>
              <a:t>узлами</a:t>
            </a:r>
            <a:r>
              <a:rPr sz="2400" dirty="0"/>
              <a:t>.</a:t>
            </a:r>
          </a:p>
          <a:p>
            <a:pPr>
              <a:defRPr sz="3600"/>
            </a:pPr>
            <a:r>
              <a:rPr lang="ru-RU" sz="2400" dirty="0"/>
              <a:t>8</a:t>
            </a:r>
            <a:r>
              <a:rPr sz="2400" dirty="0"/>
              <a:t>. </a:t>
            </a:r>
            <a:r>
              <a:rPr sz="2400" dirty="0" err="1"/>
              <a:t>Основные</a:t>
            </a:r>
            <a:r>
              <a:rPr sz="2400" dirty="0"/>
              <a:t> </a:t>
            </a:r>
            <a:r>
              <a:rPr sz="2400" dirty="0" err="1"/>
              <a:t>сетевые</a:t>
            </a:r>
            <a:r>
              <a:rPr sz="2400" dirty="0"/>
              <a:t> </a:t>
            </a:r>
            <a:r>
              <a:rPr sz="2400" dirty="0" err="1"/>
              <a:t>устройства</a:t>
            </a:r>
            <a:r>
              <a:rPr sz="2400" dirty="0"/>
              <a:t>: </a:t>
            </a:r>
            <a:r>
              <a:rPr sz="2400" dirty="0" err="1"/>
              <a:t>коммутатор</a:t>
            </a:r>
            <a:r>
              <a:rPr sz="2400" dirty="0"/>
              <a:t>, </a:t>
            </a:r>
            <a:r>
              <a:rPr sz="2400" dirty="0" err="1"/>
              <a:t>маршрутизатор</a:t>
            </a:r>
            <a:r>
              <a:rPr sz="2400" dirty="0"/>
              <a:t>, </a:t>
            </a:r>
            <a:r>
              <a:rPr sz="2400" dirty="0" err="1"/>
              <a:t>точка</a:t>
            </a:r>
            <a:r>
              <a:rPr sz="2400" dirty="0"/>
              <a:t> </a:t>
            </a:r>
            <a:r>
              <a:rPr sz="2400" dirty="0" err="1"/>
              <a:t>доступа</a:t>
            </a:r>
            <a:r>
              <a:rPr sz="2400" dirty="0"/>
              <a:t>, firewall.</a:t>
            </a:r>
          </a:p>
          <a:p>
            <a:pPr>
              <a:defRPr sz="3600"/>
            </a:pPr>
            <a:r>
              <a:rPr lang="ru-RU" sz="2400" dirty="0"/>
              <a:t>9</a:t>
            </a:r>
            <a:r>
              <a:rPr sz="2400" dirty="0"/>
              <a:t>. </a:t>
            </a:r>
            <a:r>
              <a:rPr sz="2400" dirty="0" err="1"/>
              <a:t>Типы</a:t>
            </a:r>
            <a:r>
              <a:rPr sz="2400" dirty="0"/>
              <a:t> </a:t>
            </a:r>
            <a:r>
              <a:rPr sz="2400" dirty="0" err="1"/>
              <a:t>сетей</a:t>
            </a:r>
            <a:r>
              <a:rPr sz="2400" dirty="0"/>
              <a:t>: LAN, WAN, SOHO, </a:t>
            </a:r>
            <a:r>
              <a:rPr sz="2400" dirty="0" err="1"/>
              <a:t>офисная</a:t>
            </a:r>
            <a:r>
              <a:rPr sz="2400" dirty="0"/>
              <a:t> </a:t>
            </a:r>
            <a:r>
              <a:rPr sz="2400" dirty="0" err="1"/>
              <a:t>сеть</a:t>
            </a:r>
            <a:r>
              <a:rPr sz="2400" dirty="0"/>
              <a:t>.</a:t>
            </a:r>
          </a:p>
          <a:p>
            <a:pPr>
              <a:defRPr sz="3600"/>
            </a:pPr>
            <a:r>
              <a:rPr lang="ru-RU" sz="2400" dirty="0"/>
              <a:t>10</a:t>
            </a:r>
            <a:r>
              <a:rPr sz="2400" dirty="0"/>
              <a:t>. </a:t>
            </a:r>
            <a:r>
              <a:rPr sz="2400" dirty="0" err="1"/>
              <a:t>Модель</a:t>
            </a:r>
            <a:r>
              <a:rPr sz="2400" dirty="0"/>
              <a:t> OSI: </a:t>
            </a:r>
            <a:r>
              <a:rPr sz="2400" dirty="0" err="1"/>
              <a:t>назначение</a:t>
            </a:r>
            <a:r>
              <a:rPr sz="2400" dirty="0"/>
              <a:t> и </a:t>
            </a:r>
            <a:r>
              <a:rPr sz="2400" dirty="0" err="1"/>
              <a:t>уровни</a:t>
            </a:r>
            <a:r>
              <a:rPr sz="2400" dirty="0"/>
              <a:t> </a:t>
            </a:r>
            <a:r>
              <a:rPr sz="2400" dirty="0" err="1"/>
              <a:t>на</a:t>
            </a:r>
            <a:r>
              <a:rPr sz="2400" dirty="0"/>
              <a:t> </a:t>
            </a:r>
            <a:r>
              <a:rPr sz="2400" dirty="0" err="1"/>
              <a:t>базовом</a:t>
            </a:r>
            <a:r>
              <a:rPr sz="2400" dirty="0"/>
              <a:t> </a:t>
            </a:r>
            <a:r>
              <a:rPr sz="2400" dirty="0" err="1"/>
              <a:t>уровне</a:t>
            </a:r>
            <a:r>
              <a:rPr sz="2400" dirty="0"/>
              <a:t>.</a:t>
            </a:r>
          </a:p>
          <a:p>
            <a:pPr>
              <a:defRPr sz="3600"/>
            </a:pPr>
            <a:r>
              <a:rPr lang="ru-RU" sz="2400" dirty="0"/>
              <a:t>11</a:t>
            </a:r>
            <a:r>
              <a:rPr sz="2400" dirty="0"/>
              <a:t>. </a:t>
            </a:r>
            <a:r>
              <a:rPr sz="2400" dirty="0" err="1"/>
              <a:t>Модель</a:t>
            </a:r>
            <a:r>
              <a:rPr sz="2400" dirty="0"/>
              <a:t> TCP/IP и </a:t>
            </a:r>
            <a:r>
              <a:rPr sz="2400" dirty="0" err="1"/>
              <a:t>ее</a:t>
            </a:r>
            <a:r>
              <a:rPr sz="2400" dirty="0"/>
              <a:t> </a:t>
            </a:r>
            <a:r>
              <a:rPr sz="2400" dirty="0" err="1"/>
              <a:t>связь</a:t>
            </a:r>
            <a:r>
              <a:rPr sz="2400" dirty="0"/>
              <a:t> с OSI.</a:t>
            </a:r>
          </a:p>
          <a:p>
            <a:pPr>
              <a:defRPr sz="3600"/>
            </a:pPr>
            <a:r>
              <a:rPr lang="ru-RU" sz="2400" dirty="0"/>
              <a:t>12</a:t>
            </a:r>
            <a:r>
              <a:rPr sz="2400" dirty="0"/>
              <a:t>. </a:t>
            </a:r>
            <a:r>
              <a:rPr sz="2400" dirty="0" err="1"/>
              <a:t>Инкапсуляция</a:t>
            </a:r>
            <a:r>
              <a:rPr sz="2400" dirty="0"/>
              <a:t> и </a:t>
            </a:r>
            <a:r>
              <a:rPr sz="2400" dirty="0" err="1"/>
              <a:t>декапсуляция</a:t>
            </a:r>
            <a:r>
              <a:rPr sz="2400" dirty="0"/>
              <a:t> </a:t>
            </a:r>
            <a:r>
              <a:rPr sz="2400" dirty="0" err="1"/>
              <a:t>данных</a:t>
            </a:r>
            <a:r>
              <a:rPr sz="2400" dirty="0"/>
              <a:t>.</a:t>
            </a:r>
          </a:p>
          <a:p>
            <a:pPr>
              <a:defRPr sz="3600"/>
            </a:pPr>
            <a:r>
              <a:rPr lang="ru-RU" sz="2400" dirty="0"/>
              <a:t>13</a:t>
            </a:r>
            <a:r>
              <a:rPr sz="2400" dirty="0"/>
              <a:t>. </a:t>
            </a:r>
            <a:r>
              <a:rPr sz="2400" dirty="0" err="1"/>
              <a:t>Практическое</a:t>
            </a:r>
            <a:r>
              <a:rPr sz="2400" dirty="0"/>
              <a:t> </a:t>
            </a:r>
            <a:r>
              <a:rPr sz="2400" dirty="0" err="1"/>
              <a:t>значение</a:t>
            </a:r>
            <a:r>
              <a:rPr sz="2400" dirty="0"/>
              <a:t> </a:t>
            </a:r>
            <a:r>
              <a:rPr sz="2400" dirty="0" err="1"/>
              <a:t>сетевых</a:t>
            </a:r>
            <a:r>
              <a:rPr sz="2400" dirty="0"/>
              <a:t> </a:t>
            </a:r>
            <a:r>
              <a:rPr sz="2400" dirty="0" err="1"/>
              <a:t>моделей</a:t>
            </a:r>
            <a:r>
              <a:rPr sz="2400" dirty="0"/>
              <a:t> </a:t>
            </a:r>
            <a:r>
              <a:rPr sz="2400" dirty="0" err="1"/>
              <a:t>для</a:t>
            </a:r>
            <a:r>
              <a:rPr sz="2400" dirty="0"/>
              <a:t> </a:t>
            </a:r>
            <a:r>
              <a:rPr sz="2400" dirty="0" err="1"/>
              <a:t>диагностики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Network - сеть, совокупность устройств, обменивающихся данными.</a:t>
            </a:r>
          </a:p>
          <a:p>
            <a:pPr>
              <a:defRPr sz="3600"/>
            </a:pPr>
            <a:r>
              <a:t>Host - узел сети: компьютер, сервер, принтер или другое сетевое устройство.</a:t>
            </a:r>
          </a:p>
          <a:p>
            <a:pPr>
              <a:defRPr sz="3600"/>
            </a:pPr>
            <a:r>
              <a:t>Protocol - протокол, набор правил обмена данными.</a:t>
            </a:r>
          </a:p>
          <a:p>
            <a:pPr>
              <a:defRPr sz="3600"/>
            </a:pPr>
            <a:r>
              <a:t>Packet - пакет, блок данных на сетевом уровне.</a:t>
            </a:r>
          </a:p>
          <a:p>
            <a:pPr>
              <a:defRPr sz="3600"/>
            </a:pPr>
            <a:r>
              <a:t>Frame - кадр, блок данных на канальном уровне.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18696" y="182880"/>
            <a:ext cx="852412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Понятие</a:t>
            </a:r>
            <a:r>
              <a:rPr sz="4800" dirty="0"/>
              <a:t> </a:t>
            </a:r>
            <a:r>
              <a:rPr sz="4800" dirty="0" err="1"/>
              <a:t>компьютерной</a:t>
            </a:r>
            <a:r>
              <a:rPr sz="4800" dirty="0"/>
              <a:t> </a:t>
            </a:r>
            <a:r>
              <a:rPr sz="4800" dirty="0" err="1"/>
              <a:t>сети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Компьютерная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устройствами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совместно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, </a:t>
            </a:r>
            <a:r>
              <a:rPr dirty="0" err="1"/>
              <a:t>сервисы</a:t>
            </a:r>
            <a:r>
              <a:rPr dirty="0"/>
              <a:t>, </a:t>
            </a:r>
            <a:r>
              <a:rPr dirty="0" err="1"/>
              <a:t>интернет</a:t>
            </a:r>
            <a:r>
              <a:rPr dirty="0"/>
              <a:t> и </a:t>
            </a:r>
            <a:r>
              <a:rPr dirty="0" err="1"/>
              <a:t>оборудование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администратора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- </a:t>
            </a:r>
            <a:r>
              <a:rPr dirty="0" err="1"/>
              <a:t>объект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, </a:t>
            </a:r>
            <a:r>
              <a:rPr dirty="0" err="1"/>
              <a:t>диагностики</a:t>
            </a:r>
            <a:r>
              <a:rPr dirty="0"/>
              <a:t> и </a:t>
            </a:r>
            <a:r>
              <a:rPr dirty="0" err="1"/>
              <a:t>защиты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Даже</a:t>
            </a:r>
            <a:r>
              <a:rPr dirty="0"/>
              <a:t> </a:t>
            </a:r>
            <a:r>
              <a:rPr dirty="0" err="1"/>
              <a:t>простая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устройств</a:t>
            </a:r>
            <a:r>
              <a:rPr dirty="0"/>
              <a:t>,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, </a:t>
            </a:r>
            <a:r>
              <a:rPr dirty="0" err="1"/>
              <a:t>адресов</a:t>
            </a:r>
            <a:r>
              <a:rPr dirty="0"/>
              <a:t> и </a:t>
            </a:r>
            <a:r>
              <a:rPr dirty="0" err="1"/>
              <a:t>правил</a:t>
            </a:r>
            <a:r>
              <a:rPr dirty="0"/>
              <a:t> </a:t>
            </a:r>
            <a:r>
              <a:rPr dirty="0" err="1"/>
              <a:t>обмена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сеть организации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16452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Доступ</a:t>
            </a:r>
            <a:r>
              <a:rPr dirty="0"/>
              <a:t> </a:t>
            </a:r>
            <a:r>
              <a:rPr dirty="0" err="1"/>
              <a:t>сотрудников</a:t>
            </a:r>
            <a:r>
              <a:rPr dirty="0"/>
              <a:t> к </a:t>
            </a:r>
            <a:r>
              <a:rPr dirty="0" err="1"/>
              <a:t>общим</a:t>
            </a:r>
            <a:r>
              <a:rPr dirty="0"/>
              <a:t> </a:t>
            </a:r>
            <a:r>
              <a:rPr dirty="0" err="1"/>
              <a:t>ресурсам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серверных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: DNS, DHCP, </a:t>
            </a:r>
            <a:r>
              <a:rPr dirty="0" err="1"/>
              <a:t>файловые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, web-</a:t>
            </a:r>
            <a:r>
              <a:rPr dirty="0" err="1"/>
              <a:t>сервисы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Подключение</a:t>
            </a:r>
            <a:r>
              <a:rPr dirty="0"/>
              <a:t> к </a:t>
            </a:r>
            <a:r>
              <a:rPr dirty="0" err="1"/>
              <a:t>интернету</a:t>
            </a:r>
            <a:r>
              <a:rPr dirty="0"/>
              <a:t> и </a:t>
            </a:r>
            <a:r>
              <a:rPr dirty="0" err="1"/>
              <a:t>внешним</a:t>
            </a:r>
            <a:r>
              <a:rPr dirty="0"/>
              <a:t> </a:t>
            </a:r>
            <a:r>
              <a:rPr dirty="0" err="1"/>
              <a:t>системам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Централизованное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пользователями</a:t>
            </a:r>
            <a:r>
              <a:rPr dirty="0"/>
              <a:t> и </a:t>
            </a:r>
            <a:r>
              <a:rPr dirty="0" err="1"/>
              <a:t>устройствами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филиалами</a:t>
            </a:r>
            <a:r>
              <a:rPr dirty="0"/>
              <a:t> и </a:t>
            </a:r>
            <a:r>
              <a:rPr dirty="0" err="1"/>
              <a:t>удаленными</a:t>
            </a:r>
            <a:r>
              <a:rPr dirty="0"/>
              <a:t> </a:t>
            </a:r>
            <a:r>
              <a:rPr dirty="0" err="1"/>
              <a:t>рабочими</a:t>
            </a:r>
            <a:r>
              <a:rPr dirty="0"/>
              <a:t> </a:t>
            </a:r>
            <a:r>
              <a:rPr dirty="0" err="1"/>
              <a:t>местами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7F2F5-6DDB-09D8-B6EF-F0035C63E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6DE6E7-90AB-45C8-68E2-75C5FF9B7E1B}"/>
              </a:ext>
            </a:extLst>
          </p:cNvPr>
          <p:cNvSpPr txBox="1"/>
          <p:nvPr/>
        </p:nvSpPr>
        <p:spPr>
          <a:xfrm>
            <a:off x="2076782" y="192911"/>
            <a:ext cx="695030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Основные виды компьютерных сетей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60AD-AEC1-0B0D-C1BD-694CCC9DFEC2}"/>
              </a:ext>
            </a:extLst>
          </p:cNvPr>
          <p:cNvSpPr txBox="1"/>
          <p:nvPr/>
        </p:nvSpPr>
        <p:spPr>
          <a:xfrm>
            <a:off x="457199" y="914399"/>
            <a:ext cx="11164529" cy="5750689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rPr lang="ru-RU" b="1" dirty="0"/>
              <a:t>Локальная сеть </a:t>
            </a:r>
            <a:r>
              <a:rPr lang="ru-RU" dirty="0"/>
              <a:t>(Local Area Network, LAN) — это сеть,</a:t>
            </a:r>
          </a:p>
          <a:p>
            <a:pPr>
              <a:defRPr sz="3600"/>
            </a:pPr>
            <a:r>
              <a:rPr lang="ru-RU" dirty="0"/>
              <a:t>ограниченная географически и обычно охватывающая</a:t>
            </a:r>
          </a:p>
          <a:p>
            <a:pPr>
              <a:defRPr sz="3600"/>
            </a:pPr>
            <a:r>
              <a:rPr lang="ru-RU" dirty="0"/>
              <a:t>небольшую территорию, такую как офис, школа, дом или</a:t>
            </a:r>
          </a:p>
          <a:p>
            <a:pPr>
              <a:defRPr sz="3600"/>
            </a:pPr>
            <a:r>
              <a:rPr lang="ru-RU" dirty="0"/>
              <a:t>здание.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Глобальная сеть </a:t>
            </a:r>
            <a:r>
              <a:rPr lang="ru-RU" dirty="0"/>
              <a:t>(Wide Area Network, WAN) — это сеть,</a:t>
            </a:r>
          </a:p>
          <a:p>
            <a:pPr>
              <a:defRPr sz="3600"/>
            </a:pPr>
            <a:r>
              <a:rPr lang="ru-RU" dirty="0"/>
              <a:t>охватывающая большие географические расстояния и</a:t>
            </a:r>
          </a:p>
          <a:p>
            <a:pPr>
              <a:defRPr sz="3600"/>
            </a:pPr>
            <a:r>
              <a:rPr lang="ru-RU" dirty="0"/>
              <a:t>объединяющая локальные сети и устройства через</a:t>
            </a:r>
          </a:p>
          <a:p>
            <a:pPr>
              <a:defRPr sz="3600"/>
            </a:pPr>
            <a:r>
              <a:rPr lang="ru-RU" dirty="0"/>
              <a:t>общедоступные телекоммуникационные сети. Интернет,</a:t>
            </a:r>
          </a:p>
          <a:p>
            <a:pPr>
              <a:defRPr sz="3600"/>
            </a:pPr>
            <a:r>
              <a:rPr lang="ru-RU" dirty="0"/>
              <a:t>частные сети предприятий, глобальные корпоративные сети.</a:t>
            </a:r>
          </a:p>
          <a:p>
            <a:pPr>
              <a:defRPr sz="3600"/>
            </a:pPr>
            <a:endParaRPr lang="ru-RU" dirty="0"/>
          </a:p>
          <a:p>
            <a:pPr>
              <a:defRPr sz="3600"/>
            </a:pPr>
            <a:r>
              <a:rPr lang="ru-RU" b="1" dirty="0"/>
              <a:t>Metropolitan Area Network </a:t>
            </a:r>
            <a:r>
              <a:rPr lang="ru-RU" dirty="0"/>
              <a:t>(MAN) — это тип компьютерной</a:t>
            </a:r>
          </a:p>
          <a:p>
            <a:pPr>
              <a:defRPr sz="3600"/>
            </a:pPr>
            <a:r>
              <a:rPr lang="ru-RU" dirty="0"/>
              <a:t>сети, который охватывает географически ограниченную</a:t>
            </a:r>
          </a:p>
          <a:p>
            <a:pPr>
              <a:defRPr sz="3600"/>
            </a:pPr>
            <a:r>
              <a:rPr lang="ru-RU" dirty="0"/>
              <a:t>область, обычно город или предместье.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56855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0D77F-F064-52AC-40E3-C6174F63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B0857-C83E-0854-51B7-AF39FB1704B4}"/>
              </a:ext>
            </a:extLst>
          </p:cNvPr>
          <p:cNvSpPr txBox="1"/>
          <p:nvPr/>
        </p:nvSpPr>
        <p:spPr>
          <a:xfrm>
            <a:off x="2076782" y="192911"/>
            <a:ext cx="6950301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Основные виды компьютерных сетей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DE9CB54-1F78-F5A5-7C20-E67D17869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63" y="1100489"/>
            <a:ext cx="8592565" cy="556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785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8C079-06D8-EC4A-313B-93863057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667A8-0610-5676-742D-32A2F88B8CFA}"/>
              </a:ext>
            </a:extLst>
          </p:cNvPr>
          <p:cNvSpPr txBox="1"/>
          <p:nvPr/>
        </p:nvSpPr>
        <p:spPr>
          <a:xfrm>
            <a:off x="5155091" y="182880"/>
            <a:ext cx="185134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dirty="0"/>
              <a:t>Интернет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E0520E-F9D9-1AF0-2654-07241AA65DFD}"/>
              </a:ext>
            </a:extLst>
          </p:cNvPr>
          <p:cNvSpPr txBox="1"/>
          <p:nvPr/>
        </p:nvSpPr>
        <p:spPr>
          <a:xfrm>
            <a:off x="457199" y="914400"/>
            <a:ext cx="1116452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Интернет – всемирная система объединённых</a:t>
            </a:r>
          </a:p>
          <a:p>
            <a:pPr>
              <a:defRPr sz="3600"/>
            </a:pPr>
            <a:r>
              <a:rPr lang="ru-RU" dirty="0"/>
              <a:t>компьютерных сетей для хранения и передачи</a:t>
            </a:r>
          </a:p>
          <a:p>
            <a:pPr>
              <a:defRPr sz="3600"/>
            </a:pPr>
            <a:r>
              <a:rPr lang="ru-RU" dirty="0"/>
              <a:t>информации.</a:t>
            </a:r>
          </a:p>
          <a:p>
            <a:pPr>
              <a:defRPr sz="3600"/>
            </a:pPr>
            <a:r>
              <a:rPr lang="ru-RU" dirty="0"/>
              <a:t>Сеть построена на базе стека протоколов </a:t>
            </a:r>
            <a:r>
              <a:rPr lang="ru-RU" b="1" dirty="0"/>
              <a:t>TCP/IP</a:t>
            </a:r>
            <a:r>
              <a:rPr lang="ru-RU" dirty="0"/>
              <a:t>.</a:t>
            </a:r>
          </a:p>
          <a:p>
            <a:pPr>
              <a:defRPr sz="3600"/>
            </a:pPr>
            <a:r>
              <a:rPr lang="ru-RU" dirty="0"/>
              <a:t>Предоставляет сервисы.</a:t>
            </a:r>
          </a:p>
          <a:p>
            <a:pPr>
              <a:defRPr sz="3600"/>
            </a:pPr>
            <a:r>
              <a:rPr lang="ru-RU" dirty="0"/>
              <a:t>• World Wide Web или WWW.</a:t>
            </a:r>
          </a:p>
          <a:p>
            <a:pPr>
              <a:defRPr sz="3600"/>
            </a:pPr>
            <a:r>
              <a:rPr lang="ru-RU" dirty="0"/>
              <a:t>• Социальные сети.</a:t>
            </a:r>
          </a:p>
          <a:p>
            <a:pPr>
              <a:defRPr sz="3600"/>
            </a:pPr>
            <a:r>
              <a:rPr lang="ru-RU" dirty="0"/>
              <a:t>• Почта.</a:t>
            </a:r>
          </a:p>
          <a:p>
            <a:pPr>
              <a:defRPr sz="3600"/>
            </a:pPr>
            <a:r>
              <a:rPr lang="ru-RU" dirty="0"/>
              <a:t>• Обмен файлами и т.д.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329566-0260-0116-755D-D75F2C9E7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101" y="3309974"/>
            <a:ext cx="3313932" cy="296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52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BDC19-B653-7420-DD10-8518A6B07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363724-040A-B9AC-C092-2B9BA0A2A798}"/>
              </a:ext>
            </a:extLst>
          </p:cNvPr>
          <p:cNvSpPr txBox="1"/>
          <p:nvPr/>
        </p:nvSpPr>
        <p:spPr>
          <a:xfrm>
            <a:off x="4065796" y="252680"/>
            <a:ext cx="4060407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2. Виды связи.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1FD94-75E9-E52D-1FA0-81550462564D}"/>
              </a:ext>
            </a:extLst>
          </p:cNvPr>
          <p:cNvSpPr txBox="1"/>
          <p:nvPr/>
        </p:nvSpPr>
        <p:spPr>
          <a:xfrm>
            <a:off x="457199" y="914400"/>
            <a:ext cx="11164529" cy="24039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 err="1"/>
              <a:t>Simplex</a:t>
            </a:r>
            <a:r>
              <a:rPr lang="ru-RU" dirty="0"/>
              <a:t> – односторонняя связь.</a:t>
            </a:r>
          </a:p>
          <a:p>
            <a:pPr>
              <a:defRPr sz="3600"/>
            </a:pPr>
            <a:r>
              <a:rPr lang="ru-RU" dirty="0"/>
              <a:t>Примеры:</a:t>
            </a:r>
          </a:p>
          <a:p>
            <a:pPr>
              <a:defRPr sz="3600"/>
            </a:pPr>
            <a:r>
              <a:rPr lang="ru-RU" dirty="0"/>
              <a:t>● Теле- и радиовещание.</a:t>
            </a:r>
          </a:p>
          <a:p>
            <a:pPr>
              <a:defRPr sz="3600"/>
            </a:pPr>
            <a:r>
              <a:rPr lang="ru-RU" dirty="0"/>
              <a:t>● Передача сигнала от спутников GPS.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756CF3-F9EB-0A2C-A1AA-D131E1A5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675" y="3703227"/>
            <a:ext cx="7894228" cy="196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82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E1A5B-B094-C1F2-2BE8-4317FC42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99F2F5-A0CA-3AE0-18E6-4199CF812A15}"/>
              </a:ext>
            </a:extLst>
          </p:cNvPr>
          <p:cNvSpPr txBox="1"/>
          <p:nvPr/>
        </p:nvSpPr>
        <p:spPr>
          <a:xfrm>
            <a:off x="457199" y="486697"/>
            <a:ext cx="11164529" cy="563978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/>
              <a:t>Half-</a:t>
            </a:r>
            <a:r>
              <a:rPr lang="ru-RU" b="1" dirty="0" err="1"/>
              <a:t>duplex</a:t>
            </a:r>
            <a:r>
              <a:rPr lang="ru-RU" dirty="0"/>
              <a:t> – двусторонняя связь, но в один момент</a:t>
            </a:r>
          </a:p>
          <a:p>
            <a:pPr>
              <a:defRPr sz="3600"/>
            </a:pPr>
            <a:r>
              <a:rPr lang="ru-RU" dirty="0"/>
              <a:t>времени может передавать только одно устройство.</a:t>
            </a:r>
          </a:p>
          <a:p>
            <a:pPr>
              <a:defRPr sz="3600"/>
            </a:pPr>
            <a:r>
              <a:rPr lang="ru-RU" dirty="0"/>
              <a:t>Пример: общение по рации, когда можно либо слушать</a:t>
            </a:r>
          </a:p>
          <a:p>
            <a:pPr>
              <a:defRPr sz="3600"/>
            </a:pPr>
            <a:r>
              <a:rPr lang="ru-RU" dirty="0"/>
              <a:t>канал, либо, нажав кнопку, передавать в него.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D20524D-39E9-C640-F2B0-66579F007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895" y="3297339"/>
            <a:ext cx="8444498" cy="226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58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88C54-4FC4-1596-BA30-12A745EE5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DE40E-C398-E8E7-4863-46AB79D3B8B1}"/>
              </a:ext>
            </a:extLst>
          </p:cNvPr>
          <p:cNvSpPr txBox="1"/>
          <p:nvPr/>
        </p:nvSpPr>
        <p:spPr>
          <a:xfrm>
            <a:off x="457199" y="722671"/>
            <a:ext cx="11164529" cy="54038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/>
              <a:t>Full-</a:t>
            </a:r>
            <a:r>
              <a:rPr lang="ru-RU" b="1" dirty="0" err="1"/>
              <a:t>duplex</a:t>
            </a:r>
            <a:r>
              <a:rPr lang="ru-RU" dirty="0"/>
              <a:t> или просто </a:t>
            </a:r>
            <a:r>
              <a:rPr lang="ru-RU" dirty="0" err="1"/>
              <a:t>duplex</a:t>
            </a:r>
            <a:r>
              <a:rPr lang="ru-RU" dirty="0"/>
              <a:t> – двусторонняя передача,</a:t>
            </a:r>
          </a:p>
          <a:p>
            <a:pPr>
              <a:defRPr sz="3600"/>
            </a:pPr>
            <a:r>
              <a:rPr lang="ru-RU" dirty="0"/>
              <a:t>оба устройства могут одновременно вести передачу.</a:t>
            </a:r>
          </a:p>
          <a:p>
            <a:pPr>
              <a:defRPr sz="3600"/>
            </a:pPr>
            <a:r>
              <a:rPr lang="ru-RU" dirty="0"/>
              <a:t>Пример: разговор по телефону.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EB4836-5557-9957-DE3D-975BA1199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051" y="2854888"/>
            <a:ext cx="8978543" cy="238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9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AA1A5-B514-6D1E-955E-C9D04FECC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F412B7-CE98-4C0B-4F53-174DAEC5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03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46FC-4998-2763-C950-00AABFE68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35634C-CD11-6375-46AF-04B7C4517DF9}"/>
              </a:ext>
            </a:extLst>
          </p:cNvPr>
          <p:cNvSpPr txBox="1"/>
          <p:nvPr/>
        </p:nvSpPr>
        <p:spPr>
          <a:xfrm>
            <a:off x="1784722" y="182880"/>
            <a:ext cx="790453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3. Методы передачи данных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BABE6-E542-0C50-CD1A-7E6C55FAF5E2}"/>
              </a:ext>
            </a:extLst>
          </p:cNvPr>
          <p:cNvSpPr txBox="1"/>
          <p:nvPr/>
        </p:nvSpPr>
        <p:spPr>
          <a:xfrm>
            <a:off x="457199" y="1342103"/>
            <a:ext cx="1116452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 err="1"/>
              <a:t>Unicast</a:t>
            </a:r>
            <a:r>
              <a:rPr lang="ru-RU" dirty="0"/>
              <a:t> – передача данных единственному адресату.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903E85C-6E2C-7EB7-7786-4B801C610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48"/>
          <a:stretch>
            <a:fillRect/>
          </a:stretch>
        </p:blipFill>
        <p:spPr>
          <a:xfrm>
            <a:off x="2124534" y="2138516"/>
            <a:ext cx="7388175" cy="42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75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D14A-A35F-D42F-08A5-69BB45B3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5F7B49-3260-C061-2041-ED7DC34D7A5C}"/>
              </a:ext>
            </a:extLst>
          </p:cNvPr>
          <p:cNvSpPr txBox="1"/>
          <p:nvPr/>
        </p:nvSpPr>
        <p:spPr>
          <a:xfrm>
            <a:off x="457199" y="604684"/>
            <a:ext cx="11164529" cy="55217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 err="1"/>
              <a:t>Broadcast</a:t>
            </a:r>
            <a:r>
              <a:rPr lang="ru-RU" dirty="0"/>
              <a:t> – широковещательная передача данных всем</a:t>
            </a:r>
          </a:p>
          <a:p>
            <a:pPr>
              <a:defRPr sz="3600"/>
            </a:pPr>
            <a:r>
              <a:rPr lang="ru-RU" dirty="0"/>
              <a:t>устройствам.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F66523-2D0D-F6CF-13DA-50A71A4AB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557" y="1942486"/>
            <a:ext cx="6539681" cy="44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35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87E20-83FD-60A8-655B-C387124F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F2E557-A99D-B357-AFB7-4B2E7A5388A0}"/>
              </a:ext>
            </a:extLst>
          </p:cNvPr>
          <p:cNvSpPr txBox="1"/>
          <p:nvPr/>
        </p:nvSpPr>
        <p:spPr>
          <a:xfrm>
            <a:off x="457199" y="914400"/>
            <a:ext cx="1116452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 err="1"/>
              <a:t>Multicast</a:t>
            </a:r>
            <a:r>
              <a:rPr lang="ru-RU" dirty="0"/>
              <a:t> – передача данных группе устройств.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ABAEB50-8A13-DC25-3D8F-E52A7F6A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142" y="2015123"/>
            <a:ext cx="6794090" cy="425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3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5D307-0AEB-50EE-AF23-87BA7CB33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A36846-888A-AE3B-755F-21C8332D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137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D975D-6EE8-E0AF-2BE0-DF75346C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DEC4AD-C8AA-3403-8D55-45F3B26736A0}"/>
              </a:ext>
            </a:extLst>
          </p:cNvPr>
          <p:cNvSpPr txBox="1"/>
          <p:nvPr/>
        </p:nvSpPr>
        <p:spPr>
          <a:xfrm>
            <a:off x="3311132" y="230075"/>
            <a:ext cx="5958106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4. Виды коммутации.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EB2E1F-1517-77CF-7DA0-A757F6C2C031}"/>
              </a:ext>
            </a:extLst>
          </p:cNvPr>
          <p:cNvSpPr txBox="1"/>
          <p:nvPr/>
        </p:nvSpPr>
        <p:spPr>
          <a:xfrm>
            <a:off x="457199" y="914400"/>
            <a:ext cx="11164529" cy="23892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lang="ru-RU" dirty="0"/>
              <a:t>Коммутация каналов</a:t>
            </a:r>
          </a:p>
          <a:p>
            <a:pPr>
              <a:defRPr sz="3600"/>
            </a:pPr>
            <a:r>
              <a:rPr lang="ru-RU" dirty="0"/>
              <a:t>В сети с коммутацией каналов между двумя конечными</a:t>
            </a:r>
          </a:p>
          <a:p>
            <a:pPr>
              <a:defRPr sz="3600"/>
            </a:pPr>
            <a:r>
              <a:rPr lang="ru-RU" dirty="0"/>
              <a:t>устройствами устанавливается физический канал. Пример: аналоговая телефонная сеть.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AADD20-9049-1A99-DD73-C28C17DEA0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708" b="8817"/>
          <a:stretch>
            <a:fillRect/>
          </a:stretch>
        </p:blipFill>
        <p:spPr>
          <a:xfrm>
            <a:off x="2081498" y="3303639"/>
            <a:ext cx="8029004" cy="295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7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4BE3-E07A-FBBA-9087-C27BEB08E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C6BF8-BD46-F738-C171-CC7475C0F1CE}"/>
              </a:ext>
            </a:extLst>
          </p:cNvPr>
          <p:cNvSpPr txBox="1"/>
          <p:nvPr/>
        </p:nvSpPr>
        <p:spPr>
          <a:xfrm>
            <a:off x="457199" y="368710"/>
            <a:ext cx="11164529" cy="283169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ctr">
              <a:defRPr sz="3600"/>
            </a:pPr>
            <a:r>
              <a:rPr lang="ru-RU" dirty="0"/>
              <a:t>Коммутация пакетов</a:t>
            </a:r>
          </a:p>
          <a:p>
            <a:pPr>
              <a:defRPr sz="3600"/>
            </a:pPr>
            <a:r>
              <a:rPr lang="ru-RU" dirty="0"/>
              <a:t>В сети с коммутацией пакетов информация от каждого</a:t>
            </a:r>
          </a:p>
          <a:p>
            <a:pPr>
              <a:defRPr sz="3600"/>
            </a:pPr>
            <a:r>
              <a:rPr lang="ru-RU" dirty="0"/>
              <a:t>устройства делится на небольшие пакеты, и данные</a:t>
            </a:r>
          </a:p>
          <a:p>
            <a:pPr>
              <a:defRPr sz="3600"/>
            </a:pPr>
            <a:r>
              <a:rPr lang="ru-RU" dirty="0"/>
              <a:t>передаются по одним и тем же физическим каналам. Пример: компьютерные сети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AB8162-E75A-1B1C-730E-86AB277CC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520" y="2920181"/>
            <a:ext cx="8368960" cy="376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17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F658B-C195-95A9-B040-8255FBB5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839B84-3ACE-295D-EE0B-F5BCFB279C5C}"/>
              </a:ext>
            </a:extLst>
          </p:cNvPr>
          <p:cNvSpPr txBox="1"/>
          <p:nvPr/>
        </p:nvSpPr>
        <p:spPr>
          <a:xfrm>
            <a:off x="3695832" y="182880"/>
            <a:ext cx="5197641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5. Виды топологий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EBEF6-DC93-C009-04E2-602DB0167C5A}"/>
              </a:ext>
            </a:extLst>
          </p:cNvPr>
          <p:cNvSpPr txBox="1"/>
          <p:nvPr/>
        </p:nvSpPr>
        <p:spPr>
          <a:xfrm>
            <a:off x="457199" y="914400"/>
            <a:ext cx="1116452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b="1" dirty="0"/>
              <a:t>Сетевая топология</a:t>
            </a:r>
            <a:r>
              <a:rPr lang="ru-RU" dirty="0"/>
              <a:t> — это схема устройства сети. </a:t>
            </a:r>
            <a:r>
              <a:rPr lang="ru-RU" b="1" dirty="0"/>
              <a:t>Физическая</a:t>
            </a:r>
            <a:r>
              <a:rPr lang="ru-RU" dirty="0"/>
              <a:t> показывает, как устройства соединены проводами в реальности, а </a:t>
            </a:r>
            <a:r>
              <a:rPr lang="ru-RU" b="1" dirty="0"/>
              <a:t>логическая</a:t>
            </a:r>
            <a:r>
              <a:rPr lang="ru-RU" dirty="0"/>
              <a:t> — как именно данные путешествуют между ними.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27507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F2F9-A411-0EF4-B1A0-D2B3ACA6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21457A-A7B7-9E6F-71BA-9E0F6691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39" y="332831"/>
            <a:ext cx="10161637" cy="64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7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4CF0D-078A-C8CE-E028-F39BD6C8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9E2403-7B6F-B4C9-41E2-C808EB0996B8}"/>
              </a:ext>
            </a:extLst>
          </p:cNvPr>
          <p:cNvSpPr txBox="1"/>
          <p:nvPr/>
        </p:nvSpPr>
        <p:spPr>
          <a:xfrm>
            <a:off x="457199" y="353961"/>
            <a:ext cx="11164529" cy="5772519"/>
          </a:xfrm>
          <a:prstGeom prst="rect">
            <a:avLst/>
          </a:prstGeom>
          <a:noFill/>
        </p:spPr>
        <p:txBody>
          <a:bodyPr wrap="square">
            <a:normAutofit fontScale="70000" lnSpcReduction="20000"/>
          </a:bodyPr>
          <a:lstStyle/>
          <a:p>
            <a:pPr>
              <a:defRPr sz="3600"/>
            </a:pPr>
            <a:r>
              <a:rPr lang="ru-RU" dirty="0"/>
              <a:t>В современных сетях большинство старых топологий (вроде «Шины» или «Кольца») ушли в прошлое. Сейчас реально используются всего три основных вида:</a:t>
            </a:r>
          </a:p>
          <a:p>
            <a:pPr>
              <a:defRPr sz="3600"/>
            </a:pPr>
            <a:r>
              <a:rPr lang="ru-RU" dirty="0"/>
              <a:t>1. </a:t>
            </a:r>
            <a:r>
              <a:rPr lang="ru-RU" b="1" dirty="0"/>
              <a:t>Звезда</a:t>
            </a:r>
            <a:r>
              <a:rPr lang="ru-RU" dirty="0"/>
              <a:t> (Star) — Главный стандарт для локальных сетей</a:t>
            </a:r>
          </a:p>
          <a:p>
            <a:pPr>
              <a:defRPr sz="3600"/>
            </a:pPr>
            <a:r>
              <a:rPr lang="ru-RU" dirty="0"/>
              <a:t>Все устройства (компьютеры, принтеры) подключаются к одному центральному устройству — коммутатору (свитчу) или </a:t>
            </a:r>
            <a:r>
              <a:rPr lang="ru-RU" dirty="0" err="1"/>
              <a:t>Wi</a:t>
            </a:r>
            <a:r>
              <a:rPr lang="ru-RU" dirty="0"/>
              <a:t>-Fi роутеру.</a:t>
            </a:r>
          </a:p>
          <a:p>
            <a:pPr>
              <a:defRPr sz="3600"/>
            </a:pPr>
            <a:r>
              <a:rPr lang="ru-RU" dirty="0"/>
              <a:t>Где используется: Дома, в учебных классах, офисах.</a:t>
            </a:r>
          </a:p>
          <a:p>
            <a:pPr>
              <a:defRPr sz="3600"/>
            </a:pPr>
            <a:r>
              <a:rPr lang="ru-RU" dirty="0"/>
              <a:t>2. </a:t>
            </a:r>
            <a:r>
              <a:rPr lang="ru-RU" b="1" dirty="0"/>
              <a:t>Иерархическая звезда </a:t>
            </a:r>
            <a:r>
              <a:rPr lang="ru-RU" dirty="0"/>
              <a:t>/ Дерево (</a:t>
            </a:r>
            <a:r>
              <a:rPr lang="ru-RU" dirty="0" err="1"/>
              <a:t>Tree</a:t>
            </a:r>
            <a:r>
              <a:rPr lang="ru-RU" dirty="0"/>
              <a:t>) — Для крупных сетей</a:t>
            </a:r>
          </a:p>
          <a:p>
            <a:pPr>
              <a:defRPr sz="3600"/>
            </a:pPr>
            <a:r>
              <a:rPr lang="ru-RU" dirty="0"/>
              <a:t>Это объединение нескольких «звезд» между собой. Коммутаторы отдельных комнат или этажей подключаются к главному центральному коммутатору здания.</a:t>
            </a:r>
          </a:p>
          <a:p>
            <a:pPr>
              <a:defRPr sz="3600"/>
            </a:pPr>
            <a:r>
              <a:rPr lang="ru-RU" dirty="0"/>
              <a:t>Где используется: В школах, колледжах, на предприятиях.</a:t>
            </a:r>
          </a:p>
          <a:p>
            <a:pPr>
              <a:defRPr sz="3600"/>
            </a:pPr>
            <a:r>
              <a:rPr lang="ru-RU" dirty="0"/>
              <a:t>3. </a:t>
            </a:r>
            <a:r>
              <a:rPr lang="ru-RU" b="1" dirty="0"/>
              <a:t>Ячеистая (</a:t>
            </a:r>
            <a:r>
              <a:rPr lang="ru-RU" b="1" dirty="0" err="1"/>
              <a:t>Mesh</a:t>
            </a:r>
            <a:r>
              <a:rPr lang="ru-RU" b="1" dirty="0"/>
              <a:t>) </a:t>
            </a:r>
            <a:r>
              <a:rPr lang="ru-RU" dirty="0"/>
              <a:t>— Для максимальной надежности</a:t>
            </a:r>
          </a:p>
          <a:p>
            <a:pPr>
              <a:defRPr sz="3600"/>
            </a:pPr>
            <a:r>
              <a:rPr lang="ru-RU" dirty="0"/>
              <a:t>Каждое устройство соединяется напрямую с несколькими другими. Если один путь обрывается, данные автоматически идут в обход.</a:t>
            </a:r>
          </a:p>
          <a:p>
            <a:pPr>
              <a:defRPr sz="3600"/>
            </a:pPr>
            <a:r>
              <a:rPr lang="ru-RU" dirty="0"/>
              <a:t>Где используется: Внутри дата-центров (ЦОД), в магистральных сетях провайдеров.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4750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DEDA-925B-E9E8-7174-D3C42F8C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88EE2C-4871-B2C6-82F0-544B65F4B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86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65867" y="182880"/>
            <a:ext cx="342978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6</a:t>
            </a:r>
            <a:r>
              <a:rPr sz="4800" dirty="0"/>
              <a:t>. </a:t>
            </a:r>
            <a:r>
              <a:rPr sz="4800" dirty="0" err="1"/>
              <a:t>Узлы</a:t>
            </a:r>
            <a:r>
              <a:rPr sz="4800" dirty="0"/>
              <a:t> </a:t>
            </a:r>
            <a:r>
              <a:rPr sz="4800" dirty="0" err="1"/>
              <a:t>сети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 -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обращается</a:t>
            </a:r>
            <a:r>
              <a:rPr dirty="0"/>
              <a:t> к </a:t>
            </a:r>
            <a:r>
              <a:rPr dirty="0" err="1"/>
              <a:t>сервисам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Сервер</a:t>
            </a:r>
            <a:r>
              <a:rPr dirty="0"/>
              <a:t> -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, </a:t>
            </a:r>
            <a:r>
              <a:rPr dirty="0" err="1"/>
              <a:t>предоставляющая</a:t>
            </a:r>
            <a:r>
              <a:rPr dirty="0"/>
              <a:t> </a:t>
            </a:r>
            <a:r>
              <a:rPr dirty="0" err="1"/>
              <a:t>сервисы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Рабочая</a:t>
            </a:r>
            <a:r>
              <a:rPr dirty="0"/>
              <a:t> </a:t>
            </a:r>
            <a:r>
              <a:rPr dirty="0" err="1"/>
              <a:t>станция</a:t>
            </a:r>
            <a:r>
              <a:rPr dirty="0"/>
              <a:t> - </a:t>
            </a:r>
            <a:r>
              <a:rPr dirty="0" err="1"/>
              <a:t>компьютер</a:t>
            </a:r>
            <a:r>
              <a:rPr dirty="0"/>
              <a:t> </a:t>
            </a:r>
            <a:r>
              <a:rPr dirty="0" err="1"/>
              <a:t>сотрудника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рабочих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Сетевое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- </a:t>
            </a:r>
            <a:r>
              <a:rPr dirty="0" err="1"/>
              <a:t>оборудование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фильтрует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узел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и </a:t>
            </a:r>
            <a:r>
              <a:rPr dirty="0" err="1"/>
              <a:t>параметры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Роли узлов в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Один</a:t>
            </a:r>
            <a:r>
              <a:rPr dirty="0"/>
              <a:t> и </a:t>
            </a:r>
            <a:r>
              <a:rPr dirty="0" err="1"/>
              <a:t>тот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компьютер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клиентом</a:t>
            </a:r>
            <a:r>
              <a:rPr dirty="0"/>
              <a:t> и </a:t>
            </a:r>
            <a:r>
              <a:rPr dirty="0" err="1"/>
              <a:t>сервером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ситуациях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определяется</a:t>
            </a:r>
            <a:r>
              <a:rPr dirty="0"/>
              <a:t> </a:t>
            </a:r>
            <a:r>
              <a:rPr dirty="0" err="1"/>
              <a:t>тем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делает</a:t>
            </a:r>
            <a:r>
              <a:rPr dirty="0"/>
              <a:t> в </a:t>
            </a:r>
            <a:r>
              <a:rPr dirty="0" err="1"/>
              <a:t>конкретном</a:t>
            </a:r>
            <a:r>
              <a:rPr dirty="0"/>
              <a:t> </a:t>
            </a:r>
            <a:r>
              <a:rPr dirty="0" err="1"/>
              <a:t>обмене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инициирует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запрос</a:t>
            </a:r>
            <a:r>
              <a:rPr dirty="0"/>
              <a:t> и </a:t>
            </a:r>
            <a:r>
              <a:rPr dirty="0" err="1"/>
              <a:t>возвращает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обеспечивают</a:t>
            </a:r>
            <a:r>
              <a:rPr dirty="0"/>
              <a:t> </a:t>
            </a:r>
            <a:r>
              <a:rPr dirty="0" err="1"/>
              <a:t>доставку</a:t>
            </a:r>
            <a:r>
              <a:rPr dirty="0"/>
              <a:t> </a:t>
            </a:r>
            <a:r>
              <a:rPr dirty="0" err="1"/>
              <a:t>запроса</a:t>
            </a:r>
            <a:r>
              <a:rPr dirty="0"/>
              <a:t> и </a:t>
            </a:r>
            <a:r>
              <a:rPr dirty="0" err="1"/>
              <a:t>ответа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50117" y="182880"/>
            <a:ext cx="446128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7</a:t>
            </a:r>
            <a:r>
              <a:rPr sz="4800" dirty="0"/>
              <a:t>. </a:t>
            </a:r>
            <a:r>
              <a:rPr sz="4800" dirty="0" err="1"/>
              <a:t>Каналы</a:t>
            </a:r>
            <a:r>
              <a:rPr sz="4800" dirty="0"/>
              <a:t> </a:t>
            </a:r>
            <a:r>
              <a:rPr sz="4800" dirty="0" err="1"/>
              <a:t>связи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Канал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и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сигналы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Канал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проводным</a:t>
            </a:r>
            <a:r>
              <a:rPr lang="ru-RU" dirty="0"/>
              <a:t>, оптическим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беспроводным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Качество</a:t>
            </a:r>
            <a:r>
              <a:rPr dirty="0"/>
              <a:t> </a:t>
            </a:r>
            <a:r>
              <a:rPr dirty="0" err="1"/>
              <a:t>канала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скорость</a:t>
            </a:r>
            <a:r>
              <a:rPr dirty="0"/>
              <a:t>, </a:t>
            </a:r>
            <a:r>
              <a:rPr dirty="0" err="1"/>
              <a:t>задержку</a:t>
            </a:r>
            <a:r>
              <a:rPr dirty="0"/>
              <a:t> и </a:t>
            </a:r>
            <a:r>
              <a:rPr dirty="0" err="1"/>
              <a:t>стабильность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физическом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передаются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электрические</a:t>
            </a:r>
            <a:r>
              <a:rPr dirty="0"/>
              <a:t>, </a:t>
            </a:r>
            <a:r>
              <a:rPr dirty="0" err="1"/>
              <a:t>оптические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радиосигналы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отделять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канала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проблемы</a:t>
            </a:r>
            <a:r>
              <a:rPr dirty="0"/>
              <a:t> </a:t>
            </a:r>
            <a:r>
              <a:rPr dirty="0" err="1"/>
              <a:t>адресации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Схема</a:t>
            </a:r>
            <a:r>
              <a:rPr dirty="0"/>
              <a:t> </a:t>
            </a:r>
            <a:r>
              <a:rPr dirty="0" err="1"/>
              <a:t>небольшой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9A306C-B863-E235-0389-DE60156F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2AA4-CA74-9875-1F3A-4BD774FB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E4A355-9E9E-460B-2985-E3C2845FB712}"/>
              </a:ext>
            </a:extLst>
          </p:cNvPr>
          <p:cNvSpPr txBox="1"/>
          <p:nvPr/>
        </p:nvSpPr>
        <p:spPr>
          <a:xfrm>
            <a:off x="117440" y="1829800"/>
            <a:ext cx="11957119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000" dirty="0"/>
              <a:t>8. Основные сетевые устройства: 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000" dirty="0"/>
              <a:t>коммутатор, маршрутизатор, точка доступа, </a:t>
            </a:r>
            <a:r>
              <a:rPr lang="ru-RU" sz="4000" dirty="0" err="1"/>
              <a:t>firewall</a:t>
            </a:r>
            <a:r>
              <a:rPr lang="ru-RU" sz="4000" dirty="0"/>
              <a:t>.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39781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7197" y="182880"/>
            <a:ext cx="23671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3200" dirty="0" err="1"/>
              <a:t>Коммутатор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44748" cy="303816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Switch - </a:t>
            </a:r>
            <a:r>
              <a:rPr dirty="0" err="1"/>
              <a:t>коммутатор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устройства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LAN.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кадры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MAC-</a:t>
            </a:r>
            <a:r>
              <a:rPr dirty="0" err="1"/>
              <a:t>адресам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уменьшает</a:t>
            </a:r>
            <a:r>
              <a:rPr dirty="0"/>
              <a:t> </a:t>
            </a:r>
            <a:r>
              <a:rPr dirty="0" err="1"/>
              <a:t>лишний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сравнению</a:t>
            </a:r>
            <a:r>
              <a:rPr dirty="0"/>
              <a:t> с hub.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В </a:t>
            </a:r>
            <a:r>
              <a:rPr dirty="0" err="1"/>
              <a:t>будущих</a:t>
            </a:r>
            <a:r>
              <a:rPr dirty="0"/>
              <a:t> </a:t>
            </a:r>
            <a:r>
              <a:rPr dirty="0" err="1"/>
              <a:t>темах</a:t>
            </a:r>
            <a:r>
              <a:rPr dirty="0"/>
              <a:t> </a:t>
            </a:r>
            <a:r>
              <a:rPr dirty="0" err="1"/>
              <a:t>коммутатор</a:t>
            </a:r>
            <a:r>
              <a:rPr dirty="0"/>
              <a:t> </a:t>
            </a:r>
            <a:r>
              <a:rPr dirty="0" err="1"/>
              <a:t>станет</a:t>
            </a:r>
            <a:r>
              <a:rPr dirty="0"/>
              <a:t> </a:t>
            </a:r>
            <a:r>
              <a:rPr dirty="0" err="1"/>
              <a:t>основой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изучения</a:t>
            </a:r>
            <a:r>
              <a:rPr dirty="0"/>
              <a:t> VLAN.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5C389D-230A-BB25-0CA4-3F52A0D3B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56" y="3023419"/>
            <a:ext cx="4616244" cy="461624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BEF8CA-8544-BBF4-F608-A2DA0BDA53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r="56886"/>
          <a:stretch>
            <a:fillRect/>
          </a:stretch>
        </p:blipFill>
        <p:spPr>
          <a:xfrm>
            <a:off x="7406208" y="3650226"/>
            <a:ext cx="3170289" cy="25765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Маршрутизатор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3613355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Router - </a:t>
            </a:r>
            <a:r>
              <a:rPr dirty="0" err="1"/>
              <a:t>маршрутизатор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IP-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таблице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клиента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gateway.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 </a:t>
            </a:r>
            <a:r>
              <a:rPr dirty="0" err="1"/>
              <a:t>узлы</a:t>
            </a:r>
            <a:r>
              <a:rPr dirty="0"/>
              <a:t>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сетей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обмениваются</a:t>
            </a:r>
            <a:r>
              <a:rPr dirty="0"/>
              <a:t> </a:t>
            </a:r>
            <a:r>
              <a:rPr dirty="0" err="1"/>
              <a:t>данными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903781-E8C0-A84D-365F-0CE3145EA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49" t="61019" b="3205"/>
          <a:stretch>
            <a:fillRect/>
          </a:stretch>
        </p:blipFill>
        <p:spPr>
          <a:xfrm>
            <a:off x="4763728" y="4527755"/>
            <a:ext cx="3253863" cy="184354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44304" y="182880"/>
            <a:ext cx="26729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доступа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Access Point - </a:t>
            </a: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, </a:t>
            </a:r>
            <a:r>
              <a:rPr dirty="0" err="1"/>
              <a:t>подключает</a:t>
            </a:r>
            <a:r>
              <a:rPr dirty="0"/>
              <a:t> </a:t>
            </a:r>
            <a:r>
              <a:rPr dirty="0" err="1"/>
              <a:t>беспроводных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к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Точка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 </a:t>
            </a:r>
            <a:r>
              <a:rPr dirty="0" err="1"/>
              <a:t>решает</a:t>
            </a:r>
            <a:r>
              <a:rPr dirty="0"/>
              <a:t> </a:t>
            </a:r>
            <a:r>
              <a:rPr dirty="0" err="1"/>
              <a:t>задачу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себе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28E4DF-47E3-6FD6-2ADD-FE66015F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330" r="76262" b="44638"/>
          <a:stretch>
            <a:fillRect/>
          </a:stretch>
        </p:blipFill>
        <p:spPr>
          <a:xfrm>
            <a:off x="3196712" y="2766798"/>
            <a:ext cx="6551166" cy="289068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0ACE7-FE1F-DD36-0149-F6B771451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486B74-4E67-108B-92AF-C55B4585F483}"/>
              </a:ext>
            </a:extLst>
          </p:cNvPr>
          <p:cNvSpPr txBox="1"/>
          <p:nvPr/>
        </p:nvSpPr>
        <p:spPr>
          <a:xfrm>
            <a:off x="5347129" y="182880"/>
            <a:ext cx="14672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firewall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5294FF-A662-6EEB-2532-D457E21D07EE}"/>
              </a:ext>
            </a:extLst>
          </p:cNvPr>
          <p:cNvSpPr txBox="1"/>
          <p:nvPr/>
        </p:nvSpPr>
        <p:spPr>
          <a:xfrm>
            <a:off x="457200" y="1209368"/>
            <a:ext cx="11430000" cy="4917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Firewall - </a:t>
            </a:r>
            <a:r>
              <a:rPr dirty="0" err="1"/>
              <a:t>межсетевой</a:t>
            </a:r>
            <a:r>
              <a:rPr dirty="0"/>
              <a:t> </a:t>
            </a:r>
            <a:r>
              <a:rPr dirty="0" err="1"/>
              <a:t>экран</a:t>
            </a:r>
            <a:r>
              <a:rPr dirty="0"/>
              <a:t>, </a:t>
            </a:r>
            <a:r>
              <a:rPr dirty="0" err="1"/>
              <a:t>фильтрует</a:t>
            </a:r>
            <a:r>
              <a:rPr dirty="0"/>
              <a:t> </a:t>
            </a:r>
            <a:r>
              <a:rPr dirty="0" err="1"/>
              <a:t>трафик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правилам</a:t>
            </a:r>
            <a:r>
              <a:rPr dirty="0"/>
              <a:t> </a:t>
            </a:r>
            <a:r>
              <a:rPr dirty="0" err="1"/>
              <a:t>безопасности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Firewall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отдельным</a:t>
            </a:r>
            <a:r>
              <a:rPr dirty="0"/>
              <a:t> </a:t>
            </a:r>
            <a:r>
              <a:rPr dirty="0" err="1"/>
              <a:t>устройством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функцией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2CE3AA-F62E-C74F-F651-C66145BB39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095"/>
          <a:stretch>
            <a:fillRect/>
          </a:stretch>
        </p:blipFill>
        <p:spPr>
          <a:xfrm>
            <a:off x="4919426" y="3763789"/>
            <a:ext cx="3206936" cy="236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14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46ED-9F00-FADC-4A78-F4FBEA46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46A2D4-2D33-5C10-FCC2-C4A88AD6F2D0}"/>
              </a:ext>
            </a:extLst>
          </p:cNvPr>
          <p:cNvSpPr txBox="1"/>
          <p:nvPr/>
        </p:nvSpPr>
        <p:spPr>
          <a:xfrm>
            <a:off x="5347129" y="182880"/>
            <a:ext cx="14672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firewall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70CA959-5B8E-FCCB-C850-5F976671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022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91941" y="182880"/>
            <a:ext cx="377763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9</a:t>
            </a:r>
            <a:r>
              <a:rPr sz="4800" dirty="0"/>
              <a:t>. </a:t>
            </a:r>
            <a:r>
              <a:rPr sz="4800" dirty="0" err="1"/>
              <a:t>Типы</a:t>
            </a:r>
            <a:r>
              <a:rPr sz="4800" dirty="0"/>
              <a:t> </a:t>
            </a:r>
            <a:r>
              <a:rPr sz="4800" dirty="0" err="1"/>
              <a:t>сетей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LAN - Local Area Network,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в </a:t>
            </a:r>
            <a:r>
              <a:rPr dirty="0" err="1"/>
              <a:t>кабинете</a:t>
            </a:r>
            <a:r>
              <a:rPr dirty="0"/>
              <a:t>, </a:t>
            </a:r>
            <a:r>
              <a:rPr dirty="0" err="1"/>
              <a:t>офисе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здании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WAN - Wide Area Network,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удаленными</a:t>
            </a:r>
            <a:r>
              <a:rPr dirty="0"/>
              <a:t> </a:t>
            </a:r>
            <a:r>
              <a:rPr dirty="0" err="1"/>
              <a:t>площадками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SOHO - Small Office/Home Office,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малого</a:t>
            </a:r>
            <a:r>
              <a:rPr dirty="0"/>
              <a:t> </a:t>
            </a:r>
            <a:r>
              <a:rPr dirty="0" err="1"/>
              <a:t>офиса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дома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Офисная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включает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, </a:t>
            </a:r>
            <a:r>
              <a:rPr dirty="0" err="1"/>
              <a:t>серверы</a:t>
            </a:r>
            <a:r>
              <a:rPr dirty="0"/>
              <a:t>, </a:t>
            </a:r>
            <a:r>
              <a:rPr dirty="0" err="1"/>
              <a:t>коммутаторы</a:t>
            </a:r>
            <a:r>
              <a:rPr dirty="0"/>
              <a:t> и </a:t>
            </a:r>
            <a:r>
              <a:rPr dirty="0" err="1"/>
              <a:t>маршрутизатор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Тип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оборудование</a:t>
            </a:r>
            <a:r>
              <a:rPr dirty="0"/>
              <a:t>, </a:t>
            </a:r>
            <a:r>
              <a:rPr dirty="0" err="1"/>
              <a:t>адресацию</a:t>
            </a:r>
            <a:r>
              <a:rPr dirty="0"/>
              <a:t> и </a:t>
            </a: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надежности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LAN WAN SOHO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2E4CC9-8B31-FC61-9D96-65EF45C7A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0177" y="182880"/>
            <a:ext cx="426116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10</a:t>
            </a:r>
            <a:r>
              <a:rPr sz="4800" dirty="0"/>
              <a:t>. </a:t>
            </a:r>
            <a:r>
              <a:rPr sz="4800" dirty="0" err="1"/>
              <a:t>Модель</a:t>
            </a:r>
            <a:r>
              <a:rPr sz="4800" dirty="0"/>
              <a:t> OSI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7548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>
              <a:defRPr sz="3600"/>
            </a:pPr>
            <a:r>
              <a:rPr b="1" dirty="0"/>
              <a:t>OSI </a:t>
            </a:r>
            <a:r>
              <a:rPr dirty="0"/>
              <a:t>- Open Systems Interconnection, </a:t>
            </a:r>
            <a:r>
              <a:rPr dirty="0" err="1"/>
              <a:t>эталонная</a:t>
            </a:r>
            <a:r>
              <a:rPr lang="ru-RU" dirty="0"/>
              <a:t>, </a:t>
            </a:r>
            <a:r>
              <a:rPr lang="ru-RU" b="1" dirty="0"/>
              <a:t>абстрактная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взаимодействия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делит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7 </a:t>
            </a:r>
            <a:r>
              <a:rPr dirty="0" err="1"/>
              <a:t>уровней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Уровни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возникла</a:t>
            </a:r>
            <a:r>
              <a:rPr dirty="0"/>
              <a:t> </a:t>
            </a:r>
            <a:r>
              <a:rPr dirty="0" err="1"/>
              <a:t>проблема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Модель</a:t>
            </a:r>
            <a:r>
              <a:rPr dirty="0"/>
              <a:t> OSI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язык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.</a:t>
            </a:r>
            <a:endParaRPr lang="ru-RU" dirty="0"/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b="1" dirty="0"/>
              <a:t>Модель OSI</a:t>
            </a:r>
            <a:r>
              <a:rPr lang="ru-RU" dirty="0"/>
              <a:t> — это единый стандарт правил, который делит передачу данных по сети на 7 понятных шагов, чтобы устройства разных производителей могли беспрепятственно общаться друг с другом, а системные администраторы — легко находить и устранять сетевые неполадки.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Уровни OSI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lang="ru-RU" dirty="0"/>
              <a:t>Физический (</a:t>
            </a:r>
            <a:r>
              <a:rPr dirty="0"/>
              <a:t>Physical</a:t>
            </a:r>
            <a:r>
              <a:rPr lang="ru-RU" dirty="0"/>
              <a:t>)</a:t>
            </a:r>
            <a:r>
              <a:rPr dirty="0"/>
              <a:t> - </a:t>
            </a:r>
            <a:r>
              <a:rPr dirty="0" err="1"/>
              <a:t>физическая</a:t>
            </a:r>
            <a:r>
              <a:rPr dirty="0"/>
              <a:t> </a:t>
            </a:r>
            <a:r>
              <a:rPr dirty="0" err="1"/>
              <a:t>передача</a:t>
            </a:r>
            <a:r>
              <a:rPr dirty="0"/>
              <a:t> </a:t>
            </a:r>
            <a:r>
              <a:rPr dirty="0" err="1"/>
              <a:t>сигнала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2. </a:t>
            </a:r>
            <a:r>
              <a:rPr lang="ru-RU" dirty="0"/>
              <a:t>Канальный (</a:t>
            </a:r>
            <a:r>
              <a:rPr dirty="0"/>
              <a:t>Data Link</a:t>
            </a:r>
            <a:r>
              <a:rPr lang="ru-RU" dirty="0"/>
              <a:t>)</a:t>
            </a:r>
            <a:r>
              <a:rPr dirty="0"/>
              <a:t> - </a:t>
            </a:r>
            <a:r>
              <a:rPr dirty="0" err="1"/>
              <a:t>кадры</a:t>
            </a:r>
            <a:r>
              <a:rPr dirty="0"/>
              <a:t> и MAC-</a:t>
            </a:r>
            <a:r>
              <a:rPr dirty="0" err="1"/>
              <a:t>адреса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3. </a:t>
            </a:r>
            <a:r>
              <a:rPr lang="ru-RU" dirty="0"/>
              <a:t>Сетевой (</a:t>
            </a:r>
            <a:r>
              <a:rPr dirty="0"/>
              <a:t>Network</a:t>
            </a:r>
            <a:r>
              <a:rPr lang="ru-RU" dirty="0"/>
              <a:t>)</a:t>
            </a:r>
            <a:r>
              <a:rPr dirty="0"/>
              <a:t> - IP-</a:t>
            </a:r>
            <a:r>
              <a:rPr dirty="0" err="1"/>
              <a:t>адреса</a:t>
            </a:r>
            <a:r>
              <a:rPr dirty="0"/>
              <a:t> и </a:t>
            </a:r>
            <a:r>
              <a:rPr dirty="0" err="1"/>
              <a:t>маршрутизация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4. </a:t>
            </a:r>
            <a:r>
              <a:rPr lang="ru-RU" dirty="0"/>
              <a:t>Транспортный (</a:t>
            </a:r>
            <a:r>
              <a:rPr dirty="0"/>
              <a:t>Transport</a:t>
            </a:r>
            <a:r>
              <a:rPr lang="ru-RU" dirty="0"/>
              <a:t>)</a:t>
            </a:r>
            <a:r>
              <a:rPr dirty="0"/>
              <a:t> - TCP/UDP и </a:t>
            </a:r>
            <a:r>
              <a:rPr dirty="0" err="1"/>
              <a:t>порты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5. </a:t>
            </a:r>
            <a:r>
              <a:rPr lang="ru-RU" dirty="0"/>
              <a:t>Сеансовый (</a:t>
            </a:r>
            <a:r>
              <a:rPr dirty="0"/>
              <a:t>Session</a:t>
            </a:r>
            <a:r>
              <a:rPr lang="ru-RU" dirty="0"/>
              <a:t>)</a:t>
            </a:r>
            <a:r>
              <a:rPr dirty="0"/>
              <a:t> </a:t>
            </a:r>
            <a:endParaRPr lang="ru-RU" dirty="0"/>
          </a:p>
          <a:p>
            <a:pPr>
              <a:defRPr sz="3600"/>
            </a:pPr>
            <a:r>
              <a:rPr lang="ru-RU" dirty="0"/>
              <a:t>6. Представления (</a:t>
            </a:r>
            <a:r>
              <a:rPr dirty="0"/>
              <a:t>Presentatio</a:t>
            </a:r>
            <a:r>
              <a:rPr lang="en-US" dirty="0"/>
              <a:t>n</a:t>
            </a:r>
            <a:r>
              <a:rPr lang="ru-RU" dirty="0"/>
              <a:t>)</a:t>
            </a:r>
          </a:p>
          <a:p>
            <a:pPr>
              <a:defRPr sz="3600"/>
            </a:pPr>
            <a:r>
              <a:rPr lang="ru-RU" dirty="0"/>
              <a:t>7. Приложений</a:t>
            </a:r>
            <a:r>
              <a:rPr dirty="0"/>
              <a:t> </a:t>
            </a:r>
            <a:r>
              <a:rPr lang="ru-RU" dirty="0"/>
              <a:t>(</a:t>
            </a:r>
            <a:r>
              <a:rPr dirty="0"/>
              <a:t>Application</a:t>
            </a:r>
            <a:r>
              <a:rPr lang="ru-RU" dirty="0"/>
              <a:t>)</a:t>
            </a:r>
            <a:r>
              <a:rPr dirty="0"/>
              <a:t> -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 и </a:t>
            </a:r>
            <a:r>
              <a:rPr dirty="0" err="1"/>
              <a:t>данных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3BD4-A14A-E9BF-B185-8D8FFBC3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1B6D29-01E8-8D0D-3318-C797D3B2D25F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Уровни OSI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F4D040-1FCC-8614-4FF6-A44AA701D4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82"/>
          <a:stretch>
            <a:fillRect/>
          </a:stretch>
        </p:blipFill>
        <p:spPr>
          <a:xfrm>
            <a:off x="1489585" y="182880"/>
            <a:ext cx="9558719" cy="659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72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74ED-66F8-0EA4-3C9B-CAE9AB46F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92020-43B2-1B3C-1E7C-C6A802D369CC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Уровни OSI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510641-9EDB-1A85-637F-A4A4A56EB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-18592"/>
            <a:ext cx="11303152" cy="669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52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0CF8E-F1E5-7C9F-CDE5-5039DB748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06B860-6BEE-7C44-ACE7-BAE8161C9B44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Уровни OSI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7CDDFE-A614-2A14-2D40-E496F0D0D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-18592"/>
            <a:ext cx="11303152" cy="669371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EC8125F-DF65-C8E9-994E-CF25D3645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02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9714" y="182880"/>
            <a:ext cx="506209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11</a:t>
            </a:r>
            <a:r>
              <a:rPr sz="4800" dirty="0"/>
              <a:t>. </a:t>
            </a:r>
            <a:r>
              <a:rPr sz="4800" dirty="0" err="1"/>
              <a:t>Модель</a:t>
            </a:r>
            <a:r>
              <a:rPr sz="4800" dirty="0"/>
              <a:t> TCP/IP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9368"/>
            <a:ext cx="1134151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TCP/IP - </a:t>
            </a: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которой</a:t>
            </a:r>
            <a:r>
              <a:rPr dirty="0"/>
              <a:t> </a:t>
            </a:r>
            <a:r>
              <a:rPr dirty="0" err="1"/>
              <a:t>построен</a:t>
            </a:r>
            <a:r>
              <a:rPr dirty="0"/>
              <a:t> </a:t>
            </a:r>
            <a:r>
              <a:rPr dirty="0" err="1"/>
              <a:t>интернет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описывается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4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Network Access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физическому</a:t>
            </a:r>
            <a:r>
              <a:rPr dirty="0"/>
              <a:t> и </a:t>
            </a:r>
            <a:r>
              <a:rPr dirty="0" err="1"/>
              <a:t>канальному</a:t>
            </a:r>
            <a:r>
              <a:rPr dirty="0"/>
              <a:t> </a:t>
            </a:r>
            <a:r>
              <a:rPr dirty="0" err="1"/>
              <a:t>уровням</a:t>
            </a:r>
            <a:r>
              <a:rPr dirty="0"/>
              <a:t> OSI.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Internet </a:t>
            </a:r>
            <a:r>
              <a:rPr dirty="0" err="1"/>
              <a:t>соответствует</a:t>
            </a:r>
            <a:r>
              <a:rPr dirty="0"/>
              <a:t> </a:t>
            </a:r>
            <a:r>
              <a:rPr dirty="0" err="1"/>
              <a:t>сетевому</a:t>
            </a:r>
            <a:r>
              <a:rPr dirty="0"/>
              <a:t> </a:t>
            </a:r>
            <a:r>
              <a:rPr dirty="0" err="1"/>
              <a:t>уровню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Transport и Application </a:t>
            </a:r>
            <a:r>
              <a:rPr dirty="0" err="1"/>
              <a:t>отвечают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доставку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 и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Сопоставление OSI и TCP/IP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8FC5E6-DF84-C0F6-982C-CBCE01D4E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" y="182880"/>
            <a:ext cx="12146772" cy="64922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13898" y="182880"/>
            <a:ext cx="493372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12</a:t>
            </a:r>
            <a:r>
              <a:rPr sz="4800" dirty="0"/>
              <a:t>. </a:t>
            </a:r>
            <a:r>
              <a:rPr sz="4800" dirty="0" err="1"/>
              <a:t>Инкапсуляция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165123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Инкапсуляция</a:t>
            </a:r>
            <a:r>
              <a:rPr dirty="0"/>
              <a:t> - </a:t>
            </a:r>
            <a:r>
              <a:rPr dirty="0" err="1"/>
              <a:t>добавление</a:t>
            </a:r>
            <a:r>
              <a:rPr dirty="0"/>
              <a:t>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заголовков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движении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вниз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Приложение</a:t>
            </a:r>
            <a:r>
              <a:rPr dirty="0"/>
              <a:t>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Транспортный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TCP </a:t>
            </a:r>
            <a:r>
              <a:rPr dirty="0" err="1"/>
              <a:t>или</a:t>
            </a:r>
            <a:r>
              <a:rPr dirty="0"/>
              <a:t> UDP-</a:t>
            </a:r>
            <a:r>
              <a:rPr dirty="0" err="1"/>
              <a:t>заголовок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добавляет</a:t>
            </a:r>
            <a:r>
              <a:rPr dirty="0"/>
              <a:t> IP-</a:t>
            </a:r>
            <a:r>
              <a:rPr dirty="0" err="1"/>
              <a:t>заголовок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упаковывает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в Ethernet frame.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Декапсуляция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 err="1"/>
              <a:t>Декапсуляция</a:t>
            </a:r>
            <a:r>
              <a:rPr dirty="0"/>
              <a:t> - </a:t>
            </a:r>
            <a:r>
              <a:rPr dirty="0" err="1"/>
              <a:t>снятие</a:t>
            </a:r>
            <a:r>
              <a:rPr dirty="0"/>
              <a:t> </a:t>
            </a:r>
            <a:r>
              <a:rPr dirty="0" err="1"/>
              <a:t>служебных</a:t>
            </a:r>
            <a:r>
              <a:rPr dirty="0"/>
              <a:t> </a:t>
            </a:r>
            <a:r>
              <a:rPr dirty="0" err="1"/>
              <a:t>заголовков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приеме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 </a:t>
            </a:r>
            <a:r>
              <a:rPr dirty="0" err="1"/>
              <a:t>читает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свою</a:t>
            </a:r>
            <a:r>
              <a:rPr dirty="0"/>
              <a:t> </a:t>
            </a:r>
            <a:r>
              <a:rPr dirty="0" err="1"/>
              <a:t>служебную</a:t>
            </a:r>
            <a:r>
              <a:rPr dirty="0"/>
              <a:t> </a:t>
            </a:r>
            <a:r>
              <a:rPr dirty="0" err="1"/>
              <a:t>информацию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Получатель</a:t>
            </a:r>
            <a:r>
              <a:rPr dirty="0"/>
              <a:t> </a:t>
            </a:r>
            <a:r>
              <a:rPr dirty="0" err="1"/>
              <a:t>постепенно</a:t>
            </a:r>
            <a:r>
              <a:rPr dirty="0"/>
              <a:t> </a:t>
            </a:r>
            <a:r>
              <a:rPr dirty="0" err="1"/>
              <a:t>извлекает</a:t>
            </a:r>
            <a:r>
              <a:rPr dirty="0"/>
              <a:t> </a:t>
            </a:r>
            <a:r>
              <a:rPr dirty="0" err="1"/>
              <a:t>исходные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заголовок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 </a:t>
            </a:r>
            <a:r>
              <a:rPr dirty="0" err="1"/>
              <a:t>неверный</a:t>
            </a:r>
            <a:r>
              <a:rPr dirty="0"/>
              <a:t>,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остановиться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сводится</a:t>
            </a:r>
            <a:r>
              <a:rPr dirty="0"/>
              <a:t> к </a:t>
            </a:r>
            <a:r>
              <a:rPr dirty="0" err="1"/>
              <a:t>поиску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,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котором</a:t>
            </a:r>
            <a:r>
              <a:rPr dirty="0"/>
              <a:t> </a:t>
            </a:r>
            <a:r>
              <a:rPr dirty="0" err="1"/>
              <a:t>обмен</a:t>
            </a:r>
            <a:r>
              <a:rPr dirty="0"/>
              <a:t> </a:t>
            </a:r>
            <a:r>
              <a:rPr dirty="0" err="1"/>
              <a:t>нарушился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7A722-53E2-9652-CECE-8D6008CB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AE5216B-772E-EAB0-B0DF-FD7589368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5" y="292018"/>
            <a:ext cx="11457407" cy="60940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E81AA3-71AF-689B-1FBF-81CE93268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948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77016" y="182880"/>
            <a:ext cx="720748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13</a:t>
            </a:r>
            <a:r>
              <a:rPr sz="4800" dirty="0"/>
              <a:t>. </a:t>
            </a:r>
            <a:r>
              <a:rPr sz="4800" dirty="0" err="1"/>
              <a:t>Модели</a:t>
            </a:r>
            <a:r>
              <a:rPr sz="4800" dirty="0"/>
              <a:t> в </a:t>
            </a:r>
            <a:r>
              <a:rPr sz="4800" dirty="0" err="1"/>
              <a:t>диагностике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72871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link -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физический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MAC-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пуста</a:t>
            </a:r>
            <a:r>
              <a:rPr dirty="0"/>
              <a:t> - </a:t>
            </a:r>
            <a:r>
              <a:rPr dirty="0" err="1"/>
              <a:t>анализируют</a:t>
            </a:r>
            <a:r>
              <a:rPr dirty="0"/>
              <a:t> </a:t>
            </a:r>
            <a:r>
              <a:rPr dirty="0" err="1"/>
              <a:t>канальный</a:t>
            </a:r>
            <a:r>
              <a:rPr dirty="0"/>
              <a:t> </a:t>
            </a:r>
            <a:r>
              <a:rPr dirty="0" err="1"/>
              <a:t>уровень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ping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 - </a:t>
            </a:r>
            <a:r>
              <a:rPr dirty="0" err="1"/>
              <a:t>проверяют</a:t>
            </a:r>
            <a:r>
              <a:rPr dirty="0"/>
              <a:t> IP и </a:t>
            </a:r>
            <a:r>
              <a:rPr dirty="0" err="1"/>
              <a:t>маршрутизацию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Если</a:t>
            </a:r>
            <a:r>
              <a:rPr dirty="0"/>
              <a:t> ping </a:t>
            </a:r>
            <a:r>
              <a:rPr dirty="0" err="1"/>
              <a:t>работает</a:t>
            </a:r>
            <a:r>
              <a:rPr dirty="0"/>
              <a:t>, а </a:t>
            </a:r>
            <a:r>
              <a:rPr dirty="0" err="1"/>
              <a:t>сайт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открывается</a:t>
            </a:r>
            <a:r>
              <a:rPr dirty="0"/>
              <a:t> - </a:t>
            </a:r>
            <a:r>
              <a:rPr dirty="0" err="1"/>
              <a:t>проверяют</a:t>
            </a:r>
            <a:r>
              <a:rPr dirty="0"/>
              <a:t> </a:t>
            </a:r>
            <a:r>
              <a:rPr dirty="0" err="1"/>
              <a:t>транспортный</a:t>
            </a:r>
            <a:r>
              <a:rPr dirty="0"/>
              <a:t> и </a:t>
            </a:r>
            <a:r>
              <a:rPr dirty="0" err="1"/>
              <a:t>прикладной</a:t>
            </a:r>
            <a:r>
              <a:rPr dirty="0"/>
              <a:t> </a:t>
            </a:r>
            <a:r>
              <a:rPr dirty="0" err="1"/>
              <a:t>уровни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менять</a:t>
            </a:r>
            <a:r>
              <a:rPr dirty="0"/>
              <a:t> </a:t>
            </a:r>
            <a:r>
              <a:rPr dirty="0" err="1"/>
              <a:t>настройки</a:t>
            </a:r>
            <a:r>
              <a:rPr dirty="0"/>
              <a:t> </a:t>
            </a:r>
            <a:r>
              <a:rPr dirty="0" err="1"/>
              <a:t>наугад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состоит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узлов</a:t>
            </a:r>
            <a:r>
              <a:rPr dirty="0"/>
              <a:t>,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, </a:t>
            </a:r>
            <a:r>
              <a:rPr dirty="0" err="1"/>
              <a:t>устройств</a:t>
            </a:r>
            <a:r>
              <a:rPr dirty="0"/>
              <a:t> и </a:t>
            </a:r>
            <a:r>
              <a:rPr dirty="0" err="1"/>
              <a:t>протоколов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Клиент</a:t>
            </a:r>
            <a:r>
              <a:rPr dirty="0"/>
              <a:t>, </a:t>
            </a:r>
            <a:r>
              <a:rPr dirty="0" err="1"/>
              <a:t>сервер</a:t>
            </a:r>
            <a:r>
              <a:rPr dirty="0"/>
              <a:t>, switch, router, access point и firewall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</a:t>
            </a:r>
            <a:r>
              <a:rPr dirty="0" err="1"/>
              <a:t>роли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OSI и TCP/IP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описывать</a:t>
            </a:r>
            <a:r>
              <a:rPr dirty="0"/>
              <a:t> </a:t>
            </a:r>
            <a:r>
              <a:rPr dirty="0" err="1"/>
              <a:t>сетевой</a:t>
            </a:r>
            <a:r>
              <a:rPr dirty="0"/>
              <a:t> </a:t>
            </a:r>
            <a:r>
              <a:rPr dirty="0" err="1"/>
              <a:t>обмен</a:t>
            </a:r>
            <a:r>
              <a:rPr dirty="0"/>
              <a:t> и </a:t>
            </a:r>
            <a:r>
              <a:rPr dirty="0" err="1"/>
              <a:t>диагностику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Инкапсуляция</a:t>
            </a:r>
            <a:r>
              <a:rPr dirty="0"/>
              <a:t> </a:t>
            </a:r>
            <a:r>
              <a:rPr dirty="0" err="1"/>
              <a:t>объясняет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данные</a:t>
            </a:r>
            <a:r>
              <a:rPr dirty="0"/>
              <a:t> </a:t>
            </a:r>
            <a:r>
              <a:rPr dirty="0" err="1"/>
              <a:t>проходят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уровни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уровням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хаотично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компьютерная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?</a:t>
            </a:r>
            <a:endParaRPr lang="ru-RU" dirty="0"/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сервера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коммутатор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LAN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WAN?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Зачем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OSI?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инкапсуляция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модели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в </a:t>
            </a:r>
            <a:r>
              <a:rPr dirty="0" err="1"/>
              <a:t>диагностике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1659</Words>
  <Application>Microsoft Office PowerPoint</Application>
  <PresentationFormat>Широкоэкранный</PresentationFormat>
  <Paragraphs>203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9</cp:revision>
  <dcterms:created xsi:type="dcterms:W3CDTF">2013-01-27T09:14:16Z</dcterms:created>
  <dcterms:modified xsi:type="dcterms:W3CDTF">2026-06-29T08:41:55Z</dcterms:modified>
  <cp:category/>
</cp:coreProperties>
</file>