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314" r:id="rId16"/>
    <p:sldId id="270" r:id="rId17"/>
    <p:sldId id="271" r:id="rId18"/>
    <p:sldId id="272" r:id="rId19"/>
    <p:sldId id="273" r:id="rId20"/>
    <p:sldId id="315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318" r:id="rId40"/>
    <p:sldId id="292" r:id="rId41"/>
    <p:sldId id="293" r:id="rId42"/>
    <p:sldId id="316" r:id="rId43"/>
    <p:sldId id="294" r:id="rId44"/>
    <p:sldId id="317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8352" y="752168"/>
            <a:ext cx="11264815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 err="1"/>
              <a:t>Лекция</a:t>
            </a:r>
            <a:r>
              <a:rPr sz="4800" dirty="0"/>
              <a:t> 7. </a:t>
            </a:r>
            <a:endParaRPr lang="en-US" sz="4800" dirty="0"/>
          </a:p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 err="1"/>
              <a:t>Транспортный</a:t>
            </a:r>
            <a:r>
              <a:rPr sz="4800" dirty="0"/>
              <a:t> </a:t>
            </a:r>
            <a:r>
              <a:rPr sz="4800" dirty="0" err="1"/>
              <a:t>уровень</a:t>
            </a:r>
            <a:r>
              <a:rPr sz="4800" dirty="0"/>
              <a:t>: TCP, UDP и </a:t>
            </a:r>
            <a:r>
              <a:rPr sz="4800" dirty="0" err="1"/>
              <a:t>порты</a:t>
            </a:r>
            <a:endParaRPr sz="4800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3967316"/>
            <a:ext cx="10972800" cy="215916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dirty="0" err="1"/>
              <a:t>Транспортный</a:t>
            </a:r>
            <a:r>
              <a:rPr dirty="0"/>
              <a:t> </a:t>
            </a:r>
            <a:r>
              <a:rPr dirty="0" err="1"/>
              <a:t>уровень</a:t>
            </a:r>
            <a:r>
              <a:rPr dirty="0"/>
              <a:t> в </a:t>
            </a:r>
            <a:r>
              <a:rPr dirty="0" err="1"/>
              <a:t>сетевой</a:t>
            </a:r>
            <a:r>
              <a:rPr dirty="0"/>
              <a:t> </a:t>
            </a:r>
            <a:r>
              <a:rPr dirty="0" err="1"/>
              <a:t>модели</a:t>
            </a:r>
            <a:endParaRPr dirty="0"/>
          </a:p>
          <a:p>
            <a:pPr>
              <a:defRPr sz="3600"/>
            </a:pPr>
            <a:r>
              <a:rPr dirty="0"/>
              <a:t>TCP и UDP</a:t>
            </a:r>
          </a:p>
          <a:p>
            <a:pPr>
              <a:defRPr sz="3600"/>
            </a:pPr>
            <a:r>
              <a:rPr dirty="0" err="1"/>
              <a:t>Порты</a:t>
            </a:r>
            <a:r>
              <a:rPr dirty="0"/>
              <a:t>, socket и </a:t>
            </a:r>
            <a:r>
              <a:rPr dirty="0" err="1"/>
              <a:t>диагностика</a:t>
            </a:r>
            <a:r>
              <a:rPr dirty="0"/>
              <a:t> </a:t>
            </a:r>
            <a:r>
              <a:rPr dirty="0" err="1"/>
              <a:t>сервисов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Цель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Понять</a:t>
            </a:r>
            <a:r>
              <a:rPr dirty="0"/>
              <a:t> </a:t>
            </a:r>
            <a:r>
              <a:rPr dirty="0" err="1"/>
              <a:t>назначение</a:t>
            </a:r>
            <a:r>
              <a:rPr dirty="0"/>
              <a:t> </a:t>
            </a:r>
            <a:r>
              <a:rPr dirty="0" err="1"/>
              <a:t>транспортного</a:t>
            </a:r>
            <a:r>
              <a:rPr dirty="0"/>
              <a:t> </a:t>
            </a:r>
            <a:r>
              <a:rPr dirty="0" err="1"/>
              <a:t>уровня</a:t>
            </a:r>
            <a:r>
              <a:rPr lang="ru-RU" dirty="0"/>
              <a:t>.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Уметь</a:t>
            </a:r>
            <a:r>
              <a:rPr dirty="0"/>
              <a:t> </a:t>
            </a:r>
            <a:r>
              <a:rPr dirty="0" err="1"/>
              <a:t>объяснять</a:t>
            </a:r>
            <a:r>
              <a:rPr dirty="0"/>
              <a:t> </a:t>
            </a:r>
            <a:r>
              <a:rPr dirty="0" err="1"/>
              <a:t>различия</a:t>
            </a:r>
            <a:r>
              <a:rPr dirty="0"/>
              <a:t> TCP и UDP</a:t>
            </a:r>
            <a:r>
              <a:rPr lang="ru-RU" dirty="0"/>
              <a:t>.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Понимать</a:t>
            </a:r>
            <a:r>
              <a:rPr dirty="0"/>
              <a:t> </a:t>
            </a:r>
            <a:r>
              <a:rPr dirty="0" err="1"/>
              <a:t>назначение</a:t>
            </a:r>
            <a:r>
              <a:rPr dirty="0"/>
              <a:t> </a:t>
            </a:r>
            <a:r>
              <a:rPr dirty="0" err="1"/>
              <a:t>портов</a:t>
            </a:r>
            <a:r>
              <a:rPr dirty="0"/>
              <a:t> и socket</a:t>
            </a:r>
            <a:r>
              <a:rPr lang="ru-RU" dirty="0"/>
              <a:t>.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Различать</a:t>
            </a:r>
            <a:r>
              <a:rPr dirty="0"/>
              <a:t> </a:t>
            </a:r>
            <a:r>
              <a:rPr dirty="0" err="1"/>
              <a:t>проверку</a:t>
            </a:r>
            <a:r>
              <a:rPr dirty="0"/>
              <a:t> IP-</a:t>
            </a:r>
            <a:r>
              <a:rPr dirty="0" err="1"/>
              <a:t>связности</a:t>
            </a:r>
            <a:r>
              <a:rPr dirty="0"/>
              <a:t> и </a:t>
            </a:r>
            <a:r>
              <a:rPr dirty="0" err="1"/>
              <a:t>доступности</a:t>
            </a:r>
            <a:r>
              <a:rPr dirty="0"/>
              <a:t> </a:t>
            </a:r>
            <a:r>
              <a:rPr dirty="0" err="1"/>
              <a:t>приложения</a:t>
            </a:r>
            <a:r>
              <a:rPr lang="ru-RU" dirty="0"/>
              <a:t>.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Уметь</a:t>
            </a:r>
            <a:r>
              <a:rPr dirty="0"/>
              <a:t> </a:t>
            </a:r>
            <a:r>
              <a:rPr dirty="0" err="1"/>
              <a:t>выбирать</a:t>
            </a:r>
            <a:r>
              <a:rPr dirty="0"/>
              <a:t> </a:t>
            </a:r>
            <a:r>
              <a:rPr dirty="0" err="1"/>
              <a:t>базовые</a:t>
            </a:r>
            <a:r>
              <a:rPr dirty="0"/>
              <a:t> </a:t>
            </a:r>
            <a:r>
              <a:rPr dirty="0" err="1"/>
              <a:t>команды</a:t>
            </a:r>
            <a:r>
              <a:rPr dirty="0"/>
              <a:t> </a:t>
            </a:r>
            <a:r>
              <a:rPr dirty="0" err="1"/>
              <a:t>диагностики</a:t>
            </a:r>
            <a:r>
              <a:rPr dirty="0"/>
              <a:t> </a:t>
            </a:r>
            <a:r>
              <a:rPr dirty="0" err="1"/>
              <a:t>транспортного</a:t>
            </a:r>
            <a:r>
              <a:rPr dirty="0"/>
              <a:t> </a:t>
            </a:r>
            <a:r>
              <a:rPr dirty="0" err="1"/>
              <a:t>уровня</a:t>
            </a:r>
            <a:r>
              <a:rPr lang="ru-RU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Список учебных вопросов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sz="2800" dirty="0"/>
              <a:t>1. </a:t>
            </a:r>
            <a:r>
              <a:rPr sz="2800" dirty="0" err="1"/>
              <a:t>Назначение</a:t>
            </a:r>
            <a:r>
              <a:rPr sz="2800" dirty="0"/>
              <a:t> </a:t>
            </a:r>
            <a:r>
              <a:rPr sz="2800" dirty="0" err="1"/>
              <a:t>транспортного</a:t>
            </a:r>
            <a:r>
              <a:rPr sz="2800" dirty="0"/>
              <a:t> </a:t>
            </a:r>
            <a:r>
              <a:rPr sz="2800" dirty="0" err="1"/>
              <a:t>уровня</a:t>
            </a:r>
            <a:r>
              <a:rPr sz="2800" dirty="0"/>
              <a:t>.</a:t>
            </a:r>
          </a:p>
          <a:p>
            <a:pPr>
              <a:defRPr sz="3600"/>
            </a:pPr>
            <a:r>
              <a:rPr sz="2800" dirty="0"/>
              <a:t>2. TCP: Transmission Control Protocol, </a:t>
            </a:r>
            <a:r>
              <a:rPr sz="2800" dirty="0" err="1"/>
              <a:t>протокол</a:t>
            </a:r>
            <a:r>
              <a:rPr sz="2800" dirty="0"/>
              <a:t> с </a:t>
            </a:r>
            <a:r>
              <a:rPr sz="2800" dirty="0" err="1"/>
              <a:t>установлением</a:t>
            </a:r>
            <a:r>
              <a:rPr sz="2800" dirty="0"/>
              <a:t> </a:t>
            </a:r>
            <a:r>
              <a:rPr sz="2800" dirty="0" err="1"/>
              <a:t>соединения</a:t>
            </a:r>
            <a:r>
              <a:rPr sz="2800" dirty="0"/>
              <a:t>.</a:t>
            </a:r>
          </a:p>
          <a:p>
            <a:pPr>
              <a:defRPr sz="3600"/>
            </a:pPr>
            <a:r>
              <a:rPr sz="2800" dirty="0"/>
              <a:t>3. UDP: User Datagram Protocol, </a:t>
            </a:r>
            <a:r>
              <a:rPr sz="2800" dirty="0" err="1"/>
              <a:t>протокол</a:t>
            </a:r>
            <a:r>
              <a:rPr sz="2800" dirty="0"/>
              <a:t> </a:t>
            </a:r>
            <a:r>
              <a:rPr sz="2800" dirty="0" err="1"/>
              <a:t>без</a:t>
            </a:r>
            <a:r>
              <a:rPr sz="2800" dirty="0"/>
              <a:t> </a:t>
            </a:r>
            <a:r>
              <a:rPr sz="2800" dirty="0" err="1"/>
              <a:t>установления</a:t>
            </a:r>
            <a:r>
              <a:rPr sz="2800" dirty="0"/>
              <a:t> </a:t>
            </a:r>
            <a:r>
              <a:rPr sz="2800" dirty="0" err="1"/>
              <a:t>соединения</a:t>
            </a:r>
            <a:r>
              <a:rPr sz="2800" dirty="0"/>
              <a:t>.</a:t>
            </a:r>
          </a:p>
          <a:p>
            <a:pPr>
              <a:defRPr sz="3600"/>
            </a:pPr>
            <a:r>
              <a:rPr sz="2800" dirty="0"/>
              <a:t>4. TCP handshake </a:t>
            </a:r>
            <a:r>
              <a:rPr sz="2800" dirty="0" err="1"/>
              <a:t>на</a:t>
            </a:r>
            <a:r>
              <a:rPr sz="2800" dirty="0"/>
              <a:t> </a:t>
            </a:r>
            <a:r>
              <a:rPr sz="2800" dirty="0" err="1"/>
              <a:t>базовом</a:t>
            </a:r>
            <a:r>
              <a:rPr sz="2800" dirty="0"/>
              <a:t> </a:t>
            </a:r>
            <a:r>
              <a:rPr sz="2800" dirty="0" err="1"/>
              <a:t>уровне</a:t>
            </a:r>
            <a:r>
              <a:rPr sz="2800" dirty="0"/>
              <a:t>.</a:t>
            </a:r>
          </a:p>
          <a:p>
            <a:pPr>
              <a:defRPr sz="3600"/>
            </a:pPr>
            <a:r>
              <a:rPr sz="2800" dirty="0"/>
              <a:t>5. </a:t>
            </a:r>
            <a:r>
              <a:rPr sz="2800" dirty="0" err="1"/>
              <a:t>Метод</a:t>
            </a:r>
            <a:r>
              <a:rPr sz="2800" dirty="0"/>
              <a:t> </a:t>
            </a:r>
            <a:r>
              <a:rPr sz="2800" dirty="0" err="1"/>
              <a:t>скользящего</a:t>
            </a:r>
            <a:r>
              <a:rPr sz="2800" dirty="0"/>
              <a:t> </a:t>
            </a:r>
            <a:r>
              <a:rPr sz="2800" dirty="0" err="1"/>
              <a:t>окна</a:t>
            </a:r>
            <a:r>
              <a:rPr sz="2800" dirty="0"/>
              <a:t> </a:t>
            </a:r>
            <a:r>
              <a:rPr sz="2800" dirty="0" err="1"/>
              <a:t>на</a:t>
            </a:r>
            <a:r>
              <a:rPr sz="2800" dirty="0"/>
              <a:t> </a:t>
            </a:r>
            <a:r>
              <a:rPr sz="2800" dirty="0" err="1"/>
              <a:t>уровне</a:t>
            </a:r>
            <a:r>
              <a:rPr sz="2800" dirty="0"/>
              <a:t> </a:t>
            </a:r>
            <a:r>
              <a:rPr sz="2800" dirty="0" err="1"/>
              <a:t>назначения</a:t>
            </a:r>
            <a:r>
              <a:rPr sz="2800" dirty="0"/>
              <a:t>.</a:t>
            </a:r>
          </a:p>
          <a:p>
            <a:pPr>
              <a:defRPr sz="3600"/>
            </a:pPr>
            <a:r>
              <a:rPr sz="2800" dirty="0"/>
              <a:t>6. Socket: </a:t>
            </a:r>
            <a:r>
              <a:rPr sz="2800" dirty="0" err="1"/>
              <a:t>сочетание</a:t>
            </a:r>
            <a:r>
              <a:rPr sz="2800" dirty="0"/>
              <a:t> IP-</a:t>
            </a:r>
            <a:r>
              <a:rPr sz="2800" dirty="0" err="1"/>
              <a:t>адреса</a:t>
            </a:r>
            <a:r>
              <a:rPr sz="2800" dirty="0"/>
              <a:t>, </a:t>
            </a:r>
            <a:r>
              <a:rPr sz="2800" dirty="0" err="1"/>
              <a:t>протокола</a:t>
            </a:r>
            <a:r>
              <a:rPr sz="2800" dirty="0"/>
              <a:t> и </a:t>
            </a:r>
            <a:r>
              <a:rPr sz="2800" dirty="0" err="1"/>
              <a:t>порта</a:t>
            </a:r>
            <a:r>
              <a:rPr sz="2800" dirty="0"/>
              <a:t>.</a:t>
            </a:r>
          </a:p>
          <a:p>
            <a:pPr>
              <a:defRPr sz="3600"/>
            </a:pPr>
            <a:r>
              <a:rPr sz="2800" dirty="0"/>
              <a:t>7. Well-known ports </a:t>
            </a:r>
            <a:r>
              <a:rPr sz="2800" dirty="0" err="1"/>
              <a:t>популярных</a:t>
            </a:r>
            <a:r>
              <a:rPr sz="2800" dirty="0"/>
              <a:t> </a:t>
            </a:r>
            <a:r>
              <a:rPr sz="2800" dirty="0" err="1"/>
              <a:t>сервисов</a:t>
            </a:r>
            <a:r>
              <a:rPr sz="2800" dirty="0"/>
              <a:t>.</a:t>
            </a:r>
          </a:p>
          <a:p>
            <a:pPr>
              <a:defRPr sz="3600"/>
            </a:pPr>
            <a:r>
              <a:rPr sz="2800" dirty="0"/>
              <a:t>8. </a:t>
            </a:r>
            <a:r>
              <a:rPr sz="2800" dirty="0" err="1"/>
              <a:t>Отличие</a:t>
            </a:r>
            <a:r>
              <a:rPr sz="2800" dirty="0"/>
              <a:t> </a:t>
            </a:r>
            <a:r>
              <a:rPr sz="2800" dirty="0" err="1"/>
              <a:t>проверки</a:t>
            </a:r>
            <a:r>
              <a:rPr sz="2800" dirty="0"/>
              <a:t> IP-</a:t>
            </a:r>
            <a:r>
              <a:rPr sz="2800" dirty="0" err="1"/>
              <a:t>связности</a:t>
            </a:r>
            <a:r>
              <a:rPr sz="2800" dirty="0"/>
              <a:t> </a:t>
            </a:r>
            <a:r>
              <a:rPr sz="2800" dirty="0" err="1"/>
              <a:t>от</a:t>
            </a:r>
            <a:r>
              <a:rPr sz="2800" dirty="0"/>
              <a:t> </a:t>
            </a:r>
            <a:r>
              <a:rPr sz="2800" dirty="0" err="1"/>
              <a:t>проверки</a:t>
            </a:r>
            <a:r>
              <a:rPr sz="2800" dirty="0"/>
              <a:t> </a:t>
            </a:r>
            <a:r>
              <a:rPr sz="2800" dirty="0" err="1"/>
              <a:t>доступности</a:t>
            </a:r>
            <a:r>
              <a:rPr sz="2800" dirty="0"/>
              <a:t> </a:t>
            </a:r>
            <a:r>
              <a:rPr sz="2800" dirty="0" err="1"/>
              <a:t>приложения</a:t>
            </a:r>
            <a:r>
              <a:rPr sz="2800" dirty="0"/>
              <a:t>.</a:t>
            </a:r>
          </a:p>
          <a:p>
            <a:pPr>
              <a:defRPr sz="3600"/>
            </a:pPr>
            <a:r>
              <a:rPr sz="2800" dirty="0"/>
              <a:t>9. </a:t>
            </a:r>
            <a:r>
              <a:rPr sz="2800" dirty="0" err="1"/>
              <a:t>Диагностика</a:t>
            </a:r>
            <a:r>
              <a:rPr sz="2800" dirty="0"/>
              <a:t> </a:t>
            </a:r>
            <a:r>
              <a:rPr sz="2800" dirty="0" err="1"/>
              <a:t>транспортного</a:t>
            </a:r>
            <a:r>
              <a:rPr sz="2800" dirty="0"/>
              <a:t> </a:t>
            </a:r>
            <a:r>
              <a:rPr sz="2800" dirty="0" err="1"/>
              <a:t>уровня</a:t>
            </a:r>
            <a:r>
              <a:rPr sz="2800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41848" y="182880"/>
            <a:ext cx="10077823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/>
              <a:t>1. </a:t>
            </a:r>
            <a:r>
              <a:rPr sz="4800" dirty="0" err="1"/>
              <a:t>Назначение</a:t>
            </a:r>
            <a:r>
              <a:rPr sz="4800" dirty="0"/>
              <a:t> </a:t>
            </a:r>
            <a:r>
              <a:rPr sz="4800" dirty="0" err="1"/>
              <a:t>транспортного</a:t>
            </a:r>
            <a:r>
              <a:rPr sz="4800" dirty="0"/>
              <a:t> </a:t>
            </a:r>
            <a:r>
              <a:rPr sz="4800" dirty="0" err="1"/>
              <a:t>уровня</a:t>
            </a:r>
            <a:endParaRPr sz="4800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1013876"/>
            <a:ext cx="10972800" cy="5112603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Транспортный</a:t>
            </a:r>
            <a:r>
              <a:rPr dirty="0"/>
              <a:t> </a:t>
            </a:r>
            <a:r>
              <a:rPr dirty="0" err="1"/>
              <a:t>уровень</a:t>
            </a:r>
            <a:r>
              <a:rPr dirty="0"/>
              <a:t> </a:t>
            </a:r>
            <a:r>
              <a:rPr dirty="0" err="1"/>
              <a:t>передает</a:t>
            </a:r>
            <a:r>
              <a:rPr dirty="0"/>
              <a:t> </a:t>
            </a:r>
            <a:r>
              <a:rPr dirty="0" err="1"/>
              <a:t>данные</a:t>
            </a:r>
            <a:r>
              <a:rPr dirty="0"/>
              <a:t> </a:t>
            </a:r>
            <a:r>
              <a:rPr dirty="0" err="1"/>
              <a:t>между</a:t>
            </a:r>
            <a:r>
              <a:rPr dirty="0"/>
              <a:t> </a:t>
            </a:r>
            <a:r>
              <a:rPr dirty="0" err="1"/>
              <a:t>приложениями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разных</a:t>
            </a:r>
            <a:r>
              <a:rPr dirty="0"/>
              <a:t> </a:t>
            </a:r>
            <a:r>
              <a:rPr dirty="0" err="1"/>
              <a:t>узлах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Узел</a:t>
            </a:r>
            <a:r>
              <a:rPr dirty="0"/>
              <a:t> - </a:t>
            </a:r>
            <a:r>
              <a:rPr dirty="0" err="1"/>
              <a:t>компьютер</a:t>
            </a:r>
            <a:r>
              <a:rPr dirty="0"/>
              <a:t>, </a:t>
            </a:r>
            <a:r>
              <a:rPr dirty="0" err="1"/>
              <a:t>сервер</a:t>
            </a:r>
            <a:r>
              <a:rPr dirty="0"/>
              <a:t>, </a:t>
            </a:r>
            <a:r>
              <a:rPr dirty="0" err="1"/>
              <a:t>маршрутизатор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другое</a:t>
            </a:r>
            <a:r>
              <a:rPr dirty="0"/>
              <a:t> </a:t>
            </a:r>
            <a:r>
              <a:rPr dirty="0" err="1"/>
              <a:t>устройство</a:t>
            </a:r>
            <a:r>
              <a:rPr dirty="0"/>
              <a:t> в </a:t>
            </a:r>
            <a:r>
              <a:rPr dirty="0" err="1"/>
              <a:t>сети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IP-</a:t>
            </a:r>
            <a:r>
              <a:rPr dirty="0" err="1"/>
              <a:t>адрес</a:t>
            </a:r>
            <a:r>
              <a:rPr dirty="0"/>
              <a:t> </a:t>
            </a:r>
            <a:r>
              <a:rPr dirty="0" err="1"/>
              <a:t>помогает</a:t>
            </a:r>
            <a:r>
              <a:rPr dirty="0"/>
              <a:t> </a:t>
            </a:r>
            <a:r>
              <a:rPr dirty="0" err="1"/>
              <a:t>доставить</a:t>
            </a:r>
            <a:r>
              <a:rPr dirty="0"/>
              <a:t> </a:t>
            </a:r>
            <a:r>
              <a:rPr dirty="0" err="1"/>
              <a:t>пакет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</a:t>
            </a:r>
            <a:r>
              <a:rPr dirty="0" err="1"/>
              <a:t>нужного</a:t>
            </a:r>
            <a:r>
              <a:rPr dirty="0"/>
              <a:t> </a:t>
            </a:r>
            <a:r>
              <a:rPr dirty="0" err="1"/>
              <a:t>узла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Порт</a:t>
            </a:r>
            <a:r>
              <a:rPr dirty="0"/>
              <a:t> </a:t>
            </a:r>
            <a:r>
              <a:rPr dirty="0" err="1"/>
              <a:t>помогает</a:t>
            </a:r>
            <a:r>
              <a:rPr dirty="0"/>
              <a:t> </a:t>
            </a:r>
            <a:r>
              <a:rPr dirty="0" err="1"/>
              <a:t>доставить</a:t>
            </a:r>
            <a:r>
              <a:rPr dirty="0"/>
              <a:t> </a:t>
            </a:r>
            <a:r>
              <a:rPr dirty="0" err="1"/>
              <a:t>данные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</a:t>
            </a:r>
            <a:r>
              <a:rPr dirty="0" err="1"/>
              <a:t>нужной</a:t>
            </a:r>
            <a:r>
              <a:rPr dirty="0"/>
              <a:t> </a:t>
            </a:r>
            <a:r>
              <a:rPr dirty="0" err="1"/>
              <a:t>программы</a:t>
            </a:r>
            <a:r>
              <a:rPr dirty="0"/>
              <a:t> </a:t>
            </a:r>
            <a:r>
              <a:rPr dirty="0" err="1"/>
              <a:t>внутри</a:t>
            </a:r>
            <a:r>
              <a:rPr dirty="0"/>
              <a:t> </a:t>
            </a:r>
            <a:r>
              <a:rPr dirty="0" err="1"/>
              <a:t>узла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транспортного</a:t>
            </a:r>
            <a:r>
              <a:rPr dirty="0"/>
              <a:t> </a:t>
            </a:r>
            <a:r>
              <a:rPr dirty="0" err="1"/>
              <a:t>уровня</a:t>
            </a:r>
            <a:r>
              <a:rPr dirty="0"/>
              <a:t> </a:t>
            </a:r>
            <a:r>
              <a:rPr dirty="0" err="1"/>
              <a:t>сеть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различала</a:t>
            </a:r>
            <a:r>
              <a:rPr dirty="0"/>
              <a:t> </a:t>
            </a:r>
            <a:r>
              <a:rPr dirty="0" err="1"/>
              <a:t>бы</a:t>
            </a:r>
            <a:r>
              <a:rPr dirty="0"/>
              <a:t> </a:t>
            </a:r>
            <a:r>
              <a:rPr dirty="0" err="1"/>
              <a:t>веб-сервер</a:t>
            </a:r>
            <a:r>
              <a:rPr dirty="0"/>
              <a:t>, DNS, SSH и </a:t>
            </a:r>
            <a:r>
              <a:rPr dirty="0" err="1"/>
              <a:t>другие</a:t>
            </a:r>
            <a:r>
              <a:rPr dirty="0"/>
              <a:t> </a:t>
            </a:r>
            <a:r>
              <a:rPr dirty="0" err="1"/>
              <a:t>службы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одном</a:t>
            </a:r>
            <a:r>
              <a:rPr dirty="0"/>
              <a:t> </a:t>
            </a:r>
            <a:r>
              <a:rPr dirty="0" err="1"/>
              <a:t>хосте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Место транспортного уровня в модели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/>
              <a:t>В </a:t>
            </a:r>
            <a:r>
              <a:rPr dirty="0" err="1"/>
              <a:t>модели</a:t>
            </a:r>
            <a:r>
              <a:rPr dirty="0"/>
              <a:t> OSI </a:t>
            </a:r>
            <a:r>
              <a:rPr dirty="0" err="1"/>
              <a:t>транспортный</a:t>
            </a:r>
            <a:r>
              <a:rPr dirty="0"/>
              <a:t> </a:t>
            </a:r>
            <a:r>
              <a:rPr dirty="0" err="1"/>
              <a:t>уровень</a:t>
            </a:r>
            <a:r>
              <a:rPr dirty="0"/>
              <a:t> </a:t>
            </a:r>
            <a:r>
              <a:rPr dirty="0" err="1"/>
              <a:t>находится</a:t>
            </a:r>
            <a:r>
              <a:rPr dirty="0"/>
              <a:t> </a:t>
            </a:r>
            <a:r>
              <a:rPr dirty="0" err="1"/>
              <a:t>выше</a:t>
            </a:r>
            <a:r>
              <a:rPr dirty="0"/>
              <a:t> </a:t>
            </a:r>
            <a:r>
              <a:rPr dirty="0" err="1"/>
              <a:t>сетевого</a:t>
            </a:r>
            <a:r>
              <a:rPr dirty="0"/>
              <a:t> </a:t>
            </a:r>
            <a:r>
              <a:rPr dirty="0" err="1"/>
              <a:t>уровня</a:t>
            </a:r>
            <a:r>
              <a:rPr lang="ru-RU" dirty="0"/>
              <a:t>.</a:t>
            </a:r>
            <a:endParaRPr dirty="0"/>
          </a:p>
          <a:p>
            <a:pPr indent="354013">
              <a:defRPr sz="3600"/>
            </a:pPr>
            <a:r>
              <a:rPr dirty="0"/>
              <a:t>В </a:t>
            </a:r>
            <a:r>
              <a:rPr dirty="0" err="1"/>
              <a:t>стеке</a:t>
            </a:r>
            <a:r>
              <a:rPr dirty="0"/>
              <a:t> TCP/IP </a:t>
            </a:r>
            <a:r>
              <a:rPr dirty="0" err="1"/>
              <a:t>транспортный</a:t>
            </a:r>
            <a:r>
              <a:rPr dirty="0"/>
              <a:t> </a:t>
            </a:r>
            <a:r>
              <a:rPr dirty="0" err="1"/>
              <a:t>уровень</a:t>
            </a:r>
            <a:r>
              <a:rPr dirty="0"/>
              <a:t> </a:t>
            </a:r>
            <a:r>
              <a:rPr dirty="0" err="1"/>
              <a:t>работает</a:t>
            </a:r>
            <a:r>
              <a:rPr dirty="0"/>
              <a:t> </a:t>
            </a:r>
            <a:r>
              <a:rPr dirty="0" err="1"/>
              <a:t>поверх</a:t>
            </a:r>
            <a:r>
              <a:rPr dirty="0"/>
              <a:t> IP</a:t>
            </a:r>
            <a:r>
              <a:rPr lang="ru-RU" dirty="0"/>
              <a:t>.</a:t>
            </a:r>
            <a:endParaRPr dirty="0"/>
          </a:p>
          <a:p>
            <a:pPr indent="354013">
              <a:defRPr sz="3600"/>
            </a:pPr>
            <a:r>
              <a:rPr dirty="0"/>
              <a:t>IP </a:t>
            </a:r>
            <a:r>
              <a:rPr dirty="0" err="1"/>
              <a:t>отвечает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доставку</a:t>
            </a:r>
            <a:r>
              <a:rPr dirty="0"/>
              <a:t> </a:t>
            </a:r>
            <a:r>
              <a:rPr dirty="0" err="1"/>
              <a:t>между</a:t>
            </a:r>
            <a:r>
              <a:rPr dirty="0"/>
              <a:t> </a:t>
            </a:r>
            <a:r>
              <a:rPr dirty="0" err="1"/>
              <a:t>узлами</a:t>
            </a:r>
            <a:r>
              <a:rPr lang="ru-RU" dirty="0"/>
              <a:t>.</a:t>
            </a:r>
            <a:endParaRPr dirty="0"/>
          </a:p>
          <a:p>
            <a:pPr indent="354013">
              <a:defRPr sz="3600"/>
            </a:pPr>
            <a:r>
              <a:rPr dirty="0"/>
              <a:t>TCP </a:t>
            </a:r>
            <a:r>
              <a:rPr dirty="0" err="1"/>
              <a:t>или</a:t>
            </a:r>
            <a:r>
              <a:rPr dirty="0"/>
              <a:t> UDP </a:t>
            </a:r>
            <a:r>
              <a:rPr dirty="0" err="1"/>
              <a:t>отвечают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обмен</a:t>
            </a:r>
            <a:r>
              <a:rPr dirty="0"/>
              <a:t> </a:t>
            </a:r>
            <a:r>
              <a:rPr dirty="0" err="1"/>
              <a:t>между</a:t>
            </a:r>
            <a:r>
              <a:rPr dirty="0"/>
              <a:t> </a:t>
            </a:r>
            <a:r>
              <a:rPr dirty="0" err="1"/>
              <a:t>программами</a:t>
            </a:r>
            <a:r>
              <a:rPr lang="ru-RU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Приложения</a:t>
            </a:r>
            <a:r>
              <a:rPr dirty="0"/>
              <a:t> </a:t>
            </a:r>
            <a:r>
              <a:rPr dirty="0" err="1"/>
              <a:t>используют</a:t>
            </a:r>
            <a:r>
              <a:rPr dirty="0"/>
              <a:t> </a:t>
            </a:r>
            <a:r>
              <a:rPr dirty="0" err="1"/>
              <a:t>транспортный</a:t>
            </a:r>
            <a:r>
              <a:rPr dirty="0"/>
              <a:t> </a:t>
            </a:r>
            <a:r>
              <a:rPr dirty="0" err="1"/>
              <a:t>уровень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сетевые</a:t>
            </a:r>
            <a:r>
              <a:rPr dirty="0"/>
              <a:t> </a:t>
            </a:r>
            <a:r>
              <a:rPr dirty="0" err="1"/>
              <a:t>сокеты</a:t>
            </a:r>
            <a:r>
              <a:rPr lang="ru-RU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Схема</a:t>
            </a:r>
            <a:r>
              <a:rPr dirty="0"/>
              <a:t>: </a:t>
            </a:r>
            <a:r>
              <a:rPr dirty="0" err="1"/>
              <a:t>транспортный</a:t>
            </a:r>
            <a:r>
              <a:rPr dirty="0"/>
              <a:t> </a:t>
            </a:r>
            <a:r>
              <a:rPr dirty="0" err="1"/>
              <a:t>уровень</a:t>
            </a:r>
            <a:r>
              <a:rPr dirty="0"/>
              <a:t> </a:t>
            </a:r>
            <a:r>
              <a:rPr dirty="0" err="1"/>
              <a:t>между</a:t>
            </a:r>
            <a:r>
              <a:rPr dirty="0"/>
              <a:t> IP и </a:t>
            </a:r>
            <a:r>
              <a:rPr dirty="0" err="1"/>
              <a:t>приложениями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041EA55-177D-B931-61B0-2C558CE5BB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Что решает транспортный уровень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Мультиплексирование</a:t>
            </a:r>
            <a:r>
              <a:rPr dirty="0"/>
              <a:t> - </a:t>
            </a:r>
            <a:r>
              <a:rPr dirty="0" err="1"/>
              <a:t>одновременная</a:t>
            </a:r>
            <a:r>
              <a:rPr dirty="0"/>
              <a:t> </a:t>
            </a:r>
            <a:r>
              <a:rPr dirty="0" err="1"/>
              <a:t>работа</a:t>
            </a:r>
            <a:r>
              <a:rPr dirty="0"/>
              <a:t> </a:t>
            </a:r>
            <a:r>
              <a:rPr dirty="0" err="1"/>
              <a:t>многих</a:t>
            </a:r>
            <a:r>
              <a:rPr dirty="0"/>
              <a:t> </a:t>
            </a:r>
            <a:r>
              <a:rPr dirty="0" err="1"/>
              <a:t>сетевых</a:t>
            </a:r>
            <a:r>
              <a:rPr dirty="0"/>
              <a:t> </a:t>
            </a:r>
            <a:r>
              <a:rPr dirty="0" err="1"/>
              <a:t>приложений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одном</a:t>
            </a:r>
            <a:r>
              <a:rPr dirty="0"/>
              <a:t> </a:t>
            </a:r>
            <a:r>
              <a:rPr dirty="0" err="1"/>
              <a:t>узле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Демультиплексирование</a:t>
            </a:r>
            <a:r>
              <a:rPr dirty="0"/>
              <a:t> - </a:t>
            </a:r>
            <a:r>
              <a:rPr dirty="0" err="1"/>
              <a:t>передача</a:t>
            </a:r>
            <a:r>
              <a:rPr dirty="0"/>
              <a:t> </a:t>
            </a:r>
            <a:r>
              <a:rPr dirty="0" err="1"/>
              <a:t>полученных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 </a:t>
            </a:r>
            <a:r>
              <a:rPr dirty="0" err="1"/>
              <a:t>конкретному</a:t>
            </a:r>
            <a:r>
              <a:rPr dirty="0"/>
              <a:t> </a:t>
            </a:r>
            <a:r>
              <a:rPr dirty="0" err="1"/>
              <a:t>приложению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Сегментация</a:t>
            </a:r>
            <a:r>
              <a:rPr dirty="0"/>
              <a:t> - </a:t>
            </a:r>
            <a:r>
              <a:rPr dirty="0" err="1"/>
              <a:t>разбиение</a:t>
            </a:r>
            <a:r>
              <a:rPr dirty="0"/>
              <a:t> </a:t>
            </a:r>
            <a:r>
              <a:rPr dirty="0" err="1"/>
              <a:t>большого</a:t>
            </a:r>
            <a:r>
              <a:rPr dirty="0"/>
              <a:t> </a:t>
            </a:r>
            <a:r>
              <a:rPr dirty="0" err="1"/>
              <a:t>потока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части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Контроль</a:t>
            </a:r>
            <a:r>
              <a:rPr dirty="0"/>
              <a:t> </a:t>
            </a:r>
            <a:r>
              <a:rPr dirty="0" err="1"/>
              <a:t>ошибок</a:t>
            </a:r>
            <a:r>
              <a:rPr dirty="0"/>
              <a:t> - </a:t>
            </a:r>
            <a:r>
              <a:rPr dirty="0" err="1"/>
              <a:t>проверка</a:t>
            </a:r>
            <a:r>
              <a:rPr dirty="0"/>
              <a:t> </a:t>
            </a:r>
            <a:r>
              <a:rPr dirty="0" err="1"/>
              <a:t>повреждения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передаче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Управление</a:t>
            </a:r>
            <a:r>
              <a:rPr dirty="0"/>
              <a:t> </a:t>
            </a:r>
            <a:r>
              <a:rPr dirty="0" err="1"/>
              <a:t>надежностью</a:t>
            </a:r>
            <a:r>
              <a:rPr dirty="0"/>
              <a:t> - </a:t>
            </a:r>
            <a:r>
              <a:rPr dirty="0" err="1"/>
              <a:t>выполняется</a:t>
            </a:r>
            <a:r>
              <a:rPr dirty="0"/>
              <a:t> TCP,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выполняется</a:t>
            </a:r>
            <a:r>
              <a:rPr dirty="0"/>
              <a:t> UDP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Данные на транспортном уровне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TCP </a:t>
            </a:r>
            <a:r>
              <a:rPr dirty="0" err="1"/>
              <a:t>передает</a:t>
            </a:r>
            <a:r>
              <a:rPr dirty="0"/>
              <a:t> </a:t>
            </a:r>
            <a:r>
              <a:rPr dirty="0" err="1"/>
              <a:t>данные</a:t>
            </a:r>
            <a:r>
              <a:rPr dirty="0"/>
              <a:t> в </a:t>
            </a:r>
            <a:r>
              <a:rPr dirty="0" err="1"/>
              <a:t>виде</a:t>
            </a:r>
            <a:r>
              <a:rPr dirty="0"/>
              <a:t> </a:t>
            </a:r>
            <a:r>
              <a:rPr dirty="0" err="1"/>
              <a:t>сегментов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Сегмент</a:t>
            </a:r>
            <a:r>
              <a:rPr dirty="0"/>
              <a:t> - </a:t>
            </a:r>
            <a:r>
              <a:rPr dirty="0" err="1"/>
              <a:t>часть</a:t>
            </a:r>
            <a:r>
              <a:rPr dirty="0"/>
              <a:t> TCP-</a:t>
            </a:r>
            <a:r>
              <a:rPr dirty="0" err="1"/>
              <a:t>потока</a:t>
            </a:r>
            <a:r>
              <a:rPr dirty="0"/>
              <a:t> с </a:t>
            </a:r>
            <a:r>
              <a:rPr dirty="0" err="1"/>
              <a:t>заголовком</a:t>
            </a:r>
            <a:r>
              <a:rPr dirty="0"/>
              <a:t> TCP и </a:t>
            </a:r>
            <a:r>
              <a:rPr dirty="0" err="1"/>
              <a:t>полезной</a:t>
            </a:r>
            <a:r>
              <a:rPr dirty="0"/>
              <a:t> </a:t>
            </a:r>
            <a:r>
              <a:rPr dirty="0" err="1"/>
              <a:t>нагрузкой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UDP </a:t>
            </a:r>
            <a:r>
              <a:rPr dirty="0" err="1"/>
              <a:t>передает</a:t>
            </a:r>
            <a:r>
              <a:rPr dirty="0"/>
              <a:t> </a:t>
            </a:r>
            <a:r>
              <a:rPr dirty="0" err="1"/>
              <a:t>данные</a:t>
            </a:r>
            <a:r>
              <a:rPr dirty="0"/>
              <a:t> в </a:t>
            </a:r>
            <a:r>
              <a:rPr dirty="0" err="1"/>
              <a:t>виде</a:t>
            </a:r>
            <a:r>
              <a:rPr dirty="0"/>
              <a:t> </a:t>
            </a:r>
            <a:r>
              <a:rPr dirty="0" err="1"/>
              <a:t>датаграмм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Датаграмма</a:t>
            </a:r>
            <a:r>
              <a:rPr dirty="0"/>
              <a:t> - </a:t>
            </a:r>
            <a:r>
              <a:rPr dirty="0" err="1"/>
              <a:t>самостоятельный</a:t>
            </a:r>
            <a:r>
              <a:rPr dirty="0"/>
              <a:t> </a:t>
            </a:r>
            <a:r>
              <a:rPr dirty="0" err="1"/>
              <a:t>блок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 UDP с </a:t>
            </a:r>
            <a:r>
              <a:rPr dirty="0" err="1"/>
              <a:t>заголовком</a:t>
            </a:r>
            <a:r>
              <a:rPr dirty="0"/>
              <a:t> и </a:t>
            </a:r>
            <a:r>
              <a:rPr dirty="0" err="1"/>
              <a:t>полезной</a:t>
            </a:r>
            <a:r>
              <a:rPr dirty="0"/>
              <a:t> </a:t>
            </a:r>
            <a:r>
              <a:rPr dirty="0" err="1"/>
              <a:t>нагрузкой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Полезная</a:t>
            </a:r>
            <a:r>
              <a:rPr dirty="0"/>
              <a:t> </a:t>
            </a:r>
            <a:r>
              <a:rPr dirty="0" err="1"/>
              <a:t>нагрузка</a:t>
            </a:r>
            <a:r>
              <a:rPr dirty="0"/>
              <a:t> - </a:t>
            </a:r>
            <a:r>
              <a:rPr dirty="0" err="1"/>
              <a:t>данные</a:t>
            </a:r>
            <a:r>
              <a:rPr dirty="0"/>
              <a:t> </a:t>
            </a:r>
            <a:r>
              <a:rPr dirty="0" err="1"/>
              <a:t>приложения</a:t>
            </a:r>
            <a:r>
              <a:rPr dirty="0"/>
              <a:t>, </a:t>
            </a:r>
            <a:r>
              <a:rPr dirty="0" err="1"/>
              <a:t>например</a:t>
            </a:r>
            <a:r>
              <a:rPr dirty="0"/>
              <a:t> HTTP-</a:t>
            </a:r>
            <a:r>
              <a:rPr dirty="0" err="1"/>
              <a:t>запрос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DNS-</a:t>
            </a:r>
            <a:r>
              <a:rPr dirty="0" err="1"/>
              <a:t>запрос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Почему это важно администратору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Сервис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установлен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слушать</a:t>
            </a:r>
            <a:r>
              <a:rPr dirty="0"/>
              <a:t> </a:t>
            </a:r>
            <a:r>
              <a:rPr dirty="0" err="1"/>
              <a:t>нужный</a:t>
            </a:r>
            <a:r>
              <a:rPr dirty="0"/>
              <a:t> </a:t>
            </a:r>
            <a:r>
              <a:rPr dirty="0" err="1"/>
              <a:t>порт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IP-</a:t>
            </a:r>
            <a:r>
              <a:rPr dirty="0" err="1"/>
              <a:t>связность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работать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приложение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недоступно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Межсетевой</a:t>
            </a:r>
            <a:r>
              <a:rPr dirty="0"/>
              <a:t> </a:t>
            </a:r>
            <a:r>
              <a:rPr dirty="0" err="1"/>
              <a:t>экран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пропускать</a:t>
            </a:r>
            <a:r>
              <a:rPr dirty="0"/>
              <a:t> ICMP,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блокировать</a:t>
            </a:r>
            <a:r>
              <a:rPr dirty="0"/>
              <a:t> TCP </a:t>
            </a:r>
            <a:r>
              <a:rPr dirty="0" err="1"/>
              <a:t>или</a:t>
            </a:r>
            <a:r>
              <a:rPr dirty="0"/>
              <a:t> UDP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Ошибка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в </a:t>
            </a:r>
            <a:r>
              <a:rPr dirty="0" err="1"/>
              <a:t>адресации</a:t>
            </a:r>
            <a:r>
              <a:rPr dirty="0"/>
              <a:t>, а в </a:t>
            </a:r>
            <a:r>
              <a:rPr dirty="0" err="1"/>
              <a:t>службе</a:t>
            </a:r>
            <a:r>
              <a:rPr dirty="0"/>
              <a:t>, </a:t>
            </a:r>
            <a:r>
              <a:rPr dirty="0" err="1"/>
              <a:t>порте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правилах</a:t>
            </a:r>
            <a:r>
              <a:rPr dirty="0"/>
              <a:t> </a:t>
            </a:r>
            <a:r>
              <a:rPr dirty="0" err="1"/>
              <a:t>доступа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Диагностика</a:t>
            </a:r>
            <a:r>
              <a:rPr dirty="0"/>
              <a:t> </a:t>
            </a:r>
            <a:r>
              <a:rPr dirty="0" err="1"/>
              <a:t>начинается</a:t>
            </a:r>
            <a:r>
              <a:rPr dirty="0"/>
              <a:t> с </a:t>
            </a:r>
            <a:r>
              <a:rPr dirty="0" err="1"/>
              <a:t>понимания</a:t>
            </a:r>
            <a:r>
              <a:rPr dirty="0"/>
              <a:t>,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каком</a:t>
            </a:r>
            <a:r>
              <a:rPr dirty="0"/>
              <a:t> </a:t>
            </a:r>
            <a:r>
              <a:rPr dirty="0" err="1"/>
              <a:t>уровне</a:t>
            </a:r>
            <a:r>
              <a:rPr dirty="0"/>
              <a:t> </a:t>
            </a:r>
            <a:r>
              <a:rPr dirty="0" err="1"/>
              <a:t>возник</a:t>
            </a:r>
            <a:r>
              <a:rPr dirty="0"/>
              <a:t> </a:t>
            </a:r>
            <a:r>
              <a:rPr dirty="0" err="1"/>
              <a:t>сбой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43635" y="182880"/>
            <a:ext cx="9674250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/>
              <a:t>2. TCP: Transmission Control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b="1" dirty="0"/>
              <a:t>TCP</a:t>
            </a:r>
            <a:r>
              <a:rPr dirty="0"/>
              <a:t> - Transmission Control Protocol, </a:t>
            </a:r>
            <a:r>
              <a:rPr dirty="0" err="1"/>
              <a:t>протокол</a:t>
            </a:r>
            <a:r>
              <a:rPr dirty="0"/>
              <a:t> </a:t>
            </a:r>
            <a:r>
              <a:rPr dirty="0" err="1"/>
              <a:t>управления</a:t>
            </a:r>
            <a:r>
              <a:rPr dirty="0"/>
              <a:t> </a:t>
            </a:r>
            <a:r>
              <a:rPr dirty="0" err="1"/>
              <a:t>передачей</a:t>
            </a:r>
            <a:r>
              <a:rPr lang="ru-RU" dirty="0"/>
              <a:t>.</a:t>
            </a:r>
            <a:endParaRPr dirty="0"/>
          </a:p>
          <a:p>
            <a:pPr indent="354013">
              <a:defRPr sz="3600"/>
            </a:pPr>
            <a:r>
              <a:rPr dirty="0"/>
              <a:t>TCP </a:t>
            </a:r>
            <a:r>
              <a:rPr dirty="0" err="1"/>
              <a:t>обеспечивает</a:t>
            </a:r>
            <a:r>
              <a:rPr dirty="0"/>
              <a:t> </a:t>
            </a:r>
            <a:r>
              <a:rPr dirty="0" err="1"/>
              <a:t>надежную</a:t>
            </a:r>
            <a:r>
              <a:rPr dirty="0"/>
              <a:t> </a:t>
            </a:r>
            <a:r>
              <a:rPr dirty="0" err="1"/>
              <a:t>передачу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 </a:t>
            </a:r>
            <a:r>
              <a:rPr dirty="0" err="1"/>
              <a:t>между</a:t>
            </a:r>
            <a:r>
              <a:rPr dirty="0"/>
              <a:t> </a:t>
            </a:r>
            <a:r>
              <a:rPr dirty="0" err="1"/>
              <a:t>приложениями</a:t>
            </a:r>
            <a:r>
              <a:rPr lang="ru-RU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Протокол</a:t>
            </a:r>
            <a:r>
              <a:rPr dirty="0"/>
              <a:t> с </a:t>
            </a:r>
            <a:r>
              <a:rPr dirty="0" err="1"/>
              <a:t>установлением</a:t>
            </a:r>
            <a:r>
              <a:rPr dirty="0"/>
              <a:t> </a:t>
            </a:r>
            <a:r>
              <a:rPr dirty="0" err="1"/>
              <a:t>соединения</a:t>
            </a:r>
            <a:r>
              <a:rPr dirty="0"/>
              <a:t> </a:t>
            </a:r>
            <a:r>
              <a:rPr dirty="0" err="1"/>
              <a:t>сначала</a:t>
            </a:r>
            <a:r>
              <a:rPr dirty="0"/>
              <a:t> </a:t>
            </a:r>
            <a:r>
              <a:rPr dirty="0" err="1"/>
              <a:t>создает</a:t>
            </a:r>
            <a:r>
              <a:rPr dirty="0"/>
              <a:t> </a:t>
            </a:r>
            <a:r>
              <a:rPr dirty="0" err="1"/>
              <a:t>логическую</a:t>
            </a:r>
            <a:r>
              <a:rPr dirty="0"/>
              <a:t> </a:t>
            </a:r>
            <a:r>
              <a:rPr dirty="0" err="1"/>
              <a:t>связь</a:t>
            </a:r>
            <a:r>
              <a:rPr lang="ru-RU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Данные</a:t>
            </a:r>
            <a:r>
              <a:rPr dirty="0"/>
              <a:t> TCP </a:t>
            </a:r>
            <a:r>
              <a:rPr dirty="0" err="1"/>
              <a:t>передаются</a:t>
            </a:r>
            <a:r>
              <a:rPr dirty="0"/>
              <a:t> в </a:t>
            </a:r>
            <a:r>
              <a:rPr dirty="0" err="1"/>
              <a:t>правильном</a:t>
            </a:r>
            <a:r>
              <a:rPr dirty="0"/>
              <a:t> </a:t>
            </a:r>
            <a:r>
              <a:rPr dirty="0" err="1"/>
              <a:t>порядке</a:t>
            </a:r>
            <a:r>
              <a:rPr lang="ru-RU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Потерянные</a:t>
            </a:r>
            <a:r>
              <a:rPr dirty="0"/>
              <a:t> </a:t>
            </a:r>
            <a:r>
              <a:rPr dirty="0" err="1"/>
              <a:t>сегменты</a:t>
            </a:r>
            <a:r>
              <a:rPr dirty="0"/>
              <a:t> TCP </a:t>
            </a:r>
            <a:r>
              <a:rPr dirty="0" err="1"/>
              <a:t>могут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переданы</a:t>
            </a:r>
            <a:r>
              <a:rPr dirty="0"/>
              <a:t> </a:t>
            </a:r>
            <a:r>
              <a:rPr dirty="0" err="1"/>
              <a:t>повторно</a:t>
            </a:r>
            <a:r>
              <a:rPr lang="ru-RU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Когда используют TCP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HTTP и HTTPS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веб-сайтов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SSH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удаленного</a:t>
            </a:r>
            <a:r>
              <a:rPr dirty="0"/>
              <a:t> </a:t>
            </a:r>
            <a:r>
              <a:rPr dirty="0" err="1"/>
              <a:t>администрирования</a:t>
            </a:r>
            <a:r>
              <a:rPr dirty="0"/>
              <a:t> Linux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RDP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удаленного</a:t>
            </a:r>
            <a:r>
              <a:rPr dirty="0"/>
              <a:t> </a:t>
            </a:r>
            <a:r>
              <a:rPr dirty="0" err="1"/>
              <a:t>рабочего</a:t>
            </a:r>
            <a:r>
              <a:rPr dirty="0"/>
              <a:t> </a:t>
            </a:r>
            <a:r>
              <a:rPr dirty="0" err="1"/>
              <a:t>стола</a:t>
            </a:r>
            <a:r>
              <a:rPr dirty="0"/>
              <a:t> Windows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SMTP, IMAP и POP3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почтовых</a:t>
            </a:r>
            <a:r>
              <a:rPr dirty="0"/>
              <a:t> </a:t>
            </a:r>
            <a:r>
              <a:rPr dirty="0" err="1"/>
              <a:t>служб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SMB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доступа</a:t>
            </a:r>
            <a:r>
              <a:rPr dirty="0"/>
              <a:t> к </a:t>
            </a:r>
            <a:r>
              <a:rPr dirty="0" err="1"/>
              <a:t>общим</a:t>
            </a:r>
            <a:r>
              <a:rPr dirty="0"/>
              <a:t> </a:t>
            </a:r>
            <a:r>
              <a:rPr dirty="0" err="1"/>
              <a:t>папкам</a:t>
            </a:r>
            <a:r>
              <a:rPr dirty="0"/>
              <a:t> Windows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Основные свойства TCP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Надежность</a:t>
            </a:r>
            <a:r>
              <a:rPr dirty="0"/>
              <a:t> - </a:t>
            </a:r>
            <a:r>
              <a:rPr dirty="0" err="1"/>
              <a:t>получатель</a:t>
            </a:r>
            <a:r>
              <a:rPr dirty="0"/>
              <a:t> </a:t>
            </a:r>
            <a:r>
              <a:rPr dirty="0" err="1"/>
              <a:t>подтверждает</a:t>
            </a:r>
            <a:r>
              <a:rPr dirty="0"/>
              <a:t> </a:t>
            </a:r>
            <a:r>
              <a:rPr dirty="0" err="1"/>
              <a:t>прием</a:t>
            </a:r>
            <a:r>
              <a:rPr dirty="0"/>
              <a:t> </a:t>
            </a:r>
            <a:r>
              <a:rPr dirty="0" err="1"/>
              <a:t>данных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Упорядоченность</a:t>
            </a:r>
            <a:r>
              <a:rPr dirty="0"/>
              <a:t> - </a:t>
            </a:r>
            <a:r>
              <a:rPr dirty="0" err="1"/>
              <a:t>приложение</a:t>
            </a:r>
            <a:r>
              <a:rPr dirty="0"/>
              <a:t> </a:t>
            </a:r>
            <a:r>
              <a:rPr dirty="0" err="1"/>
              <a:t>получает</a:t>
            </a:r>
            <a:r>
              <a:rPr dirty="0"/>
              <a:t> </a:t>
            </a:r>
            <a:r>
              <a:rPr dirty="0" err="1"/>
              <a:t>данные</a:t>
            </a:r>
            <a:r>
              <a:rPr dirty="0"/>
              <a:t> в </a:t>
            </a:r>
            <a:r>
              <a:rPr dirty="0" err="1"/>
              <a:t>правильной</a:t>
            </a:r>
            <a:r>
              <a:rPr dirty="0"/>
              <a:t> </a:t>
            </a:r>
            <a:r>
              <a:rPr dirty="0" err="1"/>
              <a:t>последовательности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Контроль</a:t>
            </a:r>
            <a:r>
              <a:rPr dirty="0"/>
              <a:t> </a:t>
            </a:r>
            <a:r>
              <a:rPr dirty="0" err="1"/>
              <a:t>потока</a:t>
            </a:r>
            <a:r>
              <a:rPr dirty="0"/>
              <a:t> - </a:t>
            </a:r>
            <a:r>
              <a:rPr dirty="0" err="1"/>
              <a:t>отправитель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должен</a:t>
            </a:r>
            <a:r>
              <a:rPr dirty="0"/>
              <a:t> </a:t>
            </a:r>
            <a:r>
              <a:rPr dirty="0" err="1"/>
              <a:t>перегружать</a:t>
            </a:r>
            <a:r>
              <a:rPr dirty="0"/>
              <a:t> </a:t>
            </a:r>
            <a:r>
              <a:rPr dirty="0" err="1"/>
              <a:t>получателя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Контроль</a:t>
            </a:r>
            <a:r>
              <a:rPr dirty="0"/>
              <a:t> </a:t>
            </a:r>
            <a:r>
              <a:rPr dirty="0" err="1"/>
              <a:t>перегрузки</a:t>
            </a:r>
            <a:r>
              <a:rPr dirty="0"/>
              <a:t> - </a:t>
            </a:r>
            <a:r>
              <a:rPr dirty="0" err="1"/>
              <a:t>отправитель</a:t>
            </a:r>
            <a:r>
              <a:rPr dirty="0"/>
              <a:t> </a:t>
            </a:r>
            <a:r>
              <a:rPr dirty="0" err="1"/>
              <a:t>учитывает</a:t>
            </a:r>
            <a:r>
              <a:rPr dirty="0"/>
              <a:t> </a:t>
            </a:r>
            <a:r>
              <a:rPr dirty="0" err="1"/>
              <a:t>состояние</a:t>
            </a:r>
            <a:r>
              <a:rPr dirty="0"/>
              <a:t> </a:t>
            </a:r>
            <a:r>
              <a:rPr dirty="0" err="1"/>
              <a:t>сети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Соединение</a:t>
            </a:r>
            <a:r>
              <a:rPr dirty="0"/>
              <a:t> - </a:t>
            </a:r>
            <a:r>
              <a:rPr dirty="0" err="1"/>
              <a:t>обмен</a:t>
            </a:r>
            <a:r>
              <a:rPr dirty="0"/>
              <a:t> </a:t>
            </a:r>
            <a:r>
              <a:rPr dirty="0" err="1"/>
              <a:t>идет</a:t>
            </a:r>
            <a:r>
              <a:rPr dirty="0"/>
              <a:t> в </a:t>
            </a:r>
            <a:r>
              <a:rPr dirty="0" err="1"/>
              <a:t>рамках</a:t>
            </a:r>
            <a:r>
              <a:rPr dirty="0"/>
              <a:t> </a:t>
            </a:r>
            <a:r>
              <a:rPr dirty="0" err="1"/>
              <a:t>установленной</a:t>
            </a:r>
            <a:r>
              <a:rPr dirty="0"/>
              <a:t> TCP-</a:t>
            </a:r>
            <a:r>
              <a:rPr dirty="0" err="1"/>
              <a:t>сессии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TCP как поток байтов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indent="354013">
              <a:defRPr sz="3600"/>
            </a:pPr>
            <a:r>
              <a:rPr dirty="0"/>
              <a:t>TCP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передает</a:t>
            </a:r>
            <a:r>
              <a:rPr dirty="0"/>
              <a:t> </a:t>
            </a:r>
            <a:r>
              <a:rPr dirty="0" err="1"/>
              <a:t>отдельные</a:t>
            </a:r>
            <a:r>
              <a:rPr dirty="0"/>
              <a:t> </a:t>
            </a:r>
            <a:r>
              <a:rPr dirty="0" err="1"/>
              <a:t>сообщения</a:t>
            </a:r>
            <a:r>
              <a:rPr dirty="0"/>
              <a:t> </a:t>
            </a:r>
            <a:r>
              <a:rPr dirty="0" err="1"/>
              <a:t>приложения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независимые</a:t>
            </a:r>
            <a:r>
              <a:rPr dirty="0"/>
              <a:t> </a:t>
            </a:r>
            <a:r>
              <a:rPr dirty="0" err="1"/>
              <a:t>письма</a:t>
            </a:r>
            <a:r>
              <a:rPr lang="ru-RU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приложения</a:t>
            </a:r>
            <a:r>
              <a:rPr dirty="0"/>
              <a:t> TCP </a:t>
            </a:r>
            <a:r>
              <a:rPr dirty="0" err="1"/>
              <a:t>выглядит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непрерывный</a:t>
            </a:r>
            <a:r>
              <a:rPr dirty="0"/>
              <a:t> </a:t>
            </a:r>
            <a:r>
              <a:rPr dirty="0" err="1"/>
              <a:t>поток</a:t>
            </a:r>
            <a:r>
              <a:rPr dirty="0"/>
              <a:t> </a:t>
            </a:r>
            <a:r>
              <a:rPr dirty="0" err="1"/>
              <a:t>байтов</a:t>
            </a:r>
            <a:r>
              <a:rPr lang="ru-RU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Протокол</a:t>
            </a:r>
            <a:r>
              <a:rPr dirty="0"/>
              <a:t> </a:t>
            </a:r>
            <a:r>
              <a:rPr dirty="0" err="1"/>
              <a:t>приложения</a:t>
            </a:r>
            <a:r>
              <a:rPr dirty="0"/>
              <a:t> </a:t>
            </a:r>
            <a:r>
              <a:rPr dirty="0" err="1"/>
              <a:t>сам</a:t>
            </a:r>
            <a:r>
              <a:rPr dirty="0"/>
              <a:t> </a:t>
            </a:r>
            <a:r>
              <a:rPr dirty="0" err="1"/>
              <a:t>определяет</a:t>
            </a:r>
            <a:r>
              <a:rPr dirty="0"/>
              <a:t> </a:t>
            </a:r>
            <a:r>
              <a:rPr dirty="0" err="1"/>
              <a:t>границы</a:t>
            </a:r>
            <a:r>
              <a:rPr dirty="0"/>
              <a:t> </a:t>
            </a:r>
            <a:r>
              <a:rPr dirty="0" err="1"/>
              <a:t>команд</a:t>
            </a:r>
            <a:r>
              <a:rPr dirty="0"/>
              <a:t> и </a:t>
            </a:r>
            <a:r>
              <a:rPr dirty="0" err="1"/>
              <a:t>сообщений</a:t>
            </a:r>
            <a:r>
              <a:rPr lang="ru-RU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Например</a:t>
            </a:r>
            <a:r>
              <a:rPr dirty="0"/>
              <a:t>, HTTP </a:t>
            </a:r>
            <a:r>
              <a:rPr dirty="0" err="1"/>
              <a:t>отделяет</a:t>
            </a:r>
            <a:r>
              <a:rPr dirty="0"/>
              <a:t> </a:t>
            </a:r>
            <a:r>
              <a:rPr dirty="0" err="1"/>
              <a:t>строки</a:t>
            </a:r>
            <a:r>
              <a:rPr dirty="0"/>
              <a:t> </a:t>
            </a:r>
            <a:r>
              <a:rPr dirty="0" err="1"/>
              <a:t>запроса</a:t>
            </a:r>
            <a:r>
              <a:rPr dirty="0"/>
              <a:t> и </a:t>
            </a:r>
            <a:r>
              <a:rPr dirty="0" err="1"/>
              <a:t>заголовки</a:t>
            </a:r>
            <a:r>
              <a:rPr dirty="0"/>
              <a:t> </a:t>
            </a:r>
            <a:r>
              <a:rPr dirty="0" err="1"/>
              <a:t>своими</a:t>
            </a:r>
            <a:r>
              <a:rPr dirty="0"/>
              <a:t> </a:t>
            </a:r>
            <a:r>
              <a:rPr dirty="0" err="1"/>
              <a:t>правилами</a:t>
            </a:r>
            <a:r>
              <a:rPr lang="ru-RU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Поэтому</a:t>
            </a:r>
            <a:r>
              <a:rPr dirty="0"/>
              <a:t> TCP </a:t>
            </a:r>
            <a:r>
              <a:rPr dirty="0" err="1"/>
              <a:t>подходит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, </a:t>
            </a:r>
            <a:r>
              <a:rPr dirty="0" err="1"/>
              <a:t>где</a:t>
            </a:r>
            <a:r>
              <a:rPr dirty="0"/>
              <a:t> </a:t>
            </a:r>
            <a:r>
              <a:rPr dirty="0" err="1"/>
              <a:t>важны</a:t>
            </a:r>
            <a:r>
              <a:rPr dirty="0"/>
              <a:t> </a:t>
            </a:r>
            <a:r>
              <a:rPr dirty="0" err="1"/>
              <a:t>полнота</a:t>
            </a:r>
            <a:r>
              <a:rPr dirty="0"/>
              <a:t> и </a:t>
            </a:r>
            <a:r>
              <a:rPr dirty="0" err="1"/>
              <a:t>порядок</a:t>
            </a:r>
            <a:r>
              <a:rPr lang="ru-RU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Заголовок TCP: что в нем важно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Source port - </a:t>
            </a:r>
            <a:r>
              <a:rPr dirty="0" err="1"/>
              <a:t>порт</a:t>
            </a:r>
            <a:r>
              <a:rPr dirty="0"/>
              <a:t> </a:t>
            </a:r>
            <a:r>
              <a:rPr dirty="0" err="1"/>
              <a:t>отправителя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Destination port - </a:t>
            </a:r>
            <a:r>
              <a:rPr dirty="0" err="1"/>
              <a:t>порт</a:t>
            </a:r>
            <a:r>
              <a:rPr dirty="0"/>
              <a:t> </a:t>
            </a:r>
            <a:r>
              <a:rPr dirty="0" err="1"/>
              <a:t>получателя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Sequence number - </a:t>
            </a:r>
            <a:r>
              <a:rPr dirty="0" err="1"/>
              <a:t>номер</a:t>
            </a:r>
            <a:r>
              <a:rPr dirty="0"/>
              <a:t> </a:t>
            </a:r>
            <a:r>
              <a:rPr dirty="0" err="1"/>
              <a:t>байта</a:t>
            </a:r>
            <a:r>
              <a:rPr dirty="0"/>
              <a:t> в </a:t>
            </a:r>
            <a:r>
              <a:rPr dirty="0" err="1"/>
              <a:t>потоке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Acknowledgment number - </a:t>
            </a:r>
            <a:r>
              <a:rPr dirty="0" err="1"/>
              <a:t>подтверждение</a:t>
            </a:r>
            <a:r>
              <a:rPr dirty="0"/>
              <a:t> </a:t>
            </a:r>
            <a:r>
              <a:rPr dirty="0" err="1"/>
              <a:t>полученных</a:t>
            </a:r>
            <a:r>
              <a:rPr dirty="0"/>
              <a:t> </a:t>
            </a:r>
            <a:r>
              <a:rPr dirty="0" err="1"/>
              <a:t>данных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Flags - </a:t>
            </a:r>
            <a:r>
              <a:rPr dirty="0" err="1"/>
              <a:t>служебные</a:t>
            </a:r>
            <a:r>
              <a:rPr dirty="0"/>
              <a:t> </a:t>
            </a:r>
            <a:r>
              <a:rPr dirty="0" err="1"/>
              <a:t>флаги</a:t>
            </a:r>
            <a:r>
              <a:rPr dirty="0"/>
              <a:t> SYN, ACK, FIN, RST и </a:t>
            </a:r>
            <a:r>
              <a:rPr dirty="0" err="1"/>
              <a:t>другие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Window size - </a:t>
            </a:r>
            <a:r>
              <a:rPr dirty="0" err="1"/>
              <a:t>размер</a:t>
            </a:r>
            <a:r>
              <a:rPr dirty="0"/>
              <a:t> </a:t>
            </a:r>
            <a:r>
              <a:rPr dirty="0" err="1"/>
              <a:t>окна</a:t>
            </a:r>
            <a:r>
              <a:rPr dirty="0"/>
              <a:t> </a:t>
            </a:r>
            <a:r>
              <a:rPr dirty="0" err="1"/>
              <a:t>приема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61B5C-42E1-3907-789B-1D865B526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ACFB52-3269-AE3C-A22F-5728BB2D545F}"/>
              </a:ext>
            </a:extLst>
          </p:cNvPr>
          <p:cNvSpPr txBox="1"/>
          <p:nvPr/>
        </p:nvSpPr>
        <p:spPr>
          <a:xfrm>
            <a:off x="4715835" y="182880"/>
            <a:ext cx="272985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Заголовок</a:t>
            </a:r>
            <a:r>
              <a:rPr dirty="0"/>
              <a:t> TCP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BDF7661-AF26-481C-A9C3-DDC379819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2816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Недостатки TCP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Перед</a:t>
            </a:r>
            <a:r>
              <a:rPr dirty="0"/>
              <a:t> </a:t>
            </a:r>
            <a:r>
              <a:rPr dirty="0" err="1"/>
              <a:t>началом</a:t>
            </a:r>
            <a:r>
              <a:rPr dirty="0"/>
              <a:t> </a:t>
            </a:r>
            <a:r>
              <a:rPr dirty="0" err="1"/>
              <a:t>обмена</a:t>
            </a:r>
            <a:r>
              <a:rPr dirty="0"/>
              <a:t> </a:t>
            </a:r>
            <a:r>
              <a:rPr dirty="0" err="1"/>
              <a:t>требуется</a:t>
            </a:r>
            <a:r>
              <a:rPr dirty="0"/>
              <a:t> </a:t>
            </a:r>
            <a:r>
              <a:rPr dirty="0" err="1"/>
              <a:t>установить</a:t>
            </a:r>
            <a:r>
              <a:rPr dirty="0"/>
              <a:t> </a:t>
            </a:r>
            <a:r>
              <a:rPr dirty="0" err="1"/>
              <a:t>соединение</a:t>
            </a:r>
            <a:r>
              <a:rPr lang="ru-RU" dirty="0"/>
              <a:t>.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Повторная</a:t>
            </a:r>
            <a:r>
              <a:rPr dirty="0"/>
              <a:t> </a:t>
            </a:r>
            <a:r>
              <a:rPr dirty="0" err="1"/>
              <a:t>передача</a:t>
            </a:r>
            <a:r>
              <a:rPr dirty="0"/>
              <a:t> </a:t>
            </a:r>
            <a:r>
              <a:rPr dirty="0" err="1"/>
              <a:t>увеличивает</a:t>
            </a:r>
            <a:r>
              <a:rPr dirty="0"/>
              <a:t> </a:t>
            </a:r>
            <a:r>
              <a:rPr dirty="0" err="1"/>
              <a:t>задержку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потерях</a:t>
            </a:r>
            <a:r>
              <a:rPr lang="ru-RU" dirty="0"/>
              <a:t>.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коротких</a:t>
            </a:r>
            <a:r>
              <a:rPr dirty="0"/>
              <a:t> </a:t>
            </a:r>
            <a:r>
              <a:rPr dirty="0" err="1"/>
              <a:t>запросов</a:t>
            </a:r>
            <a:r>
              <a:rPr dirty="0"/>
              <a:t> </a:t>
            </a:r>
            <a:r>
              <a:rPr dirty="0" err="1"/>
              <a:t>накладные</a:t>
            </a:r>
            <a:r>
              <a:rPr dirty="0"/>
              <a:t> </a:t>
            </a:r>
            <a:r>
              <a:rPr dirty="0" err="1"/>
              <a:t>расходы</a:t>
            </a:r>
            <a:r>
              <a:rPr dirty="0"/>
              <a:t> </a:t>
            </a:r>
            <a:r>
              <a:rPr dirty="0" err="1"/>
              <a:t>могут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заметны</a:t>
            </a:r>
            <a:r>
              <a:rPr lang="ru-RU" dirty="0"/>
              <a:t>.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TCP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подходит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всех</a:t>
            </a:r>
            <a:r>
              <a:rPr dirty="0"/>
              <a:t> </a:t>
            </a:r>
            <a:r>
              <a:rPr dirty="0" err="1"/>
              <a:t>задач</a:t>
            </a:r>
            <a:r>
              <a:rPr dirty="0"/>
              <a:t> </a:t>
            </a:r>
            <a:r>
              <a:rPr dirty="0" err="1"/>
              <a:t>реального</a:t>
            </a:r>
            <a:r>
              <a:rPr dirty="0"/>
              <a:t> </a:t>
            </a:r>
            <a:r>
              <a:rPr dirty="0" err="1"/>
              <a:t>времени</a:t>
            </a:r>
            <a:r>
              <a:rPr lang="ru-RU" dirty="0"/>
              <a:t>.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Иногда</a:t>
            </a:r>
            <a:r>
              <a:rPr dirty="0"/>
              <a:t> </a:t>
            </a:r>
            <a:r>
              <a:rPr dirty="0" err="1"/>
              <a:t>приложению</a:t>
            </a:r>
            <a:r>
              <a:rPr dirty="0"/>
              <a:t> </a:t>
            </a:r>
            <a:r>
              <a:rPr dirty="0" err="1"/>
              <a:t>выгоднее</a:t>
            </a:r>
            <a:r>
              <a:rPr dirty="0"/>
              <a:t> </a:t>
            </a:r>
            <a:r>
              <a:rPr dirty="0" err="1"/>
              <a:t>самому</a:t>
            </a:r>
            <a:r>
              <a:rPr dirty="0"/>
              <a:t> </a:t>
            </a:r>
            <a:r>
              <a:rPr dirty="0" err="1"/>
              <a:t>контролировать</a:t>
            </a:r>
            <a:r>
              <a:rPr dirty="0"/>
              <a:t> </a:t>
            </a:r>
            <a:r>
              <a:rPr dirty="0" err="1"/>
              <a:t>потери</a:t>
            </a:r>
            <a:r>
              <a:rPr dirty="0"/>
              <a:t> и </a:t>
            </a:r>
            <a:r>
              <a:rPr dirty="0" err="1"/>
              <a:t>задержки</a:t>
            </a:r>
            <a:r>
              <a:rPr lang="ru-RU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16863" y="182880"/>
            <a:ext cx="8327793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/>
              <a:t>3. UDP: User Datagram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50374"/>
            <a:ext cx="10972800" cy="49761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UDP - User Datagram Protocol, </a:t>
            </a:r>
            <a:r>
              <a:rPr dirty="0" err="1"/>
              <a:t>протокол</a:t>
            </a:r>
            <a:r>
              <a:rPr dirty="0"/>
              <a:t> </a:t>
            </a:r>
            <a:r>
              <a:rPr dirty="0" err="1"/>
              <a:t>пользовательских</a:t>
            </a:r>
            <a:r>
              <a:rPr dirty="0"/>
              <a:t> </a:t>
            </a:r>
            <a:r>
              <a:rPr dirty="0" err="1"/>
              <a:t>датаграмм</a:t>
            </a:r>
            <a:r>
              <a:rPr lang="ru-RU" dirty="0"/>
              <a:t>.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UDP </a:t>
            </a:r>
            <a:r>
              <a:rPr dirty="0" err="1"/>
              <a:t>передает</a:t>
            </a:r>
            <a:r>
              <a:rPr dirty="0"/>
              <a:t> </a:t>
            </a:r>
            <a:r>
              <a:rPr dirty="0" err="1"/>
              <a:t>отдельные</a:t>
            </a:r>
            <a:r>
              <a:rPr dirty="0"/>
              <a:t> </a:t>
            </a:r>
            <a:r>
              <a:rPr dirty="0" err="1"/>
              <a:t>датаграммы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установки</a:t>
            </a:r>
            <a:r>
              <a:rPr dirty="0"/>
              <a:t> </a:t>
            </a:r>
            <a:r>
              <a:rPr dirty="0" err="1"/>
              <a:t>соединения</a:t>
            </a:r>
            <a:r>
              <a:rPr lang="ru-RU" dirty="0"/>
              <a:t>.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Протокол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гарантирует</a:t>
            </a:r>
            <a:r>
              <a:rPr dirty="0"/>
              <a:t> </a:t>
            </a:r>
            <a:r>
              <a:rPr dirty="0" err="1"/>
              <a:t>доставку</a:t>
            </a:r>
            <a:r>
              <a:rPr lang="ru-RU" dirty="0"/>
              <a:t>.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Протокол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гарантирует</a:t>
            </a:r>
            <a:r>
              <a:rPr dirty="0"/>
              <a:t> </a:t>
            </a:r>
            <a:r>
              <a:rPr dirty="0" err="1"/>
              <a:t>порядок</a:t>
            </a:r>
            <a:r>
              <a:rPr dirty="0"/>
              <a:t> </a:t>
            </a:r>
            <a:r>
              <a:rPr dirty="0" err="1"/>
              <a:t>получения</a:t>
            </a:r>
            <a:r>
              <a:rPr lang="ru-RU" dirty="0"/>
              <a:t>.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Протокол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выполняет</a:t>
            </a:r>
            <a:r>
              <a:rPr dirty="0"/>
              <a:t> </a:t>
            </a:r>
            <a:r>
              <a:rPr dirty="0" err="1"/>
              <a:t>повторную</a:t>
            </a:r>
            <a:r>
              <a:rPr dirty="0"/>
              <a:t> </a:t>
            </a:r>
            <a:r>
              <a:rPr dirty="0" err="1"/>
              <a:t>передачу</a:t>
            </a:r>
            <a:r>
              <a:rPr dirty="0"/>
              <a:t> </a:t>
            </a:r>
            <a:r>
              <a:rPr dirty="0" err="1"/>
              <a:t>потерянных</a:t>
            </a:r>
            <a:r>
              <a:rPr dirty="0"/>
              <a:t> </a:t>
            </a:r>
            <a:r>
              <a:rPr dirty="0" err="1"/>
              <a:t>данных</a:t>
            </a:r>
            <a:r>
              <a:rPr lang="ru-RU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Когда используют UDP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DNS-</a:t>
            </a:r>
            <a:r>
              <a:rPr dirty="0" err="1"/>
              <a:t>запросы</a:t>
            </a:r>
            <a:r>
              <a:rPr dirty="0"/>
              <a:t>, </a:t>
            </a:r>
            <a:r>
              <a:rPr dirty="0" err="1"/>
              <a:t>когда</a:t>
            </a:r>
            <a:r>
              <a:rPr dirty="0"/>
              <a:t> </a:t>
            </a:r>
            <a:r>
              <a:rPr dirty="0" err="1"/>
              <a:t>нужен</a:t>
            </a:r>
            <a:r>
              <a:rPr dirty="0"/>
              <a:t> </a:t>
            </a:r>
            <a:r>
              <a:rPr dirty="0" err="1"/>
              <a:t>быстрый</a:t>
            </a:r>
            <a:r>
              <a:rPr dirty="0"/>
              <a:t> </a:t>
            </a:r>
            <a:r>
              <a:rPr dirty="0" err="1"/>
              <a:t>короткий</a:t>
            </a:r>
            <a:r>
              <a:rPr dirty="0"/>
              <a:t> </a:t>
            </a:r>
            <a:r>
              <a:rPr dirty="0" err="1"/>
              <a:t>обмен</a:t>
            </a:r>
            <a:r>
              <a:rPr lang="ru-RU" dirty="0"/>
              <a:t>.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DHCP, </a:t>
            </a:r>
            <a:r>
              <a:rPr dirty="0" err="1"/>
              <a:t>когда</a:t>
            </a:r>
            <a:r>
              <a:rPr dirty="0"/>
              <a:t> </a:t>
            </a:r>
            <a:r>
              <a:rPr dirty="0" err="1"/>
              <a:t>клиент</a:t>
            </a:r>
            <a:r>
              <a:rPr dirty="0"/>
              <a:t> </a:t>
            </a:r>
            <a:r>
              <a:rPr dirty="0" err="1"/>
              <a:t>еще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имеет</a:t>
            </a:r>
            <a:r>
              <a:rPr dirty="0"/>
              <a:t> IP-</a:t>
            </a:r>
            <a:r>
              <a:rPr dirty="0" err="1"/>
              <a:t>адреса</a:t>
            </a:r>
            <a:r>
              <a:rPr lang="ru-RU" dirty="0"/>
              <a:t>.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NTP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синхронизации</a:t>
            </a:r>
            <a:r>
              <a:rPr dirty="0"/>
              <a:t> </a:t>
            </a:r>
            <a:r>
              <a:rPr dirty="0" err="1"/>
              <a:t>времени</a:t>
            </a:r>
            <a:r>
              <a:rPr lang="ru-RU" dirty="0"/>
              <a:t>.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VoIP и </a:t>
            </a:r>
            <a:r>
              <a:rPr dirty="0" err="1"/>
              <a:t>видеосвязь</a:t>
            </a:r>
            <a:r>
              <a:rPr dirty="0"/>
              <a:t>, </a:t>
            </a:r>
            <a:r>
              <a:rPr dirty="0" err="1"/>
              <a:t>где</a:t>
            </a:r>
            <a:r>
              <a:rPr dirty="0"/>
              <a:t> </a:t>
            </a:r>
            <a:r>
              <a:rPr dirty="0" err="1"/>
              <a:t>важна</a:t>
            </a:r>
            <a:r>
              <a:rPr dirty="0"/>
              <a:t> </a:t>
            </a:r>
            <a:r>
              <a:rPr dirty="0" err="1"/>
              <a:t>малая</a:t>
            </a:r>
            <a:r>
              <a:rPr dirty="0"/>
              <a:t> </a:t>
            </a:r>
            <a:r>
              <a:rPr dirty="0" err="1"/>
              <a:t>задержка</a:t>
            </a:r>
            <a:r>
              <a:rPr lang="ru-RU" dirty="0"/>
              <a:t>.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Онлайн-игры</a:t>
            </a:r>
            <a:r>
              <a:rPr dirty="0"/>
              <a:t> и </a:t>
            </a:r>
            <a:r>
              <a:rPr dirty="0" err="1"/>
              <a:t>телеметрия</a:t>
            </a:r>
            <a:r>
              <a:rPr dirty="0"/>
              <a:t>, </a:t>
            </a:r>
            <a:r>
              <a:rPr dirty="0" err="1"/>
              <a:t>где</a:t>
            </a:r>
            <a:r>
              <a:rPr dirty="0"/>
              <a:t> </a:t>
            </a:r>
            <a:r>
              <a:rPr dirty="0" err="1"/>
              <a:t>устаревшие</a:t>
            </a:r>
            <a:r>
              <a:rPr dirty="0"/>
              <a:t> </a:t>
            </a:r>
            <a:r>
              <a:rPr dirty="0" err="1"/>
              <a:t>данные</a:t>
            </a:r>
            <a:r>
              <a:rPr dirty="0"/>
              <a:t>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нужны</a:t>
            </a:r>
            <a:r>
              <a:rPr lang="ru-RU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Заголовок UDP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Source port - </a:t>
            </a:r>
            <a:r>
              <a:rPr dirty="0" err="1"/>
              <a:t>порт</a:t>
            </a:r>
            <a:r>
              <a:rPr dirty="0"/>
              <a:t> </a:t>
            </a:r>
            <a:r>
              <a:rPr dirty="0" err="1"/>
              <a:t>отправителя</a:t>
            </a:r>
            <a:r>
              <a:rPr lang="ru-RU" dirty="0"/>
              <a:t>.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Destination port - </a:t>
            </a:r>
            <a:r>
              <a:rPr dirty="0" err="1"/>
              <a:t>порт</a:t>
            </a:r>
            <a:r>
              <a:rPr dirty="0"/>
              <a:t> </a:t>
            </a:r>
            <a:r>
              <a:rPr dirty="0" err="1"/>
              <a:t>получателя</a:t>
            </a:r>
            <a:r>
              <a:rPr lang="ru-RU" dirty="0"/>
              <a:t>.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Length - </a:t>
            </a:r>
            <a:r>
              <a:rPr dirty="0" err="1"/>
              <a:t>длина</a:t>
            </a:r>
            <a:r>
              <a:rPr dirty="0"/>
              <a:t> UDP-</a:t>
            </a:r>
            <a:r>
              <a:rPr dirty="0" err="1"/>
              <a:t>датаграммы</a:t>
            </a:r>
            <a:r>
              <a:rPr lang="ru-RU" dirty="0"/>
              <a:t>.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Checksum - </a:t>
            </a:r>
            <a:r>
              <a:rPr dirty="0" err="1"/>
              <a:t>контрольная</a:t>
            </a:r>
            <a:r>
              <a:rPr dirty="0"/>
              <a:t> </a:t>
            </a:r>
            <a:r>
              <a:rPr dirty="0" err="1"/>
              <a:t>сумма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проверки</a:t>
            </a:r>
            <a:r>
              <a:rPr dirty="0"/>
              <a:t> </a:t>
            </a:r>
            <a:r>
              <a:rPr dirty="0" err="1"/>
              <a:t>повреждения</a:t>
            </a:r>
            <a:r>
              <a:rPr lang="ru-RU" dirty="0"/>
              <a:t>.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Заголовок</a:t>
            </a:r>
            <a:r>
              <a:rPr dirty="0"/>
              <a:t> UDP </a:t>
            </a:r>
            <a:r>
              <a:rPr dirty="0" err="1"/>
              <a:t>меньше</a:t>
            </a:r>
            <a:r>
              <a:rPr dirty="0"/>
              <a:t> и </a:t>
            </a:r>
            <a:r>
              <a:rPr dirty="0" err="1"/>
              <a:t>проще</a:t>
            </a:r>
            <a:r>
              <a:rPr dirty="0"/>
              <a:t> </a:t>
            </a:r>
            <a:r>
              <a:rPr dirty="0" err="1"/>
              <a:t>заголовка</a:t>
            </a:r>
            <a:r>
              <a:rPr dirty="0"/>
              <a:t> TCP</a:t>
            </a:r>
            <a:r>
              <a:rPr lang="ru-RU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79687-88FF-4FF3-DD5A-47D753396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4E3B8E-40C4-6F50-6942-08AC7EE98C55}"/>
              </a:ext>
            </a:extLst>
          </p:cNvPr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Заголовок UDP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45AF8F2-DC98-9587-CAE4-1A39F0857A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3843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Что UDP не делает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устанавливает</a:t>
            </a:r>
            <a:r>
              <a:rPr dirty="0"/>
              <a:t> </a:t>
            </a:r>
            <a:r>
              <a:rPr dirty="0" err="1"/>
              <a:t>соединение</a:t>
            </a:r>
            <a:r>
              <a:rPr dirty="0"/>
              <a:t> </a:t>
            </a:r>
            <a:r>
              <a:rPr dirty="0" err="1"/>
              <a:t>перед</a:t>
            </a:r>
            <a:r>
              <a:rPr dirty="0"/>
              <a:t> </a:t>
            </a:r>
            <a:r>
              <a:rPr dirty="0" err="1"/>
              <a:t>отправкой</a:t>
            </a:r>
            <a:r>
              <a:rPr lang="ru-RU" dirty="0"/>
              <a:t>.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подтверждает</a:t>
            </a:r>
            <a:r>
              <a:rPr dirty="0"/>
              <a:t> </a:t>
            </a:r>
            <a:r>
              <a:rPr dirty="0" err="1"/>
              <a:t>получение</a:t>
            </a:r>
            <a:r>
              <a:rPr dirty="0"/>
              <a:t> </a:t>
            </a:r>
            <a:r>
              <a:rPr dirty="0" err="1"/>
              <a:t>датаграммы</a:t>
            </a:r>
            <a:r>
              <a:rPr lang="ru-RU" dirty="0"/>
              <a:t>.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восстанавливает</a:t>
            </a:r>
            <a:r>
              <a:rPr dirty="0"/>
              <a:t> </a:t>
            </a:r>
            <a:r>
              <a:rPr dirty="0" err="1"/>
              <a:t>потерянные</a:t>
            </a:r>
            <a:r>
              <a:rPr dirty="0"/>
              <a:t> </a:t>
            </a:r>
            <a:r>
              <a:rPr dirty="0" err="1"/>
              <a:t>данные</a:t>
            </a:r>
            <a:r>
              <a:rPr lang="ru-RU" dirty="0"/>
              <a:t>.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сортирует</a:t>
            </a:r>
            <a:r>
              <a:rPr dirty="0"/>
              <a:t> </a:t>
            </a:r>
            <a:r>
              <a:rPr dirty="0" err="1"/>
              <a:t>датаграммы</a:t>
            </a:r>
            <a:r>
              <a:rPr dirty="0"/>
              <a:t> в </a:t>
            </a:r>
            <a:r>
              <a:rPr dirty="0" err="1"/>
              <a:t>правильном</a:t>
            </a:r>
            <a:r>
              <a:rPr dirty="0"/>
              <a:t> </a:t>
            </a:r>
            <a:r>
              <a:rPr dirty="0" err="1"/>
              <a:t>порядке</a:t>
            </a:r>
            <a:r>
              <a:rPr lang="ru-RU" dirty="0"/>
              <a:t>.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управляет</a:t>
            </a:r>
            <a:r>
              <a:rPr dirty="0"/>
              <a:t> </a:t>
            </a:r>
            <a:r>
              <a:rPr dirty="0" err="1"/>
              <a:t>скоростью</a:t>
            </a:r>
            <a:r>
              <a:rPr dirty="0"/>
              <a:t> </a:t>
            </a:r>
            <a:r>
              <a:rPr dirty="0" err="1"/>
              <a:t>отправки</a:t>
            </a:r>
            <a:r>
              <a:rPr dirty="0"/>
              <a:t> </a:t>
            </a:r>
            <a:r>
              <a:rPr dirty="0" err="1"/>
              <a:t>так</a:t>
            </a:r>
            <a:r>
              <a:rPr dirty="0"/>
              <a:t>,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делает</a:t>
            </a:r>
            <a:r>
              <a:rPr dirty="0"/>
              <a:t> TCP</a:t>
            </a:r>
            <a:r>
              <a:rPr lang="ru-RU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Почему UDP все равно нужен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Меньше</a:t>
            </a:r>
            <a:r>
              <a:rPr dirty="0"/>
              <a:t> </a:t>
            </a:r>
            <a:r>
              <a:rPr dirty="0" err="1"/>
              <a:t>задержка</a:t>
            </a:r>
            <a:r>
              <a:rPr dirty="0"/>
              <a:t> </a:t>
            </a:r>
            <a:r>
              <a:rPr dirty="0" err="1"/>
              <a:t>перед</a:t>
            </a:r>
            <a:r>
              <a:rPr dirty="0"/>
              <a:t> </a:t>
            </a:r>
            <a:r>
              <a:rPr dirty="0" err="1"/>
              <a:t>началом</a:t>
            </a:r>
            <a:r>
              <a:rPr dirty="0"/>
              <a:t> </a:t>
            </a:r>
            <a:r>
              <a:rPr dirty="0" err="1"/>
              <a:t>обмена</a:t>
            </a:r>
            <a:r>
              <a:rPr lang="ru-RU" dirty="0"/>
              <a:t>.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Меньше</a:t>
            </a:r>
            <a:r>
              <a:rPr dirty="0"/>
              <a:t> </a:t>
            </a:r>
            <a:r>
              <a:rPr dirty="0" err="1"/>
              <a:t>служебных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 в </a:t>
            </a:r>
            <a:r>
              <a:rPr dirty="0" err="1"/>
              <a:t>заголовке</a:t>
            </a:r>
            <a:r>
              <a:rPr lang="ru-RU" dirty="0"/>
              <a:t>.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Подходит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широковещательных</a:t>
            </a:r>
            <a:r>
              <a:rPr dirty="0"/>
              <a:t> и </a:t>
            </a:r>
            <a:r>
              <a:rPr dirty="0" err="1"/>
              <a:t>некоторых</a:t>
            </a:r>
            <a:r>
              <a:rPr dirty="0"/>
              <a:t> </a:t>
            </a:r>
            <a:r>
              <a:rPr dirty="0" err="1"/>
              <a:t>служебных</a:t>
            </a:r>
            <a:r>
              <a:rPr dirty="0"/>
              <a:t> </a:t>
            </a:r>
            <a:r>
              <a:rPr dirty="0" err="1"/>
              <a:t>протоколов</a:t>
            </a:r>
            <a:r>
              <a:rPr lang="ru-RU" dirty="0"/>
              <a:t>.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Позволяет</a:t>
            </a:r>
            <a:r>
              <a:rPr dirty="0"/>
              <a:t> </a:t>
            </a:r>
            <a:r>
              <a:rPr dirty="0" err="1"/>
              <a:t>приложению</a:t>
            </a:r>
            <a:r>
              <a:rPr dirty="0"/>
              <a:t> </a:t>
            </a:r>
            <a:r>
              <a:rPr dirty="0" err="1"/>
              <a:t>самому</a:t>
            </a:r>
            <a:r>
              <a:rPr dirty="0"/>
              <a:t> </a:t>
            </a:r>
            <a:r>
              <a:rPr dirty="0" err="1"/>
              <a:t>выбирать</a:t>
            </a:r>
            <a:r>
              <a:rPr dirty="0"/>
              <a:t> </a:t>
            </a:r>
            <a:r>
              <a:rPr dirty="0" err="1"/>
              <a:t>логику</a:t>
            </a:r>
            <a:r>
              <a:rPr dirty="0"/>
              <a:t> </a:t>
            </a:r>
            <a:r>
              <a:rPr dirty="0" err="1"/>
              <a:t>надежности</a:t>
            </a:r>
            <a:r>
              <a:rPr lang="ru-RU" dirty="0"/>
              <a:t>.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Удобен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задач</a:t>
            </a:r>
            <a:r>
              <a:rPr dirty="0"/>
              <a:t>, </a:t>
            </a:r>
            <a:r>
              <a:rPr dirty="0" err="1"/>
              <a:t>где</a:t>
            </a:r>
            <a:r>
              <a:rPr dirty="0"/>
              <a:t> </a:t>
            </a:r>
            <a:r>
              <a:rPr dirty="0" err="1"/>
              <a:t>скорость</a:t>
            </a:r>
            <a:r>
              <a:rPr dirty="0"/>
              <a:t> </a:t>
            </a:r>
            <a:r>
              <a:rPr dirty="0" err="1"/>
              <a:t>важнее</a:t>
            </a:r>
            <a:r>
              <a:rPr dirty="0"/>
              <a:t> </a:t>
            </a:r>
            <a:r>
              <a:rPr dirty="0" err="1"/>
              <a:t>гарантированной</a:t>
            </a:r>
            <a:r>
              <a:rPr dirty="0"/>
              <a:t> </a:t>
            </a:r>
            <a:r>
              <a:rPr dirty="0" err="1"/>
              <a:t>доставки</a:t>
            </a:r>
            <a:r>
              <a:rPr lang="ru-RU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TCP и UDP: профессиональное сравнение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TCP </a:t>
            </a:r>
            <a:r>
              <a:rPr dirty="0" err="1"/>
              <a:t>выбирают</a:t>
            </a:r>
            <a:r>
              <a:rPr dirty="0"/>
              <a:t>, </a:t>
            </a:r>
            <a:r>
              <a:rPr dirty="0" err="1"/>
              <a:t>когда</a:t>
            </a:r>
            <a:r>
              <a:rPr dirty="0"/>
              <a:t> </a:t>
            </a:r>
            <a:r>
              <a:rPr dirty="0" err="1"/>
              <a:t>потеря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 </a:t>
            </a:r>
            <a:r>
              <a:rPr dirty="0" err="1"/>
              <a:t>недопустима</a:t>
            </a:r>
            <a:r>
              <a:rPr lang="ru-RU" dirty="0"/>
              <a:t>.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UDP </a:t>
            </a:r>
            <a:r>
              <a:rPr dirty="0" err="1"/>
              <a:t>выбирают</a:t>
            </a:r>
            <a:r>
              <a:rPr dirty="0"/>
              <a:t>, </a:t>
            </a:r>
            <a:r>
              <a:rPr dirty="0" err="1"/>
              <a:t>когда</a:t>
            </a:r>
            <a:r>
              <a:rPr dirty="0"/>
              <a:t> </a:t>
            </a:r>
            <a:r>
              <a:rPr dirty="0" err="1"/>
              <a:t>важны</a:t>
            </a:r>
            <a:r>
              <a:rPr dirty="0"/>
              <a:t> </a:t>
            </a:r>
            <a:r>
              <a:rPr dirty="0" err="1"/>
              <a:t>скорость</a:t>
            </a:r>
            <a:r>
              <a:rPr dirty="0"/>
              <a:t>, </a:t>
            </a:r>
            <a:r>
              <a:rPr dirty="0" err="1"/>
              <a:t>простота</a:t>
            </a:r>
            <a:r>
              <a:rPr dirty="0"/>
              <a:t> и </a:t>
            </a:r>
            <a:r>
              <a:rPr dirty="0" err="1"/>
              <a:t>низкая</a:t>
            </a:r>
            <a:r>
              <a:rPr dirty="0"/>
              <a:t> </a:t>
            </a:r>
            <a:r>
              <a:rPr dirty="0" err="1"/>
              <a:t>задержка</a:t>
            </a:r>
            <a:r>
              <a:rPr lang="ru-RU" dirty="0"/>
              <a:t>.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TCP </a:t>
            </a:r>
            <a:r>
              <a:rPr dirty="0" err="1"/>
              <a:t>удобен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файлов</a:t>
            </a:r>
            <a:r>
              <a:rPr dirty="0"/>
              <a:t>, </a:t>
            </a:r>
            <a:r>
              <a:rPr dirty="0" err="1"/>
              <a:t>сайтов</a:t>
            </a:r>
            <a:r>
              <a:rPr dirty="0"/>
              <a:t>, </a:t>
            </a:r>
            <a:r>
              <a:rPr dirty="0" err="1"/>
              <a:t>удаленного</a:t>
            </a:r>
            <a:r>
              <a:rPr dirty="0"/>
              <a:t> </a:t>
            </a:r>
            <a:r>
              <a:rPr dirty="0" err="1"/>
              <a:t>доступа</a:t>
            </a:r>
            <a:r>
              <a:rPr dirty="0"/>
              <a:t> и </a:t>
            </a:r>
            <a:r>
              <a:rPr dirty="0" err="1"/>
              <a:t>почты</a:t>
            </a:r>
            <a:r>
              <a:rPr lang="ru-RU" dirty="0"/>
              <a:t>.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UDP </a:t>
            </a:r>
            <a:r>
              <a:rPr dirty="0" err="1"/>
              <a:t>удобен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DNS, DHCP, </a:t>
            </a:r>
            <a:r>
              <a:rPr dirty="0" err="1"/>
              <a:t>времени</a:t>
            </a:r>
            <a:r>
              <a:rPr dirty="0"/>
              <a:t>, </a:t>
            </a:r>
            <a:r>
              <a:rPr dirty="0" err="1"/>
              <a:t>голоса</a:t>
            </a:r>
            <a:r>
              <a:rPr dirty="0"/>
              <a:t> и </a:t>
            </a:r>
            <a:r>
              <a:rPr dirty="0" err="1"/>
              <a:t>видео</a:t>
            </a:r>
            <a:r>
              <a:rPr lang="ru-RU" dirty="0"/>
              <a:t>.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Выбор</a:t>
            </a:r>
            <a:r>
              <a:rPr dirty="0"/>
              <a:t> </a:t>
            </a:r>
            <a:r>
              <a:rPr dirty="0" err="1"/>
              <a:t>протокола</a:t>
            </a:r>
            <a:r>
              <a:rPr dirty="0"/>
              <a:t> </a:t>
            </a:r>
            <a:r>
              <a:rPr dirty="0" err="1"/>
              <a:t>определяется</a:t>
            </a:r>
            <a:r>
              <a:rPr dirty="0"/>
              <a:t> </a:t>
            </a:r>
            <a:r>
              <a:rPr dirty="0" err="1"/>
              <a:t>требованиями</a:t>
            </a:r>
            <a:r>
              <a:rPr dirty="0"/>
              <a:t> </a:t>
            </a:r>
            <a:r>
              <a:rPr dirty="0" err="1"/>
              <a:t>приложения</a:t>
            </a:r>
            <a:r>
              <a:rPr lang="ru-RU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57014" y="182880"/>
            <a:ext cx="4647490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/>
              <a:t>4. TCP handshake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79870"/>
            <a:ext cx="10972800" cy="494660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/>
              <a:t>TCP handshake - </a:t>
            </a:r>
            <a:r>
              <a:rPr dirty="0" err="1"/>
              <a:t>процедура</a:t>
            </a:r>
            <a:r>
              <a:rPr dirty="0"/>
              <a:t> </a:t>
            </a:r>
            <a:r>
              <a:rPr dirty="0" err="1"/>
              <a:t>установления</a:t>
            </a:r>
            <a:r>
              <a:rPr dirty="0"/>
              <a:t> TCP-</a:t>
            </a:r>
            <a:r>
              <a:rPr dirty="0" err="1"/>
              <a:t>соединения</a:t>
            </a:r>
            <a:r>
              <a:rPr lang="ru-RU" dirty="0"/>
              <a:t>.</a:t>
            </a:r>
            <a:endParaRPr dirty="0"/>
          </a:p>
          <a:p>
            <a:pPr indent="354013">
              <a:defRPr sz="3600"/>
            </a:pPr>
            <a:r>
              <a:rPr dirty="0"/>
              <a:t>Handshake </a:t>
            </a:r>
            <a:r>
              <a:rPr dirty="0" err="1"/>
              <a:t>переводится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рукопожатие</a:t>
            </a:r>
            <a:r>
              <a:rPr lang="ru-RU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практике</a:t>
            </a:r>
            <a:r>
              <a:rPr dirty="0"/>
              <a:t>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обмен</a:t>
            </a:r>
            <a:r>
              <a:rPr dirty="0"/>
              <a:t> </a:t>
            </a:r>
            <a:r>
              <a:rPr dirty="0" err="1"/>
              <a:t>служебными</a:t>
            </a:r>
            <a:r>
              <a:rPr dirty="0"/>
              <a:t> </a:t>
            </a:r>
            <a:r>
              <a:rPr dirty="0" err="1"/>
              <a:t>сегментами</a:t>
            </a:r>
            <a:r>
              <a:rPr dirty="0"/>
              <a:t> </a:t>
            </a:r>
            <a:r>
              <a:rPr dirty="0" err="1"/>
              <a:t>перед</a:t>
            </a:r>
            <a:r>
              <a:rPr dirty="0"/>
              <a:t> </a:t>
            </a:r>
            <a:r>
              <a:rPr dirty="0" err="1"/>
              <a:t>передачей</a:t>
            </a:r>
            <a:r>
              <a:rPr dirty="0"/>
              <a:t> </a:t>
            </a:r>
            <a:r>
              <a:rPr dirty="0" err="1"/>
              <a:t>данных</a:t>
            </a:r>
            <a:r>
              <a:rPr lang="ru-RU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Классический</a:t>
            </a:r>
            <a:r>
              <a:rPr dirty="0"/>
              <a:t> TCP handshake </a:t>
            </a:r>
            <a:r>
              <a:rPr dirty="0" err="1"/>
              <a:t>состоит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трех</a:t>
            </a:r>
            <a:r>
              <a:rPr dirty="0"/>
              <a:t> </a:t>
            </a:r>
            <a:r>
              <a:rPr dirty="0" err="1"/>
              <a:t>шагов</a:t>
            </a:r>
            <a:r>
              <a:rPr lang="ru-RU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Его</a:t>
            </a:r>
            <a:r>
              <a:rPr dirty="0"/>
              <a:t>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называют</a:t>
            </a:r>
            <a:r>
              <a:rPr dirty="0"/>
              <a:t> three-way handshake</a:t>
            </a:r>
            <a:r>
              <a:rPr lang="ru-RU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Шаг 1: SYN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Клиент</a:t>
            </a:r>
            <a:r>
              <a:rPr dirty="0"/>
              <a:t> </a:t>
            </a:r>
            <a:r>
              <a:rPr dirty="0" err="1"/>
              <a:t>отправляет</a:t>
            </a:r>
            <a:r>
              <a:rPr dirty="0"/>
              <a:t> </a:t>
            </a:r>
            <a:r>
              <a:rPr dirty="0" err="1"/>
              <a:t>серверу</a:t>
            </a:r>
            <a:r>
              <a:rPr dirty="0"/>
              <a:t> </a:t>
            </a:r>
            <a:r>
              <a:rPr dirty="0" err="1"/>
              <a:t>сегмент</a:t>
            </a:r>
            <a:r>
              <a:rPr dirty="0"/>
              <a:t> с </a:t>
            </a:r>
            <a:r>
              <a:rPr dirty="0" err="1"/>
              <a:t>флагом</a:t>
            </a:r>
            <a:r>
              <a:rPr dirty="0"/>
              <a:t> SYN</a:t>
            </a:r>
            <a:r>
              <a:rPr lang="ru-RU" dirty="0"/>
              <a:t>.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SYN </a:t>
            </a:r>
            <a:r>
              <a:rPr dirty="0" err="1"/>
              <a:t>означает</a:t>
            </a:r>
            <a:r>
              <a:rPr dirty="0"/>
              <a:t> synchronize, </a:t>
            </a:r>
            <a:r>
              <a:rPr dirty="0" err="1"/>
              <a:t>синхронизация</a:t>
            </a:r>
            <a:r>
              <a:rPr lang="ru-RU" dirty="0"/>
              <a:t>.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Клиент</a:t>
            </a:r>
            <a:r>
              <a:rPr dirty="0"/>
              <a:t> </a:t>
            </a:r>
            <a:r>
              <a:rPr dirty="0" err="1"/>
              <a:t>предлагает</a:t>
            </a:r>
            <a:r>
              <a:rPr dirty="0"/>
              <a:t> </a:t>
            </a:r>
            <a:r>
              <a:rPr dirty="0" err="1"/>
              <a:t>начать</a:t>
            </a:r>
            <a:r>
              <a:rPr dirty="0"/>
              <a:t> </a:t>
            </a:r>
            <a:r>
              <a:rPr dirty="0" err="1"/>
              <a:t>соединение</a:t>
            </a:r>
            <a:r>
              <a:rPr lang="ru-RU" dirty="0"/>
              <a:t>.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Клиент</a:t>
            </a:r>
            <a:r>
              <a:rPr dirty="0"/>
              <a:t> </a:t>
            </a:r>
            <a:r>
              <a:rPr dirty="0" err="1"/>
              <a:t>сообщает</a:t>
            </a:r>
            <a:r>
              <a:rPr dirty="0"/>
              <a:t> </a:t>
            </a:r>
            <a:r>
              <a:rPr dirty="0" err="1"/>
              <a:t>начальный</a:t>
            </a:r>
            <a:r>
              <a:rPr dirty="0"/>
              <a:t> sequence number</a:t>
            </a:r>
            <a:r>
              <a:rPr lang="ru-RU" dirty="0"/>
              <a:t>.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Сервер</a:t>
            </a:r>
            <a:r>
              <a:rPr dirty="0"/>
              <a:t> </a:t>
            </a:r>
            <a:r>
              <a:rPr dirty="0" err="1"/>
              <a:t>должен</a:t>
            </a:r>
            <a:r>
              <a:rPr dirty="0"/>
              <a:t> </a:t>
            </a:r>
            <a:r>
              <a:rPr dirty="0" err="1"/>
              <a:t>получить</a:t>
            </a:r>
            <a:r>
              <a:rPr dirty="0"/>
              <a:t> </a:t>
            </a:r>
            <a:r>
              <a:rPr dirty="0" err="1"/>
              <a:t>этот</a:t>
            </a:r>
            <a:r>
              <a:rPr dirty="0"/>
              <a:t> </a:t>
            </a:r>
            <a:r>
              <a:rPr dirty="0" err="1"/>
              <a:t>сегмент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слушающем</a:t>
            </a:r>
            <a:r>
              <a:rPr dirty="0"/>
              <a:t> </a:t>
            </a:r>
            <a:r>
              <a:rPr dirty="0" err="1"/>
              <a:t>порту</a:t>
            </a:r>
            <a:r>
              <a:rPr lang="ru-RU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Шаг 2: SYN-ACK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Сервер</a:t>
            </a:r>
            <a:r>
              <a:rPr dirty="0"/>
              <a:t> </a:t>
            </a:r>
            <a:r>
              <a:rPr dirty="0" err="1"/>
              <a:t>отвечает</a:t>
            </a:r>
            <a:r>
              <a:rPr dirty="0"/>
              <a:t> </a:t>
            </a:r>
            <a:r>
              <a:rPr dirty="0" err="1"/>
              <a:t>сегментом</a:t>
            </a:r>
            <a:r>
              <a:rPr dirty="0"/>
              <a:t> SYN-ACK</a:t>
            </a:r>
            <a:r>
              <a:rPr lang="ru-RU" dirty="0"/>
              <a:t>.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ACK </a:t>
            </a:r>
            <a:r>
              <a:rPr dirty="0" err="1"/>
              <a:t>означает</a:t>
            </a:r>
            <a:r>
              <a:rPr dirty="0"/>
              <a:t> acknowledgment, </a:t>
            </a:r>
            <a:r>
              <a:rPr dirty="0" err="1"/>
              <a:t>подтверждение</a:t>
            </a:r>
            <a:r>
              <a:rPr lang="ru-RU" dirty="0"/>
              <a:t>.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Сервер</a:t>
            </a:r>
            <a:r>
              <a:rPr dirty="0"/>
              <a:t> </a:t>
            </a:r>
            <a:r>
              <a:rPr dirty="0" err="1"/>
              <a:t>подтверждает</a:t>
            </a:r>
            <a:r>
              <a:rPr dirty="0"/>
              <a:t> </a:t>
            </a:r>
            <a:r>
              <a:rPr dirty="0" err="1"/>
              <a:t>получение</a:t>
            </a:r>
            <a:r>
              <a:rPr dirty="0"/>
              <a:t> SYN </a:t>
            </a:r>
            <a:r>
              <a:rPr dirty="0" err="1"/>
              <a:t>клиента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Сервер</a:t>
            </a:r>
            <a:r>
              <a:rPr dirty="0"/>
              <a:t> </a:t>
            </a:r>
            <a:r>
              <a:rPr dirty="0" err="1"/>
              <a:t>сообщает</a:t>
            </a:r>
            <a:r>
              <a:rPr dirty="0"/>
              <a:t> </a:t>
            </a:r>
            <a:r>
              <a:rPr dirty="0" err="1"/>
              <a:t>свой</a:t>
            </a:r>
            <a:r>
              <a:rPr dirty="0"/>
              <a:t> </a:t>
            </a:r>
            <a:r>
              <a:rPr dirty="0" err="1"/>
              <a:t>начальный</a:t>
            </a:r>
            <a:r>
              <a:rPr dirty="0"/>
              <a:t> sequence number</a:t>
            </a:r>
            <a:r>
              <a:rPr lang="ru-RU" dirty="0"/>
              <a:t>.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Этот</a:t>
            </a:r>
            <a:r>
              <a:rPr dirty="0"/>
              <a:t> </a:t>
            </a:r>
            <a:r>
              <a:rPr dirty="0" err="1"/>
              <a:t>ответ</a:t>
            </a:r>
            <a:r>
              <a:rPr dirty="0"/>
              <a:t> </a:t>
            </a:r>
            <a:r>
              <a:rPr dirty="0" err="1"/>
              <a:t>показывает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порт</a:t>
            </a:r>
            <a:r>
              <a:rPr dirty="0"/>
              <a:t> </a:t>
            </a:r>
            <a:r>
              <a:rPr dirty="0" err="1"/>
              <a:t>доступен</a:t>
            </a:r>
            <a:r>
              <a:rPr dirty="0"/>
              <a:t> и </a:t>
            </a:r>
            <a:r>
              <a:rPr dirty="0" err="1"/>
              <a:t>служба</a:t>
            </a:r>
            <a:r>
              <a:rPr dirty="0"/>
              <a:t> </a:t>
            </a:r>
            <a:r>
              <a:rPr dirty="0" err="1"/>
              <a:t>отвечает</a:t>
            </a:r>
            <a:r>
              <a:rPr lang="ru-RU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Шаг 3: 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Клиент</a:t>
            </a:r>
            <a:r>
              <a:rPr dirty="0"/>
              <a:t> </a:t>
            </a:r>
            <a:r>
              <a:rPr dirty="0" err="1"/>
              <a:t>отправляет</a:t>
            </a:r>
            <a:r>
              <a:rPr dirty="0"/>
              <a:t> ACK в </a:t>
            </a:r>
            <a:r>
              <a:rPr dirty="0" err="1"/>
              <a:t>ответ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SYN-ACK</a:t>
            </a:r>
            <a:r>
              <a:rPr lang="ru-RU" dirty="0"/>
              <a:t>.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этого</a:t>
            </a:r>
            <a:r>
              <a:rPr dirty="0"/>
              <a:t> </a:t>
            </a:r>
            <a:r>
              <a:rPr dirty="0" err="1"/>
              <a:t>соединение</a:t>
            </a:r>
            <a:r>
              <a:rPr dirty="0"/>
              <a:t> </a:t>
            </a:r>
            <a:r>
              <a:rPr dirty="0" err="1"/>
              <a:t>считается</a:t>
            </a:r>
            <a:r>
              <a:rPr dirty="0"/>
              <a:t> </a:t>
            </a:r>
            <a:r>
              <a:rPr dirty="0" err="1"/>
              <a:t>установленным</a:t>
            </a:r>
            <a:r>
              <a:rPr lang="ru-RU" dirty="0"/>
              <a:t>.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Приложения</a:t>
            </a:r>
            <a:r>
              <a:rPr dirty="0"/>
              <a:t> </a:t>
            </a:r>
            <a:r>
              <a:rPr dirty="0" err="1"/>
              <a:t>могут</a:t>
            </a:r>
            <a:r>
              <a:rPr dirty="0"/>
              <a:t> </a:t>
            </a:r>
            <a:r>
              <a:rPr dirty="0" err="1"/>
              <a:t>передавать</a:t>
            </a:r>
            <a:r>
              <a:rPr dirty="0"/>
              <a:t> </a:t>
            </a:r>
            <a:r>
              <a:rPr dirty="0" err="1"/>
              <a:t>полезные</a:t>
            </a:r>
            <a:r>
              <a:rPr dirty="0"/>
              <a:t> </a:t>
            </a:r>
            <a:r>
              <a:rPr dirty="0" err="1"/>
              <a:t>данные</a:t>
            </a:r>
            <a:r>
              <a:rPr lang="ru-RU" dirty="0"/>
              <a:t>.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администратора</a:t>
            </a:r>
            <a:r>
              <a:rPr dirty="0"/>
              <a:t>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признак</a:t>
            </a:r>
            <a:r>
              <a:rPr dirty="0"/>
              <a:t> </a:t>
            </a:r>
            <a:r>
              <a:rPr dirty="0" err="1"/>
              <a:t>успешной</a:t>
            </a:r>
            <a:r>
              <a:rPr dirty="0"/>
              <a:t> </a:t>
            </a:r>
            <a:r>
              <a:rPr dirty="0" err="1"/>
              <a:t>доступности</a:t>
            </a:r>
            <a:r>
              <a:rPr dirty="0"/>
              <a:t> TCP-порта</a:t>
            </a:r>
            <a:r>
              <a:rPr lang="ru-RU" dirty="0"/>
              <a:t>.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Если</a:t>
            </a:r>
            <a:r>
              <a:rPr dirty="0"/>
              <a:t> handshake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завершился</a:t>
            </a:r>
            <a:r>
              <a:rPr dirty="0"/>
              <a:t>,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искать</a:t>
            </a:r>
            <a:r>
              <a:rPr dirty="0"/>
              <a:t> </a:t>
            </a:r>
            <a:r>
              <a:rPr dirty="0" err="1"/>
              <a:t>причину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сети</a:t>
            </a:r>
            <a:r>
              <a:rPr dirty="0"/>
              <a:t>, firewall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службе</a:t>
            </a:r>
            <a:r>
              <a:rPr lang="ru-RU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Диаграмма</a:t>
            </a:r>
            <a:r>
              <a:rPr dirty="0"/>
              <a:t>: TCP three-way handshake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D619C72-9950-B5E6-F31B-813DEC915B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Что может нарушить TCP handshake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82516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сервере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запущена</a:t>
            </a:r>
            <a:r>
              <a:rPr dirty="0"/>
              <a:t> </a:t>
            </a:r>
            <a:r>
              <a:rPr dirty="0" err="1"/>
              <a:t>нужная</a:t>
            </a:r>
            <a:r>
              <a:rPr dirty="0"/>
              <a:t> </a:t>
            </a:r>
            <a:r>
              <a:rPr dirty="0" err="1"/>
              <a:t>служба</a:t>
            </a:r>
            <a:r>
              <a:rPr lang="ru-RU" dirty="0"/>
              <a:t>.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Служба</a:t>
            </a:r>
            <a:r>
              <a:rPr dirty="0"/>
              <a:t> </a:t>
            </a:r>
            <a:r>
              <a:rPr dirty="0" err="1"/>
              <a:t>слушает</a:t>
            </a:r>
            <a:r>
              <a:rPr dirty="0"/>
              <a:t> </a:t>
            </a:r>
            <a:r>
              <a:rPr dirty="0" err="1"/>
              <a:t>другой</a:t>
            </a:r>
            <a:r>
              <a:rPr dirty="0"/>
              <a:t> </a:t>
            </a:r>
            <a:r>
              <a:rPr dirty="0" err="1"/>
              <a:t>порт</a:t>
            </a:r>
            <a:r>
              <a:rPr lang="ru-RU" dirty="0"/>
              <a:t>.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Windows Firewall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nftables</a:t>
            </a:r>
            <a:r>
              <a:rPr dirty="0"/>
              <a:t> </a:t>
            </a:r>
            <a:r>
              <a:rPr dirty="0" err="1"/>
              <a:t>блокирует</a:t>
            </a:r>
            <a:r>
              <a:rPr dirty="0"/>
              <a:t> </a:t>
            </a:r>
            <a:r>
              <a:rPr dirty="0" err="1"/>
              <a:t>соединение</a:t>
            </a:r>
            <a:r>
              <a:rPr lang="ru-RU" dirty="0"/>
              <a:t>.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Маршрутизатор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ACL </a:t>
            </a:r>
            <a:r>
              <a:rPr dirty="0" err="1"/>
              <a:t>запрещает</a:t>
            </a:r>
            <a:r>
              <a:rPr dirty="0"/>
              <a:t> </a:t>
            </a:r>
            <a:r>
              <a:rPr dirty="0" err="1"/>
              <a:t>трафик</a:t>
            </a:r>
            <a:r>
              <a:rPr lang="ru-RU" dirty="0"/>
              <a:t>.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NAT </a:t>
            </a:r>
            <a:r>
              <a:rPr dirty="0" err="1"/>
              <a:t>перенаправляет</a:t>
            </a:r>
            <a:r>
              <a:rPr dirty="0"/>
              <a:t> </a:t>
            </a:r>
            <a:r>
              <a:rPr dirty="0" err="1"/>
              <a:t>порт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тот</a:t>
            </a:r>
            <a:r>
              <a:rPr dirty="0"/>
              <a:t> </a:t>
            </a:r>
            <a:r>
              <a:rPr dirty="0" err="1"/>
              <a:t>внутренний</a:t>
            </a:r>
            <a:r>
              <a:rPr dirty="0"/>
              <a:t> </a:t>
            </a:r>
            <a:r>
              <a:rPr dirty="0" err="1"/>
              <a:t>сервер</a:t>
            </a:r>
            <a:r>
              <a:rPr lang="ru-RU" dirty="0"/>
              <a:t>.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Сервер</a:t>
            </a:r>
            <a:r>
              <a:rPr dirty="0"/>
              <a:t> </a:t>
            </a:r>
            <a:r>
              <a:rPr dirty="0" err="1"/>
              <a:t>перегружен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недоступен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сети</a:t>
            </a:r>
            <a:r>
              <a:rPr lang="ru-RU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56633" y="182880"/>
            <a:ext cx="1024825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3600" dirty="0"/>
              <a:t>5. </a:t>
            </a:r>
            <a:r>
              <a:rPr sz="3600" dirty="0" err="1"/>
              <a:t>Метод</a:t>
            </a:r>
            <a:r>
              <a:rPr sz="3600" dirty="0"/>
              <a:t> </a:t>
            </a:r>
            <a:r>
              <a:rPr sz="3600" dirty="0" err="1"/>
              <a:t>скользящего</a:t>
            </a:r>
            <a:r>
              <a:rPr sz="3600" dirty="0"/>
              <a:t> </a:t>
            </a:r>
            <a:r>
              <a:rPr sz="3600" dirty="0" err="1"/>
              <a:t>окна</a:t>
            </a:r>
            <a:r>
              <a:rPr sz="3600" dirty="0"/>
              <a:t> </a:t>
            </a:r>
            <a:r>
              <a:rPr sz="3600" dirty="0" err="1"/>
              <a:t>на</a:t>
            </a:r>
            <a:r>
              <a:rPr sz="3600" dirty="0"/>
              <a:t> </a:t>
            </a:r>
            <a:r>
              <a:rPr sz="3600" dirty="0" err="1"/>
              <a:t>уровне</a:t>
            </a:r>
            <a:r>
              <a:rPr sz="3600" dirty="0"/>
              <a:t> </a:t>
            </a:r>
            <a:r>
              <a:rPr sz="3600" dirty="0" err="1"/>
              <a:t>назначения</a:t>
            </a:r>
            <a:endParaRPr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Скользящее</a:t>
            </a:r>
            <a:r>
              <a:rPr dirty="0"/>
              <a:t> </a:t>
            </a:r>
            <a:r>
              <a:rPr dirty="0" err="1"/>
              <a:t>окно</a:t>
            </a:r>
            <a:r>
              <a:rPr dirty="0"/>
              <a:t> - </a:t>
            </a:r>
            <a:r>
              <a:rPr dirty="0" err="1"/>
              <a:t>механизм</a:t>
            </a:r>
            <a:r>
              <a:rPr dirty="0"/>
              <a:t> </a:t>
            </a:r>
            <a:r>
              <a:rPr dirty="0" err="1"/>
              <a:t>управления</a:t>
            </a:r>
            <a:r>
              <a:rPr dirty="0"/>
              <a:t> </a:t>
            </a:r>
            <a:r>
              <a:rPr dirty="0" err="1"/>
              <a:t>объемом</a:t>
            </a:r>
            <a:r>
              <a:rPr dirty="0"/>
              <a:t> </a:t>
            </a:r>
            <a:r>
              <a:rPr dirty="0" err="1"/>
              <a:t>неподтвержденных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 TCP</a:t>
            </a:r>
            <a:r>
              <a:rPr lang="en-US" dirty="0"/>
              <a:t>;</a:t>
            </a:r>
            <a:endParaRPr dirty="0"/>
          </a:p>
          <a:p>
            <a:pPr indent="354013">
              <a:defRPr sz="3600"/>
            </a:pPr>
            <a:r>
              <a:rPr dirty="0" err="1"/>
              <a:t>Окно</a:t>
            </a:r>
            <a:r>
              <a:rPr dirty="0"/>
              <a:t> </a:t>
            </a:r>
            <a:r>
              <a:rPr dirty="0" err="1"/>
              <a:t>показывает</a:t>
            </a:r>
            <a:r>
              <a:rPr dirty="0"/>
              <a:t>, </a:t>
            </a:r>
            <a:r>
              <a:rPr dirty="0" err="1"/>
              <a:t>сколько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отправить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ожидания</a:t>
            </a:r>
            <a:r>
              <a:rPr dirty="0"/>
              <a:t> </a:t>
            </a:r>
            <a:r>
              <a:rPr dirty="0" err="1"/>
              <a:t>нового</a:t>
            </a:r>
            <a:r>
              <a:rPr dirty="0"/>
              <a:t> ACK</a:t>
            </a:r>
            <a:r>
              <a:rPr lang="en-US" dirty="0"/>
              <a:t>;</a:t>
            </a:r>
            <a:endParaRPr dirty="0"/>
          </a:p>
          <a:p>
            <a:pPr indent="354013">
              <a:defRPr sz="3600"/>
            </a:pPr>
            <a:r>
              <a:rPr dirty="0"/>
              <a:t>ACK </a:t>
            </a:r>
            <a:r>
              <a:rPr dirty="0" err="1"/>
              <a:t>сообщает</a:t>
            </a:r>
            <a:r>
              <a:rPr dirty="0"/>
              <a:t>, </a:t>
            </a:r>
            <a:r>
              <a:rPr dirty="0" err="1"/>
              <a:t>какие</a:t>
            </a:r>
            <a:r>
              <a:rPr dirty="0"/>
              <a:t> </a:t>
            </a:r>
            <a:r>
              <a:rPr dirty="0" err="1"/>
              <a:t>данные</a:t>
            </a:r>
            <a:r>
              <a:rPr dirty="0"/>
              <a:t> </a:t>
            </a:r>
            <a:r>
              <a:rPr dirty="0" err="1"/>
              <a:t>получатель</a:t>
            </a:r>
            <a:r>
              <a:rPr dirty="0"/>
              <a:t> </a:t>
            </a:r>
            <a:r>
              <a:rPr dirty="0" err="1"/>
              <a:t>уже</a:t>
            </a:r>
            <a:r>
              <a:rPr dirty="0"/>
              <a:t> </a:t>
            </a:r>
            <a:r>
              <a:rPr dirty="0" err="1"/>
              <a:t>принял</a:t>
            </a:r>
            <a:r>
              <a:rPr lang="en-US" dirty="0"/>
              <a:t>;</a:t>
            </a:r>
            <a:endParaRPr dirty="0"/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окно</a:t>
            </a:r>
            <a:r>
              <a:rPr dirty="0"/>
              <a:t> </a:t>
            </a:r>
            <a:r>
              <a:rPr dirty="0" err="1"/>
              <a:t>маленькое</a:t>
            </a:r>
            <a:r>
              <a:rPr dirty="0"/>
              <a:t>, </a:t>
            </a:r>
            <a:r>
              <a:rPr dirty="0" err="1"/>
              <a:t>передача</a:t>
            </a:r>
            <a:r>
              <a:rPr dirty="0"/>
              <a:t> </a:t>
            </a:r>
            <a:r>
              <a:rPr dirty="0" err="1"/>
              <a:t>замедляется</a:t>
            </a:r>
            <a:r>
              <a:rPr lang="en-US" dirty="0"/>
              <a:t>;</a:t>
            </a:r>
            <a:endParaRPr dirty="0"/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окно</a:t>
            </a:r>
            <a:r>
              <a:rPr dirty="0"/>
              <a:t> </a:t>
            </a:r>
            <a:r>
              <a:rPr dirty="0" err="1"/>
              <a:t>большое</a:t>
            </a:r>
            <a:r>
              <a:rPr dirty="0"/>
              <a:t>, TCP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эффективнее</a:t>
            </a:r>
            <a:r>
              <a:rPr dirty="0"/>
              <a:t> </a:t>
            </a:r>
            <a:r>
              <a:rPr dirty="0" err="1"/>
              <a:t>использовать</a:t>
            </a:r>
            <a:r>
              <a:rPr dirty="0"/>
              <a:t> </a:t>
            </a:r>
            <a:r>
              <a:rPr dirty="0" err="1"/>
              <a:t>канал</a:t>
            </a:r>
            <a:r>
              <a:rPr lang="en-US" dirty="0"/>
              <a:t>;</a:t>
            </a:r>
            <a:endParaRPr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Зачем нужно окно TCP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Получатель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медленнее</a:t>
            </a:r>
            <a:r>
              <a:rPr dirty="0"/>
              <a:t> </a:t>
            </a:r>
            <a:r>
              <a:rPr dirty="0" err="1"/>
              <a:t>отправителя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Буфер</a:t>
            </a:r>
            <a:r>
              <a:rPr dirty="0"/>
              <a:t> </a:t>
            </a:r>
            <a:r>
              <a:rPr dirty="0" err="1"/>
              <a:t>получателя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заполниться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Сеть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терять</a:t>
            </a:r>
            <a:r>
              <a:rPr dirty="0"/>
              <a:t> </a:t>
            </a:r>
            <a:r>
              <a:rPr dirty="0" err="1"/>
              <a:t>сегменты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перегрузке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TCP </a:t>
            </a:r>
            <a:r>
              <a:rPr dirty="0" err="1"/>
              <a:t>должен</a:t>
            </a:r>
            <a:r>
              <a:rPr dirty="0"/>
              <a:t> </a:t>
            </a:r>
            <a:r>
              <a:rPr dirty="0" err="1"/>
              <a:t>передавать</a:t>
            </a:r>
            <a:r>
              <a:rPr dirty="0"/>
              <a:t> </a:t>
            </a:r>
            <a:r>
              <a:rPr dirty="0" err="1"/>
              <a:t>данные</a:t>
            </a:r>
            <a:r>
              <a:rPr dirty="0"/>
              <a:t> </a:t>
            </a:r>
            <a:r>
              <a:rPr dirty="0" err="1"/>
              <a:t>быстро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разрушения</a:t>
            </a:r>
            <a:r>
              <a:rPr dirty="0"/>
              <a:t> </a:t>
            </a:r>
            <a:r>
              <a:rPr dirty="0" err="1"/>
              <a:t>соединения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Окно</a:t>
            </a:r>
            <a:r>
              <a:rPr dirty="0"/>
              <a:t> </a:t>
            </a:r>
            <a:r>
              <a:rPr dirty="0" err="1"/>
              <a:t>помогает</a:t>
            </a:r>
            <a:r>
              <a:rPr dirty="0"/>
              <a:t> </a:t>
            </a:r>
            <a:r>
              <a:rPr dirty="0" err="1"/>
              <a:t>согласовать</a:t>
            </a:r>
            <a:r>
              <a:rPr dirty="0"/>
              <a:t> </a:t>
            </a:r>
            <a:r>
              <a:rPr dirty="0" err="1"/>
              <a:t>скорость</a:t>
            </a:r>
            <a:r>
              <a:rPr dirty="0"/>
              <a:t> </a:t>
            </a:r>
            <a:r>
              <a:rPr dirty="0" err="1"/>
              <a:t>отправителя</a:t>
            </a:r>
            <a:r>
              <a:rPr dirty="0"/>
              <a:t> и </a:t>
            </a:r>
            <a:r>
              <a:rPr dirty="0" err="1"/>
              <a:t>получателя</a:t>
            </a:r>
            <a:r>
              <a:rPr lang="en-US" dirty="0"/>
              <a:t>;</a:t>
            </a:r>
            <a:endParaRPr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Sequence number и 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442913">
              <a:defRPr sz="3600"/>
            </a:pPr>
            <a:r>
              <a:rPr dirty="0"/>
              <a:t>Sequence number </a:t>
            </a:r>
            <a:r>
              <a:rPr dirty="0" err="1"/>
              <a:t>нумерует</a:t>
            </a:r>
            <a:r>
              <a:rPr dirty="0"/>
              <a:t> </a:t>
            </a:r>
            <a:r>
              <a:rPr dirty="0" err="1"/>
              <a:t>байты</a:t>
            </a:r>
            <a:r>
              <a:rPr dirty="0"/>
              <a:t> в TCP-</a:t>
            </a:r>
            <a:r>
              <a:rPr dirty="0" err="1"/>
              <a:t>потоке</a:t>
            </a:r>
            <a:r>
              <a:rPr lang="en-US" dirty="0"/>
              <a:t>.</a:t>
            </a:r>
            <a:endParaRPr dirty="0"/>
          </a:p>
          <a:p>
            <a:pPr indent="442913">
              <a:defRPr sz="3600"/>
            </a:pPr>
            <a:r>
              <a:rPr dirty="0"/>
              <a:t>ACK </a:t>
            </a:r>
            <a:r>
              <a:rPr dirty="0" err="1"/>
              <a:t>подтверждает</a:t>
            </a:r>
            <a:r>
              <a:rPr dirty="0"/>
              <a:t> </a:t>
            </a:r>
            <a:r>
              <a:rPr dirty="0" err="1"/>
              <a:t>получение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</a:t>
            </a:r>
            <a:r>
              <a:rPr dirty="0" err="1"/>
              <a:t>определенного</a:t>
            </a:r>
            <a:r>
              <a:rPr dirty="0"/>
              <a:t> </a:t>
            </a:r>
            <a:r>
              <a:rPr dirty="0" err="1"/>
              <a:t>номера</a:t>
            </a:r>
            <a:r>
              <a:rPr lang="en-US" dirty="0"/>
              <a:t>.</a:t>
            </a:r>
            <a:endParaRPr dirty="0"/>
          </a:p>
          <a:p>
            <a:pPr indent="442913"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сегмент</a:t>
            </a:r>
            <a:r>
              <a:rPr dirty="0"/>
              <a:t> </a:t>
            </a:r>
            <a:r>
              <a:rPr dirty="0" err="1"/>
              <a:t>потерян</a:t>
            </a:r>
            <a:r>
              <a:rPr dirty="0"/>
              <a:t>, </a:t>
            </a:r>
            <a:r>
              <a:rPr dirty="0" err="1"/>
              <a:t>подтверждение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продвигается</a:t>
            </a:r>
            <a:r>
              <a:rPr dirty="0"/>
              <a:t> </a:t>
            </a:r>
            <a:r>
              <a:rPr dirty="0" err="1"/>
              <a:t>вперед</a:t>
            </a:r>
            <a:r>
              <a:rPr lang="en-US" dirty="0"/>
              <a:t>.</a:t>
            </a:r>
            <a:endParaRPr dirty="0"/>
          </a:p>
          <a:p>
            <a:pPr indent="442913">
              <a:defRPr sz="3600"/>
            </a:pPr>
            <a:r>
              <a:rPr dirty="0" err="1"/>
              <a:t>Отправитель</a:t>
            </a:r>
            <a:r>
              <a:rPr dirty="0"/>
              <a:t> </a:t>
            </a:r>
            <a:r>
              <a:rPr dirty="0" err="1"/>
              <a:t>понимает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часть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отправить</a:t>
            </a:r>
            <a:r>
              <a:rPr dirty="0"/>
              <a:t> </a:t>
            </a:r>
            <a:r>
              <a:rPr dirty="0" err="1"/>
              <a:t>снова</a:t>
            </a:r>
            <a:r>
              <a:rPr lang="en-US" dirty="0"/>
              <a:t>.</a:t>
            </a:r>
            <a:endParaRPr dirty="0"/>
          </a:p>
          <a:p>
            <a:pPr indent="442913">
              <a:defRPr sz="3600"/>
            </a:pPr>
            <a:r>
              <a:rPr dirty="0" err="1"/>
              <a:t>Так</a:t>
            </a:r>
            <a:r>
              <a:rPr dirty="0"/>
              <a:t> TCP </a:t>
            </a:r>
            <a:r>
              <a:rPr dirty="0" err="1"/>
              <a:t>восстанавливает</a:t>
            </a:r>
            <a:r>
              <a:rPr dirty="0"/>
              <a:t> </a:t>
            </a:r>
            <a:r>
              <a:rPr dirty="0" err="1"/>
              <a:t>поток</a:t>
            </a:r>
            <a:r>
              <a:rPr dirty="0"/>
              <a:t>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потерь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Диаграмма</a:t>
            </a:r>
            <a:r>
              <a:rPr dirty="0"/>
              <a:t>: </a:t>
            </a:r>
            <a:r>
              <a:rPr dirty="0" err="1"/>
              <a:t>принцип</a:t>
            </a:r>
            <a:r>
              <a:rPr dirty="0"/>
              <a:t> </a:t>
            </a:r>
            <a:r>
              <a:rPr dirty="0" err="1"/>
              <a:t>скользящего</a:t>
            </a:r>
            <a:r>
              <a:rPr dirty="0"/>
              <a:t> </a:t>
            </a:r>
            <a:r>
              <a:rPr dirty="0" err="1"/>
              <a:t>окна</a:t>
            </a:r>
            <a:r>
              <a:rPr dirty="0"/>
              <a:t> TCP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7655445-FE03-45E3-5B6F-7A203ED59C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Что видит администратор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потерях</a:t>
            </a:r>
            <a:r>
              <a:rPr dirty="0"/>
              <a:t> </a:t>
            </a:r>
            <a:r>
              <a:rPr dirty="0" err="1"/>
              <a:t>пакетов</a:t>
            </a:r>
            <a:r>
              <a:rPr dirty="0"/>
              <a:t> TCP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работать</a:t>
            </a:r>
            <a:r>
              <a:rPr dirty="0"/>
              <a:t> </a:t>
            </a:r>
            <a:r>
              <a:rPr dirty="0" err="1"/>
              <a:t>медленно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высокой</a:t>
            </a:r>
            <a:r>
              <a:rPr dirty="0"/>
              <a:t> </a:t>
            </a:r>
            <a:r>
              <a:rPr dirty="0" err="1"/>
              <a:t>задержке</a:t>
            </a:r>
            <a:r>
              <a:rPr dirty="0"/>
              <a:t> </a:t>
            </a:r>
            <a:r>
              <a:rPr dirty="0" err="1"/>
              <a:t>соединение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открываться</a:t>
            </a:r>
            <a:r>
              <a:rPr dirty="0"/>
              <a:t> </a:t>
            </a:r>
            <a:r>
              <a:rPr dirty="0" err="1"/>
              <a:t>долго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малом</a:t>
            </a:r>
            <a:r>
              <a:rPr dirty="0"/>
              <a:t> </a:t>
            </a:r>
            <a:r>
              <a:rPr dirty="0" err="1"/>
              <a:t>окне</a:t>
            </a:r>
            <a:r>
              <a:rPr dirty="0"/>
              <a:t> </a:t>
            </a:r>
            <a:r>
              <a:rPr dirty="0" err="1"/>
              <a:t>передача</a:t>
            </a:r>
            <a:r>
              <a:rPr dirty="0"/>
              <a:t> </a:t>
            </a:r>
            <a:r>
              <a:rPr dirty="0" err="1"/>
              <a:t>больших</a:t>
            </a:r>
            <a:r>
              <a:rPr dirty="0"/>
              <a:t> </a:t>
            </a:r>
            <a:r>
              <a:rPr dirty="0" err="1"/>
              <a:t>файлов</a:t>
            </a:r>
            <a:r>
              <a:rPr dirty="0"/>
              <a:t> </a:t>
            </a:r>
            <a:r>
              <a:rPr dirty="0" err="1"/>
              <a:t>замедляется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Ошибка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выглядеть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медленный</a:t>
            </a:r>
            <a:r>
              <a:rPr dirty="0"/>
              <a:t> </a:t>
            </a:r>
            <a:r>
              <a:rPr dirty="0" err="1"/>
              <a:t>сайт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медленная</a:t>
            </a:r>
            <a:r>
              <a:rPr dirty="0"/>
              <a:t> </a:t>
            </a:r>
            <a:r>
              <a:rPr dirty="0" err="1"/>
              <a:t>общая</a:t>
            </a:r>
            <a:r>
              <a:rPr dirty="0"/>
              <a:t> </a:t>
            </a:r>
            <a:r>
              <a:rPr dirty="0" err="1"/>
              <a:t>папка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анализа</a:t>
            </a:r>
            <a:r>
              <a:rPr dirty="0"/>
              <a:t> </a:t>
            </a:r>
            <a:r>
              <a:rPr dirty="0" err="1"/>
              <a:t>используют</a:t>
            </a:r>
            <a:r>
              <a:rPr dirty="0"/>
              <a:t> ping, traceroute, ss, netstat, Wireshark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tcpdump</a:t>
            </a:r>
            <a:r>
              <a:rPr lang="en-US" dirty="0"/>
              <a:t>;</a:t>
            </a:r>
            <a:endParaRPr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4286" y="182880"/>
            <a:ext cx="11232947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000" dirty="0"/>
              <a:t>6. Socket: </a:t>
            </a:r>
            <a:r>
              <a:rPr sz="4000" dirty="0" err="1"/>
              <a:t>сочетание</a:t>
            </a:r>
            <a:r>
              <a:rPr sz="4000" dirty="0"/>
              <a:t> IP-</a:t>
            </a:r>
            <a:r>
              <a:rPr sz="4000" dirty="0" err="1"/>
              <a:t>адреса</a:t>
            </a:r>
            <a:r>
              <a:rPr sz="4000" dirty="0"/>
              <a:t>, </a:t>
            </a:r>
            <a:r>
              <a:rPr sz="4000" dirty="0" err="1"/>
              <a:t>протокола</a:t>
            </a:r>
            <a:r>
              <a:rPr sz="4000" dirty="0"/>
              <a:t> и </a:t>
            </a:r>
            <a:r>
              <a:rPr sz="4000" dirty="0" err="1"/>
              <a:t>порта</a:t>
            </a:r>
            <a:endParaRPr sz="4000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371006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/>
              <a:t>Socket - </a:t>
            </a:r>
            <a:r>
              <a:rPr dirty="0" err="1"/>
              <a:t>программная</a:t>
            </a:r>
            <a:r>
              <a:rPr dirty="0"/>
              <a:t> </a:t>
            </a:r>
            <a:r>
              <a:rPr dirty="0" err="1"/>
              <a:t>конечная</a:t>
            </a:r>
            <a:r>
              <a:rPr dirty="0"/>
              <a:t> </a:t>
            </a:r>
            <a:r>
              <a:rPr dirty="0" err="1"/>
              <a:t>точка</a:t>
            </a:r>
            <a:r>
              <a:rPr dirty="0"/>
              <a:t> </a:t>
            </a:r>
            <a:r>
              <a:rPr dirty="0" err="1"/>
              <a:t>сетевого</a:t>
            </a:r>
            <a:r>
              <a:rPr dirty="0"/>
              <a:t> </a:t>
            </a:r>
            <a:r>
              <a:rPr dirty="0" err="1"/>
              <a:t>обмена</a:t>
            </a:r>
            <a:r>
              <a:rPr lang="en-US" dirty="0"/>
              <a:t>;</a:t>
            </a:r>
            <a:endParaRPr dirty="0"/>
          </a:p>
          <a:p>
            <a:pPr indent="354013">
              <a:defRPr sz="3600"/>
            </a:pPr>
            <a:r>
              <a:rPr dirty="0" err="1"/>
              <a:t>Сокет</a:t>
            </a:r>
            <a:r>
              <a:rPr dirty="0"/>
              <a:t> </a:t>
            </a:r>
            <a:r>
              <a:rPr dirty="0" err="1"/>
              <a:t>связывает</a:t>
            </a:r>
            <a:r>
              <a:rPr dirty="0"/>
              <a:t> </a:t>
            </a:r>
            <a:r>
              <a:rPr dirty="0" err="1"/>
              <a:t>приложение</a:t>
            </a:r>
            <a:r>
              <a:rPr dirty="0"/>
              <a:t> с IP-</a:t>
            </a:r>
            <a:r>
              <a:rPr dirty="0" err="1"/>
              <a:t>адресом</a:t>
            </a:r>
            <a:r>
              <a:rPr dirty="0"/>
              <a:t>, </a:t>
            </a:r>
            <a:r>
              <a:rPr dirty="0" err="1"/>
              <a:t>протоколом</a:t>
            </a:r>
            <a:r>
              <a:rPr dirty="0"/>
              <a:t> и </a:t>
            </a:r>
            <a:r>
              <a:rPr dirty="0" err="1"/>
              <a:t>портом</a:t>
            </a:r>
            <a:r>
              <a:rPr lang="en-US" dirty="0"/>
              <a:t>;</a:t>
            </a:r>
            <a:endParaRPr dirty="0"/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сервера</a:t>
            </a:r>
            <a:r>
              <a:rPr dirty="0"/>
              <a:t> </a:t>
            </a:r>
            <a:r>
              <a:rPr dirty="0" err="1"/>
              <a:t>сокет</a:t>
            </a:r>
            <a:r>
              <a:rPr dirty="0"/>
              <a:t> </a:t>
            </a: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означает</a:t>
            </a:r>
            <a:r>
              <a:rPr dirty="0"/>
              <a:t> </a:t>
            </a:r>
            <a:r>
              <a:rPr dirty="0" err="1"/>
              <a:t>адрес</a:t>
            </a:r>
            <a:r>
              <a:rPr dirty="0"/>
              <a:t> и </a:t>
            </a:r>
            <a:r>
              <a:rPr dirty="0" err="1"/>
              <a:t>порт</a:t>
            </a:r>
            <a:r>
              <a:rPr dirty="0"/>
              <a:t>, </a:t>
            </a:r>
            <a:r>
              <a:rPr dirty="0" err="1"/>
              <a:t>которые</a:t>
            </a:r>
            <a:r>
              <a:rPr dirty="0"/>
              <a:t> </a:t>
            </a:r>
            <a:r>
              <a:rPr dirty="0" err="1"/>
              <a:t>служба</a:t>
            </a:r>
            <a:r>
              <a:rPr dirty="0"/>
              <a:t> </a:t>
            </a:r>
            <a:r>
              <a:rPr dirty="0" err="1"/>
              <a:t>слушает</a:t>
            </a:r>
            <a:r>
              <a:rPr lang="en-US" dirty="0"/>
              <a:t>;</a:t>
            </a:r>
            <a:endParaRPr dirty="0"/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клиента</a:t>
            </a:r>
            <a:r>
              <a:rPr dirty="0"/>
              <a:t> </a:t>
            </a:r>
            <a:r>
              <a:rPr dirty="0" err="1"/>
              <a:t>сокет</a:t>
            </a:r>
            <a:r>
              <a:rPr dirty="0"/>
              <a:t> </a:t>
            </a:r>
            <a:r>
              <a:rPr dirty="0" err="1"/>
              <a:t>включает</a:t>
            </a:r>
            <a:r>
              <a:rPr dirty="0"/>
              <a:t> </a:t>
            </a:r>
            <a:r>
              <a:rPr dirty="0" err="1"/>
              <a:t>временный</a:t>
            </a:r>
            <a:r>
              <a:rPr dirty="0"/>
              <a:t> </a:t>
            </a:r>
            <a:r>
              <a:rPr dirty="0" err="1"/>
              <a:t>исходящий</a:t>
            </a:r>
            <a:r>
              <a:rPr dirty="0"/>
              <a:t> </a:t>
            </a:r>
            <a:r>
              <a:rPr dirty="0" err="1"/>
              <a:t>порт</a:t>
            </a:r>
            <a:r>
              <a:rPr lang="en-US" dirty="0"/>
              <a:t>;</a:t>
            </a:r>
            <a:endParaRPr dirty="0"/>
          </a:p>
          <a:p>
            <a:pPr indent="354013">
              <a:defRPr sz="3600"/>
            </a:pPr>
            <a:r>
              <a:rPr dirty="0"/>
              <a:t>В TCP-</a:t>
            </a:r>
            <a:r>
              <a:rPr dirty="0" err="1"/>
              <a:t>соединении</a:t>
            </a:r>
            <a:r>
              <a:rPr dirty="0"/>
              <a:t> </a:t>
            </a:r>
            <a:r>
              <a:rPr dirty="0" err="1"/>
              <a:t>важна</a:t>
            </a:r>
            <a:r>
              <a:rPr dirty="0"/>
              <a:t> </a:t>
            </a:r>
            <a:r>
              <a:rPr dirty="0" err="1"/>
              <a:t>пара</a:t>
            </a:r>
            <a:r>
              <a:rPr dirty="0"/>
              <a:t> </a:t>
            </a:r>
            <a:r>
              <a:rPr dirty="0" err="1"/>
              <a:t>клиентского</a:t>
            </a:r>
            <a:r>
              <a:rPr dirty="0"/>
              <a:t> и </a:t>
            </a:r>
            <a:r>
              <a:rPr dirty="0" err="1"/>
              <a:t>серверного</a:t>
            </a:r>
            <a:r>
              <a:rPr dirty="0"/>
              <a:t> </a:t>
            </a:r>
            <a:r>
              <a:rPr dirty="0" err="1"/>
              <a:t>сокетов</a:t>
            </a:r>
            <a:r>
              <a:rPr lang="en-US" dirty="0"/>
              <a:t>;</a:t>
            </a:r>
            <a:endParaRPr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Порт как адрес приложения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199" y="914400"/>
            <a:ext cx="11297265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Порт</a:t>
            </a:r>
            <a:r>
              <a:rPr dirty="0"/>
              <a:t> - </a:t>
            </a:r>
            <a:r>
              <a:rPr dirty="0" err="1"/>
              <a:t>числовой</a:t>
            </a:r>
            <a:r>
              <a:rPr dirty="0"/>
              <a:t> </a:t>
            </a:r>
            <a:r>
              <a:rPr dirty="0" err="1"/>
              <a:t>идентификатор</a:t>
            </a:r>
            <a:r>
              <a:rPr dirty="0"/>
              <a:t> </a:t>
            </a:r>
            <a:r>
              <a:rPr dirty="0" err="1"/>
              <a:t>сетевого</a:t>
            </a:r>
            <a:r>
              <a:rPr dirty="0"/>
              <a:t> </a:t>
            </a:r>
            <a:r>
              <a:rPr dirty="0" err="1"/>
              <a:t>приложения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узле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Порт</a:t>
            </a:r>
            <a:r>
              <a:rPr dirty="0"/>
              <a:t> </a:t>
            </a:r>
            <a:r>
              <a:rPr dirty="0" err="1"/>
              <a:t>находится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транспортном</a:t>
            </a:r>
            <a:r>
              <a:rPr dirty="0"/>
              <a:t> </a:t>
            </a:r>
            <a:r>
              <a:rPr dirty="0" err="1"/>
              <a:t>уровне</a:t>
            </a:r>
            <a:r>
              <a:rPr dirty="0"/>
              <a:t>, а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сетевом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Один</a:t>
            </a:r>
            <a:r>
              <a:rPr dirty="0"/>
              <a:t> </a:t>
            </a:r>
            <a:r>
              <a:rPr dirty="0" err="1"/>
              <a:t>сервер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иметь</a:t>
            </a:r>
            <a:r>
              <a:rPr dirty="0"/>
              <a:t> </a:t>
            </a:r>
            <a:r>
              <a:rPr dirty="0" err="1"/>
              <a:t>один</a:t>
            </a:r>
            <a:r>
              <a:rPr dirty="0"/>
              <a:t> IP-</a:t>
            </a:r>
            <a:r>
              <a:rPr dirty="0" err="1"/>
              <a:t>адрес</a:t>
            </a:r>
            <a:r>
              <a:rPr dirty="0"/>
              <a:t> и </a:t>
            </a:r>
            <a:r>
              <a:rPr dirty="0" err="1"/>
              <a:t>много</a:t>
            </a:r>
            <a:r>
              <a:rPr dirty="0"/>
              <a:t> </a:t>
            </a:r>
            <a:r>
              <a:rPr dirty="0" err="1"/>
              <a:t>служб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разных</a:t>
            </a:r>
            <a:r>
              <a:rPr dirty="0"/>
              <a:t> </a:t>
            </a:r>
            <a:r>
              <a:rPr dirty="0" err="1"/>
              <a:t>портах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Например</a:t>
            </a:r>
            <a:r>
              <a:rPr dirty="0"/>
              <a:t>, 22 </a:t>
            </a:r>
            <a:r>
              <a:rPr dirty="0" err="1"/>
              <a:t>для</a:t>
            </a:r>
            <a:r>
              <a:rPr dirty="0"/>
              <a:t> SSH, 80 </a:t>
            </a:r>
            <a:r>
              <a:rPr dirty="0" err="1"/>
              <a:t>для</a:t>
            </a:r>
            <a:r>
              <a:rPr dirty="0"/>
              <a:t> HTTP, 443 </a:t>
            </a:r>
            <a:r>
              <a:rPr dirty="0" err="1"/>
              <a:t>для</a:t>
            </a:r>
            <a:r>
              <a:rPr dirty="0"/>
              <a:t> HTTPS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Номер</a:t>
            </a:r>
            <a:r>
              <a:rPr dirty="0"/>
              <a:t> </a:t>
            </a:r>
            <a:r>
              <a:rPr dirty="0" err="1"/>
              <a:t>порта</a:t>
            </a:r>
            <a:r>
              <a:rPr dirty="0"/>
              <a:t> </a:t>
            </a:r>
            <a:r>
              <a:rPr dirty="0" err="1"/>
              <a:t>сам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себе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гарантирует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там</a:t>
            </a:r>
            <a:r>
              <a:rPr dirty="0"/>
              <a:t> </a:t>
            </a:r>
            <a:r>
              <a:rPr dirty="0" err="1"/>
              <a:t>работает</a:t>
            </a:r>
            <a:r>
              <a:rPr dirty="0"/>
              <a:t> </a:t>
            </a:r>
            <a:r>
              <a:rPr dirty="0" err="1"/>
              <a:t>ожидаемая</a:t>
            </a:r>
            <a:r>
              <a:rPr dirty="0"/>
              <a:t> </a:t>
            </a:r>
            <a:r>
              <a:rPr dirty="0" err="1"/>
              <a:t>служба</a:t>
            </a:r>
            <a:r>
              <a:rPr lang="en-US" dirty="0"/>
              <a:t>;</a:t>
            </a:r>
            <a:endParaRPr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Серверный и клиентский сокет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Сервер</a:t>
            </a:r>
            <a:r>
              <a:rPr dirty="0"/>
              <a:t> </a:t>
            </a:r>
            <a:r>
              <a:rPr dirty="0" err="1"/>
              <a:t>слушает</a:t>
            </a:r>
            <a:r>
              <a:rPr dirty="0"/>
              <a:t> </a:t>
            </a:r>
            <a:r>
              <a:rPr dirty="0" err="1"/>
              <a:t>известный</a:t>
            </a:r>
            <a:r>
              <a:rPr dirty="0"/>
              <a:t> </a:t>
            </a:r>
            <a:r>
              <a:rPr dirty="0" err="1"/>
              <a:t>порт</a:t>
            </a:r>
            <a:r>
              <a:rPr dirty="0"/>
              <a:t>, </a:t>
            </a:r>
            <a:r>
              <a:rPr dirty="0" err="1"/>
              <a:t>например</a:t>
            </a:r>
            <a:r>
              <a:rPr dirty="0"/>
              <a:t> TCP 443</a:t>
            </a:r>
            <a:r>
              <a:rPr lang="en-US" dirty="0"/>
              <a:t>;</a:t>
            </a:r>
            <a:endParaRPr dirty="0"/>
          </a:p>
          <a:p>
            <a:pPr indent="354013">
              <a:defRPr sz="3600"/>
            </a:pPr>
            <a:r>
              <a:rPr dirty="0" err="1"/>
              <a:t>Клиент</a:t>
            </a:r>
            <a:r>
              <a:rPr dirty="0"/>
              <a:t> </a:t>
            </a:r>
            <a:r>
              <a:rPr dirty="0" err="1"/>
              <a:t>открывает</a:t>
            </a:r>
            <a:r>
              <a:rPr dirty="0"/>
              <a:t> </a:t>
            </a:r>
            <a:r>
              <a:rPr dirty="0" err="1"/>
              <a:t>временный</a:t>
            </a:r>
            <a:r>
              <a:rPr dirty="0"/>
              <a:t> </a:t>
            </a:r>
            <a:r>
              <a:rPr dirty="0" err="1"/>
              <a:t>порт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динамического</a:t>
            </a:r>
            <a:r>
              <a:rPr dirty="0"/>
              <a:t> </a:t>
            </a:r>
            <a:r>
              <a:rPr dirty="0" err="1"/>
              <a:t>диапазона</a:t>
            </a:r>
            <a:r>
              <a:rPr lang="en-US" dirty="0"/>
              <a:t>;</a:t>
            </a:r>
            <a:endParaRPr dirty="0"/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: </a:t>
            </a:r>
            <a:r>
              <a:rPr dirty="0" err="1"/>
              <a:t>клиент</a:t>
            </a:r>
            <a:r>
              <a:rPr dirty="0"/>
              <a:t> 192.168.1.50:51544 </a:t>
            </a:r>
            <a:r>
              <a:rPr dirty="0" err="1"/>
              <a:t>подключается</a:t>
            </a:r>
            <a:r>
              <a:rPr dirty="0"/>
              <a:t> к </a:t>
            </a:r>
            <a:r>
              <a:rPr dirty="0" err="1"/>
              <a:t>серверу</a:t>
            </a:r>
            <a:r>
              <a:rPr dirty="0"/>
              <a:t> 192.168.1.10:443</a:t>
            </a:r>
            <a:r>
              <a:rPr lang="en-US" dirty="0"/>
              <a:t>;</a:t>
            </a:r>
            <a:endParaRPr dirty="0"/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TCP </a:t>
            </a:r>
            <a:r>
              <a:rPr dirty="0" err="1"/>
              <a:t>соединение</a:t>
            </a:r>
            <a:r>
              <a:rPr dirty="0"/>
              <a:t> </a:t>
            </a:r>
            <a:r>
              <a:rPr dirty="0" err="1"/>
              <a:t>определяется</a:t>
            </a:r>
            <a:r>
              <a:rPr dirty="0"/>
              <a:t> </a:t>
            </a:r>
            <a:r>
              <a:rPr dirty="0" err="1"/>
              <a:t>парой</a:t>
            </a:r>
            <a:r>
              <a:rPr dirty="0"/>
              <a:t> </a:t>
            </a:r>
            <a:r>
              <a:rPr dirty="0" err="1"/>
              <a:t>адресов</a:t>
            </a:r>
            <a:r>
              <a:rPr dirty="0"/>
              <a:t> и </a:t>
            </a:r>
            <a:r>
              <a:rPr dirty="0" err="1"/>
              <a:t>портов</a:t>
            </a:r>
            <a:r>
              <a:rPr lang="en-US" dirty="0"/>
              <a:t>;</a:t>
            </a:r>
            <a:endParaRPr dirty="0"/>
          </a:p>
          <a:p>
            <a:pPr indent="354013">
              <a:defRPr sz="3600"/>
            </a:pPr>
            <a:r>
              <a:rPr dirty="0" err="1"/>
              <a:t>Поэтому</a:t>
            </a:r>
            <a:r>
              <a:rPr dirty="0"/>
              <a:t> к </a:t>
            </a:r>
            <a:r>
              <a:rPr dirty="0" err="1"/>
              <a:t>одному</a:t>
            </a:r>
            <a:r>
              <a:rPr dirty="0"/>
              <a:t> </a:t>
            </a:r>
            <a:r>
              <a:rPr dirty="0" err="1"/>
              <a:t>серверному</a:t>
            </a:r>
            <a:r>
              <a:rPr dirty="0"/>
              <a:t> </a:t>
            </a:r>
            <a:r>
              <a:rPr dirty="0" err="1"/>
              <a:t>порту</a:t>
            </a:r>
            <a:r>
              <a:rPr dirty="0"/>
              <a:t> </a:t>
            </a:r>
            <a:r>
              <a:rPr dirty="0" err="1"/>
              <a:t>могут</a:t>
            </a:r>
            <a:r>
              <a:rPr dirty="0"/>
              <a:t> </a:t>
            </a:r>
            <a:r>
              <a:rPr dirty="0" err="1"/>
              <a:t>подключаться</a:t>
            </a:r>
            <a:r>
              <a:rPr dirty="0"/>
              <a:t> </a:t>
            </a:r>
            <a:r>
              <a:rPr dirty="0" err="1"/>
              <a:t>много</a:t>
            </a:r>
            <a:r>
              <a:rPr dirty="0"/>
              <a:t> </a:t>
            </a:r>
            <a:r>
              <a:rPr dirty="0" err="1"/>
              <a:t>клиентов</a:t>
            </a:r>
            <a:r>
              <a:rPr lang="en-US" dirty="0"/>
              <a:t>;</a:t>
            </a:r>
            <a:endParaRPr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Схема</a:t>
            </a:r>
            <a:r>
              <a:rPr dirty="0"/>
              <a:t>: TCP-</a:t>
            </a:r>
            <a:r>
              <a:rPr dirty="0" err="1"/>
              <a:t>соединение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сокеты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6B66066-FD10-2220-06CB-3AB4251812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C6E3C-39D6-5036-67E3-F3D111480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2EFCBE-B8CA-7B14-57B6-9AE7E5BEE1ED}"/>
              </a:ext>
            </a:extLst>
          </p:cNvPr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Схема</a:t>
            </a:r>
            <a:r>
              <a:rPr dirty="0"/>
              <a:t>: TCP-</a:t>
            </a:r>
            <a:r>
              <a:rPr dirty="0" err="1"/>
              <a:t>соединение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сокеты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F882DE-0A40-ADAB-49B7-5926A0D9E9D9}"/>
              </a:ext>
            </a:extLst>
          </p:cNvPr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936398C-0DB9-C624-9AF1-B08F147D9A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80692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Состояния TCP-соединений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9560" y="1017639"/>
            <a:ext cx="1161288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LISTEN - </a:t>
            </a:r>
            <a:r>
              <a:rPr dirty="0" err="1"/>
              <a:t>служба</a:t>
            </a:r>
            <a:r>
              <a:rPr dirty="0"/>
              <a:t> </a:t>
            </a:r>
            <a:r>
              <a:rPr dirty="0" err="1"/>
              <a:t>ожидает</a:t>
            </a:r>
            <a:r>
              <a:rPr dirty="0"/>
              <a:t> </a:t>
            </a:r>
            <a:r>
              <a:rPr dirty="0" err="1"/>
              <a:t>входящие</a:t>
            </a:r>
            <a:r>
              <a:rPr dirty="0"/>
              <a:t> </a:t>
            </a:r>
            <a:r>
              <a:rPr dirty="0" err="1"/>
              <a:t>подключения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ESTABLISHED - </a:t>
            </a:r>
            <a:r>
              <a:rPr dirty="0" err="1"/>
              <a:t>соединение</a:t>
            </a:r>
            <a:r>
              <a:rPr dirty="0"/>
              <a:t> </a:t>
            </a:r>
            <a:r>
              <a:rPr dirty="0" err="1"/>
              <a:t>установлено</a:t>
            </a:r>
            <a:r>
              <a:rPr dirty="0"/>
              <a:t> и </a:t>
            </a:r>
            <a:r>
              <a:rPr dirty="0" err="1"/>
              <a:t>используется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TIME_WAIT - </a:t>
            </a:r>
            <a:r>
              <a:rPr dirty="0" err="1"/>
              <a:t>соединение</a:t>
            </a:r>
            <a:r>
              <a:rPr dirty="0"/>
              <a:t> </a:t>
            </a:r>
            <a:r>
              <a:rPr dirty="0" err="1"/>
              <a:t>закрыто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запись</a:t>
            </a:r>
            <a:r>
              <a:rPr dirty="0"/>
              <a:t> </a:t>
            </a:r>
            <a:r>
              <a:rPr dirty="0" err="1"/>
              <a:t>временно</a:t>
            </a:r>
            <a:r>
              <a:rPr dirty="0"/>
              <a:t> </a:t>
            </a:r>
            <a:r>
              <a:rPr dirty="0" err="1"/>
              <a:t>сохраняется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SYN_SENT - </a:t>
            </a:r>
            <a:r>
              <a:rPr dirty="0" err="1"/>
              <a:t>клиент</a:t>
            </a:r>
            <a:r>
              <a:rPr dirty="0"/>
              <a:t> </a:t>
            </a:r>
            <a:r>
              <a:rPr dirty="0" err="1"/>
              <a:t>отправил</a:t>
            </a:r>
            <a:r>
              <a:rPr dirty="0"/>
              <a:t> SYN и </a:t>
            </a:r>
            <a:r>
              <a:rPr dirty="0" err="1"/>
              <a:t>ждет</a:t>
            </a:r>
            <a:r>
              <a:rPr dirty="0"/>
              <a:t> </a:t>
            </a:r>
            <a:r>
              <a:rPr dirty="0" err="1"/>
              <a:t>ответа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CLOSE_WAIT - </a:t>
            </a:r>
            <a:r>
              <a:rPr dirty="0" err="1"/>
              <a:t>удаленная</a:t>
            </a:r>
            <a:r>
              <a:rPr dirty="0"/>
              <a:t> </a:t>
            </a:r>
            <a:r>
              <a:rPr dirty="0" err="1"/>
              <a:t>сторона</a:t>
            </a:r>
            <a:r>
              <a:rPr dirty="0"/>
              <a:t> </a:t>
            </a:r>
            <a:r>
              <a:rPr dirty="0" err="1"/>
              <a:t>закрыла</a:t>
            </a:r>
            <a:r>
              <a:rPr dirty="0"/>
              <a:t> </a:t>
            </a:r>
            <a:r>
              <a:rPr dirty="0" err="1"/>
              <a:t>соединение</a:t>
            </a:r>
            <a:r>
              <a:rPr dirty="0"/>
              <a:t>, </a:t>
            </a:r>
            <a:r>
              <a:rPr dirty="0" err="1"/>
              <a:t>локальная</a:t>
            </a:r>
            <a:r>
              <a:rPr dirty="0"/>
              <a:t> </a:t>
            </a:r>
            <a:r>
              <a:rPr dirty="0" err="1"/>
              <a:t>еще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завершила</a:t>
            </a:r>
            <a:r>
              <a:rPr dirty="0"/>
              <a:t> </a:t>
            </a:r>
            <a:r>
              <a:rPr dirty="0" err="1"/>
              <a:t>закрытие</a:t>
            </a:r>
            <a:r>
              <a:rPr lang="en-US" dirty="0"/>
              <a:t>;</a:t>
            </a:r>
            <a:endParaRPr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Как посмотреть сокеты в ОС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dirty="0"/>
              <a:t>В Linux </a:t>
            </a:r>
            <a:r>
              <a:rPr dirty="0" err="1"/>
              <a:t>используют</a:t>
            </a:r>
            <a:r>
              <a:rPr dirty="0"/>
              <a:t> `ss -</a:t>
            </a:r>
            <a:r>
              <a:rPr dirty="0" err="1"/>
              <a:t>tulpn</a:t>
            </a:r>
            <a:r>
              <a:rPr dirty="0"/>
              <a:t>`</a:t>
            </a:r>
          </a:p>
          <a:p>
            <a:pPr>
              <a:defRPr sz="3600"/>
            </a:pPr>
            <a:r>
              <a:rPr dirty="0" err="1"/>
              <a:t>Ключ</a:t>
            </a:r>
            <a:r>
              <a:rPr dirty="0"/>
              <a:t> `-t` </a:t>
            </a:r>
            <a:r>
              <a:rPr dirty="0" err="1"/>
              <a:t>показывает</a:t>
            </a:r>
            <a:r>
              <a:rPr dirty="0"/>
              <a:t> TCP-</a:t>
            </a:r>
            <a:r>
              <a:rPr dirty="0" err="1"/>
              <a:t>сокеты</a:t>
            </a:r>
            <a:endParaRPr dirty="0"/>
          </a:p>
          <a:p>
            <a:pPr>
              <a:defRPr sz="3600"/>
            </a:pPr>
            <a:r>
              <a:rPr dirty="0" err="1"/>
              <a:t>Ключ</a:t>
            </a:r>
            <a:r>
              <a:rPr dirty="0"/>
              <a:t> `-u` </a:t>
            </a:r>
            <a:r>
              <a:rPr dirty="0" err="1"/>
              <a:t>показывает</a:t>
            </a:r>
            <a:r>
              <a:rPr dirty="0"/>
              <a:t> UDP-</a:t>
            </a:r>
            <a:r>
              <a:rPr dirty="0" err="1"/>
              <a:t>сокеты</a:t>
            </a:r>
            <a:endParaRPr dirty="0"/>
          </a:p>
          <a:p>
            <a:pPr>
              <a:defRPr sz="3600"/>
            </a:pPr>
            <a:r>
              <a:rPr dirty="0" err="1"/>
              <a:t>Ключ</a:t>
            </a:r>
            <a:r>
              <a:rPr dirty="0"/>
              <a:t> `-l`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слушающие</a:t>
            </a:r>
            <a:r>
              <a:rPr dirty="0"/>
              <a:t> </a:t>
            </a:r>
            <a:r>
              <a:rPr dirty="0" err="1"/>
              <a:t>порты</a:t>
            </a:r>
            <a:endParaRPr dirty="0"/>
          </a:p>
          <a:p>
            <a:pPr>
              <a:defRPr sz="3600"/>
            </a:pPr>
            <a:r>
              <a:rPr dirty="0"/>
              <a:t>В Windows </a:t>
            </a:r>
            <a:r>
              <a:rPr dirty="0" err="1"/>
              <a:t>используют</a:t>
            </a:r>
            <a:r>
              <a:rPr dirty="0"/>
              <a:t> `netstat -</a:t>
            </a:r>
            <a:r>
              <a:rPr dirty="0" err="1"/>
              <a:t>ano</a:t>
            </a:r>
            <a:r>
              <a:rPr dirty="0"/>
              <a:t>` </a:t>
            </a:r>
            <a:r>
              <a:rPr dirty="0" err="1"/>
              <a:t>или</a:t>
            </a:r>
            <a:r>
              <a:rPr dirty="0"/>
              <a:t> `Get-</a:t>
            </a:r>
            <a:r>
              <a:rPr dirty="0" err="1"/>
              <a:t>NetTCPConnection</a:t>
            </a:r>
            <a:r>
              <a:rPr dirty="0"/>
              <a:t>`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627E5-3A17-97FE-D12E-93DD065D5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C046109-1474-9FDA-4E3D-7DF20E464DC1}"/>
              </a:ext>
            </a:extLst>
          </p:cNvPr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Как посмотреть сокеты в ОС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335B1DE-5CDA-9DED-3FA7-8E546E4A9A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775"/>
          <a:stretch>
            <a:fillRect/>
          </a:stretch>
        </p:blipFill>
        <p:spPr>
          <a:xfrm>
            <a:off x="669576" y="1143055"/>
            <a:ext cx="11415252" cy="5024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50582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29249" y="182880"/>
            <a:ext cx="5533502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dirty="0"/>
              <a:t>Состояния UDP-портов в Linux</a:t>
            </a:r>
          </a:p>
          <a:p>
            <a:pPr algn="ctr">
              <a:defRPr sz="3200" b="1">
                <a:solidFill>
                  <a:srgbClr val="143764"/>
                </a:solidFill>
              </a:defRPr>
            </a:pP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fontScale="85000" lnSpcReduction="10000"/>
          </a:bodyPr>
          <a:lstStyle/>
          <a:p>
            <a:pPr>
              <a:defRPr sz="3600"/>
            </a:pPr>
            <a:r>
              <a:rPr lang="ru-RU" dirty="0"/>
              <a:t>UNCONN (</a:t>
            </a:r>
            <a:r>
              <a:rPr lang="ru-RU" dirty="0" err="1"/>
              <a:t>Unconnected</a:t>
            </a:r>
            <a:r>
              <a:rPr lang="ru-RU" dirty="0"/>
              <a:t>) — Ожидание пакетов</a:t>
            </a:r>
          </a:p>
          <a:p>
            <a:pPr>
              <a:defRPr sz="3600"/>
            </a:pPr>
            <a:r>
              <a:rPr lang="ru-RU" dirty="0"/>
              <a:t>Что означает: Порт успешно открыт программой, привязан к системе и находится в режиме ожидания входящих пакетов.</a:t>
            </a:r>
          </a:p>
          <a:p>
            <a:pPr>
              <a:defRPr sz="3600"/>
            </a:pPr>
            <a:r>
              <a:rPr lang="ru-RU" dirty="0"/>
              <a:t>это стандартное рабочее состояние для большинства UDP-серверов (DNS, DHCP, NTP).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ESTAB (</a:t>
            </a:r>
            <a:r>
              <a:rPr lang="ru-RU" dirty="0" err="1"/>
              <a:t>Established</a:t>
            </a:r>
            <a:r>
              <a:rPr lang="ru-RU" dirty="0"/>
              <a:t>) — Зафиксированный адрес</a:t>
            </a:r>
          </a:p>
          <a:p>
            <a:pPr>
              <a:defRPr sz="3600"/>
            </a:pPr>
            <a:r>
              <a:rPr lang="ru-RU" dirty="0"/>
              <a:t>Что означает: Программа внутри своего кода вызвала функцию </a:t>
            </a:r>
            <a:r>
              <a:rPr lang="ru-RU" dirty="0" err="1"/>
              <a:t>connect</a:t>
            </a:r>
            <a:r>
              <a:rPr lang="ru-RU" dirty="0"/>
              <a:t>() для UDP-сокета.</a:t>
            </a:r>
          </a:p>
          <a:p>
            <a:pPr>
              <a:defRPr sz="3600"/>
            </a:pPr>
            <a:r>
              <a:rPr lang="ru-RU" dirty="0"/>
              <a:t>Это состояние означает лишь то, что приложение заблокировало этот сокет строго под одного конкретного получателя.</a:t>
            </a:r>
            <a:endParaRPr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045C0-1F34-8A8F-61BB-E4F15C590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428949-5C68-A421-7802-45709EE831EF}"/>
              </a:ext>
            </a:extLst>
          </p:cNvPr>
          <p:cNvSpPr txBox="1"/>
          <p:nvPr/>
        </p:nvSpPr>
        <p:spPr>
          <a:xfrm>
            <a:off x="871321" y="182880"/>
            <a:ext cx="10418878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400" dirty="0"/>
              <a:t>7. Well-known ports </a:t>
            </a:r>
            <a:r>
              <a:rPr sz="4400" dirty="0" err="1"/>
              <a:t>популярных</a:t>
            </a:r>
            <a:r>
              <a:rPr sz="4400" dirty="0"/>
              <a:t> </a:t>
            </a:r>
            <a:r>
              <a:rPr sz="4400" dirty="0" err="1"/>
              <a:t>сервисов</a:t>
            </a:r>
            <a:endParaRPr sz="4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593A32-070E-FDB8-0EAF-B9C38E68AA98}"/>
              </a:ext>
            </a:extLst>
          </p:cNvPr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/>
              <a:t>Well-known ports - </a:t>
            </a:r>
            <a:r>
              <a:rPr dirty="0" err="1"/>
              <a:t>общеизвестные</a:t>
            </a:r>
            <a:r>
              <a:rPr dirty="0"/>
              <a:t> </a:t>
            </a:r>
            <a:r>
              <a:rPr dirty="0" err="1"/>
              <a:t>порты</a:t>
            </a:r>
            <a:r>
              <a:rPr dirty="0"/>
              <a:t> </a:t>
            </a:r>
            <a:r>
              <a:rPr dirty="0" err="1"/>
              <a:t>популярных</a:t>
            </a:r>
            <a:r>
              <a:rPr dirty="0"/>
              <a:t> </a:t>
            </a:r>
            <a:r>
              <a:rPr dirty="0" err="1"/>
              <a:t>служб</a:t>
            </a:r>
            <a:r>
              <a:rPr lang="en-US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Диапазон</a:t>
            </a:r>
            <a:r>
              <a:rPr dirty="0"/>
              <a:t> well-known ports: 0-1023</a:t>
            </a:r>
            <a:r>
              <a:rPr lang="en-US" dirty="0"/>
              <a:t>.</a:t>
            </a:r>
            <a:endParaRPr dirty="0"/>
          </a:p>
          <a:p>
            <a:pPr indent="354013">
              <a:defRPr sz="3600"/>
            </a:pPr>
            <a:r>
              <a:rPr dirty="0"/>
              <a:t>Эти </a:t>
            </a:r>
            <a:r>
              <a:rPr dirty="0" err="1"/>
              <a:t>номера</a:t>
            </a:r>
            <a:r>
              <a:rPr dirty="0"/>
              <a:t> </a:t>
            </a:r>
            <a:r>
              <a:rPr dirty="0" err="1"/>
              <a:t>закреплены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стандартными</a:t>
            </a:r>
            <a:r>
              <a:rPr dirty="0"/>
              <a:t> </a:t>
            </a:r>
            <a:r>
              <a:rPr dirty="0" err="1"/>
              <a:t>сервисами</a:t>
            </a:r>
            <a:r>
              <a:rPr lang="en-US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Администратор</a:t>
            </a:r>
            <a:r>
              <a:rPr dirty="0"/>
              <a:t> </a:t>
            </a:r>
            <a:r>
              <a:rPr dirty="0" err="1"/>
              <a:t>должен</a:t>
            </a:r>
            <a:r>
              <a:rPr dirty="0"/>
              <a:t> </a:t>
            </a:r>
            <a:r>
              <a:rPr dirty="0" err="1"/>
              <a:t>знать</a:t>
            </a:r>
            <a:r>
              <a:rPr dirty="0"/>
              <a:t>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встречающиеся</a:t>
            </a:r>
            <a:r>
              <a:rPr dirty="0"/>
              <a:t> </a:t>
            </a:r>
            <a:r>
              <a:rPr dirty="0" err="1"/>
              <a:t>порты</a:t>
            </a:r>
            <a:r>
              <a:rPr lang="en-US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Знание</a:t>
            </a:r>
            <a:r>
              <a:rPr dirty="0"/>
              <a:t> </a:t>
            </a:r>
            <a:r>
              <a:rPr dirty="0" err="1"/>
              <a:t>портов</a:t>
            </a:r>
            <a:r>
              <a:rPr dirty="0"/>
              <a:t> </a:t>
            </a:r>
            <a:r>
              <a:rPr dirty="0" err="1"/>
              <a:t>ускоряет</a:t>
            </a:r>
            <a:r>
              <a:rPr dirty="0"/>
              <a:t> </a:t>
            </a:r>
            <a:r>
              <a:rPr dirty="0" err="1"/>
              <a:t>настройку</a:t>
            </a:r>
            <a:r>
              <a:rPr dirty="0"/>
              <a:t> firewall и </a:t>
            </a:r>
            <a:r>
              <a:rPr dirty="0" err="1"/>
              <a:t>диагностику</a:t>
            </a:r>
            <a:r>
              <a:rPr lang="en-US" dirty="0"/>
              <a:t>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0960230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Порты удаленного доступа и файлов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dirty="0"/>
              <a:t>TCP 22 - SSH, </a:t>
            </a:r>
            <a:r>
              <a:rPr dirty="0" err="1"/>
              <a:t>защищенное</a:t>
            </a:r>
            <a:r>
              <a:rPr dirty="0"/>
              <a:t> </a:t>
            </a:r>
            <a:r>
              <a:rPr dirty="0" err="1"/>
              <a:t>удаленное</a:t>
            </a:r>
            <a:r>
              <a:rPr dirty="0"/>
              <a:t> </a:t>
            </a:r>
            <a:r>
              <a:rPr dirty="0" err="1"/>
              <a:t>администрирование</a:t>
            </a:r>
            <a:r>
              <a:rPr dirty="0"/>
              <a:t> Linux</a:t>
            </a:r>
            <a:r>
              <a:rPr lang="en-US" dirty="0"/>
              <a:t>.</a:t>
            </a:r>
            <a:endParaRPr dirty="0"/>
          </a:p>
          <a:p>
            <a:pPr>
              <a:defRPr sz="3600"/>
            </a:pPr>
            <a:r>
              <a:rPr dirty="0"/>
              <a:t>TCP 3389 - RDP, </a:t>
            </a:r>
            <a:r>
              <a:rPr dirty="0" err="1"/>
              <a:t>удаленный</a:t>
            </a:r>
            <a:r>
              <a:rPr dirty="0"/>
              <a:t> </a:t>
            </a:r>
            <a:r>
              <a:rPr dirty="0" err="1"/>
              <a:t>рабочий</a:t>
            </a:r>
            <a:r>
              <a:rPr dirty="0"/>
              <a:t> </a:t>
            </a:r>
            <a:r>
              <a:rPr dirty="0" err="1"/>
              <a:t>стол</a:t>
            </a:r>
            <a:r>
              <a:rPr dirty="0"/>
              <a:t> Windows</a:t>
            </a:r>
            <a:r>
              <a:rPr lang="en-US" dirty="0"/>
              <a:t>.</a:t>
            </a:r>
            <a:endParaRPr dirty="0"/>
          </a:p>
          <a:p>
            <a:pPr>
              <a:defRPr sz="3600"/>
            </a:pPr>
            <a:r>
              <a:rPr dirty="0"/>
              <a:t>TCP 445 - SMB, </a:t>
            </a:r>
            <a:r>
              <a:rPr dirty="0" err="1"/>
              <a:t>общие</a:t>
            </a:r>
            <a:r>
              <a:rPr dirty="0"/>
              <a:t> </a:t>
            </a:r>
            <a:r>
              <a:rPr dirty="0" err="1"/>
              <a:t>папки</a:t>
            </a:r>
            <a:r>
              <a:rPr dirty="0"/>
              <a:t> и </a:t>
            </a:r>
            <a:r>
              <a:rPr dirty="0" err="1"/>
              <a:t>доменные</a:t>
            </a:r>
            <a:r>
              <a:rPr dirty="0"/>
              <a:t> </a:t>
            </a:r>
            <a:r>
              <a:rPr dirty="0" err="1"/>
              <a:t>службы</a:t>
            </a:r>
            <a:r>
              <a:rPr dirty="0"/>
              <a:t> Windows</a:t>
            </a:r>
            <a:r>
              <a:rPr lang="en-US" dirty="0"/>
              <a:t>.</a:t>
            </a:r>
            <a:endParaRPr dirty="0"/>
          </a:p>
          <a:p>
            <a:pPr>
              <a:defRPr sz="3600"/>
            </a:pPr>
            <a:r>
              <a:rPr dirty="0"/>
              <a:t>TCP 21 - FTP, </a:t>
            </a:r>
            <a:r>
              <a:rPr dirty="0" err="1"/>
              <a:t>управление</a:t>
            </a:r>
            <a:r>
              <a:rPr dirty="0"/>
              <a:t> </a:t>
            </a:r>
            <a:r>
              <a:rPr dirty="0" err="1"/>
              <a:t>передачей</a:t>
            </a:r>
            <a:r>
              <a:rPr dirty="0"/>
              <a:t> </a:t>
            </a:r>
            <a:r>
              <a:rPr dirty="0" err="1"/>
              <a:t>файлов</a:t>
            </a:r>
            <a:r>
              <a:rPr lang="en-US" dirty="0"/>
              <a:t>.</a:t>
            </a:r>
            <a:endParaRPr dirty="0"/>
          </a:p>
          <a:p>
            <a:pPr>
              <a:defRPr sz="3600"/>
            </a:pPr>
            <a:r>
              <a:rPr dirty="0"/>
              <a:t>TCP 20 - FTP data, </a:t>
            </a:r>
            <a:r>
              <a:rPr dirty="0" err="1"/>
              <a:t>передача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 в </a:t>
            </a:r>
            <a:r>
              <a:rPr dirty="0" err="1"/>
              <a:t>классическом</a:t>
            </a:r>
            <a:r>
              <a:rPr dirty="0"/>
              <a:t> FTP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Порты веб-служб и почты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dirty="0"/>
              <a:t>TCP 80 - HTTP, </a:t>
            </a:r>
            <a:r>
              <a:rPr dirty="0" err="1"/>
              <a:t>веб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шифрования</a:t>
            </a:r>
            <a:r>
              <a:rPr lang="en-US" dirty="0"/>
              <a:t>.</a:t>
            </a:r>
            <a:endParaRPr dirty="0"/>
          </a:p>
          <a:p>
            <a:pPr>
              <a:defRPr sz="3600"/>
            </a:pPr>
            <a:r>
              <a:rPr dirty="0"/>
              <a:t>TCP 443 - HTTPS, </a:t>
            </a:r>
            <a:r>
              <a:rPr dirty="0" err="1"/>
              <a:t>веб</a:t>
            </a:r>
            <a:r>
              <a:rPr dirty="0"/>
              <a:t> с TLS-</a:t>
            </a:r>
            <a:r>
              <a:rPr dirty="0" err="1"/>
              <a:t>шифрованием</a:t>
            </a:r>
            <a:r>
              <a:rPr lang="en-US" dirty="0"/>
              <a:t>.</a:t>
            </a:r>
            <a:endParaRPr dirty="0"/>
          </a:p>
          <a:p>
            <a:pPr>
              <a:defRPr sz="3600"/>
            </a:pPr>
            <a:r>
              <a:rPr dirty="0"/>
              <a:t>TCP 25 - SMTP, </a:t>
            </a:r>
            <a:r>
              <a:rPr dirty="0" err="1"/>
              <a:t>передача</a:t>
            </a:r>
            <a:r>
              <a:rPr dirty="0"/>
              <a:t> </a:t>
            </a:r>
            <a:r>
              <a:rPr dirty="0" err="1"/>
              <a:t>почты</a:t>
            </a:r>
            <a:r>
              <a:rPr dirty="0"/>
              <a:t> </a:t>
            </a:r>
            <a:r>
              <a:rPr dirty="0" err="1"/>
              <a:t>между</a:t>
            </a:r>
            <a:r>
              <a:rPr dirty="0"/>
              <a:t> </a:t>
            </a:r>
            <a:r>
              <a:rPr dirty="0" err="1"/>
              <a:t>серверами</a:t>
            </a:r>
            <a:r>
              <a:rPr lang="en-US" dirty="0"/>
              <a:t>.</a:t>
            </a:r>
            <a:endParaRPr dirty="0"/>
          </a:p>
          <a:p>
            <a:pPr>
              <a:defRPr sz="3600"/>
            </a:pPr>
            <a:r>
              <a:rPr dirty="0"/>
              <a:t>TCP 110 - POP3, </a:t>
            </a:r>
            <a:r>
              <a:rPr dirty="0" err="1"/>
              <a:t>получение</a:t>
            </a:r>
            <a:r>
              <a:rPr dirty="0"/>
              <a:t> </a:t>
            </a:r>
            <a:r>
              <a:rPr dirty="0" err="1"/>
              <a:t>почты</a:t>
            </a:r>
            <a:r>
              <a:rPr dirty="0"/>
              <a:t> </a:t>
            </a:r>
            <a:r>
              <a:rPr dirty="0" err="1"/>
              <a:t>клиентом</a:t>
            </a:r>
            <a:r>
              <a:rPr lang="en-US" dirty="0"/>
              <a:t>.</a:t>
            </a:r>
            <a:endParaRPr dirty="0"/>
          </a:p>
          <a:p>
            <a:pPr>
              <a:defRPr sz="3600"/>
            </a:pPr>
            <a:r>
              <a:rPr dirty="0"/>
              <a:t>TCP 143 - IMAP, </a:t>
            </a:r>
            <a:r>
              <a:rPr dirty="0" err="1"/>
              <a:t>работа</a:t>
            </a:r>
            <a:r>
              <a:rPr dirty="0"/>
              <a:t> с </a:t>
            </a:r>
            <a:r>
              <a:rPr dirty="0" err="1"/>
              <a:t>почтовым</a:t>
            </a:r>
            <a:r>
              <a:rPr dirty="0"/>
              <a:t> </a:t>
            </a:r>
            <a:r>
              <a:rPr dirty="0" err="1"/>
              <a:t>ящиком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сервере</a:t>
            </a:r>
            <a:r>
              <a:rPr lang="en-US" dirty="0"/>
              <a:t>.</a:t>
            </a:r>
            <a:endParaRPr dirty="0"/>
          </a:p>
          <a:p>
            <a:pPr>
              <a:defRPr sz="3600"/>
            </a:pPr>
            <a:r>
              <a:rPr dirty="0"/>
              <a:t>TCP 993 - IMAPS, IMAP </a:t>
            </a:r>
            <a:r>
              <a:rPr dirty="0" err="1"/>
              <a:t>поверх</a:t>
            </a:r>
            <a:r>
              <a:rPr dirty="0"/>
              <a:t> TLS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Порты инфраструктурных служб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dirty="0"/>
              <a:t>TCP/UDP 53 - DNS, </a:t>
            </a:r>
            <a:r>
              <a:rPr dirty="0" err="1"/>
              <a:t>разрешение</a:t>
            </a:r>
            <a:r>
              <a:rPr dirty="0"/>
              <a:t> </a:t>
            </a:r>
            <a:r>
              <a:rPr dirty="0" err="1"/>
              <a:t>имен</a:t>
            </a:r>
            <a:r>
              <a:rPr lang="en-US" dirty="0"/>
              <a:t>.</a:t>
            </a:r>
            <a:endParaRPr dirty="0"/>
          </a:p>
          <a:p>
            <a:pPr>
              <a:defRPr sz="3600"/>
            </a:pPr>
            <a:r>
              <a:rPr dirty="0"/>
              <a:t>UDP 67 и UDP 68 - DHCP, </a:t>
            </a:r>
            <a:r>
              <a:rPr dirty="0" err="1"/>
              <a:t>автоматическая</a:t>
            </a:r>
            <a:r>
              <a:rPr dirty="0"/>
              <a:t> </a:t>
            </a:r>
            <a:r>
              <a:rPr dirty="0" err="1"/>
              <a:t>выдача</a:t>
            </a:r>
            <a:r>
              <a:rPr dirty="0"/>
              <a:t> IP-</a:t>
            </a:r>
            <a:r>
              <a:rPr dirty="0" err="1"/>
              <a:t>параметров</a:t>
            </a:r>
            <a:r>
              <a:rPr lang="en-US" dirty="0"/>
              <a:t>.</a:t>
            </a:r>
            <a:endParaRPr dirty="0"/>
          </a:p>
          <a:p>
            <a:pPr>
              <a:defRPr sz="3600"/>
            </a:pPr>
            <a:r>
              <a:rPr dirty="0"/>
              <a:t>UDP 123 - NTP, </a:t>
            </a:r>
            <a:r>
              <a:rPr dirty="0" err="1"/>
              <a:t>синхронизация</a:t>
            </a:r>
            <a:r>
              <a:rPr dirty="0"/>
              <a:t> </a:t>
            </a:r>
            <a:r>
              <a:rPr dirty="0" err="1"/>
              <a:t>времени</a:t>
            </a:r>
            <a:r>
              <a:rPr lang="en-US" dirty="0"/>
              <a:t>.</a:t>
            </a:r>
            <a:endParaRPr dirty="0"/>
          </a:p>
          <a:p>
            <a:pPr>
              <a:defRPr sz="3600"/>
            </a:pPr>
            <a:r>
              <a:rPr dirty="0"/>
              <a:t>TCP/UDP 389 - LDAP, </a:t>
            </a:r>
            <a:r>
              <a:rPr dirty="0" err="1"/>
              <a:t>каталог</a:t>
            </a:r>
            <a:r>
              <a:rPr dirty="0"/>
              <a:t> </a:t>
            </a:r>
            <a:r>
              <a:rPr dirty="0" err="1"/>
              <a:t>пользователей</a:t>
            </a:r>
            <a:r>
              <a:rPr dirty="0"/>
              <a:t> и </a:t>
            </a:r>
            <a:r>
              <a:rPr dirty="0" err="1"/>
              <a:t>объектов</a:t>
            </a:r>
            <a:r>
              <a:rPr lang="en-US" dirty="0"/>
              <a:t>.</a:t>
            </a:r>
            <a:endParaRPr dirty="0"/>
          </a:p>
          <a:p>
            <a:pPr>
              <a:defRPr sz="3600"/>
            </a:pPr>
            <a:r>
              <a:rPr dirty="0"/>
              <a:t>TCP 636 - LDAPS, LDAP </a:t>
            </a:r>
            <a:r>
              <a:rPr dirty="0" err="1"/>
              <a:t>поверх</a:t>
            </a:r>
            <a:r>
              <a:rPr dirty="0"/>
              <a:t> TLS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Порты не заменяют понимание сервиса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indent="354013">
              <a:defRPr sz="3600"/>
            </a:pPr>
            <a:r>
              <a:rPr dirty="0" err="1"/>
              <a:t>Один</a:t>
            </a:r>
            <a:r>
              <a:rPr dirty="0"/>
              <a:t> и </a:t>
            </a:r>
            <a:r>
              <a:rPr dirty="0" err="1"/>
              <a:t>тот</a:t>
            </a:r>
            <a:r>
              <a:rPr dirty="0"/>
              <a:t> </a:t>
            </a:r>
            <a:r>
              <a:rPr dirty="0" err="1"/>
              <a:t>же</a:t>
            </a:r>
            <a:r>
              <a:rPr dirty="0"/>
              <a:t> </a:t>
            </a:r>
            <a:r>
              <a:rPr dirty="0" err="1"/>
              <a:t>сервис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перенесен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нестандартный</a:t>
            </a:r>
            <a:r>
              <a:rPr dirty="0"/>
              <a:t> </a:t>
            </a:r>
            <a:r>
              <a:rPr dirty="0" err="1"/>
              <a:t>порт</a:t>
            </a:r>
            <a:r>
              <a:rPr lang="en-US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стандартном</a:t>
            </a:r>
            <a:r>
              <a:rPr dirty="0"/>
              <a:t> </a:t>
            </a:r>
            <a:r>
              <a:rPr dirty="0" err="1"/>
              <a:t>порту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работать</a:t>
            </a:r>
            <a:r>
              <a:rPr dirty="0"/>
              <a:t> </a:t>
            </a:r>
            <a:r>
              <a:rPr dirty="0" err="1"/>
              <a:t>другой</a:t>
            </a:r>
            <a:r>
              <a:rPr dirty="0"/>
              <a:t> </a:t>
            </a:r>
            <a:r>
              <a:rPr dirty="0" err="1"/>
              <a:t>сервис</a:t>
            </a:r>
            <a:r>
              <a:rPr lang="en-US" dirty="0"/>
              <a:t>.</a:t>
            </a:r>
            <a:endParaRPr dirty="0"/>
          </a:p>
          <a:p>
            <a:pPr indent="354013">
              <a:defRPr sz="3600"/>
            </a:pPr>
            <a:r>
              <a:rPr dirty="0"/>
              <a:t>Firewall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разрешать</a:t>
            </a:r>
            <a:r>
              <a:rPr dirty="0"/>
              <a:t> </a:t>
            </a:r>
            <a:r>
              <a:rPr dirty="0" err="1"/>
              <a:t>порт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определенной</a:t>
            </a:r>
            <a:r>
              <a:rPr dirty="0"/>
              <a:t> </a:t>
            </a:r>
            <a:r>
              <a:rPr dirty="0" err="1"/>
              <a:t>сети</a:t>
            </a:r>
            <a:r>
              <a:rPr lang="en-US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Служба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слушать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localhost, а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сетевой</a:t>
            </a:r>
            <a:r>
              <a:rPr dirty="0"/>
              <a:t> </a:t>
            </a:r>
            <a:r>
              <a:rPr dirty="0" err="1"/>
              <a:t>интерфейс</a:t>
            </a:r>
            <a:r>
              <a:rPr lang="en-US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Проверка</a:t>
            </a:r>
            <a:r>
              <a:rPr dirty="0"/>
              <a:t> </a:t>
            </a:r>
            <a:r>
              <a:rPr dirty="0" err="1"/>
              <a:t>порта</a:t>
            </a:r>
            <a:r>
              <a:rPr dirty="0"/>
              <a:t> </a:t>
            </a:r>
            <a:r>
              <a:rPr dirty="0" err="1"/>
              <a:t>должна</a:t>
            </a:r>
            <a:r>
              <a:rPr dirty="0"/>
              <a:t> </a:t>
            </a:r>
            <a:r>
              <a:rPr dirty="0" err="1"/>
              <a:t>дополняться</a:t>
            </a:r>
            <a:r>
              <a:rPr dirty="0"/>
              <a:t> </a:t>
            </a:r>
            <a:r>
              <a:rPr dirty="0" err="1"/>
              <a:t>проверкой</a:t>
            </a:r>
            <a:r>
              <a:rPr dirty="0"/>
              <a:t> </a:t>
            </a:r>
            <a:r>
              <a:rPr dirty="0" err="1"/>
              <a:t>ответа</a:t>
            </a:r>
            <a:r>
              <a:rPr dirty="0"/>
              <a:t> </a:t>
            </a:r>
            <a:r>
              <a:rPr dirty="0" err="1"/>
              <a:t>приложения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Безопасность открытых портов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Открытый</a:t>
            </a:r>
            <a:r>
              <a:rPr dirty="0"/>
              <a:t> </a:t>
            </a:r>
            <a:r>
              <a:rPr dirty="0" err="1"/>
              <a:t>порт</a:t>
            </a:r>
            <a:r>
              <a:rPr dirty="0"/>
              <a:t> </a:t>
            </a:r>
            <a:r>
              <a:rPr dirty="0" err="1"/>
              <a:t>означает</a:t>
            </a:r>
            <a:r>
              <a:rPr dirty="0"/>
              <a:t> </a:t>
            </a:r>
            <a:r>
              <a:rPr dirty="0" err="1"/>
              <a:t>потенциальную</a:t>
            </a:r>
            <a:r>
              <a:rPr dirty="0"/>
              <a:t> </a:t>
            </a:r>
            <a:r>
              <a:rPr dirty="0" err="1"/>
              <a:t>точку</a:t>
            </a:r>
            <a:r>
              <a:rPr dirty="0"/>
              <a:t> </a:t>
            </a:r>
            <a:r>
              <a:rPr dirty="0" err="1"/>
              <a:t>входа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Ненужные</a:t>
            </a:r>
            <a:r>
              <a:rPr dirty="0"/>
              <a:t> </a:t>
            </a:r>
            <a:r>
              <a:rPr dirty="0" err="1"/>
              <a:t>службы</a:t>
            </a:r>
            <a:r>
              <a:rPr dirty="0"/>
              <a:t> </a:t>
            </a:r>
            <a:r>
              <a:rPr dirty="0" err="1"/>
              <a:t>должны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остановлены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закрыты</a:t>
            </a:r>
            <a:r>
              <a:rPr dirty="0"/>
              <a:t> firewall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Доступ</a:t>
            </a:r>
            <a:r>
              <a:rPr dirty="0"/>
              <a:t> к </a:t>
            </a:r>
            <a:r>
              <a:rPr dirty="0" err="1"/>
              <a:t>административным</a:t>
            </a:r>
            <a:r>
              <a:rPr dirty="0"/>
              <a:t> </a:t>
            </a:r>
            <a:r>
              <a:rPr dirty="0" err="1"/>
              <a:t>портам</a:t>
            </a:r>
            <a:r>
              <a:rPr dirty="0"/>
              <a:t>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ограничивать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Публичные</a:t>
            </a:r>
            <a:r>
              <a:rPr dirty="0"/>
              <a:t> </a:t>
            </a:r>
            <a:r>
              <a:rPr dirty="0" err="1"/>
              <a:t>сервисы</a:t>
            </a:r>
            <a:r>
              <a:rPr dirty="0"/>
              <a:t> </a:t>
            </a:r>
            <a:r>
              <a:rPr dirty="0" err="1"/>
              <a:t>требуют</a:t>
            </a:r>
            <a:r>
              <a:rPr dirty="0"/>
              <a:t> </a:t>
            </a:r>
            <a:r>
              <a:rPr dirty="0" err="1"/>
              <a:t>обновлений</a:t>
            </a:r>
            <a:r>
              <a:rPr dirty="0"/>
              <a:t> и </a:t>
            </a:r>
            <a:r>
              <a:rPr dirty="0" err="1"/>
              <a:t>журналирования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Сканирование</a:t>
            </a:r>
            <a:r>
              <a:rPr dirty="0"/>
              <a:t> </a:t>
            </a:r>
            <a:r>
              <a:rPr dirty="0" err="1"/>
              <a:t>портов</a:t>
            </a:r>
            <a:r>
              <a:rPr dirty="0"/>
              <a:t> </a:t>
            </a:r>
            <a:r>
              <a:rPr dirty="0" err="1"/>
              <a:t>помогает</a:t>
            </a:r>
            <a:r>
              <a:rPr dirty="0"/>
              <a:t> </a:t>
            </a:r>
            <a:r>
              <a:rPr dirty="0" err="1"/>
              <a:t>увидеть</a:t>
            </a:r>
            <a:r>
              <a:rPr dirty="0"/>
              <a:t> </a:t>
            </a:r>
            <a:r>
              <a:rPr dirty="0" err="1"/>
              <a:t>реальную</a:t>
            </a:r>
            <a:r>
              <a:rPr dirty="0"/>
              <a:t> </a:t>
            </a:r>
            <a:r>
              <a:rPr dirty="0" err="1"/>
              <a:t>поверхность</a:t>
            </a:r>
            <a:r>
              <a:rPr dirty="0"/>
              <a:t> </a:t>
            </a:r>
            <a:r>
              <a:rPr dirty="0" err="1"/>
              <a:t>атаки</a:t>
            </a:r>
            <a:r>
              <a:rPr lang="en-US" dirty="0"/>
              <a:t>;</a:t>
            </a:r>
            <a:endParaRPr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80127" y="182880"/>
            <a:ext cx="8601265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/>
              <a:t>8. </a:t>
            </a:r>
            <a:r>
              <a:rPr dirty="0" err="1"/>
              <a:t>Отличие</a:t>
            </a:r>
            <a:r>
              <a:rPr dirty="0"/>
              <a:t> </a:t>
            </a:r>
            <a:r>
              <a:rPr dirty="0" err="1"/>
              <a:t>проверки</a:t>
            </a:r>
            <a:r>
              <a:rPr dirty="0"/>
              <a:t> IP-</a:t>
            </a:r>
            <a:r>
              <a:rPr dirty="0" err="1"/>
              <a:t>связности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проверки</a:t>
            </a:r>
            <a:r>
              <a:rPr dirty="0"/>
              <a:t> </a:t>
            </a:r>
            <a:endParaRPr lang="ru-RU" dirty="0"/>
          </a:p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доступности</a:t>
            </a:r>
            <a:r>
              <a:rPr dirty="0"/>
              <a:t> </a:t>
            </a:r>
            <a:r>
              <a:rPr dirty="0" err="1"/>
              <a:t>приложения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1592826"/>
            <a:ext cx="10972800" cy="4533654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 indent="354013">
              <a:defRPr sz="3600"/>
            </a:pPr>
            <a:r>
              <a:rPr dirty="0"/>
              <a:t>IP-</a:t>
            </a:r>
            <a:r>
              <a:rPr dirty="0" err="1"/>
              <a:t>связность</a:t>
            </a:r>
            <a:r>
              <a:rPr dirty="0"/>
              <a:t> </a:t>
            </a:r>
            <a:r>
              <a:rPr dirty="0" err="1"/>
              <a:t>показывает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узлы</a:t>
            </a:r>
            <a:r>
              <a:rPr dirty="0"/>
              <a:t> </a:t>
            </a:r>
            <a:r>
              <a:rPr dirty="0" err="1"/>
              <a:t>могут</a:t>
            </a:r>
            <a:r>
              <a:rPr dirty="0"/>
              <a:t> </a:t>
            </a:r>
            <a:r>
              <a:rPr dirty="0" err="1"/>
              <a:t>обмениваться</a:t>
            </a:r>
            <a:r>
              <a:rPr dirty="0"/>
              <a:t> </a:t>
            </a:r>
            <a:r>
              <a:rPr dirty="0" err="1"/>
              <a:t>пакетами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сетевом</a:t>
            </a:r>
            <a:r>
              <a:rPr dirty="0"/>
              <a:t> </a:t>
            </a:r>
            <a:r>
              <a:rPr dirty="0" err="1"/>
              <a:t>уровне</a:t>
            </a:r>
            <a:r>
              <a:rPr lang="en-US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Приложение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недоступно</a:t>
            </a:r>
            <a:r>
              <a:rPr dirty="0"/>
              <a:t> </a:t>
            </a:r>
            <a:r>
              <a:rPr dirty="0" err="1"/>
              <a:t>даже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рабочей</a:t>
            </a:r>
            <a:r>
              <a:rPr dirty="0"/>
              <a:t> IP-</a:t>
            </a:r>
            <a:r>
              <a:rPr dirty="0" err="1"/>
              <a:t>связности</a:t>
            </a:r>
            <a:r>
              <a:rPr lang="en-US" dirty="0"/>
              <a:t>.</a:t>
            </a:r>
            <a:endParaRPr dirty="0"/>
          </a:p>
          <a:p>
            <a:pPr indent="354013">
              <a:defRPr sz="3600"/>
            </a:pPr>
            <a:r>
              <a:rPr dirty="0"/>
              <a:t>Ping </a:t>
            </a:r>
            <a:r>
              <a:rPr dirty="0" err="1"/>
              <a:t>использует</a:t>
            </a:r>
            <a:r>
              <a:rPr dirty="0"/>
              <a:t> ICMP, а </a:t>
            </a:r>
            <a:r>
              <a:rPr dirty="0" err="1"/>
              <a:t>не</a:t>
            </a:r>
            <a:r>
              <a:rPr dirty="0"/>
              <a:t> TCP </a:t>
            </a:r>
            <a:r>
              <a:rPr dirty="0" err="1"/>
              <a:t>или</a:t>
            </a:r>
            <a:r>
              <a:rPr dirty="0"/>
              <a:t> UDP</a:t>
            </a:r>
            <a:r>
              <a:rPr lang="en-US" dirty="0"/>
              <a:t>.</a:t>
            </a:r>
            <a:endParaRPr dirty="0"/>
          </a:p>
          <a:p>
            <a:pPr indent="354013">
              <a:defRPr sz="3600"/>
            </a:pPr>
            <a:r>
              <a:rPr dirty="0"/>
              <a:t>ICMP - Internet Control Message Protocol, </a:t>
            </a:r>
            <a:r>
              <a:rPr dirty="0" err="1"/>
              <a:t>протокол</a:t>
            </a:r>
            <a:r>
              <a:rPr dirty="0"/>
              <a:t> </a:t>
            </a:r>
            <a:r>
              <a:rPr dirty="0" err="1"/>
              <a:t>служебных</a:t>
            </a:r>
            <a:r>
              <a:rPr dirty="0"/>
              <a:t> </a:t>
            </a:r>
            <a:r>
              <a:rPr dirty="0" err="1"/>
              <a:t>сетевых</a:t>
            </a:r>
            <a:r>
              <a:rPr dirty="0"/>
              <a:t> </a:t>
            </a:r>
            <a:r>
              <a:rPr dirty="0" err="1"/>
              <a:t>сообщений</a:t>
            </a:r>
            <a:r>
              <a:rPr lang="en-US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Успешный</a:t>
            </a:r>
            <a:r>
              <a:rPr dirty="0"/>
              <a:t> ping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доказывает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TCP 443 </a:t>
            </a:r>
            <a:r>
              <a:rPr dirty="0" err="1"/>
              <a:t>или</a:t>
            </a:r>
            <a:r>
              <a:rPr dirty="0"/>
              <a:t> UDP 53 </a:t>
            </a:r>
            <a:r>
              <a:rPr dirty="0" err="1"/>
              <a:t>доступны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Ситуация: ping работает, сайт не открывается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Маршрут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</a:t>
            </a:r>
            <a:r>
              <a:rPr dirty="0" err="1"/>
              <a:t>сервера</a:t>
            </a:r>
            <a:r>
              <a:rPr dirty="0"/>
              <a:t> </a:t>
            </a:r>
            <a:r>
              <a:rPr dirty="0" err="1"/>
              <a:t>есть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Сервер</a:t>
            </a:r>
            <a:r>
              <a:rPr dirty="0"/>
              <a:t> </a:t>
            </a:r>
            <a:r>
              <a:rPr dirty="0" err="1"/>
              <a:t>отвечает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ICMP Echo Request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Веб-сервер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остановлен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TCP-</a:t>
            </a:r>
            <a:r>
              <a:rPr dirty="0" err="1"/>
              <a:t>порт</a:t>
            </a:r>
            <a:r>
              <a:rPr dirty="0"/>
              <a:t> 80 </a:t>
            </a:r>
            <a:r>
              <a:rPr dirty="0" err="1"/>
              <a:t>или</a:t>
            </a:r>
            <a:r>
              <a:rPr dirty="0"/>
              <a:t> 443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закрыт</a:t>
            </a:r>
            <a:r>
              <a:rPr dirty="0"/>
              <a:t> firewall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DNS-</a:t>
            </a:r>
            <a:r>
              <a:rPr dirty="0" err="1"/>
              <a:t>имя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указывать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тот</a:t>
            </a:r>
            <a:r>
              <a:rPr dirty="0"/>
              <a:t> IP-</a:t>
            </a:r>
            <a:r>
              <a:rPr dirty="0" err="1"/>
              <a:t>адрес</a:t>
            </a:r>
            <a:r>
              <a:rPr lang="en-US" dirty="0"/>
              <a:t>;</a:t>
            </a:r>
            <a:endParaRPr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Ситуация: ping не работает, сайт открывается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ICMP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запрещен</a:t>
            </a:r>
            <a:r>
              <a:rPr dirty="0"/>
              <a:t> </a:t>
            </a:r>
            <a:r>
              <a:rPr dirty="0" err="1"/>
              <a:t>правилами</a:t>
            </a:r>
            <a:r>
              <a:rPr dirty="0"/>
              <a:t> </a:t>
            </a:r>
            <a:r>
              <a:rPr dirty="0" err="1"/>
              <a:t>безопасности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Некоторые</a:t>
            </a:r>
            <a:r>
              <a:rPr dirty="0"/>
              <a:t> </a:t>
            </a:r>
            <a:r>
              <a:rPr dirty="0" err="1"/>
              <a:t>серверы</a:t>
            </a:r>
            <a:r>
              <a:rPr dirty="0"/>
              <a:t> </a:t>
            </a:r>
            <a:r>
              <a:rPr dirty="0" err="1"/>
              <a:t>специально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отвечают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ping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TCP 443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разрешен</a:t>
            </a:r>
            <a:r>
              <a:rPr dirty="0"/>
              <a:t>, а ICMP </a:t>
            </a:r>
            <a:r>
              <a:rPr dirty="0" err="1"/>
              <a:t>запрещен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Поэтому</a:t>
            </a:r>
            <a:r>
              <a:rPr dirty="0"/>
              <a:t> </a:t>
            </a:r>
            <a:r>
              <a:rPr dirty="0" err="1"/>
              <a:t>нельзя</a:t>
            </a:r>
            <a:r>
              <a:rPr dirty="0"/>
              <a:t> </a:t>
            </a:r>
            <a:r>
              <a:rPr dirty="0" err="1"/>
              <a:t>делать</a:t>
            </a:r>
            <a:r>
              <a:rPr dirty="0"/>
              <a:t> </a:t>
            </a:r>
            <a:r>
              <a:rPr dirty="0" err="1"/>
              <a:t>вывод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ping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проверять</a:t>
            </a:r>
            <a:r>
              <a:rPr dirty="0"/>
              <a:t> </a:t>
            </a:r>
            <a:r>
              <a:rPr dirty="0" err="1"/>
              <a:t>именно</a:t>
            </a:r>
            <a:r>
              <a:rPr dirty="0"/>
              <a:t> </a:t>
            </a:r>
            <a:r>
              <a:rPr dirty="0" err="1"/>
              <a:t>нужный</a:t>
            </a:r>
            <a:r>
              <a:rPr dirty="0"/>
              <a:t> </a:t>
            </a:r>
            <a:r>
              <a:rPr dirty="0" err="1"/>
              <a:t>протокол</a:t>
            </a:r>
            <a:r>
              <a:rPr dirty="0"/>
              <a:t> и </a:t>
            </a:r>
            <a:r>
              <a:rPr dirty="0" err="1"/>
              <a:t>порт</a:t>
            </a:r>
            <a:r>
              <a:rPr lang="en-US" dirty="0"/>
              <a:t>;</a:t>
            </a:r>
            <a:endParaRPr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Уровни проверки доступности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Проверка</a:t>
            </a:r>
            <a:r>
              <a:rPr dirty="0"/>
              <a:t> </a:t>
            </a:r>
            <a:r>
              <a:rPr dirty="0" err="1"/>
              <a:t>адресации</a:t>
            </a:r>
            <a:r>
              <a:rPr dirty="0"/>
              <a:t>: </a:t>
            </a:r>
            <a:r>
              <a:rPr dirty="0" err="1"/>
              <a:t>правильный</a:t>
            </a:r>
            <a:r>
              <a:rPr dirty="0"/>
              <a:t> IP-</a:t>
            </a:r>
            <a:r>
              <a:rPr dirty="0" err="1"/>
              <a:t>адрес</a:t>
            </a:r>
            <a:r>
              <a:rPr dirty="0"/>
              <a:t> и </a:t>
            </a:r>
            <a:r>
              <a:rPr dirty="0" err="1"/>
              <a:t>маска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Проверка</a:t>
            </a:r>
            <a:r>
              <a:rPr dirty="0"/>
              <a:t> </a:t>
            </a:r>
            <a:r>
              <a:rPr dirty="0" err="1"/>
              <a:t>маршрута</a:t>
            </a:r>
            <a:r>
              <a:rPr dirty="0"/>
              <a:t>: </a:t>
            </a:r>
            <a:r>
              <a:rPr dirty="0" err="1"/>
              <a:t>есть</a:t>
            </a:r>
            <a:r>
              <a:rPr dirty="0"/>
              <a:t> </a:t>
            </a:r>
            <a:r>
              <a:rPr dirty="0" err="1"/>
              <a:t>ли</a:t>
            </a:r>
            <a:r>
              <a:rPr dirty="0"/>
              <a:t> </a:t>
            </a:r>
            <a:r>
              <a:rPr dirty="0" err="1"/>
              <a:t>путь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</a:t>
            </a:r>
            <a:r>
              <a:rPr dirty="0" err="1"/>
              <a:t>узла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Проверка</a:t>
            </a:r>
            <a:r>
              <a:rPr dirty="0"/>
              <a:t> </a:t>
            </a:r>
            <a:r>
              <a:rPr dirty="0" err="1"/>
              <a:t>порта</a:t>
            </a:r>
            <a:r>
              <a:rPr dirty="0"/>
              <a:t>: </a:t>
            </a:r>
            <a:r>
              <a:rPr dirty="0" err="1"/>
              <a:t>принимает</a:t>
            </a:r>
            <a:r>
              <a:rPr dirty="0"/>
              <a:t> </a:t>
            </a:r>
            <a:r>
              <a:rPr dirty="0" err="1"/>
              <a:t>ли</a:t>
            </a:r>
            <a:r>
              <a:rPr dirty="0"/>
              <a:t> </a:t>
            </a:r>
            <a:r>
              <a:rPr dirty="0" err="1"/>
              <a:t>служба</a:t>
            </a:r>
            <a:r>
              <a:rPr dirty="0"/>
              <a:t> TCP </a:t>
            </a:r>
            <a:r>
              <a:rPr dirty="0" err="1"/>
              <a:t>или</a:t>
            </a:r>
            <a:r>
              <a:rPr dirty="0"/>
              <a:t> UDP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Проверка</a:t>
            </a:r>
            <a:r>
              <a:rPr dirty="0"/>
              <a:t> </a:t>
            </a:r>
            <a:r>
              <a:rPr dirty="0" err="1"/>
              <a:t>протокола</a:t>
            </a:r>
            <a:r>
              <a:rPr dirty="0"/>
              <a:t> </a:t>
            </a:r>
            <a:r>
              <a:rPr dirty="0" err="1"/>
              <a:t>приложения</a:t>
            </a:r>
            <a:r>
              <a:rPr dirty="0"/>
              <a:t>: </a:t>
            </a:r>
            <a:r>
              <a:rPr dirty="0" err="1"/>
              <a:t>отвечает</a:t>
            </a:r>
            <a:r>
              <a:rPr dirty="0"/>
              <a:t> </a:t>
            </a:r>
            <a:r>
              <a:rPr dirty="0" err="1"/>
              <a:t>ли</a:t>
            </a:r>
            <a:r>
              <a:rPr dirty="0"/>
              <a:t> HTTP, DNS, SSH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другой</a:t>
            </a:r>
            <a:r>
              <a:rPr dirty="0"/>
              <a:t> </a:t>
            </a:r>
            <a:r>
              <a:rPr dirty="0" err="1"/>
              <a:t>сервис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Проверка</a:t>
            </a:r>
            <a:r>
              <a:rPr dirty="0"/>
              <a:t> </a:t>
            </a:r>
            <a:r>
              <a:rPr dirty="0" err="1"/>
              <a:t>доступа</a:t>
            </a:r>
            <a:r>
              <a:rPr dirty="0"/>
              <a:t>: </a:t>
            </a:r>
            <a:r>
              <a:rPr dirty="0" err="1"/>
              <a:t>хватает</a:t>
            </a:r>
            <a:r>
              <a:rPr dirty="0"/>
              <a:t> </a:t>
            </a:r>
            <a:r>
              <a:rPr dirty="0" err="1"/>
              <a:t>ли</a:t>
            </a:r>
            <a:r>
              <a:rPr dirty="0"/>
              <a:t> </a:t>
            </a:r>
            <a:r>
              <a:rPr dirty="0" err="1"/>
              <a:t>прав</a:t>
            </a:r>
            <a:r>
              <a:rPr dirty="0"/>
              <a:t>, </a:t>
            </a:r>
            <a:r>
              <a:rPr dirty="0" err="1"/>
              <a:t>сертификатов</a:t>
            </a:r>
            <a:r>
              <a:rPr dirty="0"/>
              <a:t> и </a:t>
            </a:r>
            <a:r>
              <a:rPr dirty="0" err="1"/>
              <a:t>учетных</a:t>
            </a:r>
            <a:r>
              <a:rPr dirty="0"/>
              <a:t> </a:t>
            </a:r>
            <a:r>
              <a:rPr dirty="0" err="1"/>
              <a:t>данных</a:t>
            </a:r>
            <a:r>
              <a:rPr lang="en-US" dirty="0"/>
              <a:t>;</a:t>
            </a:r>
            <a:endParaRPr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Диаграмма</a:t>
            </a:r>
            <a:r>
              <a:rPr dirty="0"/>
              <a:t>: </a:t>
            </a:r>
            <a:r>
              <a:rPr dirty="0" err="1"/>
              <a:t>уровни</a:t>
            </a:r>
            <a:r>
              <a:rPr dirty="0"/>
              <a:t> </a:t>
            </a:r>
            <a:r>
              <a:rPr dirty="0" err="1"/>
              <a:t>проверки</a:t>
            </a:r>
            <a:r>
              <a:rPr dirty="0"/>
              <a:t> </a:t>
            </a:r>
            <a:r>
              <a:rPr dirty="0" err="1"/>
              <a:t>сетевого</a:t>
            </a:r>
            <a:r>
              <a:rPr dirty="0"/>
              <a:t> </a:t>
            </a:r>
            <a:r>
              <a:rPr dirty="0" err="1"/>
              <a:t>сервиса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4C64179-85FF-3C1B-1D4E-D5F4F8CAE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9. Диагностика транспортного уровня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Диагностика</a:t>
            </a:r>
            <a:r>
              <a:rPr dirty="0"/>
              <a:t> </a:t>
            </a:r>
            <a:r>
              <a:rPr dirty="0" err="1"/>
              <a:t>начинается</a:t>
            </a:r>
            <a:r>
              <a:rPr dirty="0"/>
              <a:t> с </a:t>
            </a:r>
            <a:r>
              <a:rPr dirty="0" err="1"/>
              <a:t>определения</a:t>
            </a:r>
            <a:r>
              <a:rPr dirty="0"/>
              <a:t> </a:t>
            </a:r>
            <a:r>
              <a:rPr dirty="0" err="1"/>
              <a:t>нужного</a:t>
            </a:r>
            <a:r>
              <a:rPr dirty="0"/>
              <a:t> </a:t>
            </a:r>
            <a:r>
              <a:rPr dirty="0" err="1"/>
              <a:t>сервиса</a:t>
            </a:r>
            <a:r>
              <a:rPr dirty="0"/>
              <a:t> и </a:t>
            </a:r>
            <a:r>
              <a:rPr dirty="0" err="1"/>
              <a:t>порта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понять</a:t>
            </a:r>
            <a:r>
              <a:rPr dirty="0"/>
              <a:t>, </a:t>
            </a:r>
            <a:r>
              <a:rPr dirty="0" err="1"/>
              <a:t>используется</a:t>
            </a:r>
            <a:r>
              <a:rPr dirty="0"/>
              <a:t> TCP </a:t>
            </a:r>
            <a:r>
              <a:rPr dirty="0" err="1"/>
              <a:t>или</a:t>
            </a:r>
            <a:r>
              <a:rPr dirty="0"/>
              <a:t> UDP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Затем</a:t>
            </a:r>
            <a:r>
              <a:rPr dirty="0"/>
              <a:t> </a:t>
            </a:r>
            <a:r>
              <a:rPr dirty="0" err="1"/>
              <a:t>проверяют</a:t>
            </a:r>
            <a:r>
              <a:rPr dirty="0"/>
              <a:t>, </a:t>
            </a:r>
            <a:r>
              <a:rPr dirty="0" err="1"/>
              <a:t>слушает</a:t>
            </a:r>
            <a:r>
              <a:rPr dirty="0"/>
              <a:t> </a:t>
            </a:r>
            <a:r>
              <a:rPr dirty="0" err="1"/>
              <a:t>ли</a:t>
            </a:r>
            <a:r>
              <a:rPr dirty="0"/>
              <a:t> </a:t>
            </a:r>
            <a:r>
              <a:rPr dirty="0" err="1"/>
              <a:t>служба</a:t>
            </a:r>
            <a:r>
              <a:rPr dirty="0"/>
              <a:t> </a:t>
            </a:r>
            <a:r>
              <a:rPr dirty="0" err="1"/>
              <a:t>порт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сервере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этого</a:t>
            </a:r>
            <a:r>
              <a:rPr dirty="0"/>
              <a:t> </a:t>
            </a:r>
            <a:r>
              <a:rPr dirty="0" err="1"/>
              <a:t>проверяют</a:t>
            </a:r>
            <a:r>
              <a:rPr dirty="0"/>
              <a:t> </a:t>
            </a:r>
            <a:r>
              <a:rPr dirty="0" err="1"/>
              <a:t>доступность</a:t>
            </a:r>
            <a:r>
              <a:rPr dirty="0"/>
              <a:t> </a:t>
            </a:r>
            <a:r>
              <a:rPr dirty="0" err="1"/>
              <a:t>порта</a:t>
            </a:r>
            <a:r>
              <a:rPr dirty="0"/>
              <a:t> с </a:t>
            </a:r>
            <a:r>
              <a:rPr dirty="0" err="1"/>
              <a:t>клиента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Результаты</a:t>
            </a:r>
            <a:r>
              <a:rPr dirty="0"/>
              <a:t>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фиксировать</a:t>
            </a:r>
            <a:r>
              <a:rPr dirty="0"/>
              <a:t>: </a:t>
            </a:r>
            <a:r>
              <a:rPr dirty="0" err="1"/>
              <a:t>команда</a:t>
            </a:r>
            <a:r>
              <a:rPr dirty="0"/>
              <a:t>, </a:t>
            </a:r>
            <a:r>
              <a:rPr dirty="0" err="1"/>
              <a:t>адрес</a:t>
            </a:r>
            <a:r>
              <a:rPr dirty="0"/>
              <a:t>, </a:t>
            </a:r>
            <a:r>
              <a:rPr dirty="0" err="1"/>
              <a:t>порт</a:t>
            </a:r>
            <a:r>
              <a:rPr dirty="0"/>
              <a:t>, </a:t>
            </a:r>
            <a:r>
              <a:rPr dirty="0" err="1"/>
              <a:t>ответ</a:t>
            </a:r>
            <a:r>
              <a:rPr dirty="0"/>
              <a:t>, </a:t>
            </a:r>
            <a:r>
              <a:rPr dirty="0" err="1"/>
              <a:t>вывод</a:t>
            </a:r>
            <a:r>
              <a:rPr lang="en-US" dirty="0"/>
              <a:t>;</a:t>
            </a:r>
            <a:endParaRPr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Базовый алгоритм диагностики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Уточнить</a:t>
            </a:r>
            <a:r>
              <a:rPr dirty="0"/>
              <a:t> </a:t>
            </a:r>
            <a:r>
              <a:rPr dirty="0" err="1"/>
              <a:t>имя</a:t>
            </a:r>
            <a:r>
              <a:rPr dirty="0"/>
              <a:t> </a:t>
            </a:r>
            <a:r>
              <a:rPr dirty="0" err="1"/>
              <a:t>сервиса</a:t>
            </a:r>
            <a:r>
              <a:rPr dirty="0"/>
              <a:t> и </a:t>
            </a:r>
            <a:r>
              <a:rPr dirty="0" err="1"/>
              <a:t>ожидаемый</a:t>
            </a:r>
            <a:r>
              <a:rPr dirty="0"/>
              <a:t> </a:t>
            </a:r>
            <a:r>
              <a:rPr dirty="0" err="1"/>
              <a:t>порт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Проверить</a:t>
            </a:r>
            <a:r>
              <a:rPr dirty="0"/>
              <a:t> IP-</a:t>
            </a:r>
            <a:r>
              <a:rPr dirty="0" err="1"/>
              <a:t>адрес</a:t>
            </a:r>
            <a:r>
              <a:rPr dirty="0"/>
              <a:t> </a:t>
            </a:r>
            <a:r>
              <a:rPr dirty="0" err="1"/>
              <a:t>сервера</a:t>
            </a:r>
            <a:r>
              <a:rPr dirty="0"/>
              <a:t> и </a:t>
            </a:r>
            <a:r>
              <a:rPr dirty="0" err="1"/>
              <a:t>маршрут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</a:t>
            </a:r>
            <a:r>
              <a:rPr dirty="0" err="1"/>
              <a:t>него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Проверить</a:t>
            </a:r>
            <a:r>
              <a:rPr dirty="0"/>
              <a:t>, </a:t>
            </a:r>
            <a:r>
              <a:rPr dirty="0" err="1"/>
              <a:t>запущена</a:t>
            </a:r>
            <a:r>
              <a:rPr dirty="0"/>
              <a:t> </a:t>
            </a:r>
            <a:r>
              <a:rPr dirty="0" err="1"/>
              <a:t>ли</a:t>
            </a:r>
            <a:r>
              <a:rPr dirty="0"/>
              <a:t> </a:t>
            </a:r>
            <a:r>
              <a:rPr dirty="0" err="1"/>
              <a:t>служба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сервере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Проверить</a:t>
            </a:r>
            <a:r>
              <a:rPr dirty="0"/>
              <a:t>, </a:t>
            </a:r>
            <a:r>
              <a:rPr dirty="0" err="1"/>
              <a:t>слушает</a:t>
            </a:r>
            <a:r>
              <a:rPr dirty="0"/>
              <a:t> </a:t>
            </a:r>
            <a:r>
              <a:rPr dirty="0" err="1"/>
              <a:t>ли</a:t>
            </a:r>
            <a:r>
              <a:rPr dirty="0"/>
              <a:t> </a:t>
            </a:r>
            <a:r>
              <a:rPr dirty="0" err="1"/>
              <a:t>служба</a:t>
            </a:r>
            <a:r>
              <a:rPr dirty="0"/>
              <a:t> </a:t>
            </a:r>
            <a:r>
              <a:rPr dirty="0" err="1"/>
              <a:t>нужный</a:t>
            </a:r>
            <a:r>
              <a:rPr dirty="0"/>
              <a:t> </a:t>
            </a:r>
            <a:r>
              <a:rPr dirty="0" err="1"/>
              <a:t>интерфейс</a:t>
            </a:r>
            <a:r>
              <a:rPr dirty="0"/>
              <a:t> и </a:t>
            </a:r>
            <a:r>
              <a:rPr dirty="0" err="1"/>
              <a:t>порт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Проверить</a:t>
            </a:r>
            <a:r>
              <a:rPr dirty="0"/>
              <a:t> firewall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сервере</a:t>
            </a:r>
            <a:r>
              <a:rPr dirty="0"/>
              <a:t> и </a:t>
            </a:r>
            <a:r>
              <a:rPr dirty="0" err="1"/>
              <a:t>промежуточных</a:t>
            </a:r>
            <a:r>
              <a:rPr dirty="0"/>
              <a:t> </a:t>
            </a:r>
            <a:r>
              <a:rPr dirty="0" err="1"/>
              <a:t>устройствах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Проверить</a:t>
            </a:r>
            <a:r>
              <a:rPr dirty="0"/>
              <a:t> </a:t>
            </a:r>
            <a:r>
              <a:rPr dirty="0" err="1"/>
              <a:t>ответ</a:t>
            </a:r>
            <a:r>
              <a:rPr dirty="0"/>
              <a:t> </a:t>
            </a:r>
            <a:r>
              <a:rPr dirty="0" err="1"/>
              <a:t>приложения</a:t>
            </a:r>
            <a:r>
              <a:rPr dirty="0"/>
              <a:t>, а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открытие</a:t>
            </a:r>
            <a:r>
              <a:rPr dirty="0"/>
              <a:t> </a:t>
            </a:r>
            <a:r>
              <a:rPr dirty="0" err="1"/>
              <a:t>порта</a:t>
            </a:r>
            <a:r>
              <a:rPr lang="en-US" dirty="0"/>
              <a:t>;</a:t>
            </a:r>
            <a:endParaRPr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Команды Linux для TCP и UDP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b="1" dirty="0">
                <a:solidFill>
                  <a:srgbClr val="002060"/>
                </a:solidFill>
              </a:rPr>
              <a:t>ss -</a:t>
            </a:r>
            <a:r>
              <a:rPr b="1" dirty="0" err="1">
                <a:solidFill>
                  <a:srgbClr val="002060"/>
                </a:solidFill>
              </a:rPr>
              <a:t>tulpen</a:t>
            </a:r>
            <a:r>
              <a:rPr b="1" dirty="0">
                <a:solidFill>
                  <a:srgbClr val="002060"/>
                </a:solidFill>
              </a:rPr>
              <a:t>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слушающие</a:t>
            </a:r>
            <a:r>
              <a:rPr dirty="0"/>
              <a:t> TCP и UDP-</a:t>
            </a:r>
            <a:r>
              <a:rPr dirty="0" err="1"/>
              <a:t>порты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b="1" dirty="0">
                <a:solidFill>
                  <a:srgbClr val="002060"/>
                </a:solidFill>
              </a:rPr>
              <a:t>curl http://server </a:t>
            </a:r>
            <a:r>
              <a:rPr dirty="0" err="1"/>
              <a:t>проверяет</a:t>
            </a:r>
            <a:r>
              <a:rPr dirty="0"/>
              <a:t> HTTP-</a:t>
            </a:r>
            <a:r>
              <a:rPr dirty="0" err="1"/>
              <a:t>ответ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b="1" dirty="0">
                <a:solidFill>
                  <a:srgbClr val="002060"/>
                </a:solidFill>
              </a:rPr>
              <a:t>nc -</a:t>
            </a:r>
            <a:r>
              <a:rPr b="1" dirty="0" err="1">
                <a:solidFill>
                  <a:srgbClr val="002060"/>
                </a:solidFill>
              </a:rPr>
              <a:t>vz</a:t>
            </a:r>
            <a:r>
              <a:rPr b="1" dirty="0">
                <a:solidFill>
                  <a:srgbClr val="002060"/>
                </a:solidFill>
              </a:rPr>
              <a:t> server 22 </a:t>
            </a:r>
            <a:r>
              <a:rPr dirty="0" err="1"/>
              <a:t>проверяет</a:t>
            </a:r>
            <a:r>
              <a:rPr dirty="0"/>
              <a:t> TCP-</a:t>
            </a:r>
            <a:r>
              <a:rPr dirty="0" err="1"/>
              <a:t>подключение</a:t>
            </a:r>
            <a:r>
              <a:rPr dirty="0"/>
              <a:t> к </a:t>
            </a:r>
            <a:r>
              <a:rPr dirty="0" err="1"/>
              <a:t>порту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b="1" dirty="0">
                <a:solidFill>
                  <a:srgbClr val="002060"/>
                </a:solidFill>
              </a:rPr>
              <a:t>dig @server name </a:t>
            </a:r>
            <a:r>
              <a:rPr dirty="0" err="1"/>
              <a:t>проверяет</a:t>
            </a:r>
            <a:r>
              <a:rPr dirty="0"/>
              <a:t> DNS-</a:t>
            </a:r>
            <a:r>
              <a:rPr dirty="0" err="1"/>
              <a:t>запрос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b="1" dirty="0" err="1">
                <a:solidFill>
                  <a:srgbClr val="002060"/>
                </a:solidFill>
              </a:rPr>
              <a:t>tcpdump</a:t>
            </a:r>
            <a:r>
              <a:rPr dirty="0"/>
              <a:t> </a:t>
            </a:r>
            <a:r>
              <a:rPr dirty="0" err="1"/>
              <a:t>позволяет</a:t>
            </a:r>
            <a:r>
              <a:rPr dirty="0"/>
              <a:t> </a:t>
            </a:r>
            <a:r>
              <a:rPr dirty="0" err="1"/>
              <a:t>увидеть</a:t>
            </a:r>
            <a:r>
              <a:rPr dirty="0"/>
              <a:t> </a:t>
            </a:r>
            <a:r>
              <a:rPr dirty="0" err="1"/>
              <a:t>реальные</a:t>
            </a:r>
            <a:r>
              <a:rPr dirty="0"/>
              <a:t> </a:t>
            </a:r>
            <a:r>
              <a:rPr dirty="0" err="1"/>
              <a:t>пакеты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интерфейсе</a:t>
            </a:r>
            <a:r>
              <a:rPr lang="en-US" dirty="0"/>
              <a:t>;</a:t>
            </a:r>
            <a:endParaRPr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Команды Windows для TCP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b="1" dirty="0">
                <a:solidFill>
                  <a:srgbClr val="002060"/>
                </a:solidFill>
              </a:rPr>
              <a:t>Test-</a:t>
            </a:r>
            <a:r>
              <a:rPr b="1" dirty="0" err="1">
                <a:solidFill>
                  <a:srgbClr val="002060"/>
                </a:solidFill>
              </a:rPr>
              <a:t>NetConnection</a:t>
            </a:r>
            <a:r>
              <a:rPr b="1" dirty="0">
                <a:solidFill>
                  <a:srgbClr val="002060"/>
                </a:solidFill>
              </a:rPr>
              <a:t> server -Port 443 </a:t>
            </a:r>
            <a:r>
              <a:rPr dirty="0" err="1"/>
              <a:t>проверяет</a:t>
            </a:r>
            <a:r>
              <a:rPr dirty="0"/>
              <a:t> TCP-</a:t>
            </a:r>
            <a:r>
              <a:rPr dirty="0" err="1"/>
              <a:t>порт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b="1" dirty="0">
                <a:solidFill>
                  <a:srgbClr val="002060"/>
                </a:solidFill>
              </a:rPr>
              <a:t>netstat -</a:t>
            </a:r>
            <a:r>
              <a:rPr b="1" dirty="0" err="1">
                <a:solidFill>
                  <a:srgbClr val="002060"/>
                </a:solidFill>
              </a:rPr>
              <a:t>ano</a:t>
            </a:r>
            <a:r>
              <a:rPr b="1" dirty="0">
                <a:solidFill>
                  <a:srgbClr val="002060"/>
                </a:solidFill>
              </a:rPr>
              <a:t>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соединения</a:t>
            </a:r>
            <a:r>
              <a:rPr dirty="0"/>
              <a:t> и PID </a:t>
            </a:r>
            <a:r>
              <a:rPr dirty="0" err="1"/>
              <a:t>процессов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b="1" dirty="0">
                <a:solidFill>
                  <a:srgbClr val="002060"/>
                </a:solidFill>
              </a:rPr>
              <a:t>Get-</a:t>
            </a:r>
            <a:r>
              <a:rPr b="1" dirty="0" err="1">
                <a:solidFill>
                  <a:srgbClr val="002060"/>
                </a:solidFill>
              </a:rPr>
              <a:t>NetTCPConnection</a:t>
            </a:r>
            <a:r>
              <a:rPr dirty="0"/>
              <a:t> </a:t>
            </a:r>
            <a:r>
              <a:rPr dirty="0" err="1"/>
              <a:t>показывает</a:t>
            </a:r>
            <a:r>
              <a:rPr dirty="0"/>
              <a:t> TCP-</a:t>
            </a:r>
            <a:r>
              <a:rPr dirty="0" err="1"/>
              <a:t>соединения</a:t>
            </a:r>
            <a:r>
              <a:rPr dirty="0"/>
              <a:t> PowerShell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b="1" dirty="0">
                <a:solidFill>
                  <a:srgbClr val="002060"/>
                </a:solidFill>
              </a:rPr>
              <a:t>Resolve-</a:t>
            </a:r>
            <a:r>
              <a:rPr b="1" dirty="0" err="1">
                <a:solidFill>
                  <a:srgbClr val="002060"/>
                </a:solidFill>
              </a:rPr>
              <a:t>DnsName</a:t>
            </a:r>
            <a:r>
              <a:rPr dirty="0"/>
              <a:t> name </a:t>
            </a:r>
            <a:r>
              <a:rPr dirty="0" err="1"/>
              <a:t>проверяет</a:t>
            </a:r>
            <a:r>
              <a:rPr dirty="0"/>
              <a:t> </a:t>
            </a:r>
            <a:r>
              <a:rPr dirty="0" err="1"/>
              <a:t>разрешение</a:t>
            </a:r>
            <a:r>
              <a:rPr dirty="0"/>
              <a:t> DNS-</a:t>
            </a:r>
            <a:r>
              <a:rPr dirty="0" err="1"/>
              <a:t>имени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Журнал</a:t>
            </a:r>
            <a:r>
              <a:rPr dirty="0"/>
              <a:t> </a:t>
            </a:r>
            <a:r>
              <a:rPr dirty="0" err="1"/>
              <a:t>событий</a:t>
            </a:r>
            <a:r>
              <a:rPr dirty="0"/>
              <a:t> </a:t>
            </a:r>
            <a:r>
              <a:rPr dirty="0" err="1"/>
              <a:t>помогает</a:t>
            </a:r>
            <a:r>
              <a:rPr dirty="0"/>
              <a:t> </a:t>
            </a:r>
            <a:r>
              <a:rPr dirty="0" err="1"/>
              <a:t>найти</a:t>
            </a:r>
            <a:r>
              <a:rPr dirty="0"/>
              <a:t> </a:t>
            </a:r>
            <a:r>
              <a:rPr dirty="0" err="1"/>
              <a:t>ошибки</a:t>
            </a:r>
            <a:r>
              <a:rPr dirty="0"/>
              <a:t> </a:t>
            </a:r>
            <a:r>
              <a:rPr dirty="0" err="1"/>
              <a:t>службы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firewall</a:t>
            </a:r>
            <a:r>
              <a:rPr lang="en-US" dirty="0"/>
              <a:t>;</a:t>
            </a:r>
            <a:endParaRPr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Как читать типовые результаты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b="1" dirty="0"/>
              <a:t>Connection refused </a:t>
            </a:r>
            <a:r>
              <a:rPr dirty="0"/>
              <a:t>- </a:t>
            </a:r>
            <a:r>
              <a:rPr dirty="0" err="1"/>
              <a:t>узел</a:t>
            </a:r>
            <a:r>
              <a:rPr dirty="0"/>
              <a:t> </a:t>
            </a:r>
            <a:r>
              <a:rPr dirty="0" err="1"/>
              <a:t>доступен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порт</a:t>
            </a:r>
            <a:r>
              <a:rPr dirty="0"/>
              <a:t> </a:t>
            </a:r>
            <a:r>
              <a:rPr dirty="0" err="1"/>
              <a:t>закрыт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служба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слушает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b="1" dirty="0"/>
              <a:t>Timeout</a:t>
            </a:r>
            <a:r>
              <a:rPr dirty="0"/>
              <a:t> - </a:t>
            </a:r>
            <a:r>
              <a:rPr dirty="0" err="1"/>
              <a:t>нет</a:t>
            </a:r>
            <a:r>
              <a:rPr dirty="0"/>
              <a:t> </a:t>
            </a:r>
            <a:r>
              <a:rPr dirty="0" err="1"/>
              <a:t>ответа</a:t>
            </a:r>
            <a:r>
              <a:rPr dirty="0"/>
              <a:t>,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причина</a:t>
            </a:r>
            <a:r>
              <a:rPr dirty="0"/>
              <a:t> в firewall, </a:t>
            </a:r>
            <a:r>
              <a:rPr dirty="0" err="1"/>
              <a:t>маршруте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фильтрации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b="1" dirty="0"/>
              <a:t>Name not resolved </a:t>
            </a:r>
            <a:r>
              <a:rPr dirty="0"/>
              <a:t>-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работает</a:t>
            </a:r>
            <a:r>
              <a:rPr dirty="0"/>
              <a:t> </a:t>
            </a:r>
            <a:r>
              <a:rPr dirty="0" err="1"/>
              <a:t>разрешение</a:t>
            </a:r>
            <a:r>
              <a:rPr dirty="0"/>
              <a:t> </a:t>
            </a:r>
            <a:r>
              <a:rPr dirty="0" err="1"/>
              <a:t>имени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b="1" dirty="0"/>
              <a:t>TLS error </a:t>
            </a:r>
            <a:r>
              <a:rPr dirty="0"/>
              <a:t>- </a:t>
            </a:r>
            <a:r>
              <a:rPr dirty="0" err="1"/>
              <a:t>порт</a:t>
            </a:r>
            <a:r>
              <a:rPr dirty="0"/>
              <a:t> </a:t>
            </a:r>
            <a:r>
              <a:rPr dirty="0" err="1"/>
              <a:t>доступен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есть</a:t>
            </a:r>
            <a:r>
              <a:rPr dirty="0"/>
              <a:t> </a:t>
            </a:r>
            <a:r>
              <a:rPr dirty="0" err="1"/>
              <a:t>проблема</a:t>
            </a:r>
            <a:r>
              <a:rPr dirty="0"/>
              <a:t> </a:t>
            </a:r>
            <a:r>
              <a:rPr dirty="0" err="1"/>
              <a:t>сертификата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шифрования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b="1" dirty="0"/>
              <a:t>Authentication failed </a:t>
            </a:r>
            <a:r>
              <a:rPr dirty="0"/>
              <a:t>- </a:t>
            </a:r>
            <a:r>
              <a:rPr dirty="0" err="1"/>
              <a:t>сервис</a:t>
            </a:r>
            <a:r>
              <a:rPr dirty="0"/>
              <a:t> </a:t>
            </a:r>
            <a:r>
              <a:rPr dirty="0" err="1"/>
              <a:t>отвечает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доступ</a:t>
            </a:r>
            <a:r>
              <a:rPr dirty="0"/>
              <a:t> </a:t>
            </a:r>
            <a:r>
              <a:rPr dirty="0" err="1"/>
              <a:t>запрещен</a:t>
            </a:r>
            <a:r>
              <a:rPr dirty="0"/>
              <a:t> </a:t>
            </a:r>
            <a:r>
              <a:rPr dirty="0" err="1"/>
              <a:t>учетными</a:t>
            </a:r>
            <a:r>
              <a:rPr dirty="0"/>
              <a:t> </a:t>
            </a:r>
            <a:r>
              <a:rPr dirty="0" err="1"/>
              <a:t>данными</a:t>
            </a:r>
            <a:r>
              <a:rPr lang="en-US" dirty="0"/>
              <a:t>;</a:t>
            </a:r>
            <a:endParaRPr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Диаграмма</a:t>
            </a:r>
            <a:r>
              <a:rPr dirty="0"/>
              <a:t>: </a:t>
            </a:r>
            <a:r>
              <a:rPr dirty="0" err="1"/>
              <a:t>путь</a:t>
            </a:r>
            <a:r>
              <a:rPr dirty="0"/>
              <a:t> </a:t>
            </a:r>
            <a:r>
              <a:rPr dirty="0" err="1"/>
              <a:t>диагностики</a:t>
            </a:r>
            <a:r>
              <a:rPr dirty="0"/>
              <a:t> </a:t>
            </a:r>
            <a:r>
              <a:rPr dirty="0" err="1"/>
              <a:t>транспортного</a:t>
            </a:r>
            <a:r>
              <a:rPr dirty="0"/>
              <a:t> </a:t>
            </a:r>
            <a:r>
              <a:rPr dirty="0" err="1"/>
              <a:t>уровня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9FAD836-C834-F105-18F0-7D52458DBB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Типовые ошибки начинающих администраторов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Проверять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ping и </a:t>
            </a:r>
            <a:r>
              <a:rPr dirty="0" err="1"/>
              <a:t>считать</a:t>
            </a:r>
            <a:r>
              <a:rPr dirty="0"/>
              <a:t> </a:t>
            </a:r>
            <a:r>
              <a:rPr dirty="0" err="1"/>
              <a:t>сервис</a:t>
            </a:r>
            <a:r>
              <a:rPr dirty="0"/>
              <a:t> </a:t>
            </a:r>
            <a:r>
              <a:rPr dirty="0" err="1"/>
              <a:t>исправным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Открывать</a:t>
            </a:r>
            <a:r>
              <a:rPr dirty="0"/>
              <a:t> </a:t>
            </a:r>
            <a:r>
              <a:rPr dirty="0" err="1"/>
              <a:t>порт</a:t>
            </a:r>
            <a:r>
              <a:rPr dirty="0"/>
              <a:t> в firewall,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запускать</a:t>
            </a:r>
            <a:r>
              <a:rPr dirty="0"/>
              <a:t> </a:t>
            </a:r>
            <a:r>
              <a:rPr dirty="0" err="1"/>
              <a:t>службу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Запускать</a:t>
            </a:r>
            <a:r>
              <a:rPr dirty="0"/>
              <a:t> </a:t>
            </a:r>
            <a:r>
              <a:rPr dirty="0" err="1"/>
              <a:t>службу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127.0.0.1 </a:t>
            </a:r>
            <a:r>
              <a:rPr dirty="0" err="1"/>
              <a:t>вместо</a:t>
            </a:r>
            <a:r>
              <a:rPr dirty="0"/>
              <a:t> </a:t>
            </a:r>
            <a:r>
              <a:rPr dirty="0" err="1"/>
              <a:t>сетевого</a:t>
            </a:r>
            <a:r>
              <a:rPr dirty="0"/>
              <a:t> </a:t>
            </a:r>
            <a:r>
              <a:rPr dirty="0" err="1"/>
              <a:t>интерфейса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Путать</a:t>
            </a:r>
            <a:r>
              <a:rPr dirty="0"/>
              <a:t> TCP и UDP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одного</a:t>
            </a:r>
            <a:r>
              <a:rPr dirty="0"/>
              <a:t> и </a:t>
            </a:r>
            <a:r>
              <a:rPr dirty="0" err="1"/>
              <a:t>того</a:t>
            </a:r>
            <a:r>
              <a:rPr dirty="0"/>
              <a:t> </a:t>
            </a:r>
            <a:r>
              <a:rPr dirty="0" err="1"/>
              <a:t>же</a:t>
            </a:r>
            <a:r>
              <a:rPr dirty="0"/>
              <a:t> </a:t>
            </a:r>
            <a:r>
              <a:rPr dirty="0" err="1"/>
              <a:t>номера</a:t>
            </a:r>
            <a:r>
              <a:rPr dirty="0"/>
              <a:t> </a:t>
            </a:r>
            <a:r>
              <a:rPr dirty="0" err="1"/>
              <a:t>порта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фиксировать</a:t>
            </a:r>
            <a:r>
              <a:rPr dirty="0"/>
              <a:t> </a:t>
            </a:r>
            <a:r>
              <a:rPr dirty="0" err="1"/>
              <a:t>команды</a:t>
            </a:r>
            <a:r>
              <a:rPr dirty="0"/>
              <a:t> и </a:t>
            </a:r>
            <a:r>
              <a:rPr dirty="0" err="1"/>
              <a:t>результаты</a:t>
            </a:r>
            <a:r>
              <a:rPr dirty="0"/>
              <a:t> </a:t>
            </a:r>
            <a:r>
              <a:rPr dirty="0" err="1"/>
              <a:t>проверки</a:t>
            </a:r>
            <a:r>
              <a:rPr lang="en-US" dirty="0"/>
              <a:t>;</a:t>
            </a:r>
            <a:endParaRPr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Итоги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399"/>
            <a:ext cx="11430000" cy="5515897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Транспортный</a:t>
            </a:r>
            <a:r>
              <a:rPr dirty="0"/>
              <a:t> </a:t>
            </a:r>
            <a:r>
              <a:rPr dirty="0" err="1"/>
              <a:t>уровень</a:t>
            </a:r>
            <a:r>
              <a:rPr dirty="0"/>
              <a:t> </a:t>
            </a:r>
            <a:r>
              <a:rPr dirty="0" err="1"/>
              <a:t>связывает</a:t>
            </a:r>
            <a:r>
              <a:rPr dirty="0"/>
              <a:t> </a:t>
            </a:r>
            <a:r>
              <a:rPr dirty="0" err="1"/>
              <a:t>приложения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разных</a:t>
            </a:r>
            <a:r>
              <a:rPr dirty="0"/>
              <a:t> </a:t>
            </a:r>
            <a:r>
              <a:rPr dirty="0" err="1"/>
              <a:t>узлах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TCP </a:t>
            </a:r>
            <a:r>
              <a:rPr dirty="0" err="1"/>
              <a:t>обеспечивает</a:t>
            </a:r>
            <a:r>
              <a:rPr dirty="0"/>
              <a:t> </a:t>
            </a:r>
            <a:r>
              <a:rPr dirty="0" err="1"/>
              <a:t>надежный</a:t>
            </a:r>
            <a:r>
              <a:rPr dirty="0"/>
              <a:t> </a:t>
            </a:r>
            <a:r>
              <a:rPr dirty="0" err="1"/>
              <a:t>упорядоченный</a:t>
            </a:r>
            <a:r>
              <a:rPr dirty="0"/>
              <a:t> </a:t>
            </a:r>
            <a:r>
              <a:rPr dirty="0" err="1"/>
              <a:t>обмен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UDP </a:t>
            </a:r>
            <a:r>
              <a:rPr dirty="0" err="1"/>
              <a:t>обеспечивает</a:t>
            </a:r>
            <a:r>
              <a:rPr dirty="0"/>
              <a:t> </a:t>
            </a:r>
            <a:r>
              <a:rPr dirty="0" err="1"/>
              <a:t>быстрый</a:t>
            </a:r>
            <a:r>
              <a:rPr dirty="0"/>
              <a:t> </a:t>
            </a:r>
            <a:r>
              <a:rPr dirty="0" err="1"/>
              <a:t>обмен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гарантий</a:t>
            </a:r>
            <a:r>
              <a:rPr dirty="0"/>
              <a:t> </a:t>
            </a:r>
            <a:r>
              <a:rPr dirty="0" err="1"/>
              <a:t>доставки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Порт</a:t>
            </a:r>
            <a:r>
              <a:rPr dirty="0"/>
              <a:t> </a:t>
            </a:r>
            <a:r>
              <a:rPr dirty="0" err="1"/>
              <a:t>указывает</a:t>
            </a:r>
            <a:r>
              <a:rPr dirty="0"/>
              <a:t>, к </a:t>
            </a:r>
            <a:r>
              <a:rPr dirty="0" err="1"/>
              <a:t>какой</a:t>
            </a:r>
            <a:r>
              <a:rPr dirty="0"/>
              <a:t> </a:t>
            </a:r>
            <a:r>
              <a:rPr dirty="0" err="1"/>
              <a:t>службе</a:t>
            </a:r>
            <a:r>
              <a:rPr dirty="0"/>
              <a:t> </a:t>
            </a:r>
            <a:r>
              <a:rPr dirty="0" err="1"/>
              <a:t>должны</a:t>
            </a:r>
            <a:r>
              <a:rPr dirty="0"/>
              <a:t> </a:t>
            </a:r>
            <a:r>
              <a:rPr dirty="0" err="1"/>
              <a:t>попасть</a:t>
            </a:r>
            <a:r>
              <a:rPr dirty="0"/>
              <a:t> </a:t>
            </a:r>
            <a:r>
              <a:rPr dirty="0" err="1"/>
              <a:t>данные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Socket </a:t>
            </a:r>
            <a:r>
              <a:rPr dirty="0" err="1"/>
              <a:t>связывает</a:t>
            </a:r>
            <a:r>
              <a:rPr dirty="0"/>
              <a:t> </a:t>
            </a:r>
            <a:r>
              <a:rPr dirty="0" err="1"/>
              <a:t>адрес</a:t>
            </a:r>
            <a:r>
              <a:rPr dirty="0"/>
              <a:t>, </a:t>
            </a:r>
            <a:r>
              <a:rPr dirty="0" err="1"/>
              <a:t>протокол</a:t>
            </a:r>
            <a:r>
              <a:rPr dirty="0"/>
              <a:t> и </a:t>
            </a:r>
            <a:r>
              <a:rPr dirty="0" err="1"/>
              <a:t>порт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Диагностика</a:t>
            </a:r>
            <a:r>
              <a:rPr dirty="0"/>
              <a:t> </a:t>
            </a:r>
            <a:r>
              <a:rPr dirty="0" err="1"/>
              <a:t>сервиса</a:t>
            </a:r>
            <a:r>
              <a:rPr dirty="0"/>
              <a:t> </a:t>
            </a:r>
            <a:r>
              <a:rPr dirty="0" err="1"/>
              <a:t>требует</a:t>
            </a:r>
            <a:r>
              <a:rPr dirty="0"/>
              <a:t> </a:t>
            </a:r>
            <a:r>
              <a:rPr dirty="0" err="1"/>
              <a:t>проверки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IP, </a:t>
            </a:r>
            <a:r>
              <a:rPr dirty="0" err="1"/>
              <a:t>но</a:t>
            </a:r>
            <a:r>
              <a:rPr dirty="0"/>
              <a:t> и </a:t>
            </a:r>
            <a:r>
              <a:rPr dirty="0" err="1"/>
              <a:t>порта</a:t>
            </a:r>
            <a:r>
              <a:rPr dirty="0"/>
              <a:t>, </a:t>
            </a:r>
            <a:r>
              <a:rPr dirty="0" err="1"/>
              <a:t>службы</a:t>
            </a:r>
            <a:r>
              <a:rPr dirty="0"/>
              <a:t> и </a:t>
            </a:r>
            <a:r>
              <a:rPr dirty="0" err="1"/>
              <a:t>приложения</a:t>
            </a:r>
            <a:r>
              <a:rPr lang="en-US" dirty="0"/>
              <a:t>;</a:t>
            </a:r>
            <a:endParaRPr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fontScale="85000" lnSpcReduction="10000"/>
          </a:bodyPr>
          <a:lstStyle/>
          <a:p>
            <a:pPr>
              <a:defRPr sz="3600"/>
            </a:pPr>
            <a:r>
              <a:t>1. Что делает транспортный уровень?</a:t>
            </a:r>
          </a:p>
          <a:p>
            <a:pPr>
              <a:defRPr sz="3600"/>
            </a:pPr>
            <a:r>
              <a:t>2. Чем порт отличается от IP-адреса?</a:t>
            </a:r>
          </a:p>
          <a:p>
            <a:pPr>
              <a:defRPr sz="3600"/>
            </a:pPr>
            <a:r>
              <a:t>3. Что означает TCP и какую задачу выполняет этот протокол?</a:t>
            </a:r>
          </a:p>
          <a:p>
            <a:pPr>
              <a:defRPr sz="3600"/>
            </a:pPr>
            <a:r>
              <a:t>4. Что означает UDP и почему он не гарантирует доставку?</a:t>
            </a:r>
          </a:p>
          <a:p>
            <a:pPr>
              <a:defRPr sz="3600"/>
            </a:pPr>
            <a:r>
              <a:t>5. Что происходит во время TCP handshake?</a:t>
            </a:r>
          </a:p>
          <a:p>
            <a:pPr>
              <a:defRPr sz="3600"/>
            </a:pPr>
            <a:r>
              <a:t>6. Для чего нужен метод скользящего окна?</a:t>
            </a:r>
          </a:p>
          <a:p>
            <a:pPr>
              <a:defRPr sz="3600"/>
            </a:pPr>
            <a:r>
              <a:t>7. Что такое socket?</a:t>
            </a:r>
          </a:p>
          <a:p>
            <a:pPr>
              <a:defRPr sz="3600"/>
            </a:pPr>
            <a:r>
              <a:t>8. Почему ping может работать, а сайт не открываться?</a:t>
            </a:r>
          </a:p>
          <a:p>
            <a:pPr>
              <a:defRPr sz="3600"/>
            </a:pPr>
            <a:r>
              <a:t>9. Какие порты популярных служб должен знать администратор?</a:t>
            </a:r>
          </a:p>
          <a:p>
            <a:pPr>
              <a:defRPr sz="3600"/>
            </a:pPr>
            <a:r>
              <a:t>10. Какие команды можно использовать для проверки TCP-порта?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2735</Words>
  <Application>Microsoft Office PowerPoint</Application>
  <PresentationFormat>Широкоэкранный</PresentationFormat>
  <Paragraphs>344</Paragraphs>
  <Slides>63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63</vt:i4>
      </vt:variant>
    </vt:vector>
  </HeadingPairs>
  <TitlesOfParts>
    <vt:vector size="66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4</cp:revision>
  <dcterms:created xsi:type="dcterms:W3CDTF">2013-01-27T09:14:16Z</dcterms:created>
  <dcterms:modified xsi:type="dcterms:W3CDTF">2026-06-30T02:06:02Z</dcterms:modified>
  <cp:category/>
</cp:coreProperties>
</file>