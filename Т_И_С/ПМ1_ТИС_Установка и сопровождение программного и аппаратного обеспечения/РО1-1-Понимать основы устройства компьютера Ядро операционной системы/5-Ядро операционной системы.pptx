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9604" y="935048"/>
            <a:ext cx="1113279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5. </a:t>
            </a:r>
            <a:r>
              <a:rPr sz="4800" dirty="0" err="1"/>
              <a:t>Ядро</a:t>
            </a:r>
            <a:r>
              <a:rPr sz="4800" dirty="0"/>
              <a:t> </a:t>
            </a:r>
            <a:r>
              <a:rPr sz="4800" dirty="0" err="1"/>
              <a:t>операционной</a:t>
            </a:r>
            <a:r>
              <a:rPr sz="4800" dirty="0"/>
              <a:t> </a:t>
            </a:r>
            <a:r>
              <a:rPr sz="4800" dirty="0" err="1"/>
              <a:t>системы</a:t>
            </a:r>
            <a:r>
              <a:rPr sz="4800" dirty="0"/>
              <a:t>,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драйверы</a:t>
            </a:r>
            <a:r>
              <a:rPr sz="4800" dirty="0"/>
              <a:t>, </a:t>
            </a:r>
            <a:r>
              <a:rPr sz="4800" dirty="0" err="1"/>
              <a:t>процессы</a:t>
            </a:r>
            <a:r>
              <a:rPr sz="4800" dirty="0"/>
              <a:t> и </a:t>
            </a:r>
            <a:r>
              <a:rPr sz="4800" dirty="0" err="1"/>
              <a:t>службы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ядра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Разобрать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взаимодействуют</a:t>
            </a:r>
            <a:r>
              <a:rPr dirty="0"/>
              <a:t> с </a:t>
            </a:r>
            <a:r>
              <a:rPr dirty="0" err="1"/>
              <a:t>оборудованием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вызовов</a:t>
            </a:r>
            <a:r>
              <a:rPr dirty="0"/>
              <a:t> и </a:t>
            </a:r>
            <a:r>
              <a:rPr dirty="0" err="1"/>
              <a:t>драйверов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ядре</a:t>
            </a:r>
            <a:r>
              <a:rPr dirty="0"/>
              <a:t>, </a:t>
            </a:r>
            <a:r>
              <a:rPr dirty="0" err="1"/>
              <a:t>драйверах</a:t>
            </a:r>
            <a:r>
              <a:rPr dirty="0"/>
              <a:t>, </a:t>
            </a:r>
            <a:r>
              <a:rPr dirty="0" err="1"/>
              <a:t>процессах</a:t>
            </a:r>
            <a:r>
              <a:rPr dirty="0"/>
              <a:t> и </a:t>
            </a:r>
            <a:r>
              <a:rPr dirty="0" err="1"/>
              <a:t>службах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Назначение</a:t>
            </a:r>
            <a:r>
              <a:rPr sz="2800" dirty="0"/>
              <a:t> </a:t>
            </a:r>
            <a:r>
              <a:rPr sz="2800" dirty="0" err="1"/>
              <a:t>операционной</a:t>
            </a:r>
            <a:r>
              <a:rPr sz="2800" dirty="0"/>
              <a:t> </a:t>
            </a:r>
            <a:r>
              <a:rPr sz="2800" dirty="0" err="1"/>
              <a:t>системы</a:t>
            </a:r>
            <a:r>
              <a:rPr sz="2800" dirty="0"/>
              <a:t>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посредника</a:t>
            </a:r>
            <a:r>
              <a:rPr sz="2800" dirty="0"/>
              <a:t> </a:t>
            </a:r>
            <a:r>
              <a:rPr sz="2800" dirty="0" err="1"/>
              <a:t>между</a:t>
            </a:r>
            <a:r>
              <a:rPr sz="2800" dirty="0"/>
              <a:t> </a:t>
            </a:r>
            <a:r>
              <a:rPr sz="2800" dirty="0" err="1"/>
              <a:t>пользователем</a:t>
            </a:r>
            <a:r>
              <a:rPr sz="2800" dirty="0"/>
              <a:t>, </a:t>
            </a:r>
            <a:r>
              <a:rPr sz="2800" dirty="0" err="1"/>
              <a:t>приложениями</a:t>
            </a:r>
            <a:r>
              <a:rPr sz="2800" dirty="0"/>
              <a:t> и </a:t>
            </a:r>
            <a:r>
              <a:rPr sz="2800" dirty="0" err="1"/>
              <a:t>оборудованием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Основные</a:t>
            </a:r>
            <a:r>
              <a:rPr sz="2800" dirty="0"/>
              <a:t> </a:t>
            </a:r>
            <a:r>
              <a:rPr sz="2800" dirty="0" err="1"/>
              <a:t>задачи</a:t>
            </a:r>
            <a:r>
              <a:rPr sz="2800" dirty="0"/>
              <a:t> ОС: </a:t>
            </a:r>
            <a:r>
              <a:rPr sz="2800" dirty="0" err="1"/>
              <a:t>управление</a:t>
            </a:r>
            <a:r>
              <a:rPr sz="2800" dirty="0"/>
              <a:t> </a:t>
            </a:r>
            <a:r>
              <a:rPr sz="2800" dirty="0" err="1"/>
              <a:t>ресурсами</a:t>
            </a:r>
            <a:r>
              <a:rPr sz="2800" dirty="0"/>
              <a:t>, </a:t>
            </a:r>
            <a:r>
              <a:rPr sz="2800" dirty="0" err="1"/>
              <a:t>запуск</a:t>
            </a:r>
            <a:r>
              <a:rPr sz="2800" dirty="0"/>
              <a:t> </a:t>
            </a:r>
            <a:r>
              <a:rPr sz="2800" dirty="0" err="1"/>
              <a:t>программ</a:t>
            </a:r>
            <a:r>
              <a:rPr sz="2800" dirty="0"/>
              <a:t>, </a:t>
            </a:r>
            <a:r>
              <a:rPr sz="2800" dirty="0" err="1"/>
              <a:t>работа</a:t>
            </a:r>
            <a:r>
              <a:rPr sz="2800" dirty="0"/>
              <a:t> с </a:t>
            </a:r>
            <a:r>
              <a:rPr sz="2800" dirty="0" err="1"/>
              <a:t>файлами</a:t>
            </a:r>
            <a:r>
              <a:rPr sz="2800" dirty="0"/>
              <a:t>, </a:t>
            </a:r>
            <a:r>
              <a:rPr sz="2800" dirty="0" err="1"/>
              <a:t>устройствами</a:t>
            </a:r>
            <a:r>
              <a:rPr sz="2800" dirty="0"/>
              <a:t> и </a:t>
            </a:r>
            <a:r>
              <a:rPr sz="2800" dirty="0" err="1"/>
              <a:t>сетью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Ядро</a:t>
            </a:r>
            <a:r>
              <a:rPr sz="2800" dirty="0"/>
              <a:t> </a:t>
            </a:r>
            <a:r>
              <a:rPr sz="2800" dirty="0" err="1"/>
              <a:t>операционной</a:t>
            </a:r>
            <a:r>
              <a:rPr sz="2800" dirty="0"/>
              <a:t> </a:t>
            </a:r>
            <a:r>
              <a:rPr sz="2800" dirty="0" err="1"/>
              <a:t>системы</a:t>
            </a:r>
            <a:r>
              <a:rPr sz="2800" dirty="0"/>
              <a:t>: </a:t>
            </a:r>
            <a:r>
              <a:rPr sz="2800" dirty="0" err="1"/>
              <a:t>назначение</a:t>
            </a:r>
            <a:r>
              <a:rPr sz="2800" dirty="0"/>
              <a:t> и </a:t>
            </a:r>
            <a:r>
              <a:rPr sz="2800" dirty="0" err="1"/>
              <a:t>основные</a:t>
            </a:r>
            <a:r>
              <a:rPr sz="2800" dirty="0"/>
              <a:t> </a:t>
            </a:r>
            <a:r>
              <a:rPr sz="2800" dirty="0" err="1"/>
              <a:t>функции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Системные</a:t>
            </a:r>
            <a:r>
              <a:rPr sz="2800" dirty="0"/>
              <a:t> </a:t>
            </a:r>
            <a:r>
              <a:rPr sz="2800" dirty="0" err="1"/>
              <a:t>вызовы</a:t>
            </a:r>
            <a:r>
              <a:rPr sz="2800" dirty="0"/>
              <a:t>: </a:t>
            </a:r>
            <a:r>
              <a:rPr sz="2800" dirty="0" err="1"/>
              <a:t>обращение</a:t>
            </a:r>
            <a:r>
              <a:rPr sz="2800" dirty="0"/>
              <a:t> </a:t>
            </a:r>
            <a:r>
              <a:rPr sz="2800" dirty="0" err="1"/>
              <a:t>приложений</a:t>
            </a:r>
            <a:r>
              <a:rPr sz="2800" dirty="0"/>
              <a:t> к </a:t>
            </a:r>
            <a:r>
              <a:rPr sz="2800" dirty="0" err="1"/>
              <a:t>возможностям</a:t>
            </a:r>
            <a:r>
              <a:rPr sz="2800" dirty="0"/>
              <a:t> </a:t>
            </a:r>
            <a:r>
              <a:rPr sz="2800" dirty="0" err="1"/>
              <a:t>ядра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Драйверы</a:t>
            </a:r>
            <a:r>
              <a:rPr sz="2800" dirty="0"/>
              <a:t> </a:t>
            </a:r>
            <a:r>
              <a:rPr sz="2800" dirty="0" err="1"/>
              <a:t>устройств</a:t>
            </a:r>
            <a:r>
              <a:rPr sz="2800" dirty="0"/>
              <a:t>: </a:t>
            </a:r>
            <a:r>
              <a:rPr sz="2800" dirty="0" err="1"/>
              <a:t>связь</a:t>
            </a:r>
            <a:r>
              <a:rPr sz="2800" dirty="0"/>
              <a:t> ОС с </a:t>
            </a:r>
            <a:r>
              <a:rPr sz="2800" dirty="0" err="1"/>
              <a:t>оборудованием</a:t>
            </a:r>
            <a:r>
              <a:rPr sz="2800" dirty="0"/>
              <a:t> и </a:t>
            </a:r>
            <a:r>
              <a:rPr sz="2800" dirty="0" err="1"/>
              <a:t>типовые</a:t>
            </a:r>
            <a:r>
              <a:rPr sz="2800" dirty="0"/>
              <a:t> </a:t>
            </a:r>
            <a:r>
              <a:rPr sz="2800" dirty="0" err="1"/>
              <a:t>проблемы</a:t>
            </a:r>
            <a:r>
              <a:rPr sz="2800" dirty="0"/>
              <a:t> </a:t>
            </a:r>
            <a:r>
              <a:rPr sz="2800" dirty="0" err="1"/>
              <a:t>драйверов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Процессы</a:t>
            </a:r>
            <a:r>
              <a:rPr sz="2800" dirty="0"/>
              <a:t> и </a:t>
            </a:r>
            <a:r>
              <a:rPr sz="2800" dirty="0" err="1"/>
              <a:t>службы</a:t>
            </a:r>
            <a:r>
              <a:rPr sz="2800" dirty="0"/>
              <a:t>: </a:t>
            </a:r>
            <a:r>
              <a:rPr sz="2800" dirty="0" err="1"/>
              <a:t>назначение</a:t>
            </a:r>
            <a:r>
              <a:rPr sz="2800" dirty="0"/>
              <a:t>, </a:t>
            </a:r>
            <a:r>
              <a:rPr sz="2800" dirty="0" err="1"/>
              <a:t>отличия</a:t>
            </a:r>
            <a:r>
              <a:rPr sz="2800" dirty="0"/>
              <a:t> и </a:t>
            </a:r>
            <a:r>
              <a:rPr sz="2800" dirty="0" err="1"/>
              <a:t>роль</a:t>
            </a:r>
            <a:r>
              <a:rPr sz="2800" dirty="0"/>
              <a:t> в </a:t>
            </a:r>
            <a:r>
              <a:rPr sz="2800" dirty="0" err="1"/>
              <a:t>работе</a:t>
            </a:r>
            <a:r>
              <a:rPr sz="2800" dirty="0"/>
              <a:t> </a:t>
            </a:r>
            <a:r>
              <a:rPr sz="2800" dirty="0" err="1"/>
              <a:t>серверных</a:t>
            </a:r>
            <a:r>
              <a:rPr sz="2800" dirty="0"/>
              <a:t> </a:t>
            </a:r>
            <a:r>
              <a:rPr sz="2800" dirty="0" err="1"/>
              <a:t>функций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Архитектуры</a:t>
            </a:r>
            <a:r>
              <a:rPr sz="2800" dirty="0"/>
              <a:t> </a:t>
            </a:r>
            <a:r>
              <a:rPr sz="2800" dirty="0" err="1"/>
              <a:t>ядер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обзора</a:t>
            </a:r>
            <a:r>
              <a:rPr sz="2800" dirty="0"/>
              <a:t>: </a:t>
            </a:r>
            <a:r>
              <a:rPr sz="2800" dirty="0" err="1"/>
              <a:t>монолитное</a:t>
            </a:r>
            <a:r>
              <a:rPr sz="2800" dirty="0"/>
              <a:t> </a:t>
            </a:r>
            <a:r>
              <a:rPr sz="2800" dirty="0" err="1"/>
              <a:t>ядро</a:t>
            </a:r>
            <a:r>
              <a:rPr sz="2800" dirty="0"/>
              <a:t>, </a:t>
            </a:r>
            <a:r>
              <a:rPr sz="2800" dirty="0" err="1"/>
              <a:t>микроядро</a:t>
            </a:r>
            <a:r>
              <a:rPr sz="2800" dirty="0"/>
              <a:t>, </a:t>
            </a:r>
            <a:r>
              <a:rPr sz="2800" dirty="0" err="1"/>
              <a:t>гибридное</a:t>
            </a:r>
            <a:r>
              <a:rPr sz="2800" dirty="0"/>
              <a:t> </a:t>
            </a:r>
            <a:r>
              <a:rPr sz="2800" dirty="0" err="1"/>
              <a:t>ядро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Практическое</a:t>
            </a:r>
            <a:r>
              <a:rPr sz="2800" dirty="0"/>
              <a:t> </a:t>
            </a:r>
            <a:r>
              <a:rPr sz="2800" dirty="0" err="1"/>
              <a:t>значение</a:t>
            </a:r>
            <a:r>
              <a:rPr sz="2800" dirty="0"/>
              <a:t>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администратора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ОС — </a:t>
            </a:r>
            <a:r>
              <a:rPr sz="3200" dirty="0" err="1"/>
              <a:t>операционная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, </a:t>
            </a:r>
            <a:r>
              <a:rPr sz="3200" dirty="0" err="1"/>
              <a:t>системное</a:t>
            </a:r>
            <a:r>
              <a:rPr sz="3200" dirty="0"/>
              <a:t> ПО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управления</a:t>
            </a:r>
            <a:r>
              <a:rPr sz="3200" dirty="0"/>
              <a:t> </a:t>
            </a:r>
            <a:r>
              <a:rPr sz="3200" dirty="0" err="1"/>
              <a:t>компьютером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Kernel — </a:t>
            </a:r>
            <a:r>
              <a:rPr sz="3200" dirty="0" err="1"/>
              <a:t>ядро</a:t>
            </a:r>
            <a:r>
              <a:rPr sz="3200" dirty="0"/>
              <a:t> ОС, </a:t>
            </a:r>
            <a:r>
              <a:rPr sz="3200" dirty="0" err="1"/>
              <a:t>центральная</a:t>
            </a:r>
            <a:r>
              <a:rPr sz="3200" dirty="0"/>
              <a:t> </a:t>
            </a:r>
            <a:r>
              <a:rPr sz="3200" dirty="0" err="1"/>
              <a:t>часть</a:t>
            </a:r>
            <a:r>
              <a:rPr sz="3200" dirty="0"/>
              <a:t> </a:t>
            </a:r>
            <a:r>
              <a:rPr sz="3200" dirty="0" err="1"/>
              <a:t>операционной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Driver — </a:t>
            </a:r>
            <a:r>
              <a:rPr sz="3200" dirty="0" err="1"/>
              <a:t>драйвер</a:t>
            </a:r>
            <a:r>
              <a:rPr sz="3200" dirty="0"/>
              <a:t>, </a:t>
            </a:r>
            <a:r>
              <a:rPr sz="3200" dirty="0" err="1"/>
              <a:t>программа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взаимодействия</a:t>
            </a:r>
            <a:r>
              <a:rPr sz="3200" dirty="0"/>
              <a:t> ОС с </a:t>
            </a:r>
            <a:r>
              <a:rPr sz="3200" dirty="0" err="1"/>
              <a:t>устройством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Process — </a:t>
            </a:r>
            <a:r>
              <a:rPr sz="3200" dirty="0" err="1"/>
              <a:t>процесс</a:t>
            </a:r>
            <a:r>
              <a:rPr sz="3200" dirty="0"/>
              <a:t>, </a:t>
            </a:r>
            <a:r>
              <a:rPr sz="3200" dirty="0" err="1"/>
              <a:t>выполняемый</a:t>
            </a:r>
            <a:r>
              <a:rPr sz="3200" dirty="0"/>
              <a:t> </a:t>
            </a:r>
            <a:r>
              <a:rPr sz="3200" dirty="0" err="1"/>
              <a:t>экземпляр</a:t>
            </a:r>
            <a:r>
              <a:rPr sz="3200" dirty="0"/>
              <a:t> </a:t>
            </a:r>
            <a:r>
              <a:rPr sz="3200" dirty="0" err="1"/>
              <a:t>программы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Service — </a:t>
            </a:r>
            <a:r>
              <a:rPr sz="3200" dirty="0" err="1"/>
              <a:t>служба</a:t>
            </a:r>
            <a:r>
              <a:rPr sz="3200" dirty="0"/>
              <a:t>, </a:t>
            </a:r>
            <a:r>
              <a:rPr sz="3200" dirty="0" err="1"/>
              <a:t>фоновый</a:t>
            </a:r>
            <a:r>
              <a:rPr sz="3200" dirty="0"/>
              <a:t> </a:t>
            </a:r>
            <a:r>
              <a:rPr sz="3200" dirty="0" err="1"/>
              <a:t>процесс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системной</a:t>
            </a:r>
            <a:r>
              <a:rPr sz="3200" dirty="0"/>
              <a:t> </a:t>
            </a:r>
            <a:r>
              <a:rPr sz="3200" dirty="0" err="1"/>
              <a:t>или</a:t>
            </a:r>
            <a:r>
              <a:rPr sz="3200" dirty="0"/>
              <a:t> </a:t>
            </a:r>
            <a:r>
              <a:rPr sz="3200" dirty="0" err="1"/>
              <a:t>серверной</a:t>
            </a:r>
            <a:r>
              <a:rPr sz="3200" dirty="0"/>
              <a:t> </a:t>
            </a:r>
            <a:r>
              <a:rPr sz="3200" dirty="0" err="1"/>
              <a:t>функции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System call — </a:t>
            </a:r>
            <a:r>
              <a:rPr sz="3200" dirty="0" err="1"/>
              <a:t>системный</a:t>
            </a:r>
            <a:r>
              <a:rPr sz="3200" dirty="0"/>
              <a:t> </a:t>
            </a:r>
            <a:r>
              <a:rPr sz="3200" dirty="0" err="1"/>
              <a:t>вызов</a:t>
            </a:r>
            <a:r>
              <a:rPr sz="3200" dirty="0"/>
              <a:t>, </a:t>
            </a:r>
            <a:r>
              <a:rPr sz="3200" dirty="0" err="1"/>
              <a:t>обращение</a:t>
            </a:r>
            <a:r>
              <a:rPr sz="3200" dirty="0"/>
              <a:t> </a:t>
            </a:r>
            <a:r>
              <a:rPr sz="3200" dirty="0" err="1"/>
              <a:t>программы</a:t>
            </a:r>
            <a:r>
              <a:rPr sz="3200" dirty="0"/>
              <a:t> к </a:t>
            </a:r>
            <a:r>
              <a:rPr sz="3200" dirty="0" err="1"/>
              <a:t>ядру</a:t>
            </a:r>
            <a:r>
              <a:rPr sz="3200" dirty="0"/>
              <a:t> ОС.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804" y="182880"/>
            <a:ext cx="1114991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Операционная</a:t>
            </a:r>
            <a:r>
              <a:rPr sz="4800" dirty="0"/>
              <a:t> </a:t>
            </a:r>
            <a:r>
              <a:rPr sz="4800" dirty="0" err="1"/>
              <a:t>система</a:t>
            </a:r>
            <a:r>
              <a:rPr sz="4800" dirty="0"/>
              <a:t> </a:t>
            </a:r>
            <a:r>
              <a:rPr sz="4800" dirty="0" err="1"/>
              <a:t>как</a:t>
            </a:r>
            <a:r>
              <a:rPr sz="4800" dirty="0"/>
              <a:t> </a:t>
            </a:r>
            <a:r>
              <a:rPr sz="4800" dirty="0" err="1"/>
              <a:t>посредник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программами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с </a:t>
            </a:r>
            <a:r>
              <a:rPr dirty="0" err="1"/>
              <a:t>железом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диском</a:t>
            </a:r>
            <a:r>
              <a:rPr dirty="0"/>
              <a:t>, </a:t>
            </a:r>
            <a:r>
              <a:rPr dirty="0" err="1"/>
              <a:t>памятью</a:t>
            </a:r>
            <a:r>
              <a:rPr dirty="0"/>
              <a:t> и </a:t>
            </a:r>
            <a:r>
              <a:rPr dirty="0" err="1"/>
              <a:t>сетью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контролируемый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ресурсам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 </a:t>
            </a:r>
            <a:r>
              <a:rPr dirty="0" err="1"/>
              <a:t>удобной</a:t>
            </a:r>
            <a:r>
              <a:rPr dirty="0"/>
              <a:t> и </a:t>
            </a:r>
            <a:r>
              <a:rPr dirty="0" err="1"/>
              <a:t>управляемой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нельзя работать с оборудованием напрямую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могли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конфликтовать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могла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повредить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нормально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сложно</a:t>
            </a:r>
            <a:r>
              <a:rPr dirty="0"/>
              <a:t> </a:t>
            </a:r>
            <a:r>
              <a:rPr dirty="0" err="1"/>
              <a:t>поддерживать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вводит</a:t>
            </a:r>
            <a:r>
              <a:rPr dirty="0"/>
              <a:t> </a:t>
            </a:r>
            <a:r>
              <a:rPr dirty="0" err="1"/>
              <a:t>единые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ОС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приложениями</a:t>
            </a:r>
            <a:r>
              <a:rPr dirty="0"/>
              <a:t> и </a:t>
            </a:r>
            <a:r>
              <a:rPr dirty="0" err="1"/>
              <a:t>оборудованием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9B295B-C687-67D4-F3CB-3DBA137D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0" t="17760" r="1812" b="2588"/>
          <a:stretch>
            <a:fillRect/>
          </a:stretch>
        </p:blipFill>
        <p:spPr>
          <a:xfrm>
            <a:off x="1038286" y="74989"/>
            <a:ext cx="10879394" cy="6708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8182" y="182880"/>
            <a:ext cx="642515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sz="4800" dirty="0" err="1"/>
              <a:t>Основные</a:t>
            </a:r>
            <a:r>
              <a:rPr sz="4800" dirty="0"/>
              <a:t> </a:t>
            </a:r>
            <a:r>
              <a:rPr sz="4800" dirty="0" err="1"/>
              <a:t>задачи</a:t>
            </a:r>
            <a:r>
              <a:rPr sz="4800" dirty="0"/>
              <a:t>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процессором</a:t>
            </a:r>
            <a:r>
              <a:rPr dirty="0"/>
              <a:t> и </a:t>
            </a:r>
            <a:r>
              <a:rPr dirty="0" err="1"/>
              <a:t>временем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оперативной</a:t>
            </a:r>
            <a:r>
              <a:rPr dirty="0"/>
              <a:t> </a:t>
            </a:r>
            <a:r>
              <a:rPr dirty="0" err="1"/>
              <a:t>памятью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файлами</a:t>
            </a:r>
            <a:r>
              <a:rPr dirty="0"/>
              <a:t> и </a:t>
            </a:r>
            <a:r>
              <a:rPr dirty="0" err="1"/>
              <a:t>файловыми</a:t>
            </a:r>
            <a:r>
              <a:rPr dirty="0"/>
              <a:t> </a:t>
            </a:r>
            <a:r>
              <a:rPr dirty="0" err="1"/>
              <a:t>системами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устройствами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драйверы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сетью</a:t>
            </a:r>
            <a:r>
              <a:rPr dirty="0"/>
              <a:t>, </a:t>
            </a:r>
            <a:r>
              <a:rPr dirty="0" err="1"/>
              <a:t>пользователями</a:t>
            </a:r>
            <a:r>
              <a:rPr dirty="0"/>
              <a:t> и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Управление ресурсами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распределяет</a:t>
            </a:r>
            <a:r>
              <a:rPr dirty="0"/>
              <a:t> CPU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выделяет</a:t>
            </a:r>
            <a:r>
              <a:rPr dirty="0"/>
              <a:t> RAM </a:t>
            </a:r>
            <a:r>
              <a:rPr dirty="0" err="1"/>
              <a:t>программам</a:t>
            </a:r>
            <a:r>
              <a:rPr dirty="0"/>
              <a:t> и </a:t>
            </a:r>
            <a:r>
              <a:rPr dirty="0" err="1"/>
              <a:t>службам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чтением</a:t>
            </a:r>
            <a:r>
              <a:rPr dirty="0"/>
              <a:t> и </a:t>
            </a:r>
            <a:r>
              <a:rPr dirty="0" err="1"/>
              <a:t>записью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контролирует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сетевым</a:t>
            </a:r>
            <a:r>
              <a:rPr dirty="0"/>
              <a:t> </a:t>
            </a:r>
            <a:r>
              <a:rPr dirty="0" err="1"/>
              <a:t>интерфейсам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и </a:t>
            </a:r>
            <a:r>
              <a:rPr dirty="0" err="1"/>
              <a:t>ошибки</a:t>
            </a:r>
            <a:r>
              <a:rPr dirty="0"/>
              <a:t> в </a:t>
            </a:r>
            <a:r>
              <a:rPr dirty="0" err="1"/>
              <a:t>журналах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программ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и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разрешенным</a:t>
            </a:r>
            <a:r>
              <a:rPr dirty="0"/>
              <a:t> </a:t>
            </a:r>
            <a:r>
              <a:rPr dirty="0" err="1"/>
              <a:t>ресурсам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контролирует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 ОС </a:t>
            </a:r>
            <a:r>
              <a:rPr dirty="0" err="1"/>
              <a:t>освобождает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1845" y="182880"/>
            <a:ext cx="869782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</a:t>
            </a:r>
            <a:r>
              <a:rPr sz="4800" dirty="0" err="1"/>
              <a:t>Ядро</a:t>
            </a:r>
            <a:r>
              <a:rPr sz="4800" dirty="0"/>
              <a:t> </a:t>
            </a:r>
            <a:r>
              <a:rPr sz="4800" dirty="0" err="1"/>
              <a:t>операционной</a:t>
            </a:r>
            <a:r>
              <a:rPr sz="4800" dirty="0"/>
              <a:t> </a:t>
            </a:r>
            <a:r>
              <a:rPr sz="4800" dirty="0" err="1"/>
              <a:t>системы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— </a:t>
            </a:r>
            <a:r>
              <a:rPr dirty="0" err="1"/>
              <a:t>центральная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ближе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к </a:t>
            </a:r>
            <a:r>
              <a:rPr dirty="0" err="1"/>
              <a:t>оборудованию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, </a:t>
            </a:r>
            <a:r>
              <a:rPr dirty="0" err="1"/>
              <a:t>памятью</a:t>
            </a:r>
            <a:r>
              <a:rPr dirty="0"/>
              <a:t>, </a:t>
            </a:r>
            <a:r>
              <a:rPr dirty="0" err="1"/>
              <a:t>устройствами</a:t>
            </a:r>
            <a:r>
              <a:rPr dirty="0"/>
              <a:t> и </a:t>
            </a:r>
            <a:r>
              <a:rPr dirty="0" err="1"/>
              <a:t>системными</a:t>
            </a:r>
            <a:r>
              <a:rPr dirty="0"/>
              <a:t> </a:t>
            </a:r>
            <a:r>
              <a:rPr dirty="0" err="1"/>
              <a:t>вызовами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стабильности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стабильность</a:t>
            </a:r>
            <a:r>
              <a:rPr dirty="0"/>
              <a:t> </a:t>
            </a:r>
            <a:r>
              <a:rPr dirty="0" err="1"/>
              <a:t>всей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ядром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делает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Планирует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и </a:t>
            </a:r>
            <a:r>
              <a:rPr dirty="0" err="1"/>
              <a:t>физической</a:t>
            </a:r>
            <a:r>
              <a:rPr dirty="0"/>
              <a:t> </a:t>
            </a:r>
            <a:r>
              <a:rPr dirty="0" err="1"/>
              <a:t>памятью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Обрабатывает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вызовы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Взаимодействует</a:t>
            </a:r>
            <a:r>
              <a:rPr dirty="0"/>
              <a:t> с </a:t>
            </a:r>
            <a:r>
              <a:rPr dirty="0" err="1"/>
              <a:t>драйверами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Контролирует</a:t>
            </a:r>
            <a:r>
              <a:rPr dirty="0"/>
              <a:t> </a:t>
            </a:r>
            <a:r>
              <a:rPr dirty="0" err="1"/>
              <a:t>низкоуровневый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файлам</a:t>
            </a:r>
            <a:r>
              <a:rPr dirty="0"/>
              <a:t> и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Ядро и пользовательское пространство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User space — </a:t>
            </a:r>
            <a:r>
              <a:rPr dirty="0" err="1"/>
              <a:t>область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Kernel space — </a:t>
            </a:r>
            <a:r>
              <a:rPr dirty="0" err="1"/>
              <a:t>область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устойчивость</a:t>
            </a:r>
            <a:r>
              <a:rPr dirty="0"/>
              <a:t> и </a:t>
            </a:r>
            <a:r>
              <a:rPr dirty="0" err="1"/>
              <a:t>безопасность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разрушать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User space и kernel space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2D1-56A7-E827-3F6C-CBFFD73B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28"/>
          <a:stretch>
            <a:fillRect/>
          </a:stretch>
        </p:blipFill>
        <p:spPr>
          <a:xfrm>
            <a:off x="2305532" y="86867"/>
            <a:ext cx="7580935" cy="66842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6764" y="182880"/>
            <a:ext cx="60079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Системные</a:t>
            </a:r>
            <a:r>
              <a:rPr sz="4800" dirty="0"/>
              <a:t> </a:t>
            </a:r>
            <a:r>
              <a:rPr sz="4800" dirty="0" err="1"/>
              <a:t>вызовы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вызов</a:t>
            </a:r>
            <a:r>
              <a:rPr dirty="0"/>
              <a:t> — </a:t>
            </a:r>
            <a:r>
              <a:rPr dirty="0" err="1"/>
              <a:t>управляемое</a:t>
            </a:r>
            <a:r>
              <a:rPr dirty="0"/>
              <a:t> </a:t>
            </a:r>
            <a:r>
              <a:rPr dirty="0" err="1"/>
              <a:t>обращение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к </a:t>
            </a:r>
            <a:r>
              <a:rPr dirty="0" err="1"/>
              <a:t>ядру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с </a:t>
            </a:r>
            <a:r>
              <a:rPr dirty="0" err="1"/>
              <a:t>ресурсом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открыть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отправить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в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и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безопаснее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к </a:t>
            </a:r>
            <a:r>
              <a:rPr dirty="0" err="1"/>
              <a:t>оборудованию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системных вызовов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Открыть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Прочитать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записать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Завершить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сетевое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обращается</a:t>
            </a:r>
            <a:r>
              <a:rPr dirty="0"/>
              <a:t> к </a:t>
            </a:r>
            <a:r>
              <a:rPr dirty="0" err="1"/>
              <a:t>файлу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D08F92-E97D-924A-0E23-56F32BC28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7043" y="182880"/>
            <a:ext cx="63074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</a:t>
            </a:r>
            <a:r>
              <a:rPr sz="4800" dirty="0" err="1"/>
              <a:t>Драйверы</a:t>
            </a:r>
            <a:r>
              <a:rPr sz="4800" dirty="0"/>
              <a:t> </a:t>
            </a:r>
            <a:r>
              <a:rPr sz="4800" dirty="0" err="1"/>
              <a:t>устройств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Драйвер</a:t>
            </a:r>
            <a:r>
              <a:rPr dirty="0"/>
              <a:t> — </a:t>
            </a:r>
            <a:r>
              <a:rPr dirty="0" err="1"/>
              <a:t>программа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которую</a:t>
            </a:r>
            <a:r>
              <a:rPr dirty="0"/>
              <a:t> ОС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устройством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драйверы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Драйвер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драйвер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диском</a:t>
            </a:r>
            <a:r>
              <a:rPr dirty="0"/>
              <a:t>, NIC, </a:t>
            </a:r>
            <a:r>
              <a:rPr dirty="0" err="1"/>
              <a:t>видеокартой</a:t>
            </a:r>
            <a:r>
              <a:rPr dirty="0"/>
              <a:t>, USB-</a:t>
            </a:r>
            <a:r>
              <a:rPr dirty="0" err="1"/>
              <a:t>устройством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Неверный</a:t>
            </a:r>
            <a:r>
              <a:rPr dirty="0"/>
              <a:t> </a:t>
            </a:r>
            <a:r>
              <a:rPr dirty="0" err="1"/>
              <a:t>драйвер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вызвать</a:t>
            </a:r>
            <a:r>
              <a:rPr dirty="0"/>
              <a:t> </a:t>
            </a:r>
            <a:r>
              <a:rPr dirty="0" err="1"/>
              <a:t>сбои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делает драйвер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ОС к </a:t>
            </a:r>
            <a:r>
              <a:rPr dirty="0" err="1"/>
              <a:t>устройству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Возвращает</a:t>
            </a:r>
            <a:r>
              <a:rPr dirty="0"/>
              <a:t> ОС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Обрабатывает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и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разным</a:t>
            </a:r>
            <a:r>
              <a:rPr dirty="0"/>
              <a:t> </a:t>
            </a:r>
            <a:r>
              <a:rPr dirty="0" err="1"/>
              <a:t>программам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проблемы драйверов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нестабильно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драйвера</a:t>
            </a:r>
            <a:r>
              <a:rPr dirty="0"/>
              <a:t> </a:t>
            </a:r>
            <a:r>
              <a:rPr dirty="0" err="1"/>
              <a:t>появилась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Драйвер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к </a:t>
            </a:r>
            <a:r>
              <a:rPr dirty="0" err="1"/>
              <a:t>версии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драйвера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старого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редкого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смотреть драйверы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Linux: `</a:t>
            </a:r>
            <a:r>
              <a:rPr dirty="0" err="1"/>
              <a:t>lsmod</a:t>
            </a:r>
            <a:r>
              <a:rPr dirty="0"/>
              <a:t>`, `</a:t>
            </a:r>
            <a:r>
              <a:rPr dirty="0" err="1"/>
              <a:t>lspci</a:t>
            </a:r>
            <a:r>
              <a:rPr dirty="0"/>
              <a:t>`, `</a:t>
            </a:r>
            <a:r>
              <a:rPr dirty="0" err="1"/>
              <a:t>lsusb</a:t>
            </a:r>
            <a:r>
              <a:rPr dirty="0"/>
              <a:t>`, `</a:t>
            </a:r>
            <a:r>
              <a:rPr dirty="0" err="1"/>
              <a:t>dmesg</a:t>
            </a:r>
            <a:r>
              <a:rPr dirty="0"/>
              <a:t>`.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Windows: Device Manager.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Windows: Event Viewer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производителя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Журналы</a:t>
            </a:r>
            <a:r>
              <a:rPr dirty="0"/>
              <a:t> ОС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драйвера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8377" y="182880"/>
            <a:ext cx="61647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</a:t>
            </a:r>
            <a:r>
              <a:rPr sz="4800" dirty="0" err="1"/>
              <a:t>Процессы</a:t>
            </a:r>
            <a:r>
              <a:rPr sz="4800" dirty="0"/>
              <a:t> и </a:t>
            </a:r>
            <a:r>
              <a:rPr sz="4800" dirty="0" err="1"/>
              <a:t>службы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Процесс</a:t>
            </a:r>
            <a:r>
              <a:rPr dirty="0"/>
              <a:t> — </a:t>
            </a:r>
            <a:r>
              <a:rPr dirty="0" err="1"/>
              <a:t>запущенный</a:t>
            </a:r>
            <a:r>
              <a:rPr dirty="0"/>
              <a:t> </a:t>
            </a:r>
            <a:r>
              <a:rPr dirty="0" err="1"/>
              <a:t>экземпляр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У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PID, </a:t>
            </a:r>
            <a:r>
              <a:rPr dirty="0" err="1"/>
              <a:t>память</a:t>
            </a:r>
            <a:r>
              <a:rPr dirty="0"/>
              <a:t>, </a:t>
            </a:r>
            <a:r>
              <a:rPr dirty="0" err="1"/>
              <a:t>открытые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права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Служба</a:t>
            </a:r>
            <a:r>
              <a:rPr dirty="0"/>
              <a:t> — </a:t>
            </a:r>
            <a:r>
              <a:rPr dirty="0" err="1"/>
              <a:t>фоновый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системной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запускаются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старте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регулярно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, </a:t>
            </a:r>
            <a:r>
              <a:rPr dirty="0" err="1"/>
              <a:t>системой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программой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</a:t>
            </a:r>
            <a:r>
              <a:rPr dirty="0"/>
              <a:t> CPU, RAM,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интерактивным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фоновым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завершиться</a:t>
            </a:r>
            <a:r>
              <a:rPr dirty="0"/>
              <a:t> </a:t>
            </a:r>
            <a:r>
              <a:rPr dirty="0" err="1"/>
              <a:t>успешно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аварийно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нагрузка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замедлить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Работает</a:t>
            </a:r>
            <a:r>
              <a:rPr dirty="0"/>
              <a:t> в </a:t>
            </a:r>
            <a:r>
              <a:rPr dirty="0" err="1"/>
              <a:t>фоне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постоянного</a:t>
            </a:r>
            <a:r>
              <a:rPr dirty="0"/>
              <a:t> </a:t>
            </a:r>
            <a:r>
              <a:rPr dirty="0" err="1"/>
              <a:t>окна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системную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серверную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Примеры</a:t>
            </a:r>
            <a:r>
              <a:rPr dirty="0"/>
              <a:t>: web-</a:t>
            </a:r>
            <a:r>
              <a:rPr dirty="0" err="1"/>
              <a:t>сервер</a:t>
            </a:r>
            <a:r>
              <a:rPr dirty="0"/>
              <a:t>, DNS, DHCP, </a:t>
            </a:r>
            <a:r>
              <a:rPr dirty="0" err="1"/>
              <a:t>обновления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: running, stopped, failed.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Сбой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нарушить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служба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90CF51-4E95-2769-BEA8-0BD3FB24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24177" y="182880"/>
            <a:ext cx="571316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Архитектуры</a:t>
            </a:r>
            <a:r>
              <a:rPr sz="4800" dirty="0"/>
              <a:t> </a:t>
            </a:r>
            <a:r>
              <a:rPr sz="4800" dirty="0" err="1"/>
              <a:t>ядер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043374"/>
            <a:ext cx="11400503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организованы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Сейчас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идею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реализации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подходы</a:t>
            </a:r>
            <a:r>
              <a:rPr dirty="0"/>
              <a:t>: </a:t>
            </a:r>
            <a:r>
              <a:rPr dirty="0" err="1"/>
              <a:t>монолитное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, </a:t>
            </a:r>
            <a:r>
              <a:rPr dirty="0" err="1"/>
              <a:t>микроядро</a:t>
            </a:r>
            <a:r>
              <a:rPr dirty="0"/>
              <a:t>, </a:t>
            </a:r>
            <a:r>
              <a:rPr dirty="0" err="1"/>
              <a:t>гибридное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Разные</a:t>
            </a:r>
            <a:r>
              <a:rPr dirty="0"/>
              <a:t> ОС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инженерные</a:t>
            </a:r>
            <a:r>
              <a:rPr dirty="0"/>
              <a:t> </a:t>
            </a:r>
            <a:r>
              <a:rPr dirty="0" err="1"/>
              <a:t>компромиссы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, </a:t>
            </a:r>
            <a:r>
              <a:rPr dirty="0" err="1"/>
              <a:t>надежность</a:t>
            </a:r>
            <a:r>
              <a:rPr dirty="0"/>
              <a:t> и </a:t>
            </a:r>
            <a:r>
              <a:rPr dirty="0" err="1"/>
              <a:t>расширяемость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Монолитное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Большая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функций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в </a:t>
            </a:r>
            <a:r>
              <a:rPr dirty="0" err="1"/>
              <a:t>пространстве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компоненте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серьезно</a:t>
            </a:r>
            <a:r>
              <a:rPr dirty="0"/>
              <a:t> </a:t>
            </a:r>
            <a:r>
              <a:rPr dirty="0" err="1"/>
              <a:t>повлиять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монолитным</a:t>
            </a:r>
            <a:r>
              <a:rPr dirty="0"/>
              <a:t> </a:t>
            </a:r>
            <a:r>
              <a:rPr dirty="0" err="1"/>
              <a:t>ядрам</a:t>
            </a:r>
            <a:r>
              <a:rPr dirty="0"/>
              <a:t> с </a:t>
            </a:r>
            <a:r>
              <a:rPr dirty="0" err="1"/>
              <a:t>поддержкой</a:t>
            </a:r>
            <a:r>
              <a:rPr dirty="0"/>
              <a:t> </a:t>
            </a:r>
            <a:r>
              <a:rPr dirty="0" err="1"/>
              <a:t>модулей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Модули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добавлять</a:t>
            </a:r>
            <a:r>
              <a:rPr dirty="0"/>
              <a:t> </a:t>
            </a:r>
            <a:r>
              <a:rPr dirty="0" err="1"/>
              <a:t>драйверы</a:t>
            </a:r>
            <a:r>
              <a:rPr dirty="0"/>
              <a:t> и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полной</a:t>
            </a:r>
            <a:r>
              <a:rPr dirty="0"/>
              <a:t> </a:t>
            </a:r>
            <a:r>
              <a:rPr dirty="0" err="1"/>
              <a:t>пересборки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Микроядро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ядре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функций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Многие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выносятся</a:t>
            </a:r>
            <a:r>
              <a:rPr dirty="0"/>
              <a:t> в </a:t>
            </a:r>
            <a:r>
              <a:rPr dirty="0" err="1"/>
              <a:t>пользовательское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Идея</a:t>
            </a:r>
            <a:r>
              <a:rPr dirty="0"/>
              <a:t>: </a:t>
            </a:r>
            <a:r>
              <a:rPr dirty="0" err="1"/>
              <a:t>повысить</a:t>
            </a:r>
            <a:r>
              <a:rPr dirty="0"/>
              <a:t> </a:t>
            </a:r>
            <a:r>
              <a:rPr dirty="0" err="1"/>
              <a:t>изоляцию</a:t>
            </a:r>
            <a:r>
              <a:rPr dirty="0"/>
              <a:t> и </a:t>
            </a:r>
            <a:r>
              <a:rPr dirty="0" err="1"/>
              <a:t>надежность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сложнее</a:t>
            </a:r>
            <a:r>
              <a:rPr dirty="0"/>
              <a:t> в </a:t>
            </a:r>
            <a:r>
              <a:rPr dirty="0" err="1"/>
              <a:t>реализации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чистом</a:t>
            </a:r>
            <a:r>
              <a:rPr dirty="0"/>
              <a:t>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встречается</a:t>
            </a:r>
            <a:r>
              <a:rPr dirty="0"/>
              <a:t> </a:t>
            </a:r>
            <a:r>
              <a:rPr dirty="0" err="1"/>
              <a:t>реже</a:t>
            </a:r>
            <a:r>
              <a:rPr dirty="0"/>
              <a:t> в </a:t>
            </a:r>
            <a:r>
              <a:rPr dirty="0" err="1"/>
              <a:t>массовых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Гибридное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Совмещает</a:t>
            </a:r>
            <a:r>
              <a:rPr dirty="0"/>
              <a:t> </a:t>
            </a:r>
            <a:r>
              <a:rPr dirty="0" err="1"/>
              <a:t>идеи</a:t>
            </a:r>
            <a:r>
              <a:rPr dirty="0"/>
              <a:t> </a:t>
            </a:r>
            <a:r>
              <a:rPr dirty="0" err="1"/>
              <a:t>монолитного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и </a:t>
            </a:r>
            <a:r>
              <a:rPr dirty="0" err="1"/>
              <a:t>микроядра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ближе</a:t>
            </a:r>
            <a:r>
              <a:rPr dirty="0"/>
              <a:t> к </a:t>
            </a:r>
            <a:r>
              <a:rPr dirty="0" err="1"/>
              <a:t>ядру</a:t>
            </a:r>
            <a:r>
              <a:rPr dirty="0"/>
              <a:t> </a:t>
            </a:r>
            <a:r>
              <a:rPr dirty="0" err="1"/>
              <a:t>ради</a:t>
            </a:r>
            <a:r>
              <a:rPr dirty="0"/>
              <a:t> </a:t>
            </a:r>
            <a:r>
              <a:rPr dirty="0" err="1"/>
              <a:t>производительности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архитектурных</a:t>
            </a:r>
            <a:r>
              <a:rPr dirty="0"/>
              <a:t> </a:t>
            </a:r>
            <a:r>
              <a:rPr dirty="0" err="1"/>
              <a:t>идей</a:t>
            </a:r>
            <a:r>
              <a:rPr dirty="0"/>
              <a:t> </a:t>
            </a:r>
            <a:r>
              <a:rPr dirty="0" err="1"/>
              <a:t>направлена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модульность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с </a:t>
            </a:r>
            <a:r>
              <a:rPr dirty="0" err="1"/>
              <a:t>гибридным</a:t>
            </a:r>
            <a:r>
              <a:rPr dirty="0"/>
              <a:t> </a:t>
            </a:r>
            <a:r>
              <a:rPr dirty="0" err="1"/>
              <a:t>ядром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последствия</a:t>
            </a:r>
            <a:r>
              <a:rPr dirty="0"/>
              <a:t>: </a:t>
            </a:r>
            <a:r>
              <a:rPr dirty="0" err="1"/>
              <a:t>драйверы</a:t>
            </a:r>
            <a:r>
              <a:rPr dirty="0"/>
              <a:t>,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стабильность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Архитектуры</a:t>
            </a:r>
            <a:r>
              <a:rPr dirty="0"/>
              <a:t> </a:t>
            </a:r>
            <a:r>
              <a:rPr dirty="0" err="1"/>
              <a:t>ядер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95A200-4F13-D374-DFC9-9BCB88DF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630" y="182880"/>
            <a:ext cx="118142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8. </a:t>
            </a:r>
            <a:r>
              <a:rPr sz="4400" dirty="0" err="1"/>
              <a:t>Практическое</a:t>
            </a:r>
            <a:r>
              <a:rPr sz="4400" dirty="0"/>
              <a:t> </a:t>
            </a:r>
            <a:r>
              <a:rPr sz="4400" dirty="0" err="1"/>
              <a:t>значение</a:t>
            </a:r>
            <a:r>
              <a:rPr sz="4400" dirty="0"/>
              <a:t> </a:t>
            </a:r>
            <a:r>
              <a:rPr sz="4400" dirty="0" err="1"/>
              <a:t>для</a:t>
            </a:r>
            <a:r>
              <a:rPr sz="4400" dirty="0"/>
              <a:t> </a:t>
            </a:r>
            <a:r>
              <a:rPr sz="4400" dirty="0" err="1"/>
              <a:t>администратора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драйверов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диагностировать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перегрузку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восстанавливать</a:t>
            </a:r>
            <a:r>
              <a:rPr dirty="0"/>
              <a:t>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связывают</a:t>
            </a:r>
            <a:r>
              <a:rPr dirty="0"/>
              <a:t> </a:t>
            </a:r>
            <a:r>
              <a:rPr dirty="0" err="1"/>
              <a:t>симптомы</a:t>
            </a:r>
            <a:r>
              <a:rPr dirty="0"/>
              <a:t> с </a:t>
            </a:r>
            <a:r>
              <a:rPr dirty="0" err="1"/>
              <a:t>причинами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смотреть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</a:t>
            </a:r>
            <a:r>
              <a:rPr dirty="0" err="1"/>
              <a:t>uname</a:t>
            </a:r>
            <a:r>
              <a:rPr dirty="0"/>
              <a:t> -a`: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ядре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</a:t>
            </a:r>
            <a:r>
              <a:rPr dirty="0" err="1"/>
              <a:t>lsmod</a:t>
            </a:r>
            <a:r>
              <a:rPr dirty="0"/>
              <a:t>`: </a:t>
            </a:r>
            <a:r>
              <a:rPr dirty="0" err="1"/>
              <a:t>загруженные</a:t>
            </a:r>
            <a:r>
              <a:rPr dirty="0"/>
              <a:t> </a:t>
            </a:r>
            <a:r>
              <a:rPr dirty="0" err="1"/>
              <a:t>модули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</a:t>
            </a:r>
            <a:r>
              <a:rPr dirty="0" err="1"/>
              <a:t>ps</a:t>
            </a:r>
            <a:r>
              <a:rPr dirty="0"/>
              <a:t> aux`: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`top` </a:t>
            </a:r>
            <a:r>
              <a:rPr dirty="0" err="1"/>
              <a:t>или</a:t>
            </a:r>
            <a:r>
              <a:rPr dirty="0"/>
              <a:t> `</a:t>
            </a:r>
            <a:r>
              <a:rPr dirty="0" err="1"/>
              <a:t>htop</a:t>
            </a:r>
            <a:r>
              <a:rPr dirty="0"/>
              <a:t>`: </a:t>
            </a:r>
            <a:r>
              <a:rPr dirty="0" err="1"/>
              <a:t>нагрузка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</a:t>
            </a:r>
            <a:r>
              <a:rPr dirty="0" err="1"/>
              <a:t>systemctl</a:t>
            </a:r>
            <a:r>
              <a:rPr dirty="0"/>
              <a:t> status`: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</a:t>
            </a:r>
            <a:r>
              <a:rPr dirty="0" err="1"/>
              <a:t>journalctl</a:t>
            </a:r>
            <a:r>
              <a:rPr dirty="0"/>
              <a:t>`: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 и </a:t>
            </a:r>
            <a:r>
              <a:rPr dirty="0" err="1"/>
              <a:t>служб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смотреть в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Device Manager: </a:t>
            </a:r>
            <a:r>
              <a:rPr dirty="0" err="1"/>
              <a:t>устройства</a:t>
            </a:r>
            <a:r>
              <a:rPr dirty="0"/>
              <a:t> и </a:t>
            </a:r>
            <a:r>
              <a:rPr dirty="0" err="1"/>
              <a:t>драйверы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Task Manager: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нагрузка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Services: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Event Viewer: </a:t>
            </a:r>
            <a:r>
              <a:rPr dirty="0" err="1"/>
              <a:t>события</a:t>
            </a:r>
            <a:r>
              <a:rPr dirty="0"/>
              <a:t> ОС и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System Information: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системе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PowerShell: </a:t>
            </a:r>
            <a:r>
              <a:rPr dirty="0" err="1"/>
              <a:t>автоматизированный</a:t>
            </a:r>
            <a:r>
              <a:rPr dirty="0"/>
              <a:t> </a:t>
            </a:r>
            <a:r>
              <a:rPr dirty="0" err="1"/>
              <a:t>сбор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ресурсами</a:t>
            </a:r>
            <a:r>
              <a:rPr dirty="0"/>
              <a:t> и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прямого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центральной</a:t>
            </a:r>
            <a:r>
              <a:rPr dirty="0"/>
              <a:t> </a:t>
            </a:r>
            <a:r>
              <a:rPr dirty="0" err="1"/>
              <a:t>частью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вызовы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программам</a:t>
            </a:r>
            <a:r>
              <a:rPr dirty="0"/>
              <a:t> </a:t>
            </a:r>
            <a:r>
              <a:rPr dirty="0" err="1"/>
              <a:t>контролируемый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функциям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Драйверы</a:t>
            </a:r>
            <a:r>
              <a:rPr dirty="0"/>
              <a:t> </a:t>
            </a:r>
            <a:r>
              <a:rPr dirty="0" err="1"/>
              <a:t>связывают</a:t>
            </a:r>
            <a:r>
              <a:rPr dirty="0"/>
              <a:t> ОС с </a:t>
            </a:r>
            <a:r>
              <a:rPr dirty="0" err="1"/>
              <a:t>устройствами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службы</a:t>
            </a:r>
            <a:r>
              <a:rPr dirty="0"/>
              <a:t> — </a:t>
            </a: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объекты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sz="3200" dirty="0" err="1"/>
              <a:t>выполняет</a:t>
            </a:r>
            <a:r>
              <a:rPr sz="3200" dirty="0"/>
              <a:t> </a:t>
            </a:r>
            <a:r>
              <a:rPr sz="3200" dirty="0" err="1"/>
              <a:t>операционная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Какую</a:t>
            </a:r>
            <a:r>
              <a:rPr sz="3200" dirty="0"/>
              <a:t> </a:t>
            </a:r>
            <a:r>
              <a:rPr sz="3200" dirty="0" err="1"/>
              <a:t>роль</a:t>
            </a:r>
            <a:r>
              <a:rPr sz="3200" dirty="0"/>
              <a:t> </a:t>
            </a:r>
            <a:r>
              <a:rPr sz="3200" dirty="0" err="1"/>
              <a:t>выполняет</a:t>
            </a:r>
            <a:r>
              <a:rPr sz="3200" dirty="0"/>
              <a:t> </a:t>
            </a:r>
            <a:r>
              <a:rPr sz="3200" dirty="0" err="1"/>
              <a:t>ядро</a:t>
            </a:r>
            <a:r>
              <a:rPr sz="3200" dirty="0"/>
              <a:t> ОС?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Почему</a:t>
            </a:r>
            <a:r>
              <a:rPr sz="3200" dirty="0"/>
              <a:t> </a:t>
            </a:r>
            <a:r>
              <a:rPr sz="3200" dirty="0" err="1"/>
              <a:t>пользовательские</a:t>
            </a:r>
            <a:r>
              <a:rPr sz="3200" dirty="0"/>
              <a:t> </a:t>
            </a:r>
            <a:r>
              <a:rPr sz="3200" dirty="0" err="1"/>
              <a:t>программы</a:t>
            </a:r>
            <a:r>
              <a:rPr sz="3200" dirty="0"/>
              <a:t> </a:t>
            </a:r>
            <a:r>
              <a:rPr sz="3200" dirty="0" err="1"/>
              <a:t>не</a:t>
            </a:r>
            <a:r>
              <a:rPr sz="3200" dirty="0"/>
              <a:t> </a:t>
            </a:r>
            <a:r>
              <a:rPr sz="3200" dirty="0" err="1"/>
              <a:t>должны</a:t>
            </a:r>
            <a:r>
              <a:rPr sz="3200" dirty="0"/>
              <a:t> </a:t>
            </a:r>
            <a:r>
              <a:rPr sz="3200" dirty="0" err="1"/>
              <a:t>работать</a:t>
            </a:r>
            <a:r>
              <a:rPr sz="3200" dirty="0"/>
              <a:t> с </a:t>
            </a:r>
            <a:r>
              <a:rPr sz="3200" dirty="0" err="1"/>
              <a:t>оборудованием</a:t>
            </a:r>
            <a:r>
              <a:rPr sz="3200" dirty="0"/>
              <a:t> </a:t>
            </a:r>
            <a:r>
              <a:rPr sz="3200" dirty="0" err="1"/>
              <a:t>напрямую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чего</a:t>
            </a:r>
            <a:r>
              <a:rPr sz="3200" dirty="0"/>
              <a:t> </a:t>
            </a:r>
            <a:r>
              <a:rPr sz="3200" dirty="0" err="1"/>
              <a:t>используются</a:t>
            </a:r>
            <a:r>
              <a:rPr sz="3200" dirty="0"/>
              <a:t> </a:t>
            </a:r>
            <a:r>
              <a:rPr sz="3200" dirty="0" err="1"/>
              <a:t>системные</a:t>
            </a:r>
            <a:r>
              <a:rPr sz="3200" dirty="0"/>
              <a:t> </a:t>
            </a:r>
            <a:r>
              <a:rPr sz="3200" dirty="0" err="1"/>
              <a:t>вызовы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Какую</a:t>
            </a:r>
            <a:r>
              <a:rPr sz="3200" dirty="0"/>
              <a:t> </a:t>
            </a:r>
            <a:r>
              <a:rPr sz="3200" dirty="0" err="1"/>
              <a:t>функцию</a:t>
            </a:r>
            <a:r>
              <a:rPr sz="3200" dirty="0"/>
              <a:t> </a:t>
            </a:r>
            <a:r>
              <a:rPr sz="3200" dirty="0" err="1"/>
              <a:t>выполняет</a:t>
            </a:r>
            <a:r>
              <a:rPr sz="3200" dirty="0"/>
              <a:t> </a:t>
            </a:r>
            <a:r>
              <a:rPr sz="3200" dirty="0" err="1"/>
              <a:t>драйвер</a:t>
            </a:r>
            <a:r>
              <a:rPr sz="3200" dirty="0"/>
              <a:t> </a:t>
            </a:r>
            <a:r>
              <a:rPr sz="3200" dirty="0" err="1"/>
              <a:t>устройства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Чем</a:t>
            </a:r>
            <a:r>
              <a:rPr sz="3200" dirty="0"/>
              <a:t> </a:t>
            </a:r>
            <a:r>
              <a:rPr sz="3200" dirty="0" err="1"/>
              <a:t>процесс</a:t>
            </a:r>
            <a:r>
              <a:rPr sz="3200" dirty="0"/>
              <a:t> </a:t>
            </a:r>
            <a:r>
              <a:rPr sz="3200" dirty="0" err="1"/>
              <a:t>отличается</a:t>
            </a:r>
            <a:r>
              <a:rPr sz="3200" dirty="0"/>
              <a:t> </a:t>
            </a:r>
            <a:r>
              <a:rPr sz="3200" dirty="0" err="1"/>
              <a:t>от</a:t>
            </a:r>
            <a:r>
              <a:rPr sz="3200" dirty="0"/>
              <a:t> </a:t>
            </a:r>
            <a:r>
              <a:rPr sz="3200" dirty="0" err="1"/>
              <a:t>службы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Почему</a:t>
            </a:r>
            <a:r>
              <a:rPr sz="3200" dirty="0"/>
              <a:t> </a:t>
            </a:r>
            <a:r>
              <a:rPr sz="3200" dirty="0" err="1"/>
              <a:t>серверные</a:t>
            </a:r>
            <a:r>
              <a:rPr sz="3200" dirty="0"/>
              <a:t> </a:t>
            </a:r>
            <a:r>
              <a:rPr sz="3200" dirty="0" err="1"/>
              <a:t>функции</a:t>
            </a:r>
            <a:r>
              <a:rPr sz="3200" dirty="0"/>
              <a:t> </a:t>
            </a:r>
            <a:r>
              <a:rPr sz="3200" dirty="0" err="1"/>
              <a:t>часто</a:t>
            </a:r>
            <a:r>
              <a:rPr sz="3200" dirty="0"/>
              <a:t> </a:t>
            </a:r>
            <a:r>
              <a:rPr sz="3200" dirty="0" err="1"/>
              <a:t>работают</a:t>
            </a:r>
            <a:r>
              <a:rPr sz="3200" dirty="0"/>
              <a:t> </a:t>
            </a:r>
            <a:r>
              <a:rPr sz="3200" dirty="0" err="1"/>
              <a:t>как</a:t>
            </a:r>
            <a:r>
              <a:rPr sz="3200" dirty="0"/>
              <a:t> </a:t>
            </a:r>
            <a:r>
              <a:rPr sz="3200" dirty="0" err="1"/>
              <a:t>службы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Как</a:t>
            </a:r>
            <a:r>
              <a:rPr sz="3200" dirty="0"/>
              <a:t> </a:t>
            </a:r>
            <a:r>
              <a:rPr sz="3200" dirty="0" err="1"/>
              <a:t>драйвер</a:t>
            </a:r>
            <a:r>
              <a:rPr sz="3200" dirty="0"/>
              <a:t>, </a:t>
            </a:r>
            <a:r>
              <a:rPr sz="3200" dirty="0" err="1"/>
              <a:t>процесс</a:t>
            </a:r>
            <a:r>
              <a:rPr sz="3200" dirty="0"/>
              <a:t> </a:t>
            </a:r>
            <a:r>
              <a:rPr sz="3200" dirty="0" err="1"/>
              <a:t>или</a:t>
            </a:r>
            <a:r>
              <a:rPr sz="3200" dirty="0"/>
              <a:t> </a:t>
            </a:r>
            <a:r>
              <a:rPr sz="3200" dirty="0" err="1"/>
              <a:t>служба</a:t>
            </a:r>
            <a:r>
              <a:rPr sz="3200" dirty="0"/>
              <a:t> </a:t>
            </a:r>
            <a:r>
              <a:rPr sz="3200" dirty="0" err="1"/>
              <a:t>могут</a:t>
            </a:r>
            <a:r>
              <a:rPr sz="3200" dirty="0"/>
              <a:t> </a:t>
            </a:r>
            <a:r>
              <a:rPr sz="3200" dirty="0" err="1"/>
              <a:t>стать</a:t>
            </a:r>
            <a:r>
              <a:rPr sz="3200" dirty="0"/>
              <a:t> </a:t>
            </a:r>
            <a:r>
              <a:rPr sz="3200" dirty="0" err="1"/>
              <a:t>причиной</a:t>
            </a:r>
            <a:r>
              <a:rPr sz="3200" dirty="0"/>
              <a:t> </a:t>
            </a:r>
            <a:r>
              <a:rPr sz="3200" dirty="0" err="1"/>
              <a:t>сбоя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1382</Words>
  <Application>Microsoft Office PowerPoint</Application>
  <PresentationFormat>Широкоэкранный</PresentationFormat>
  <Paragraphs>191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2026-06-28T06:26:27Z</dcterms:modified>
  <cp:category/>
</cp:coreProperties>
</file>