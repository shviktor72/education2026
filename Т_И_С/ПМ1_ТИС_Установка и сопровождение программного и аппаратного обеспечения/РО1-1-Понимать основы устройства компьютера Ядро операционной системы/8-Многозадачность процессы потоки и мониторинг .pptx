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5" d="100"/>
          <a:sy n="65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59897" y="1082531"/>
            <a:ext cx="10872207" cy="15696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Лекция</a:t>
            </a:r>
            <a:r>
              <a:rPr sz="4800" dirty="0"/>
              <a:t> 8. </a:t>
            </a:r>
            <a:r>
              <a:rPr sz="4800" dirty="0" err="1"/>
              <a:t>Многозадачность</a:t>
            </a:r>
            <a:r>
              <a:rPr sz="4800" dirty="0"/>
              <a:t>, </a:t>
            </a:r>
            <a:r>
              <a:rPr sz="4800" dirty="0" err="1"/>
              <a:t>процессы</a:t>
            </a:r>
            <a:r>
              <a:rPr sz="4800" dirty="0"/>
              <a:t>, </a:t>
            </a:r>
            <a:endParaRPr lang="ru-RU" sz="4800" dirty="0"/>
          </a:p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 err="1"/>
              <a:t>потоки</a:t>
            </a:r>
            <a:r>
              <a:rPr sz="4800" dirty="0"/>
              <a:t> и </a:t>
            </a:r>
            <a:r>
              <a:rPr sz="4800" dirty="0" err="1"/>
              <a:t>мониторинг</a:t>
            </a:r>
            <a:r>
              <a:rPr sz="4800" dirty="0"/>
              <a:t> </a:t>
            </a:r>
            <a:r>
              <a:rPr sz="4800" dirty="0" err="1"/>
              <a:t>ресурсов</a:t>
            </a:r>
            <a:r>
              <a:rPr sz="4800" dirty="0"/>
              <a:t> ОС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Цель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многозадачности</a:t>
            </a:r>
            <a:r>
              <a:rPr dirty="0"/>
              <a:t> в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поток</a:t>
            </a:r>
            <a:r>
              <a:rPr dirty="0"/>
              <a:t> и </a:t>
            </a:r>
            <a:r>
              <a:rPr dirty="0" err="1"/>
              <a:t>службу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Объяснять</a:t>
            </a:r>
            <a:r>
              <a:rPr dirty="0"/>
              <a:t>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кооперативную</a:t>
            </a:r>
            <a:r>
              <a:rPr dirty="0"/>
              <a:t> и </a:t>
            </a:r>
            <a:r>
              <a:rPr dirty="0" err="1"/>
              <a:t>вытесняющую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базовый</a:t>
            </a:r>
            <a:r>
              <a:rPr dirty="0"/>
              <a:t> </a:t>
            </a: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 и </a:t>
            </a:r>
            <a:r>
              <a:rPr dirty="0" err="1"/>
              <a:t>ресурсов</a:t>
            </a:r>
            <a:r>
              <a:rPr dirty="0"/>
              <a:t> в Linux и Windows.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Список учебных вопросов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Назначение</a:t>
            </a:r>
            <a:r>
              <a:rPr dirty="0"/>
              <a:t> </a:t>
            </a:r>
            <a:r>
              <a:rPr dirty="0" err="1"/>
              <a:t>многозадачности</a:t>
            </a:r>
            <a:r>
              <a:rPr dirty="0"/>
              <a:t> в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Одновременная</a:t>
            </a:r>
            <a:r>
              <a:rPr dirty="0"/>
              <a:t> </a:t>
            </a:r>
            <a:r>
              <a:rPr dirty="0" err="1"/>
              <a:t>работа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, </a:t>
            </a:r>
            <a:r>
              <a:rPr dirty="0" err="1"/>
              <a:t>служб</a:t>
            </a:r>
            <a:r>
              <a:rPr dirty="0"/>
              <a:t> и </a:t>
            </a:r>
            <a:r>
              <a:rPr dirty="0" err="1"/>
              <a:t>фоновых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выполняемая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: PID,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, </a:t>
            </a:r>
            <a:r>
              <a:rPr dirty="0" err="1"/>
              <a:t>открытые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Потоки</a:t>
            </a:r>
            <a:r>
              <a:rPr dirty="0"/>
              <a:t>: </a:t>
            </a:r>
            <a:r>
              <a:rPr dirty="0" err="1"/>
              <a:t>назначение</a:t>
            </a:r>
            <a:r>
              <a:rPr dirty="0"/>
              <a:t>, </a:t>
            </a:r>
            <a:r>
              <a:rPr dirty="0" err="1"/>
              <a:t>отличие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потока</a:t>
            </a:r>
            <a:r>
              <a:rPr dirty="0"/>
              <a:t>, </a:t>
            </a:r>
            <a:r>
              <a:rPr dirty="0" err="1"/>
              <a:t>примеры</a:t>
            </a:r>
            <a:r>
              <a:rPr dirty="0"/>
              <a:t> </a:t>
            </a:r>
            <a:r>
              <a:rPr dirty="0" err="1"/>
              <a:t>применения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Виды</a:t>
            </a:r>
            <a:r>
              <a:rPr dirty="0"/>
              <a:t> </a:t>
            </a:r>
            <a:r>
              <a:rPr dirty="0" err="1"/>
              <a:t>многозадачности</a:t>
            </a:r>
            <a:r>
              <a:rPr dirty="0"/>
              <a:t>: </a:t>
            </a:r>
            <a:r>
              <a:rPr dirty="0" err="1"/>
              <a:t>кооперативная</a:t>
            </a:r>
            <a:r>
              <a:rPr dirty="0"/>
              <a:t> и </a:t>
            </a:r>
            <a:r>
              <a:rPr dirty="0" err="1"/>
              <a:t>вытесняющая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Процессы-сироты</a:t>
            </a:r>
            <a:r>
              <a:rPr dirty="0"/>
              <a:t> и zombie-</a:t>
            </a:r>
            <a:r>
              <a:rPr dirty="0" err="1"/>
              <a:t>процессы</a:t>
            </a:r>
            <a:r>
              <a:rPr dirty="0"/>
              <a:t> в Linux.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Управление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 и </a:t>
            </a:r>
            <a:r>
              <a:rPr dirty="0" err="1"/>
              <a:t>службами</a:t>
            </a:r>
            <a:r>
              <a:rPr dirty="0"/>
              <a:t> в Linux и Windows.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: top, </a:t>
            </a:r>
            <a:r>
              <a:rPr dirty="0" err="1"/>
              <a:t>htop</a:t>
            </a:r>
            <a:r>
              <a:rPr dirty="0"/>
              <a:t>, </a:t>
            </a:r>
            <a:r>
              <a:rPr dirty="0" err="1"/>
              <a:t>ps</a:t>
            </a:r>
            <a:r>
              <a:rPr dirty="0"/>
              <a:t>, free, Task Manager, Resource Monitor.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Основные термины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 lnSpcReduction="10000"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Multitasking — </a:t>
            </a:r>
            <a:r>
              <a:rPr dirty="0" err="1"/>
              <a:t>многозадачность</a:t>
            </a:r>
            <a:r>
              <a:rPr dirty="0"/>
              <a:t>, </a:t>
            </a:r>
            <a:r>
              <a:rPr dirty="0" err="1"/>
              <a:t>способность</a:t>
            </a:r>
            <a:r>
              <a:rPr dirty="0"/>
              <a:t> ОС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Process —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выполняемый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PID — Process ID,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Thread —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Service — </a:t>
            </a:r>
            <a:r>
              <a:rPr dirty="0" err="1"/>
              <a:t>служба</a:t>
            </a:r>
            <a:r>
              <a:rPr dirty="0"/>
              <a:t>, </a:t>
            </a:r>
            <a:r>
              <a:rPr dirty="0" err="1"/>
              <a:t>фоновый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системной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серверной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Signal — </a:t>
            </a:r>
            <a:r>
              <a:rPr dirty="0" err="1"/>
              <a:t>сигнал</a:t>
            </a:r>
            <a:r>
              <a:rPr dirty="0"/>
              <a:t>, </a:t>
            </a:r>
            <a:r>
              <a:rPr dirty="0" err="1"/>
              <a:t>способ</a:t>
            </a:r>
            <a:r>
              <a:rPr dirty="0"/>
              <a:t>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 в Linux.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0225" y="182880"/>
            <a:ext cx="8821069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1. </a:t>
            </a:r>
            <a:r>
              <a:rPr sz="4800" dirty="0" err="1"/>
              <a:t>Назначение</a:t>
            </a:r>
            <a:r>
              <a:rPr sz="4800" dirty="0"/>
              <a:t> </a:t>
            </a:r>
            <a:r>
              <a:rPr sz="4800" dirty="0" err="1"/>
              <a:t>многозадачности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Многозадачность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ОС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практике</a:t>
            </a:r>
            <a:r>
              <a:rPr dirty="0"/>
              <a:t> CPU </a:t>
            </a:r>
            <a:r>
              <a:rPr dirty="0" err="1"/>
              <a:t>быстро</a:t>
            </a:r>
            <a:r>
              <a:rPr dirty="0"/>
              <a:t> </a:t>
            </a:r>
            <a:r>
              <a:rPr dirty="0" err="1"/>
              <a:t>переключается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видит</a:t>
            </a:r>
            <a:r>
              <a:rPr dirty="0"/>
              <a:t> </a:t>
            </a:r>
            <a:r>
              <a:rPr dirty="0" err="1"/>
              <a:t>одновременную</a:t>
            </a:r>
            <a:r>
              <a:rPr dirty="0"/>
              <a:t> </a:t>
            </a:r>
            <a:r>
              <a:rPr dirty="0" err="1"/>
              <a:t>работу</a:t>
            </a:r>
            <a:r>
              <a:rPr dirty="0"/>
              <a:t> </a:t>
            </a:r>
            <a:r>
              <a:rPr dirty="0" err="1"/>
              <a:t>приложений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обслуживать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многозадачности</a:t>
            </a:r>
            <a:r>
              <a:rPr dirty="0"/>
              <a:t> </a:t>
            </a:r>
            <a:r>
              <a:rPr dirty="0" err="1"/>
              <a:t>современная</a:t>
            </a:r>
            <a:r>
              <a:rPr dirty="0"/>
              <a:t> ОС </a:t>
            </a:r>
            <a:r>
              <a:rPr dirty="0" err="1"/>
              <a:t>была</a:t>
            </a:r>
            <a:r>
              <a:rPr dirty="0"/>
              <a:t> </a:t>
            </a:r>
            <a:r>
              <a:rPr dirty="0" err="1"/>
              <a:t>бы</a:t>
            </a:r>
            <a:r>
              <a:rPr dirty="0"/>
              <a:t> </a:t>
            </a:r>
            <a:r>
              <a:rPr dirty="0" err="1"/>
              <a:t>непригодна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администрирования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Зачем это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тормозит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находить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потребляют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отличать</a:t>
            </a:r>
            <a:r>
              <a:rPr dirty="0"/>
              <a:t> </a:t>
            </a:r>
            <a:r>
              <a:rPr dirty="0" err="1"/>
              <a:t>нормальную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зависания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службами</a:t>
            </a:r>
            <a:r>
              <a:rPr dirty="0"/>
              <a:t> и </a:t>
            </a:r>
            <a:r>
              <a:rPr dirty="0" err="1"/>
              <a:t>фоновыми</a:t>
            </a:r>
            <a:r>
              <a:rPr dirty="0"/>
              <a:t> </a:t>
            </a:r>
            <a:r>
              <a:rPr dirty="0" err="1"/>
              <a:t>задачами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происходит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сервере</a:t>
            </a:r>
            <a:r>
              <a:rPr dirty="0"/>
              <a:t> </a:t>
            </a:r>
            <a:r>
              <a:rPr dirty="0" err="1"/>
              <a:t>без</a:t>
            </a:r>
            <a:r>
              <a:rPr dirty="0"/>
              <a:t> </a:t>
            </a:r>
            <a:r>
              <a:rPr dirty="0" err="1"/>
              <a:t>графического</a:t>
            </a:r>
            <a:r>
              <a:rPr dirty="0"/>
              <a:t> </a:t>
            </a:r>
            <a:r>
              <a:rPr dirty="0" err="1"/>
              <a:t>интерфейса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6677" y="182880"/>
            <a:ext cx="10868167" cy="70788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000" dirty="0"/>
              <a:t>2. </a:t>
            </a:r>
            <a:r>
              <a:rPr sz="4000" dirty="0" err="1"/>
              <a:t>Одновременная</a:t>
            </a:r>
            <a:r>
              <a:rPr sz="4000" dirty="0"/>
              <a:t> </a:t>
            </a:r>
            <a:r>
              <a:rPr sz="4000" dirty="0" err="1"/>
              <a:t>работа</a:t>
            </a:r>
            <a:r>
              <a:rPr sz="4000" dirty="0"/>
              <a:t> </a:t>
            </a:r>
            <a:r>
              <a:rPr sz="4000" dirty="0" err="1"/>
              <a:t>приложений</a:t>
            </a:r>
            <a:r>
              <a:rPr sz="4000" dirty="0"/>
              <a:t> и </a:t>
            </a:r>
            <a:r>
              <a:rPr sz="4000" dirty="0" err="1"/>
              <a:t>служб</a:t>
            </a:r>
            <a:endParaRPr sz="40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компьютере</a:t>
            </a:r>
            <a:r>
              <a:rPr dirty="0"/>
              <a:t> </a:t>
            </a:r>
            <a:r>
              <a:rPr dirty="0" err="1"/>
              <a:t>одновременно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Фоновые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</a:t>
            </a:r>
            <a:r>
              <a:rPr dirty="0" err="1"/>
              <a:t>выполняют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предоставляют</a:t>
            </a:r>
            <a:r>
              <a:rPr dirty="0"/>
              <a:t> </a:t>
            </a:r>
            <a:r>
              <a:rPr dirty="0" err="1"/>
              <a:t>сетевые</a:t>
            </a:r>
            <a:r>
              <a:rPr dirty="0"/>
              <a:t> и </a:t>
            </a:r>
            <a:r>
              <a:rPr dirty="0" err="1"/>
              <a:t>серверные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/>
              <a:t>ОС </a:t>
            </a:r>
            <a:r>
              <a:rPr dirty="0" err="1"/>
              <a:t>распределяет</a:t>
            </a:r>
            <a:r>
              <a:rPr dirty="0"/>
              <a:t> CPU, RAM, </a:t>
            </a:r>
            <a:r>
              <a:rPr dirty="0" err="1"/>
              <a:t>диск</a:t>
            </a:r>
            <a:r>
              <a:rPr dirty="0"/>
              <a:t> и </a:t>
            </a:r>
            <a:r>
              <a:rPr dirty="0" err="1"/>
              <a:t>сеть</a:t>
            </a:r>
            <a:r>
              <a:rPr dirty="0"/>
              <a:t> </a:t>
            </a:r>
            <a:r>
              <a:rPr dirty="0" err="1"/>
              <a:t>между</a:t>
            </a:r>
            <a:r>
              <a:rPr dirty="0"/>
              <a:t> </a:t>
            </a:r>
            <a:r>
              <a:rPr dirty="0" err="1"/>
              <a:t>задачами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Конфликт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 </a:t>
            </a:r>
            <a:r>
              <a:rPr dirty="0" err="1"/>
              <a:t>влияет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приложения</a:t>
            </a:r>
            <a:r>
              <a:rPr dirty="0"/>
              <a:t> и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 одновременной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открыл</a:t>
            </a:r>
            <a:r>
              <a:rPr dirty="0"/>
              <a:t> </a:t>
            </a:r>
            <a:r>
              <a:rPr dirty="0" err="1"/>
              <a:t>браузер</a:t>
            </a:r>
            <a:r>
              <a:rPr dirty="0"/>
              <a:t> и </a:t>
            </a:r>
            <a:r>
              <a:rPr dirty="0" err="1"/>
              <a:t>офисный</a:t>
            </a:r>
            <a:r>
              <a:rPr dirty="0"/>
              <a:t> </a:t>
            </a:r>
            <a:r>
              <a:rPr dirty="0" err="1"/>
              <a:t>документ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Антивирус</a:t>
            </a:r>
            <a:r>
              <a:rPr dirty="0"/>
              <a:t> </a:t>
            </a:r>
            <a:r>
              <a:rPr dirty="0" err="1"/>
              <a:t>выполняет</a:t>
            </a:r>
            <a:r>
              <a:rPr dirty="0"/>
              <a:t> </a:t>
            </a:r>
            <a:r>
              <a:rPr dirty="0" err="1"/>
              <a:t>проверку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обновлений</a:t>
            </a:r>
            <a:r>
              <a:rPr dirty="0"/>
              <a:t> </a:t>
            </a:r>
            <a:r>
              <a:rPr dirty="0" err="1"/>
              <a:t>загружает</a:t>
            </a:r>
            <a:r>
              <a:rPr dirty="0"/>
              <a:t> </a:t>
            </a:r>
            <a:r>
              <a:rPr dirty="0" err="1"/>
              <a:t>пакеты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отвечает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планирует</a:t>
            </a:r>
            <a:r>
              <a:rPr dirty="0"/>
              <a:t> </a:t>
            </a: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этих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4372" y="182880"/>
            <a:ext cx="11072775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3. </a:t>
            </a:r>
            <a:r>
              <a:rPr sz="4800" dirty="0" err="1"/>
              <a:t>Процесс</a:t>
            </a:r>
            <a:r>
              <a:rPr sz="4800" dirty="0"/>
              <a:t> </a:t>
            </a:r>
            <a:r>
              <a:rPr sz="4800" dirty="0" err="1"/>
              <a:t>как</a:t>
            </a:r>
            <a:r>
              <a:rPr sz="4800" dirty="0"/>
              <a:t> </a:t>
            </a:r>
            <a:r>
              <a:rPr sz="4800" dirty="0" err="1"/>
              <a:t>выполняемая</a:t>
            </a:r>
            <a:r>
              <a:rPr sz="4800" dirty="0"/>
              <a:t> </a:t>
            </a:r>
            <a:r>
              <a:rPr sz="4800" dirty="0" err="1"/>
              <a:t>программа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445342"/>
            <a:ext cx="10972800" cy="4681138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Процесс</a:t>
            </a:r>
            <a:r>
              <a:rPr dirty="0"/>
              <a:t> — </a:t>
            </a:r>
            <a:r>
              <a:rPr dirty="0" err="1"/>
              <a:t>запущенный</a:t>
            </a:r>
            <a:r>
              <a:rPr dirty="0"/>
              <a:t> </a:t>
            </a:r>
            <a:r>
              <a:rPr dirty="0" err="1"/>
              <a:t>экземпляр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/>
              <a:t>У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PID.</a:t>
            </a:r>
          </a:p>
          <a:p>
            <a:pPr indent="530225">
              <a:defRPr sz="3600"/>
            </a:pPr>
            <a:r>
              <a:rPr dirty="0"/>
              <a:t>У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есть</a:t>
            </a:r>
            <a:r>
              <a:rPr dirty="0"/>
              <a:t> </a:t>
            </a:r>
            <a:r>
              <a:rPr dirty="0" err="1"/>
              <a:t>собственное</a:t>
            </a:r>
            <a:r>
              <a:rPr dirty="0"/>
              <a:t> </a:t>
            </a:r>
            <a:r>
              <a:rPr dirty="0" err="1"/>
              <a:t>адресное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потребляет</a:t>
            </a:r>
            <a:r>
              <a:rPr dirty="0"/>
              <a:t> CPU, RAM, disk и network.</a:t>
            </a:r>
          </a:p>
          <a:p>
            <a:pPr indent="530225"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запускаться</a:t>
            </a:r>
            <a:r>
              <a:rPr dirty="0"/>
              <a:t> </a:t>
            </a:r>
            <a:r>
              <a:rPr dirty="0" err="1"/>
              <a:t>пользователем</a:t>
            </a:r>
            <a:r>
              <a:rPr dirty="0"/>
              <a:t>, </a:t>
            </a:r>
            <a:r>
              <a:rPr dirty="0" err="1"/>
              <a:t>системой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службой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Ресурсы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CPU time: </a:t>
            </a:r>
            <a:r>
              <a:rPr dirty="0" err="1"/>
              <a:t>процессорное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RAM: </a:t>
            </a:r>
            <a:r>
              <a:rPr dirty="0" err="1"/>
              <a:t>память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Открытые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соединения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Переменные</a:t>
            </a:r>
            <a:r>
              <a:rPr dirty="0"/>
              <a:t> </a:t>
            </a:r>
            <a:r>
              <a:rPr dirty="0" err="1"/>
              <a:t>окружения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Права</a:t>
            </a:r>
            <a:r>
              <a:rPr dirty="0"/>
              <a:t> </a:t>
            </a:r>
            <a:r>
              <a:rPr dirty="0" err="1"/>
              <a:t>пользователя</a:t>
            </a:r>
            <a:r>
              <a:rPr dirty="0"/>
              <a:t>,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имени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запущен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PID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282516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/>
              <a:t>PID — Process ID, </a:t>
            </a:r>
            <a:r>
              <a:rPr dirty="0" err="1"/>
              <a:t>числовой</a:t>
            </a:r>
            <a:r>
              <a:rPr dirty="0"/>
              <a:t> </a:t>
            </a:r>
            <a:r>
              <a:rPr dirty="0" err="1"/>
              <a:t>идентификатор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/>
              <a:t>PID </a:t>
            </a:r>
            <a:r>
              <a:rPr dirty="0" err="1"/>
              <a:t>нужен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поиска</a:t>
            </a:r>
            <a:r>
              <a:rPr dirty="0"/>
              <a:t> и </a:t>
            </a:r>
            <a:r>
              <a:rPr dirty="0" err="1"/>
              <a:t>управления</a:t>
            </a:r>
            <a:r>
              <a:rPr dirty="0"/>
              <a:t> </a:t>
            </a:r>
            <a:r>
              <a:rPr dirty="0" err="1"/>
              <a:t>процессом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Команды</a:t>
            </a:r>
            <a:r>
              <a:rPr dirty="0"/>
              <a:t> </a:t>
            </a:r>
            <a:r>
              <a:rPr dirty="0" err="1"/>
              <a:t>диагностики</a:t>
            </a:r>
            <a:r>
              <a:rPr dirty="0"/>
              <a:t> </a:t>
            </a: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с PID.</a:t>
            </a:r>
          </a:p>
          <a:p>
            <a:pPr indent="530225">
              <a:defRPr sz="3600"/>
            </a:pP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завершения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PID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быть</a:t>
            </a:r>
            <a:r>
              <a:rPr dirty="0"/>
              <a:t> </a:t>
            </a:r>
            <a:r>
              <a:rPr dirty="0" err="1"/>
              <a:t>использован</a:t>
            </a:r>
            <a:r>
              <a:rPr dirty="0"/>
              <a:t> </a:t>
            </a:r>
            <a:r>
              <a:rPr dirty="0" err="1"/>
              <a:t>повторно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/>
              <a:t>В </a:t>
            </a:r>
            <a:r>
              <a:rPr dirty="0" err="1"/>
              <a:t>отчете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только</a:t>
            </a:r>
            <a:r>
              <a:rPr dirty="0"/>
              <a:t> </a:t>
            </a:r>
            <a:r>
              <a:rPr dirty="0" err="1"/>
              <a:t>имя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и PID </a:t>
            </a:r>
            <a:r>
              <a:rPr dirty="0" err="1"/>
              <a:t>процесса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715546" y="182880"/>
            <a:ext cx="2730427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4. </a:t>
            </a:r>
            <a:r>
              <a:rPr sz="4800" dirty="0" err="1"/>
              <a:t>Потоки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Поток</a:t>
            </a:r>
            <a:r>
              <a:rPr dirty="0"/>
              <a:t> — </a:t>
            </a:r>
            <a:r>
              <a:rPr dirty="0" err="1"/>
              <a:t>единица</a:t>
            </a:r>
            <a:r>
              <a:rPr dirty="0"/>
              <a:t> </a:t>
            </a:r>
            <a:r>
              <a:rPr dirty="0" err="1"/>
              <a:t>выполнения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иметь</a:t>
            </a:r>
            <a:r>
              <a:rPr dirty="0"/>
              <a:t> </a:t>
            </a: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потоков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одного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разделяют</a:t>
            </a:r>
            <a:r>
              <a:rPr dirty="0"/>
              <a:t> </a:t>
            </a:r>
            <a:r>
              <a:rPr dirty="0" err="1"/>
              <a:t>часть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помогают</a:t>
            </a:r>
            <a:r>
              <a:rPr dirty="0"/>
              <a:t>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действий</a:t>
            </a:r>
            <a:r>
              <a:rPr dirty="0"/>
              <a:t> </a:t>
            </a:r>
            <a:r>
              <a:rPr dirty="0" err="1"/>
              <a:t>параллельно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Ошибка</a:t>
            </a:r>
            <a:r>
              <a:rPr dirty="0"/>
              <a:t> в </a:t>
            </a:r>
            <a:r>
              <a:rPr dirty="0" err="1"/>
              <a:t>одном</a:t>
            </a:r>
            <a:r>
              <a:rPr dirty="0"/>
              <a:t> </a:t>
            </a:r>
            <a:r>
              <a:rPr dirty="0" err="1"/>
              <a:t>процессе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затронуть</a:t>
            </a:r>
            <a:r>
              <a:rPr dirty="0"/>
              <a:t> </a:t>
            </a:r>
            <a:r>
              <a:rPr dirty="0" err="1"/>
              <a:t>его</a:t>
            </a:r>
            <a:r>
              <a:rPr dirty="0"/>
              <a:t> </a:t>
            </a:r>
            <a:r>
              <a:rPr dirty="0" err="1"/>
              <a:t>потоки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Процесс и поток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отдельное</a:t>
            </a:r>
            <a:r>
              <a:rPr dirty="0"/>
              <a:t> </a:t>
            </a:r>
            <a:r>
              <a:rPr dirty="0" err="1"/>
              <a:t>адресное</a:t>
            </a:r>
            <a:r>
              <a:rPr dirty="0"/>
              <a:t> </a:t>
            </a:r>
            <a:r>
              <a:rPr dirty="0" err="1"/>
              <a:t>пространство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общие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тяжелее</a:t>
            </a:r>
            <a:r>
              <a:rPr dirty="0"/>
              <a:t> </a:t>
            </a:r>
            <a:r>
              <a:rPr dirty="0" err="1"/>
              <a:t>создать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удобны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параллельной</a:t>
            </a:r>
            <a:r>
              <a:rPr dirty="0"/>
              <a:t> </a:t>
            </a:r>
            <a:r>
              <a:rPr dirty="0" err="1"/>
              <a:t>обработки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анализе</a:t>
            </a:r>
            <a:r>
              <a:rPr dirty="0"/>
              <a:t> </a:t>
            </a:r>
            <a:r>
              <a:rPr dirty="0" err="1"/>
              <a:t>нагрузки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Примеры потоков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Браузер</a:t>
            </a:r>
            <a:r>
              <a:rPr dirty="0"/>
              <a:t> </a:t>
            </a:r>
            <a:r>
              <a:rPr dirty="0" err="1"/>
              <a:t>обрабатывает</a:t>
            </a:r>
            <a:r>
              <a:rPr dirty="0"/>
              <a:t> </a:t>
            </a:r>
            <a:r>
              <a:rPr dirty="0" err="1"/>
              <a:t>вкладки</a:t>
            </a:r>
            <a:r>
              <a:rPr dirty="0"/>
              <a:t> и </a:t>
            </a:r>
            <a:r>
              <a:rPr dirty="0" err="1"/>
              <a:t>сетевые</a:t>
            </a:r>
            <a:r>
              <a:rPr dirty="0"/>
              <a:t> </a:t>
            </a:r>
            <a:r>
              <a:rPr dirty="0" err="1"/>
              <a:t>запросы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/>
              <a:t>Web-</a:t>
            </a:r>
            <a:r>
              <a:rPr dirty="0" err="1"/>
              <a:t>сервер</a:t>
            </a:r>
            <a:r>
              <a:rPr dirty="0"/>
              <a:t> </a:t>
            </a:r>
            <a:r>
              <a:rPr dirty="0" err="1"/>
              <a:t>обслуживает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клиентов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Антивирус</a:t>
            </a:r>
            <a:r>
              <a:rPr dirty="0"/>
              <a:t> </a:t>
            </a:r>
            <a:r>
              <a:rPr dirty="0" err="1"/>
              <a:t>сканирует</a:t>
            </a:r>
            <a:r>
              <a:rPr dirty="0"/>
              <a:t> </a:t>
            </a:r>
            <a:r>
              <a:rPr dirty="0" err="1"/>
              <a:t>файлы</a:t>
            </a:r>
            <a:r>
              <a:rPr dirty="0"/>
              <a:t> и </a:t>
            </a:r>
            <a:r>
              <a:rPr dirty="0" err="1"/>
              <a:t>обновляет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Служба</a:t>
            </a:r>
            <a:r>
              <a:rPr dirty="0"/>
              <a:t> </a:t>
            </a:r>
            <a:r>
              <a:rPr dirty="0" err="1"/>
              <a:t>базы</a:t>
            </a:r>
            <a:r>
              <a:rPr dirty="0"/>
              <a:t> </a:t>
            </a:r>
            <a:r>
              <a:rPr dirty="0" err="1"/>
              <a:t>данных</a:t>
            </a:r>
            <a:r>
              <a:rPr dirty="0"/>
              <a:t> </a:t>
            </a:r>
            <a:r>
              <a:rPr dirty="0" err="1"/>
              <a:t>обрабатывает</a:t>
            </a:r>
            <a:r>
              <a:rPr dirty="0"/>
              <a:t> </a:t>
            </a:r>
            <a:r>
              <a:rPr dirty="0" err="1"/>
              <a:t>несколько</a:t>
            </a:r>
            <a:r>
              <a:rPr dirty="0"/>
              <a:t> </a:t>
            </a:r>
            <a:r>
              <a:rPr dirty="0" err="1"/>
              <a:t>запросов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Многопоточность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производительность</a:t>
            </a:r>
            <a:r>
              <a:rPr dirty="0"/>
              <a:t> </a:t>
            </a:r>
            <a:r>
              <a:rPr dirty="0" err="1"/>
              <a:t>при</a:t>
            </a:r>
            <a:r>
              <a:rPr dirty="0"/>
              <a:t> </a:t>
            </a:r>
            <a:r>
              <a:rPr dirty="0" err="1"/>
              <a:t>правильной</a:t>
            </a:r>
            <a:r>
              <a:rPr dirty="0"/>
              <a:t> </a:t>
            </a:r>
            <a:r>
              <a:rPr dirty="0" err="1"/>
              <a:t>нагрузке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потоки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A80E68C-4FA4-F242-682E-BC8EA6BAF0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5. Виды многозадачности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253019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530225">
              <a:defRPr sz="3600"/>
            </a:pPr>
            <a:r>
              <a:rPr dirty="0" err="1"/>
              <a:t>Кооперативная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 </a:t>
            </a:r>
            <a:r>
              <a:rPr dirty="0" err="1"/>
              <a:t>зависит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поведения</a:t>
            </a:r>
            <a:r>
              <a:rPr dirty="0"/>
              <a:t> </a:t>
            </a:r>
            <a:r>
              <a:rPr dirty="0" err="1"/>
              <a:t>программ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Вытесняющая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 </a:t>
            </a:r>
            <a:r>
              <a:rPr dirty="0" err="1"/>
              <a:t>управляется</a:t>
            </a:r>
            <a:r>
              <a:rPr dirty="0"/>
              <a:t> ОС.</a:t>
            </a:r>
          </a:p>
          <a:p>
            <a:pPr indent="530225">
              <a:defRPr sz="3600"/>
            </a:pPr>
            <a:r>
              <a:rPr dirty="0" err="1"/>
              <a:t>Современные</a:t>
            </a:r>
            <a:r>
              <a:rPr dirty="0"/>
              <a:t> ОС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вытесняющую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Планировщик</a:t>
            </a:r>
            <a:r>
              <a:rPr dirty="0"/>
              <a:t> ОС </a:t>
            </a:r>
            <a:r>
              <a:rPr dirty="0" err="1"/>
              <a:t>распределяет</a:t>
            </a:r>
            <a:r>
              <a:rPr dirty="0"/>
              <a:t> </a:t>
            </a:r>
            <a:r>
              <a:rPr dirty="0" err="1"/>
              <a:t>процессорное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  <a:p>
            <a:pPr indent="530225">
              <a:defRPr sz="3600"/>
            </a:pP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повышает</a:t>
            </a:r>
            <a:r>
              <a:rPr dirty="0"/>
              <a:t> </a:t>
            </a:r>
            <a:r>
              <a:rPr dirty="0" err="1"/>
              <a:t>устойчивость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Кооперативная многозадачность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442913">
              <a:defRPr sz="3600"/>
            </a:pP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уступить</a:t>
            </a:r>
            <a:r>
              <a:rPr dirty="0"/>
              <a:t> </a:t>
            </a:r>
            <a:r>
              <a:rPr dirty="0" err="1"/>
              <a:t>управление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Если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зависла</a:t>
            </a:r>
            <a:r>
              <a:rPr dirty="0"/>
              <a:t>, </a:t>
            </a:r>
            <a:r>
              <a:rPr dirty="0" err="1"/>
              <a:t>она</a:t>
            </a:r>
            <a:r>
              <a:rPr dirty="0"/>
              <a:t> </a:t>
            </a:r>
            <a:r>
              <a:rPr dirty="0" err="1"/>
              <a:t>может</a:t>
            </a:r>
            <a:r>
              <a:rPr dirty="0"/>
              <a:t> </a:t>
            </a:r>
            <a:r>
              <a:rPr dirty="0" err="1"/>
              <a:t>мешать</a:t>
            </a:r>
            <a:r>
              <a:rPr dirty="0"/>
              <a:t> </a:t>
            </a:r>
            <a:r>
              <a:rPr dirty="0" err="1"/>
              <a:t>другим</a:t>
            </a:r>
            <a:r>
              <a:rPr dirty="0"/>
              <a:t> </a:t>
            </a:r>
            <a:r>
              <a:rPr dirty="0" err="1"/>
              <a:t>задачам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Такой</a:t>
            </a:r>
            <a:r>
              <a:rPr dirty="0"/>
              <a:t> </a:t>
            </a:r>
            <a:r>
              <a:rPr dirty="0" err="1"/>
              <a:t>подход</a:t>
            </a:r>
            <a:r>
              <a:rPr dirty="0"/>
              <a:t> </a:t>
            </a:r>
            <a:r>
              <a:rPr dirty="0" err="1"/>
              <a:t>проще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менее</a:t>
            </a:r>
            <a:r>
              <a:rPr dirty="0"/>
              <a:t> </a:t>
            </a:r>
            <a:r>
              <a:rPr dirty="0" err="1"/>
              <a:t>надежен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Исторически</a:t>
            </a:r>
            <a:r>
              <a:rPr dirty="0"/>
              <a:t> </a:t>
            </a:r>
            <a:r>
              <a:rPr dirty="0" err="1"/>
              <a:t>встречался</a:t>
            </a:r>
            <a:r>
              <a:rPr dirty="0"/>
              <a:t> в </a:t>
            </a:r>
            <a:r>
              <a:rPr dirty="0" err="1"/>
              <a:t>старых</a:t>
            </a:r>
            <a:r>
              <a:rPr dirty="0"/>
              <a:t> </a:t>
            </a:r>
            <a:r>
              <a:rPr dirty="0" err="1"/>
              <a:t>системах</a:t>
            </a:r>
            <a:r>
              <a:rPr dirty="0"/>
              <a:t>.</a:t>
            </a:r>
          </a:p>
          <a:p>
            <a:pPr indent="442913"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современных</a:t>
            </a:r>
            <a:r>
              <a:rPr dirty="0"/>
              <a:t> </a:t>
            </a:r>
            <a:r>
              <a:rPr dirty="0" err="1"/>
              <a:t>серверов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подходит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основной</a:t>
            </a:r>
            <a:r>
              <a:rPr dirty="0"/>
              <a:t> </a:t>
            </a:r>
            <a:r>
              <a:rPr dirty="0" err="1"/>
              <a:t>механизм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Вытесняющая многозадачность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1209367"/>
            <a:ext cx="11312013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ОС </a:t>
            </a:r>
            <a:r>
              <a:rPr dirty="0" err="1"/>
              <a:t>сама</a:t>
            </a:r>
            <a:r>
              <a:rPr dirty="0"/>
              <a:t> </a:t>
            </a:r>
            <a:r>
              <a:rPr dirty="0" err="1"/>
              <a:t>решает</a:t>
            </a:r>
            <a:r>
              <a:rPr dirty="0"/>
              <a:t>, </a:t>
            </a:r>
            <a:r>
              <a:rPr dirty="0" err="1"/>
              <a:t>когда</a:t>
            </a:r>
            <a:r>
              <a:rPr dirty="0"/>
              <a:t> </a:t>
            </a:r>
            <a:r>
              <a:rPr dirty="0" err="1"/>
              <a:t>переключать</a:t>
            </a:r>
            <a:r>
              <a:rPr dirty="0"/>
              <a:t> </a:t>
            </a:r>
            <a:r>
              <a:rPr dirty="0" err="1"/>
              <a:t>задачи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Планировщик</a:t>
            </a:r>
            <a:r>
              <a:rPr dirty="0"/>
              <a:t> </a:t>
            </a:r>
            <a:r>
              <a:rPr dirty="0" err="1"/>
              <a:t>распределяет</a:t>
            </a:r>
            <a:r>
              <a:rPr dirty="0"/>
              <a:t> </a:t>
            </a:r>
            <a:r>
              <a:rPr dirty="0" err="1"/>
              <a:t>процессорное</a:t>
            </a:r>
            <a:r>
              <a:rPr dirty="0"/>
              <a:t> </a:t>
            </a:r>
            <a:r>
              <a:rPr dirty="0" err="1"/>
              <a:t>время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Зависшая</a:t>
            </a:r>
            <a:r>
              <a:rPr dirty="0"/>
              <a:t> </a:t>
            </a:r>
            <a:r>
              <a:rPr dirty="0" err="1"/>
              <a:t>программа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должна</a:t>
            </a:r>
            <a:r>
              <a:rPr dirty="0"/>
              <a:t> </a:t>
            </a:r>
            <a:r>
              <a:rPr dirty="0" err="1"/>
              <a:t>остановить</a:t>
            </a:r>
            <a:r>
              <a:rPr dirty="0"/>
              <a:t> </a:t>
            </a:r>
            <a:r>
              <a:rPr dirty="0" err="1"/>
              <a:t>всю</a:t>
            </a:r>
            <a:r>
              <a:rPr dirty="0"/>
              <a:t> ОС.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Позволяет</a:t>
            </a:r>
            <a:r>
              <a:rPr dirty="0"/>
              <a:t> </a:t>
            </a:r>
            <a:r>
              <a:rPr dirty="0" err="1"/>
              <a:t>надежнее</a:t>
            </a:r>
            <a:r>
              <a:rPr dirty="0"/>
              <a:t> </a:t>
            </a:r>
            <a:r>
              <a:rPr dirty="0" err="1"/>
              <a:t>обслуживать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Используется</a:t>
            </a:r>
            <a:r>
              <a:rPr dirty="0"/>
              <a:t> в Linux и Windows.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46194" y="182880"/>
            <a:ext cx="806913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6. </a:t>
            </a:r>
            <a:r>
              <a:rPr sz="4800" dirty="0" err="1"/>
              <a:t>Жизненный</a:t>
            </a:r>
            <a:r>
              <a:rPr sz="4800" dirty="0"/>
              <a:t> </a:t>
            </a:r>
            <a:r>
              <a:rPr sz="4800" dirty="0" err="1"/>
              <a:t>цикл</a:t>
            </a:r>
            <a:r>
              <a:rPr sz="4800" dirty="0"/>
              <a:t> </a:t>
            </a:r>
            <a:r>
              <a:rPr sz="4800" dirty="0" err="1"/>
              <a:t>процесса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548580"/>
            <a:ext cx="10972800" cy="457789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Готовность</a:t>
            </a:r>
            <a:r>
              <a:rPr dirty="0"/>
              <a:t> к </a:t>
            </a:r>
            <a:r>
              <a:rPr dirty="0" err="1"/>
              <a:t>выполнению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Выполнение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CPU.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Ожидание</a:t>
            </a:r>
            <a:r>
              <a:rPr dirty="0"/>
              <a:t> </a:t>
            </a:r>
            <a:r>
              <a:rPr dirty="0" err="1"/>
              <a:t>события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ввода-вывода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Завершение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Освобождение</a:t>
            </a:r>
            <a:r>
              <a:rPr dirty="0"/>
              <a:t> </a:t>
            </a:r>
            <a:r>
              <a:rPr dirty="0" err="1"/>
              <a:t>ресурсов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Состояния процесса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99" y="914400"/>
            <a:ext cx="11326761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Running: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выполняется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Ready: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готов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ждет</a:t>
            </a:r>
            <a:r>
              <a:rPr dirty="0"/>
              <a:t> CPU.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Sleeping </a:t>
            </a:r>
            <a:r>
              <a:rPr dirty="0" err="1"/>
              <a:t>или</a:t>
            </a:r>
            <a:r>
              <a:rPr dirty="0"/>
              <a:t> waiting: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ждет</a:t>
            </a:r>
            <a:r>
              <a:rPr dirty="0"/>
              <a:t> </a:t>
            </a:r>
            <a:r>
              <a:rPr dirty="0" err="1"/>
              <a:t>событие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Stopped: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остановлен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/>
              <a:t>Zombie: 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завершен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о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еще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забрана</a:t>
            </a:r>
            <a:r>
              <a:rPr dirty="0"/>
              <a:t> </a:t>
            </a:r>
            <a:r>
              <a:rPr dirty="0" err="1"/>
              <a:t>родителем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процесса</a:t>
            </a:r>
            <a:endParaRPr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A26FFF-FE66-F490-E086-6D69C9A15A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64149" y="182880"/>
            <a:ext cx="10833222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7. </a:t>
            </a:r>
            <a:r>
              <a:rPr sz="4800" dirty="0" err="1"/>
              <a:t>Процессы-сироты</a:t>
            </a:r>
            <a:r>
              <a:rPr sz="4800" dirty="0"/>
              <a:t> и zombie-</a:t>
            </a:r>
            <a:r>
              <a:rPr sz="4800" dirty="0" err="1"/>
              <a:t>процессы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indent="354013">
              <a:defRPr sz="3600"/>
            </a:pPr>
            <a:r>
              <a:rPr dirty="0" err="1"/>
              <a:t>Процесс-сирота</a:t>
            </a:r>
            <a:r>
              <a:rPr dirty="0"/>
              <a:t> —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родитель</a:t>
            </a:r>
            <a:r>
              <a:rPr dirty="0"/>
              <a:t> </a:t>
            </a:r>
            <a:r>
              <a:rPr dirty="0" err="1"/>
              <a:t>которого</a:t>
            </a:r>
            <a:r>
              <a:rPr dirty="0"/>
              <a:t> </a:t>
            </a:r>
            <a:r>
              <a:rPr dirty="0" err="1"/>
              <a:t>завершился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ОС </a:t>
            </a:r>
            <a:r>
              <a:rPr dirty="0" err="1"/>
              <a:t>назначает</a:t>
            </a:r>
            <a:r>
              <a:rPr dirty="0"/>
              <a:t> </a:t>
            </a:r>
            <a:r>
              <a:rPr dirty="0" err="1"/>
              <a:t>такому</a:t>
            </a:r>
            <a:r>
              <a:rPr dirty="0"/>
              <a:t> </a:t>
            </a:r>
            <a:r>
              <a:rPr dirty="0" err="1"/>
              <a:t>процессу</a:t>
            </a:r>
            <a:r>
              <a:rPr dirty="0"/>
              <a:t> </a:t>
            </a:r>
            <a:r>
              <a:rPr dirty="0" err="1"/>
              <a:t>нового</a:t>
            </a:r>
            <a:r>
              <a:rPr dirty="0"/>
              <a:t> </a:t>
            </a:r>
            <a:r>
              <a:rPr dirty="0" err="1"/>
              <a:t>родителя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Zombie-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уже</a:t>
            </a:r>
            <a:r>
              <a:rPr dirty="0"/>
              <a:t> </a:t>
            </a:r>
            <a:r>
              <a:rPr dirty="0" err="1"/>
              <a:t>завершился</a:t>
            </a:r>
            <a:r>
              <a:rPr dirty="0"/>
              <a:t>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о </a:t>
            </a:r>
            <a:r>
              <a:rPr dirty="0" err="1"/>
              <a:t>нем</a:t>
            </a:r>
            <a:r>
              <a:rPr dirty="0"/>
              <a:t> </a:t>
            </a:r>
            <a:r>
              <a:rPr dirty="0" err="1"/>
              <a:t>остается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/>
              <a:t>Zombie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потребляет</a:t>
            </a:r>
            <a:r>
              <a:rPr dirty="0"/>
              <a:t> CPU, </a:t>
            </a:r>
            <a:r>
              <a:rPr dirty="0" err="1"/>
              <a:t>но</a:t>
            </a:r>
            <a:r>
              <a:rPr dirty="0"/>
              <a:t> </a:t>
            </a:r>
            <a:r>
              <a:rPr dirty="0" err="1"/>
              <a:t>занимает</a:t>
            </a:r>
            <a:r>
              <a:rPr dirty="0"/>
              <a:t> </a:t>
            </a:r>
            <a:r>
              <a:rPr dirty="0" err="1"/>
              <a:t>запись</a:t>
            </a:r>
            <a:r>
              <a:rPr dirty="0"/>
              <a:t> в </a:t>
            </a:r>
            <a:r>
              <a:rPr dirty="0" err="1"/>
              <a:t>таблице</a:t>
            </a:r>
            <a:r>
              <a:rPr dirty="0"/>
              <a:t> </a:t>
            </a:r>
            <a:r>
              <a:rPr dirty="0" err="1"/>
              <a:t>процессов</a:t>
            </a:r>
            <a:r>
              <a:rPr dirty="0"/>
              <a:t>.</a:t>
            </a:r>
          </a:p>
          <a:p>
            <a:pPr indent="354013">
              <a:defRPr sz="3600"/>
            </a:pPr>
            <a:r>
              <a:rPr dirty="0" err="1"/>
              <a:t>Большое</a:t>
            </a:r>
            <a:r>
              <a:rPr dirty="0"/>
              <a:t> </a:t>
            </a:r>
            <a:r>
              <a:rPr dirty="0" err="1"/>
              <a:t>количество</a:t>
            </a:r>
            <a:r>
              <a:rPr dirty="0"/>
              <a:t> zombie-</a:t>
            </a:r>
            <a:r>
              <a:rPr dirty="0" err="1"/>
              <a:t>процессов</a:t>
            </a:r>
            <a:r>
              <a:rPr dirty="0"/>
              <a:t> </a:t>
            </a:r>
            <a:r>
              <a:rPr dirty="0" err="1"/>
              <a:t>указывает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 </a:t>
            </a:r>
            <a:r>
              <a:rPr dirty="0" err="1"/>
              <a:t>родительской</a:t>
            </a:r>
            <a:r>
              <a:rPr dirty="0"/>
              <a:t> </a:t>
            </a:r>
            <a:r>
              <a:rPr dirty="0" err="1"/>
              <a:t>программы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Почему zombie важен администратору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35626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Один</a:t>
            </a:r>
            <a:r>
              <a:rPr dirty="0"/>
              <a:t> zombie-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критичен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Массовые</a:t>
            </a:r>
            <a:r>
              <a:rPr dirty="0"/>
              <a:t> zombie </a:t>
            </a:r>
            <a:r>
              <a:rPr dirty="0" err="1"/>
              <a:t>могут</a:t>
            </a:r>
            <a:r>
              <a:rPr dirty="0"/>
              <a:t> </a:t>
            </a:r>
            <a:r>
              <a:rPr dirty="0" err="1"/>
              <a:t>указывать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искать</a:t>
            </a:r>
            <a:r>
              <a:rPr dirty="0"/>
              <a:t> </a:t>
            </a:r>
            <a:r>
              <a:rPr dirty="0" err="1"/>
              <a:t>родительский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Простое</a:t>
            </a:r>
            <a:r>
              <a:rPr dirty="0"/>
              <a:t> kill </a:t>
            </a:r>
            <a:r>
              <a:rPr dirty="0" err="1"/>
              <a:t>для</a:t>
            </a:r>
            <a:r>
              <a:rPr dirty="0"/>
              <a:t> zombie </a:t>
            </a:r>
            <a:r>
              <a:rPr dirty="0" err="1"/>
              <a:t>обычно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решает</a:t>
            </a:r>
            <a:r>
              <a:rPr dirty="0"/>
              <a:t> </a:t>
            </a:r>
            <a:r>
              <a:rPr dirty="0" err="1"/>
              <a:t>проблему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Часто</a:t>
            </a:r>
            <a:r>
              <a:rPr dirty="0"/>
              <a:t> </a:t>
            </a:r>
            <a:r>
              <a:rPr dirty="0" err="1"/>
              <a:t>требуется</a:t>
            </a:r>
            <a:r>
              <a:rPr dirty="0"/>
              <a:t> </a:t>
            </a:r>
            <a:r>
              <a:rPr dirty="0" err="1"/>
              <a:t>перезапуск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dirty="0" err="1"/>
              <a:t>исправление</a:t>
            </a:r>
            <a:r>
              <a:rPr dirty="0"/>
              <a:t> </a:t>
            </a:r>
            <a:r>
              <a:rPr dirty="0" err="1"/>
              <a:t>родительской</a:t>
            </a:r>
            <a:r>
              <a:rPr dirty="0"/>
              <a:t> </a:t>
            </a:r>
            <a:r>
              <a:rPr dirty="0" err="1"/>
              <a:t>службы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09386" y="182880"/>
            <a:ext cx="1074274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8. </a:t>
            </a:r>
            <a:r>
              <a:rPr sz="4800" dirty="0" err="1"/>
              <a:t>Управление</a:t>
            </a:r>
            <a:r>
              <a:rPr sz="4800" dirty="0"/>
              <a:t> </a:t>
            </a:r>
            <a:r>
              <a:rPr sz="4800" dirty="0" err="1"/>
              <a:t>процессами</a:t>
            </a:r>
            <a:r>
              <a:rPr sz="4800" dirty="0"/>
              <a:t> и </a:t>
            </a:r>
            <a:r>
              <a:rPr sz="4800" dirty="0" err="1"/>
              <a:t>службами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1637070"/>
            <a:ext cx="10972800" cy="4489409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найти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, </a:t>
            </a:r>
            <a:r>
              <a:rPr dirty="0" err="1"/>
              <a:t>какой</a:t>
            </a:r>
            <a:r>
              <a:rPr dirty="0"/>
              <a:t> </a:t>
            </a:r>
            <a:r>
              <a:rPr dirty="0" err="1"/>
              <a:t>пользователь</a:t>
            </a:r>
            <a:r>
              <a:rPr dirty="0"/>
              <a:t> </a:t>
            </a:r>
            <a:r>
              <a:rPr dirty="0" err="1"/>
              <a:t>запустил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видеть</a:t>
            </a:r>
            <a:r>
              <a:rPr dirty="0"/>
              <a:t> </a:t>
            </a:r>
            <a:r>
              <a:rPr dirty="0" err="1"/>
              <a:t>потребление</a:t>
            </a:r>
            <a:r>
              <a:rPr dirty="0"/>
              <a:t> CPU и RAM.</a:t>
            </a:r>
          </a:p>
          <a:p>
            <a:pPr>
              <a:defRPr sz="3600"/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корректно</a:t>
            </a:r>
            <a:r>
              <a:rPr dirty="0"/>
              <a:t> </a:t>
            </a:r>
            <a:r>
              <a:rPr dirty="0" err="1"/>
              <a:t>завершить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.</a:t>
            </a:r>
          </a:p>
          <a:p>
            <a:pPr>
              <a:defRPr sz="3600"/>
            </a:pP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проверять</a:t>
            </a:r>
            <a:r>
              <a:rPr dirty="0"/>
              <a:t> </a:t>
            </a:r>
            <a:r>
              <a:rPr dirty="0" err="1"/>
              <a:t>состояние</a:t>
            </a:r>
            <a:r>
              <a:rPr dirty="0"/>
              <a:t> </a:t>
            </a:r>
            <a:r>
              <a:rPr dirty="0" err="1"/>
              <a:t>служб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Linux: управление процессами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`ps aux` показывает процессы.</a:t>
            </a:r>
          </a:p>
          <a:p>
            <a:pPr>
              <a:defRPr sz="3600"/>
            </a:pPr>
            <a:r>
              <a:t>`top` и `htop` показывают нагрузку.</a:t>
            </a:r>
          </a:p>
          <a:p>
            <a:pPr>
              <a:defRPr sz="3600"/>
            </a:pPr>
            <a:r>
              <a:t>`pgrep` ищет PID по имени.</a:t>
            </a:r>
          </a:p>
          <a:p>
            <a:pPr>
              <a:defRPr sz="3600"/>
            </a:pPr>
            <a:r>
              <a:t>`kill` отправляет сигнал процессу.</a:t>
            </a:r>
          </a:p>
          <a:p>
            <a:pPr>
              <a:defRPr sz="3600"/>
            </a:pPr>
            <a:r>
              <a:t>`systemctl` управляет службами systemd.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Windows: управление процессами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Task Manager показывает процессы и нагрузку.</a:t>
            </a:r>
          </a:p>
          <a:p>
            <a:pPr>
              <a:defRPr sz="3600"/>
            </a:pPr>
            <a:r>
              <a:t>Details показывает PID.</a:t>
            </a:r>
          </a:p>
          <a:p>
            <a:pPr>
              <a:defRPr sz="3600"/>
            </a:pPr>
            <a:r>
              <a:t>Services показывает службы.</a:t>
            </a:r>
          </a:p>
          <a:p>
            <a:pPr>
              <a:defRPr sz="3600"/>
            </a:pPr>
            <a:r>
              <a:t>Resource Monitor показывает ресурсы подробнее.</a:t>
            </a:r>
          </a:p>
          <a:p>
            <a:pPr>
              <a:defRPr sz="3600"/>
            </a:pPr>
            <a:r>
              <a:t>PowerShell позволяет автоматизировать просмотр процессов.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4491" y="182880"/>
            <a:ext cx="6692538" cy="83099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rPr sz="4800" dirty="0"/>
              <a:t>9. </a:t>
            </a:r>
            <a:r>
              <a:rPr sz="4800" dirty="0" err="1"/>
              <a:t>Мониторинг</a:t>
            </a:r>
            <a:r>
              <a:rPr sz="4800" dirty="0"/>
              <a:t> </a:t>
            </a:r>
            <a:r>
              <a:rPr sz="4800" dirty="0" err="1"/>
              <a:t>ресурсов</a:t>
            </a:r>
            <a:endParaRPr sz="4800" dirty="0"/>
          </a:p>
        </p:txBody>
      </p:sp>
      <p:sp>
        <p:nvSpPr>
          <p:cNvPr id="3" name="TextBox 2"/>
          <p:cNvSpPr txBox="1"/>
          <p:nvPr/>
        </p:nvSpPr>
        <p:spPr>
          <a:xfrm>
            <a:off x="457199" y="1489586"/>
            <a:ext cx="11518491" cy="4636893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Мониторинг</a:t>
            </a:r>
            <a:r>
              <a:rPr dirty="0"/>
              <a:t> </a:t>
            </a:r>
            <a:r>
              <a:rPr dirty="0" err="1"/>
              <a:t>помогает</a:t>
            </a:r>
            <a:r>
              <a:rPr dirty="0"/>
              <a:t> </a:t>
            </a:r>
            <a:r>
              <a:rPr dirty="0" err="1"/>
              <a:t>понять</a:t>
            </a:r>
            <a:r>
              <a:rPr dirty="0"/>
              <a:t> </a:t>
            </a:r>
            <a:r>
              <a:rPr dirty="0" err="1"/>
              <a:t>причину</a:t>
            </a:r>
            <a:r>
              <a:rPr dirty="0"/>
              <a:t> </a:t>
            </a:r>
            <a:r>
              <a:rPr dirty="0" err="1"/>
              <a:t>замедления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Нужно</a:t>
            </a:r>
            <a:r>
              <a:rPr dirty="0"/>
              <a:t> </a:t>
            </a:r>
            <a:r>
              <a:rPr dirty="0" err="1"/>
              <a:t>смотреть</a:t>
            </a:r>
            <a:r>
              <a:rPr dirty="0"/>
              <a:t> CPU, RAM, disk и network </a:t>
            </a:r>
            <a:r>
              <a:rPr dirty="0" err="1"/>
              <a:t>вместе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Один</a:t>
            </a:r>
            <a:r>
              <a:rPr dirty="0"/>
              <a:t> </a:t>
            </a:r>
            <a:r>
              <a:rPr dirty="0" err="1"/>
              <a:t>высокий</a:t>
            </a:r>
            <a:r>
              <a:rPr dirty="0"/>
              <a:t> </a:t>
            </a:r>
            <a:r>
              <a:rPr dirty="0" err="1"/>
              <a:t>показатель</a:t>
            </a:r>
            <a:r>
              <a:rPr dirty="0"/>
              <a:t>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всегда</a:t>
            </a:r>
            <a:r>
              <a:rPr dirty="0"/>
              <a:t> </a:t>
            </a:r>
            <a:r>
              <a:rPr dirty="0" err="1"/>
              <a:t>означает</a:t>
            </a:r>
            <a:r>
              <a:rPr dirty="0"/>
              <a:t> </a:t>
            </a:r>
            <a:r>
              <a:rPr dirty="0" err="1"/>
              <a:t>ошибку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понимать</a:t>
            </a:r>
            <a:r>
              <a:rPr dirty="0"/>
              <a:t> </a:t>
            </a:r>
            <a:r>
              <a:rPr dirty="0" err="1"/>
              <a:t>нормальную</a:t>
            </a:r>
            <a:r>
              <a:rPr dirty="0"/>
              <a:t> </a:t>
            </a:r>
            <a:r>
              <a:rPr dirty="0" err="1"/>
              <a:t>нагрузку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Измерение</a:t>
            </a:r>
            <a:r>
              <a:rPr dirty="0"/>
              <a:t> </a:t>
            </a:r>
            <a:r>
              <a:rPr dirty="0" err="1"/>
              <a:t>лучше</a:t>
            </a:r>
            <a:r>
              <a:rPr dirty="0"/>
              <a:t> </a:t>
            </a:r>
            <a:r>
              <a:rPr dirty="0" err="1"/>
              <a:t>предположений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Linux-инструменты 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`top`: процессы и нагрузка.</a:t>
            </a:r>
          </a:p>
          <a:p>
            <a:pPr>
              <a:defRPr sz="3600"/>
            </a:pPr>
            <a:r>
              <a:t>`htop`: интерактивный просмотр.</a:t>
            </a:r>
          </a:p>
          <a:p>
            <a:pPr>
              <a:defRPr sz="3600"/>
            </a:pPr>
            <a:r>
              <a:t>`ps`: снимок списка процессов.</a:t>
            </a:r>
          </a:p>
          <a:p>
            <a:pPr>
              <a:defRPr sz="3600"/>
            </a:pPr>
            <a:r>
              <a:t>`free`: память.</a:t>
            </a:r>
          </a:p>
          <a:p>
            <a:pPr>
              <a:defRPr sz="3600"/>
            </a:pPr>
            <a:r>
              <a:t>`df` и `iostat`: диск и ввод-вывод при наличии.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Windows-инструменты мониторинга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/>
            </a:pPr>
            <a:r>
              <a:t>Task Manager: быстрый обзор.</a:t>
            </a:r>
          </a:p>
          <a:p>
            <a:pPr>
              <a:defRPr sz="3600"/>
            </a:pPr>
            <a:r>
              <a:t>Resource Monitor: память, диск, сеть, CPU.</a:t>
            </a:r>
          </a:p>
          <a:p>
            <a:pPr>
              <a:defRPr sz="3600"/>
            </a:pPr>
            <a:r>
              <a:t>Event Viewer: ошибки и события.</a:t>
            </a:r>
          </a:p>
          <a:p>
            <a:pPr>
              <a:defRPr sz="3600"/>
            </a:pPr>
            <a:r>
              <a:t>Performance Monitor: длительный сбор счетчиков.</a:t>
            </a:r>
          </a:p>
          <a:p>
            <a:pPr>
              <a:defRPr sz="3600"/>
            </a:pPr>
            <a:r>
              <a:t>PowerShell: автоматизация диагностики.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Итоги лекции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Многозадачность</a:t>
            </a:r>
            <a:r>
              <a:rPr dirty="0"/>
              <a:t> </a:t>
            </a:r>
            <a:r>
              <a:rPr dirty="0" err="1"/>
              <a:t>позволяет</a:t>
            </a:r>
            <a:r>
              <a:rPr dirty="0"/>
              <a:t> ОС </a:t>
            </a:r>
            <a:r>
              <a:rPr dirty="0" err="1"/>
              <a:t>выполнять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</a:t>
            </a:r>
            <a:r>
              <a:rPr dirty="0" err="1"/>
              <a:t>задач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PID, </a:t>
            </a:r>
            <a:r>
              <a:rPr dirty="0" err="1"/>
              <a:t>ресурсы</a:t>
            </a:r>
            <a:r>
              <a:rPr dirty="0"/>
              <a:t> и </a:t>
            </a:r>
            <a:r>
              <a:rPr dirty="0" err="1"/>
              <a:t>состояние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Потоки</a:t>
            </a:r>
            <a:r>
              <a:rPr dirty="0"/>
              <a:t> </a:t>
            </a:r>
            <a:r>
              <a:rPr dirty="0" err="1"/>
              <a:t>выполняются</a:t>
            </a:r>
            <a:r>
              <a:rPr dirty="0"/>
              <a:t> </a:t>
            </a:r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Службы</a:t>
            </a:r>
            <a:r>
              <a:rPr dirty="0"/>
              <a:t> </a:t>
            </a:r>
            <a:r>
              <a:rPr dirty="0" err="1"/>
              <a:t>работают</a:t>
            </a:r>
            <a:r>
              <a:rPr dirty="0"/>
              <a:t> в </a:t>
            </a:r>
            <a:r>
              <a:rPr dirty="0" err="1"/>
              <a:t>фоне</a:t>
            </a:r>
            <a:r>
              <a:rPr dirty="0"/>
              <a:t> и </a:t>
            </a:r>
            <a:r>
              <a:rPr dirty="0" err="1"/>
              <a:t>обеспечивают</a:t>
            </a:r>
            <a:r>
              <a:rPr dirty="0"/>
              <a:t> </a:t>
            </a:r>
            <a:r>
              <a:rPr dirty="0" err="1"/>
              <a:t>системные</a:t>
            </a:r>
            <a:r>
              <a:rPr dirty="0"/>
              <a:t> </a:t>
            </a:r>
            <a:r>
              <a:rPr dirty="0" err="1"/>
              <a:t>функции</a:t>
            </a:r>
            <a:r>
              <a:rPr dirty="0"/>
              <a:t>.</a:t>
            </a:r>
          </a:p>
          <a:p>
            <a:pPr marL="571500" indent="-571500">
              <a:buFont typeface="Arial" panose="020B0604020202020204" pitchFamily="34" charset="0"/>
              <a:buChar char="•"/>
              <a:defRPr sz="3600"/>
            </a:pPr>
            <a:r>
              <a:rPr dirty="0" err="1"/>
              <a:t>Администратор</a:t>
            </a:r>
            <a:r>
              <a:rPr dirty="0"/>
              <a:t> </a:t>
            </a:r>
            <a:r>
              <a:rPr dirty="0" err="1"/>
              <a:t>должен</a:t>
            </a:r>
            <a:r>
              <a:rPr dirty="0"/>
              <a:t> </a:t>
            </a:r>
            <a:r>
              <a:rPr dirty="0" err="1"/>
              <a:t>уметь</a:t>
            </a:r>
            <a:r>
              <a:rPr dirty="0"/>
              <a:t> </a:t>
            </a:r>
            <a:r>
              <a:rPr dirty="0" err="1"/>
              <a:t>находить</a:t>
            </a:r>
            <a:r>
              <a:rPr dirty="0"/>
              <a:t> </a:t>
            </a:r>
            <a:r>
              <a:rPr dirty="0" err="1"/>
              <a:t>перегрузку</a:t>
            </a:r>
            <a:r>
              <a:rPr dirty="0"/>
              <a:t> и </a:t>
            </a:r>
            <a:r>
              <a:rPr dirty="0" err="1"/>
              <a:t>управлять</a:t>
            </a:r>
            <a:r>
              <a:rPr dirty="0"/>
              <a:t> </a:t>
            </a:r>
            <a:r>
              <a:rPr dirty="0" err="1"/>
              <a:t>процессами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182880"/>
            <a:ext cx="116128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43764"/>
                </a:solidFill>
              </a:defRPr>
            </a:pPr>
            <a:r>
              <a:t>Контрольные вопросы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1430000" cy="5212080"/>
          </a:xfrm>
          <a:prstGeom prst="rect">
            <a:avLst/>
          </a:prstGeom>
          <a:noFill/>
        </p:spPr>
        <p:txBody>
          <a:bodyPr wrap="square">
            <a:normAutofit fontScale="85000" lnSpcReduction="20000"/>
          </a:bodyPr>
          <a:lstStyle/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чего</a:t>
            </a:r>
            <a:r>
              <a:rPr dirty="0"/>
              <a:t> </a:t>
            </a:r>
            <a:r>
              <a:rPr dirty="0" err="1"/>
              <a:t>операционной</a:t>
            </a:r>
            <a:r>
              <a:rPr dirty="0"/>
              <a:t> </a:t>
            </a:r>
            <a:r>
              <a:rPr dirty="0" err="1"/>
              <a:t>системе</a:t>
            </a:r>
            <a:r>
              <a:rPr dirty="0"/>
              <a:t> </a:t>
            </a:r>
            <a:r>
              <a:rPr dirty="0" err="1"/>
              <a:t>нужна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 и </a:t>
            </a: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ресурсы</a:t>
            </a:r>
            <a:r>
              <a:rPr dirty="0"/>
              <a:t> </a:t>
            </a:r>
            <a:r>
              <a:rPr dirty="0" err="1"/>
              <a:t>он</a:t>
            </a:r>
            <a:r>
              <a:rPr dirty="0"/>
              <a:t> </a:t>
            </a:r>
            <a:r>
              <a:rPr dirty="0" err="1"/>
              <a:t>использует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поток</a:t>
            </a:r>
            <a:r>
              <a:rPr dirty="0"/>
              <a:t> </a:t>
            </a:r>
            <a:r>
              <a:rPr dirty="0" err="1"/>
              <a:t>отличается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современные</a:t>
            </a:r>
            <a:r>
              <a:rPr dirty="0"/>
              <a:t> ОС </a:t>
            </a:r>
            <a:r>
              <a:rPr dirty="0" err="1"/>
              <a:t>используют</a:t>
            </a:r>
            <a:r>
              <a:rPr dirty="0"/>
              <a:t> </a:t>
            </a:r>
            <a:r>
              <a:rPr dirty="0" err="1"/>
              <a:t>вытесняющую</a:t>
            </a:r>
            <a:r>
              <a:rPr dirty="0"/>
              <a:t> </a:t>
            </a:r>
            <a:r>
              <a:rPr dirty="0" err="1"/>
              <a:t>многозадачность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Какие</a:t>
            </a:r>
            <a:r>
              <a:rPr dirty="0"/>
              <a:t> </a:t>
            </a:r>
            <a:r>
              <a:rPr dirty="0" err="1"/>
              <a:t>этапы</a:t>
            </a:r>
            <a:r>
              <a:rPr dirty="0"/>
              <a:t> </a:t>
            </a:r>
            <a:r>
              <a:rPr dirty="0" err="1"/>
              <a:t>входят</a:t>
            </a:r>
            <a:r>
              <a:rPr dirty="0"/>
              <a:t> в </a:t>
            </a:r>
            <a:r>
              <a:rPr dirty="0" err="1"/>
              <a:t>жизненный</a:t>
            </a:r>
            <a:r>
              <a:rPr dirty="0"/>
              <a:t> </a:t>
            </a:r>
            <a:r>
              <a:rPr dirty="0" err="1"/>
              <a:t>цикл</a:t>
            </a:r>
            <a:r>
              <a:rPr dirty="0"/>
              <a:t> </a:t>
            </a:r>
            <a:r>
              <a:rPr dirty="0" err="1"/>
              <a:t>процесса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Что</a:t>
            </a:r>
            <a:r>
              <a:rPr dirty="0"/>
              <a:t> </a:t>
            </a:r>
            <a:r>
              <a:rPr dirty="0" err="1"/>
              <a:t>такое</a:t>
            </a:r>
            <a:r>
              <a:rPr dirty="0"/>
              <a:t> zombie-</a:t>
            </a:r>
            <a:r>
              <a:rPr dirty="0" err="1"/>
              <a:t>процесс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базовом</a:t>
            </a:r>
            <a:r>
              <a:rPr dirty="0"/>
              <a:t> </a:t>
            </a:r>
            <a:r>
              <a:rPr dirty="0" err="1"/>
              <a:t>уровне</a:t>
            </a:r>
            <a:r>
              <a:rPr dirty="0"/>
              <a:t>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Какими</a:t>
            </a:r>
            <a:r>
              <a:rPr dirty="0"/>
              <a:t> </a:t>
            </a:r>
            <a:r>
              <a:rPr dirty="0" err="1"/>
              <a:t>средствами</a:t>
            </a:r>
            <a:r>
              <a:rPr dirty="0"/>
              <a:t> </a:t>
            </a:r>
            <a:r>
              <a:rPr dirty="0" err="1"/>
              <a:t>можно</a:t>
            </a:r>
            <a:r>
              <a:rPr dirty="0"/>
              <a:t> </a:t>
            </a:r>
            <a:r>
              <a:rPr dirty="0" err="1"/>
              <a:t>посмотреть</a:t>
            </a:r>
            <a:r>
              <a:rPr dirty="0"/>
              <a:t> </a:t>
            </a:r>
            <a:r>
              <a:rPr dirty="0" err="1"/>
              <a:t>процессы</a:t>
            </a:r>
            <a:r>
              <a:rPr dirty="0"/>
              <a:t> в Linux и Windows?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определить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который</a:t>
            </a:r>
            <a:r>
              <a:rPr dirty="0"/>
              <a:t> </a:t>
            </a:r>
            <a:r>
              <a:rPr dirty="0" err="1"/>
              <a:t>потребляет</a:t>
            </a:r>
            <a:r>
              <a:rPr dirty="0"/>
              <a:t> </a:t>
            </a:r>
            <a:r>
              <a:rPr dirty="0" err="1"/>
              <a:t>слишком</a:t>
            </a:r>
            <a:r>
              <a:rPr dirty="0"/>
              <a:t> </a:t>
            </a:r>
            <a:r>
              <a:rPr dirty="0" err="1"/>
              <a:t>много</a:t>
            </a:r>
            <a:r>
              <a:rPr dirty="0"/>
              <a:t> CPU </a:t>
            </a:r>
            <a:r>
              <a:rPr dirty="0" err="1"/>
              <a:t>или</a:t>
            </a:r>
            <a:r>
              <a:rPr dirty="0"/>
              <a:t> RAM?</a:t>
            </a:r>
          </a:p>
          <a:p>
            <a:pPr marL="742950" indent="-742950">
              <a:buFont typeface="+mj-lt"/>
              <a:buAutoNum type="arabicPeriod"/>
              <a:defRPr sz="3600"/>
            </a:pPr>
            <a:r>
              <a:rPr dirty="0" err="1"/>
              <a:t>Почему</a:t>
            </a:r>
            <a:r>
              <a:rPr dirty="0"/>
              <a:t> </a:t>
            </a:r>
            <a:r>
              <a:rPr dirty="0" err="1"/>
              <a:t>администратору</a:t>
            </a:r>
            <a:r>
              <a:rPr dirty="0"/>
              <a:t> </a:t>
            </a:r>
            <a:r>
              <a:rPr dirty="0" err="1"/>
              <a:t>важно</a:t>
            </a:r>
            <a:r>
              <a:rPr dirty="0"/>
              <a:t> </a:t>
            </a:r>
            <a:r>
              <a:rPr dirty="0" err="1"/>
              <a:t>различать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dirty="0"/>
              <a:t>, </a:t>
            </a:r>
            <a:r>
              <a:rPr dirty="0" err="1"/>
              <a:t>поток</a:t>
            </a:r>
            <a:r>
              <a:rPr dirty="0"/>
              <a:t> и </a:t>
            </a:r>
            <a:r>
              <a:rPr dirty="0" err="1"/>
              <a:t>службу</a:t>
            </a:r>
            <a:r>
              <a:rPr dirty="0"/>
              <a:t>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1221</Words>
  <Application>Microsoft Office PowerPoint</Application>
  <PresentationFormat>Широкоэкранный</PresentationFormat>
  <Paragraphs>183</Paragraphs>
  <Slides>31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31</vt:i4>
      </vt:variant>
    </vt:vector>
  </HeadingPairs>
  <TitlesOfParts>
    <vt:vector size="34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user</cp:lastModifiedBy>
  <cp:revision>6</cp:revision>
  <dcterms:created xsi:type="dcterms:W3CDTF">2013-01-27T09:14:16Z</dcterms:created>
  <dcterms:modified xsi:type="dcterms:W3CDTF">2026-06-28T11:22:38Z</dcterms:modified>
  <cp:category/>
</cp:coreProperties>
</file>