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8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5793" y="1082531"/>
            <a:ext cx="11580413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Лекция</a:t>
            </a:r>
            <a:r>
              <a:rPr sz="4800" dirty="0"/>
              <a:t> 7. </a:t>
            </a:r>
            <a:endParaRPr lang="ru-RU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Оперативная</a:t>
            </a:r>
            <a:r>
              <a:rPr sz="4800" dirty="0"/>
              <a:t> </a:t>
            </a:r>
            <a:r>
              <a:rPr sz="4800" dirty="0" err="1"/>
              <a:t>память</a:t>
            </a:r>
            <a:r>
              <a:rPr sz="4800" dirty="0"/>
              <a:t>, </a:t>
            </a:r>
            <a:endParaRPr lang="ru-RU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виртуальная</a:t>
            </a:r>
            <a:r>
              <a:rPr sz="4800" dirty="0"/>
              <a:t> </a:t>
            </a:r>
            <a:r>
              <a:rPr sz="4800" dirty="0" err="1"/>
              <a:t>память</a:t>
            </a:r>
            <a:r>
              <a:rPr sz="4800" dirty="0"/>
              <a:t> и </a:t>
            </a:r>
            <a:r>
              <a:rPr sz="4800" dirty="0" err="1"/>
              <a:t>оценка</a:t>
            </a:r>
            <a:r>
              <a:rPr sz="4800" dirty="0"/>
              <a:t> </a:t>
            </a:r>
            <a:r>
              <a:rPr sz="4800" dirty="0" err="1"/>
              <a:t>нагрузки</a:t>
            </a:r>
            <a:r>
              <a:rPr sz="4800" dirty="0"/>
              <a:t> ОС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оперативной</a:t>
            </a:r>
            <a:r>
              <a:rPr dirty="0"/>
              <a:t> и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Разобрать</a:t>
            </a:r>
            <a:r>
              <a:rPr dirty="0"/>
              <a:t> </a:t>
            </a:r>
            <a:r>
              <a:rPr dirty="0" err="1"/>
              <a:t>влияние</a:t>
            </a:r>
            <a:r>
              <a:rPr dirty="0"/>
              <a:t> </a:t>
            </a:r>
            <a:r>
              <a:rPr dirty="0" err="1"/>
              <a:t>разрядности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доступный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реального</a:t>
            </a:r>
            <a:r>
              <a:rPr dirty="0"/>
              <a:t> и </a:t>
            </a:r>
            <a:r>
              <a:rPr dirty="0" err="1"/>
              <a:t>защищенного</a:t>
            </a:r>
            <a:r>
              <a:rPr dirty="0"/>
              <a:t> </a:t>
            </a:r>
            <a:r>
              <a:rPr dirty="0" err="1"/>
              <a:t>режима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обзорном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Различать</a:t>
            </a:r>
            <a:r>
              <a:rPr dirty="0"/>
              <a:t> RAM, swap и </a:t>
            </a:r>
            <a:r>
              <a:rPr dirty="0" err="1"/>
              <a:t>pagefile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Научиться</a:t>
            </a:r>
            <a:r>
              <a:rPr dirty="0"/>
              <a:t> </a:t>
            </a:r>
            <a:r>
              <a:rPr dirty="0" err="1"/>
              <a:t>оценивать</a:t>
            </a:r>
            <a:r>
              <a:rPr dirty="0"/>
              <a:t> </a:t>
            </a:r>
            <a:r>
              <a:rPr dirty="0" err="1"/>
              <a:t>загрузку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в Linux и Windows.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760720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оперативной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и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в </a:t>
            </a:r>
            <a:r>
              <a:rPr dirty="0" err="1"/>
              <a:t>работе</a:t>
            </a:r>
            <a:r>
              <a:rPr dirty="0"/>
              <a:t> </a:t>
            </a:r>
            <a:r>
              <a:rPr dirty="0" err="1"/>
              <a:t>операционной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Разрядность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и </a:t>
            </a:r>
            <a:r>
              <a:rPr dirty="0" err="1"/>
              <a:t>доступный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в 32-битных и 64-битных </a:t>
            </a:r>
            <a:r>
              <a:rPr dirty="0" err="1"/>
              <a:t>системах</a:t>
            </a:r>
            <a:r>
              <a:rPr dirty="0"/>
              <a:t>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Режимы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процессора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</a:t>
            </a:r>
            <a:r>
              <a:rPr dirty="0" err="1"/>
              <a:t>обзора</a:t>
            </a:r>
            <a:r>
              <a:rPr dirty="0"/>
              <a:t>: </a:t>
            </a:r>
            <a:r>
              <a:rPr dirty="0" err="1"/>
              <a:t>реальный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и </a:t>
            </a:r>
            <a:r>
              <a:rPr dirty="0" err="1"/>
              <a:t>защищенный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: </a:t>
            </a:r>
            <a:r>
              <a:rPr dirty="0" err="1"/>
              <a:t>назначение</a:t>
            </a:r>
            <a:r>
              <a:rPr dirty="0"/>
              <a:t>, </a:t>
            </a:r>
            <a:r>
              <a:rPr dirty="0" err="1"/>
              <a:t>изоляция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 и </a:t>
            </a:r>
            <a:r>
              <a:rPr dirty="0" err="1"/>
              <a:t>связь</a:t>
            </a:r>
            <a:r>
              <a:rPr dirty="0"/>
              <a:t> с </a:t>
            </a:r>
            <a:r>
              <a:rPr dirty="0" err="1"/>
              <a:t>физической</a:t>
            </a:r>
            <a:r>
              <a:rPr dirty="0"/>
              <a:t> RAM.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/>
              <a:t>Swap в Linux и </a:t>
            </a:r>
            <a:r>
              <a:rPr dirty="0" err="1"/>
              <a:t>pagefile</a:t>
            </a:r>
            <a:r>
              <a:rPr dirty="0"/>
              <a:t> в Windows: </a:t>
            </a:r>
            <a:r>
              <a:rPr dirty="0" err="1"/>
              <a:t>назначение</a:t>
            </a:r>
            <a:r>
              <a:rPr dirty="0"/>
              <a:t>, </a:t>
            </a:r>
            <a:r>
              <a:rPr dirty="0" err="1"/>
              <a:t>возможности</a:t>
            </a:r>
            <a:r>
              <a:rPr dirty="0"/>
              <a:t> и </a:t>
            </a:r>
            <a:r>
              <a:rPr dirty="0" err="1"/>
              <a:t>ограничения</a:t>
            </a:r>
            <a:r>
              <a:rPr dirty="0"/>
              <a:t>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Влияние</a:t>
            </a:r>
            <a:r>
              <a:rPr dirty="0"/>
              <a:t> </a:t>
            </a:r>
            <a:r>
              <a:rPr dirty="0" err="1"/>
              <a:t>нехватки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производительность</a:t>
            </a:r>
            <a:r>
              <a:rPr dirty="0"/>
              <a:t> ОС, </a:t>
            </a:r>
            <a:r>
              <a:rPr dirty="0" err="1"/>
              <a:t>приложений</a:t>
            </a:r>
            <a:r>
              <a:rPr dirty="0"/>
              <a:t> и </a:t>
            </a:r>
            <a:r>
              <a:rPr dirty="0" err="1"/>
              <a:t>служб</a:t>
            </a:r>
            <a:r>
              <a:rPr dirty="0"/>
              <a:t>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в Linux: free, top, </a:t>
            </a:r>
            <a:r>
              <a:rPr dirty="0" err="1"/>
              <a:t>htop</a:t>
            </a:r>
            <a:r>
              <a:rPr dirty="0"/>
              <a:t>, </a:t>
            </a:r>
            <a:r>
              <a:rPr dirty="0" err="1"/>
              <a:t>ps</a:t>
            </a:r>
            <a:r>
              <a:rPr dirty="0"/>
              <a:t>, </a:t>
            </a:r>
            <a:r>
              <a:rPr dirty="0" err="1"/>
              <a:t>swapon</a:t>
            </a:r>
            <a:r>
              <a:rPr dirty="0"/>
              <a:t>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загрузки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в Windows: Task Manager, Resource Monitor, </a:t>
            </a:r>
            <a:r>
              <a:rPr dirty="0" err="1"/>
              <a:t>pagefile</a:t>
            </a:r>
            <a:r>
              <a:rPr dirty="0"/>
              <a:t>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Практическое</a:t>
            </a:r>
            <a:r>
              <a:rPr dirty="0"/>
              <a:t> </a:t>
            </a:r>
            <a:r>
              <a:rPr dirty="0" err="1"/>
              <a:t>значение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: </a:t>
            </a:r>
            <a:r>
              <a:rPr dirty="0" err="1"/>
              <a:t>определение</a:t>
            </a:r>
            <a:r>
              <a:rPr dirty="0"/>
              <a:t> </a:t>
            </a:r>
            <a:r>
              <a:rPr dirty="0" err="1"/>
              <a:t>достаточности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 ВМ.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термины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RAM — Random Access Memory, </a:t>
            </a:r>
            <a:r>
              <a:rPr dirty="0" err="1"/>
              <a:t>оперативная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Virtual memory — </a:t>
            </a: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, </a:t>
            </a:r>
            <a:r>
              <a:rPr dirty="0" err="1"/>
              <a:t>механизм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адресным</a:t>
            </a:r>
            <a:r>
              <a:rPr dirty="0"/>
              <a:t> </a:t>
            </a:r>
            <a:r>
              <a:rPr dirty="0" err="1"/>
              <a:t>пространством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Swap — </a:t>
            </a:r>
            <a:r>
              <a:rPr dirty="0" err="1"/>
              <a:t>область</a:t>
            </a:r>
            <a:r>
              <a:rPr dirty="0"/>
              <a:t> </a:t>
            </a:r>
            <a:r>
              <a:rPr dirty="0" err="1"/>
              <a:t>подкачки</a:t>
            </a:r>
            <a:r>
              <a:rPr dirty="0"/>
              <a:t> в Linux.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Pagefile</a:t>
            </a:r>
            <a:r>
              <a:rPr dirty="0"/>
              <a:t> —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подкачки</a:t>
            </a:r>
            <a:r>
              <a:rPr dirty="0"/>
              <a:t>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32-bit и 64-bit — </a:t>
            </a:r>
            <a:r>
              <a:rPr dirty="0" err="1"/>
              <a:t>разрядность</a:t>
            </a:r>
            <a:r>
              <a:rPr dirty="0"/>
              <a:t> </a:t>
            </a:r>
            <a:r>
              <a:rPr dirty="0" err="1"/>
              <a:t>архитектуры</a:t>
            </a:r>
            <a:r>
              <a:rPr dirty="0"/>
              <a:t> и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Process — </a:t>
            </a:r>
            <a:r>
              <a:rPr dirty="0" err="1"/>
              <a:t>процесс</a:t>
            </a:r>
            <a:r>
              <a:rPr dirty="0"/>
              <a:t>, </a:t>
            </a:r>
            <a:r>
              <a:rPr dirty="0" err="1"/>
              <a:t>выполняемый</a:t>
            </a:r>
            <a:r>
              <a:rPr dirty="0"/>
              <a:t> </a:t>
            </a:r>
            <a:r>
              <a:rPr dirty="0" err="1"/>
              <a:t>экземпляр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4139" y="182880"/>
            <a:ext cx="973324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1. </a:t>
            </a:r>
            <a:r>
              <a:rPr sz="4800" dirty="0" err="1"/>
              <a:t>Назначение</a:t>
            </a:r>
            <a:r>
              <a:rPr sz="4800" dirty="0"/>
              <a:t> </a:t>
            </a:r>
            <a:r>
              <a:rPr sz="4800" dirty="0" err="1"/>
              <a:t>оперативной</a:t>
            </a:r>
            <a:r>
              <a:rPr sz="4800" dirty="0"/>
              <a:t> </a:t>
            </a:r>
            <a:r>
              <a:rPr sz="4800" dirty="0" err="1"/>
              <a:t>памяти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289560" y="1312606"/>
            <a:ext cx="1161288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RAM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, с </a:t>
            </a:r>
            <a:r>
              <a:rPr dirty="0" err="1"/>
              <a:t>которыми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сейчас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RAM </a:t>
            </a:r>
            <a:r>
              <a:rPr dirty="0" err="1"/>
              <a:t>находятся</a:t>
            </a:r>
            <a:r>
              <a:rPr dirty="0"/>
              <a:t> </a:t>
            </a:r>
            <a:r>
              <a:rPr dirty="0" err="1"/>
              <a:t>части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, </a:t>
            </a:r>
            <a:r>
              <a:rPr dirty="0" err="1"/>
              <a:t>приложений</a:t>
            </a:r>
            <a:r>
              <a:rPr dirty="0"/>
              <a:t>, </a:t>
            </a:r>
            <a:r>
              <a:rPr dirty="0" err="1"/>
              <a:t>служб</a:t>
            </a:r>
            <a:r>
              <a:rPr dirty="0"/>
              <a:t> и </a:t>
            </a:r>
            <a:r>
              <a:rPr dirty="0" err="1"/>
              <a:t>кэша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RAM </a:t>
            </a:r>
            <a:r>
              <a:rPr dirty="0" err="1"/>
              <a:t>быстрее</a:t>
            </a:r>
            <a:r>
              <a:rPr dirty="0"/>
              <a:t> </a:t>
            </a:r>
            <a:r>
              <a:rPr dirty="0" err="1"/>
              <a:t>диска</a:t>
            </a:r>
            <a:r>
              <a:rPr dirty="0"/>
              <a:t>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активные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держат</a:t>
            </a:r>
            <a:r>
              <a:rPr dirty="0"/>
              <a:t> в </a:t>
            </a:r>
            <a:r>
              <a:rPr dirty="0" err="1"/>
              <a:t>памяти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выключении</a:t>
            </a:r>
            <a:r>
              <a:rPr dirty="0"/>
              <a:t> </a:t>
            </a:r>
            <a:r>
              <a:rPr dirty="0" err="1"/>
              <a:t>питания</a:t>
            </a:r>
            <a:r>
              <a:rPr dirty="0"/>
              <a:t> </a:t>
            </a:r>
            <a:r>
              <a:rPr dirty="0" err="1"/>
              <a:t>содержимое</a:t>
            </a:r>
            <a:r>
              <a:rPr dirty="0"/>
              <a:t> RAM </a:t>
            </a:r>
            <a:r>
              <a:rPr dirty="0" err="1"/>
              <a:t>исчезает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Нехватка</a:t>
            </a:r>
            <a:r>
              <a:rPr dirty="0"/>
              <a:t> RAM </a:t>
            </a:r>
            <a:r>
              <a:rPr dirty="0" err="1"/>
              <a:t>сразу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отзывчивость</a:t>
            </a:r>
            <a:r>
              <a:rPr dirty="0"/>
              <a:t> ОС.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хранится в 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Код</a:t>
            </a:r>
            <a:r>
              <a:rPr dirty="0"/>
              <a:t> и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запущенных</a:t>
            </a:r>
            <a:r>
              <a:rPr dirty="0"/>
              <a:t> </a:t>
            </a:r>
            <a:r>
              <a:rPr dirty="0" err="1"/>
              <a:t>программ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</a:t>
            </a:r>
            <a:r>
              <a:rPr dirty="0" err="1"/>
              <a:t>операционной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Буферы</a:t>
            </a:r>
            <a:r>
              <a:rPr dirty="0"/>
              <a:t> </a:t>
            </a:r>
            <a:r>
              <a:rPr dirty="0" err="1"/>
              <a:t>ввода-вывода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Файловый</a:t>
            </a:r>
            <a:r>
              <a:rPr dirty="0"/>
              <a:t> </a:t>
            </a:r>
            <a:r>
              <a:rPr dirty="0" err="1"/>
              <a:t>кэш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 и </a:t>
            </a:r>
            <a:r>
              <a:rPr dirty="0" err="1"/>
              <a:t>фоновых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RAM и файловый кэш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свободную</a:t>
            </a:r>
            <a:r>
              <a:rPr dirty="0"/>
              <a:t> RAM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ускорения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к </a:t>
            </a:r>
            <a:r>
              <a:rPr dirty="0" err="1"/>
              <a:t>файлам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Кэш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выглядеть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занятая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проблема</a:t>
            </a:r>
            <a:r>
              <a:rPr dirty="0"/>
              <a:t>: </a:t>
            </a:r>
            <a:r>
              <a:rPr dirty="0" err="1"/>
              <a:t>кэш</a:t>
            </a:r>
            <a:r>
              <a:rPr dirty="0"/>
              <a:t> </a:t>
            </a:r>
            <a:r>
              <a:rPr dirty="0" err="1"/>
              <a:t>освобождается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необходимости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Linux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отличать</a:t>
            </a:r>
            <a:r>
              <a:rPr dirty="0"/>
              <a:t> used, free, buff/cache и available.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Windows </a:t>
            </a:r>
            <a:r>
              <a:rPr dirty="0" err="1"/>
              <a:t>похожую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Standby memory.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92231" y="182880"/>
            <a:ext cx="657705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2. </a:t>
            </a:r>
            <a:r>
              <a:rPr sz="4800" dirty="0" err="1"/>
              <a:t>Разрядность</a:t>
            </a:r>
            <a:r>
              <a:rPr sz="4800" dirty="0"/>
              <a:t> </a:t>
            </a:r>
            <a:r>
              <a:rPr sz="4800" dirty="0" err="1"/>
              <a:t>системы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1238865"/>
            <a:ext cx="1138575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Разрядность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размер</a:t>
            </a:r>
            <a:r>
              <a:rPr dirty="0"/>
              <a:t> </a:t>
            </a:r>
            <a:r>
              <a:rPr dirty="0" err="1"/>
              <a:t>адресного</a:t>
            </a:r>
            <a:r>
              <a:rPr dirty="0"/>
              <a:t> </a:t>
            </a:r>
            <a:r>
              <a:rPr dirty="0" err="1"/>
              <a:t>пространства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32-битная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ограничена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доступному</a:t>
            </a:r>
            <a:r>
              <a:rPr dirty="0"/>
              <a:t> </a:t>
            </a:r>
            <a:r>
              <a:rPr dirty="0" err="1"/>
              <a:t>объему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64-битная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адресовать</a:t>
            </a:r>
            <a:r>
              <a:rPr dirty="0"/>
              <a:t> </a:t>
            </a:r>
            <a:r>
              <a:rPr dirty="0" err="1"/>
              <a:t>значительно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Современные</a:t>
            </a:r>
            <a:r>
              <a:rPr dirty="0"/>
              <a:t> </a:t>
            </a:r>
            <a:r>
              <a:rPr dirty="0" err="1"/>
              <a:t>серверы</a:t>
            </a:r>
            <a:r>
              <a:rPr dirty="0"/>
              <a:t> и </a:t>
            </a:r>
            <a:r>
              <a:rPr dirty="0" err="1"/>
              <a:t>рабочие</a:t>
            </a:r>
            <a:r>
              <a:rPr dirty="0"/>
              <a:t> </a:t>
            </a:r>
            <a:r>
              <a:rPr dirty="0" err="1"/>
              <a:t>станции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64-bit.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Разрядность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поддерживаться</a:t>
            </a:r>
            <a:r>
              <a:rPr dirty="0"/>
              <a:t> CPU и ОС.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32-битные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Используют</a:t>
            </a:r>
            <a:r>
              <a:rPr dirty="0"/>
              <a:t> 32-битное </a:t>
            </a:r>
            <a:r>
              <a:rPr dirty="0" err="1"/>
              <a:t>адресное</a:t>
            </a:r>
            <a:r>
              <a:rPr dirty="0"/>
              <a:t> </a:t>
            </a:r>
            <a:r>
              <a:rPr dirty="0" err="1"/>
              <a:t>пространство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Практически</a:t>
            </a:r>
            <a:r>
              <a:rPr dirty="0"/>
              <a:t> </a:t>
            </a:r>
            <a:r>
              <a:rPr dirty="0" err="1"/>
              <a:t>ограничены</a:t>
            </a:r>
            <a:r>
              <a:rPr dirty="0"/>
              <a:t> </a:t>
            </a:r>
            <a:r>
              <a:rPr dirty="0" err="1"/>
              <a:t>несколькими</a:t>
            </a:r>
            <a:r>
              <a:rPr dirty="0"/>
              <a:t> </a:t>
            </a:r>
            <a:r>
              <a:rPr dirty="0" err="1"/>
              <a:t>гигабайтами</a:t>
            </a:r>
            <a:r>
              <a:rPr dirty="0"/>
              <a:t> RAM.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встречаться</a:t>
            </a:r>
            <a:r>
              <a:rPr dirty="0"/>
              <a:t> в </a:t>
            </a:r>
            <a:r>
              <a:rPr dirty="0" err="1"/>
              <a:t>старых</a:t>
            </a:r>
            <a:r>
              <a:rPr dirty="0"/>
              <a:t> </a:t>
            </a:r>
            <a:r>
              <a:rPr dirty="0" err="1"/>
              <a:t>системах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подходят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современных</a:t>
            </a:r>
            <a:r>
              <a:rPr dirty="0"/>
              <a:t> </a:t>
            </a:r>
            <a:r>
              <a:rPr dirty="0" err="1"/>
              <a:t>серверных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диагностике</a:t>
            </a:r>
            <a:r>
              <a:rPr dirty="0"/>
              <a:t> </a:t>
            </a:r>
            <a:r>
              <a:rPr dirty="0" err="1"/>
              <a:t>старого</a:t>
            </a:r>
            <a:r>
              <a:rPr dirty="0"/>
              <a:t> </a:t>
            </a:r>
            <a:r>
              <a:rPr dirty="0" err="1"/>
              <a:t>оборудования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64-битные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61288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Используют</a:t>
            </a:r>
            <a:r>
              <a:rPr dirty="0"/>
              <a:t> 64-битную </a:t>
            </a:r>
            <a:r>
              <a:rPr dirty="0" err="1"/>
              <a:t>архитектуру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Поддерживают</a:t>
            </a:r>
            <a:r>
              <a:rPr dirty="0"/>
              <a:t> </a:t>
            </a:r>
            <a:r>
              <a:rPr dirty="0" err="1"/>
              <a:t>большие</a:t>
            </a:r>
            <a:r>
              <a:rPr dirty="0"/>
              <a:t> </a:t>
            </a:r>
            <a:r>
              <a:rPr dirty="0" err="1"/>
              <a:t>объемы</a:t>
            </a:r>
            <a:r>
              <a:rPr dirty="0"/>
              <a:t> RAM.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подходят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, </a:t>
            </a:r>
            <a:r>
              <a:rPr dirty="0" err="1"/>
              <a:t>виртуализации</a:t>
            </a:r>
            <a:r>
              <a:rPr dirty="0"/>
              <a:t> и </a:t>
            </a:r>
            <a:r>
              <a:rPr dirty="0" err="1"/>
              <a:t>современных</a:t>
            </a:r>
            <a:r>
              <a:rPr dirty="0"/>
              <a:t> </a:t>
            </a:r>
            <a:r>
              <a:rPr dirty="0" err="1"/>
              <a:t>приложений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Требуют</a:t>
            </a:r>
            <a:r>
              <a:rPr dirty="0"/>
              <a:t> 64-битного CPU и 64-битной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Сегодня</a:t>
            </a:r>
            <a:r>
              <a:rPr dirty="0"/>
              <a:t> </a:t>
            </a:r>
            <a:r>
              <a:rPr dirty="0" err="1"/>
              <a:t>являются</a:t>
            </a:r>
            <a:r>
              <a:rPr dirty="0"/>
              <a:t> </a:t>
            </a:r>
            <a:r>
              <a:rPr dirty="0" err="1"/>
              <a:t>стандартом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профессиональной</a:t>
            </a:r>
            <a:r>
              <a:rPr dirty="0"/>
              <a:t> </a:t>
            </a:r>
            <a:r>
              <a:rPr dirty="0" err="1"/>
              <a:t>эксплуатации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Разрядность</a:t>
            </a:r>
            <a:r>
              <a:rPr dirty="0"/>
              <a:t> и </a:t>
            </a:r>
            <a:r>
              <a:rPr dirty="0" err="1"/>
              <a:t>память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9D7E17-987D-CB90-8416-CFFA93317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7631" y="182880"/>
            <a:ext cx="974625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3. </a:t>
            </a:r>
            <a:r>
              <a:rPr sz="4800" dirty="0" err="1"/>
              <a:t>Реальный</a:t>
            </a:r>
            <a:r>
              <a:rPr sz="4800" dirty="0"/>
              <a:t> и </a:t>
            </a:r>
            <a:r>
              <a:rPr sz="4800" dirty="0" err="1"/>
              <a:t>защищенный</a:t>
            </a:r>
            <a:r>
              <a:rPr sz="4800" dirty="0"/>
              <a:t> </a:t>
            </a:r>
            <a:r>
              <a:rPr sz="4800" dirty="0" err="1"/>
              <a:t>режим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03122" y="1194619"/>
            <a:ext cx="1138575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процессора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к </a:t>
            </a:r>
            <a:r>
              <a:rPr dirty="0" err="1"/>
              <a:t>памяти</a:t>
            </a:r>
            <a:r>
              <a:rPr dirty="0"/>
              <a:t> и </a:t>
            </a:r>
            <a:r>
              <a:rPr dirty="0" err="1"/>
              <a:t>ресурсам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Реальный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важен</a:t>
            </a:r>
            <a:r>
              <a:rPr dirty="0"/>
              <a:t> </a:t>
            </a:r>
            <a:r>
              <a:rPr dirty="0" err="1"/>
              <a:t>исторически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совместимости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Защищенный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</a:t>
            </a:r>
            <a:r>
              <a:rPr dirty="0" err="1"/>
              <a:t>стал</a:t>
            </a:r>
            <a:r>
              <a:rPr dirty="0"/>
              <a:t> </a:t>
            </a:r>
            <a:r>
              <a:rPr dirty="0" err="1"/>
              <a:t>основой</a:t>
            </a:r>
            <a:r>
              <a:rPr dirty="0"/>
              <a:t> </a:t>
            </a:r>
            <a:r>
              <a:rPr dirty="0" err="1"/>
              <a:t>современных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Администратору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идею</a:t>
            </a:r>
            <a:r>
              <a:rPr dirty="0"/>
              <a:t> </a:t>
            </a:r>
            <a:r>
              <a:rPr dirty="0" err="1"/>
              <a:t>изоляции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низкоуровневую</a:t>
            </a:r>
            <a:r>
              <a:rPr dirty="0"/>
              <a:t> </a:t>
            </a:r>
            <a:r>
              <a:rPr dirty="0" err="1"/>
              <a:t>реализацию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Эта</a:t>
            </a:r>
            <a:r>
              <a:rPr dirty="0"/>
              <a:t> </a:t>
            </a:r>
            <a:r>
              <a:rPr dirty="0" err="1"/>
              <a:t>тема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</a:t>
            </a:r>
            <a:r>
              <a:rPr dirty="0" err="1"/>
              <a:t>отделены</a:t>
            </a:r>
            <a:r>
              <a:rPr dirty="0"/>
              <a:t> </a:t>
            </a:r>
            <a:r>
              <a:rPr dirty="0" err="1"/>
              <a:t>друг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друга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Реальный режим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61288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Исторический</a:t>
            </a:r>
            <a:r>
              <a:rPr dirty="0"/>
              <a:t> </a:t>
            </a:r>
            <a:r>
              <a:rPr dirty="0" err="1"/>
              <a:t>режим</a:t>
            </a:r>
            <a:r>
              <a:rPr dirty="0"/>
              <a:t> x86-процессоров.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Использовался</a:t>
            </a:r>
            <a:r>
              <a:rPr dirty="0"/>
              <a:t> в </a:t>
            </a:r>
            <a:r>
              <a:rPr dirty="0" err="1"/>
              <a:t>ранних</a:t>
            </a:r>
            <a:r>
              <a:rPr dirty="0"/>
              <a:t> </a:t>
            </a:r>
            <a:r>
              <a:rPr dirty="0" err="1"/>
              <a:t>системах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MS-DOS.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дает</a:t>
            </a:r>
            <a:r>
              <a:rPr dirty="0"/>
              <a:t> </a:t>
            </a:r>
            <a:r>
              <a:rPr dirty="0" err="1"/>
              <a:t>полноценной</a:t>
            </a:r>
            <a:r>
              <a:rPr dirty="0"/>
              <a:t> </a:t>
            </a:r>
            <a:r>
              <a:rPr dirty="0" err="1"/>
              <a:t>защиты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программами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могла</a:t>
            </a:r>
            <a:r>
              <a:rPr dirty="0"/>
              <a:t> </a:t>
            </a:r>
            <a:r>
              <a:rPr dirty="0" err="1"/>
              <a:t>легче</a:t>
            </a:r>
            <a:r>
              <a:rPr dirty="0"/>
              <a:t> </a:t>
            </a:r>
            <a:r>
              <a:rPr dirty="0" err="1"/>
              <a:t>повредить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lang="ru-RU" dirty="0"/>
              <a:t>данной</a:t>
            </a:r>
            <a:r>
              <a:rPr dirty="0"/>
              <a:t> </a:t>
            </a:r>
            <a:r>
              <a:rPr dirty="0" err="1"/>
              <a:t>лекции</a:t>
            </a:r>
            <a:r>
              <a:rPr dirty="0"/>
              <a:t> </a:t>
            </a:r>
            <a:r>
              <a:rPr dirty="0" err="1"/>
              <a:t>рассматривается</a:t>
            </a:r>
            <a:r>
              <a:rPr dirty="0"/>
              <a:t> </a:t>
            </a:r>
            <a:r>
              <a:rPr dirty="0" err="1"/>
              <a:t>обзорно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Защищенный режим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65123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разделять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и </a:t>
            </a:r>
            <a:r>
              <a:rPr dirty="0" err="1"/>
              <a:t>уровни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современными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изолировать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Поддерживает</a:t>
            </a:r>
            <a:r>
              <a:rPr dirty="0"/>
              <a:t> </a:t>
            </a:r>
            <a:r>
              <a:rPr dirty="0" err="1"/>
              <a:t>механизмы</a:t>
            </a:r>
            <a:r>
              <a:rPr dirty="0"/>
              <a:t>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основой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безопасного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</a:t>
            </a:r>
            <a:r>
              <a:rPr dirty="0" err="1"/>
              <a:t>программ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33904" y="182880"/>
            <a:ext cx="629371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4. </a:t>
            </a:r>
            <a:r>
              <a:rPr sz="4800" dirty="0" err="1"/>
              <a:t>Виртуальная</a:t>
            </a:r>
            <a:r>
              <a:rPr sz="4800" dirty="0"/>
              <a:t> </a:t>
            </a:r>
            <a:r>
              <a:rPr sz="4800" dirty="0" err="1"/>
              <a:t>память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1253613"/>
            <a:ext cx="1156273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— </a:t>
            </a:r>
            <a:r>
              <a:rPr dirty="0" err="1"/>
              <a:t>механизм</a:t>
            </a:r>
            <a:r>
              <a:rPr dirty="0"/>
              <a:t>,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котором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свое</a:t>
            </a:r>
            <a:r>
              <a:rPr dirty="0"/>
              <a:t> </a:t>
            </a:r>
            <a:r>
              <a:rPr dirty="0" err="1"/>
              <a:t>адресное</a:t>
            </a:r>
            <a:r>
              <a:rPr dirty="0"/>
              <a:t> </a:t>
            </a:r>
            <a:r>
              <a:rPr dirty="0" err="1"/>
              <a:t>пространство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 </a:t>
            </a:r>
            <a:r>
              <a:rPr dirty="0" err="1"/>
              <a:t>со</a:t>
            </a:r>
            <a:r>
              <a:rPr dirty="0"/>
              <a:t> </a:t>
            </a:r>
            <a:r>
              <a:rPr dirty="0" err="1"/>
              <a:t>всей</a:t>
            </a:r>
            <a:r>
              <a:rPr dirty="0"/>
              <a:t> </a:t>
            </a:r>
            <a:r>
              <a:rPr dirty="0" err="1"/>
              <a:t>физической</a:t>
            </a:r>
            <a:r>
              <a:rPr dirty="0"/>
              <a:t> RAM.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отображает</a:t>
            </a:r>
            <a:r>
              <a:rPr dirty="0"/>
              <a:t> </a:t>
            </a:r>
            <a:r>
              <a:rPr dirty="0" err="1"/>
              <a:t>виртуальные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физическую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повышает</a:t>
            </a:r>
            <a:r>
              <a:rPr dirty="0"/>
              <a:t> </a:t>
            </a:r>
            <a:r>
              <a:rPr dirty="0" err="1"/>
              <a:t>изоляцию</a:t>
            </a:r>
            <a:r>
              <a:rPr dirty="0"/>
              <a:t> и </a:t>
            </a:r>
            <a:r>
              <a:rPr dirty="0" err="1"/>
              <a:t>управляемость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swap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pagefile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Зачем нужна виртуальная память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Изолировать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</a:t>
            </a:r>
            <a:r>
              <a:rPr dirty="0" err="1"/>
              <a:t>друг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друга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Защитить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ядра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пользовательских</a:t>
            </a:r>
            <a:r>
              <a:rPr dirty="0"/>
              <a:t> </a:t>
            </a:r>
            <a:r>
              <a:rPr dirty="0" err="1"/>
              <a:t>программ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Упростить</a:t>
            </a:r>
            <a:r>
              <a:rPr dirty="0"/>
              <a:t> </a:t>
            </a:r>
            <a:r>
              <a:rPr dirty="0" err="1"/>
              <a:t>выделение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</a:t>
            </a:r>
            <a:r>
              <a:rPr dirty="0" err="1"/>
              <a:t>приложениям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эффективнее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Поддерживать</a:t>
            </a:r>
            <a:r>
              <a:rPr dirty="0"/>
              <a:t> </a:t>
            </a:r>
            <a:r>
              <a:rPr dirty="0" err="1"/>
              <a:t>подкачку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нехватке</a:t>
            </a:r>
            <a:r>
              <a:rPr dirty="0"/>
              <a:t> RAM.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Виртуальная</a:t>
            </a:r>
            <a:r>
              <a:rPr dirty="0"/>
              <a:t> и </a:t>
            </a:r>
            <a:r>
              <a:rPr dirty="0" err="1"/>
              <a:t>физическая</a:t>
            </a:r>
            <a:r>
              <a:rPr dirty="0"/>
              <a:t> </a:t>
            </a:r>
            <a:r>
              <a:rPr dirty="0" err="1"/>
              <a:t>память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0696BC-CDEA-40D8-4548-777281DD8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5. Swap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Swap — </a:t>
            </a:r>
            <a:r>
              <a:rPr dirty="0" err="1"/>
              <a:t>область</a:t>
            </a:r>
            <a:r>
              <a:rPr dirty="0"/>
              <a:t> </a:t>
            </a:r>
            <a:r>
              <a:rPr dirty="0" err="1"/>
              <a:t>подкачки</a:t>
            </a:r>
            <a:r>
              <a:rPr dirty="0"/>
              <a:t> в Linux.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отдельным</a:t>
            </a:r>
            <a:r>
              <a:rPr dirty="0"/>
              <a:t> </a:t>
            </a:r>
            <a:r>
              <a:rPr dirty="0" err="1"/>
              <a:t>разделом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файлом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Используется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RAM </a:t>
            </a:r>
            <a:r>
              <a:rPr dirty="0" err="1"/>
              <a:t>недостаточно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выгрузить</a:t>
            </a:r>
            <a:r>
              <a:rPr dirty="0"/>
              <a:t> </a:t>
            </a:r>
            <a:r>
              <a:rPr dirty="0" err="1"/>
              <a:t>редко</a:t>
            </a:r>
            <a:r>
              <a:rPr dirty="0"/>
              <a:t> </a:t>
            </a:r>
            <a:r>
              <a:rPr dirty="0" err="1"/>
              <a:t>используемые</a:t>
            </a:r>
            <a:r>
              <a:rPr dirty="0"/>
              <a:t> </a:t>
            </a:r>
            <a:r>
              <a:rPr dirty="0" err="1"/>
              <a:t>страницы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завершать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Активное</a:t>
            </a:r>
            <a:r>
              <a:rPr dirty="0"/>
              <a:t> </a:t>
            </a:r>
            <a:r>
              <a:rPr dirty="0" err="1"/>
              <a:t>постоянное</a:t>
            </a:r>
            <a:r>
              <a:rPr dirty="0"/>
              <a:t> </a:t>
            </a:r>
            <a:r>
              <a:rPr dirty="0" err="1"/>
              <a:t>использование</a:t>
            </a:r>
            <a:r>
              <a:rPr dirty="0"/>
              <a:t> swap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нехватку</a:t>
            </a:r>
            <a:r>
              <a:rPr dirty="0"/>
              <a:t> 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8EA4-8BA5-7340-1410-93E04524C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7EDD12-D4D7-97B2-CBDC-9914ABB96A49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5. Swap в Linux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F35387-6EA9-0F32-5537-56899C047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14" y="0"/>
            <a:ext cx="115133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81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Pagefile в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Pagefile</a:t>
            </a:r>
            <a:r>
              <a:rPr dirty="0"/>
              <a:t> — 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подкачки</a:t>
            </a:r>
            <a:r>
              <a:rPr dirty="0"/>
              <a:t>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механизмом</a:t>
            </a:r>
            <a:r>
              <a:rPr dirty="0"/>
              <a:t>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Windows.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расширять</a:t>
            </a:r>
            <a:r>
              <a:rPr dirty="0"/>
              <a:t> </a:t>
            </a:r>
            <a:r>
              <a:rPr dirty="0" err="1"/>
              <a:t>доступное</a:t>
            </a:r>
            <a:r>
              <a:rPr dirty="0"/>
              <a:t> </a:t>
            </a:r>
            <a:r>
              <a:rPr dirty="0" err="1"/>
              <a:t>пространство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страниц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размер</a:t>
            </a:r>
            <a:r>
              <a:rPr dirty="0"/>
              <a:t> и </a:t>
            </a:r>
            <a:r>
              <a:rPr dirty="0" err="1"/>
              <a:t>расположение</a:t>
            </a:r>
            <a:r>
              <a:rPr dirty="0"/>
              <a:t> </a:t>
            </a:r>
            <a:r>
              <a:rPr dirty="0" err="1"/>
              <a:t>влияют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диагностику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Pagefile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заменяет</a:t>
            </a:r>
            <a:r>
              <a:rPr dirty="0"/>
              <a:t> </a:t>
            </a:r>
            <a:r>
              <a:rPr dirty="0" err="1"/>
              <a:t>достаточный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 RAM.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Swap/pagefile: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медленнее</a:t>
            </a:r>
            <a:r>
              <a:rPr dirty="0"/>
              <a:t> RAM.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Активная</a:t>
            </a:r>
            <a:r>
              <a:rPr dirty="0"/>
              <a:t> </a:t>
            </a:r>
            <a:r>
              <a:rPr dirty="0" err="1"/>
              <a:t>подкачка</a:t>
            </a:r>
            <a:r>
              <a:rPr dirty="0"/>
              <a:t>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производительность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</a:t>
            </a:r>
            <a:r>
              <a:rPr dirty="0"/>
              <a:t> SSD </a:t>
            </a:r>
            <a:r>
              <a:rPr dirty="0" err="1"/>
              <a:t>подкачка</a:t>
            </a:r>
            <a:r>
              <a:rPr dirty="0"/>
              <a:t> </a:t>
            </a:r>
            <a:r>
              <a:rPr dirty="0" err="1"/>
              <a:t>быстрее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HDD,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равно</a:t>
            </a:r>
            <a:r>
              <a:rPr dirty="0"/>
              <a:t> </a:t>
            </a:r>
            <a:r>
              <a:rPr dirty="0" err="1"/>
              <a:t>медленнее</a:t>
            </a:r>
            <a:r>
              <a:rPr dirty="0"/>
              <a:t> RAM.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Постоянная</a:t>
            </a:r>
            <a:r>
              <a:rPr dirty="0"/>
              <a:t> </a:t>
            </a:r>
            <a:r>
              <a:rPr dirty="0" err="1"/>
              <a:t>подкачка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тревожным</a:t>
            </a:r>
            <a:r>
              <a:rPr dirty="0"/>
              <a:t> </a:t>
            </a:r>
            <a:r>
              <a:rPr dirty="0" err="1"/>
              <a:t>сигналом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добавить</a:t>
            </a:r>
            <a:r>
              <a:rPr dirty="0"/>
              <a:t> RAM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процесс-потребитель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8383" y="182880"/>
            <a:ext cx="776475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6. </a:t>
            </a:r>
            <a:r>
              <a:rPr sz="4800" dirty="0" err="1"/>
              <a:t>Влияние</a:t>
            </a:r>
            <a:r>
              <a:rPr sz="4800" dirty="0"/>
              <a:t> </a:t>
            </a:r>
            <a:r>
              <a:rPr sz="4800" dirty="0" err="1"/>
              <a:t>нехватки</a:t>
            </a:r>
            <a:r>
              <a:rPr sz="4800" dirty="0"/>
              <a:t> </a:t>
            </a:r>
            <a:r>
              <a:rPr sz="4800" dirty="0" err="1"/>
              <a:t>памяти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474838"/>
            <a:ext cx="11518490" cy="46516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начинает</a:t>
            </a:r>
            <a:r>
              <a:rPr dirty="0"/>
              <a:t> </a:t>
            </a:r>
            <a:r>
              <a:rPr dirty="0" err="1"/>
              <a:t>активнее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открываются</a:t>
            </a:r>
            <a:r>
              <a:rPr dirty="0"/>
              <a:t> </a:t>
            </a:r>
            <a:r>
              <a:rPr dirty="0" err="1"/>
              <a:t>медленнее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отвечать</a:t>
            </a:r>
            <a:r>
              <a:rPr dirty="0"/>
              <a:t> с </a:t>
            </a:r>
            <a:r>
              <a:rPr dirty="0" err="1"/>
              <a:t>задержкой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ВМ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зависать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 </a:t>
            </a:r>
            <a:r>
              <a:rPr dirty="0" err="1"/>
              <a:t>нестабильно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критической</a:t>
            </a:r>
            <a:r>
              <a:rPr dirty="0"/>
              <a:t> </a:t>
            </a:r>
            <a:r>
              <a:rPr dirty="0" err="1"/>
              <a:t>нехватке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завершаться</a:t>
            </a:r>
            <a:r>
              <a:rPr dirty="0"/>
              <a:t> </a:t>
            </a:r>
            <a:r>
              <a:rPr dirty="0" err="1"/>
              <a:t>аварийно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Симптомы нехватки памяти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24116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Высокое</a:t>
            </a:r>
            <a:r>
              <a:rPr dirty="0"/>
              <a:t> </a:t>
            </a:r>
            <a:r>
              <a:rPr dirty="0" err="1"/>
              <a:t>использование</a:t>
            </a:r>
            <a:r>
              <a:rPr dirty="0"/>
              <a:t> RAM.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Активный</a:t>
            </a:r>
            <a:r>
              <a:rPr dirty="0"/>
              <a:t> swap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pagefile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Высокая</a:t>
            </a:r>
            <a:r>
              <a:rPr dirty="0"/>
              <a:t> </a:t>
            </a:r>
            <a:r>
              <a:rPr dirty="0" err="1"/>
              <a:t>дисковая</a:t>
            </a:r>
            <a:r>
              <a:rPr dirty="0"/>
              <a:t> </a:t>
            </a:r>
            <a:r>
              <a:rPr dirty="0" err="1"/>
              <a:t>активность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явной</a:t>
            </a:r>
            <a:r>
              <a:rPr dirty="0"/>
              <a:t> </a:t>
            </a:r>
            <a:r>
              <a:rPr dirty="0" err="1"/>
              <a:t>причины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Медленное</a:t>
            </a:r>
            <a:r>
              <a:rPr dirty="0"/>
              <a:t> </a:t>
            </a:r>
            <a:r>
              <a:rPr dirty="0" err="1"/>
              <a:t>переключение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приложениями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приложений</a:t>
            </a:r>
            <a:r>
              <a:rPr dirty="0"/>
              <a:t>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нехватки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9054" y="182880"/>
            <a:ext cx="684341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7. </a:t>
            </a:r>
            <a:r>
              <a:rPr sz="4800" dirty="0" err="1"/>
              <a:t>Оценка</a:t>
            </a:r>
            <a:r>
              <a:rPr sz="4800" dirty="0"/>
              <a:t> </a:t>
            </a:r>
            <a:r>
              <a:rPr sz="4800" dirty="0" err="1"/>
              <a:t>памяти</a:t>
            </a:r>
            <a:r>
              <a:rPr sz="4800" dirty="0"/>
              <a:t>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0090"/>
            <a:ext cx="11282516" cy="466639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`free -h`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в </a:t>
            </a:r>
            <a:r>
              <a:rPr dirty="0" err="1"/>
              <a:t>удобном</a:t>
            </a:r>
            <a:r>
              <a:rPr dirty="0"/>
              <a:t> </a:t>
            </a:r>
            <a:r>
              <a:rPr dirty="0" err="1"/>
              <a:t>формате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`top`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и </a:t>
            </a:r>
            <a:r>
              <a:rPr dirty="0" err="1"/>
              <a:t>общую</a:t>
            </a:r>
            <a:r>
              <a:rPr dirty="0"/>
              <a:t> </a:t>
            </a:r>
            <a:r>
              <a:rPr dirty="0" err="1"/>
              <a:t>нагрузку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`</a:t>
            </a:r>
            <a:r>
              <a:rPr dirty="0" err="1"/>
              <a:t>htop</a:t>
            </a:r>
            <a:r>
              <a:rPr dirty="0"/>
              <a:t>`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интерактивного</a:t>
            </a:r>
            <a:r>
              <a:rPr dirty="0"/>
              <a:t> </a:t>
            </a:r>
            <a:r>
              <a:rPr dirty="0" err="1"/>
              <a:t>просмотра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`</a:t>
            </a:r>
            <a:r>
              <a:rPr dirty="0" err="1"/>
              <a:t>ps</a:t>
            </a:r>
            <a:r>
              <a:rPr dirty="0"/>
              <a:t> aux --sort=-%mem` </a:t>
            </a:r>
            <a:r>
              <a:rPr dirty="0" err="1"/>
              <a:t>сортирует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`</a:t>
            </a:r>
            <a:r>
              <a:rPr dirty="0" err="1"/>
              <a:t>swapon</a:t>
            </a:r>
            <a:r>
              <a:rPr dirty="0"/>
              <a:t> --show`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активный</a:t>
            </a:r>
            <a:r>
              <a:rPr dirty="0"/>
              <a:t> swap.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читать free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097161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3600"/>
            </a:pPr>
            <a:r>
              <a:rPr dirty="0"/>
              <a:t>total: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used: </a:t>
            </a:r>
            <a:r>
              <a:rPr dirty="0" err="1"/>
              <a:t>занятая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free: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свободная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buff/cache: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буферы</a:t>
            </a:r>
            <a:r>
              <a:rPr dirty="0"/>
              <a:t> и </a:t>
            </a:r>
            <a:r>
              <a:rPr dirty="0" err="1"/>
              <a:t>кэш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available: </a:t>
            </a:r>
            <a:r>
              <a:rPr dirty="0" err="1"/>
              <a:t>память</a:t>
            </a:r>
            <a:r>
              <a:rPr dirty="0"/>
              <a:t>, </a:t>
            </a:r>
            <a:r>
              <a:rPr dirty="0" err="1"/>
              <a:t>которую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выделить</a:t>
            </a:r>
            <a:r>
              <a:rPr dirty="0"/>
              <a:t> </a:t>
            </a:r>
            <a:r>
              <a:rPr dirty="0" err="1"/>
              <a:t>приложениям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swap: </a:t>
            </a:r>
            <a:r>
              <a:rPr dirty="0" err="1"/>
              <a:t>объем</a:t>
            </a:r>
            <a:r>
              <a:rPr dirty="0"/>
              <a:t> и </a:t>
            </a:r>
            <a:r>
              <a:rPr dirty="0" err="1"/>
              <a:t>использование</a:t>
            </a:r>
            <a:r>
              <a:rPr dirty="0"/>
              <a:t> </a:t>
            </a:r>
            <a:r>
              <a:rPr dirty="0" err="1"/>
              <a:t>подкачки</a:t>
            </a:r>
            <a:r>
              <a:rPr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BCA067-7C2F-A75E-44A1-454B67ABB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80" y="3886815"/>
            <a:ext cx="11111220" cy="24928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Команды</a:t>
            </a:r>
            <a:r>
              <a:rPr dirty="0"/>
              <a:t> Linux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DE76B3B-CAD0-C627-55E8-59306176A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6635" y="182880"/>
            <a:ext cx="788825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8. </a:t>
            </a:r>
            <a:r>
              <a:rPr sz="4800" dirty="0" err="1"/>
              <a:t>Оценка</a:t>
            </a:r>
            <a:r>
              <a:rPr sz="4800" dirty="0"/>
              <a:t> </a:t>
            </a:r>
            <a:r>
              <a:rPr sz="4800" dirty="0" err="1"/>
              <a:t>памяти</a:t>
            </a:r>
            <a:r>
              <a:rPr sz="4800" dirty="0"/>
              <a:t> в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297858"/>
            <a:ext cx="11606981" cy="482862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Task Manager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и </a:t>
            </a:r>
            <a:r>
              <a:rPr dirty="0" err="1"/>
              <a:t>процессы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Resource Monitor </a:t>
            </a:r>
            <a:r>
              <a:rPr dirty="0" err="1"/>
              <a:t>дает</a:t>
            </a:r>
            <a:r>
              <a:rPr dirty="0"/>
              <a:t> </a:t>
            </a:r>
            <a:r>
              <a:rPr dirty="0" err="1"/>
              <a:t>больше</a:t>
            </a:r>
            <a:r>
              <a:rPr dirty="0"/>
              <a:t> </a:t>
            </a:r>
            <a:r>
              <a:rPr dirty="0" err="1"/>
              <a:t>деталей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и </a:t>
            </a:r>
            <a:r>
              <a:rPr dirty="0" err="1"/>
              <a:t>диску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Performance Monitor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длительного</a:t>
            </a:r>
            <a:r>
              <a:rPr dirty="0"/>
              <a:t> </a:t>
            </a:r>
            <a:r>
              <a:rPr dirty="0" err="1"/>
              <a:t>анализа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PowerShell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получить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Pagefile</a:t>
            </a:r>
            <a:r>
              <a:rPr dirty="0"/>
              <a:t> </a:t>
            </a:r>
            <a:r>
              <a:rPr dirty="0" err="1"/>
              <a:t>проверяется</a:t>
            </a:r>
            <a:r>
              <a:rPr dirty="0"/>
              <a:t> в </a:t>
            </a:r>
            <a:r>
              <a:rPr dirty="0" err="1"/>
              <a:t>параметрах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и </a:t>
            </a:r>
            <a:r>
              <a:rPr dirty="0" err="1"/>
              <a:t>мониторинге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Task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12013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общий</a:t>
            </a:r>
            <a:r>
              <a:rPr dirty="0"/>
              <a:t> </a:t>
            </a:r>
            <a:r>
              <a:rPr dirty="0" err="1"/>
              <a:t>объем</a:t>
            </a:r>
            <a:r>
              <a:rPr dirty="0"/>
              <a:t> RAM.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занято</a:t>
            </a:r>
            <a:r>
              <a:rPr dirty="0"/>
              <a:t>, </a:t>
            </a:r>
            <a:r>
              <a:rPr dirty="0" err="1"/>
              <a:t>доступно</a:t>
            </a:r>
            <a:r>
              <a:rPr dirty="0"/>
              <a:t> и </a:t>
            </a:r>
            <a:r>
              <a:rPr dirty="0" err="1"/>
              <a:t>кэшировано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с </a:t>
            </a:r>
            <a:r>
              <a:rPr dirty="0" err="1"/>
              <a:t>высоким</a:t>
            </a:r>
            <a:r>
              <a:rPr dirty="0"/>
              <a:t> </a:t>
            </a:r>
            <a:r>
              <a:rPr dirty="0" err="1"/>
              <a:t>потреблением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нагрузку</a:t>
            </a:r>
            <a:r>
              <a:rPr dirty="0"/>
              <a:t> CPU, disk и network.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быстрой</a:t>
            </a:r>
            <a:r>
              <a:rPr dirty="0"/>
              <a:t> </a:t>
            </a:r>
            <a:r>
              <a:rPr dirty="0" err="1"/>
              <a:t>первичной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PowerShell для процессов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61288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PowerShell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сортировать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крупных</a:t>
            </a:r>
            <a:r>
              <a:rPr dirty="0"/>
              <a:t> </a:t>
            </a:r>
            <a:r>
              <a:rPr dirty="0" err="1"/>
              <a:t>потребителей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Пример</a:t>
            </a:r>
            <a:r>
              <a:rPr dirty="0"/>
              <a:t>: `Get-Process | Sort-Object </a:t>
            </a:r>
            <a:r>
              <a:rPr dirty="0" err="1"/>
              <a:t>WorkingSet</a:t>
            </a:r>
            <a:r>
              <a:rPr dirty="0"/>
              <a:t> -Descending`.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интерпретировать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</a:t>
            </a:r>
            <a:r>
              <a:rPr dirty="0" err="1"/>
              <a:t>нагрузкой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Высокое</a:t>
            </a:r>
            <a:r>
              <a:rPr dirty="0"/>
              <a:t> </a:t>
            </a:r>
            <a:r>
              <a:rPr dirty="0" err="1"/>
              <a:t>потребление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полезную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3486" y="182880"/>
            <a:ext cx="1075454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000" dirty="0"/>
              <a:t>9. </a:t>
            </a:r>
            <a:r>
              <a:rPr sz="4000" dirty="0" err="1"/>
              <a:t>Практическое</a:t>
            </a:r>
            <a:r>
              <a:rPr sz="4000" dirty="0"/>
              <a:t> </a:t>
            </a:r>
            <a:r>
              <a:rPr sz="4000" dirty="0" err="1"/>
              <a:t>значение</a:t>
            </a:r>
            <a:r>
              <a:rPr sz="4000" dirty="0"/>
              <a:t> </a:t>
            </a:r>
            <a:r>
              <a:rPr sz="4000" dirty="0" err="1"/>
              <a:t>для</a:t>
            </a:r>
            <a:r>
              <a:rPr sz="4000" dirty="0"/>
              <a:t> </a:t>
            </a:r>
            <a:r>
              <a:rPr sz="4000" dirty="0" err="1"/>
              <a:t>администратора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457198" y="914400"/>
            <a:ext cx="11621729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хватает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ВМ </a:t>
            </a:r>
            <a:r>
              <a:rPr dirty="0" err="1"/>
              <a:t>ресурсов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оценивать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одному</a:t>
            </a:r>
            <a:r>
              <a:rPr dirty="0"/>
              <a:t> </a:t>
            </a:r>
            <a:r>
              <a:rPr dirty="0" err="1"/>
              <a:t>числу</a:t>
            </a:r>
            <a:r>
              <a:rPr dirty="0"/>
              <a:t> used.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учитывать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, </a:t>
            </a:r>
            <a:r>
              <a:rPr dirty="0" err="1"/>
              <a:t>службы</a:t>
            </a:r>
            <a:r>
              <a:rPr dirty="0"/>
              <a:t>, </a:t>
            </a:r>
            <a:r>
              <a:rPr dirty="0" err="1"/>
              <a:t>кэш</a:t>
            </a:r>
            <a:r>
              <a:rPr dirty="0"/>
              <a:t> и </a:t>
            </a:r>
            <a:r>
              <a:rPr dirty="0" err="1"/>
              <a:t>подкачку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 </a:t>
            </a:r>
            <a:r>
              <a:rPr dirty="0" err="1"/>
              <a:t>важна</a:t>
            </a:r>
            <a:r>
              <a:rPr dirty="0"/>
              <a:t> </a:t>
            </a:r>
            <a:r>
              <a:rPr dirty="0" err="1"/>
              <a:t>стабильность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нагрузкой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учебного</a:t>
            </a:r>
            <a:r>
              <a:rPr dirty="0"/>
              <a:t> </a:t>
            </a:r>
            <a:r>
              <a:rPr dirty="0" err="1"/>
              <a:t>стенда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запас</a:t>
            </a:r>
            <a:r>
              <a:rPr dirty="0"/>
              <a:t> RAM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нескольких</a:t>
            </a:r>
            <a:r>
              <a:rPr dirty="0"/>
              <a:t> ВМ.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принять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available </a:t>
            </a:r>
            <a:r>
              <a:rPr dirty="0" err="1"/>
              <a:t>низкий</a:t>
            </a:r>
            <a:r>
              <a:rPr dirty="0"/>
              <a:t>, а swap </a:t>
            </a:r>
            <a:r>
              <a:rPr dirty="0" err="1"/>
              <a:t>растет</a:t>
            </a:r>
            <a:r>
              <a:rPr dirty="0"/>
              <a:t> — </a:t>
            </a:r>
            <a:r>
              <a:rPr dirty="0" err="1"/>
              <a:t>памяти</a:t>
            </a:r>
            <a:r>
              <a:rPr dirty="0"/>
              <a:t> </a:t>
            </a:r>
            <a:r>
              <a:rPr dirty="0" err="1"/>
              <a:t>мало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потребляет</a:t>
            </a:r>
            <a:r>
              <a:rPr dirty="0"/>
              <a:t> </a:t>
            </a:r>
            <a:r>
              <a:rPr dirty="0" err="1"/>
              <a:t>много</a:t>
            </a:r>
            <a:r>
              <a:rPr dirty="0"/>
              <a:t> RAM — </a:t>
            </a:r>
            <a:r>
              <a:rPr dirty="0" err="1"/>
              <a:t>анализировать</a:t>
            </a:r>
            <a:r>
              <a:rPr dirty="0"/>
              <a:t>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диск</a:t>
            </a:r>
            <a:r>
              <a:rPr dirty="0"/>
              <a:t> </a:t>
            </a:r>
            <a:r>
              <a:rPr dirty="0" err="1"/>
              <a:t>загружен</a:t>
            </a:r>
            <a:r>
              <a:rPr dirty="0"/>
              <a:t>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подкачки</a:t>
            </a:r>
            <a:r>
              <a:rPr dirty="0"/>
              <a:t> — </a:t>
            </a:r>
            <a:r>
              <a:rPr dirty="0" err="1"/>
              <a:t>проверить</a:t>
            </a:r>
            <a:r>
              <a:rPr dirty="0"/>
              <a:t> RAM и </a:t>
            </a:r>
            <a:r>
              <a:rPr dirty="0" err="1"/>
              <a:t>приложения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ВМ </a:t>
            </a:r>
            <a:r>
              <a:rPr dirty="0" err="1"/>
              <a:t>тормозит</a:t>
            </a:r>
            <a:r>
              <a:rPr dirty="0"/>
              <a:t> —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 </a:t>
            </a:r>
            <a:r>
              <a:rPr dirty="0" err="1"/>
              <a:t>хоста</a:t>
            </a:r>
            <a:r>
              <a:rPr dirty="0"/>
              <a:t> и </a:t>
            </a:r>
            <a:r>
              <a:rPr dirty="0" err="1"/>
              <a:t>гостевой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проблема</a:t>
            </a:r>
            <a:r>
              <a:rPr dirty="0"/>
              <a:t> </a:t>
            </a:r>
            <a:r>
              <a:rPr dirty="0" err="1"/>
              <a:t>повторяется</a:t>
            </a:r>
            <a:r>
              <a:rPr dirty="0"/>
              <a:t> — </a:t>
            </a:r>
            <a:r>
              <a:rPr dirty="0" err="1"/>
              <a:t>увеличить</a:t>
            </a:r>
            <a:r>
              <a:rPr dirty="0"/>
              <a:t> RAM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изменить</a:t>
            </a:r>
            <a:r>
              <a:rPr dirty="0"/>
              <a:t> </a:t>
            </a:r>
            <a:r>
              <a:rPr dirty="0" err="1"/>
              <a:t>нагрузку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61288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RAM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активные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ОС, </a:t>
            </a:r>
            <a:r>
              <a:rPr dirty="0" err="1"/>
              <a:t>приложений</a:t>
            </a:r>
            <a:r>
              <a:rPr dirty="0"/>
              <a:t> и </a:t>
            </a:r>
            <a:r>
              <a:rPr dirty="0" err="1"/>
              <a:t>служб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64-битные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подходят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больших</a:t>
            </a:r>
            <a:r>
              <a:rPr dirty="0"/>
              <a:t> </a:t>
            </a:r>
            <a:r>
              <a:rPr dirty="0" err="1"/>
              <a:t>объемов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обеспечивает</a:t>
            </a:r>
            <a:r>
              <a:rPr dirty="0"/>
              <a:t> </a:t>
            </a:r>
            <a:r>
              <a:rPr dirty="0" err="1"/>
              <a:t>изоляцию</a:t>
            </a:r>
            <a:r>
              <a:rPr dirty="0"/>
              <a:t> и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адресами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Swap и </a:t>
            </a:r>
            <a:r>
              <a:rPr dirty="0" err="1"/>
              <a:t>pagefile</a:t>
            </a:r>
            <a:r>
              <a:rPr dirty="0"/>
              <a:t>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нехватке</a:t>
            </a:r>
            <a:r>
              <a:rPr dirty="0"/>
              <a:t> RAM,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замедляют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анализировать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в Linux и Windows.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57489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операционной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оперативная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32-битная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64-битной с </a:t>
            </a:r>
            <a:r>
              <a:rPr dirty="0" err="1"/>
              <a:t>точки</a:t>
            </a:r>
            <a:r>
              <a:rPr dirty="0"/>
              <a:t> </a:t>
            </a:r>
            <a:r>
              <a:rPr dirty="0" err="1"/>
              <a:t>зрения</a:t>
            </a:r>
            <a:r>
              <a:rPr dirty="0"/>
              <a:t> </a:t>
            </a:r>
            <a:r>
              <a:rPr dirty="0" err="1"/>
              <a:t>доступной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режимы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процессора</a:t>
            </a:r>
            <a:r>
              <a:rPr dirty="0"/>
              <a:t> </a:t>
            </a:r>
            <a:r>
              <a:rPr dirty="0" err="1"/>
              <a:t>важны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понимания</a:t>
            </a:r>
            <a:r>
              <a:rPr dirty="0"/>
              <a:t> </a:t>
            </a:r>
            <a:r>
              <a:rPr dirty="0" err="1"/>
              <a:t>изоляции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виртуальная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swap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pagefile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назначению</a:t>
            </a:r>
            <a:r>
              <a:rPr dirty="0"/>
              <a:t> в </a:t>
            </a:r>
            <a:r>
              <a:rPr dirty="0" err="1"/>
              <a:t>разных</a:t>
            </a:r>
            <a:r>
              <a:rPr dirty="0"/>
              <a:t> ОС?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swap/</a:t>
            </a:r>
            <a:r>
              <a:rPr dirty="0" err="1"/>
              <a:t>pagefile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заменяют</a:t>
            </a:r>
            <a:r>
              <a:rPr dirty="0"/>
              <a:t> </a:t>
            </a:r>
            <a:r>
              <a:rPr dirty="0" err="1"/>
              <a:t>полноценную</a:t>
            </a:r>
            <a:r>
              <a:rPr dirty="0"/>
              <a:t> </a:t>
            </a:r>
            <a:r>
              <a:rPr dirty="0" err="1"/>
              <a:t>оперативную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признаки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указывать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нехватку</a:t>
            </a:r>
            <a:r>
              <a:rPr dirty="0"/>
              <a:t> RAM?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Какими</a:t>
            </a:r>
            <a:r>
              <a:rPr dirty="0"/>
              <a:t> </a:t>
            </a:r>
            <a:r>
              <a:rPr dirty="0" err="1"/>
              <a:t>средствами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загрузку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в Linux и Windows?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определить</a:t>
            </a:r>
            <a:r>
              <a:rPr dirty="0"/>
              <a:t>, </a:t>
            </a:r>
            <a:r>
              <a:rPr dirty="0" err="1"/>
              <a:t>хватает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 </a:t>
            </a:r>
            <a:r>
              <a:rPr dirty="0" err="1"/>
              <a:t>выделенной</a:t>
            </a:r>
            <a:r>
              <a:rPr dirty="0"/>
              <a:t> </a:t>
            </a:r>
            <a:r>
              <a:rPr dirty="0" err="1"/>
              <a:t>виртуальной</a:t>
            </a:r>
            <a:r>
              <a:rPr dirty="0"/>
              <a:t> </a:t>
            </a:r>
            <a:r>
              <a:rPr dirty="0" err="1"/>
              <a:t>машине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1365</Words>
  <Application>Microsoft Office PowerPoint</Application>
  <PresentationFormat>Широкоэкранный</PresentationFormat>
  <Paragraphs>185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2026-06-28T11:18:35Z</dcterms:modified>
  <cp:category/>
</cp:coreProperties>
</file>