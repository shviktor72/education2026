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8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5527" y="1524983"/>
            <a:ext cx="9540945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3.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Диски</a:t>
            </a:r>
            <a:r>
              <a:rPr sz="4800" dirty="0"/>
              <a:t>, </a:t>
            </a:r>
            <a:r>
              <a:rPr sz="4800" dirty="0" err="1"/>
              <a:t>логические</a:t>
            </a:r>
            <a:r>
              <a:rPr sz="4800" dirty="0"/>
              <a:t> </a:t>
            </a:r>
            <a:r>
              <a:rPr sz="4800" dirty="0" err="1"/>
              <a:t>диски</a:t>
            </a:r>
            <a:r>
              <a:rPr sz="4800" dirty="0"/>
              <a:t>, </a:t>
            </a:r>
            <a:r>
              <a:rPr sz="4800" dirty="0" err="1"/>
              <a:t>разделы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4723" y="182880"/>
            <a:ext cx="383207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Цел</a:t>
            </a:r>
            <a:r>
              <a:rPr lang="ru-RU" sz="4800" dirty="0"/>
              <a:t>и</a:t>
            </a:r>
            <a:r>
              <a:rPr sz="4800" dirty="0"/>
              <a:t> </a:t>
            </a:r>
            <a:r>
              <a:rPr sz="4800" dirty="0" err="1"/>
              <a:t>лекции</a:t>
            </a:r>
            <a:r>
              <a:rPr lang="ru-RU" sz="4800" dirty="0"/>
              <a:t>: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76864" y="1028625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в </a:t>
            </a:r>
            <a:r>
              <a:rPr dirty="0" err="1"/>
              <a:t>рабочей</a:t>
            </a:r>
            <a:r>
              <a:rPr dirty="0"/>
              <a:t> </a:t>
            </a:r>
            <a:r>
              <a:rPr dirty="0" err="1"/>
              <a:t>станции</a:t>
            </a:r>
            <a:r>
              <a:rPr dirty="0"/>
              <a:t>, </a:t>
            </a:r>
            <a:r>
              <a:rPr dirty="0" err="1"/>
              <a:t>сервере</a:t>
            </a:r>
            <a:r>
              <a:rPr dirty="0"/>
              <a:t> и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, </a:t>
            </a:r>
            <a:r>
              <a:rPr dirty="0" err="1"/>
              <a:t>логический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, </a:t>
            </a:r>
            <a:r>
              <a:rPr dirty="0" err="1"/>
              <a:t>раздел</a:t>
            </a:r>
            <a:r>
              <a:rPr dirty="0"/>
              <a:t> и </a:t>
            </a:r>
            <a:r>
              <a:rPr dirty="0" err="1"/>
              <a:t>том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MBR, GPT и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RAID0, RAID1, RAID5 и RAID10.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Осознавать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 </a:t>
            </a:r>
            <a:r>
              <a:rPr dirty="0" err="1"/>
              <a:t>операций</a:t>
            </a:r>
            <a:r>
              <a:rPr dirty="0"/>
              <a:t> с </a:t>
            </a:r>
            <a:r>
              <a:rPr dirty="0" err="1"/>
              <a:t>дисками</a:t>
            </a:r>
            <a:r>
              <a:rPr dirty="0"/>
              <a:t> и </a:t>
            </a:r>
            <a:r>
              <a:rPr dirty="0" err="1"/>
              <a:t>необходимость</a:t>
            </a:r>
            <a:r>
              <a:rPr dirty="0"/>
              <a:t> </a:t>
            </a:r>
            <a:r>
              <a:rPr dirty="0" err="1"/>
              <a:t>снапшотов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8539" y="182880"/>
            <a:ext cx="732444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Список</a:t>
            </a:r>
            <a:r>
              <a:rPr sz="4800" dirty="0"/>
              <a:t> </a:t>
            </a:r>
            <a:r>
              <a:rPr sz="4800" dirty="0" err="1"/>
              <a:t>учебных</a:t>
            </a:r>
            <a:r>
              <a:rPr sz="4800" dirty="0"/>
              <a:t> </a:t>
            </a:r>
            <a:r>
              <a:rPr sz="4800" dirty="0" err="1"/>
              <a:t>вопросов</a:t>
            </a:r>
            <a:r>
              <a:rPr lang="ru-RU" sz="4800" dirty="0"/>
              <a:t>: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65122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sz="3200" dirty="0" err="1"/>
              <a:t>дисков</a:t>
            </a:r>
            <a:r>
              <a:rPr sz="3200" dirty="0"/>
              <a:t> в </a:t>
            </a:r>
            <a:r>
              <a:rPr sz="3200" dirty="0" err="1"/>
              <a:t>рабочей</a:t>
            </a:r>
            <a:r>
              <a:rPr sz="3200" dirty="0"/>
              <a:t> </a:t>
            </a:r>
            <a:r>
              <a:rPr sz="3200" dirty="0" err="1"/>
              <a:t>станции</a:t>
            </a:r>
            <a:r>
              <a:rPr sz="3200" dirty="0"/>
              <a:t>, </a:t>
            </a:r>
            <a:r>
              <a:rPr sz="3200" dirty="0" err="1"/>
              <a:t>сервере</a:t>
            </a:r>
            <a:r>
              <a:rPr sz="3200" dirty="0"/>
              <a:t> и </a:t>
            </a:r>
            <a:r>
              <a:rPr sz="3200" dirty="0" err="1"/>
              <a:t>виртуальной</a:t>
            </a:r>
            <a:r>
              <a:rPr sz="3200" dirty="0"/>
              <a:t> </a:t>
            </a:r>
            <a:r>
              <a:rPr sz="3200" dirty="0" err="1"/>
              <a:t>машине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Физический</a:t>
            </a:r>
            <a:r>
              <a:rPr sz="3200" dirty="0"/>
              <a:t> </a:t>
            </a:r>
            <a:r>
              <a:rPr sz="3200" dirty="0" err="1"/>
              <a:t>диск</a:t>
            </a:r>
            <a:r>
              <a:rPr sz="3200" dirty="0"/>
              <a:t>, </a:t>
            </a:r>
            <a:r>
              <a:rPr sz="3200" dirty="0" err="1"/>
              <a:t>логический</a:t>
            </a:r>
            <a:r>
              <a:rPr sz="3200" dirty="0"/>
              <a:t> </a:t>
            </a:r>
            <a:r>
              <a:rPr sz="3200" dirty="0" err="1"/>
              <a:t>диск</a:t>
            </a:r>
            <a:r>
              <a:rPr sz="3200" dirty="0"/>
              <a:t> и </a:t>
            </a:r>
            <a:r>
              <a:rPr sz="3200" dirty="0" err="1"/>
              <a:t>том</a:t>
            </a:r>
            <a:r>
              <a:rPr sz="3200" dirty="0"/>
              <a:t>: </a:t>
            </a:r>
            <a:r>
              <a:rPr sz="3200" dirty="0" err="1"/>
              <a:t>различие</a:t>
            </a:r>
            <a:r>
              <a:rPr sz="3200" dirty="0"/>
              <a:t> </a:t>
            </a:r>
            <a:r>
              <a:rPr sz="3200" dirty="0" err="1"/>
              <a:t>понятий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Таблицы</a:t>
            </a:r>
            <a:r>
              <a:rPr sz="3200" dirty="0"/>
              <a:t> </a:t>
            </a:r>
            <a:r>
              <a:rPr sz="3200" dirty="0" err="1"/>
              <a:t>разделов</a:t>
            </a:r>
            <a:r>
              <a:rPr sz="3200" dirty="0"/>
              <a:t> MBR и GPT: </a:t>
            </a:r>
            <a:r>
              <a:rPr sz="3200" dirty="0" err="1"/>
              <a:t>назначение</a:t>
            </a:r>
            <a:r>
              <a:rPr sz="3200" dirty="0"/>
              <a:t> и </a:t>
            </a:r>
            <a:r>
              <a:rPr sz="3200" dirty="0" err="1"/>
              <a:t>основные</a:t>
            </a:r>
            <a:r>
              <a:rPr sz="3200" dirty="0"/>
              <a:t> </a:t>
            </a:r>
            <a:r>
              <a:rPr sz="3200" dirty="0" err="1"/>
              <a:t>отличия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Разделы</a:t>
            </a:r>
            <a:r>
              <a:rPr sz="3200" dirty="0"/>
              <a:t> </a:t>
            </a:r>
            <a:r>
              <a:rPr sz="3200" dirty="0" err="1"/>
              <a:t>диска</a:t>
            </a:r>
            <a:r>
              <a:rPr sz="3200" dirty="0"/>
              <a:t>: </a:t>
            </a:r>
            <a:r>
              <a:rPr sz="3200" dirty="0" err="1"/>
              <a:t>основные</a:t>
            </a:r>
            <a:r>
              <a:rPr sz="3200" dirty="0"/>
              <a:t>, </a:t>
            </a:r>
            <a:r>
              <a:rPr sz="3200" dirty="0" err="1"/>
              <a:t>служебные</a:t>
            </a:r>
            <a:r>
              <a:rPr sz="3200" dirty="0"/>
              <a:t> и </a:t>
            </a:r>
            <a:r>
              <a:rPr sz="3200" dirty="0" err="1"/>
              <a:t>системные</a:t>
            </a:r>
            <a:r>
              <a:rPr sz="3200" dirty="0"/>
              <a:t> </a:t>
            </a:r>
            <a:r>
              <a:rPr sz="3200" dirty="0" err="1"/>
              <a:t>разделы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5. RAID0/1/5/10: </a:t>
            </a:r>
            <a:r>
              <a:rPr sz="3200" dirty="0" err="1"/>
              <a:t>производительность</a:t>
            </a:r>
            <a:r>
              <a:rPr sz="3200" dirty="0"/>
              <a:t>, </a:t>
            </a:r>
            <a:r>
              <a:rPr sz="3200" dirty="0" err="1"/>
              <a:t>отказоустойчивость</a:t>
            </a:r>
            <a:r>
              <a:rPr sz="3200" dirty="0"/>
              <a:t> и </a:t>
            </a:r>
            <a:r>
              <a:rPr sz="3200" dirty="0" err="1"/>
              <a:t>полезный</a:t>
            </a:r>
            <a:r>
              <a:rPr sz="3200" dirty="0"/>
              <a:t> </a:t>
            </a:r>
            <a:r>
              <a:rPr sz="3200" dirty="0" err="1"/>
              <a:t>объем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Форматирование</a:t>
            </a:r>
            <a:r>
              <a:rPr sz="3200" dirty="0"/>
              <a:t>: </a:t>
            </a:r>
            <a:r>
              <a:rPr sz="3200" dirty="0" err="1"/>
              <a:t>низкоуровневое</a:t>
            </a:r>
            <a:r>
              <a:rPr sz="3200" dirty="0"/>
              <a:t> и </a:t>
            </a:r>
            <a:r>
              <a:rPr sz="3200" dirty="0" err="1"/>
              <a:t>высокоуровневое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Утилиты</a:t>
            </a:r>
            <a:r>
              <a:rPr sz="3200" dirty="0"/>
              <a:t> </a:t>
            </a:r>
            <a:r>
              <a:rPr sz="3200" dirty="0" err="1"/>
              <a:t>работы</a:t>
            </a:r>
            <a:r>
              <a:rPr sz="3200" dirty="0"/>
              <a:t> с </a:t>
            </a:r>
            <a:r>
              <a:rPr sz="3200" dirty="0" err="1"/>
              <a:t>дисками</a:t>
            </a:r>
            <a:r>
              <a:rPr sz="3200" dirty="0"/>
              <a:t> в Linux и Windows.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Риски</a:t>
            </a:r>
            <a:r>
              <a:rPr sz="3200" dirty="0"/>
              <a:t> </a:t>
            </a:r>
            <a:r>
              <a:rPr sz="3200" dirty="0" err="1"/>
              <a:t>при</a:t>
            </a:r>
            <a:r>
              <a:rPr sz="3200" dirty="0"/>
              <a:t> </a:t>
            </a:r>
            <a:r>
              <a:rPr sz="3200" dirty="0" err="1"/>
              <a:t>работе</a:t>
            </a:r>
            <a:r>
              <a:rPr sz="3200" dirty="0"/>
              <a:t> с </a:t>
            </a:r>
            <a:r>
              <a:rPr sz="3200" dirty="0" err="1"/>
              <a:t>дисками</a:t>
            </a:r>
            <a:r>
              <a:rPr sz="3200" dirty="0"/>
              <a:t> и </a:t>
            </a:r>
            <a:r>
              <a:rPr sz="3200" dirty="0" err="1"/>
              <a:t>необходимость</a:t>
            </a:r>
            <a:r>
              <a:rPr sz="3200" dirty="0"/>
              <a:t> </a:t>
            </a:r>
            <a:r>
              <a:rPr sz="3200" dirty="0" err="1"/>
              <a:t>учебного</a:t>
            </a:r>
            <a:r>
              <a:rPr sz="3200" dirty="0"/>
              <a:t> </a:t>
            </a:r>
            <a:r>
              <a:rPr sz="3200" dirty="0" err="1"/>
              <a:t>диска</a:t>
            </a:r>
            <a:r>
              <a:rPr sz="3200" dirty="0"/>
              <a:t> </a:t>
            </a:r>
            <a:r>
              <a:rPr sz="3200" dirty="0" err="1"/>
              <a:t>или</a:t>
            </a:r>
            <a:r>
              <a:rPr sz="3200" dirty="0"/>
              <a:t> </a:t>
            </a:r>
            <a:r>
              <a:rPr sz="3200" dirty="0" err="1"/>
              <a:t>снапшота</a:t>
            </a:r>
            <a:r>
              <a:rPr sz="3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dirty="0"/>
              <a:t>MBR — Master Boot Record, </a:t>
            </a:r>
            <a:r>
              <a:rPr dirty="0" err="1"/>
              <a:t>старая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GPT — GUID Partition Table, </a:t>
            </a: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RAID — Redundant Array of Independent Disks,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независимых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69006" y="182880"/>
            <a:ext cx="602350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дисков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68362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операционную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, </a:t>
            </a:r>
            <a:r>
              <a:rPr dirty="0" err="1"/>
              <a:t>программы</a:t>
            </a:r>
            <a:r>
              <a:rPr dirty="0"/>
              <a:t>,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журналы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ОС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постоянно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и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—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, </a:t>
            </a:r>
            <a:r>
              <a:rPr dirty="0" err="1"/>
              <a:t>диагностики</a:t>
            </a:r>
            <a:r>
              <a:rPr dirty="0"/>
              <a:t> и </a:t>
            </a:r>
            <a:r>
              <a:rPr dirty="0" err="1"/>
              <a:t>защиты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с </a:t>
            </a:r>
            <a:r>
              <a:rPr dirty="0" err="1"/>
              <a:t>диском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привести</a:t>
            </a:r>
            <a:r>
              <a:rPr dirty="0"/>
              <a:t> к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невозможности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работой</a:t>
            </a:r>
            <a:r>
              <a:rPr dirty="0"/>
              <a:t> с </a:t>
            </a:r>
            <a:r>
              <a:rPr dirty="0" err="1"/>
              <a:t>дисками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Диск в рабочей станции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Хранит</a:t>
            </a:r>
            <a:r>
              <a:rPr dirty="0"/>
              <a:t> ОС, </a:t>
            </a:r>
            <a:r>
              <a:rPr dirty="0" err="1"/>
              <a:t>приложения</a:t>
            </a:r>
            <a:r>
              <a:rPr dirty="0"/>
              <a:t> и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документы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и </a:t>
            </a:r>
            <a:r>
              <a:rPr dirty="0" err="1"/>
              <a:t>отклик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SSD, </a:t>
            </a:r>
            <a:r>
              <a:rPr dirty="0" err="1"/>
              <a:t>достаточный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и </a:t>
            </a:r>
            <a:r>
              <a:rPr dirty="0" err="1"/>
              <a:t>надежность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 </a:t>
            </a:r>
            <a:r>
              <a:rPr dirty="0" err="1"/>
              <a:t>важных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Диск в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базы</a:t>
            </a:r>
            <a:r>
              <a:rPr dirty="0"/>
              <a:t>,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 и </a:t>
            </a:r>
            <a:r>
              <a:rPr dirty="0" err="1"/>
              <a:t>резервные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выдерживать</a:t>
            </a:r>
            <a:r>
              <a:rPr dirty="0"/>
              <a:t> </a:t>
            </a:r>
            <a:r>
              <a:rPr dirty="0" err="1"/>
              <a:t>длительную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 и </a:t>
            </a:r>
            <a:r>
              <a:rPr dirty="0" err="1"/>
              <a:t>обращения</a:t>
            </a:r>
            <a:r>
              <a:rPr dirty="0"/>
              <a:t> </a:t>
            </a:r>
            <a:r>
              <a:rPr dirty="0" err="1"/>
              <a:t>многих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отказоустойчивость</a:t>
            </a:r>
            <a:r>
              <a:rPr dirty="0"/>
              <a:t>, </a:t>
            </a:r>
            <a:r>
              <a:rPr dirty="0" err="1"/>
              <a:t>скорость</a:t>
            </a:r>
            <a:r>
              <a:rPr dirty="0"/>
              <a:t>, </a:t>
            </a:r>
            <a:r>
              <a:rPr dirty="0" err="1"/>
              <a:t>объем</a:t>
            </a:r>
            <a:r>
              <a:rPr dirty="0"/>
              <a:t> и </a:t>
            </a: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RAID и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накопителей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Потеря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остановить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отдела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Диск в виртуальной машине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хосте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Гостевая</a:t>
            </a:r>
            <a:r>
              <a:rPr dirty="0"/>
              <a:t> ОС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виртуального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выбирать</a:t>
            </a:r>
            <a:r>
              <a:rPr dirty="0"/>
              <a:t> с </a:t>
            </a:r>
            <a:r>
              <a:rPr dirty="0" err="1"/>
              <a:t>запасом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ВМ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повредить</a:t>
            </a:r>
            <a:r>
              <a:rPr dirty="0"/>
              <a:t> </a:t>
            </a:r>
            <a:r>
              <a:rPr dirty="0" err="1"/>
              <a:t>учебную</a:t>
            </a:r>
            <a:r>
              <a:rPr dirty="0"/>
              <a:t> ОС,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опытами</a:t>
            </a:r>
            <a:r>
              <a:rPr dirty="0"/>
              <a:t> с </a:t>
            </a:r>
            <a:r>
              <a:rPr dirty="0" err="1"/>
              <a:t>разделами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847" y="182880"/>
            <a:ext cx="1186382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sz="4800" dirty="0" err="1"/>
              <a:t>Физический</a:t>
            </a:r>
            <a:r>
              <a:rPr sz="4800" dirty="0"/>
              <a:t> </a:t>
            </a:r>
            <a:r>
              <a:rPr sz="4800" dirty="0" err="1"/>
              <a:t>диск</a:t>
            </a:r>
            <a:r>
              <a:rPr sz="4800" dirty="0"/>
              <a:t>, </a:t>
            </a:r>
            <a:r>
              <a:rPr sz="4800" dirty="0" err="1"/>
              <a:t>логический</a:t>
            </a:r>
            <a:r>
              <a:rPr sz="4800" dirty="0"/>
              <a:t> </a:t>
            </a:r>
            <a:r>
              <a:rPr sz="4800" dirty="0" err="1"/>
              <a:t>диск</a:t>
            </a:r>
            <a:r>
              <a:rPr sz="4800" dirty="0"/>
              <a:t> и </a:t>
            </a:r>
            <a:r>
              <a:rPr sz="4800" dirty="0" err="1"/>
              <a:t>том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415252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— </a:t>
            </a:r>
            <a:r>
              <a:rPr dirty="0" err="1"/>
              <a:t>реальное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</a:t>
            </a:r>
            <a:r>
              <a:rPr dirty="0"/>
              <a:t> —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, </a:t>
            </a:r>
            <a:r>
              <a:rPr dirty="0" err="1"/>
              <a:t>выделенная</a:t>
            </a:r>
            <a:r>
              <a:rPr dirty="0"/>
              <a:t> </a:t>
            </a:r>
            <a:r>
              <a:rPr dirty="0" err="1"/>
              <a:t>таблицей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Том</a:t>
            </a:r>
            <a:r>
              <a:rPr dirty="0"/>
              <a:t> —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, </a:t>
            </a:r>
            <a:r>
              <a:rPr dirty="0" err="1"/>
              <a:t>которую</a:t>
            </a:r>
            <a:r>
              <a:rPr dirty="0"/>
              <a:t> ОС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логическое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Логический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— </a:t>
            </a:r>
            <a:r>
              <a:rPr dirty="0" err="1"/>
              <a:t>представление</a:t>
            </a:r>
            <a:r>
              <a:rPr dirty="0"/>
              <a:t> </a:t>
            </a:r>
            <a:r>
              <a:rPr dirty="0" err="1"/>
              <a:t>тома</a:t>
            </a:r>
            <a:r>
              <a:rPr dirty="0"/>
              <a:t> в ОС, </a:t>
            </a:r>
            <a:r>
              <a:rPr dirty="0" err="1"/>
              <a:t>например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C: в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Эти </a:t>
            </a:r>
            <a:r>
              <a:rPr dirty="0" err="1"/>
              <a:t>понятия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являются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и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Физический диск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: HDD, SSD, </a:t>
            </a:r>
            <a:r>
              <a:rPr dirty="0" err="1"/>
              <a:t>NVMe-накопитель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,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скорость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здоровья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отображаться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sda</a:t>
            </a:r>
            <a:r>
              <a:rPr dirty="0"/>
              <a:t>, </a:t>
            </a:r>
            <a:r>
              <a:rPr dirty="0" err="1"/>
              <a:t>vda</a:t>
            </a:r>
            <a:r>
              <a:rPr dirty="0"/>
              <a:t>, nvme0n1.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виден</a:t>
            </a:r>
            <a:r>
              <a:rPr dirty="0"/>
              <a:t> в Disk Management </a:t>
            </a:r>
            <a:r>
              <a:rPr dirty="0" err="1"/>
              <a:t>как</a:t>
            </a:r>
            <a:r>
              <a:rPr dirty="0"/>
              <a:t> Disk 0, Disk 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размечают</a:t>
            </a:r>
            <a:r>
              <a:rPr dirty="0"/>
              <a:t>,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Раздел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</a:t>
            </a:r>
            <a:r>
              <a:rPr dirty="0"/>
              <a:t> — </a:t>
            </a:r>
            <a:r>
              <a:rPr dirty="0" err="1"/>
              <a:t>выделенная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с </a:t>
            </a:r>
            <a:r>
              <a:rPr dirty="0" err="1"/>
              <a:t>границами</a:t>
            </a:r>
            <a:r>
              <a:rPr dirty="0"/>
              <a:t> </a:t>
            </a:r>
            <a:r>
              <a:rPr dirty="0" err="1"/>
              <a:t>начала</a:t>
            </a:r>
            <a:r>
              <a:rPr dirty="0"/>
              <a:t> и </a:t>
            </a:r>
            <a:r>
              <a:rPr dirty="0" err="1"/>
              <a:t>конца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системным</a:t>
            </a:r>
            <a:r>
              <a:rPr dirty="0"/>
              <a:t>, </a:t>
            </a:r>
            <a:r>
              <a:rPr dirty="0" err="1"/>
              <a:t>пользовательским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служебным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содержать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swap.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Неверное</a:t>
            </a:r>
            <a:r>
              <a:rPr dirty="0"/>
              <a:t> </a:t>
            </a:r>
            <a:r>
              <a:rPr dirty="0" err="1"/>
              <a:t>изменение</a:t>
            </a:r>
            <a:r>
              <a:rPr dirty="0"/>
              <a:t> </a:t>
            </a:r>
            <a:r>
              <a:rPr dirty="0" err="1"/>
              <a:t>раздела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повредить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Том и логический диск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Том</a:t>
            </a:r>
            <a:r>
              <a:rPr dirty="0"/>
              <a:t> —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, </a:t>
            </a:r>
            <a:r>
              <a:rPr dirty="0" err="1"/>
              <a:t>подготовленная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букву</a:t>
            </a:r>
            <a:r>
              <a:rPr dirty="0"/>
              <a:t>: C:, D:, E:.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монтироваться</a:t>
            </a:r>
            <a:r>
              <a:rPr dirty="0"/>
              <a:t> в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создан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разделе</a:t>
            </a:r>
            <a:r>
              <a:rPr dirty="0"/>
              <a:t>, LVM </a:t>
            </a:r>
            <a:r>
              <a:rPr dirty="0" err="1"/>
              <a:t>или</a:t>
            </a:r>
            <a:r>
              <a:rPr dirty="0"/>
              <a:t> RAID-</a:t>
            </a:r>
            <a:r>
              <a:rPr dirty="0" err="1"/>
              <a:t>массиве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и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, </a:t>
            </a:r>
            <a:r>
              <a:rPr dirty="0" err="1"/>
              <a:t>раздела</a:t>
            </a:r>
            <a:r>
              <a:rPr dirty="0"/>
              <a:t> и </a:t>
            </a:r>
            <a:r>
              <a:rPr dirty="0" err="1"/>
              <a:t>тома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0D02D6-5E77-9169-9B97-2C0B2839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1286" y="182880"/>
            <a:ext cx="87989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</a:t>
            </a:r>
            <a:r>
              <a:rPr sz="4800" dirty="0" err="1"/>
              <a:t>Таблицы</a:t>
            </a:r>
            <a:r>
              <a:rPr sz="4800" dirty="0"/>
              <a:t> </a:t>
            </a:r>
            <a:r>
              <a:rPr sz="4800" dirty="0" err="1"/>
              <a:t>разделов</a:t>
            </a:r>
            <a:r>
              <a:rPr sz="4800" dirty="0"/>
              <a:t> MBR и 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ОС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понимает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MBR — </a:t>
            </a:r>
            <a:r>
              <a:rPr dirty="0" err="1"/>
              <a:t>старая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GPT — </a:t>
            </a: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размером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и </a:t>
            </a:r>
            <a:r>
              <a:rPr dirty="0" err="1"/>
              <a:t>режимом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MBR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MBR — Master Boot Record,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загрузочная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загрузочный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 и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Исторически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BIOS-</a:t>
            </a:r>
            <a:r>
              <a:rPr dirty="0" err="1"/>
              <a:t>загрузкой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ограничения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размеру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и </a:t>
            </a:r>
            <a:r>
              <a:rPr dirty="0" err="1"/>
              <a:t>количеству</a:t>
            </a:r>
            <a:r>
              <a:rPr dirty="0"/>
              <a:t> </a:t>
            </a:r>
            <a:r>
              <a:rPr dirty="0" err="1"/>
              <a:t>основных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Встречается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 и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примерах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GPT — GUID Partition Table, </a:t>
            </a:r>
            <a:r>
              <a:rPr dirty="0" err="1"/>
              <a:t>современная</a:t>
            </a:r>
            <a:r>
              <a:rPr dirty="0"/>
              <a:t>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 </a:t>
            </a:r>
            <a:r>
              <a:rPr dirty="0" err="1"/>
              <a:t>структур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ограничений</a:t>
            </a:r>
            <a:r>
              <a:rPr dirty="0"/>
              <a:t> MBR.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MBR и GPT: что выбрать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ОС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выбирают</a:t>
            </a:r>
            <a:r>
              <a:rPr dirty="0"/>
              <a:t> GPT.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 и BIOS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потребоваться</a:t>
            </a:r>
            <a:r>
              <a:rPr dirty="0"/>
              <a:t> MBR.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UEFI-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GPT и EFI System Partition.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знать</a:t>
            </a:r>
            <a:r>
              <a:rPr dirty="0"/>
              <a:t> </a:t>
            </a:r>
            <a:r>
              <a:rPr dirty="0" err="1"/>
              <a:t>обе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схемы</a:t>
            </a:r>
            <a:r>
              <a:rPr dirty="0"/>
              <a:t> </a:t>
            </a:r>
            <a:r>
              <a:rPr dirty="0" err="1"/>
              <a:t>разметки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MBR и 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CB18CA-268D-DE82-35FD-C6A7F81D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76224" y="182880"/>
            <a:ext cx="480907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Разделы</a:t>
            </a:r>
            <a:r>
              <a:rPr sz="4800" dirty="0"/>
              <a:t> </a:t>
            </a:r>
            <a:r>
              <a:rPr sz="4800" dirty="0" err="1"/>
              <a:t>диска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12606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отделяют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пользовательских</a:t>
            </a:r>
            <a:r>
              <a:rPr dirty="0"/>
              <a:t> и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областей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Разметка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загрузкой</a:t>
            </a:r>
            <a:r>
              <a:rPr dirty="0"/>
              <a:t>, </a:t>
            </a:r>
            <a:r>
              <a:rPr dirty="0" err="1"/>
              <a:t>хранением</a:t>
            </a:r>
            <a:r>
              <a:rPr dirty="0"/>
              <a:t> и </a:t>
            </a:r>
            <a:r>
              <a:rPr dirty="0" err="1"/>
              <a:t>восстановлением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установке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, а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опасно</a:t>
            </a:r>
            <a:r>
              <a:rPr dirty="0"/>
              <a:t> </a:t>
            </a:r>
            <a:r>
              <a:rPr dirty="0" err="1"/>
              <a:t>трогать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с </a:t>
            </a:r>
            <a:r>
              <a:rPr dirty="0" err="1"/>
              <a:t>системным</a:t>
            </a:r>
            <a:r>
              <a:rPr dirty="0"/>
              <a:t> </a:t>
            </a:r>
            <a:r>
              <a:rPr dirty="0" err="1"/>
              <a:t>разделом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нарушить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разделы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ОС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C: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D:.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корневой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/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/home.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них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объема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Служебные разделы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Создаются</a:t>
            </a:r>
            <a:r>
              <a:rPr dirty="0"/>
              <a:t> ОС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установщиком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технических</a:t>
            </a:r>
            <a:r>
              <a:rPr dirty="0"/>
              <a:t> </a:t>
            </a:r>
            <a:r>
              <a:rPr dirty="0" err="1"/>
              <a:t>целей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загрузочные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среду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метаданные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</a:t>
            </a:r>
            <a:r>
              <a:rPr dirty="0" err="1"/>
              <a:t>ними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служебного</a:t>
            </a:r>
            <a:r>
              <a:rPr dirty="0"/>
              <a:t> </a:t>
            </a:r>
            <a:r>
              <a:rPr dirty="0" err="1"/>
              <a:t>раздела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нарушить</a:t>
            </a:r>
            <a:r>
              <a:rPr dirty="0"/>
              <a:t> </a:t>
            </a: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Такие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документировать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изменениями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Системные и загрузочные разделы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нужные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Загрузочный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загрузчиком</a:t>
            </a:r>
            <a:r>
              <a:rPr dirty="0"/>
              <a:t> и </a:t>
            </a:r>
            <a:r>
              <a:rPr dirty="0" err="1"/>
              <a:t>режимом</a:t>
            </a:r>
            <a:r>
              <a:rPr dirty="0"/>
              <a:t> BIOS/UEFI.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EFI System Partition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загрузочные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UEFI.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раздел</a:t>
            </a:r>
            <a:r>
              <a:rPr dirty="0"/>
              <a:t> /boot.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загрузочные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установке</a:t>
            </a:r>
            <a:r>
              <a:rPr dirty="0"/>
              <a:t>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717741-0031-DA2A-F700-5AF9C6226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9427" y="182880"/>
            <a:ext cx="552266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RAID: </a:t>
            </a:r>
            <a:r>
              <a:rPr sz="4800" dirty="0" err="1"/>
              <a:t>назначение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физических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в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массив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Цель</a:t>
            </a:r>
            <a:r>
              <a:rPr dirty="0"/>
              <a:t> RAID: </a:t>
            </a:r>
            <a:r>
              <a:rPr dirty="0" err="1"/>
              <a:t>повысить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, </a:t>
            </a:r>
            <a:r>
              <a:rPr dirty="0" err="1"/>
              <a:t>отказоустойчивость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параметра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резервным</a:t>
            </a:r>
            <a:r>
              <a:rPr dirty="0"/>
              <a:t> </a:t>
            </a:r>
            <a:r>
              <a:rPr dirty="0" err="1"/>
              <a:t>копированием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аппаратных</a:t>
            </a:r>
            <a:r>
              <a:rPr dirty="0"/>
              <a:t> </a:t>
            </a:r>
            <a:r>
              <a:rPr dirty="0" err="1"/>
              <a:t>отказов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Уровень</a:t>
            </a:r>
            <a:r>
              <a:rPr dirty="0"/>
              <a:t> RAID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задаче</a:t>
            </a:r>
            <a:r>
              <a:rPr dirty="0"/>
              <a:t>, </a:t>
            </a:r>
            <a:r>
              <a:rPr dirty="0" err="1"/>
              <a:t>бюджету</a:t>
            </a:r>
            <a:r>
              <a:rPr dirty="0"/>
              <a:t> и </a:t>
            </a:r>
            <a:r>
              <a:rPr dirty="0" err="1"/>
              <a:t>рискам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распределяются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нескольким</a:t>
            </a:r>
            <a:r>
              <a:rPr dirty="0"/>
              <a:t> </a:t>
            </a:r>
            <a:r>
              <a:rPr dirty="0" err="1"/>
              <a:t>дискам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 и </a:t>
            </a:r>
            <a:r>
              <a:rPr dirty="0" err="1"/>
              <a:t>записи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отказоустойчивости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там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сохранности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зеркалируются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отказать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немедленной</a:t>
            </a:r>
            <a:r>
              <a:rPr dirty="0"/>
              <a:t> </a:t>
            </a:r>
            <a:r>
              <a:rPr dirty="0" err="1"/>
              <a:t>потери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Полезный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равен</a:t>
            </a:r>
            <a:r>
              <a:rPr dirty="0"/>
              <a:t> </a:t>
            </a:r>
            <a:r>
              <a:rPr dirty="0" err="1"/>
              <a:t>объему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пары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Хороший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важной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случайного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шифрования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контрольная</a:t>
            </a:r>
            <a:r>
              <a:rPr dirty="0"/>
              <a:t> </a:t>
            </a:r>
            <a:r>
              <a:rPr dirty="0" err="1"/>
              <a:t>информация</a:t>
            </a:r>
            <a:r>
              <a:rPr dirty="0"/>
              <a:t> </a:t>
            </a:r>
            <a:r>
              <a:rPr dirty="0" err="1"/>
              <a:t>распределяются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дискам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Выдерживает</a:t>
            </a:r>
            <a:r>
              <a:rPr dirty="0"/>
              <a:t> </a:t>
            </a: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Полезный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суммы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отказа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долгим</a:t>
            </a:r>
            <a:r>
              <a:rPr dirty="0"/>
              <a:t> и </a:t>
            </a:r>
            <a:r>
              <a:rPr dirty="0" err="1"/>
              <a:t>нагружать</a:t>
            </a:r>
            <a:r>
              <a:rPr dirty="0"/>
              <a:t> </a:t>
            </a:r>
            <a:r>
              <a:rPr dirty="0" err="1"/>
              <a:t>массив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Сочетает</a:t>
            </a:r>
            <a:r>
              <a:rPr dirty="0"/>
              <a:t> </a:t>
            </a:r>
            <a:r>
              <a:rPr dirty="0" err="1"/>
              <a:t>зеркалирование</a:t>
            </a:r>
            <a:r>
              <a:rPr dirty="0"/>
              <a:t> и </a:t>
            </a:r>
            <a:r>
              <a:rPr dirty="0" err="1"/>
              <a:t>распределение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</a:t>
            </a: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хорошую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и </a:t>
            </a:r>
            <a:r>
              <a:rPr dirty="0" err="1"/>
              <a:t>отказоустойчивость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Полезный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</a:t>
            </a:r>
            <a:r>
              <a:rPr dirty="0" err="1"/>
              <a:t>половины</a:t>
            </a:r>
            <a:r>
              <a:rPr dirty="0"/>
              <a:t> </a:t>
            </a:r>
            <a:r>
              <a:rPr dirty="0" err="1"/>
              <a:t>суммарного</a:t>
            </a:r>
            <a:r>
              <a:rPr dirty="0"/>
              <a:t> </a:t>
            </a:r>
            <a:r>
              <a:rPr dirty="0" err="1"/>
              <a:t>объема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нагруженных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 и резервное копирование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продолжить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отказе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Backup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восстановить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повреждения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спасает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спасает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вируса-шифровальщика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профессиональной</a:t>
            </a:r>
            <a:r>
              <a:rPr dirty="0"/>
              <a:t> </a:t>
            </a:r>
            <a:r>
              <a:rPr dirty="0" err="1"/>
              <a:t>эксплуатации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и RAID, и backup.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RAID0 RAID1 RAID5 RAID10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B7A732-C02A-2D9E-A129-100A7EB9B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290" y="182880"/>
            <a:ext cx="10086705" cy="30154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1DAEC5-A70B-CA12-F85D-19FC0C4C2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40" b="23553"/>
          <a:stretch>
            <a:fillRect/>
          </a:stretch>
        </p:blipFill>
        <p:spPr>
          <a:xfrm>
            <a:off x="1209291" y="3386124"/>
            <a:ext cx="10086704" cy="31574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E20C-799A-0155-DAFE-0514C8FE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200CD-AC21-64FA-5F66-788E5FE7FE7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RAID0 RAID1 RAID5 RAID10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4A381-14EF-F8A4-4298-854E07CF229C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F27774-7271-73D0-15F4-3AC0FCAA3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36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5713" y="182880"/>
            <a:ext cx="549009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</a:t>
            </a:r>
            <a:r>
              <a:rPr sz="4800" dirty="0" err="1"/>
              <a:t>Форматирование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83109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Форматирование</a:t>
            </a:r>
            <a:r>
              <a:rPr dirty="0"/>
              <a:t> </a:t>
            </a:r>
            <a:r>
              <a:rPr dirty="0" err="1"/>
              <a:t>подготавливает</a:t>
            </a:r>
            <a:r>
              <a:rPr dirty="0"/>
              <a:t>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к </a:t>
            </a:r>
            <a:r>
              <a:rPr dirty="0" err="1"/>
              <a:t>использованию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Термин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значениях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уточнять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Низкоуровневое</a:t>
            </a:r>
            <a:r>
              <a:rPr dirty="0"/>
              <a:t> </a:t>
            </a:r>
            <a:r>
              <a:rPr dirty="0" err="1"/>
              <a:t>форматирование</a:t>
            </a:r>
            <a:r>
              <a:rPr dirty="0"/>
              <a:t> </a:t>
            </a:r>
            <a:r>
              <a:rPr dirty="0" err="1"/>
              <a:t>связано</a:t>
            </a:r>
            <a:r>
              <a:rPr dirty="0"/>
              <a:t> с </a:t>
            </a:r>
            <a:r>
              <a:rPr dirty="0" err="1"/>
              <a:t>физической</a:t>
            </a:r>
            <a:r>
              <a:rPr dirty="0"/>
              <a:t> </a:t>
            </a:r>
            <a:r>
              <a:rPr dirty="0" err="1"/>
              <a:t>подготовкой</a:t>
            </a:r>
            <a:r>
              <a:rPr dirty="0"/>
              <a:t> </a:t>
            </a:r>
            <a:r>
              <a:rPr dirty="0" err="1"/>
              <a:t>носителя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Высокоуровневое</a:t>
            </a:r>
            <a:r>
              <a:rPr dirty="0"/>
              <a:t> </a:t>
            </a:r>
            <a:r>
              <a:rPr dirty="0" err="1"/>
              <a:t>форматирование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современных</a:t>
            </a:r>
            <a:r>
              <a:rPr dirty="0"/>
              <a:t> ОС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высокоуровневое</a:t>
            </a:r>
            <a:r>
              <a:rPr dirty="0"/>
              <a:t> </a:t>
            </a:r>
            <a:r>
              <a:rPr dirty="0" err="1"/>
              <a:t>форматирование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Высокоуровневое форматирование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120877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ОС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каталоги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выполняться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с </a:t>
            </a:r>
            <a:r>
              <a:rPr dirty="0" err="1"/>
              <a:t>проверкой</a:t>
            </a:r>
            <a:r>
              <a:rPr dirty="0"/>
              <a:t> </a:t>
            </a:r>
            <a:r>
              <a:rPr dirty="0" err="1"/>
              <a:t>поверхности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выбирается</a:t>
            </a:r>
            <a:r>
              <a:rPr dirty="0"/>
              <a:t> NTFS, </a:t>
            </a:r>
            <a:r>
              <a:rPr dirty="0" err="1"/>
              <a:t>exFAT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FAT32.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выбирается</a:t>
            </a:r>
            <a:r>
              <a:rPr dirty="0"/>
              <a:t> ext4, XFS, </a:t>
            </a:r>
            <a:r>
              <a:rPr dirty="0" err="1"/>
              <a:t>Btrfs</a:t>
            </a:r>
            <a:r>
              <a:rPr dirty="0"/>
              <a:t> и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Низкоуровневое форматирование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Исторически</a:t>
            </a:r>
            <a:r>
              <a:rPr dirty="0"/>
              <a:t> </a:t>
            </a:r>
            <a:r>
              <a:rPr dirty="0" err="1"/>
              <a:t>означало</a:t>
            </a:r>
            <a:r>
              <a:rPr dirty="0"/>
              <a:t> </a:t>
            </a:r>
            <a:r>
              <a:rPr dirty="0" err="1"/>
              <a:t>физическую</a:t>
            </a:r>
            <a:r>
              <a:rPr dirty="0"/>
              <a:t> </a:t>
            </a:r>
            <a:r>
              <a:rPr dirty="0" err="1"/>
              <a:t>разметку</a:t>
            </a:r>
            <a:r>
              <a:rPr dirty="0"/>
              <a:t> </a:t>
            </a:r>
            <a:r>
              <a:rPr dirty="0" err="1"/>
              <a:t>носителя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дисках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производителем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утилиты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называют</a:t>
            </a:r>
            <a:r>
              <a:rPr dirty="0"/>
              <a:t> </a:t>
            </a:r>
            <a:r>
              <a:rPr dirty="0" err="1"/>
              <a:t>этим</a:t>
            </a:r>
            <a:r>
              <a:rPr dirty="0"/>
              <a:t> </a:t>
            </a:r>
            <a:r>
              <a:rPr dirty="0" err="1"/>
              <a:t>термином</a:t>
            </a:r>
            <a:r>
              <a:rPr dirty="0"/>
              <a:t> </a:t>
            </a:r>
            <a:r>
              <a:rPr dirty="0" err="1"/>
              <a:t>полную</a:t>
            </a:r>
            <a:r>
              <a:rPr dirty="0"/>
              <a:t> </a:t>
            </a:r>
            <a:r>
              <a:rPr dirty="0" err="1"/>
              <a:t>очистку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Полная</a:t>
            </a:r>
            <a:r>
              <a:rPr dirty="0"/>
              <a:t> </a:t>
            </a:r>
            <a:r>
              <a:rPr dirty="0" err="1"/>
              <a:t>перезапись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равна</a:t>
            </a:r>
            <a:r>
              <a:rPr dirty="0"/>
              <a:t> </a:t>
            </a:r>
            <a:r>
              <a:rPr dirty="0" err="1"/>
              <a:t>созданию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технический</a:t>
            </a:r>
            <a:r>
              <a:rPr dirty="0"/>
              <a:t> </a:t>
            </a:r>
            <a:r>
              <a:rPr dirty="0" err="1"/>
              <a:t>термин</a:t>
            </a:r>
            <a:r>
              <a:rPr dirty="0"/>
              <a:t> и </a:t>
            </a:r>
            <a:r>
              <a:rPr dirty="0" err="1"/>
              <a:t>бытовое</a:t>
            </a:r>
            <a:r>
              <a:rPr dirty="0"/>
              <a:t> </a:t>
            </a:r>
            <a:r>
              <a:rPr dirty="0" err="1"/>
              <a:t>употребление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8152" y="182880"/>
            <a:ext cx="804521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Утилиты</a:t>
            </a:r>
            <a:r>
              <a:rPr sz="4800" dirty="0"/>
              <a:t> </a:t>
            </a:r>
            <a:r>
              <a:rPr sz="4800" dirty="0" err="1"/>
              <a:t>работы</a:t>
            </a:r>
            <a:r>
              <a:rPr sz="4800" dirty="0"/>
              <a:t> с </a:t>
            </a:r>
            <a:r>
              <a:rPr sz="4800" dirty="0" err="1"/>
              <a:t>дисками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Утилиты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, </a:t>
            </a:r>
            <a:r>
              <a:rPr dirty="0" err="1"/>
              <a:t>разделы</a:t>
            </a:r>
            <a:r>
              <a:rPr dirty="0"/>
              <a:t>, UUID и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lsblk</a:t>
            </a:r>
            <a:r>
              <a:rPr dirty="0"/>
              <a:t>, </a:t>
            </a:r>
            <a:r>
              <a:rPr dirty="0" err="1"/>
              <a:t>fdisk</a:t>
            </a:r>
            <a:r>
              <a:rPr dirty="0"/>
              <a:t>, parted, </a:t>
            </a:r>
            <a:r>
              <a:rPr dirty="0" err="1"/>
              <a:t>blkid</a:t>
            </a:r>
            <a:r>
              <a:rPr dirty="0"/>
              <a:t>, dd.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используются</a:t>
            </a:r>
            <a:r>
              <a:rPr dirty="0"/>
              <a:t> Disk Management, </a:t>
            </a:r>
            <a:r>
              <a:rPr dirty="0" err="1"/>
              <a:t>diskpart</a:t>
            </a:r>
            <a:r>
              <a:rPr dirty="0"/>
              <a:t>, PowerShell.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Некоторые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Некоторые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разрушить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ошибке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Linux: просмотр дисков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lsblk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блочные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и </a:t>
            </a:r>
            <a:r>
              <a:rPr dirty="0" err="1"/>
              <a:t>разделы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fdisk</a:t>
            </a:r>
            <a:r>
              <a:rPr dirty="0"/>
              <a:t> -l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blkid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UUID и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df</a:t>
            </a:r>
            <a:r>
              <a:rPr dirty="0"/>
              <a:t> -h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смонтированных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dmesg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о </a:t>
            </a:r>
            <a:r>
              <a:rPr dirty="0" err="1"/>
              <a:t>дисках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Linux: опасные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fdisk</a:t>
            </a:r>
            <a:r>
              <a:rPr dirty="0"/>
              <a:t> и parted </a:t>
            </a:r>
            <a:r>
              <a:rPr dirty="0" err="1"/>
              <a:t>изменяют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mkfs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и </a:t>
            </a:r>
            <a:r>
              <a:rPr dirty="0" err="1"/>
              <a:t>уничтожает</a:t>
            </a:r>
            <a:r>
              <a:rPr dirty="0"/>
              <a:t> </a:t>
            </a:r>
            <a:r>
              <a:rPr dirty="0" err="1"/>
              <a:t>старые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разделе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dd </a:t>
            </a:r>
            <a:r>
              <a:rPr dirty="0" err="1"/>
              <a:t>копирует</a:t>
            </a:r>
            <a:r>
              <a:rPr dirty="0"/>
              <a:t> </a:t>
            </a:r>
            <a:r>
              <a:rPr dirty="0" err="1"/>
              <a:t>байты</a:t>
            </a:r>
            <a:r>
              <a:rPr dirty="0"/>
              <a:t> и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перезаписать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Команды</a:t>
            </a:r>
            <a:r>
              <a:rPr dirty="0"/>
              <a:t> с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с </a:t>
            </a:r>
            <a:r>
              <a:rPr dirty="0" err="1"/>
              <a:t>правами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применением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трижды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Windows: инструменты дисков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Disk Management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, </a:t>
            </a:r>
            <a:r>
              <a:rPr dirty="0" err="1"/>
              <a:t>разделы</a:t>
            </a:r>
            <a:r>
              <a:rPr dirty="0"/>
              <a:t> и </a:t>
            </a:r>
            <a:r>
              <a:rPr dirty="0" err="1"/>
              <a:t>тома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diskpart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дисками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PowerShell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получать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дисках</a:t>
            </a:r>
            <a:r>
              <a:rPr dirty="0"/>
              <a:t> и </a:t>
            </a:r>
            <a:r>
              <a:rPr dirty="0" err="1"/>
              <a:t>томах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Event Viewer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дисковой</a:t>
            </a:r>
            <a:r>
              <a:rPr dirty="0"/>
              <a:t> </a:t>
            </a:r>
            <a:r>
              <a:rPr dirty="0" err="1"/>
              <a:t>подсистемы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последствий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3556" y="182880"/>
            <a:ext cx="837440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</a:t>
            </a:r>
            <a:r>
              <a:rPr sz="4800" dirty="0" err="1"/>
              <a:t>Риски</a:t>
            </a:r>
            <a:r>
              <a:rPr sz="4800" dirty="0"/>
              <a:t> </a:t>
            </a:r>
            <a:r>
              <a:rPr sz="4800" dirty="0" err="1"/>
              <a:t>при</a:t>
            </a:r>
            <a:r>
              <a:rPr sz="4800" dirty="0"/>
              <a:t> </a:t>
            </a:r>
            <a:r>
              <a:rPr sz="4800" dirty="0" err="1"/>
              <a:t>работе</a:t>
            </a:r>
            <a:r>
              <a:rPr sz="4800" dirty="0"/>
              <a:t> с </a:t>
            </a:r>
            <a:r>
              <a:rPr sz="4800" dirty="0" err="1"/>
              <a:t>дисками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38865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уничтожить</a:t>
            </a:r>
            <a:r>
              <a:rPr dirty="0"/>
              <a:t> </a:t>
            </a:r>
            <a:r>
              <a:rPr dirty="0" err="1"/>
              <a:t>рабочую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Неверное</a:t>
            </a:r>
            <a:r>
              <a:rPr dirty="0"/>
              <a:t> </a:t>
            </a: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раздела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незагружаемой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Форматирование</a:t>
            </a:r>
            <a:r>
              <a:rPr dirty="0"/>
              <a:t> </a:t>
            </a:r>
            <a:r>
              <a:rPr dirty="0" err="1"/>
              <a:t>удаляет</a:t>
            </a:r>
            <a:r>
              <a:rPr dirty="0"/>
              <a:t> </a:t>
            </a:r>
            <a:r>
              <a:rPr dirty="0" err="1"/>
              <a:t>существующую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dd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предупреждения</a:t>
            </a:r>
            <a:r>
              <a:rPr dirty="0"/>
              <a:t> </a:t>
            </a:r>
            <a:r>
              <a:rPr dirty="0" err="1"/>
              <a:t>перезаписать</a:t>
            </a:r>
            <a:r>
              <a:rPr dirty="0"/>
              <a:t>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Учебные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дополнительном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образе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Правило безопасной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Добавить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системным</a:t>
            </a:r>
            <a:r>
              <a:rPr dirty="0"/>
              <a:t> </a:t>
            </a:r>
            <a:r>
              <a:rPr dirty="0" err="1"/>
              <a:t>диском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задания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Фиксировать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 в </a:t>
            </a:r>
            <a:r>
              <a:rPr dirty="0" err="1"/>
              <a:t>отчете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повторить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, </a:t>
            </a:r>
            <a:r>
              <a:rPr dirty="0" err="1"/>
              <a:t>раздел</a:t>
            </a:r>
            <a:r>
              <a:rPr dirty="0"/>
              <a:t>, </a:t>
            </a:r>
            <a:r>
              <a:rPr dirty="0" err="1"/>
              <a:t>том</a:t>
            </a:r>
            <a:r>
              <a:rPr dirty="0"/>
              <a:t> и </a:t>
            </a:r>
            <a:r>
              <a:rPr dirty="0" err="1"/>
              <a:t>логический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—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MBR и GPT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структуру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</a:t>
            </a:r>
            <a:r>
              <a:rPr dirty="0" err="1"/>
              <a:t>загрузкой</a:t>
            </a:r>
            <a:r>
              <a:rPr dirty="0"/>
              <a:t> и </a:t>
            </a:r>
            <a:r>
              <a:rPr dirty="0" err="1"/>
              <a:t>восстановлением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отказоустойчивость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backup.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Операции</a:t>
            </a:r>
            <a:r>
              <a:rPr dirty="0"/>
              <a:t> с </a:t>
            </a:r>
            <a:r>
              <a:rPr dirty="0" err="1"/>
              <a:t>дисками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снапшота</a:t>
            </a:r>
            <a:r>
              <a:rPr dirty="0"/>
              <a:t>,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и </a:t>
            </a:r>
            <a:r>
              <a:rPr dirty="0" err="1"/>
              <a:t>внимательности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логического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Чем</a:t>
            </a:r>
            <a:r>
              <a:rPr dirty="0"/>
              <a:t> MBR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GPT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системными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5.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RAID и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6.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высокоуровневое</a:t>
            </a:r>
            <a:r>
              <a:rPr dirty="0"/>
              <a:t> </a:t>
            </a:r>
            <a:r>
              <a:rPr dirty="0" err="1"/>
              <a:t>форматирование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низкоуровневого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7.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в Linux и Windows?</a:t>
            </a:r>
          </a:p>
          <a:p>
            <a:pPr>
              <a:defRPr sz="3600"/>
            </a:pPr>
            <a:r>
              <a:rPr dirty="0"/>
              <a:t>8.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опасные</a:t>
            </a:r>
            <a:r>
              <a:rPr dirty="0"/>
              <a:t> </a:t>
            </a:r>
            <a:r>
              <a:rPr dirty="0" err="1"/>
              <a:t>операции</a:t>
            </a:r>
            <a:r>
              <a:rPr dirty="0"/>
              <a:t> с </a:t>
            </a:r>
            <a:r>
              <a:rPr dirty="0" err="1"/>
              <a:t>дисками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снапшота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1844</Words>
  <Application>Microsoft Office PowerPoint</Application>
  <PresentationFormat>Широкоэкранный</PresentationFormat>
  <Paragraphs>228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2026-06-28T06:22:55Z</dcterms:modified>
  <cp:category/>
</cp:coreProperties>
</file>