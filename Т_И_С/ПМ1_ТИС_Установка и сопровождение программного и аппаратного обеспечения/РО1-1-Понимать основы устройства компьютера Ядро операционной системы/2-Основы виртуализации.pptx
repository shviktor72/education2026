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30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306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20493" y="1706374"/>
            <a:ext cx="9551013" cy="30469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Лекция</a:t>
            </a:r>
            <a:r>
              <a:rPr sz="4800" dirty="0"/>
              <a:t> 2. </a:t>
            </a:r>
            <a:r>
              <a:rPr sz="4800" dirty="0" err="1"/>
              <a:t>Основы</a:t>
            </a:r>
            <a:r>
              <a:rPr sz="4800" dirty="0"/>
              <a:t> </a:t>
            </a:r>
            <a:r>
              <a:rPr sz="4800" dirty="0" err="1"/>
              <a:t>виртуализации</a:t>
            </a:r>
            <a:r>
              <a:rPr sz="4800" dirty="0"/>
              <a:t>: </a:t>
            </a:r>
            <a:endParaRPr lang="en-US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виртуальная</a:t>
            </a:r>
            <a:r>
              <a:rPr sz="4800" dirty="0"/>
              <a:t> </a:t>
            </a:r>
            <a:r>
              <a:rPr sz="4800" dirty="0" err="1"/>
              <a:t>машина</a:t>
            </a:r>
            <a:r>
              <a:rPr sz="4800" dirty="0"/>
              <a:t>, </a:t>
            </a:r>
            <a:r>
              <a:rPr sz="4800" dirty="0" err="1"/>
              <a:t>образ</a:t>
            </a:r>
            <a:r>
              <a:rPr sz="4800" dirty="0"/>
              <a:t>, </a:t>
            </a:r>
            <a:endParaRPr lang="en-US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снапшот</a:t>
            </a:r>
            <a:r>
              <a:rPr sz="4800" dirty="0"/>
              <a:t>, </a:t>
            </a:r>
            <a:r>
              <a:rPr sz="4800" dirty="0" err="1"/>
              <a:t>виртуальный</a:t>
            </a:r>
            <a:r>
              <a:rPr sz="4800" dirty="0"/>
              <a:t> </a:t>
            </a:r>
            <a:r>
              <a:rPr sz="4800" dirty="0" err="1"/>
              <a:t>диск</a:t>
            </a:r>
            <a:r>
              <a:rPr sz="4800" dirty="0"/>
              <a:t>. </a:t>
            </a:r>
            <a:endParaRPr lang="en-US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Контейнер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8918" y="182880"/>
            <a:ext cx="362368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Цель</a:t>
            </a:r>
            <a:r>
              <a:rPr sz="4800" dirty="0"/>
              <a:t> </a:t>
            </a:r>
            <a:r>
              <a:rPr sz="4800" dirty="0" err="1"/>
              <a:t>лекции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виртуализации</a:t>
            </a:r>
            <a:r>
              <a:rPr dirty="0"/>
              <a:t> в </a:t>
            </a:r>
            <a:r>
              <a:rPr dirty="0" err="1"/>
              <a:t>администрировании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Разобрать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машины</a:t>
            </a:r>
            <a:r>
              <a:rPr dirty="0"/>
              <a:t> и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гипервизора</a:t>
            </a:r>
            <a:r>
              <a:rPr dirty="0"/>
              <a:t> и </a:t>
            </a:r>
            <a:r>
              <a:rPr dirty="0" err="1"/>
              <a:t>различия</a:t>
            </a:r>
            <a:r>
              <a:rPr dirty="0"/>
              <a:t> </a:t>
            </a:r>
            <a:r>
              <a:rPr dirty="0" err="1"/>
              <a:t>типов</a:t>
            </a:r>
            <a:r>
              <a:rPr dirty="0"/>
              <a:t> </a:t>
            </a:r>
            <a:r>
              <a:rPr dirty="0" err="1"/>
              <a:t>гипервизоров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Научиться</a:t>
            </a:r>
            <a:r>
              <a:rPr dirty="0"/>
              <a:t> </a:t>
            </a: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образа</a:t>
            </a:r>
            <a:r>
              <a:rPr dirty="0"/>
              <a:t>, </a:t>
            </a:r>
            <a:r>
              <a:rPr dirty="0" err="1"/>
              <a:t>виртуального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и </a:t>
            </a:r>
            <a:r>
              <a:rPr dirty="0" err="1"/>
              <a:t>снапшота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Различать</a:t>
            </a:r>
            <a:r>
              <a:rPr dirty="0"/>
              <a:t> </a:t>
            </a:r>
            <a:r>
              <a:rPr dirty="0" err="1"/>
              <a:t>виртуальные</a:t>
            </a:r>
            <a:r>
              <a:rPr dirty="0"/>
              <a:t> </a:t>
            </a:r>
            <a:r>
              <a:rPr dirty="0" err="1"/>
              <a:t>машины</a:t>
            </a:r>
            <a:r>
              <a:rPr dirty="0"/>
              <a:t> и </a:t>
            </a:r>
            <a:r>
              <a:rPr dirty="0" err="1"/>
              <a:t>контейнеры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Подготовиться</a:t>
            </a:r>
            <a:r>
              <a:rPr dirty="0"/>
              <a:t> к </a:t>
            </a:r>
            <a:r>
              <a:rPr dirty="0" err="1"/>
              <a:t>созданию</a:t>
            </a:r>
            <a:r>
              <a:rPr dirty="0"/>
              <a:t> </a:t>
            </a:r>
            <a:r>
              <a:rPr dirty="0" err="1"/>
              <a:t>учебных</a:t>
            </a:r>
            <a:r>
              <a:rPr dirty="0"/>
              <a:t> </a:t>
            </a:r>
            <a:r>
              <a:rPr dirty="0" err="1"/>
              <a:t>виртуальных</a:t>
            </a:r>
            <a:r>
              <a:rPr dirty="0"/>
              <a:t> </a:t>
            </a:r>
            <a:r>
              <a:rPr dirty="0" err="1"/>
              <a:t>машин</a:t>
            </a:r>
            <a:r>
              <a:rPr dirty="0"/>
              <a:t> Linux и Windows Server.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3498" y="182880"/>
            <a:ext cx="715452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Список</a:t>
            </a:r>
            <a:r>
              <a:rPr sz="4800" dirty="0"/>
              <a:t> </a:t>
            </a:r>
            <a:r>
              <a:rPr sz="4800" dirty="0" err="1"/>
              <a:t>учебных</a:t>
            </a:r>
            <a:r>
              <a:rPr sz="4800" dirty="0"/>
              <a:t> </a:t>
            </a:r>
            <a:r>
              <a:rPr sz="4800" dirty="0" err="1"/>
              <a:t>вопросов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sz="3200" dirty="0" err="1"/>
              <a:t>Назначение</a:t>
            </a:r>
            <a:r>
              <a:rPr sz="3200" dirty="0"/>
              <a:t> </a:t>
            </a:r>
            <a:r>
              <a:rPr sz="3200" dirty="0" err="1"/>
              <a:t>виртуализации</a:t>
            </a:r>
            <a:r>
              <a:rPr sz="3200" dirty="0"/>
              <a:t> в </a:t>
            </a:r>
            <a:r>
              <a:rPr sz="3200" dirty="0" err="1"/>
              <a:t>обучении</a:t>
            </a:r>
            <a:r>
              <a:rPr sz="3200" dirty="0"/>
              <a:t>, </a:t>
            </a:r>
            <a:r>
              <a:rPr sz="3200" dirty="0" err="1"/>
              <a:t>тестировании</a:t>
            </a:r>
            <a:r>
              <a:rPr sz="3200" dirty="0"/>
              <a:t> и </a:t>
            </a:r>
            <a:r>
              <a:rPr sz="3200" dirty="0" err="1"/>
              <a:t>системном</a:t>
            </a:r>
            <a:r>
              <a:rPr sz="3200" dirty="0"/>
              <a:t> </a:t>
            </a:r>
            <a:r>
              <a:rPr sz="3200" dirty="0" err="1"/>
              <a:t>администрировании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2. </a:t>
            </a:r>
            <a:r>
              <a:rPr sz="3200" dirty="0" err="1"/>
              <a:t>Виртуальная</a:t>
            </a:r>
            <a:r>
              <a:rPr sz="3200" dirty="0"/>
              <a:t> </a:t>
            </a:r>
            <a:r>
              <a:rPr sz="3200" dirty="0" err="1"/>
              <a:t>машина</a:t>
            </a:r>
            <a:r>
              <a:rPr sz="3200" dirty="0"/>
              <a:t> </a:t>
            </a:r>
            <a:r>
              <a:rPr sz="3200" dirty="0" err="1"/>
              <a:t>как</a:t>
            </a:r>
            <a:r>
              <a:rPr sz="3200" dirty="0"/>
              <a:t> </a:t>
            </a:r>
            <a:r>
              <a:rPr sz="3200" dirty="0" err="1"/>
              <a:t>программная</a:t>
            </a:r>
            <a:r>
              <a:rPr sz="3200" dirty="0"/>
              <a:t> </a:t>
            </a:r>
            <a:r>
              <a:rPr sz="3200" dirty="0" err="1"/>
              <a:t>модель</a:t>
            </a:r>
            <a:r>
              <a:rPr sz="3200" dirty="0"/>
              <a:t> </a:t>
            </a:r>
            <a:r>
              <a:rPr sz="3200" dirty="0" err="1"/>
              <a:t>компьютера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3. </a:t>
            </a:r>
            <a:r>
              <a:rPr sz="3200" dirty="0" err="1"/>
              <a:t>Гипервизор</a:t>
            </a:r>
            <a:r>
              <a:rPr sz="3200" dirty="0"/>
              <a:t>: </a:t>
            </a:r>
            <a:r>
              <a:rPr sz="3200" dirty="0" err="1"/>
              <a:t>назначение</a:t>
            </a:r>
            <a:r>
              <a:rPr sz="3200" dirty="0"/>
              <a:t>, </a:t>
            </a:r>
            <a:r>
              <a:rPr sz="3200" dirty="0" err="1"/>
              <a:t>гипервизоры</a:t>
            </a:r>
            <a:r>
              <a:rPr sz="3200" dirty="0"/>
              <a:t> 1-го и 2-го </a:t>
            </a:r>
            <a:r>
              <a:rPr sz="3200" dirty="0" err="1"/>
              <a:t>типа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4. </a:t>
            </a:r>
            <a:r>
              <a:rPr sz="3200" dirty="0" err="1"/>
              <a:t>Образ</a:t>
            </a:r>
            <a:r>
              <a:rPr sz="3200" dirty="0"/>
              <a:t> </a:t>
            </a:r>
            <a:r>
              <a:rPr sz="3200" dirty="0" err="1"/>
              <a:t>операционной</a:t>
            </a:r>
            <a:r>
              <a:rPr sz="3200" dirty="0"/>
              <a:t> </a:t>
            </a:r>
            <a:r>
              <a:rPr sz="3200" dirty="0" err="1"/>
              <a:t>системы</a:t>
            </a:r>
            <a:r>
              <a:rPr sz="3200" dirty="0"/>
              <a:t>, </a:t>
            </a:r>
            <a:r>
              <a:rPr sz="3200" dirty="0" err="1"/>
              <a:t>виртуальный</a:t>
            </a:r>
            <a:r>
              <a:rPr sz="3200" dirty="0"/>
              <a:t> </a:t>
            </a:r>
            <a:r>
              <a:rPr sz="3200" dirty="0" err="1"/>
              <a:t>диск</a:t>
            </a:r>
            <a:r>
              <a:rPr sz="3200" dirty="0"/>
              <a:t> и </a:t>
            </a:r>
            <a:r>
              <a:rPr sz="3200" dirty="0" err="1"/>
              <a:t>снапшот</a:t>
            </a:r>
            <a:r>
              <a:rPr sz="3200" dirty="0"/>
              <a:t> </a:t>
            </a:r>
            <a:r>
              <a:rPr sz="3200" dirty="0" err="1"/>
              <a:t>как</a:t>
            </a:r>
            <a:r>
              <a:rPr sz="3200" dirty="0"/>
              <a:t> </a:t>
            </a:r>
            <a:r>
              <a:rPr sz="3200" dirty="0" err="1"/>
              <a:t>базовые</a:t>
            </a:r>
            <a:r>
              <a:rPr sz="3200" dirty="0"/>
              <a:t> </a:t>
            </a:r>
            <a:r>
              <a:rPr sz="3200" dirty="0" err="1"/>
              <a:t>элементы</a:t>
            </a:r>
            <a:r>
              <a:rPr sz="3200" dirty="0"/>
              <a:t> </a:t>
            </a:r>
            <a:r>
              <a:rPr sz="3200" dirty="0" err="1"/>
              <a:t>работы</a:t>
            </a:r>
            <a:r>
              <a:rPr sz="3200" dirty="0"/>
              <a:t> с </a:t>
            </a:r>
            <a:r>
              <a:rPr sz="3200" dirty="0" err="1"/>
              <a:t>виртуальной</a:t>
            </a:r>
            <a:r>
              <a:rPr sz="3200" dirty="0"/>
              <a:t> </a:t>
            </a:r>
            <a:r>
              <a:rPr sz="3200" dirty="0" err="1"/>
              <a:t>машиной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5. </a:t>
            </a:r>
            <a:r>
              <a:rPr sz="3200" dirty="0" err="1"/>
              <a:t>Контейнеры</a:t>
            </a:r>
            <a:r>
              <a:rPr sz="3200" dirty="0"/>
              <a:t>: </a:t>
            </a:r>
            <a:r>
              <a:rPr sz="3200" dirty="0" err="1"/>
              <a:t>назначение</a:t>
            </a:r>
            <a:r>
              <a:rPr sz="3200" dirty="0"/>
              <a:t> и </a:t>
            </a:r>
            <a:r>
              <a:rPr sz="3200" dirty="0" err="1"/>
              <a:t>отличие</a:t>
            </a:r>
            <a:r>
              <a:rPr sz="3200" dirty="0"/>
              <a:t> </a:t>
            </a:r>
            <a:r>
              <a:rPr sz="3200" dirty="0" err="1"/>
              <a:t>от</a:t>
            </a:r>
            <a:r>
              <a:rPr sz="3200" dirty="0"/>
              <a:t> </a:t>
            </a:r>
            <a:r>
              <a:rPr sz="3200" dirty="0" err="1"/>
              <a:t>полноценной</a:t>
            </a:r>
            <a:r>
              <a:rPr sz="3200" dirty="0"/>
              <a:t> </a:t>
            </a:r>
            <a:r>
              <a:rPr sz="3200" dirty="0" err="1"/>
              <a:t>виртуальной</a:t>
            </a:r>
            <a:r>
              <a:rPr sz="3200" dirty="0"/>
              <a:t> </a:t>
            </a:r>
            <a:r>
              <a:rPr sz="3200" dirty="0" err="1"/>
              <a:t>машины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6. </a:t>
            </a:r>
            <a:r>
              <a:rPr sz="3200" dirty="0" err="1"/>
              <a:t>Различия</a:t>
            </a:r>
            <a:r>
              <a:rPr sz="3200" dirty="0"/>
              <a:t> </a:t>
            </a:r>
            <a:r>
              <a:rPr sz="3200" dirty="0" err="1"/>
              <a:t>между</a:t>
            </a:r>
            <a:r>
              <a:rPr sz="3200" dirty="0"/>
              <a:t> </a:t>
            </a:r>
            <a:r>
              <a:rPr sz="3200" dirty="0" err="1"/>
              <a:t>виртуальными</a:t>
            </a:r>
            <a:r>
              <a:rPr sz="3200" dirty="0"/>
              <a:t> </a:t>
            </a:r>
            <a:r>
              <a:rPr sz="3200" dirty="0" err="1"/>
              <a:t>машинами</a:t>
            </a:r>
            <a:r>
              <a:rPr sz="3200" dirty="0"/>
              <a:t> и </a:t>
            </a:r>
            <a:r>
              <a:rPr sz="3200" dirty="0" err="1"/>
              <a:t>контейнерами</a:t>
            </a:r>
            <a:r>
              <a:rPr sz="3200" dirty="0"/>
              <a:t> </a:t>
            </a:r>
            <a:r>
              <a:rPr sz="3200" dirty="0" err="1"/>
              <a:t>по</a:t>
            </a:r>
            <a:r>
              <a:rPr sz="3200" dirty="0"/>
              <a:t> </a:t>
            </a:r>
            <a:r>
              <a:rPr sz="3200" dirty="0" err="1"/>
              <a:t>изоляции</a:t>
            </a:r>
            <a:r>
              <a:rPr sz="3200" dirty="0"/>
              <a:t>, </a:t>
            </a:r>
            <a:r>
              <a:rPr sz="3200" dirty="0" err="1"/>
              <a:t>ресурсам</a:t>
            </a:r>
            <a:r>
              <a:rPr sz="3200" dirty="0"/>
              <a:t> и </a:t>
            </a:r>
            <a:r>
              <a:rPr sz="3200" dirty="0" err="1"/>
              <a:t>сценариям</a:t>
            </a:r>
            <a:r>
              <a:rPr sz="3200" dirty="0"/>
              <a:t> </a:t>
            </a:r>
            <a:r>
              <a:rPr sz="3200" dirty="0" err="1"/>
              <a:t>применения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7. </a:t>
            </a:r>
            <a:r>
              <a:rPr sz="3200" dirty="0" err="1"/>
              <a:t>Создание</a:t>
            </a:r>
            <a:r>
              <a:rPr sz="3200" dirty="0"/>
              <a:t> </a:t>
            </a:r>
            <a:r>
              <a:rPr sz="3200" dirty="0" err="1"/>
              <a:t>виртуальной</a:t>
            </a:r>
            <a:r>
              <a:rPr sz="3200" dirty="0"/>
              <a:t> </a:t>
            </a:r>
            <a:r>
              <a:rPr sz="3200" dirty="0" err="1"/>
              <a:t>машины</a:t>
            </a:r>
            <a:r>
              <a:rPr sz="3200" dirty="0"/>
              <a:t> в VirtualBox и VMware </a:t>
            </a:r>
            <a:r>
              <a:rPr sz="3200" dirty="0" err="1"/>
              <a:t>на</a:t>
            </a:r>
            <a:r>
              <a:rPr sz="3200" dirty="0"/>
              <a:t> </a:t>
            </a:r>
            <a:r>
              <a:rPr sz="3200" dirty="0" err="1"/>
              <a:t>базовом</a:t>
            </a:r>
            <a:r>
              <a:rPr sz="3200" dirty="0"/>
              <a:t> </a:t>
            </a:r>
            <a:r>
              <a:rPr sz="3200" dirty="0" err="1"/>
              <a:t>уровне</a:t>
            </a:r>
            <a:r>
              <a:rPr sz="3200" dirty="0"/>
              <a:t>.</a:t>
            </a:r>
          </a:p>
          <a:p>
            <a:pPr>
              <a:defRPr sz="3600"/>
            </a:pPr>
            <a:r>
              <a:rPr sz="3200" dirty="0"/>
              <a:t>8. </a:t>
            </a:r>
            <a:r>
              <a:rPr sz="3200" dirty="0" err="1"/>
              <a:t>Первичная</a:t>
            </a:r>
            <a:r>
              <a:rPr sz="3200" dirty="0"/>
              <a:t> </a:t>
            </a:r>
            <a:r>
              <a:rPr sz="3200" dirty="0" err="1"/>
              <a:t>настройка</a:t>
            </a:r>
            <a:r>
              <a:rPr sz="3200" dirty="0"/>
              <a:t> </a:t>
            </a:r>
            <a:r>
              <a:rPr sz="3200" dirty="0" err="1"/>
              <a:t>клиентских</a:t>
            </a:r>
            <a:r>
              <a:rPr sz="3200" dirty="0"/>
              <a:t> и </a:t>
            </a:r>
            <a:r>
              <a:rPr sz="3200" dirty="0" err="1"/>
              <a:t>серверных</a:t>
            </a:r>
            <a:r>
              <a:rPr sz="3200" dirty="0"/>
              <a:t> </a:t>
            </a:r>
            <a:r>
              <a:rPr sz="3200" dirty="0" err="1"/>
              <a:t>операционных</a:t>
            </a:r>
            <a:r>
              <a:rPr sz="3200" dirty="0"/>
              <a:t> </a:t>
            </a:r>
            <a:r>
              <a:rPr sz="3200" dirty="0" err="1"/>
              <a:t>систем</a:t>
            </a:r>
            <a:r>
              <a:rPr sz="3200" dirty="0"/>
              <a:t> и</a:t>
            </a:r>
            <a:r>
              <a:rPr dirty="0"/>
              <a:t> </a:t>
            </a:r>
            <a:r>
              <a:rPr dirty="0" err="1"/>
              <a:t>использование</a:t>
            </a:r>
            <a:r>
              <a:rPr dirty="0"/>
              <a:t> </a:t>
            </a:r>
            <a:r>
              <a:rPr dirty="0" err="1"/>
              <a:t>снапшотов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термины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 — </a:t>
            </a: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машина</a:t>
            </a:r>
            <a:r>
              <a:rPr dirty="0"/>
              <a:t>, </a:t>
            </a:r>
            <a:r>
              <a:rPr dirty="0" err="1"/>
              <a:t>программная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компьютера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— </a:t>
            </a:r>
            <a:r>
              <a:rPr dirty="0" err="1"/>
              <a:t>операционная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,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оборудованием</a:t>
            </a:r>
            <a:r>
              <a:rPr dirty="0"/>
              <a:t> и </a:t>
            </a:r>
            <a:r>
              <a:rPr dirty="0" err="1"/>
              <a:t>приложениями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ISO-</a:t>
            </a:r>
            <a:r>
              <a:rPr dirty="0" err="1"/>
              <a:t>образ</a:t>
            </a:r>
            <a:r>
              <a:rPr dirty="0"/>
              <a:t> — </a:t>
            </a:r>
            <a:r>
              <a:rPr dirty="0" err="1"/>
              <a:t>файл</a:t>
            </a:r>
            <a:r>
              <a:rPr dirty="0"/>
              <a:t> с </a:t>
            </a:r>
            <a:r>
              <a:rPr dirty="0" err="1"/>
              <a:t>содержимым</a:t>
            </a:r>
            <a:r>
              <a:rPr dirty="0"/>
              <a:t> </a:t>
            </a:r>
            <a:r>
              <a:rPr dirty="0" err="1"/>
              <a:t>установочного</a:t>
            </a:r>
            <a:r>
              <a:rPr dirty="0"/>
              <a:t> </a:t>
            </a:r>
            <a:r>
              <a:rPr dirty="0" err="1"/>
              <a:t>носителя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2904" y="182880"/>
            <a:ext cx="821571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1. </a:t>
            </a:r>
            <a:r>
              <a:rPr sz="4800" dirty="0" err="1"/>
              <a:t>Назначение</a:t>
            </a:r>
            <a:r>
              <a:rPr sz="4800" dirty="0"/>
              <a:t> </a:t>
            </a:r>
            <a:r>
              <a:rPr sz="4800" dirty="0" err="1"/>
              <a:t>виртуализации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Виртуализация</a:t>
            </a:r>
            <a:r>
              <a:rPr dirty="0"/>
              <a:t> — </a:t>
            </a:r>
            <a:r>
              <a:rPr dirty="0" err="1"/>
              <a:t>технология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</a:t>
            </a:r>
            <a:r>
              <a:rPr dirty="0" err="1"/>
              <a:t>программной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 </a:t>
            </a:r>
            <a:r>
              <a:rPr dirty="0" err="1"/>
              <a:t>вычислительного</a:t>
            </a:r>
            <a:r>
              <a:rPr dirty="0"/>
              <a:t> </a:t>
            </a:r>
            <a:r>
              <a:rPr dirty="0" err="1"/>
              <a:t>ресурса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Виртуализировать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компьютер</a:t>
            </a:r>
            <a:r>
              <a:rPr dirty="0"/>
              <a:t>, </a:t>
            </a:r>
            <a:r>
              <a:rPr dirty="0" err="1"/>
              <a:t>диск</a:t>
            </a:r>
            <a:r>
              <a:rPr dirty="0"/>
              <a:t>, </a:t>
            </a:r>
            <a:r>
              <a:rPr dirty="0" err="1"/>
              <a:t>сеть</a:t>
            </a:r>
            <a:r>
              <a:rPr dirty="0"/>
              <a:t>,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рабочее</a:t>
            </a:r>
            <a:r>
              <a:rPr dirty="0"/>
              <a:t> </a:t>
            </a:r>
            <a:r>
              <a:rPr dirty="0" err="1"/>
              <a:t>окружение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важнее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машина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машина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запускать</a:t>
            </a:r>
            <a:r>
              <a:rPr dirty="0"/>
              <a:t> ОС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безопасный</a:t>
            </a:r>
            <a:r>
              <a:rPr dirty="0"/>
              <a:t>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строить</a:t>
            </a:r>
            <a:r>
              <a:rPr dirty="0"/>
              <a:t> </a:t>
            </a:r>
            <a:r>
              <a:rPr dirty="0" err="1"/>
              <a:t>учебные</a:t>
            </a:r>
            <a:r>
              <a:rPr dirty="0"/>
              <a:t> и </a:t>
            </a:r>
            <a:r>
              <a:rPr dirty="0" err="1"/>
              <a:t>тестовые</a:t>
            </a:r>
            <a:r>
              <a:rPr dirty="0"/>
              <a:t> </a:t>
            </a:r>
            <a:r>
              <a:rPr dirty="0" err="1"/>
              <a:t>стенды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Где применяется виртуализация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Обучение</a:t>
            </a:r>
            <a:r>
              <a:rPr dirty="0"/>
              <a:t>: </a:t>
            </a:r>
            <a:r>
              <a:rPr dirty="0" err="1"/>
              <a:t>безопасные</a:t>
            </a:r>
            <a:r>
              <a:rPr dirty="0"/>
              <a:t> </a:t>
            </a:r>
            <a:r>
              <a:rPr dirty="0" err="1"/>
              <a:t>лабораторные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риска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реального</a:t>
            </a:r>
            <a:r>
              <a:rPr dirty="0"/>
              <a:t> ПК.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Тестирование</a:t>
            </a:r>
            <a:r>
              <a:rPr dirty="0"/>
              <a:t>: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настроек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внедрением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Серверы</a:t>
            </a:r>
            <a:r>
              <a:rPr dirty="0"/>
              <a:t>: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нескольких</a:t>
            </a:r>
            <a:r>
              <a:rPr dirty="0"/>
              <a:t> </a:t>
            </a:r>
            <a:r>
              <a:rPr dirty="0" err="1"/>
              <a:t>сервисов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физическом</a:t>
            </a:r>
            <a:r>
              <a:rPr dirty="0"/>
              <a:t> </a:t>
            </a:r>
            <a:r>
              <a:rPr dirty="0" err="1"/>
              <a:t>узле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Изоляция</a:t>
            </a:r>
            <a:r>
              <a:rPr dirty="0"/>
              <a:t>: </a:t>
            </a:r>
            <a:r>
              <a:rPr dirty="0" err="1"/>
              <a:t>разделение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ОС и </a:t>
            </a:r>
            <a:r>
              <a:rPr dirty="0" err="1"/>
              <a:t>ролей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Восстановление</a:t>
            </a:r>
            <a:r>
              <a:rPr dirty="0"/>
              <a:t>: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откат</a:t>
            </a:r>
            <a:r>
              <a:rPr dirty="0"/>
              <a:t> к </a:t>
            </a:r>
            <a:r>
              <a:rPr dirty="0" err="1"/>
              <a:t>рабочему</a:t>
            </a:r>
            <a:r>
              <a:rPr dirty="0"/>
              <a:t> </a:t>
            </a:r>
            <a:r>
              <a:rPr dirty="0" err="1"/>
              <a:t>состоянию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Зачем виртуализация студенту-администратору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изучать</a:t>
            </a:r>
            <a:r>
              <a:rPr dirty="0"/>
              <a:t> Linux и Windows Server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компьютере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ломать</a:t>
            </a:r>
            <a:r>
              <a:rPr dirty="0"/>
              <a:t> </a:t>
            </a:r>
            <a:r>
              <a:rPr dirty="0" err="1"/>
              <a:t>стенд</a:t>
            </a:r>
            <a:r>
              <a:rPr dirty="0"/>
              <a:t> и </a:t>
            </a:r>
            <a:r>
              <a:rPr dirty="0" err="1"/>
              <a:t>восстанавливать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переустановки</a:t>
            </a:r>
            <a:r>
              <a:rPr dirty="0"/>
              <a:t> </a:t>
            </a:r>
            <a:r>
              <a:rPr dirty="0" err="1"/>
              <a:t>хоста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создавать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связанных</a:t>
            </a:r>
            <a:r>
              <a:rPr dirty="0"/>
              <a:t> </a:t>
            </a:r>
            <a:r>
              <a:rPr dirty="0" err="1"/>
              <a:t>машин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тренироваться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работой</a:t>
            </a:r>
            <a:r>
              <a:rPr dirty="0"/>
              <a:t> с </a:t>
            </a:r>
            <a:r>
              <a:rPr dirty="0" err="1"/>
              <a:t>реальными</a:t>
            </a:r>
            <a:r>
              <a:rPr dirty="0"/>
              <a:t> </a:t>
            </a:r>
            <a:r>
              <a:rPr dirty="0" err="1"/>
              <a:t>серверами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документировать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стенда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в </a:t>
            </a:r>
            <a:r>
              <a:rPr dirty="0" err="1"/>
              <a:t>профессиональной</a:t>
            </a:r>
            <a:r>
              <a:rPr dirty="0"/>
              <a:t> </a:t>
            </a:r>
            <a:r>
              <a:rPr dirty="0" err="1"/>
              <a:t>практике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Виртуализация</a:t>
            </a:r>
            <a:r>
              <a:rPr dirty="0"/>
              <a:t> в </a:t>
            </a:r>
            <a:r>
              <a:rPr dirty="0" err="1"/>
              <a:t>учебном</a:t>
            </a:r>
            <a:r>
              <a:rPr dirty="0"/>
              <a:t> </a:t>
            </a:r>
            <a:r>
              <a:rPr dirty="0" err="1"/>
              <a:t>стенде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8A71F5-6477-C5CF-43C2-1B0ACC449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виртуализация не заменяет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отменяет</a:t>
            </a:r>
            <a:r>
              <a:rPr dirty="0"/>
              <a:t> </a:t>
            </a: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реального</a:t>
            </a:r>
            <a:r>
              <a:rPr dirty="0"/>
              <a:t> </a:t>
            </a:r>
            <a:r>
              <a:rPr dirty="0" err="1"/>
              <a:t>оборудования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Производительность</a:t>
            </a:r>
            <a:r>
              <a:rPr dirty="0"/>
              <a:t> ВМ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 </a:t>
            </a:r>
            <a:r>
              <a:rPr dirty="0" err="1"/>
              <a:t>физического</a:t>
            </a:r>
            <a:r>
              <a:rPr dirty="0"/>
              <a:t> </a:t>
            </a:r>
            <a:r>
              <a:rPr dirty="0" err="1"/>
              <a:t>компьютера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аппаратные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изучить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ВМ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отличаться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физической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и </a:t>
            </a:r>
            <a:r>
              <a:rPr dirty="0" err="1"/>
              <a:t>виртуальную</a:t>
            </a:r>
            <a:r>
              <a:rPr dirty="0"/>
              <a:t>, и </a:t>
            </a:r>
            <a:r>
              <a:rPr dirty="0" err="1"/>
              <a:t>физическую</a:t>
            </a:r>
            <a:r>
              <a:rPr dirty="0"/>
              <a:t> </a:t>
            </a:r>
            <a:r>
              <a:rPr dirty="0" err="1"/>
              <a:t>инфраструктуру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4688" y="182880"/>
            <a:ext cx="1217089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400" dirty="0"/>
              <a:t>2. </a:t>
            </a:r>
            <a:r>
              <a:rPr sz="4400" dirty="0" err="1"/>
              <a:t>Виртуальная</a:t>
            </a:r>
            <a:r>
              <a:rPr sz="4400" dirty="0"/>
              <a:t> </a:t>
            </a:r>
            <a:r>
              <a:rPr sz="4400" dirty="0" err="1"/>
              <a:t>машина</a:t>
            </a:r>
            <a:r>
              <a:rPr sz="4400" dirty="0"/>
              <a:t> </a:t>
            </a:r>
            <a:r>
              <a:rPr sz="4400" dirty="0" err="1"/>
              <a:t>как</a:t>
            </a:r>
            <a:r>
              <a:rPr sz="4400" dirty="0"/>
              <a:t> </a:t>
            </a:r>
            <a:r>
              <a:rPr sz="4400" dirty="0" err="1"/>
              <a:t>модель</a:t>
            </a:r>
            <a:r>
              <a:rPr sz="4400" dirty="0"/>
              <a:t> </a:t>
            </a:r>
            <a:r>
              <a:rPr sz="4400" dirty="0" err="1"/>
              <a:t>компьютера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1312607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 — </a:t>
            </a: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машина</a:t>
            </a:r>
            <a:r>
              <a:rPr dirty="0"/>
              <a:t>, </a:t>
            </a:r>
            <a:r>
              <a:rPr dirty="0" err="1"/>
              <a:t>программная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компьютера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VM — Virtual Machine, </a:t>
            </a:r>
            <a:r>
              <a:rPr dirty="0" err="1"/>
              <a:t>английское</a:t>
            </a:r>
            <a:r>
              <a:rPr dirty="0"/>
              <a:t> </a:t>
            </a:r>
            <a:r>
              <a:rPr dirty="0" err="1"/>
              <a:t>название</a:t>
            </a:r>
            <a:r>
              <a:rPr dirty="0"/>
              <a:t>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машины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процессор</a:t>
            </a:r>
            <a:r>
              <a:rPr dirty="0"/>
              <a:t>, </a:t>
            </a:r>
            <a:r>
              <a:rPr dirty="0" err="1"/>
              <a:t>оперативную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, </a:t>
            </a:r>
            <a:r>
              <a:rPr dirty="0" err="1"/>
              <a:t>диск</a:t>
            </a:r>
            <a:r>
              <a:rPr dirty="0"/>
              <a:t> и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адаптер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Гостевая</a:t>
            </a:r>
            <a:r>
              <a:rPr dirty="0"/>
              <a:t> ОС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эти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обычное</a:t>
            </a:r>
            <a:r>
              <a:rPr dirty="0"/>
              <a:t> </a:t>
            </a:r>
            <a:r>
              <a:rPr dirty="0" err="1"/>
              <a:t>оборудование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физической</a:t>
            </a:r>
            <a:r>
              <a:rPr dirty="0"/>
              <a:t> </a:t>
            </a:r>
            <a:r>
              <a:rPr dirty="0" err="1"/>
              <a:t>машине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ВМ.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Хостовая и гостевая 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3600"/>
            </a:pPr>
            <a:r>
              <a:rPr b="1" dirty="0"/>
              <a:t>ОС</a:t>
            </a:r>
            <a:r>
              <a:rPr dirty="0"/>
              <a:t> — </a:t>
            </a:r>
            <a:r>
              <a:rPr dirty="0" err="1"/>
              <a:t>операционная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,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оборудованием</a:t>
            </a:r>
            <a:r>
              <a:rPr dirty="0"/>
              <a:t> и </a:t>
            </a:r>
            <a:r>
              <a:rPr dirty="0" err="1"/>
              <a:t>приложениями</a:t>
            </a:r>
            <a:r>
              <a:rPr dirty="0"/>
              <a:t>.</a:t>
            </a:r>
            <a:endParaRPr lang="en-US" dirty="0"/>
          </a:p>
          <a:p>
            <a:pPr>
              <a:defRPr sz="3600"/>
            </a:pPr>
            <a:endParaRPr dirty="0"/>
          </a:p>
          <a:p>
            <a:pPr>
              <a:defRPr sz="3600"/>
            </a:pPr>
            <a:r>
              <a:rPr b="1" dirty="0" err="1"/>
              <a:t>Хостовая</a:t>
            </a:r>
            <a:r>
              <a:rPr b="1" dirty="0"/>
              <a:t> ОС </a:t>
            </a:r>
            <a:r>
              <a:rPr dirty="0" err="1"/>
              <a:t>установлена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физическом</a:t>
            </a:r>
            <a:r>
              <a:rPr dirty="0"/>
              <a:t> </a:t>
            </a:r>
            <a:r>
              <a:rPr dirty="0" err="1"/>
              <a:t>компьютере</a:t>
            </a:r>
            <a:r>
              <a:rPr dirty="0"/>
              <a:t>.</a:t>
            </a:r>
            <a:endParaRPr lang="en-US" dirty="0"/>
          </a:p>
          <a:p>
            <a:pPr>
              <a:defRPr sz="3600"/>
            </a:pPr>
            <a:endParaRPr dirty="0"/>
          </a:p>
          <a:p>
            <a:pPr>
              <a:defRPr sz="3600"/>
            </a:pPr>
            <a:r>
              <a:rPr b="1" dirty="0" err="1"/>
              <a:t>Гостевая</a:t>
            </a:r>
            <a:r>
              <a:rPr b="1" dirty="0"/>
              <a:t> ОС </a:t>
            </a:r>
            <a:r>
              <a:rPr dirty="0" err="1"/>
              <a:t>установлена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машины</a:t>
            </a:r>
            <a:r>
              <a:rPr dirty="0"/>
              <a:t>.</a:t>
            </a:r>
            <a:endParaRPr lang="en-US" dirty="0"/>
          </a:p>
          <a:p>
            <a:pPr>
              <a:defRPr sz="3600"/>
            </a:pPr>
            <a:endParaRPr dirty="0"/>
          </a:p>
          <a:p>
            <a:pPr>
              <a:defRPr sz="3600"/>
            </a:pPr>
            <a:r>
              <a:rPr dirty="0" err="1"/>
              <a:t>Например</a:t>
            </a:r>
            <a:r>
              <a:rPr dirty="0"/>
              <a:t>, Windows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ноутбуке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хостовой</a:t>
            </a:r>
            <a:r>
              <a:rPr dirty="0"/>
              <a:t> ОС.</a:t>
            </a:r>
            <a:endParaRPr lang="en-US" dirty="0"/>
          </a:p>
          <a:p>
            <a:pPr>
              <a:defRPr sz="3600"/>
            </a:pPr>
            <a:endParaRPr dirty="0"/>
          </a:p>
          <a:p>
            <a:pPr>
              <a:defRPr sz="3600"/>
            </a:pPr>
            <a:r>
              <a:rPr dirty="0"/>
              <a:t>Ubuntu Server </a:t>
            </a:r>
            <a:r>
              <a:rPr dirty="0" err="1"/>
              <a:t>внутри</a:t>
            </a:r>
            <a:r>
              <a:rPr dirty="0"/>
              <a:t> VirtualBox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гостевой</a:t>
            </a:r>
            <a:r>
              <a:rPr dirty="0"/>
              <a:t> ОС.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Ресурсы виртуальной машины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vCPU: virtual CPU,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процессор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vRAM</a:t>
            </a:r>
            <a:r>
              <a:rPr dirty="0"/>
              <a:t>: virtual RAM, </a:t>
            </a:r>
            <a:r>
              <a:rPr dirty="0" err="1"/>
              <a:t>виртуально</a:t>
            </a:r>
            <a:r>
              <a:rPr dirty="0"/>
              <a:t> </a:t>
            </a:r>
            <a:r>
              <a:rPr dirty="0" err="1"/>
              <a:t>выделенная</a:t>
            </a:r>
            <a:r>
              <a:rPr dirty="0"/>
              <a:t> </a:t>
            </a:r>
            <a:r>
              <a:rPr dirty="0" err="1"/>
              <a:t>оперативная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Virtual disk: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,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vNIC</a:t>
            </a:r>
            <a:r>
              <a:rPr dirty="0"/>
              <a:t>: virtual NIC,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адаптер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Firmware: </a:t>
            </a: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прошивка</a:t>
            </a:r>
            <a:r>
              <a:rPr dirty="0"/>
              <a:t>; BIOS </a:t>
            </a:r>
            <a:r>
              <a:rPr dirty="0" err="1"/>
              <a:t>или</a:t>
            </a:r>
            <a:r>
              <a:rPr dirty="0"/>
              <a:t> UEFI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ОС.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машина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программный</a:t>
            </a:r>
            <a:r>
              <a:rPr dirty="0"/>
              <a:t> </a:t>
            </a:r>
            <a:r>
              <a:rPr dirty="0" err="1"/>
              <a:t>компьютер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2BEC6B-4FAB-5DBA-5031-81B80E8B7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vCPU: что важно понимать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vCPU — virtual CPU,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процессор</a:t>
            </a:r>
            <a:r>
              <a:rPr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реальные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и </a:t>
            </a:r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физического</a:t>
            </a:r>
            <a:r>
              <a:rPr dirty="0"/>
              <a:t> CPU.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бездумно</a:t>
            </a:r>
            <a:r>
              <a:rPr dirty="0"/>
              <a:t> </a:t>
            </a:r>
            <a:r>
              <a:rPr dirty="0" err="1"/>
              <a:t>выдавать</a:t>
            </a:r>
            <a:r>
              <a:rPr dirty="0"/>
              <a:t> ВМ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</a:t>
            </a:r>
            <a:r>
              <a:rPr dirty="0" err="1"/>
              <a:t>хостовой</a:t>
            </a:r>
            <a:r>
              <a:rPr dirty="0"/>
              <a:t> </a:t>
            </a:r>
            <a:r>
              <a:rPr dirty="0" err="1"/>
              <a:t>машины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много</a:t>
            </a:r>
            <a:r>
              <a:rPr dirty="0"/>
              <a:t> vCPU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ухудшить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стенда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учебных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достаточно</a:t>
            </a:r>
            <a:r>
              <a:rPr dirty="0"/>
              <a:t> </a:t>
            </a:r>
            <a:r>
              <a:rPr dirty="0" err="1"/>
              <a:t>умеренного</a:t>
            </a:r>
            <a:r>
              <a:rPr dirty="0"/>
              <a:t> </a:t>
            </a:r>
            <a:r>
              <a:rPr dirty="0" err="1"/>
              <a:t>количества</a:t>
            </a:r>
            <a:r>
              <a:rPr dirty="0"/>
              <a:t> vCPU.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vRAM: что важно понимать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vRAM</a:t>
            </a:r>
            <a:r>
              <a:rPr dirty="0"/>
              <a:t> — </a:t>
            </a:r>
            <a:r>
              <a:rPr dirty="0" err="1"/>
              <a:t>виртуально</a:t>
            </a:r>
            <a:r>
              <a:rPr dirty="0"/>
              <a:t> </a:t>
            </a:r>
            <a:r>
              <a:rPr dirty="0" err="1"/>
              <a:t>выделенная</a:t>
            </a:r>
            <a:r>
              <a:rPr dirty="0"/>
              <a:t> </a:t>
            </a:r>
            <a:r>
              <a:rPr dirty="0" err="1"/>
              <a:t>оперативная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резервируется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физической</a:t>
            </a:r>
            <a:r>
              <a:rPr dirty="0"/>
              <a:t> RAM </a:t>
            </a:r>
            <a:r>
              <a:rPr dirty="0" err="1"/>
              <a:t>компьютера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выделить</a:t>
            </a:r>
            <a:r>
              <a:rPr dirty="0"/>
              <a:t> </a:t>
            </a: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мало</a:t>
            </a:r>
            <a:r>
              <a:rPr dirty="0"/>
              <a:t>, </a:t>
            </a:r>
            <a:r>
              <a:rPr dirty="0" err="1"/>
              <a:t>гостевая</a:t>
            </a:r>
            <a:r>
              <a:rPr dirty="0"/>
              <a:t> ОС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тормозить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выделить</a:t>
            </a:r>
            <a:r>
              <a:rPr dirty="0"/>
              <a:t> </a:t>
            </a: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много</a:t>
            </a:r>
            <a:r>
              <a:rPr dirty="0"/>
              <a:t>, </a:t>
            </a:r>
            <a:r>
              <a:rPr dirty="0" err="1"/>
              <a:t>начнет</a:t>
            </a:r>
            <a:r>
              <a:rPr dirty="0"/>
              <a:t> </a:t>
            </a:r>
            <a:r>
              <a:rPr dirty="0" err="1"/>
              <a:t>тормозить</a:t>
            </a:r>
            <a:r>
              <a:rPr dirty="0"/>
              <a:t> </a:t>
            </a:r>
            <a:r>
              <a:rPr dirty="0" err="1"/>
              <a:t>хостовая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оставлять</a:t>
            </a:r>
            <a:r>
              <a:rPr dirty="0"/>
              <a:t> </a:t>
            </a:r>
            <a:r>
              <a:rPr dirty="0" err="1"/>
              <a:t>запас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хоста</a:t>
            </a:r>
            <a:r>
              <a:rPr dirty="0"/>
              <a:t> и </a:t>
            </a:r>
            <a:r>
              <a:rPr dirty="0" err="1"/>
              <a:t>других</a:t>
            </a:r>
            <a:r>
              <a:rPr dirty="0"/>
              <a:t> ВМ.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Виртуальная сеть ВМ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6338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vNIC</a:t>
            </a:r>
            <a:r>
              <a:rPr dirty="0"/>
              <a:t> </a:t>
            </a:r>
            <a:r>
              <a:rPr dirty="0" err="1"/>
              <a:t>подключает</a:t>
            </a:r>
            <a:r>
              <a:rPr dirty="0"/>
              <a:t> ВМ к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физической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NAT </a:t>
            </a:r>
            <a:r>
              <a:rPr dirty="0" err="1"/>
              <a:t>дает</a:t>
            </a:r>
            <a:r>
              <a:rPr dirty="0"/>
              <a:t> ВМ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наружу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хост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Bridge </a:t>
            </a:r>
            <a:r>
              <a:rPr dirty="0" err="1"/>
              <a:t>подключает</a:t>
            </a:r>
            <a:r>
              <a:rPr dirty="0"/>
              <a:t> ВМ </a:t>
            </a:r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отдельное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в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Host-only </a:t>
            </a:r>
            <a:r>
              <a:rPr dirty="0" err="1"/>
              <a:t>или</a:t>
            </a:r>
            <a:r>
              <a:rPr dirty="0"/>
              <a:t> Internal </a:t>
            </a:r>
            <a:r>
              <a:rPr dirty="0" err="1"/>
              <a:t>изолирует</a:t>
            </a:r>
            <a:r>
              <a:rPr dirty="0"/>
              <a:t> ВМ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учебного</a:t>
            </a:r>
            <a:r>
              <a:rPr dirty="0"/>
              <a:t> </a:t>
            </a:r>
            <a:r>
              <a:rPr dirty="0" err="1"/>
              <a:t>стенда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типа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цели</a:t>
            </a:r>
            <a:r>
              <a:rPr dirty="0"/>
              <a:t> </a:t>
            </a:r>
            <a:r>
              <a:rPr dirty="0" err="1"/>
              <a:t>лабораторной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7540" y="182880"/>
            <a:ext cx="736643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3. </a:t>
            </a:r>
            <a:r>
              <a:rPr sz="4800" dirty="0" err="1"/>
              <a:t>Гипервизор</a:t>
            </a:r>
            <a:r>
              <a:rPr sz="4800" dirty="0"/>
              <a:t>: </a:t>
            </a:r>
            <a:r>
              <a:rPr sz="4800" dirty="0" err="1"/>
              <a:t>назначение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 err="1"/>
              <a:t>Гипервизор</a:t>
            </a:r>
            <a:r>
              <a:rPr dirty="0"/>
              <a:t> — </a:t>
            </a:r>
            <a:r>
              <a:rPr dirty="0" err="1"/>
              <a:t>программный</a:t>
            </a:r>
            <a:r>
              <a:rPr dirty="0"/>
              <a:t> </a:t>
            </a:r>
            <a:r>
              <a:rPr dirty="0" err="1"/>
              <a:t>слой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создает</a:t>
            </a:r>
            <a:r>
              <a:rPr dirty="0"/>
              <a:t> и </a:t>
            </a:r>
            <a:r>
              <a:rPr dirty="0" err="1"/>
              <a:t>запускает</a:t>
            </a:r>
            <a:r>
              <a:rPr dirty="0"/>
              <a:t> ВМ.</a:t>
            </a:r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распределяет</a:t>
            </a:r>
            <a:r>
              <a:rPr dirty="0"/>
              <a:t> CPU, RAM, </a:t>
            </a:r>
            <a:r>
              <a:rPr dirty="0" err="1"/>
              <a:t>диски</a:t>
            </a:r>
            <a:r>
              <a:rPr dirty="0"/>
              <a:t> и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виртуальными</a:t>
            </a:r>
            <a:r>
              <a:rPr dirty="0"/>
              <a:t> </a:t>
            </a:r>
            <a:r>
              <a:rPr dirty="0" err="1"/>
              <a:t>машинами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изолирует</a:t>
            </a:r>
            <a:r>
              <a:rPr dirty="0"/>
              <a:t> </a:t>
            </a:r>
            <a:r>
              <a:rPr dirty="0" err="1"/>
              <a:t>гостевые</a:t>
            </a:r>
            <a:r>
              <a:rPr dirty="0"/>
              <a:t> ОС </a:t>
            </a:r>
            <a:r>
              <a:rPr dirty="0" err="1"/>
              <a:t>друг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друга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запуском</a:t>
            </a:r>
            <a:r>
              <a:rPr dirty="0"/>
              <a:t>, </a:t>
            </a:r>
            <a:r>
              <a:rPr dirty="0" err="1"/>
              <a:t>остановкой</a:t>
            </a:r>
            <a:r>
              <a:rPr dirty="0"/>
              <a:t>, </a:t>
            </a:r>
            <a:r>
              <a:rPr dirty="0" err="1"/>
              <a:t>снапшотами</a:t>
            </a:r>
            <a:r>
              <a:rPr dirty="0"/>
              <a:t> и </a:t>
            </a:r>
            <a:r>
              <a:rPr dirty="0" err="1"/>
              <a:t>настройками</a:t>
            </a:r>
            <a:r>
              <a:rPr dirty="0"/>
              <a:t> ВМ.</a:t>
            </a:r>
          </a:p>
          <a:p>
            <a:pPr indent="354013">
              <a:defRPr sz="3600"/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гипервизора</a:t>
            </a:r>
            <a:r>
              <a:rPr dirty="0"/>
              <a:t> ВМ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сможет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Гипервизор 1-го типа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Гипервизор</a:t>
            </a:r>
            <a:r>
              <a:rPr dirty="0"/>
              <a:t> 1-го </a:t>
            </a:r>
            <a:r>
              <a:rPr dirty="0" err="1"/>
              <a:t>типа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физическом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называют</a:t>
            </a:r>
            <a:r>
              <a:rPr dirty="0"/>
              <a:t> bare-metal hypervisor.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обычной</a:t>
            </a:r>
            <a:r>
              <a:rPr dirty="0"/>
              <a:t> </a:t>
            </a:r>
            <a:r>
              <a:rPr dirty="0" err="1"/>
              <a:t>хостовой</a:t>
            </a:r>
            <a:r>
              <a:rPr dirty="0"/>
              <a:t> ОС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собой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применяется</a:t>
            </a:r>
            <a:r>
              <a:rPr dirty="0"/>
              <a:t> в </a:t>
            </a:r>
            <a:r>
              <a:rPr dirty="0" err="1"/>
              <a:t>серверной</a:t>
            </a:r>
            <a:r>
              <a:rPr dirty="0"/>
              <a:t> </a:t>
            </a:r>
            <a:r>
              <a:rPr dirty="0" err="1"/>
              <a:t>виртуализации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Примеры</a:t>
            </a:r>
            <a:r>
              <a:rPr dirty="0"/>
              <a:t>: VMware </a:t>
            </a:r>
            <a:r>
              <a:rPr dirty="0" err="1"/>
              <a:t>ESXi</a:t>
            </a:r>
            <a:r>
              <a:rPr dirty="0"/>
              <a:t>, Microsoft Hyper-V Server, </a:t>
            </a:r>
            <a:r>
              <a:rPr dirty="0" err="1"/>
              <a:t>Proxmox</a:t>
            </a:r>
            <a:r>
              <a:rPr dirty="0"/>
              <a:t> 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Гипервизор 2-го типа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Гипервизор</a:t>
            </a:r>
            <a:r>
              <a:rPr dirty="0"/>
              <a:t> 2-го </a:t>
            </a:r>
            <a:r>
              <a:rPr dirty="0" err="1"/>
              <a:t>типа</a:t>
            </a:r>
            <a:r>
              <a:rPr dirty="0"/>
              <a:t> </a:t>
            </a:r>
            <a:r>
              <a:rPr dirty="0" err="1"/>
              <a:t>устанавливается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в </a:t>
            </a:r>
            <a:r>
              <a:rPr dirty="0" err="1"/>
              <a:t>хостовой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и </a:t>
            </a:r>
            <a:r>
              <a:rPr dirty="0" err="1"/>
              <a:t>лабораторных</a:t>
            </a:r>
            <a:r>
              <a:rPr dirty="0"/>
              <a:t> </a:t>
            </a:r>
            <a:r>
              <a:rPr dirty="0" err="1"/>
              <a:t>работ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проще</a:t>
            </a:r>
            <a:r>
              <a:rPr dirty="0"/>
              <a:t> в </a:t>
            </a:r>
            <a:r>
              <a:rPr dirty="0" err="1"/>
              <a:t>установке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компьютер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ноутбук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Производительность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хостовой</a:t>
            </a:r>
            <a:r>
              <a:rPr dirty="0"/>
              <a:t> ОС и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нагрузки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Примеры</a:t>
            </a:r>
            <a:r>
              <a:rPr dirty="0"/>
              <a:t>: VirtualBox, VMware Workstation, VMware Fusion.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Гипервизоры</a:t>
            </a:r>
            <a:r>
              <a:rPr dirty="0"/>
              <a:t> 1-го и 2-го </a:t>
            </a:r>
            <a:r>
              <a:rPr dirty="0" err="1"/>
              <a:t>типа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389F32-7249-50FC-4BAE-9D15A2808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54" y="914400"/>
            <a:ext cx="9933039" cy="559386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выбрать гипервизор для обучения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lang="ru-RU" dirty="0"/>
              <a:t>использования на ПК или ноутбуке </a:t>
            </a:r>
            <a:r>
              <a:rPr dirty="0" err="1"/>
              <a:t>удобны</a:t>
            </a:r>
            <a:r>
              <a:rPr dirty="0"/>
              <a:t> VirtualBox </a:t>
            </a:r>
            <a:r>
              <a:rPr dirty="0" err="1"/>
              <a:t>или</a:t>
            </a:r>
            <a:r>
              <a:rPr dirty="0"/>
              <a:t> VMware Workstation.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запускаются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обычном</a:t>
            </a:r>
            <a:r>
              <a:rPr dirty="0"/>
              <a:t> ПК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отдельного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позволяют</a:t>
            </a:r>
            <a:r>
              <a:rPr dirty="0"/>
              <a:t> </a:t>
            </a:r>
            <a:r>
              <a:rPr dirty="0" err="1"/>
              <a:t>создавать</a:t>
            </a:r>
            <a:r>
              <a:rPr dirty="0"/>
              <a:t> </a:t>
            </a:r>
            <a:r>
              <a:rPr dirty="0" err="1"/>
              <a:t>снапшоты</a:t>
            </a:r>
            <a:r>
              <a:rPr dirty="0"/>
              <a:t> и </a:t>
            </a:r>
            <a:r>
              <a:rPr dirty="0" err="1"/>
              <a:t>несколько</a:t>
            </a:r>
            <a:r>
              <a:rPr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поддерживают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типы</a:t>
            </a:r>
            <a:r>
              <a:rPr dirty="0"/>
              <a:t> </a:t>
            </a:r>
            <a:r>
              <a:rPr dirty="0" err="1"/>
              <a:t>виртуальных</a:t>
            </a:r>
            <a:r>
              <a:rPr dirty="0"/>
              <a:t> </a:t>
            </a:r>
            <a:r>
              <a:rPr dirty="0" err="1"/>
              <a:t>сетей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серверной</a:t>
            </a:r>
            <a:r>
              <a:rPr dirty="0"/>
              <a:t> </a:t>
            </a:r>
            <a:r>
              <a:rPr dirty="0" err="1"/>
              <a:t>практики</a:t>
            </a:r>
            <a:r>
              <a:rPr dirty="0"/>
              <a:t> </a:t>
            </a:r>
            <a:r>
              <a:rPr dirty="0" err="1"/>
              <a:t>позже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перейти</a:t>
            </a:r>
            <a:r>
              <a:rPr dirty="0"/>
              <a:t> к </a:t>
            </a:r>
            <a:r>
              <a:rPr dirty="0" err="1"/>
              <a:t>Proxmox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ESXi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799" y="182880"/>
            <a:ext cx="1147192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4. </a:t>
            </a:r>
            <a:r>
              <a:rPr sz="4800" dirty="0" err="1"/>
              <a:t>Образ</a:t>
            </a:r>
            <a:r>
              <a:rPr sz="4800" dirty="0"/>
              <a:t> ОС, </a:t>
            </a:r>
            <a:r>
              <a:rPr sz="4800" dirty="0" err="1"/>
              <a:t>виртуальный</a:t>
            </a:r>
            <a:r>
              <a:rPr sz="4800" dirty="0"/>
              <a:t> </a:t>
            </a:r>
            <a:r>
              <a:rPr sz="4800" dirty="0" err="1"/>
              <a:t>диск</a:t>
            </a:r>
            <a:r>
              <a:rPr sz="4800" dirty="0"/>
              <a:t> и </a:t>
            </a:r>
            <a:r>
              <a:rPr sz="4800" dirty="0" err="1"/>
              <a:t>снапшот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Образ</a:t>
            </a:r>
            <a:r>
              <a:rPr dirty="0"/>
              <a:t> ОС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гостевой</a:t>
            </a:r>
            <a:r>
              <a:rPr dirty="0"/>
              <a:t> </a:t>
            </a:r>
            <a:r>
              <a:rPr dirty="0" err="1"/>
              <a:t>операционной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гостевой</a:t>
            </a:r>
            <a:r>
              <a:rPr dirty="0"/>
              <a:t> ОС и </a:t>
            </a:r>
            <a:r>
              <a:rPr dirty="0" err="1"/>
              <a:t>данные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Снапшот</a:t>
            </a:r>
            <a:r>
              <a:rPr dirty="0"/>
              <a:t> </a:t>
            </a:r>
            <a:r>
              <a:rPr dirty="0" err="1"/>
              <a:t>фиксирует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ВМ в </a:t>
            </a:r>
            <a:r>
              <a:rPr dirty="0" err="1"/>
              <a:t>конкретный</a:t>
            </a:r>
            <a:r>
              <a:rPr dirty="0"/>
              <a:t> </a:t>
            </a:r>
            <a:r>
              <a:rPr dirty="0" err="1"/>
              <a:t>момент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Эти </a:t>
            </a:r>
            <a:r>
              <a:rPr dirty="0" err="1"/>
              <a:t>элементы</a:t>
            </a:r>
            <a:r>
              <a:rPr dirty="0"/>
              <a:t> </a:t>
            </a:r>
            <a:r>
              <a:rPr dirty="0" err="1"/>
              <a:t>позволяют</a:t>
            </a:r>
            <a:r>
              <a:rPr dirty="0"/>
              <a:t> </a:t>
            </a:r>
            <a:r>
              <a:rPr dirty="0" err="1"/>
              <a:t>создать</a:t>
            </a:r>
            <a:r>
              <a:rPr dirty="0"/>
              <a:t>, </a:t>
            </a:r>
            <a:r>
              <a:rPr dirty="0" err="1"/>
              <a:t>сохранить</a:t>
            </a:r>
            <a:r>
              <a:rPr dirty="0"/>
              <a:t> и </a:t>
            </a:r>
            <a:r>
              <a:rPr dirty="0" err="1"/>
              <a:t>восстановить</a:t>
            </a:r>
            <a:r>
              <a:rPr dirty="0"/>
              <a:t> </a:t>
            </a:r>
            <a:r>
              <a:rPr dirty="0" err="1"/>
              <a:t>стенд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различия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Образ 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Образ</a:t>
            </a:r>
            <a:r>
              <a:rPr dirty="0"/>
              <a:t> ОС — </a:t>
            </a:r>
            <a:r>
              <a:rPr dirty="0" err="1"/>
              <a:t>файл</a:t>
            </a:r>
            <a:r>
              <a:rPr dirty="0"/>
              <a:t> с </a:t>
            </a:r>
            <a:r>
              <a:rPr dirty="0" err="1"/>
              <a:t>установочными</a:t>
            </a:r>
            <a:r>
              <a:rPr dirty="0"/>
              <a:t> </a:t>
            </a:r>
            <a:r>
              <a:rPr dirty="0" err="1"/>
              <a:t>данными</a:t>
            </a:r>
            <a:r>
              <a:rPr dirty="0"/>
              <a:t> </a:t>
            </a:r>
            <a:r>
              <a:rPr dirty="0" err="1"/>
              <a:t>операционной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ISO-</a:t>
            </a:r>
            <a:r>
              <a:rPr dirty="0" err="1"/>
              <a:t>образ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ISO-</a:t>
            </a:r>
            <a:r>
              <a:rPr dirty="0" err="1"/>
              <a:t>образ</a:t>
            </a:r>
            <a:r>
              <a:rPr dirty="0"/>
              <a:t> </a:t>
            </a:r>
            <a:r>
              <a:rPr dirty="0" err="1"/>
              <a:t>имитирует</a:t>
            </a:r>
            <a:r>
              <a:rPr dirty="0"/>
              <a:t> </a:t>
            </a:r>
            <a:r>
              <a:rPr dirty="0" err="1"/>
              <a:t>установочный</a:t>
            </a:r>
            <a:r>
              <a:rPr dirty="0"/>
              <a:t> DVD </a:t>
            </a:r>
            <a:r>
              <a:rPr dirty="0" err="1"/>
              <a:t>или</a:t>
            </a:r>
            <a:r>
              <a:rPr dirty="0"/>
              <a:t> USB-</a:t>
            </a:r>
            <a:r>
              <a:rPr dirty="0" err="1"/>
              <a:t>носитель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образ</a:t>
            </a:r>
            <a:r>
              <a:rPr dirty="0"/>
              <a:t> </a:t>
            </a:r>
            <a:r>
              <a:rPr dirty="0" err="1"/>
              <a:t>устанавливают</a:t>
            </a:r>
            <a:r>
              <a:rPr dirty="0"/>
              <a:t> Linux, Windows </a:t>
            </a:r>
            <a:r>
              <a:rPr dirty="0" err="1"/>
              <a:t>или</a:t>
            </a:r>
            <a:r>
              <a:rPr dirty="0"/>
              <a:t> Windows Server.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скачивать</a:t>
            </a:r>
            <a:r>
              <a:rPr dirty="0"/>
              <a:t> </a:t>
            </a:r>
            <a:r>
              <a:rPr dirty="0" err="1"/>
              <a:t>образы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надежных</a:t>
            </a:r>
            <a:r>
              <a:rPr dirty="0"/>
              <a:t> </a:t>
            </a:r>
            <a:r>
              <a:rPr dirty="0" err="1"/>
              <a:t>источников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Виртуальный диск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— 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гостевая</a:t>
            </a:r>
            <a:r>
              <a:rPr dirty="0"/>
              <a:t> ОС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нем</a:t>
            </a:r>
            <a:r>
              <a:rPr dirty="0"/>
              <a:t> </a:t>
            </a:r>
            <a:r>
              <a:rPr dirty="0" err="1"/>
              <a:t>размещаются</a:t>
            </a:r>
            <a:r>
              <a:rPr dirty="0"/>
              <a:t> </a:t>
            </a:r>
            <a:r>
              <a:rPr dirty="0" err="1"/>
              <a:t>разделы</a:t>
            </a:r>
            <a:r>
              <a:rPr dirty="0"/>
              <a:t>, </a:t>
            </a:r>
            <a:r>
              <a:rPr dirty="0" err="1"/>
              <a:t>файловые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, ОС и </a:t>
            </a:r>
            <a:r>
              <a:rPr dirty="0" err="1"/>
              <a:t>данные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VirtualBox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формат</a:t>
            </a:r>
            <a:r>
              <a:rPr dirty="0"/>
              <a:t> VDI.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VMware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формат</a:t>
            </a:r>
            <a:r>
              <a:rPr dirty="0"/>
              <a:t> VMDK.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выбирать</a:t>
            </a:r>
            <a:r>
              <a:rPr dirty="0"/>
              <a:t> с </a:t>
            </a:r>
            <a:r>
              <a:rPr dirty="0" err="1"/>
              <a:t>запасом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ОС, </a:t>
            </a:r>
            <a:r>
              <a:rPr dirty="0" err="1"/>
              <a:t>обновления</a:t>
            </a:r>
            <a:r>
              <a:rPr dirty="0"/>
              <a:t> и </a:t>
            </a:r>
            <a:r>
              <a:rPr dirty="0" err="1"/>
              <a:t>лабораторные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Типы виртуальных дисков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Фиксированный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занимает</a:t>
            </a:r>
            <a:r>
              <a:rPr dirty="0"/>
              <a:t> </a:t>
            </a:r>
            <a:r>
              <a:rPr dirty="0" err="1"/>
              <a:t>заданный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хосте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Динамический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растет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мере</a:t>
            </a:r>
            <a:r>
              <a:rPr dirty="0"/>
              <a:t> </a:t>
            </a:r>
            <a:r>
              <a:rPr dirty="0" err="1"/>
              <a:t>заполнения</a:t>
            </a:r>
            <a:r>
              <a:rPr dirty="0"/>
              <a:t> </a:t>
            </a:r>
            <a:r>
              <a:rPr dirty="0" err="1"/>
              <a:t>данными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Динамический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экономит</a:t>
            </a:r>
            <a:r>
              <a:rPr dirty="0"/>
              <a:t> </a:t>
            </a:r>
            <a:r>
              <a:rPr dirty="0" err="1"/>
              <a:t>место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контроля</a:t>
            </a:r>
            <a:r>
              <a:rPr dirty="0"/>
              <a:t> </a:t>
            </a:r>
            <a:r>
              <a:rPr dirty="0" err="1"/>
              <a:t>свободного</a:t>
            </a:r>
            <a:r>
              <a:rPr dirty="0"/>
              <a:t> </a:t>
            </a:r>
            <a:r>
              <a:rPr dirty="0" err="1"/>
              <a:t>пространства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учебных</a:t>
            </a:r>
            <a:r>
              <a:rPr dirty="0"/>
              <a:t> </a:t>
            </a:r>
            <a:r>
              <a:rPr dirty="0" err="1"/>
              <a:t>стендов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динамический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производительных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 и </a:t>
            </a:r>
            <a:r>
              <a:rPr dirty="0" err="1"/>
              <a:t>надежность</a:t>
            </a:r>
            <a:r>
              <a:rPr dirty="0"/>
              <a:t> </a:t>
            </a:r>
            <a:r>
              <a:rPr dirty="0" err="1"/>
              <a:t>хранения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Снапшот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Снапшот</a:t>
            </a:r>
            <a:r>
              <a:rPr dirty="0"/>
              <a:t> — </a:t>
            </a:r>
            <a:r>
              <a:rPr dirty="0" err="1"/>
              <a:t>сохраненное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ВМ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выбранный</a:t>
            </a:r>
            <a:r>
              <a:rPr dirty="0"/>
              <a:t> </a:t>
            </a:r>
            <a:r>
              <a:rPr dirty="0" err="1"/>
              <a:t>момент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фиксирует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, </a:t>
            </a:r>
            <a:r>
              <a:rPr dirty="0" err="1"/>
              <a:t>памяти</a:t>
            </a:r>
            <a:r>
              <a:rPr dirty="0"/>
              <a:t> и </a:t>
            </a:r>
            <a:r>
              <a:rPr dirty="0" err="1"/>
              <a:t>настроек</a:t>
            </a:r>
            <a:r>
              <a:rPr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Снапшот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вернуться</a:t>
            </a:r>
            <a:r>
              <a:rPr dirty="0"/>
              <a:t> </a:t>
            </a:r>
            <a:r>
              <a:rPr dirty="0" err="1"/>
              <a:t>назад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особенно</a:t>
            </a:r>
            <a:r>
              <a:rPr dirty="0"/>
              <a:t> </a:t>
            </a:r>
            <a:r>
              <a:rPr dirty="0" err="1"/>
              <a:t>важен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работой</a:t>
            </a:r>
            <a:r>
              <a:rPr dirty="0"/>
              <a:t> с </a:t>
            </a:r>
            <a:r>
              <a:rPr dirty="0" err="1"/>
              <a:t>дисками</a:t>
            </a:r>
            <a:r>
              <a:rPr dirty="0"/>
              <a:t>, </a:t>
            </a:r>
            <a:r>
              <a:rPr dirty="0" err="1"/>
              <a:t>загрузчиком</a:t>
            </a:r>
            <a:r>
              <a:rPr dirty="0"/>
              <a:t> и </a:t>
            </a:r>
            <a:r>
              <a:rPr dirty="0" err="1"/>
              <a:t>сетью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Снапшот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заменяет</a:t>
            </a:r>
            <a:r>
              <a:rPr dirty="0"/>
              <a:t> </a:t>
            </a:r>
            <a:r>
              <a:rPr dirty="0" err="1"/>
              <a:t>полноценное</a:t>
            </a:r>
            <a:r>
              <a:rPr dirty="0"/>
              <a:t> </a:t>
            </a:r>
            <a:r>
              <a:rPr dirty="0" err="1"/>
              <a:t>резервное</a:t>
            </a:r>
            <a:r>
              <a:rPr dirty="0"/>
              <a:t> </a:t>
            </a:r>
            <a:r>
              <a:rPr dirty="0" err="1"/>
              <a:t>копирование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Когда обязательно делать снапшот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изменением</a:t>
            </a:r>
            <a:r>
              <a:rPr dirty="0"/>
              <a:t> </a:t>
            </a:r>
            <a:r>
              <a:rPr dirty="0" err="1"/>
              <a:t>разделов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настройкой</a:t>
            </a:r>
            <a:r>
              <a:rPr dirty="0"/>
              <a:t> </a:t>
            </a:r>
            <a:r>
              <a:rPr dirty="0" err="1"/>
              <a:t>загрузчика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установкой</a:t>
            </a:r>
            <a:r>
              <a:rPr dirty="0"/>
              <a:t> </a:t>
            </a:r>
            <a:r>
              <a:rPr dirty="0" err="1"/>
              <a:t>драйверов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системных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сетевыми</a:t>
            </a:r>
            <a:r>
              <a:rPr dirty="0"/>
              <a:t> </a:t>
            </a:r>
            <a:r>
              <a:rPr dirty="0" err="1"/>
              <a:t>экспериментами</a:t>
            </a:r>
            <a:r>
              <a:rPr dirty="0"/>
              <a:t> с </a:t>
            </a:r>
            <a:r>
              <a:rPr dirty="0" err="1"/>
              <a:t>несколькими</a:t>
            </a:r>
            <a:r>
              <a:rPr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лабораторной</a:t>
            </a:r>
            <a:r>
              <a:rPr dirty="0"/>
              <a:t> </a:t>
            </a:r>
            <a:r>
              <a:rPr dirty="0" err="1"/>
              <a:t>работой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возможно</a:t>
            </a:r>
            <a:r>
              <a:rPr dirty="0"/>
              <a:t> </a:t>
            </a:r>
            <a:r>
              <a:rPr dirty="0" err="1"/>
              <a:t>нарушить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ОС.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03027" y="182880"/>
            <a:ext cx="755546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5. </a:t>
            </a:r>
            <a:r>
              <a:rPr sz="4800" dirty="0" err="1"/>
              <a:t>Контейнеры</a:t>
            </a:r>
            <a:r>
              <a:rPr sz="4800" dirty="0"/>
              <a:t>: </a:t>
            </a:r>
            <a:r>
              <a:rPr sz="4800" dirty="0" err="1"/>
              <a:t>назначение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46304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Контейнер</a:t>
            </a:r>
            <a:r>
              <a:rPr dirty="0"/>
              <a:t> — </a:t>
            </a:r>
            <a:r>
              <a:rPr dirty="0" err="1"/>
              <a:t>изолированная</a:t>
            </a:r>
            <a:r>
              <a:rPr dirty="0"/>
              <a:t> </a:t>
            </a:r>
            <a:r>
              <a:rPr dirty="0" err="1"/>
              <a:t>среда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и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Контейнер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полноценную</a:t>
            </a:r>
            <a:r>
              <a:rPr dirty="0"/>
              <a:t> </a:t>
            </a:r>
            <a:r>
              <a:rPr dirty="0" err="1"/>
              <a:t>отдельную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 </a:t>
            </a:r>
            <a:r>
              <a:rPr dirty="0" err="1"/>
              <a:t>хостовой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Контейнер</a:t>
            </a:r>
            <a:r>
              <a:rPr dirty="0"/>
              <a:t> </a:t>
            </a:r>
            <a:r>
              <a:rPr dirty="0" err="1"/>
              <a:t>запускается</a:t>
            </a:r>
            <a:r>
              <a:rPr dirty="0"/>
              <a:t> </a:t>
            </a:r>
            <a:r>
              <a:rPr dirty="0" err="1"/>
              <a:t>быстрее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Контейнер</a:t>
            </a:r>
            <a:r>
              <a:rPr dirty="0"/>
              <a:t>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сервисов</a:t>
            </a:r>
            <a:r>
              <a:rPr dirty="0"/>
              <a:t>, </a:t>
            </a:r>
            <a:r>
              <a:rPr dirty="0" err="1"/>
              <a:t>тестирования</a:t>
            </a:r>
            <a:r>
              <a:rPr dirty="0"/>
              <a:t> и </a:t>
            </a:r>
            <a:r>
              <a:rPr dirty="0" err="1"/>
              <a:t>разработки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Docker как пример контейнерной 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Docker — </a:t>
            </a:r>
            <a:r>
              <a:rPr dirty="0" err="1"/>
              <a:t>популярная</a:t>
            </a:r>
            <a:r>
              <a:rPr dirty="0"/>
              <a:t> </a:t>
            </a:r>
            <a:r>
              <a:rPr dirty="0" err="1"/>
              <a:t>платформа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с </a:t>
            </a:r>
            <a:r>
              <a:rPr dirty="0" err="1"/>
              <a:t>контейнерами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Docker image — </a:t>
            </a:r>
            <a:r>
              <a:rPr dirty="0" err="1"/>
              <a:t>шаблон</a:t>
            </a:r>
            <a:r>
              <a:rPr dirty="0"/>
              <a:t> </a:t>
            </a:r>
            <a:r>
              <a:rPr dirty="0" err="1"/>
              <a:t>контейнера</a:t>
            </a:r>
            <a:r>
              <a:rPr dirty="0"/>
              <a:t> с </a:t>
            </a:r>
            <a:r>
              <a:rPr dirty="0" err="1"/>
              <a:t>приложением</a:t>
            </a:r>
            <a:r>
              <a:rPr dirty="0"/>
              <a:t> и </a:t>
            </a:r>
            <a:r>
              <a:rPr dirty="0" err="1"/>
              <a:t>зависимостями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Docker container — </a:t>
            </a:r>
            <a:r>
              <a:rPr dirty="0" err="1"/>
              <a:t>запущенный</a:t>
            </a:r>
            <a:r>
              <a:rPr dirty="0"/>
              <a:t> </a:t>
            </a:r>
            <a:r>
              <a:rPr dirty="0" err="1"/>
              <a:t>экземпляр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образа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Контейнер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создать</a:t>
            </a:r>
            <a:r>
              <a:rPr dirty="0"/>
              <a:t>, </a:t>
            </a:r>
            <a:r>
              <a:rPr dirty="0" err="1"/>
              <a:t>удалить</a:t>
            </a:r>
            <a:r>
              <a:rPr dirty="0"/>
              <a:t> и </a:t>
            </a:r>
            <a:r>
              <a:rPr dirty="0" err="1"/>
              <a:t>повторить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идею</a:t>
            </a:r>
            <a:r>
              <a:rPr dirty="0"/>
              <a:t>, </a:t>
            </a: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глубокой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B44DA-9F29-9411-BBEB-7F1CB22B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B2F8B9-DBA2-8895-2582-77057F847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202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контейнер изолирует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Файловое</a:t>
            </a:r>
            <a:r>
              <a:rPr dirty="0"/>
              <a:t> </a:t>
            </a:r>
            <a:r>
              <a:rPr dirty="0" err="1"/>
              <a:t>окружение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Переменные</a:t>
            </a:r>
            <a:r>
              <a:rPr dirty="0"/>
              <a:t> </a:t>
            </a:r>
            <a:r>
              <a:rPr dirty="0" err="1"/>
              <a:t>окружения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Зависимости</a:t>
            </a:r>
            <a:r>
              <a:rPr dirty="0"/>
              <a:t> и </a:t>
            </a:r>
            <a:r>
              <a:rPr dirty="0" err="1"/>
              <a:t>библиотеки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порты</a:t>
            </a:r>
            <a:r>
              <a:rPr dirty="0"/>
              <a:t> и </a:t>
            </a:r>
            <a:r>
              <a:rPr dirty="0" err="1"/>
              <a:t>процессы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контейнера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 ОС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остается</a:t>
            </a:r>
            <a:r>
              <a:rPr dirty="0"/>
              <a:t> </a:t>
            </a:r>
            <a:r>
              <a:rPr dirty="0" err="1"/>
              <a:t>общим</a:t>
            </a:r>
            <a:r>
              <a:rPr dirty="0"/>
              <a:t> с </a:t>
            </a:r>
            <a:r>
              <a:rPr dirty="0" err="1"/>
              <a:t>хостом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Контейнер не равен виртуальной машине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 </a:t>
            </a:r>
            <a:r>
              <a:rPr dirty="0" err="1"/>
              <a:t>имитирует</a:t>
            </a:r>
            <a:r>
              <a:rPr dirty="0"/>
              <a:t> </a:t>
            </a:r>
            <a:r>
              <a:rPr dirty="0" err="1"/>
              <a:t>целый</a:t>
            </a:r>
            <a:r>
              <a:rPr dirty="0"/>
              <a:t> </a:t>
            </a:r>
            <a:r>
              <a:rPr dirty="0" err="1"/>
              <a:t>компьютер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Контейнер</a:t>
            </a:r>
            <a:r>
              <a:rPr dirty="0"/>
              <a:t> </a:t>
            </a:r>
            <a:r>
              <a:rPr dirty="0" err="1"/>
              <a:t>изолирует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и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окружение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 </a:t>
            </a:r>
            <a:r>
              <a:rPr dirty="0" err="1"/>
              <a:t>запускает</a:t>
            </a:r>
            <a:r>
              <a:rPr dirty="0"/>
              <a:t> </a:t>
            </a:r>
            <a:r>
              <a:rPr dirty="0" err="1"/>
              <a:t>отдельную</a:t>
            </a:r>
            <a:r>
              <a:rPr dirty="0"/>
              <a:t> </a:t>
            </a:r>
            <a:r>
              <a:rPr dirty="0" err="1"/>
              <a:t>гостевую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Контейнер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 </a:t>
            </a:r>
            <a:r>
              <a:rPr dirty="0" err="1"/>
              <a:t>хостовой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Поэтому</a:t>
            </a:r>
            <a:r>
              <a:rPr dirty="0"/>
              <a:t> ВМ и </a:t>
            </a:r>
            <a:r>
              <a:rPr dirty="0" err="1"/>
              <a:t>контейнеры</a:t>
            </a:r>
            <a:r>
              <a:rPr dirty="0"/>
              <a:t> </a:t>
            </a:r>
            <a:r>
              <a:rPr dirty="0" err="1"/>
              <a:t>решают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2322" y="182880"/>
            <a:ext cx="1083687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6. </a:t>
            </a:r>
            <a:r>
              <a:rPr sz="4800" dirty="0" err="1"/>
              <a:t>Различия</a:t>
            </a:r>
            <a:r>
              <a:rPr sz="4800" dirty="0"/>
              <a:t> </a:t>
            </a:r>
            <a:r>
              <a:rPr sz="4800" dirty="0" err="1"/>
              <a:t>между</a:t>
            </a:r>
            <a:r>
              <a:rPr sz="4800" dirty="0"/>
              <a:t> ВМ и </a:t>
            </a:r>
            <a:r>
              <a:rPr sz="4800" dirty="0" err="1"/>
              <a:t>контейнерами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445342"/>
            <a:ext cx="10972800" cy="468113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 </a:t>
            </a:r>
            <a:r>
              <a:rPr dirty="0" err="1"/>
              <a:t>тяжелее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сильную</a:t>
            </a:r>
            <a:r>
              <a:rPr dirty="0"/>
              <a:t> </a:t>
            </a:r>
            <a:r>
              <a:rPr dirty="0" err="1"/>
              <a:t>изоляцию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Контейнер</a:t>
            </a:r>
            <a:r>
              <a:rPr dirty="0"/>
              <a:t> </a:t>
            </a:r>
            <a:r>
              <a:rPr dirty="0" err="1"/>
              <a:t>легче</a:t>
            </a:r>
            <a:r>
              <a:rPr dirty="0"/>
              <a:t> и </a:t>
            </a:r>
            <a:r>
              <a:rPr dirty="0" err="1"/>
              <a:t>быстрее</a:t>
            </a:r>
            <a:r>
              <a:rPr dirty="0"/>
              <a:t> </a:t>
            </a:r>
            <a:r>
              <a:rPr dirty="0" err="1"/>
              <a:t>запускается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изучения</a:t>
            </a:r>
            <a:r>
              <a:rPr dirty="0"/>
              <a:t> ОС и </a:t>
            </a:r>
            <a:r>
              <a:rPr dirty="0" err="1"/>
              <a:t>серверных</a:t>
            </a:r>
            <a:r>
              <a:rPr dirty="0"/>
              <a:t> </a:t>
            </a:r>
            <a:r>
              <a:rPr dirty="0" err="1"/>
              <a:t>ролей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Контейнер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упаковки</a:t>
            </a:r>
            <a:r>
              <a:rPr dirty="0"/>
              <a:t> и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приложений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моды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технологию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Изоляция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ВМ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отдельную</a:t>
            </a:r>
            <a:r>
              <a:rPr dirty="0"/>
              <a:t> </a:t>
            </a:r>
            <a:r>
              <a:rPr dirty="0" err="1"/>
              <a:t>гостевую</a:t>
            </a:r>
            <a:r>
              <a:rPr dirty="0"/>
              <a:t> ОС.</a:t>
            </a:r>
          </a:p>
          <a:p>
            <a:pPr indent="354013"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ВМ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ломает</a:t>
            </a:r>
            <a:r>
              <a:rPr dirty="0"/>
              <a:t> </a:t>
            </a:r>
            <a:r>
              <a:rPr dirty="0" err="1"/>
              <a:t>хостовую</a:t>
            </a:r>
            <a:r>
              <a:rPr dirty="0"/>
              <a:t> ОС.</a:t>
            </a:r>
          </a:p>
          <a:p>
            <a:pPr indent="354013">
              <a:defRPr sz="3600"/>
            </a:pPr>
            <a:r>
              <a:rPr dirty="0" err="1"/>
              <a:t>Контейнеры</a:t>
            </a:r>
            <a:r>
              <a:rPr dirty="0"/>
              <a:t> </a:t>
            </a:r>
            <a:r>
              <a:rPr dirty="0" err="1"/>
              <a:t>разделяют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 </a:t>
            </a:r>
            <a:r>
              <a:rPr dirty="0" err="1"/>
              <a:t>хостовой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Контейнерная</a:t>
            </a:r>
            <a:r>
              <a:rPr dirty="0"/>
              <a:t> </a:t>
            </a:r>
            <a:r>
              <a:rPr dirty="0" err="1"/>
              <a:t>изоляция</a:t>
            </a:r>
            <a:r>
              <a:rPr dirty="0"/>
              <a:t> </a:t>
            </a:r>
            <a:r>
              <a:rPr dirty="0" err="1"/>
              <a:t>легче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принципиально</a:t>
            </a:r>
            <a:r>
              <a:rPr dirty="0"/>
              <a:t> </a:t>
            </a:r>
            <a:r>
              <a:rPr dirty="0" err="1"/>
              <a:t>другая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изучения</a:t>
            </a:r>
            <a:r>
              <a:rPr dirty="0"/>
              <a:t> Linux и Windows Server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ВМ.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Ресурсы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выделить</a:t>
            </a:r>
            <a:r>
              <a:rPr dirty="0"/>
              <a:t> CPU, RAM, </a:t>
            </a:r>
            <a:r>
              <a:rPr dirty="0" err="1"/>
              <a:t>диск</a:t>
            </a:r>
            <a:r>
              <a:rPr dirty="0"/>
              <a:t> и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адаптер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Контейнер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потребляет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 </a:t>
            </a:r>
            <a:r>
              <a:rPr dirty="0" err="1"/>
              <a:t>занимает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места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гостевой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Контейнерный</a:t>
            </a:r>
            <a:r>
              <a:rPr dirty="0"/>
              <a:t> </a:t>
            </a:r>
            <a:r>
              <a:rPr dirty="0" err="1"/>
              <a:t>образ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образа</a:t>
            </a:r>
            <a:r>
              <a:rPr dirty="0"/>
              <a:t> </a:t>
            </a:r>
            <a:r>
              <a:rPr dirty="0" err="1"/>
              <a:t>полноценной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слабом</a:t>
            </a:r>
            <a:r>
              <a:rPr dirty="0"/>
              <a:t> ПК </a:t>
            </a:r>
            <a:r>
              <a:rPr dirty="0" err="1"/>
              <a:t>контейнеры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запускаться</a:t>
            </a:r>
            <a:r>
              <a:rPr dirty="0"/>
              <a:t> </a:t>
            </a:r>
            <a:r>
              <a:rPr dirty="0" err="1"/>
              <a:t>легче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ВМ.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Сценарии применения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ВМ: </a:t>
            </a:r>
            <a:r>
              <a:rPr dirty="0" err="1"/>
              <a:t>учебный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, </a:t>
            </a:r>
            <a:r>
              <a:rPr dirty="0" err="1"/>
              <a:t>отдельная</a:t>
            </a:r>
            <a:r>
              <a:rPr dirty="0"/>
              <a:t> ОС, </a:t>
            </a:r>
            <a:r>
              <a:rPr dirty="0" err="1"/>
              <a:t>тест</a:t>
            </a:r>
            <a:r>
              <a:rPr dirty="0"/>
              <a:t> </a:t>
            </a:r>
            <a:r>
              <a:rPr dirty="0" err="1"/>
              <a:t>загрузчика</a:t>
            </a:r>
            <a:r>
              <a:rPr dirty="0"/>
              <a:t>,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стенд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ВМ: Windows Server и Linux Server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физическом</a:t>
            </a:r>
            <a:r>
              <a:rPr dirty="0"/>
              <a:t> ПК.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Контейнер</a:t>
            </a:r>
            <a:r>
              <a:rPr dirty="0"/>
              <a:t>: web-</a:t>
            </a:r>
            <a:r>
              <a:rPr dirty="0" err="1"/>
              <a:t>приложение</a:t>
            </a:r>
            <a:r>
              <a:rPr dirty="0"/>
              <a:t>, </a:t>
            </a: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теста</a:t>
            </a:r>
            <a:r>
              <a:rPr dirty="0"/>
              <a:t>, </a:t>
            </a:r>
            <a:r>
              <a:rPr dirty="0" err="1"/>
              <a:t>учебный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Контейнер</a:t>
            </a:r>
            <a:r>
              <a:rPr dirty="0"/>
              <a:t>: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одинакового</a:t>
            </a:r>
            <a:r>
              <a:rPr dirty="0"/>
              <a:t> </a:t>
            </a:r>
            <a:r>
              <a:rPr dirty="0" err="1"/>
              <a:t>окружения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первом</a:t>
            </a:r>
            <a:r>
              <a:rPr dirty="0"/>
              <a:t> </a:t>
            </a:r>
            <a:r>
              <a:rPr dirty="0" err="1"/>
              <a:t>модуле</a:t>
            </a:r>
            <a:r>
              <a:rPr dirty="0"/>
              <a:t> ВМ </a:t>
            </a:r>
            <a:r>
              <a:rPr dirty="0" err="1"/>
              <a:t>важнее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изучается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ОС.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ВМ и </a:t>
            </a:r>
            <a:r>
              <a:rPr dirty="0" err="1"/>
              <a:t>контейнеры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6FE9DC-113C-873C-3E14-697F78BC7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216"/>
            <a:ext cx="12192000" cy="675556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36C4-21B0-97B0-C2AE-6702D9A80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482D11-CCC1-C56F-862D-4FF689B17D7A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ВМ и </a:t>
            </a:r>
            <a:r>
              <a:rPr dirty="0" err="1"/>
              <a:t>контейнеры</a:t>
            </a: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5F9454B-9EF2-CBC9-2AA3-FE23329D5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186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3207" y="182880"/>
            <a:ext cx="1045510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7. </a:t>
            </a:r>
            <a:r>
              <a:rPr sz="4800" dirty="0" err="1"/>
              <a:t>Создание</a:t>
            </a:r>
            <a:r>
              <a:rPr sz="4800" dirty="0"/>
              <a:t> ВМ в VirtualBox и VMware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определяется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выбирается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ОС: Linux, Windows </a:t>
            </a:r>
            <a:r>
              <a:rPr dirty="0" err="1"/>
              <a:t>или</a:t>
            </a:r>
            <a:r>
              <a:rPr dirty="0"/>
              <a:t> Windows Server.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задаются</a:t>
            </a:r>
            <a:r>
              <a:rPr dirty="0"/>
              <a:t> CPU, RAM, </a:t>
            </a:r>
            <a:r>
              <a:rPr dirty="0" err="1"/>
              <a:t>диск</a:t>
            </a:r>
            <a:r>
              <a:rPr dirty="0"/>
              <a:t> и </a:t>
            </a:r>
            <a:r>
              <a:rPr dirty="0" err="1"/>
              <a:t>сеть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подключается</a:t>
            </a:r>
            <a:r>
              <a:rPr dirty="0"/>
              <a:t> ISO-</a:t>
            </a:r>
            <a:r>
              <a:rPr dirty="0" err="1"/>
              <a:t>образ</a:t>
            </a:r>
            <a:r>
              <a:rPr dirty="0"/>
              <a:t> </a:t>
            </a:r>
            <a:r>
              <a:rPr dirty="0" err="1"/>
              <a:t>установщика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фиксируются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и </a:t>
            </a:r>
            <a:r>
              <a:rPr dirty="0" err="1"/>
              <a:t>делается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Планирование ресурсов ВМ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CPU: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выдавать</a:t>
            </a:r>
            <a:r>
              <a:rPr dirty="0"/>
              <a:t> ВМ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</a:t>
            </a:r>
            <a:r>
              <a:rPr dirty="0" err="1"/>
              <a:t>хоста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RAM: </a:t>
            </a:r>
            <a:r>
              <a:rPr dirty="0" err="1"/>
              <a:t>оставить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хостовой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Disk: </a:t>
            </a:r>
            <a:r>
              <a:rPr dirty="0" err="1"/>
              <a:t>задать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 с </a:t>
            </a:r>
            <a:r>
              <a:rPr dirty="0" err="1"/>
              <a:t>запасом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ОС и </a:t>
            </a:r>
            <a:r>
              <a:rPr dirty="0" err="1"/>
              <a:t>лабораторные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Network: </a:t>
            </a:r>
            <a:r>
              <a:rPr dirty="0" err="1"/>
              <a:t>выбрать</a:t>
            </a:r>
            <a:r>
              <a:rPr dirty="0"/>
              <a:t> NAT, bridge, host-only </a:t>
            </a:r>
            <a:r>
              <a:rPr dirty="0" err="1"/>
              <a:t>или</a:t>
            </a:r>
            <a:r>
              <a:rPr dirty="0"/>
              <a:t> internal.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Snapshot: </a:t>
            </a:r>
            <a:r>
              <a:rPr dirty="0" err="1"/>
              <a:t>сделать</a:t>
            </a:r>
            <a:r>
              <a:rPr dirty="0"/>
              <a:t> </a:t>
            </a:r>
            <a:r>
              <a:rPr dirty="0" err="1"/>
              <a:t>базовый</a:t>
            </a:r>
            <a:r>
              <a:rPr dirty="0"/>
              <a:t> </a:t>
            </a:r>
            <a:r>
              <a:rPr dirty="0" err="1"/>
              <a:t>снимок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Настройки ВМ перед установкой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Название</a:t>
            </a:r>
            <a:r>
              <a:rPr dirty="0"/>
              <a:t> ВМ </a:t>
            </a:r>
            <a:r>
              <a:rPr dirty="0" err="1"/>
              <a:t>должно</a:t>
            </a:r>
            <a:r>
              <a:rPr dirty="0"/>
              <a:t> </a:t>
            </a:r>
            <a:r>
              <a:rPr dirty="0" err="1"/>
              <a:t>отражать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: Linux Server, Windows Server.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Тип</a:t>
            </a:r>
            <a:r>
              <a:rPr dirty="0"/>
              <a:t> ОС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соответствовать</a:t>
            </a:r>
            <a:r>
              <a:rPr dirty="0"/>
              <a:t> </a:t>
            </a:r>
            <a:r>
              <a:rPr dirty="0" err="1"/>
              <a:t>устанавливаемой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создается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ISO-</a:t>
            </a:r>
            <a:r>
              <a:rPr dirty="0" err="1"/>
              <a:t>образ</a:t>
            </a:r>
            <a:r>
              <a:rPr dirty="0"/>
              <a:t> </a:t>
            </a:r>
            <a:r>
              <a:rPr dirty="0" err="1"/>
              <a:t>подключается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установочный</a:t>
            </a:r>
            <a:r>
              <a:rPr dirty="0"/>
              <a:t> </a:t>
            </a:r>
            <a:r>
              <a:rPr dirty="0" err="1"/>
              <a:t>носитель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Сетевая</a:t>
            </a:r>
            <a:r>
              <a:rPr dirty="0"/>
              <a:t> </a:t>
            </a:r>
            <a:r>
              <a:rPr dirty="0" err="1"/>
              <a:t>карта</a:t>
            </a:r>
            <a:r>
              <a:rPr dirty="0"/>
              <a:t> </a:t>
            </a:r>
            <a:r>
              <a:rPr dirty="0" err="1"/>
              <a:t>выбирается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 </a:t>
            </a:r>
            <a:r>
              <a:rPr dirty="0" err="1"/>
              <a:t>лабораторной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Типы виртуальных сетей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NAT: ВМ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наружу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хост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Bridge: ВМ </a:t>
            </a:r>
            <a:r>
              <a:rPr dirty="0" err="1"/>
              <a:t>подключается</a:t>
            </a:r>
            <a:r>
              <a:rPr dirty="0"/>
              <a:t> к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узел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Host-only: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хостом</a:t>
            </a:r>
            <a:r>
              <a:rPr dirty="0"/>
              <a:t> и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Internal: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ВМ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внутренней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Ошибка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мешает</a:t>
            </a:r>
            <a:r>
              <a:rPr dirty="0"/>
              <a:t> </a:t>
            </a:r>
            <a:r>
              <a:rPr dirty="0" err="1"/>
              <a:t>лабораторной</a:t>
            </a:r>
            <a:r>
              <a:rPr dirty="0"/>
              <a:t> </a:t>
            </a:r>
            <a:r>
              <a:rPr dirty="0" err="1"/>
              <a:t>работе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при создании ВМ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Выделить</a:t>
            </a:r>
            <a:r>
              <a:rPr dirty="0"/>
              <a:t> </a:t>
            </a: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мало</a:t>
            </a:r>
            <a:r>
              <a:rPr dirty="0"/>
              <a:t> RAM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гостевой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Выделить</a:t>
            </a:r>
            <a:r>
              <a:rPr dirty="0"/>
              <a:t> </a:t>
            </a: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 и </a:t>
            </a:r>
            <a:r>
              <a:rPr dirty="0" err="1"/>
              <a:t>замедлить</a:t>
            </a:r>
            <a:r>
              <a:rPr dirty="0"/>
              <a:t> </a:t>
            </a:r>
            <a:r>
              <a:rPr dirty="0" err="1"/>
              <a:t>хост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маленький</a:t>
            </a:r>
            <a:r>
              <a:rPr dirty="0"/>
              <a:t>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Подключить</a:t>
            </a:r>
            <a:r>
              <a:rPr dirty="0"/>
              <a:t> </a:t>
            </a:r>
            <a:r>
              <a:rPr dirty="0" err="1"/>
              <a:t>неверный</a:t>
            </a:r>
            <a:r>
              <a:rPr dirty="0"/>
              <a:t> ISO-</a:t>
            </a:r>
            <a:r>
              <a:rPr dirty="0" err="1"/>
              <a:t>образ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Выбрать</a:t>
            </a:r>
            <a:r>
              <a:rPr dirty="0"/>
              <a:t> </a:t>
            </a:r>
            <a:r>
              <a:rPr dirty="0" err="1"/>
              <a:t>неправильный</a:t>
            </a:r>
            <a:r>
              <a:rPr dirty="0"/>
              <a:t>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сделать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успешной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4921" y="182880"/>
            <a:ext cx="108116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8. </a:t>
            </a:r>
            <a:r>
              <a:rPr sz="4800" dirty="0" err="1"/>
              <a:t>Первичная</a:t>
            </a:r>
            <a:r>
              <a:rPr sz="4800" dirty="0"/>
              <a:t> </a:t>
            </a:r>
            <a:r>
              <a:rPr sz="4800" dirty="0" err="1"/>
              <a:t>настройка</a:t>
            </a:r>
            <a:r>
              <a:rPr sz="4800" dirty="0"/>
              <a:t> ОС и </a:t>
            </a:r>
            <a:r>
              <a:rPr sz="4800" dirty="0" err="1"/>
              <a:t>снапшоты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ОС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выполнить</a:t>
            </a:r>
            <a:r>
              <a:rPr dirty="0"/>
              <a:t> </a:t>
            </a:r>
            <a:r>
              <a:rPr dirty="0" err="1"/>
              <a:t>базовую</a:t>
            </a:r>
            <a:r>
              <a:rPr dirty="0"/>
              <a:t> </a:t>
            </a:r>
            <a:r>
              <a:rPr dirty="0" err="1"/>
              <a:t>настройку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одинаково</a:t>
            </a:r>
            <a:r>
              <a:rPr dirty="0"/>
              <a:t> </a:t>
            </a:r>
            <a:r>
              <a:rPr dirty="0" err="1"/>
              <a:t>понятны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Linux и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задокументировать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Базовый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 </a:t>
            </a:r>
            <a:r>
              <a:rPr dirty="0" err="1"/>
              <a:t>сохраняет</a:t>
            </a:r>
            <a:r>
              <a:rPr dirty="0"/>
              <a:t> </a:t>
            </a:r>
            <a:r>
              <a:rPr dirty="0" err="1"/>
              <a:t>чистое</a:t>
            </a:r>
            <a:r>
              <a:rPr dirty="0"/>
              <a:t> </a:t>
            </a:r>
            <a:r>
              <a:rPr dirty="0" err="1"/>
              <a:t>рабочее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С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состояния</a:t>
            </a:r>
            <a:r>
              <a:rPr dirty="0"/>
              <a:t> </a:t>
            </a:r>
            <a:r>
              <a:rPr dirty="0" err="1"/>
              <a:t>удобно</a:t>
            </a:r>
            <a:r>
              <a:rPr dirty="0"/>
              <a:t> </a:t>
            </a:r>
            <a:r>
              <a:rPr dirty="0" err="1"/>
              <a:t>начинать</a:t>
            </a:r>
            <a:r>
              <a:rPr dirty="0"/>
              <a:t> </a:t>
            </a:r>
            <a:r>
              <a:rPr dirty="0" err="1"/>
              <a:t>следующие</a:t>
            </a:r>
            <a:r>
              <a:rPr dirty="0"/>
              <a:t> </a:t>
            </a:r>
            <a:r>
              <a:rPr dirty="0" err="1"/>
              <a:t>лабораторные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Первичная настройка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Hostname: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машины</a:t>
            </a:r>
            <a:r>
              <a:rPr dirty="0"/>
              <a:t> в </a:t>
            </a:r>
            <a:r>
              <a:rPr dirty="0" err="1"/>
              <a:t>системе</a:t>
            </a:r>
            <a:r>
              <a:rPr dirty="0"/>
              <a:t> и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Timezone</a:t>
            </a:r>
            <a:r>
              <a:rPr dirty="0"/>
              <a:t>: </a:t>
            </a:r>
            <a:r>
              <a:rPr dirty="0" err="1"/>
              <a:t>часовой</a:t>
            </a:r>
            <a:r>
              <a:rPr dirty="0"/>
              <a:t> </a:t>
            </a:r>
            <a:r>
              <a:rPr dirty="0" err="1"/>
              <a:t>пояс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корректных</a:t>
            </a:r>
            <a:r>
              <a:rPr dirty="0"/>
              <a:t> </a:t>
            </a:r>
            <a:r>
              <a:rPr dirty="0" err="1"/>
              <a:t>журналов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Locale: </a:t>
            </a:r>
            <a:r>
              <a:rPr dirty="0" err="1"/>
              <a:t>язык</a:t>
            </a:r>
            <a:r>
              <a:rPr dirty="0"/>
              <a:t> и </a:t>
            </a:r>
            <a:r>
              <a:rPr dirty="0" err="1"/>
              <a:t>региональные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Network: IP-</a:t>
            </a:r>
            <a:r>
              <a:rPr dirty="0" err="1"/>
              <a:t>адрес</a:t>
            </a:r>
            <a:r>
              <a:rPr dirty="0"/>
              <a:t>, DNS и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User: </a:t>
            </a:r>
            <a:r>
              <a:rPr dirty="0" err="1"/>
              <a:t>учетная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и </a:t>
            </a:r>
            <a:r>
              <a:rPr dirty="0" err="1"/>
              <a:t>администрирования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Updates: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обновлений</a:t>
            </a:r>
            <a:r>
              <a:rPr dirty="0"/>
              <a:t> и </a:t>
            </a:r>
            <a:r>
              <a:rPr dirty="0" err="1"/>
              <a:t>базовых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Первичная настройка Windows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Computer name: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Time zone: </a:t>
            </a:r>
            <a:r>
              <a:rPr dirty="0" err="1"/>
              <a:t>часовой</a:t>
            </a:r>
            <a:r>
              <a:rPr dirty="0"/>
              <a:t> </a:t>
            </a:r>
            <a:r>
              <a:rPr dirty="0" err="1"/>
              <a:t>пояс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Network: IP, DNS и </a:t>
            </a:r>
            <a:r>
              <a:rPr dirty="0" err="1"/>
              <a:t>профиль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Local user: </a:t>
            </a:r>
            <a:r>
              <a:rPr dirty="0" err="1"/>
              <a:t>учетная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Windows Update: </a:t>
            </a:r>
            <a:r>
              <a:rPr dirty="0" err="1"/>
              <a:t>базовое</a:t>
            </a:r>
            <a:r>
              <a:rPr dirty="0"/>
              <a:t> </a:t>
            </a:r>
            <a:r>
              <a:rPr dirty="0" err="1"/>
              <a:t>обновление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Event Viewer: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критичных</a:t>
            </a:r>
            <a:r>
              <a:rPr dirty="0"/>
              <a:t> </a:t>
            </a:r>
            <a:r>
              <a:rPr dirty="0" err="1"/>
              <a:t>событий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Паспорт виртуальной машины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Название</a:t>
            </a:r>
            <a:r>
              <a:rPr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Назначение</a:t>
            </a:r>
            <a:r>
              <a:rPr dirty="0"/>
              <a:t> ВМ.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Тип</a:t>
            </a:r>
            <a:r>
              <a:rPr dirty="0"/>
              <a:t> и </a:t>
            </a:r>
            <a:r>
              <a:rPr dirty="0" err="1"/>
              <a:t>версия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CPU, RAM, </a:t>
            </a: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Учетная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и </a:t>
            </a:r>
            <a:r>
              <a:rPr dirty="0" err="1"/>
              <a:t>дата</a:t>
            </a:r>
            <a:r>
              <a:rPr dirty="0"/>
              <a:t> </a:t>
            </a:r>
            <a:r>
              <a:rPr dirty="0" err="1"/>
              <a:t>базового</a:t>
            </a:r>
            <a:r>
              <a:rPr dirty="0"/>
              <a:t> </a:t>
            </a:r>
            <a:r>
              <a:rPr dirty="0" err="1"/>
              <a:t>снапшота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Правило безопасной работы со снапшотами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79576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Делать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рискованными</a:t>
            </a:r>
            <a:r>
              <a:rPr dirty="0"/>
              <a:t> </a:t>
            </a:r>
            <a:r>
              <a:rPr dirty="0" err="1"/>
              <a:t>изменениями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Давать</a:t>
            </a:r>
            <a:r>
              <a:rPr dirty="0"/>
              <a:t> </a:t>
            </a:r>
            <a:r>
              <a:rPr dirty="0" err="1"/>
              <a:t>снапшоту</a:t>
            </a:r>
            <a:r>
              <a:rPr dirty="0"/>
              <a:t> </a:t>
            </a:r>
            <a:r>
              <a:rPr dirty="0" err="1"/>
              <a:t>понятное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бесконечную</a:t>
            </a:r>
            <a:r>
              <a:rPr dirty="0"/>
              <a:t> </a:t>
            </a:r>
            <a:r>
              <a:rPr dirty="0" err="1"/>
              <a:t>цепочку</a:t>
            </a:r>
            <a:r>
              <a:rPr dirty="0"/>
              <a:t> </a:t>
            </a:r>
            <a:r>
              <a:rPr dirty="0" err="1"/>
              <a:t>снапшотов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необходимости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считать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 </a:t>
            </a:r>
            <a:r>
              <a:rPr dirty="0" err="1"/>
              <a:t>полноценной</a:t>
            </a:r>
            <a:r>
              <a:rPr dirty="0"/>
              <a:t> </a:t>
            </a:r>
            <a:r>
              <a:rPr dirty="0" err="1"/>
              <a:t>резервной</a:t>
            </a:r>
            <a:r>
              <a:rPr dirty="0"/>
              <a:t> </a:t>
            </a:r>
            <a:r>
              <a:rPr dirty="0" err="1"/>
              <a:t>копией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успешной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фиксировать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стенда</a:t>
            </a:r>
            <a:r>
              <a:rPr dirty="0"/>
              <a:t> в </a:t>
            </a:r>
            <a:r>
              <a:rPr dirty="0" err="1"/>
              <a:t>отчете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Виртуализация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строить</a:t>
            </a:r>
            <a:r>
              <a:rPr dirty="0"/>
              <a:t> </a:t>
            </a:r>
            <a:r>
              <a:rPr dirty="0" err="1"/>
              <a:t>безопасные</a:t>
            </a:r>
            <a:r>
              <a:rPr dirty="0"/>
              <a:t> </a:t>
            </a:r>
            <a:r>
              <a:rPr dirty="0" err="1"/>
              <a:t>учебные</a:t>
            </a:r>
            <a:r>
              <a:rPr dirty="0"/>
              <a:t> </a:t>
            </a:r>
            <a:r>
              <a:rPr dirty="0" err="1"/>
              <a:t>стенды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 </a:t>
            </a:r>
            <a:r>
              <a:rPr dirty="0" err="1"/>
              <a:t>моделирует</a:t>
            </a:r>
            <a:r>
              <a:rPr dirty="0"/>
              <a:t> </a:t>
            </a:r>
            <a:r>
              <a:rPr dirty="0" err="1"/>
              <a:t>компьютер</a:t>
            </a:r>
            <a:r>
              <a:rPr dirty="0"/>
              <a:t> с CPU, RAM, </a:t>
            </a:r>
            <a:r>
              <a:rPr dirty="0" err="1"/>
              <a:t>диском</a:t>
            </a:r>
            <a:r>
              <a:rPr dirty="0"/>
              <a:t> и </a:t>
            </a:r>
            <a:r>
              <a:rPr dirty="0" err="1"/>
              <a:t>сетевым</a:t>
            </a:r>
            <a:r>
              <a:rPr dirty="0"/>
              <a:t> </a:t>
            </a:r>
            <a:r>
              <a:rPr dirty="0" err="1"/>
              <a:t>адаптером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Гипервизор</a:t>
            </a:r>
            <a:r>
              <a:rPr dirty="0"/>
              <a:t> </a:t>
            </a:r>
            <a:r>
              <a:rPr dirty="0" err="1"/>
              <a:t>управляет</a:t>
            </a:r>
            <a:r>
              <a:rPr dirty="0"/>
              <a:t> ВМ и </a:t>
            </a:r>
            <a:r>
              <a:rPr dirty="0" err="1"/>
              <a:t>распределяет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Образ</a:t>
            </a:r>
            <a:r>
              <a:rPr dirty="0"/>
              <a:t>,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и </a:t>
            </a:r>
            <a:r>
              <a:rPr dirty="0" err="1"/>
              <a:t>снапшот</a:t>
            </a:r>
            <a:r>
              <a:rPr dirty="0"/>
              <a:t> </a:t>
            </a:r>
            <a:r>
              <a:rPr dirty="0" err="1"/>
              <a:t>выполняют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Контейнеры</a:t>
            </a:r>
            <a:r>
              <a:rPr dirty="0"/>
              <a:t> </a:t>
            </a:r>
            <a:r>
              <a:rPr dirty="0" err="1"/>
              <a:t>легче</a:t>
            </a:r>
            <a:r>
              <a:rPr dirty="0"/>
              <a:t> ВМ,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заменяют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изучении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рискованными</a:t>
            </a:r>
            <a:r>
              <a:rPr dirty="0"/>
              <a:t> </a:t>
            </a:r>
            <a:r>
              <a:rPr dirty="0" err="1"/>
              <a:t>действиями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612880" cy="521208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1.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системному</a:t>
            </a:r>
            <a:r>
              <a:rPr dirty="0"/>
              <a:t> </a:t>
            </a:r>
            <a:r>
              <a:rPr dirty="0" err="1"/>
              <a:t>администратору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виртуализация</a:t>
            </a:r>
            <a:r>
              <a:rPr dirty="0"/>
              <a:t>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2.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</a:t>
            </a: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машина</a:t>
            </a:r>
            <a:r>
              <a:rPr dirty="0"/>
              <a:t> и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 </a:t>
            </a:r>
            <a:r>
              <a:rPr dirty="0" err="1"/>
              <a:t>ей</a:t>
            </a:r>
            <a:r>
              <a:rPr dirty="0"/>
              <a:t> </a:t>
            </a:r>
            <a:r>
              <a:rPr dirty="0" err="1"/>
              <a:t>назначаются</a:t>
            </a:r>
            <a:r>
              <a:rPr dirty="0"/>
              <a:t>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3.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гипервизор</a:t>
            </a:r>
            <a:r>
              <a:rPr dirty="0"/>
              <a:t> 1-го </a:t>
            </a:r>
            <a:r>
              <a:rPr dirty="0" err="1"/>
              <a:t>типа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гипервизора</a:t>
            </a:r>
            <a:r>
              <a:rPr dirty="0"/>
              <a:t> 2-го </a:t>
            </a:r>
            <a:r>
              <a:rPr dirty="0" err="1"/>
              <a:t>типа</a:t>
            </a:r>
            <a:r>
              <a:rPr dirty="0"/>
              <a:t>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4.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ISO-</a:t>
            </a:r>
            <a:r>
              <a:rPr dirty="0" err="1"/>
              <a:t>образ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создании</a:t>
            </a:r>
            <a:r>
              <a:rPr dirty="0"/>
              <a:t> ВМ?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5.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</a:t>
            </a: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и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физического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6.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машины</a:t>
            </a:r>
            <a:r>
              <a:rPr dirty="0"/>
              <a:t>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7.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контейнер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машины</a:t>
            </a:r>
            <a:r>
              <a:rPr dirty="0"/>
              <a:t>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8. 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работой</a:t>
            </a:r>
            <a:r>
              <a:rPr dirty="0"/>
              <a:t> с </a:t>
            </a:r>
            <a:r>
              <a:rPr dirty="0" err="1"/>
              <a:t>дисками</a:t>
            </a:r>
            <a:r>
              <a:rPr dirty="0"/>
              <a:t>, </a:t>
            </a:r>
            <a:r>
              <a:rPr dirty="0" err="1"/>
              <a:t>загрузчиком</a:t>
            </a:r>
            <a:r>
              <a:rPr dirty="0"/>
              <a:t> и </a:t>
            </a:r>
            <a:r>
              <a:rPr dirty="0" err="1"/>
              <a:t>системными</a:t>
            </a:r>
            <a:r>
              <a:rPr dirty="0"/>
              <a:t> </a:t>
            </a:r>
            <a:r>
              <a:rPr dirty="0" err="1"/>
              <a:t>настройками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делать</a:t>
            </a:r>
            <a:r>
              <a:rPr dirty="0"/>
              <a:t> </a:t>
            </a:r>
            <a:r>
              <a:rPr dirty="0" err="1"/>
              <a:t>снапшот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2177</Words>
  <Application>Microsoft Office PowerPoint</Application>
  <PresentationFormat>Широкоэкранный</PresentationFormat>
  <Paragraphs>281</Paragraphs>
  <Slides>50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2026-06-28T06:21:03Z</dcterms:modified>
  <cp:category/>
</cp:coreProperties>
</file>