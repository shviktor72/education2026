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6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467" y="1318506"/>
            <a:ext cx="991258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4.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Файловые</a:t>
            </a:r>
            <a:r>
              <a:rPr sz="4800" dirty="0"/>
              <a:t> </a:t>
            </a:r>
            <a:r>
              <a:rPr sz="4800" dirty="0" err="1"/>
              <a:t>системы</a:t>
            </a:r>
            <a:r>
              <a:rPr sz="4800" dirty="0"/>
              <a:t> Linux и Windows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4722" y="182880"/>
            <a:ext cx="38320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Цел</a:t>
            </a:r>
            <a:r>
              <a:rPr lang="ru-RU" sz="4800" dirty="0"/>
              <a:t>и</a:t>
            </a:r>
            <a:r>
              <a:rPr sz="4800" dirty="0"/>
              <a:t> </a:t>
            </a:r>
            <a:r>
              <a:rPr sz="4800" dirty="0" err="1"/>
              <a:t>лекции</a:t>
            </a:r>
            <a:r>
              <a:rPr lang="ru-RU" sz="4800" dirty="0"/>
              <a:t>: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dirty="0" err="1"/>
              <a:t>имени</a:t>
            </a:r>
            <a:r>
              <a:rPr dirty="0"/>
              <a:t>,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служебной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блоков</a:t>
            </a:r>
            <a:r>
              <a:rPr dirty="0"/>
              <a:t>, </a:t>
            </a:r>
            <a:r>
              <a:rPr dirty="0" err="1"/>
              <a:t>кластеров</a:t>
            </a:r>
            <a:r>
              <a:rPr dirty="0"/>
              <a:t>, </a:t>
            </a:r>
            <a:r>
              <a:rPr dirty="0" err="1"/>
              <a:t>журналирования</a:t>
            </a:r>
            <a:r>
              <a:rPr dirty="0"/>
              <a:t> и </a:t>
            </a:r>
            <a:r>
              <a:rPr dirty="0" err="1"/>
              <a:t>inode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Сравнить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Linux и Windows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профессиональном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монтирование</a:t>
            </a:r>
            <a:r>
              <a:rPr dirty="0"/>
              <a:t>, LVM и </a:t>
            </a:r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8540" y="182880"/>
            <a:ext cx="732444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Список</a:t>
            </a:r>
            <a:r>
              <a:rPr sz="4800" dirty="0"/>
              <a:t> </a:t>
            </a:r>
            <a:r>
              <a:rPr sz="4800" dirty="0" err="1"/>
              <a:t>учебных</a:t>
            </a:r>
            <a:r>
              <a:rPr sz="4800" dirty="0"/>
              <a:t> </a:t>
            </a:r>
            <a:r>
              <a:rPr sz="4800" dirty="0" err="1"/>
              <a:t>вопросов</a:t>
            </a:r>
            <a:r>
              <a:rPr lang="ru-RU" sz="4800" dirty="0"/>
              <a:t>: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503742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sz="3200" dirty="0" err="1"/>
              <a:t>Файл</a:t>
            </a:r>
            <a:r>
              <a:rPr sz="3200" dirty="0"/>
              <a:t> и </a:t>
            </a:r>
            <a:r>
              <a:rPr sz="3200" dirty="0" err="1"/>
              <a:t>файловая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: </a:t>
            </a:r>
            <a:r>
              <a:rPr sz="3200" dirty="0" err="1"/>
              <a:t>связь</a:t>
            </a:r>
            <a:r>
              <a:rPr sz="3200" dirty="0"/>
              <a:t> </a:t>
            </a:r>
            <a:r>
              <a:rPr sz="3200" dirty="0" err="1"/>
              <a:t>имени</a:t>
            </a:r>
            <a:r>
              <a:rPr sz="3200" dirty="0"/>
              <a:t> </a:t>
            </a:r>
            <a:r>
              <a:rPr sz="3200" dirty="0" err="1"/>
              <a:t>файла</a:t>
            </a:r>
            <a:r>
              <a:rPr sz="3200" dirty="0"/>
              <a:t>, </a:t>
            </a:r>
            <a:r>
              <a:rPr sz="3200" dirty="0" err="1"/>
              <a:t>данных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диске</a:t>
            </a:r>
            <a:r>
              <a:rPr sz="3200" dirty="0"/>
              <a:t> и </a:t>
            </a:r>
            <a:r>
              <a:rPr sz="3200" dirty="0" err="1"/>
              <a:t>служебной</a:t>
            </a:r>
            <a:r>
              <a:rPr sz="3200" dirty="0"/>
              <a:t> </a:t>
            </a:r>
            <a:r>
              <a:rPr sz="3200" dirty="0" err="1"/>
              <a:t>информации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Блок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кластер</a:t>
            </a:r>
            <a:r>
              <a:rPr sz="3200" dirty="0"/>
              <a:t>: </a:t>
            </a:r>
            <a:r>
              <a:rPr sz="3200" dirty="0" err="1"/>
              <a:t>единица</a:t>
            </a:r>
            <a:r>
              <a:rPr sz="3200" dirty="0"/>
              <a:t> </a:t>
            </a:r>
            <a:r>
              <a:rPr sz="3200" dirty="0" err="1"/>
              <a:t>хранения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 и </a:t>
            </a:r>
            <a:r>
              <a:rPr sz="3200" dirty="0" err="1"/>
              <a:t>влияние</a:t>
            </a:r>
            <a:r>
              <a:rPr sz="3200" dirty="0"/>
              <a:t> </a:t>
            </a:r>
            <a:r>
              <a:rPr sz="3200" dirty="0" err="1"/>
              <a:t>размера</a:t>
            </a:r>
            <a:r>
              <a:rPr sz="3200" dirty="0"/>
              <a:t> </a:t>
            </a:r>
            <a:r>
              <a:rPr sz="3200" dirty="0" err="1"/>
              <a:t>блока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Журналируемые</a:t>
            </a:r>
            <a:r>
              <a:rPr sz="3200" dirty="0"/>
              <a:t> и </a:t>
            </a:r>
            <a:r>
              <a:rPr sz="3200" dirty="0" err="1"/>
              <a:t>нежурналируемые</a:t>
            </a:r>
            <a:r>
              <a:rPr sz="3200" dirty="0"/>
              <a:t> </a:t>
            </a:r>
            <a:r>
              <a:rPr sz="3200" dirty="0" err="1"/>
              <a:t>файловые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Файловые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 Linux: ext4, XFS, </a:t>
            </a:r>
            <a:r>
              <a:rPr sz="3200" dirty="0" err="1"/>
              <a:t>Btrfs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5. VFS и </a:t>
            </a:r>
            <a:r>
              <a:rPr sz="3200" dirty="0" err="1"/>
              <a:t>inode</a:t>
            </a:r>
            <a:r>
              <a:rPr sz="3200" dirty="0"/>
              <a:t>: </a:t>
            </a:r>
            <a:r>
              <a:rPr sz="3200" dirty="0" err="1"/>
              <a:t>единый</a:t>
            </a:r>
            <a:r>
              <a:rPr sz="3200" dirty="0"/>
              <a:t> </a:t>
            </a:r>
            <a:r>
              <a:rPr sz="3200" dirty="0" err="1"/>
              <a:t>механизм</a:t>
            </a:r>
            <a:r>
              <a:rPr sz="3200" dirty="0"/>
              <a:t> </a:t>
            </a:r>
            <a:r>
              <a:rPr sz="3200" dirty="0" err="1"/>
              <a:t>работы</a:t>
            </a:r>
            <a:r>
              <a:rPr sz="3200" dirty="0"/>
              <a:t> с </a:t>
            </a:r>
            <a:r>
              <a:rPr sz="3200" dirty="0" err="1"/>
              <a:t>файловыми</a:t>
            </a:r>
            <a:r>
              <a:rPr sz="3200" dirty="0"/>
              <a:t> </a:t>
            </a:r>
            <a:r>
              <a:rPr sz="3200" dirty="0" err="1"/>
              <a:t>системами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Единое</a:t>
            </a:r>
            <a:r>
              <a:rPr sz="3200" dirty="0"/>
              <a:t> </a:t>
            </a:r>
            <a:r>
              <a:rPr sz="3200" dirty="0" err="1"/>
              <a:t>дерево</a:t>
            </a:r>
            <a:r>
              <a:rPr sz="3200" dirty="0"/>
              <a:t> </a:t>
            </a:r>
            <a:r>
              <a:rPr sz="3200" dirty="0" err="1"/>
              <a:t>каталогов</a:t>
            </a:r>
            <a:r>
              <a:rPr sz="3200" dirty="0"/>
              <a:t> и </a:t>
            </a:r>
            <a:r>
              <a:rPr sz="3200" dirty="0" err="1"/>
              <a:t>монтирование</a:t>
            </a:r>
            <a:r>
              <a:rPr sz="3200" dirty="0"/>
              <a:t> в Linux.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Файловые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 Windows: FAT, FAT32 и NTFS.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Дополнительные</a:t>
            </a:r>
            <a:r>
              <a:rPr sz="3200" dirty="0"/>
              <a:t> </a:t>
            </a:r>
            <a:r>
              <a:rPr sz="3200" dirty="0" err="1"/>
              <a:t>возможности</a:t>
            </a:r>
            <a:r>
              <a:rPr sz="3200" dirty="0"/>
              <a:t>: LVM и </a:t>
            </a:r>
            <a:r>
              <a:rPr sz="3200" dirty="0" err="1"/>
              <a:t>альтернативные</a:t>
            </a:r>
            <a:r>
              <a:rPr sz="3200" dirty="0"/>
              <a:t> </a:t>
            </a:r>
            <a:r>
              <a:rPr sz="3200" dirty="0" err="1"/>
              <a:t>потоки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 NTFS.</a:t>
            </a:r>
          </a:p>
          <a:p>
            <a:pPr>
              <a:defRPr sz="3600"/>
            </a:pPr>
            <a:r>
              <a:rPr sz="3200" dirty="0"/>
              <a:t>9. </a:t>
            </a:r>
            <a:r>
              <a:rPr sz="3200" dirty="0" err="1"/>
              <a:t>Практическое</a:t>
            </a:r>
            <a:r>
              <a:rPr sz="3200" dirty="0"/>
              <a:t> </a:t>
            </a:r>
            <a:r>
              <a:rPr sz="3200" dirty="0" err="1"/>
              <a:t>значение</a:t>
            </a:r>
            <a:r>
              <a:rPr sz="3200" dirty="0"/>
              <a:t> </a:t>
            </a:r>
            <a:r>
              <a:rPr sz="3200" dirty="0" err="1"/>
              <a:t>файловых</a:t>
            </a:r>
            <a:r>
              <a:rPr sz="3200" dirty="0"/>
              <a:t> </a:t>
            </a:r>
            <a:r>
              <a:rPr sz="3200" dirty="0" err="1"/>
              <a:t>систем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администратора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File </a:t>
            </a:r>
            <a:r>
              <a:rPr sz="3200" dirty="0"/>
              <a:t>system — </a:t>
            </a:r>
            <a:r>
              <a:rPr sz="3200" dirty="0" err="1"/>
              <a:t>файловая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, </a:t>
            </a:r>
            <a:r>
              <a:rPr sz="3200" dirty="0" err="1"/>
              <a:t>способ</a:t>
            </a:r>
            <a:r>
              <a:rPr sz="3200" dirty="0"/>
              <a:t> </a:t>
            </a:r>
            <a:r>
              <a:rPr sz="3200" dirty="0" err="1"/>
              <a:t>организации</a:t>
            </a:r>
            <a:r>
              <a:rPr sz="3200" dirty="0"/>
              <a:t> </a:t>
            </a:r>
            <a:r>
              <a:rPr sz="3200" dirty="0" err="1"/>
              <a:t>файлов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носителе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Block — </a:t>
            </a:r>
            <a:r>
              <a:rPr sz="3200" dirty="0" err="1"/>
              <a:t>блок</a:t>
            </a:r>
            <a:r>
              <a:rPr sz="3200" dirty="0"/>
              <a:t>, </a:t>
            </a:r>
            <a:r>
              <a:rPr sz="3200" dirty="0" err="1"/>
              <a:t>единица</a:t>
            </a:r>
            <a:r>
              <a:rPr sz="3200" dirty="0"/>
              <a:t> </a:t>
            </a:r>
            <a:r>
              <a:rPr sz="3200" dirty="0" err="1"/>
              <a:t>хранения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 в Linux и Unix-</a:t>
            </a:r>
            <a:r>
              <a:rPr sz="3200" dirty="0" err="1"/>
              <a:t>подобных</a:t>
            </a:r>
            <a:r>
              <a:rPr sz="3200" dirty="0"/>
              <a:t> </a:t>
            </a:r>
            <a:r>
              <a:rPr sz="3200" dirty="0" err="1"/>
              <a:t>системах</a:t>
            </a:r>
            <a:r>
              <a:rPr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Cluster — </a:t>
            </a:r>
            <a:r>
              <a:rPr sz="3200" dirty="0" err="1"/>
              <a:t>кластер</a:t>
            </a:r>
            <a:r>
              <a:rPr sz="3200" dirty="0"/>
              <a:t>, </a:t>
            </a:r>
            <a:r>
              <a:rPr sz="3200" dirty="0" err="1"/>
              <a:t>единица</a:t>
            </a:r>
            <a:r>
              <a:rPr sz="3200" dirty="0"/>
              <a:t> </a:t>
            </a:r>
            <a:r>
              <a:rPr sz="3200" dirty="0" err="1"/>
              <a:t>выделения</a:t>
            </a:r>
            <a:r>
              <a:rPr sz="3200" dirty="0"/>
              <a:t> </a:t>
            </a:r>
            <a:r>
              <a:rPr sz="3200" dirty="0" err="1"/>
              <a:t>пространства</a:t>
            </a:r>
            <a:r>
              <a:rPr sz="3200" dirty="0"/>
              <a:t> в Windows.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 err="1"/>
              <a:t>inode</a:t>
            </a:r>
            <a:r>
              <a:rPr sz="3200" dirty="0"/>
              <a:t> — </a:t>
            </a:r>
            <a:r>
              <a:rPr sz="3200" dirty="0" err="1"/>
              <a:t>индексный</a:t>
            </a:r>
            <a:r>
              <a:rPr sz="3200" dirty="0"/>
              <a:t> </a:t>
            </a:r>
            <a:r>
              <a:rPr sz="3200" dirty="0" err="1"/>
              <a:t>дескриптор</a:t>
            </a:r>
            <a:r>
              <a:rPr sz="3200" dirty="0"/>
              <a:t> </a:t>
            </a:r>
            <a:r>
              <a:rPr sz="3200" dirty="0" err="1"/>
              <a:t>файла</a:t>
            </a:r>
            <a:r>
              <a:rPr sz="3200" dirty="0"/>
              <a:t> в Linux.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VFS — Virtual File System, </a:t>
            </a:r>
            <a:r>
              <a:rPr sz="3200" dirty="0" err="1"/>
              <a:t>виртуальная</a:t>
            </a:r>
            <a:r>
              <a:rPr sz="3200" dirty="0"/>
              <a:t> </a:t>
            </a:r>
            <a:r>
              <a:rPr sz="3200" dirty="0" err="1"/>
              <a:t>файловая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 Linux.</a:t>
            </a:r>
          </a:p>
          <a:p>
            <a:pPr marL="457200" indent="-457200">
              <a:buFont typeface="Arial" panose="020B0604020202020204" pitchFamily="34" charset="0"/>
              <a:buChar char="•"/>
              <a:defRPr sz="3600"/>
            </a:pPr>
            <a:r>
              <a:rPr sz="3200" dirty="0"/>
              <a:t>NTFS — New Technology File System, </a:t>
            </a:r>
            <a:r>
              <a:rPr sz="3200" dirty="0" err="1"/>
              <a:t>основная</a:t>
            </a:r>
            <a:r>
              <a:rPr sz="3200" dirty="0"/>
              <a:t> </a:t>
            </a:r>
            <a:r>
              <a:rPr sz="3200" dirty="0" err="1"/>
              <a:t>файловая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 Windows.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2326" y="182880"/>
            <a:ext cx="77568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Файл</a:t>
            </a:r>
            <a:r>
              <a:rPr sz="4800" dirty="0"/>
              <a:t> и </a:t>
            </a:r>
            <a:r>
              <a:rPr sz="4800" dirty="0" err="1"/>
              <a:t>файловая</a:t>
            </a:r>
            <a:r>
              <a:rPr sz="4800" dirty="0"/>
              <a:t> </a:t>
            </a:r>
            <a:r>
              <a:rPr sz="4800" dirty="0" err="1"/>
              <a:t>система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24116"/>
            <a:ext cx="11430000" cy="49023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</a:t>
            </a:r>
            <a:r>
              <a:rPr dirty="0"/>
              <a:t> — </a:t>
            </a:r>
            <a:r>
              <a:rPr dirty="0" err="1"/>
              <a:t>именованная</a:t>
            </a:r>
            <a:r>
              <a:rPr dirty="0"/>
              <a:t>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с </a:t>
            </a:r>
            <a:r>
              <a:rPr dirty="0" err="1"/>
              <a:t>которой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содержимое</a:t>
            </a:r>
            <a:r>
              <a:rPr dirty="0"/>
              <a:t> и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свойства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размещаются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носителе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 и </a:t>
            </a:r>
            <a:r>
              <a:rPr dirty="0" err="1"/>
              <a:t>метаданные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хранит файловая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каталогов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и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и </a:t>
            </a:r>
            <a:r>
              <a:rPr dirty="0" err="1"/>
              <a:t>владельца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Служебную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сбоев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не равен имени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обратиться</a:t>
            </a:r>
            <a:r>
              <a:rPr dirty="0"/>
              <a:t> к </a:t>
            </a:r>
            <a:r>
              <a:rPr dirty="0" err="1"/>
              <a:t>данным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dirty="0" err="1"/>
              <a:t>блоках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кластерах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Метаданные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свойства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с </a:t>
            </a:r>
            <a:r>
              <a:rPr dirty="0" err="1"/>
              <a:t>записью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переименование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перемещение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и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708817-2E7E-D0A4-1EFF-E805CB07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1839" y="182880"/>
            <a:ext cx="545784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Блок</a:t>
            </a:r>
            <a:r>
              <a:rPr sz="4800" dirty="0"/>
              <a:t> </a:t>
            </a:r>
            <a:r>
              <a:rPr sz="4800" dirty="0" err="1"/>
              <a:t>или</a:t>
            </a:r>
            <a:r>
              <a:rPr sz="4800" dirty="0"/>
              <a:t> </a:t>
            </a:r>
            <a:r>
              <a:rPr sz="4800" dirty="0" err="1"/>
              <a:t>кластер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79870"/>
            <a:ext cx="10972800" cy="4946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</a:t>
            </a:r>
            <a:r>
              <a:rPr dirty="0" err="1"/>
              <a:t>порциями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сплошной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говорят</a:t>
            </a:r>
            <a:r>
              <a:rPr dirty="0"/>
              <a:t> о </a:t>
            </a:r>
            <a:r>
              <a:rPr dirty="0" err="1"/>
              <a:t>блоках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термин</a:t>
            </a:r>
            <a:r>
              <a:rPr dirty="0"/>
              <a:t> </a:t>
            </a:r>
            <a:r>
              <a:rPr dirty="0" err="1"/>
              <a:t>кластер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блока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кластера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эффективность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крупный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неэффективно</a:t>
            </a:r>
            <a:r>
              <a:rPr dirty="0"/>
              <a:t> </a:t>
            </a:r>
            <a:r>
              <a:rPr dirty="0" err="1"/>
              <a:t>расходовать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маленьких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Блок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Блок</a:t>
            </a:r>
            <a:r>
              <a:rPr dirty="0"/>
              <a:t> — </a:t>
            </a: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единица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занимать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блоков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блока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создании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Блоки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ОС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 </a:t>
            </a:r>
            <a:r>
              <a:rPr dirty="0" err="1"/>
              <a:t>структурированно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Повреждение</a:t>
            </a:r>
            <a:r>
              <a:rPr dirty="0"/>
              <a:t> </a:t>
            </a:r>
            <a:r>
              <a:rPr dirty="0" err="1"/>
              <a:t>блоков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Кластер в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Кластер</a:t>
            </a:r>
            <a:r>
              <a:rPr dirty="0"/>
              <a:t> — </a:t>
            </a:r>
            <a:r>
              <a:rPr dirty="0" err="1"/>
              <a:t>единица</a:t>
            </a:r>
            <a:r>
              <a:rPr dirty="0"/>
              <a:t> </a:t>
            </a:r>
            <a:r>
              <a:rPr dirty="0" err="1"/>
              <a:t>выделения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 в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занимает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кластер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кластера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расход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и </a:t>
            </a:r>
            <a:r>
              <a:rPr dirty="0" err="1"/>
              <a:t>производительность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крупный</a:t>
            </a:r>
            <a:r>
              <a:rPr dirty="0"/>
              <a:t> </a:t>
            </a:r>
            <a:r>
              <a:rPr dirty="0" err="1"/>
              <a:t>кластер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удобнее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множества</a:t>
            </a:r>
            <a:r>
              <a:rPr dirty="0"/>
              <a:t> </a:t>
            </a:r>
            <a:r>
              <a:rPr dirty="0" err="1"/>
              <a:t>маленьких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крупный</a:t>
            </a:r>
            <a:r>
              <a:rPr dirty="0"/>
              <a:t> </a:t>
            </a:r>
            <a:r>
              <a:rPr dirty="0" err="1"/>
              <a:t>кластер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приводить</a:t>
            </a:r>
            <a:r>
              <a:rPr dirty="0"/>
              <a:t> к </a:t>
            </a:r>
            <a:r>
              <a:rPr dirty="0" err="1"/>
              <a:t>потерям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Блоки</a:t>
            </a:r>
            <a:r>
              <a:rPr dirty="0"/>
              <a:t> и </a:t>
            </a:r>
            <a:r>
              <a:rPr dirty="0" err="1"/>
              <a:t>кластеры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C9508F-F03A-F2A2-E7FE-0BC72FEF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61" y="792069"/>
            <a:ext cx="6504039" cy="55189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8763D-DA87-01D4-EFB8-43DFF026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5A3BD-18FA-D3DF-2A8B-6028AD5CCAB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Блоки</a:t>
            </a:r>
            <a:r>
              <a:rPr dirty="0"/>
              <a:t> и </a:t>
            </a:r>
            <a:r>
              <a:rPr dirty="0" err="1"/>
              <a:t>кластеры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47A75-7E57-42EF-F1F6-6EB805868CB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C45021-D669-7183-267D-0D0EAE4F7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8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4943" y="182880"/>
            <a:ext cx="106516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Журналируемые</a:t>
            </a:r>
            <a:r>
              <a:rPr sz="4800" dirty="0"/>
              <a:t> </a:t>
            </a:r>
            <a:r>
              <a:rPr sz="4800" dirty="0" err="1"/>
              <a:t>файловые</a:t>
            </a:r>
            <a:r>
              <a:rPr sz="4800" dirty="0"/>
              <a:t> </a:t>
            </a:r>
            <a:r>
              <a:rPr sz="4800" dirty="0" err="1"/>
              <a:t>системы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Журналирование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намерения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согласованность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сбоя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внезапном</a:t>
            </a:r>
            <a:r>
              <a:rPr dirty="0"/>
              <a:t> </a:t>
            </a:r>
            <a:r>
              <a:rPr dirty="0" err="1"/>
              <a:t>выключении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Журналирование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критически</a:t>
            </a:r>
            <a:r>
              <a:rPr dirty="0"/>
              <a:t> </a:t>
            </a:r>
            <a:r>
              <a:rPr dirty="0" err="1"/>
              <a:t>важное</a:t>
            </a:r>
            <a:r>
              <a:rPr dirty="0"/>
              <a:t> </a:t>
            </a:r>
            <a:r>
              <a:rPr dirty="0" err="1"/>
              <a:t>свойство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Нежурналируемые файловые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ведут</a:t>
            </a:r>
            <a:r>
              <a:rPr dirty="0"/>
              <a:t> </a:t>
            </a:r>
            <a:r>
              <a:rPr dirty="0" err="1"/>
              <a:t>полноценный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и </a:t>
            </a:r>
            <a:r>
              <a:rPr dirty="0" err="1"/>
              <a:t>легче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сбоя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требовать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долгой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важных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происходит при аварийном выключении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могло</a:t>
            </a:r>
            <a:r>
              <a:rPr dirty="0"/>
              <a:t> </a:t>
            </a:r>
            <a:r>
              <a:rPr dirty="0" err="1"/>
              <a:t>записывать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могла</a:t>
            </a:r>
            <a:r>
              <a:rPr dirty="0"/>
              <a:t> </a:t>
            </a:r>
            <a:r>
              <a:rPr dirty="0" err="1"/>
              <a:t>обновлять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метаданные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могла</a:t>
            </a:r>
            <a:r>
              <a:rPr dirty="0"/>
              <a:t> </a:t>
            </a:r>
            <a:r>
              <a:rPr dirty="0" err="1"/>
              <a:t>остаться</a:t>
            </a:r>
            <a:r>
              <a:rPr dirty="0"/>
              <a:t> в </a:t>
            </a:r>
            <a:r>
              <a:rPr dirty="0" err="1"/>
              <a:t>кэше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журнала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стать</a:t>
            </a:r>
            <a:r>
              <a:rPr dirty="0"/>
              <a:t> </a:t>
            </a:r>
            <a:r>
              <a:rPr dirty="0" err="1"/>
              <a:t>несогласованной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С </a:t>
            </a:r>
            <a:r>
              <a:rPr dirty="0" err="1"/>
              <a:t>журналом</a:t>
            </a:r>
            <a:r>
              <a:rPr dirty="0"/>
              <a:t> ОС </a:t>
            </a:r>
            <a:r>
              <a:rPr dirty="0" err="1"/>
              <a:t>быстрее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Журналирование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5B6341-FB05-E3E2-4F36-837E8F4E2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5757" y="182880"/>
            <a:ext cx="751000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Файловые</a:t>
            </a:r>
            <a:r>
              <a:rPr sz="4800" dirty="0"/>
              <a:t> </a:t>
            </a:r>
            <a:r>
              <a:rPr sz="4800" dirty="0" err="1"/>
              <a:t>системы</a:t>
            </a:r>
            <a:r>
              <a:rPr sz="4800"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</a:t>
            </a: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нагрузки</a:t>
            </a:r>
            <a:r>
              <a:rPr dirty="0"/>
              <a:t> и </a:t>
            </a:r>
            <a:r>
              <a:rPr dirty="0" err="1"/>
              <a:t>требований</a:t>
            </a:r>
            <a:r>
              <a:rPr dirty="0"/>
              <a:t> к </a:t>
            </a:r>
            <a:r>
              <a:rPr dirty="0" err="1"/>
              <a:t>надежности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курсе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ext4, XFS и </a:t>
            </a:r>
            <a:r>
              <a:rPr dirty="0" err="1"/>
              <a:t>Btrfs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форматировать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удалено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ext4 — </a:t>
            </a:r>
            <a:r>
              <a:rPr dirty="0" err="1"/>
              <a:t>распространенная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станций</a:t>
            </a:r>
            <a:r>
              <a:rPr dirty="0"/>
              <a:t> и </a:t>
            </a:r>
            <a:r>
              <a:rPr dirty="0" err="1"/>
              <a:t>многих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журналирование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Хорошо</a:t>
            </a:r>
            <a:r>
              <a:rPr dirty="0"/>
              <a:t> </a:t>
            </a:r>
            <a:r>
              <a:rPr dirty="0" err="1"/>
              <a:t>документирована</a:t>
            </a:r>
            <a:r>
              <a:rPr dirty="0"/>
              <a:t> и </a:t>
            </a:r>
            <a:r>
              <a:rPr dirty="0" err="1"/>
              <a:t>широко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безопасным</a:t>
            </a:r>
            <a:r>
              <a:rPr dirty="0"/>
              <a:t> </a:t>
            </a:r>
            <a:r>
              <a:rPr dirty="0" err="1"/>
              <a:t>выбором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Linux ВМ.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XFS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XFS — </a:t>
            </a:r>
            <a:r>
              <a:rPr dirty="0" err="1"/>
              <a:t>производительная</a:t>
            </a:r>
            <a:r>
              <a:rPr dirty="0"/>
              <a:t> </a:t>
            </a:r>
            <a:r>
              <a:rPr dirty="0" err="1"/>
              <a:t>журналируемая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Хорошо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нагрузок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в </a:t>
            </a:r>
            <a:r>
              <a:rPr dirty="0" err="1"/>
              <a:t>корпоративных</a:t>
            </a:r>
            <a:r>
              <a:rPr dirty="0"/>
              <a:t> Linux-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удобна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уменьшения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сценария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Btrfs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Btrfs</a:t>
            </a:r>
            <a:r>
              <a:rPr dirty="0"/>
              <a:t> —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с </a:t>
            </a:r>
            <a:r>
              <a:rPr dirty="0" err="1"/>
              <a:t>расширенными</a:t>
            </a:r>
            <a:r>
              <a:rPr dirty="0"/>
              <a:t> </a:t>
            </a:r>
            <a:r>
              <a:rPr dirty="0" err="1"/>
              <a:t>возможностями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снапшоты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целостности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возможностей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аккуратного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курса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обзорного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8B6A-5D4E-BAC3-D90F-E0209378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3E319-E293-E56E-8B7C-7AA741F5F49D}"/>
              </a:ext>
            </a:extLst>
          </p:cNvPr>
          <p:cNvSpPr txBox="1"/>
          <p:nvPr/>
        </p:nvSpPr>
        <p:spPr>
          <a:xfrm>
            <a:off x="3751051" y="182880"/>
            <a:ext cx="46594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Файловые системы </a:t>
            </a:r>
            <a:r>
              <a:rPr lang="en-US" dirty="0"/>
              <a:t>Linux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530E3-3270-D617-1903-048EEECDC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28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8701" y="182880"/>
            <a:ext cx="38041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VFS и </a:t>
            </a:r>
            <a:r>
              <a:rPr sz="4800" dirty="0" err="1"/>
              <a:t>inode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9462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VFS — Virtual File System,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абстракции</a:t>
            </a:r>
            <a:r>
              <a:rPr dirty="0"/>
              <a:t> в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Linux </a:t>
            </a:r>
            <a:r>
              <a:rPr dirty="0" err="1"/>
              <a:t>работать</a:t>
            </a:r>
            <a:r>
              <a:rPr dirty="0"/>
              <a:t> с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файловыми</a:t>
            </a:r>
            <a:r>
              <a:rPr dirty="0"/>
              <a:t> </a:t>
            </a:r>
            <a:r>
              <a:rPr dirty="0" err="1"/>
              <a:t>системами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Благодаря VFS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одинаково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ФС.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inode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служебную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 о </a:t>
            </a:r>
            <a:r>
              <a:rPr dirty="0" err="1"/>
              <a:t>файле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и </a:t>
            </a:r>
            <a:r>
              <a:rPr dirty="0" err="1"/>
              <a:t>inode</a:t>
            </a:r>
            <a:r>
              <a:rPr dirty="0"/>
              <a:t> —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inode</a:t>
            </a:r>
            <a:r>
              <a:rPr dirty="0"/>
              <a:t> — </a:t>
            </a:r>
            <a:r>
              <a:rPr dirty="0" err="1"/>
              <a:t>структура</a:t>
            </a:r>
            <a:r>
              <a:rPr dirty="0"/>
              <a:t> с </a:t>
            </a:r>
            <a:r>
              <a:rPr dirty="0" err="1"/>
              <a:t>метаданными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размер</a:t>
            </a:r>
            <a:r>
              <a:rPr dirty="0"/>
              <a:t> и </a:t>
            </a:r>
            <a:r>
              <a:rPr dirty="0" err="1"/>
              <a:t>ссылки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блоки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само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с </a:t>
            </a:r>
            <a:r>
              <a:rPr dirty="0" err="1"/>
              <a:t>номером</a:t>
            </a:r>
            <a:r>
              <a:rPr dirty="0"/>
              <a:t> </a:t>
            </a:r>
            <a:r>
              <a:rPr dirty="0" err="1"/>
              <a:t>inode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Нехватка</a:t>
            </a:r>
            <a:r>
              <a:rPr dirty="0"/>
              <a:t> </a:t>
            </a:r>
            <a:r>
              <a:rPr dirty="0" err="1"/>
              <a:t>inode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помешать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свободном</a:t>
            </a:r>
            <a:r>
              <a:rPr dirty="0"/>
              <a:t> </a:t>
            </a:r>
            <a:r>
              <a:rPr dirty="0" err="1"/>
              <a:t>месте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VFS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различия</a:t>
            </a:r>
            <a:r>
              <a:rPr dirty="0"/>
              <a:t> ext4, XFS, </a:t>
            </a:r>
            <a:r>
              <a:rPr dirty="0" err="1"/>
              <a:t>Btrfs</a:t>
            </a:r>
            <a:r>
              <a:rPr dirty="0"/>
              <a:t> и </a:t>
            </a:r>
            <a:r>
              <a:rPr dirty="0" err="1"/>
              <a:t>других</a:t>
            </a:r>
            <a:r>
              <a:rPr dirty="0"/>
              <a:t> ФС.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вызывает</a:t>
            </a:r>
            <a:r>
              <a:rPr dirty="0"/>
              <a:t> </a:t>
            </a:r>
            <a:r>
              <a:rPr dirty="0" err="1"/>
              <a:t>стандартные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: </a:t>
            </a:r>
            <a:r>
              <a:rPr dirty="0" err="1"/>
              <a:t>открыть</a:t>
            </a:r>
            <a:r>
              <a:rPr dirty="0"/>
              <a:t>, </a:t>
            </a:r>
            <a:r>
              <a:rPr dirty="0" err="1"/>
              <a:t>прочитать</a:t>
            </a:r>
            <a:r>
              <a:rPr dirty="0"/>
              <a:t>, </a:t>
            </a:r>
            <a:r>
              <a:rPr dirty="0" err="1"/>
              <a:t>записать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VFS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конкретной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упрощает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 и </a:t>
            </a:r>
            <a:r>
              <a:rPr dirty="0" err="1"/>
              <a:t>администрирование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VFS </a:t>
            </a:r>
            <a:r>
              <a:rPr dirty="0" err="1"/>
              <a:t>объясняет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Linux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монтировать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 ФС.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VFS и </a:t>
            </a:r>
            <a:r>
              <a:rPr dirty="0" err="1"/>
              <a:t>inode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F54D49-DF4E-A207-A18C-F1DF0E64A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477" y="182880"/>
            <a:ext cx="1120056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6. </a:t>
            </a:r>
            <a:r>
              <a:rPr sz="4400" dirty="0" err="1"/>
              <a:t>Единое</a:t>
            </a:r>
            <a:r>
              <a:rPr sz="4400" dirty="0"/>
              <a:t> </a:t>
            </a:r>
            <a:r>
              <a:rPr sz="4400" dirty="0" err="1"/>
              <a:t>дерево</a:t>
            </a:r>
            <a:r>
              <a:rPr sz="4400" dirty="0"/>
              <a:t> </a:t>
            </a:r>
            <a:r>
              <a:rPr sz="4400" dirty="0" err="1"/>
              <a:t>каталогов</a:t>
            </a:r>
            <a:r>
              <a:rPr sz="4400" dirty="0"/>
              <a:t> и </a:t>
            </a:r>
            <a:r>
              <a:rPr sz="4400" dirty="0" err="1"/>
              <a:t>монтирование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708243" y="1507285"/>
            <a:ext cx="1120056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букв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C: и D: </a:t>
            </a:r>
            <a:r>
              <a:rPr dirty="0" err="1"/>
              <a:t>как</a:t>
            </a:r>
            <a:r>
              <a:rPr dirty="0"/>
              <a:t> в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с </a:t>
            </a:r>
            <a:r>
              <a:rPr dirty="0" err="1"/>
              <a:t>корнем</a:t>
            </a:r>
            <a:r>
              <a:rPr dirty="0"/>
              <a:t> /.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к </a:t>
            </a:r>
            <a:r>
              <a:rPr dirty="0" err="1"/>
              <a:t>этому</a:t>
            </a:r>
            <a:r>
              <a:rPr dirty="0"/>
              <a:t> </a:t>
            </a:r>
            <a:r>
              <a:rPr dirty="0" err="1"/>
              <a:t>дереву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—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с </a:t>
            </a:r>
            <a:r>
              <a:rPr dirty="0" err="1"/>
              <a:t>серверными</a:t>
            </a:r>
            <a:r>
              <a:rPr dirty="0"/>
              <a:t> </a:t>
            </a:r>
            <a:r>
              <a:rPr dirty="0" err="1"/>
              <a:t>дисками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Точка монтирования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Например</a:t>
            </a:r>
            <a:r>
              <a:rPr dirty="0"/>
              <a:t>, /</a:t>
            </a:r>
            <a:r>
              <a:rPr dirty="0" err="1"/>
              <a:t>mnt</a:t>
            </a:r>
            <a:r>
              <a:rPr dirty="0"/>
              <a:t>/data </a:t>
            </a:r>
            <a:r>
              <a:rPr dirty="0" err="1"/>
              <a:t>или</a:t>
            </a:r>
            <a:r>
              <a:rPr dirty="0"/>
              <a:t> /var/log.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 </a:t>
            </a:r>
            <a:r>
              <a:rPr dirty="0" err="1"/>
              <a:t>доступно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смонтирован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недоступны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Постоянное монтирование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постоянного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указывают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,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и </a:t>
            </a:r>
            <a:r>
              <a:rPr dirty="0" err="1"/>
              <a:t>параметры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помешать</a:t>
            </a:r>
            <a:r>
              <a:rPr dirty="0"/>
              <a:t> </a:t>
            </a:r>
            <a:r>
              <a:rPr dirty="0" err="1"/>
              <a:t>загрузке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UUID,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случайное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резервная</a:t>
            </a:r>
            <a:r>
              <a:rPr dirty="0"/>
              <a:t> </a:t>
            </a:r>
            <a:r>
              <a:rPr dirty="0" err="1"/>
              <a:t>копия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Монтирование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653843-A2D4-5376-B04C-236A7E36A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3339" y="182880"/>
            <a:ext cx="855484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Файловые</a:t>
            </a:r>
            <a:r>
              <a:rPr sz="4800" dirty="0"/>
              <a:t> </a:t>
            </a:r>
            <a:r>
              <a:rPr sz="4800" dirty="0" err="1"/>
              <a:t>системы</a:t>
            </a:r>
            <a:r>
              <a:rPr sz="4800" dirty="0"/>
              <a:t>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24116"/>
            <a:ext cx="1140050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буквы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и </a:t>
            </a:r>
            <a:r>
              <a:rPr dirty="0" err="1"/>
              <a:t>томов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C:, D:, E:.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Windows — NTFS.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FAT и FAT32 </a:t>
            </a:r>
            <a:r>
              <a:rPr dirty="0" err="1"/>
              <a:t>встречаются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съемных</a:t>
            </a:r>
            <a:r>
              <a:rPr dirty="0"/>
              <a:t> </a:t>
            </a:r>
            <a:r>
              <a:rPr dirty="0" err="1"/>
              <a:t>носителях</a:t>
            </a:r>
            <a:r>
              <a:rPr dirty="0"/>
              <a:t> и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 и </a:t>
            </a:r>
            <a:r>
              <a:rPr dirty="0" err="1"/>
              <a:t>надежность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FAT и FAT32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FAT — File Allocation Table, </a:t>
            </a:r>
            <a:r>
              <a:rPr dirty="0" err="1"/>
              <a:t>старая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FAT32 —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поздний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 FAT.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Хорошо</a:t>
            </a:r>
            <a:r>
              <a:rPr dirty="0"/>
              <a:t> </a:t>
            </a:r>
            <a:r>
              <a:rPr dirty="0" err="1"/>
              <a:t>совместима</a:t>
            </a:r>
            <a:r>
              <a:rPr dirty="0"/>
              <a:t> с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размеру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и </a:t>
            </a:r>
            <a:r>
              <a:rPr dirty="0" err="1"/>
              <a:t>возможностям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основная</a:t>
            </a:r>
            <a:r>
              <a:rPr dirty="0"/>
              <a:t> ФС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современного</a:t>
            </a:r>
            <a:r>
              <a:rPr dirty="0"/>
              <a:t> Windows Server.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238" y="1224117"/>
            <a:ext cx="1122352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NTFS — New Technology File System.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и </a:t>
            </a:r>
            <a:r>
              <a:rPr dirty="0" err="1"/>
              <a:t>владельцев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журналирование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, </a:t>
            </a:r>
            <a:r>
              <a:rPr dirty="0" err="1"/>
              <a:t>профилей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NTFS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Права</a:t>
            </a:r>
            <a:r>
              <a:rPr dirty="0"/>
              <a:t> NTFS </a:t>
            </a:r>
            <a:r>
              <a:rPr dirty="0" err="1"/>
              <a:t>управляют</a:t>
            </a:r>
            <a:r>
              <a:rPr dirty="0"/>
              <a:t> </a:t>
            </a:r>
            <a:r>
              <a:rPr dirty="0" err="1"/>
              <a:t>доступом</a:t>
            </a:r>
            <a:r>
              <a:rPr dirty="0"/>
              <a:t> к </a:t>
            </a:r>
            <a:r>
              <a:rPr dirty="0" err="1"/>
              <a:t>файлам</a:t>
            </a:r>
            <a:r>
              <a:rPr dirty="0"/>
              <a:t> и </a:t>
            </a:r>
            <a:r>
              <a:rPr dirty="0" err="1"/>
              <a:t>каталогам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разрешить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, </a:t>
            </a:r>
            <a:r>
              <a:rPr dirty="0" err="1"/>
              <a:t>изменение</a:t>
            </a:r>
            <a:r>
              <a:rPr dirty="0"/>
              <a:t>,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назначаться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и </a:t>
            </a:r>
            <a:r>
              <a:rPr dirty="0" err="1"/>
              <a:t>группам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Share-</a:t>
            </a:r>
            <a:r>
              <a:rPr dirty="0" err="1"/>
              <a:t>права</a:t>
            </a:r>
            <a:r>
              <a:rPr dirty="0"/>
              <a:t> и NTFS-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— </a:t>
            </a:r>
            <a:r>
              <a:rPr dirty="0" err="1"/>
              <a:t>частая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FF82-7577-21C3-9C69-77E3E57D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3CD9D-EC2E-76FB-4FBD-A0A5265DA1C8}"/>
              </a:ext>
            </a:extLst>
          </p:cNvPr>
          <p:cNvSpPr txBox="1"/>
          <p:nvPr/>
        </p:nvSpPr>
        <p:spPr>
          <a:xfrm>
            <a:off x="3402527" y="182880"/>
            <a:ext cx="53564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Файловые системы Windows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D00BC6-6D28-5CB9-0D3B-14426DB9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72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1361" y="182880"/>
            <a:ext cx="103587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LVM и </a:t>
            </a:r>
            <a:r>
              <a:rPr sz="4800" dirty="0" err="1"/>
              <a:t>альтернативные</a:t>
            </a:r>
            <a:r>
              <a:rPr sz="4800" dirty="0"/>
              <a:t> </a:t>
            </a:r>
            <a:r>
              <a:rPr sz="4800" dirty="0" err="1"/>
              <a:t>потоки</a:t>
            </a:r>
            <a:r>
              <a:rPr sz="4800" dirty="0"/>
              <a:t> NTFS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53613"/>
            <a:ext cx="1138575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LVM — Logical Volume Manager,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логических</a:t>
            </a:r>
            <a:r>
              <a:rPr dirty="0"/>
              <a:t> </a:t>
            </a:r>
            <a:r>
              <a:rPr dirty="0" err="1"/>
              <a:t>томов</a:t>
            </a:r>
            <a:r>
              <a:rPr dirty="0"/>
              <a:t>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гибко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томами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и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расширять</a:t>
            </a:r>
            <a:r>
              <a:rPr dirty="0"/>
              <a:t> </a:t>
            </a:r>
            <a:r>
              <a:rPr dirty="0" err="1"/>
              <a:t>логические</a:t>
            </a:r>
            <a:r>
              <a:rPr dirty="0"/>
              <a:t> </a:t>
            </a:r>
            <a:r>
              <a:rPr dirty="0" err="1"/>
              <a:t>тома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добавлении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курса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обзорного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Глубокая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LVM </a:t>
            </a:r>
            <a:r>
              <a:rPr dirty="0" err="1"/>
              <a:t>изучается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Альтернативные потоки данных NTFS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Alternate Data Streams — </a:t>
            </a:r>
            <a:r>
              <a:rPr dirty="0" err="1"/>
              <a:t>альтернативные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NTFS.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в </a:t>
            </a:r>
            <a:r>
              <a:rPr dirty="0" err="1"/>
              <a:t>обычном</a:t>
            </a:r>
            <a:r>
              <a:rPr dirty="0"/>
              <a:t> </a:t>
            </a:r>
            <a:r>
              <a:rPr dirty="0" err="1"/>
              <a:t>просмотре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</a:t>
            </a:r>
            <a:r>
              <a:rPr dirty="0" err="1"/>
              <a:t>системами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и </a:t>
            </a:r>
            <a:r>
              <a:rPr dirty="0" err="1"/>
              <a:t>приложениями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lang="ru-RU" dirty="0"/>
              <a:t>данном этапе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такая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существует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LVM и </a:t>
            </a:r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разделы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95D738-5027-AD07-33F4-ADDF5698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630" y="182880"/>
            <a:ext cx="118142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9. </a:t>
            </a:r>
            <a:r>
              <a:rPr sz="4400" dirty="0" err="1"/>
              <a:t>Практическое</a:t>
            </a:r>
            <a:r>
              <a:rPr sz="4400" dirty="0"/>
              <a:t> </a:t>
            </a:r>
            <a:r>
              <a:rPr sz="4400" dirty="0" err="1"/>
              <a:t>значение</a:t>
            </a:r>
            <a:r>
              <a:rPr sz="4400" dirty="0"/>
              <a:t> </a:t>
            </a:r>
            <a:r>
              <a:rPr sz="4400" dirty="0" err="1"/>
              <a:t>для</a:t>
            </a:r>
            <a:r>
              <a:rPr sz="4400" dirty="0"/>
              <a:t> </a:t>
            </a:r>
            <a:r>
              <a:rPr sz="4400" dirty="0" err="1"/>
              <a:t>администратора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268361"/>
            <a:ext cx="1138575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надежность</a:t>
            </a:r>
            <a:r>
              <a:rPr dirty="0"/>
              <a:t> и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ФС </a:t>
            </a:r>
            <a:r>
              <a:rPr dirty="0" err="1"/>
              <a:t>под</a:t>
            </a:r>
            <a:r>
              <a:rPr dirty="0"/>
              <a:t> ОС и </a:t>
            </a:r>
            <a:r>
              <a:rPr dirty="0" err="1"/>
              <a:t>задачу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подключены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диагностировать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и </a:t>
            </a:r>
            <a:r>
              <a:rPr dirty="0" err="1"/>
              <a:t>прав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форматированием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ФС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Форматировать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Монтировать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ту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прописать</a:t>
            </a:r>
            <a:r>
              <a:rPr dirty="0"/>
              <a:t> </a:t>
            </a:r>
            <a:r>
              <a:rPr dirty="0" err="1"/>
              <a:t>постоянное</a:t>
            </a:r>
            <a:r>
              <a:rPr dirty="0"/>
              <a:t> </a:t>
            </a:r>
            <a:r>
              <a:rPr dirty="0" err="1"/>
              <a:t>монтирование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Перепутать</a:t>
            </a:r>
            <a:r>
              <a:rPr dirty="0"/>
              <a:t> </a:t>
            </a:r>
            <a:r>
              <a:rPr dirty="0" err="1"/>
              <a:t>свободное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и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inode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Назначить</a:t>
            </a:r>
            <a:r>
              <a:rPr dirty="0"/>
              <a:t> </a:t>
            </a:r>
            <a:r>
              <a:rPr dirty="0" err="1"/>
              <a:t>неверные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NTFS </a:t>
            </a:r>
            <a:r>
              <a:rPr dirty="0" err="1"/>
              <a:t>или</a:t>
            </a:r>
            <a:r>
              <a:rPr dirty="0"/>
              <a:t>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журналирование</a:t>
            </a:r>
            <a:r>
              <a:rPr dirty="0"/>
              <a:t> </a:t>
            </a:r>
            <a:r>
              <a:rPr dirty="0" err="1"/>
              <a:t>заменой</a:t>
            </a:r>
            <a:r>
              <a:rPr dirty="0"/>
              <a:t> </a:t>
            </a:r>
            <a:r>
              <a:rPr dirty="0" err="1"/>
              <a:t>резервного</a:t>
            </a:r>
            <a:r>
              <a:rPr dirty="0"/>
              <a:t> </a:t>
            </a:r>
            <a:r>
              <a:rPr dirty="0" err="1"/>
              <a:t>копирования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служебную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Блоки</a:t>
            </a:r>
            <a:r>
              <a:rPr dirty="0"/>
              <a:t> и </a:t>
            </a:r>
            <a:r>
              <a:rPr dirty="0" err="1"/>
              <a:t>кластеры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выделяется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Журналирование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восстановиться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сбоя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и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тома</a:t>
            </a:r>
            <a:r>
              <a:rPr dirty="0"/>
              <a:t> с </a:t>
            </a:r>
            <a:r>
              <a:rPr dirty="0" err="1"/>
              <a:t>буквами</a:t>
            </a:r>
            <a:r>
              <a:rPr dirty="0"/>
              <a:t> и NTFS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основную</a:t>
            </a:r>
            <a:r>
              <a:rPr dirty="0"/>
              <a:t> ФС.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ФС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форматированием</a:t>
            </a:r>
            <a:r>
              <a:rPr dirty="0"/>
              <a:t> и </a:t>
            </a:r>
            <a:r>
              <a:rPr dirty="0" err="1"/>
              <a:t>назначением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системе</a:t>
            </a:r>
            <a:r>
              <a:rPr sz="3200" dirty="0"/>
              <a:t> </a:t>
            </a:r>
            <a:r>
              <a:rPr sz="3200" dirty="0" err="1"/>
              <a:t>нужна</a:t>
            </a:r>
            <a:r>
              <a:rPr sz="3200" dirty="0"/>
              <a:t> </a:t>
            </a:r>
            <a:r>
              <a:rPr sz="3200" dirty="0" err="1"/>
              <a:t>файловая</a:t>
            </a:r>
            <a:r>
              <a:rPr sz="3200" dirty="0"/>
              <a:t> </a:t>
            </a:r>
            <a:r>
              <a:rPr sz="3200" dirty="0" err="1"/>
              <a:t>система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Что</a:t>
            </a:r>
            <a:r>
              <a:rPr sz="3200" dirty="0"/>
              <a:t> </a:t>
            </a:r>
            <a:r>
              <a:rPr sz="3200" dirty="0" err="1"/>
              <a:t>такое</a:t>
            </a:r>
            <a:r>
              <a:rPr sz="3200" dirty="0"/>
              <a:t> </a:t>
            </a:r>
            <a:r>
              <a:rPr sz="3200" dirty="0" err="1"/>
              <a:t>блок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кластер</a:t>
            </a:r>
            <a:r>
              <a:rPr sz="3200" dirty="0"/>
              <a:t> в </a:t>
            </a:r>
            <a:r>
              <a:rPr sz="3200" dirty="0" err="1"/>
              <a:t>контексте</a:t>
            </a:r>
            <a:r>
              <a:rPr sz="3200" dirty="0"/>
              <a:t> </a:t>
            </a:r>
            <a:r>
              <a:rPr sz="3200" dirty="0" err="1"/>
              <a:t>хранения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Почему</a:t>
            </a:r>
            <a:r>
              <a:rPr sz="3200" dirty="0"/>
              <a:t> </a:t>
            </a:r>
            <a:r>
              <a:rPr sz="3200" dirty="0" err="1"/>
              <a:t>журналирование</a:t>
            </a:r>
            <a:r>
              <a:rPr sz="3200" dirty="0"/>
              <a:t> </a:t>
            </a:r>
            <a:r>
              <a:rPr sz="3200" dirty="0" err="1"/>
              <a:t>важно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серверных</a:t>
            </a:r>
            <a:r>
              <a:rPr sz="3200" dirty="0"/>
              <a:t> </a:t>
            </a:r>
            <a:r>
              <a:rPr sz="3200" dirty="0" err="1"/>
              <a:t>файловых</a:t>
            </a:r>
            <a:r>
              <a:rPr sz="3200" dirty="0"/>
              <a:t> </a:t>
            </a:r>
            <a:r>
              <a:rPr sz="3200" dirty="0" err="1"/>
              <a:t>систем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Чем</a:t>
            </a:r>
            <a:r>
              <a:rPr sz="3200" dirty="0"/>
              <a:t> ext4, XFS и </a:t>
            </a:r>
            <a:r>
              <a:rPr sz="3200" dirty="0" err="1"/>
              <a:t>Btrfs</a:t>
            </a:r>
            <a:r>
              <a:rPr sz="3200" dirty="0"/>
              <a:t> </a:t>
            </a:r>
            <a:r>
              <a:rPr sz="3200" dirty="0" err="1"/>
              <a:t>отличаются</a:t>
            </a:r>
            <a:r>
              <a:rPr sz="3200" dirty="0"/>
              <a:t> </a:t>
            </a:r>
            <a:r>
              <a:rPr sz="3200" dirty="0" err="1"/>
              <a:t>по</a:t>
            </a:r>
            <a:r>
              <a:rPr sz="3200" dirty="0"/>
              <a:t> </a:t>
            </a:r>
            <a:r>
              <a:rPr sz="3200" dirty="0" err="1"/>
              <a:t>назначению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Что</a:t>
            </a:r>
            <a:r>
              <a:rPr sz="3200" dirty="0"/>
              <a:t> </a:t>
            </a:r>
            <a:r>
              <a:rPr sz="3200" dirty="0" err="1"/>
              <a:t>такое</a:t>
            </a:r>
            <a:r>
              <a:rPr sz="3200" dirty="0"/>
              <a:t> </a:t>
            </a:r>
            <a:r>
              <a:rPr sz="3200" dirty="0" err="1"/>
              <a:t>inode</a:t>
            </a:r>
            <a:r>
              <a:rPr sz="3200" dirty="0"/>
              <a:t> и </a:t>
            </a:r>
            <a:r>
              <a:rPr sz="3200" dirty="0" err="1"/>
              <a:t>какую</a:t>
            </a:r>
            <a:r>
              <a:rPr sz="3200" dirty="0"/>
              <a:t> </a:t>
            </a:r>
            <a:r>
              <a:rPr sz="3200" dirty="0" err="1"/>
              <a:t>информацию</a:t>
            </a:r>
            <a:r>
              <a:rPr sz="3200" dirty="0"/>
              <a:t> </a:t>
            </a:r>
            <a:r>
              <a:rPr sz="3200" dirty="0" err="1"/>
              <a:t>он</a:t>
            </a:r>
            <a:r>
              <a:rPr sz="3200" dirty="0"/>
              <a:t> </a:t>
            </a:r>
            <a:r>
              <a:rPr sz="3200" dirty="0" err="1"/>
              <a:t>хранит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Почему</a:t>
            </a:r>
            <a:r>
              <a:rPr sz="3200" dirty="0"/>
              <a:t> в Linux </a:t>
            </a:r>
            <a:r>
              <a:rPr sz="3200" dirty="0" err="1"/>
              <a:t>используется</a:t>
            </a:r>
            <a:r>
              <a:rPr sz="3200" dirty="0"/>
              <a:t> </a:t>
            </a:r>
            <a:r>
              <a:rPr sz="3200" dirty="0" err="1"/>
              <a:t>единое</a:t>
            </a:r>
            <a:r>
              <a:rPr sz="3200" dirty="0"/>
              <a:t> </a:t>
            </a:r>
            <a:r>
              <a:rPr sz="3200" dirty="0" err="1"/>
              <a:t>дерево</a:t>
            </a:r>
            <a:r>
              <a:rPr sz="3200" dirty="0"/>
              <a:t> </a:t>
            </a:r>
            <a:r>
              <a:rPr sz="3200" dirty="0" err="1"/>
              <a:t>каталогов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чего</a:t>
            </a:r>
            <a:r>
              <a:rPr sz="3200" dirty="0"/>
              <a:t> </a:t>
            </a:r>
            <a:r>
              <a:rPr sz="3200" dirty="0" err="1"/>
              <a:t>используется</a:t>
            </a:r>
            <a:r>
              <a:rPr sz="3200" dirty="0"/>
              <a:t> </a:t>
            </a:r>
            <a:r>
              <a:rPr sz="3200" dirty="0" err="1"/>
              <a:t>точка</a:t>
            </a:r>
            <a:r>
              <a:rPr sz="3200" dirty="0"/>
              <a:t> </a:t>
            </a:r>
            <a:r>
              <a:rPr sz="3200" dirty="0" err="1"/>
              <a:t>монтирования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Почему</a:t>
            </a:r>
            <a:r>
              <a:rPr sz="3200" dirty="0"/>
              <a:t> NTFS </a:t>
            </a:r>
            <a:r>
              <a:rPr sz="3200" dirty="0" err="1"/>
              <a:t>является</a:t>
            </a:r>
            <a:r>
              <a:rPr sz="3200" dirty="0"/>
              <a:t> </a:t>
            </a:r>
            <a:r>
              <a:rPr sz="3200" dirty="0" err="1"/>
              <a:t>основной</a:t>
            </a:r>
            <a:r>
              <a:rPr sz="3200" dirty="0"/>
              <a:t> </a:t>
            </a:r>
            <a:r>
              <a:rPr sz="3200" dirty="0" err="1"/>
              <a:t>файловой</a:t>
            </a:r>
            <a:r>
              <a:rPr sz="3200" dirty="0"/>
              <a:t> </a:t>
            </a:r>
            <a:r>
              <a:rPr sz="3200" dirty="0" err="1"/>
              <a:t>системой</a:t>
            </a:r>
            <a:r>
              <a:rPr sz="3200" dirty="0"/>
              <a:t> Windows?</a:t>
            </a:r>
          </a:p>
          <a:p>
            <a:pPr>
              <a:defRPr sz="3600"/>
            </a:pPr>
            <a:r>
              <a:rPr sz="3200" dirty="0"/>
              <a:t>9. </a:t>
            </a:r>
            <a:r>
              <a:rPr sz="3200" dirty="0" err="1"/>
              <a:t>Какие</a:t>
            </a:r>
            <a:r>
              <a:rPr sz="3200" dirty="0"/>
              <a:t> </a:t>
            </a:r>
            <a:r>
              <a:rPr sz="3200" dirty="0" err="1"/>
              <a:t>ошибки</a:t>
            </a:r>
            <a:r>
              <a:rPr sz="3200" dirty="0"/>
              <a:t> </a:t>
            </a:r>
            <a:r>
              <a:rPr sz="3200" dirty="0" err="1"/>
              <a:t>могут</a:t>
            </a:r>
            <a:r>
              <a:rPr sz="3200" dirty="0"/>
              <a:t> </a:t>
            </a:r>
            <a:r>
              <a:rPr sz="3200" dirty="0" err="1"/>
              <a:t>возникнуть</a:t>
            </a:r>
            <a:r>
              <a:rPr sz="3200" dirty="0"/>
              <a:t> </a:t>
            </a:r>
            <a:r>
              <a:rPr sz="3200" dirty="0" err="1"/>
              <a:t>при</a:t>
            </a:r>
            <a:r>
              <a:rPr sz="3200" dirty="0"/>
              <a:t> </a:t>
            </a:r>
            <a:r>
              <a:rPr sz="3200" dirty="0" err="1"/>
              <a:t>форматировании</a:t>
            </a:r>
            <a:r>
              <a:rPr sz="3200" dirty="0"/>
              <a:t>, </a:t>
            </a:r>
            <a:r>
              <a:rPr sz="3200" dirty="0" err="1"/>
              <a:t>монтировании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назначении</a:t>
            </a:r>
            <a:r>
              <a:rPr sz="3200" dirty="0"/>
              <a:t> </a:t>
            </a:r>
            <a:r>
              <a:rPr sz="3200" dirty="0" err="1"/>
              <a:t>прав</a:t>
            </a:r>
            <a:r>
              <a:rPr sz="32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1667</Words>
  <Application>Microsoft Office PowerPoint</Application>
  <PresentationFormat>Широкоэкранный</PresentationFormat>
  <Paragraphs>214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2026-06-28T06:24:52Z</dcterms:modified>
  <cp:category/>
</cp:coreProperties>
</file>