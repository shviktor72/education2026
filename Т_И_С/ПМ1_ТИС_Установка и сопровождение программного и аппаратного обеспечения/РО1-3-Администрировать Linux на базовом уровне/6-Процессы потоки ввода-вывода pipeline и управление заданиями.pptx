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91" r:id="rId7"/>
    <p:sldId id="262" r:id="rId8"/>
    <p:sldId id="263" r:id="rId9"/>
    <p:sldId id="264" r:id="rId10"/>
    <p:sldId id="290" r:id="rId11"/>
    <p:sldId id="303" r:id="rId12"/>
    <p:sldId id="265" r:id="rId13"/>
    <p:sldId id="266" r:id="rId14"/>
    <p:sldId id="292" r:id="rId15"/>
    <p:sldId id="267" r:id="rId16"/>
    <p:sldId id="268" r:id="rId17"/>
    <p:sldId id="269" r:id="rId18"/>
    <p:sldId id="270" r:id="rId19"/>
    <p:sldId id="293" r:id="rId20"/>
    <p:sldId id="271" r:id="rId21"/>
    <p:sldId id="272" r:id="rId22"/>
    <p:sldId id="273" r:id="rId23"/>
    <p:sldId id="274" r:id="rId24"/>
    <p:sldId id="299" r:id="rId25"/>
    <p:sldId id="275" r:id="rId26"/>
    <p:sldId id="276" r:id="rId27"/>
    <p:sldId id="277" r:id="rId28"/>
    <p:sldId id="278" r:id="rId29"/>
    <p:sldId id="294" r:id="rId30"/>
    <p:sldId id="295" r:id="rId31"/>
    <p:sldId id="296" r:id="rId32"/>
    <p:sldId id="297" r:id="rId33"/>
    <p:sldId id="298" r:id="rId34"/>
    <p:sldId id="300" r:id="rId35"/>
    <p:sldId id="280" r:id="rId36"/>
    <p:sldId id="281" r:id="rId37"/>
    <p:sldId id="304" r:id="rId38"/>
    <p:sldId id="305" r:id="rId39"/>
    <p:sldId id="306" r:id="rId40"/>
    <p:sldId id="307" r:id="rId41"/>
    <p:sldId id="308" r:id="rId42"/>
    <p:sldId id="301" r:id="rId43"/>
    <p:sldId id="282" r:id="rId44"/>
    <p:sldId id="279" r:id="rId45"/>
    <p:sldId id="286" r:id="rId46"/>
    <p:sldId id="287" r:id="rId47"/>
    <p:sldId id="288" r:id="rId48"/>
    <p:sldId id="289" r:id="rId49"/>
    <p:sldId id="284" r:id="rId50"/>
    <p:sldId id="285" r:id="rId5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35390" y="2896290"/>
            <a:ext cx="8113760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Лекция</a:t>
            </a:r>
            <a:r>
              <a:rPr dirty="0"/>
              <a:t> 6. </a:t>
            </a:r>
            <a:r>
              <a:rPr dirty="0" err="1"/>
              <a:t>Процессы</a:t>
            </a:r>
            <a:r>
              <a:rPr dirty="0"/>
              <a:t>, </a:t>
            </a:r>
            <a:r>
              <a:rPr dirty="0" err="1"/>
              <a:t>потоки</a:t>
            </a:r>
            <a:r>
              <a:rPr dirty="0"/>
              <a:t> </a:t>
            </a:r>
            <a:r>
              <a:rPr dirty="0" err="1"/>
              <a:t>ввода</a:t>
            </a:r>
            <a:r>
              <a:rPr dirty="0"/>
              <a:t>/</a:t>
            </a:r>
            <a:r>
              <a:rPr dirty="0" err="1"/>
              <a:t>вывода</a:t>
            </a:r>
            <a:r>
              <a:rPr dirty="0"/>
              <a:t>, </a:t>
            </a:r>
            <a:endParaRPr lang="en-US" dirty="0"/>
          </a:p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/>
              <a:t>pipeline и </a:t>
            </a:r>
            <a:r>
              <a:rPr dirty="0" err="1"/>
              <a:t>управление</a:t>
            </a:r>
            <a:r>
              <a:rPr dirty="0"/>
              <a:t> </a:t>
            </a:r>
            <a:r>
              <a:rPr dirty="0" err="1"/>
              <a:t>заданиями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09600" y="412954"/>
            <a:ext cx="10972800" cy="130375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3600"/>
            </a:pPr>
            <a:r>
              <a:rPr sz="3200" b="1" dirty="0">
                <a:solidFill>
                  <a:srgbClr val="143764"/>
                </a:solidFill>
              </a:rPr>
              <a:t>РО 1.3. Базовое </a:t>
            </a:r>
            <a:r>
              <a:rPr sz="3200" b="1" dirty="0" err="1">
                <a:solidFill>
                  <a:srgbClr val="143764"/>
                </a:solidFill>
              </a:rPr>
              <a:t>администрирование</a:t>
            </a:r>
            <a:r>
              <a:rPr sz="3200" b="1" dirty="0">
                <a:solidFill>
                  <a:srgbClr val="143764"/>
                </a:solidFill>
              </a:rPr>
              <a:t> Linux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Цель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Научиться понимать процессы Linux, сигналы, стандартные потоки, перенаправление и простые конвейеры команд.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Список учебных вопросов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99" y="914400"/>
            <a:ext cx="11312013" cy="557489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sz="2800" dirty="0"/>
              <a:t>1. </a:t>
            </a:r>
            <a:r>
              <a:rPr sz="2800" dirty="0" err="1"/>
              <a:t>Процесс</a:t>
            </a:r>
            <a:r>
              <a:rPr sz="2800" dirty="0"/>
              <a:t> в Linux с </a:t>
            </a:r>
            <a:r>
              <a:rPr sz="2800" dirty="0" err="1"/>
              <a:t>практической</a:t>
            </a:r>
            <a:r>
              <a:rPr sz="2800" dirty="0"/>
              <a:t> </a:t>
            </a:r>
            <a:r>
              <a:rPr sz="2800" dirty="0" err="1"/>
              <a:t>точки</a:t>
            </a:r>
            <a:r>
              <a:rPr sz="2800" dirty="0"/>
              <a:t> </a:t>
            </a:r>
            <a:r>
              <a:rPr sz="2800" dirty="0" err="1"/>
              <a:t>зрения</a:t>
            </a:r>
            <a:r>
              <a:rPr sz="2800" dirty="0"/>
              <a:t> </a:t>
            </a:r>
            <a:r>
              <a:rPr sz="2800" dirty="0" err="1"/>
              <a:t>администратора</a:t>
            </a:r>
            <a:endParaRPr sz="2800" dirty="0"/>
          </a:p>
          <a:p>
            <a:pPr>
              <a:defRPr sz="3600"/>
            </a:pPr>
            <a:r>
              <a:rPr sz="2800" dirty="0"/>
              <a:t>2. PID, PPID, </a:t>
            </a:r>
            <a:r>
              <a:rPr sz="2800" dirty="0" err="1"/>
              <a:t>состояние</a:t>
            </a:r>
            <a:r>
              <a:rPr sz="2800" dirty="0"/>
              <a:t> </a:t>
            </a:r>
            <a:r>
              <a:rPr sz="2800" dirty="0" err="1"/>
              <a:t>процесса</a:t>
            </a:r>
            <a:r>
              <a:rPr sz="2800" dirty="0"/>
              <a:t>, </a:t>
            </a:r>
            <a:r>
              <a:rPr sz="2800" dirty="0" err="1"/>
              <a:t>владелец</a:t>
            </a:r>
            <a:r>
              <a:rPr sz="2800" dirty="0"/>
              <a:t> </a:t>
            </a:r>
            <a:r>
              <a:rPr sz="2800" dirty="0" err="1"/>
              <a:t>процесса</a:t>
            </a:r>
            <a:endParaRPr sz="2800" dirty="0"/>
          </a:p>
          <a:p>
            <a:pPr>
              <a:defRPr sz="3600"/>
            </a:pPr>
            <a:r>
              <a:rPr sz="2800" dirty="0"/>
              <a:t>3. </a:t>
            </a:r>
            <a:r>
              <a:rPr sz="2800" dirty="0" err="1"/>
              <a:t>Просмотр</a:t>
            </a:r>
            <a:r>
              <a:rPr sz="2800" dirty="0"/>
              <a:t> </a:t>
            </a:r>
            <a:r>
              <a:rPr sz="2800" dirty="0" err="1"/>
              <a:t>процессов</a:t>
            </a:r>
            <a:r>
              <a:rPr sz="2800" dirty="0"/>
              <a:t>: </a:t>
            </a:r>
            <a:r>
              <a:rPr sz="2800" dirty="0" err="1"/>
              <a:t>ps</a:t>
            </a:r>
            <a:r>
              <a:rPr sz="2800" dirty="0"/>
              <a:t>, top, </a:t>
            </a:r>
            <a:r>
              <a:rPr sz="2800" dirty="0" err="1"/>
              <a:t>htop</a:t>
            </a:r>
            <a:r>
              <a:rPr sz="2800" dirty="0"/>
              <a:t> </a:t>
            </a:r>
            <a:r>
              <a:rPr sz="2800" dirty="0" err="1"/>
              <a:t>на</a:t>
            </a:r>
            <a:r>
              <a:rPr sz="2800" dirty="0"/>
              <a:t> </a:t>
            </a:r>
            <a:r>
              <a:rPr sz="2800" dirty="0" err="1"/>
              <a:t>уровне</a:t>
            </a:r>
            <a:r>
              <a:rPr sz="2800" dirty="0"/>
              <a:t> </a:t>
            </a:r>
            <a:r>
              <a:rPr sz="2800" dirty="0" err="1"/>
              <a:t>назначения</a:t>
            </a:r>
            <a:endParaRPr sz="2800" dirty="0"/>
          </a:p>
          <a:p>
            <a:pPr>
              <a:defRPr sz="3600"/>
            </a:pPr>
            <a:r>
              <a:rPr sz="2800" dirty="0"/>
              <a:t>4. </a:t>
            </a:r>
            <a:r>
              <a:rPr sz="2800" dirty="0" err="1"/>
              <a:t>Сигналы</a:t>
            </a:r>
            <a:r>
              <a:rPr sz="2800" dirty="0"/>
              <a:t> </a:t>
            </a:r>
            <a:r>
              <a:rPr sz="2800" dirty="0" err="1"/>
              <a:t>процессам</a:t>
            </a:r>
            <a:r>
              <a:rPr sz="2800" dirty="0"/>
              <a:t>: SIGTERM, SIGKILL, SIGHUP</a:t>
            </a:r>
          </a:p>
          <a:p>
            <a:pPr>
              <a:defRPr sz="3600"/>
            </a:pPr>
            <a:r>
              <a:rPr sz="2800" dirty="0"/>
              <a:t>5. </a:t>
            </a:r>
            <a:r>
              <a:rPr sz="2800" dirty="0" err="1"/>
              <a:t>Завершение</a:t>
            </a:r>
            <a:r>
              <a:rPr sz="2800" dirty="0"/>
              <a:t> </a:t>
            </a:r>
            <a:r>
              <a:rPr sz="2800" dirty="0" err="1"/>
              <a:t>процессов</a:t>
            </a:r>
            <a:r>
              <a:rPr sz="2800" dirty="0"/>
              <a:t>: kill, </a:t>
            </a:r>
            <a:r>
              <a:rPr sz="2800" dirty="0" err="1"/>
              <a:t>pkill</a:t>
            </a:r>
            <a:r>
              <a:rPr sz="2800" dirty="0"/>
              <a:t>, </a:t>
            </a:r>
            <a:r>
              <a:rPr sz="2800" dirty="0" err="1"/>
              <a:t>killall</a:t>
            </a:r>
            <a:endParaRPr sz="2800" dirty="0"/>
          </a:p>
          <a:p>
            <a:pPr>
              <a:defRPr sz="3600"/>
            </a:pPr>
            <a:r>
              <a:rPr sz="2800" dirty="0"/>
              <a:t>6. </a:t>
            </a:r>
            <a:r>
              <a:rPr sz="2800" dirty="0" err="1"/>
              <a:t>Стандартные</a:t>
            </a:r>
            <a:r>
              <a:rPr sz="2800" dirty="0"/>
              <a:t> </a:t>
            </a:r>
            <a:r>
              <a:rPr sz="2800" dirty="0" err="1"/>
              <a:t>потоки</a:t>
            </a:r>
            <a:r>
              <a:rPr sz="2800" dirty="0"/>
              <a:t>: stdin, </a:t>
            </a:r>
            <a:r>
              <a:rPr sz="2800" dirty="0" err="1"/>
              <a:t>stdout</a:t>
            </a:r>
            <a:r>
              <a:rPr sz="2800" dirty="0"/>
              <a:t>, stderr</a:t>
            </a:r>
          </a:p>
          <a:p>
            <a:pPr>
              <a:defRPr sz="3600"/>
            </a:pPr>
            <a:r>
              <a:rPr sz="2800" dirty="0"/>
              <a:t>7. </a:t>
            </a:r>
            <a:r>
              <a:rPr sz="2800" dirty="0" err="1"/>
              <a:t>Перенаправление</a:t>
            </a:r>
            <a:r>
              <a:rPr sz="2800" dirty="0"/>
              <a:t> </a:t>
            </a:r>
            <a:r>
              <a:rPr sz="2800" dirty="0" err="1"/>
              <a:t>вывода</a:t>
            </a:r>
            <a:r>
              <a:rPr sz="2800" dirty="0"/>
              <a:t> и </a:t>
            </a:r>
            <a:r>
              <a:rPr sz="2800" dirty="0" err="1"/>
              <a:t>ошибок</a:t>
            </a:r>
            <a:r>
              <a:rPr sz="2800" dirty="0"/>
              <a:t>: &gt;, &gt;&gt;, 2&gt;, 2&gt;&amp;1</a:t>
            </a:r>
          </a:p>
          <a:p>
            <a:pPr>
              <a:defRPr sz="3600"/>
            </a:pPr>
            <a:r>
              <a:rPr sz="2800" dirty="0"/>
              <a:t>8. </a:t>
            </a:r>
            <a:r>
              <a:rPr sz="2800" dirty="0" err="1"/>
              <a:t>Конвейер</a:t>
            </a:r>
            <a:r>
              <a:rPr sz="2800" dirty="0"/>
              <a:t> pipeline: </a:t>
            </a:r>
            <a:r>
              <a:rPr sz="2800" dirty="0" err="1"/>
              <a:t>передача</a:t>
            </a:r>
            <a:r>
              <a:rPr sz="2800" dirty="0"/>
              <a:t> </a:t>
            </a:r>
            <a:r>
              <a:rPr sz="2800" dirty="0" err="1"/>
              <a:t>вывода</a:t>
            </a:r>
            <a:r>
              <a:rPr sz="2800" dirty="0"/>
              <a:t> </a:t>
            </a:r>
            <a:r>
              <a:rPr sz="2800" dirty="0" err="1"/>
              <a:t>одной</a:t>
            </a:r>
            <a:r>
              <a:rPr sz="2800" dirty="0"/>
              <a:t> </a:t>
            </a:r>
            <a:r>
              <a:rPr sz="2800" dirty="0" err="1"/>
              <a:t>команды</a:t>
            </a:r>
            <a:r>
              <a:rPr sz="2800" dirty="0"/>
              <a:t> </a:t>
            </a:r>
            <a:r>
              <a:rPr sz="2800" dirty="0" err="1"/>
              <a:t>на</a:t>
            </a:r>
            <a:r>
              <a:rPr sz="2800" dirty="0"/>
              <a:t> </a:t>
            </a:r>
            <a:r>
              <a:rPr sz="2800" dirty="0" err="1"/>
              <a:t>вход</a:t>
            </a:r>
            <a:r>
              <a:rPr sz="2800" dirty="0"/>
              <a:t> </a:t>
            </a:r>
            <a:r>
              <a:rPr sz="2800" dirty="0" err="1"/>
              <a:t>другой</a:t>
            </a:r>
            <a:endParaRPr sz="2800" dirty="0"/>
          </a:p>
          <a:p>
            <a:pPr>
              <a:defRPr sz="3600"/>
            </a:pPr>
            <a:r>
              <a:rPr sz="2800" dirty="0"/>
              <a:t>9. </a:t>
            </a:r>
            <a:r>
              <a:rPr sz="2800" dirty="0" err="1"/>
              <a:t>Базовые</a:t>
            </a:r>
            <a:r>
              <a:rPr sz="2800" dirty="0"/>
              <a:t> </a:t>
            </a:r>
            <a:r>
              <a:rPr sz="2800" dirty="0" err="1"/>
              <a:t>инструменты</a:t>
            </a:r>
            <a:r>
              <a:rPr sz="2800" dirty="0"/>
              <a:t> </a:t>
            </a:r>
            <a:r>
              <a:rPr sz="2800" dirty="0" err="1"/>
              <a:t>обработки</a:t>
            </a:r>
            <a:r>
              <a:rPr sz="2800" dirty="0"/>
              <a:t> </a:t>
            </a:r>
            <a:r>
              <a:rPr sz="2800" dirty="0" err="1"/>
              <a:t>вывода</a:t>
            </a:r>
            <a:r>
              <a:rPr sz="2800" dirty="0"/>
              <a:t>: grep, cut, sort, </a:t>
            </a:r>
            <a:r>
              <a:rPr sz="2800" dirty="0" err="1"/>
              <a:t>uniq</a:t>
            </a:r>
            <a:r>
              <a:rPr sz="2800" dirty="0"/>
              <a:t>, </a:t>
            </a:r>
            <a:r>
              <a:rPr sz="2800" dirty="0" err="1"/>
              <a:t>wc</a:t>
            </a:r>
            <a:endParaRPr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1. Процесс в Linux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Процесс</a:t>
            </a:r>
            <a:r>
              <a:rPr dirty="0"/>
              <a:t> — </a:t>
            </a:r>
            <a:r>
              <a:rPr dirty="0" err="1"/>
              <a:t>запущенная</a:t>
            </a:r>
            <a:r>
              <a:rPr dirty="0"/>
              <a:t> </a:t>
            </a:r>
            <a:r>
              <a:rPr dirty="0" err="1"/>
              <a:t>программа</a:t>
            </a:r>
            <a:r>
              <a:rPr dirty="0"/>
              <a:t> </a:t>
            </a:r>
            <a:r>
              <a:rPr dirty="0" err="1"/>
              <a:t>со</a:t>
            </a:r>
            <a:r>
              <a:rPr dirty="0"/>
              <a:t> </a:t>
            </a:r>
            <a:r>
              <a:rPr dirty="0" err="1"/>
              <a:t>своим</a:t>
            </a:r>
            <a:r>
              <a:rPr dirty="0"/>
              <a:t> PID, </a:t>
            </a:r>
            <a:r>
              <a:rPr dirty="0" err="1"/>
              <a:t>памятью</a:t>
            </a:r>
            <a:r>
              <a:rPr dirty="0"/>
              <a:t>, </a:t>
            </a:r>
            <a:r>
              <a:rPr dirty="0" err="1"/>
              <a:t>владельцем</a:t>
            </a:r>
            <a:r>
              <a:rPr dirty="0"/>
              <a:t> и </a:t>
            </a:r>
            <a:r>
              <a:rPr dirty="0" err="1"/>
              <a:t>состоянием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администратора</a:t>
            </a:r>
            <a:r>
              <a:rPr dirty="0"/>
              <a:t> </a:t>
            </a:r>
            <a:r>
              <a:rPr dirty="0" err="1"/>
              <a:t>процесс</a:t>
            </a:r>
            <a:r>
              <a:rPr dirty="0"/>
              <a:t> </a:t>
            </a:r>
            <a:r>
              <a:rPr dirty="0" err="1"/>
              <a:t>важен</a:t>
            </a:r>
            <a:r>
              <a:rPr dirty="0"/>
              <a:t>, </a:t>
            </a:r>
            <a:r>
              <a:rPr dirty="0" err="1"/>
              <a:t>потому</a:t>
            </a:r>
            <a:r>
              <a:rPr dirty="0"/>
              <a:t>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службы</a:t>
            </a:r>
            <a:r>
              <a:rPr dirty="0"/>
              <a:t>, shell и </a:t>
            </a:r>
            <a:r>
              <a:rPr dirty="0" err="1"/>
              <a:t>пользовательские</a:t>
            </a:r>
            <a:r>
              <a:rPr dirty="0"/>
              <a:t> </a:t>
            </a:r>
            <a:r>
              <a:rPr dirty="0" err="1"/>
              <a:t>программы</a:t>
            </a:r>
            <a:r>
              <a:rPr dirty="0"/>
              <a:t> </a:t>
            </a:r>
            <a:r>
              <a:rPr dirty="0" err="1"/>
              <a:t>работают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процессы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сервер</a:t>
            </a:r>
            <a:r>
              <a:rPr dirty="0"/>
              <a:t> </a:t>
            </a:r>
            <a:r>
              <a:rPr dirty="0" err="1"/>
              <a:t>тормозит</a:t>
            </a:r>
            <a:r>
              <a:rPr dirty="0"/>
              <a:t>, </a:t>
            </a:r>
            <a:r>
              <a:rPr dirty="0" err="1"/>
              <a:t>зависает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служба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отвечает</a:t>
            </a:r>
            <a:r>
              <a:rPr dirty="0"/>
              <a:t>, </a:t>
            </a:r>
            <a:r>
              <a:rPr dirty="0" err="1"/>
              <a:t>диагностика</a:t>
            </a:r>
            <a:r>
              <a:rPr dirty="0"/>
              <a:t>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начинается</a:t>
            </a:r>
            <a:r>
              <a:rPr dirty="0"/>
              <a:t> с </a:t>
            </a:r>
            <a:r>
              <a:rPr dirty="0" err="1"/>
              <a:t>процессов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Нельзя</a:t>
            </a:r>
            <a:r>
              <a:rPr dirty="0"/>
              <a:t> </a:t>
            </a:r>
            <a:r>
              <a:rPr dirty="0" err="1"/>
              <a:t>завершать</a:t>
            </a:r>
            <a:r>
              <a:rPr dirty="0"/>
              <a:t> </a:t>
            </a:r>
            <a:r>
              <a:rPr dirty="0" err="1"/>
              <a:t>процесс</a:t>
            </a:r>
            <a:r>
              <a:rPr dirty="0"/>
              <a:t>,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понимая</a:t>
            </a:r>
            <a:r>
              <a:rPr dirty="0"/>
              <a:t> </a:t>
            </a:r>
            <a:r>
              <a:rPr dirty="0" err="1"/>
              <a:t>его</a:t>
            </a:r>
            <a:r>
              <a:rPr dirty="0"/>
              <a:t> </a:t>
            </a:r>
            <a:r>
              <a:rPr dirty="0" err="1"/>
              <a:t>роль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Процесс</a:t>
            </a:r>
            <a:r>
              <a:rPr dirty="0"/>
              <a:t> и </a:t>
            </a:r>
            <a:r>
              <a:rPr dirty="0" err="1"/>
              <a:t>программа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Программа</a:t>
            </a:r>
            <a:r>
              <a:rPr dirty="0"/>
              <a:t> — </a:t>
            </a:r>
            <a:r>
              <a:rPr dirty="0" err="1"/>
              <a:t>файл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диске</a:t>
            </a:r>
            <a:r>
              <a:rPr dirty="0"/>
              <a:t>, </a:t>
            </a:r>
            <a:r>
              <a:rPr dirty="0" err="1"/>
              <a:t>например</a:t>
            </a:r>
            <a:r>
              <a:rPr dirty="0"/>
              <a:t> </a:t>
            </a:r>
            <a:r>
              <a:rPr b="1" dirty="0">
                <a:solidFill>
                  <a:srgbClr val="002060"/>
                </a:solidFill>
              </a:rPr>
              <a:t>/</a:t>
            </a:r>
            <a:r>
              <a:rPr b="1" dirty="0" err="1">
                <a:solidFill>
                  <a:srgbClr val="002060"/>
                </a:solidFill>
              </a:rPr>
              <a:t>usr</a:t>
            </a:r>
            <a:r>
              <a:rPr b="1" dirty="0">
                <a:solidFill>
                  <a:srgbClr val="002060"/>
                </a:solidFill>
              </a:rPr>
              <a:t>/bin/nginx</a:t>
            </a:r>
            <a:endParaRPr dirty="0"/>
          </a:p>
          <a:p>
            <a:pPr indent="354013">
              <a:defRPr sz="3600"/>
            </a:pPr>
            <a:r>
              <a:rPr dirty="0" err="1"/>
              <a:t>Процесс</a:t>
            </a:r>
            <a:r>
              <a:rPr dirty="0"/>
              <a:t> — </a:t>
            </a:r>
            <a:r>
              <a:rPr dirty="0" err="1"/>
              <a:t>выполняющийся</a:t>
            </a:r>
            <a:r>
              <a:rPr dirty="0"/>
              <a:t> </a:t>
            </a:r>
            <a:r>
              <a:rPr dirty="0" err="1"/>
              <a:t>экземпляр</a:t>
            </a:r>
            <a:r>
              <a:rPr dirty="0"/>
              <a:t> </a:t>
            </a:r>
            <a:r>
              <a:rPr dirty="0" err="1"/>
              <a:t>программы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Одна</a:t>
            </a:r>
            <a:r>
              <a:rPr dirty="0"/>
              <a:t> </a:t>
            </a:r>
            <a:r>
              <a:rPr dirty="0" err="1"/>
              <a:t>программа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иметь</a:t>
            </a:r>
            <a:r>
              <a:rPr dirty="0"/>
              <a:t> </a:t>
            </a:r>
            <a:r>
              <a:rPr dirty="0" err="1"/>
              <a:t>много</a:t>
            </a:r>
            <a:r>
              <a:rPr dirty="0"/>
              <a:t> </a:t>
            </a:r>
            <a:r>
              <a:rPr dirty="0" err="1"/>
              <a:t>процессов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Завершение</a:t>
            </a:r>
            <a:r>
              <a:rPr dirty="0"/>
              <a:t> </a:t>
            </a:r>
            <a:r>
              <a:rPr dirty="0" err="1"/>
              <a:t>процесса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удаляет</a:t>
            </a:r>
            <a:r>
              <a:rPr dirty="0"/>
              <a:t> </a:t>
            </a:r>
            <a:r>
              <a:rPr dirty="0" err="1"/>
              <a:t>программу</a:t>
            </a:r>
            <a:r>
              <a:rPr dirty="0"/>
              <a:t> с </a:t>
            </a:r>
            <a:r>
              <a:rPr dirty="0" err="1"/>
              <a:t>диска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F2103-2228-8670-3FC1-0E70D18C0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0B4729-0919-0765-0A16-4DDB959793F1}"/>
              </a:ext>
            </a:extLst>
          </p:cNvPr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Процесс</a:t>
            </a:r>
            <a:r>
              <a:rPr dirty="0"/>
              <a:t> и </a:t>
            </a:r>
            <a:r>
              <a:rPr dirty="0" err="1"/>
              <a:t>программа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3D8CC53-2C39-C089-9744-61F5028A59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348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/>
              <a:t>2. PID, PPID, </a:t>
            </a:r>
            <a:r>
              <a:rPr dirty="0" err="1"/>
              <a:t>состояние</a:t>
            </a:r>
            <a:r>
              <a:rPr dirty="0"/>
              <a:t> и </a:t>
            </a:r>
            <a:r>
              <a:rPr dirty="0" err="1"/>
              <a:t>владелец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PID — Process ID, </a:t>
            </a:r>
            <a:r>
              <a:rPr dirty="0" err="1"/>
              <a:t>уникальный</a:t>
            </a:r>
            <a:r>
              <a:rPr dirty="0"/>
              <a:t> </a:t>
            </a:r>
            <a:r>
              <a:rPr dirty="0" err="1"/>
              <a:t>номер</a:t>
            </a:r>
            <a:r>
              <a:rPr dirty="0"/>
              <a:t> </a:t>
            </a:r>
            <a:r>
              <a:rPr dirty="0" err="1"/>
              <a:t>процесса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PPID — Parent Process ID, </a:t>
            </a:r>
            <a:r>
              <a:rPr dirty="0" err="1"/>
              <a:t>номер</a:t>
            </a:r>
            <a:r>
              <a:rPr dirty="0"/>
              <a:t> </a:t>
            </a:r>
            <a:r>
              <a:rPr dirty="0" err="1"/>
              <a:t>родительского</a:t>
            </a:r>
            <a:r>
              <a:rPr dirty="0"/>
              <a:t> </a:t>
            </a:r>
            <a:r>
              <a:rPr dirty="0" err="1"/>
              <a:t>процесса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Владелец</a:t>
            </a:r>
            <a:r>
              <a:rPr dirty="0"/>
              <a:t> </a:t>
            </a:r>
            <a:r>
              <a:rPr dirty="0" err="1"/>
              <a:t>процесса</a:t>
            </a:r>
            <a:r>
              <a:rPr dirty="0"/>
              <a:t> </a:t>
            </a:r>
            <a:r>
              <a:rPr dirty="0" err="1"/>
              <a:t>определяет</a:t>
            </a:r>
            <a:r>
              <a:rPr dirty="0"/>
              <a:t>,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чьего</a:t>
            </a:r>
            <a:r>
              <a:rPr dirty="0"/>
              <a:t> </a:t>
            </a:r>
            <a:r>
              <a:rPr dirty="0" err="1"/>
              <a:t>имени</a:t>
            </a:r>
            <a:r>
              <a:rPr dirty="0"/>
              <a:t> </a:t>
            </a:r>
            <a:r>
              <a:rPr dirty="0" err="1"/>
              <a:t>он</a:t>
            </a:r>
            <a:r>
              <a:rPr dirty="0"/>
              <a:t> </a:t>
            </a:r>
            <a:r>
              <a:rPr dirty="0" err="1"/>
              <a:t>работает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Состояние</a:t>
            </a:r>
            <a:r>
              <a:rPr dirty="0"/>
              <a:t> </a:t>
            </a:r>
            <a:r>
              <a:rPr dirty="0" err="1"/>
              <a:t>процесса</a:t>
            </a:r>
            <a:r>
              <a:rPr dirty="0"/>
              <a:t> </a:t>
            </a:r>
            <a:r>
              <a:rPr dirty="0" err="1"/>
              <a:t>показывает</a:t>
            </a:r>
            <a:r>
              <a:rPr dirty="0"/>
              <a:t>, </a:t>
            </a:r>
            <a:r>
              <a:rPr dirty="0" err="1"/>
              <a:t>выполняется</a:t>
            </a:r>
            <a:r>
              <a:rPr dirty="0"/>
              <a:t> </a:t>
            </a:r>
            <a:r>
              <a:rPr dirty="0" err="1"/>
              <a:t>он</a:t>
            </a:r>
            <a:r>
              <a:rPr dirty="0"/>
              <a:t>, </a:t>
            </a:r>
            <a:r>
              <a:rPr dirty="0" err="1"/>
              <a:t>спит</a:t>
            </a:r>
            <a:r>
              <a:rPr dirty="0"/>
              <a:t>, </a:t>
            </a:r>
            <a:r>
              <a:rPr dirty="0" err="1"/>
              <a:t>завершился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ожидает</a:t>
            </a:r>
            <a:r>
              <a:rPr dirty="0"/>
              <a:t> </a:t>
            </a:r>
            <a:r>
              <a:rPr dirty="0" err="1"/>
              <a:t>ресурс</a:t>
            </a:r>
            <a:r>
              <a:rPr dirty="0"/>
              <a:t>.</a:t>
            </a:r>
            <a:endParaRPr lang="en-US" dirty="0"/>
          </a:p>
          <a:p>
            <a:pPr indent="354013">
              <a:defRPr sz="3600"/>
            </a:pPr>
            <a:r>
              <a:rPr lang="ru-RU" dirty="0"/>
              <a:t>Посмотреть эти атрибуты процесса можно с помощью команды: </a:t>
            </a:r>
            <a:r>
              <a:rPr lang="ru-RU" b="1" dirty="0" err="1">
                <a:solidFill>
                  <a:srgbClr val="002060"/>
                </a:solidFill>
              </a:rPr>
              <a:t>ps</a:t>
            </a:r>
            <a:r>
              <a:rPr lang="ru-RU" b="1" dirty="0">
                <a:solidFill>
                  <a:srgbClr val="002060"/>
                </a:solidFill>
              </a:rPr>
              <a:t> -</a:t>
            </a:r>
            <a:r>
              <a:rPr lang="ru-RU" b="1" dirty="0" err="1">
                <a:solidFill>
                  <a:srgbClr val="002060"/>
                </a:solidFill>
              </a:rPr>
              <a:t>eo</a:t>
            </a:r>
            <a:r>
              <a:rPr lang="ru-RU" b="1" dirty="0">
                <a:solidFill>
                  <a:srgbClr val="002060"/>
                </a:solidFill>
              </a:rPr>
              <a:t> </a:t>
            </a:r>
            <a:r>
              <a:rPr lang="ru-RU" b="1" dirty="0" err="1">
                <a:solidFill>
                  <a:srgbClr val="002060"/>
                </a:solidFill>
              </a:rPr>
              <a:t>pid,ppid,user,stat,comm</a:t>
            </a:r>
            <a:endParaRPr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Почему владелец процесса важен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Процесс</a:t>
            </a:r>
            <a:r>
              <a:rPr dirty="0"/>
              <a:t> </a:t>
            </a:r>
            <a:r>
              <a:rPr dirty="0" err="1"/>
              <a:t>получает</a:t>
            </a:r>
            <a:r>
              <a:rPr dirty="0"/>
              <a:t> </a:t>
            </a:r>
            <a:r>
              <a:rPr dirty="0" err="1"/>
              <a:t>права</a:t>
            </a:r>
            <a:r>
              <a:rPr dirty="0"/>
              <a:t> </a:t>
            </a:r>
            <a:r>
              <a:rPr dirty="0" err="1"/>
              <a:t>своего</a:t>
            </a:r>
            <a:r>
              <a:rPr dirty="0"/>
              <a:t> </a:t>
            </a:r>
            <a:r>
              <a:rPr dirty="0" err="1"/>
              <a:t>пользователя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Службы</a:t>
            </a:r>
            <a:r>
              <a:rPr dirty="0"/>
              <a:t>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запускаются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отдельного</a:t>
            </a:r>
            <a:r>
              <a:rPr dirty="0"/>
              <a:t> </a:t>
            </a:r>
            <a:r>
              <a:rPr dirty="0" err="1"/>
              <a:t>системного</a:t>
            </a:r>
            <a:r>
              <a:rPr dirty="0"/>
              <a:t> </a:t>
            </a:r>
            <a:r>
              <a:rPr dirty="0" err="1"/>
              <a:t>пользователя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web-</a:t>
            </a:r>
            <a:r>
              <a:rPr dirty="0" err="1"/>
              <a:t>служба</a:t>
            </a:r>
            <a:r>
              <a:rPr dirty="0"/>
              <a:t> </a:t>
            </a:r>
            <a:r>
              <a:rPr dirty="0" err="1"/>
              <a:t>работает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root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необходимости</a:t>
            </a:r>
            <a:r>
              <a:rPr dirty="0"/>
              <a:t>,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риск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Команды</a:t>
            </a:r>
            <a:r>
              <a:rPr dirty="0"/>
              <a:t> </a:t>
            </a:r>
            <a:r>
              <a:rPr dirty="0" err="1"/>
              <a:t>ps</a:t>
            </a:r>
            <a:r>
              <a:rPr dirty="0"/>
              <a:t> и top </a:t>
            </a:r>
            <a:r>
              <a:rPr dirty="0" err="1"/>
              <a:t>помогают</a:t>
            </a:r>
            <a:r>
              <a:rPr dirty="0"/>
              <a:t> </a:t>
            </a:r>
            <a:r>
              <a:rPr dirty="0" err="1"/>
              <a:t>увидеть</a:t>
            </a:r>
            <a:r>
              <a:rPr dirty="0"/>
              <a:t> </a:t>
            </a:r>
            <a:r>
              <a:rPr dirty="0" err="1"/>
              <a:t>владельца</a:t>
            </a:r>
            <a:r>
              <a:rPr dirty="0"/>
              <a:t> </a:t>
            </a:r>
            <a:r>
              <a:rPr dirty="0" err="1"/>
              <a:t>процесса</a:t>
            </a:r>
            <a:r>
              <a:rPr dirty="0"/>
              <a:t>.</a:t>
            </a:r>
            <a:endParaRPr lang="en-US" dirty="0"/>
          </a:p>
          <a:p>
            <a:pPr indent="354013">
              <a:defRPr sz="3600"/>
            </a:pP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3. Просмотр процессов через 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b="1" dirty="0" err="1">
                <a:solidFill>
                  <a:srgbClr val="002060"/>
                </a:solidFill>
              </a:rPr>
              <a:t>ps</a:t>
            </a:r>
            <a:r>
              <a:rPr dirty="0"/>
              <a:t>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снимок</a:t>
            </a:r>
            <a:r>
              <a:rPr dirty="0"/>
              <a:t> </a:t>
            </a:r>
            <a:r>
              <a:rPr dirty="0" err="1"/>
              <a:t>процессов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момент</a:t>
            </a:r>
            <a:r>
              <a:rPr dirty="0"/>
              <a:t> </a:t>
            </a:r>
            <a:r>
              <a:rPr dirty="0" err="1"/>
              <a:t>запуска</a:t>
            </a:r>
            <a:r>
              <a:rPr dirty="0"/>
              <a:t> </a:t>
            </a:r>
            <a:r>
              <a:rPr dirty="0" err="1"/>
              <a:t>команды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: </a:t>
            </a:r>
            <a:r>
              <a:rPr b="1" dirty="0" err="1">
                <a:solidFill>
                  <a:srgbClr val="002060"/>
                </a:solidFill>
              </a:rPr>
              <a:t>ps</a:t>
            </a:r>
            <a:r>
              <a:rPr b="1" dirty="0">
                <a:solidFill>
                  <a:srgbClr val="002060"/>
                </a:solidFill>
              </a:rPr>
              <a:t> aux</a:t>
            </a:r>
          </a:p>
          <a:p>
            <a:pPr indent="354013">
              <a:defRPr sz="3600"/>
            </a:pPr>
            <a:r>
              <a:rPr dirty="0"/>
              <a:t>Важные </a:t>
            </a:r>
            <a:r>
              <a:rPr dirty="0" err="1"/>
              <a:t>столбцы</a:t>
            </a:r>
            <a:r>
              <a:rPr dirty="0"/>
              <a:t>: USER, PID, %CPU, %MEM, STAT, COMMAND.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поиска</a:t>
            </a:r>
            <a:r>
              <a:rPr dirty="0"/>
              <a:t> </a:t>
            </a:r>
            <a:r>
              <a:rPr dirty="0" err="1"/>
              <a:t>процесса</a:t>
            </a:r>
            <a:r>
              <a:rPr dirty="0"/>
              <a:t> </a:t>
            </a:r>
            <a:r>
              <a:rPr dirty="0" err="1"/>
              <a:t>удобно</a:t>
            </a:r>
            <a:r>
              <a:rPr dirty="0"/>
              <a:t> </a:t>
            </a:r>
            <a:r>
              <a:rPr dirty="0" err="1"/>
              <a:t>использовать</a:t>
            </a:r>
            <a:r>
              <a:rPr dirty="0"/>
              <a:t>: </a:t>
            </a:r>
            <a:r>
              <a:rPr b="1" dirty="0" err="1">
                <a:solidFill>
                  <a:srgbClr val="002060"/>
                </a:solidFill>
              </a:rPr>
              <a:t>ps</a:t>
            </a:r>
            <a:r>
              <a:rPr b="1" dirty="0">
                <a:solidFill>
                  <a:srgbClr val="002060"/>
                </a:solidFill>
              </a:rPr>
              <a:t> aux | grep nginx</a:t>
            </a:r>
          </a:p>
          <a:p>
            <a:pPr indent="354013">
              <a:defRPr sz="3600"/>
            </a:pPr>
            <a:r>
              <a:rPr b="1" dirty="0">
                <a:solidFill>
                  <a:srgbClr val="002060"/>
                </a:solidFill>
              </a:rPr>
              <a:t>grep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найти</a:t>
            </a:r>
            <a:r>
              <a:rPr dirty="0"/>
              <a:t> и </a:t>
            </a:r>
            <a:r>
              <a:rPr dirty="0" err="1"/>
              <a:t>сам</a:t>
            </a:r>
            <a:r>
              <a:rPr dirty="0"/>
              <a:t> </a:t>
            </a:r>
            <a:r>
              <a:rPr dirty="0" err="1"/>
              <a:t>себя</a:t>
            </a:r>
            <a:r>
              <a:rPr dirty="0"/>
              <a:t>, </a:t>
            </a:r>
            <a:r>
              <a:rPr dirty="0" err="1"/>
              <a:t>поэтому</a:t>
            </a:r>
            <a:r>
              <a:rPr dirty="0"/>
              <a:t> </a:t>
            </a:r>
            <a:r>
              <a:rPr dirty="0" err="1"/>
              <a:t>результат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читать</a:t>
            </a:r>
            <a:r>
              <a:rPr dirty="0"/>
              <a:t> </a:t>
            </a:r>
            <a:r>
              <a:rPr dirty="0" err="1"/>
              <a:t>внимательно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933B0-C7C6-5E7A-0BB0-8F05DD70D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922E17-9037-7F03-DE48-1BA21E8164EB}"/>
              </a:ext>
            </a:extLst>
          </p:cNvPr>
          <p:cNvSpPr txBox="1"/>
          <p:nvPr/>
        </p:nvSpPr>
        <p:spPr>
          <a:xfrm>
            <a:off x="1999847" y="192911"/>
            <a:ext cx="8192306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dirty="0"/>
              <a:t>Шпаргалка по состояниям (столбец STAT / S):</a:t>
            </a:r>
          </a:p>
          <a:p>
            <a:pPr algn="ctr">
              <a:defRPr sz="3200" b="1">
                <a:solidFill>
                  <a:srgbClr val="143764"/>
                </a:solidFill>
              </a:defRPr>
            </a:pP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A3C821-407B-7C86-FFE6-C2AF2CD6448F}"/>
              </a:ext>
            </a:extLst>
          </p:cNvPr>
          <p:cNvSpPr txBox="1"/>
          <p:nvPr/>
        </p:nvSpPr>
        <p:spPr>
          <a:xfrm>
            <a:off x="457200" y="914399"/>
            <a:ext cx="10972800" cy="5943601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R (</a:t>
            </a:r>
            <a:r>
              <a:rPr lang="ru-RU" dirty="0" err="1"/>
              <a:t>Running</a:t>
            </a:r>
            <a:r>
              <a:rPr lang="ru-RU" dirty="0"/>
              <a:t>) — процесс выполняется прямо сейчас или готов к выполнению (ждет своей очереди к процессору).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S (</a:t>
            </a:r>
            <a:r>
              <a:rPr lang="ru-RU" dirty="0" err="1"/>
              <a:t>Sleeping</a:t>
            </a:r>
            <a:r>
              <a:rPr lang="ru-RU" dirty="0"/>
              <a:t>) — «прерывистый сон». Процесс ожидает какого-то события (сетевого запроса, ввода от пользователя). Это нормальное состояние для 95% процессов сервера.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D (</a:t>
            </a:r>
            <a:r>
              <a:rPr lang="ru-RU" dirty="0" err="1"/>
              <a:t>Uninterruptible</a:t>
            </a:r>
            <a:r>
              <a:rPr lang="ru-RU" dirty="0"/>
              <a:t> </a:t>
            </a:r>
            <a:r>
              <a:rPr lang="ru-RU" dirty="0" err="1"/>
              <a:t>Sleep</a:t>
            </a:r>
            <a:r>
              <a:rPr lang="ru-RU" dirty="0"/>
              <a:t>) — «непрерывистый сон». Процесс завис, ожидая ответа от диска или оборудования. Такой процесс нельзя убить даже командой </a:t>
            </a:r>
            <a:r>
              <a:rPr lang="ru-RU" dirty="0" err="1"/>
              <a:t>kill</a:t>
            </a:r>
            <a:r>
              <a:rPr lang="ru-RU" dirty="0"/>
              <a:t> -9, пока диск не ответит.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Z (</a:t>
            </a:r>
            <a:r>
              <a:rPr lang="ru-RU" dirty="0" err="1"/>
              <a:t>Zombie</a:t>
            </a:r>
            <a:r>
              <a:rPr lang="ru-RU" dirty="0"/>
              <a:t>) — процесс-зомби. Он завершил работу, но его родитель (PPID) еще не прочитал код завершения. Память не потребляет, но занимает строку в таблице.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T (</a:t>
            </a:r>
            <a:r>
              <a:rPr lang="ru-RU" dirty="0" err="1"/>
              <a:t>Stopped</a:t>
            </a:r>
            <a:r>
              <a:rPr lang="ru-RU" dirty="0"/>
              <a:t>) — процесс остановлен (например, комбинацией </a:t>
            </a:r>
            <a:r>
              <a:rPr lang="ru-RU" dirty="0" err="1"/>
              <a:t>Ctrl+Z</a:t>
            </a:r>
            <a:r>
              <a:rPr lang="ru-RU" dirty="0"/>
              <a:t> или сигналом SIGSTOP).</a:t>
            </a:r>
            <a:endParaRPr lang="en-US"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sz="3600" dirty="0"/>
              <a:t>I</a:t>
            </a:r>
            <a:r>
              <a:rPr lang="ru-RU" dirty="0"/>
              <a:t> (</a:t>
            </a:r>
            <a:r>
              <a:rPr lang="ru-RU" dirty="0" err="1"/>
              <a:t>Idle</a:t>
            </a:r>
            <a:r>
              <a:rPr lang="ru-RU" dirty="0"/>
              <a:t>) —(Бездействующий поток ядра)</a:t>
            </a:r>
          </a:p>
        </p:txBody>
      </p:sp>
    </p:spTree>
    <p:extLst>
      <p:ext uri="{BB962C8B-B14F-4D97-AF65-F5344CB8AC3E}">
        <p14:creationId xmlns:p14="http://schemas.microsoft.com/office/powerpoint/2010/main" val="15113343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2A99E-F53C-A1D5-6F49-B2607C436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F8BE48-48A8-B34E-01B1-A98DB3B5410F}"/>
              </a:ext>
            </a:extLst>
          </p:cNvPr>
          <p:cNvSpPr txBox="1"/>
          <p:nvPr/>
        </p:nvSpPr>
        <p:spPr>
          <a:xfrm>
            <a:off x="2403515" y="192911"/>
            <a:ext cx="738497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dirty="0"/>
              <a:t>блок-схема жизненного цикла процесса</a:t>
            </a:r>
            <a:endParaRPr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3E4C115-38F1-5FCC-3CC2-499FAEF173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8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8586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Поиск процессов через pgrep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b="1" dirty="0" err="1">
                <a:solidFill>
                  <a:srgbClr val="002060"/>
                </a:solidFill>
              </a:rPr>
              <a:t>pgrep</a:t>
            </a:r>
            <a:r>
              <a:rPr dirty="0"/>
              <a:t> </a:t>
            </a:r>
            <a:r>
              <a:rPr dirty="0" err="1"/>
              <a:t>ищет</a:t>
            </a:r>
            <a:r>
              <a:rPr dirty="0"/>
              <a:t> PID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имени</a:t>
            </a:r>
            <a:r>
              <a:rPr dirty="0"/>
              <a:t> </a:t>
            </a:r>
            <a:r>
              <a:rPr dirty="0" err="1"/>
              <a:t>процесса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: </a:t>
            </a:r>
            <a:r>
              <a:rPr b="1" dirty="0" err="1">
                <a:solidFill>
                  <a:srgbClr val="002060"/>
                </a:solidFill>
              </a:rPr>
              <a:t>pgrep</a:t>
            </a:r>
            <a:r>
              <a:rPr b="1" dirty="0">
                <a:solidFill>
                  <a:srgbClr val="002060"/>
                </a:solidFill>
              </a:rPr>
              <a:t> -a </a:t>
            </a:r>
            <a:r>
              <a:rPr b="1" dirty="0" err="1">
                <a:solidFill>
                  <a:srgbClr val="002060"/>
                </a:solidFill>
              </a:rPr>
              <a:t>sshd</a:t>
            </a:r>
            <a:endParaRPr b="1" dirty="0">
              <a:solidFill>
                <a:srgbClr val="002060"/>
              </a:solidFill>
            </a:endParaRPr>
          </a:p>
          <a:p>
            <a:pPr indent="354013">
              <a:defRPr sz="3600"/>
            </a:pPr>
            <a:r>
              <a:rPr dirty="0" err="1"/>
              <a:t>Ключ</a:t>
            </a:r>
            <a:r>
              <a:rPr dirty="0"/>
              <a:t> </a:t>
            </a:r>
            <a:r>
              <a:rPr b="1" dirty="0">
                <a:solidFill>
                  <a:srgbClr val="002060"/>
                </a:solidFill>
              </a:rPr>
              <a:t>-a</a:t>
            </a:r>
            <a:r>
              <a:rPr dirty="0"/>
              <a:t>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PID, </a:t>
            </a:r>
            <a:r>
              <a:rPr dirty="0" err="1"/>
              <a:t>но</a:t>
            </a:r>
            <a:r>
              <a:rPr dirty="0"/>
              <a:t> и </a:t>
            </a:r>
            <a:r>
              <a:rPr dirty="0" err="1"/>
              <a:t>командную</a:t>
            </a:r>
            <a:r>
              <a:rPr dirty="0"/>
              <a:t> </a:t>
            </a:r>
            <a:r>
              <a:rPr dirty="0" err="1"/>
              <a:t>строку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удобнее</a:t>
            </a:r>
            <a:r>
              <a:rPr dirty="0"/>
              <a:t>, </a:t>
            </a:r>
            <a:r>
              <a:rPr dirty="0" err="1"/>
              <a:t>чем</a:t>
            </a:r>
            <a:r>
              <a:rPr dirty="0"/>
              <a:t> </a:t>
            </a:r>
            <a:r>
              <a:rPr dirty="0" err="1"/>
              <a:t>ps</a:t>
            </a:r>
            <a:r>
              <a:rPr dirty="0"/>
              <a:t> | grep, </a:t>
            </a:r>
            <a:r>
              <a:rPr dirty="0" err="1"/>
              <a:t>когда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быстро</a:t>
            </a:r>
            <a:r>
              <a:rPr dirty="0"/>
              <a:t> </a:t>
            </a:r>
            <a:r>
              <a:rPr dirty="0" err="1"/>
              <a:t>найти</a:t>
            </a:r>
            <a:r>
              <a:rPr dirty="0"/>
              <a:t> </a:t>
            </a:r>
            <a:r>
              <a:rPr dirty="0" err="1"/>
              <a:t>конкретную</a:t>
            </a:r>
            <a:r>
              <a:rPr dirty="0"/>
              <a:t> </a:t>
            </a:r>
            <a:r>
              <a:rPr dirty="0" err="1"/>
              <a:t>службу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top и htop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b="1" dirty="0">
                <a:solidFill>
                  <a:srgbClr val="002060"/>
                </a:solidFill>
              </a:rPr>
              <a:t>top</a:t>
            </a:r>
            <a:r>
              <a:rPr dirty="0"/>
              <a:t>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процессы</a:t>
            </a:r>
            <a:r>
              <a:rPr dirty="0"/>
              <a:t> в </a:t>
            </a:r>
            <a:r>
              <a:rPr dirty="0" err="1"/>
              <a:t>динамике</a:t>
            </a:r>
            <a:r>
              <a:rPr dirty="0"/>
              <a:t> и </a:t>
            </a:r>
            <a:r>
              <a:rPr dirty="0" err="1"/>
              <a:t>обновляет</a:t>
            </a:r>
            <a:r>
              <a:rPr dirty="0"/>
              <a:t> </a:t>
            </a:r>
            <a:r>
              <a:rPr dirty="0" err="1"/>
              <a:t>экран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b="1" dirty="0" err="1">
                <a:solidFill>
                  <a:srgbClr val="002060"/>
                </a:solidFill>
              </a:rPr>
              <a:t>htop</a:t>
            </a:r>
            <a:r>
              <a:rPr dirty="0"/>
              <a:t> </a:t>
            </a:r>
            <a:r>
              <a:rPr dirty="0" err="1"/>
              <a:t>удобнее</a:t>
            </a:r>
            <a:r>
              <a:rPr dirty="0"/>
              <a:t> </a:t>
            </a:r>
            <a:r>
              <a:rPr dirty="0" err="1"/>
              <a:t>визуально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установлен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В top </a:t>
            </a:r>
            <a:r>
              <a:rPr dirty="0" err="1"/>
              <a:t>важны</a:t>
            </a:r>
            <a:r>
              <a:rPr dirty="0"/>
              <a:t> CPU, </a:t>
            </a:r>
            <a:r>
              <a:rPr dirty="0" err="1"/>
              <a:t>память</a:t>
            </a:r>
            <a:r>
              <a:rPr dirty="0"/>
              <a:t>, load average и </a:t>
            </a:r>
            <a:r>
              <a:rPr dirty="0" err="1"/>
              <a:t>процессы</a:t>
            </a:r>
            <a:r>
              <a:rPr dirty="0"/>
              <a:t> </a:t>
            </a:r>
            <a:r>
              <a:rPr dirty="0" err="1"/>
              <a:t>вверху</a:t>
            </a:r>
            <a:r>
              <a:rPr dirty="0"/>
              <a:t> </a:t>
            </a:r>
            <a:r>
              <a:rPr dirty="0" err="1"/>
              <a:t>списка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выхода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top </a:t>
            </a:r>
            <a:r>
              <a:rPr dirty="0" err="1"/>
              <a:t>нажмите</a:t>
            </a:r>
            <a:r>
              <a:rPr dirty="0"/>
              <a:t> q.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A6252-253B-250A-2114-5EEBB23FE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D25F76A-6ED7-E124-2621-38334BC575BF}"/>
              </a:ext>
            </a:extLst>
          </p:cNvPr>
          <p:cNvSpPr txBox="1"/>
          <p:nvPr/>
        </p:nvSpPr>
        <p:spPr>
          <a:xfrm>
            <a:off x="457200" y="383458"/>
            <a:ext cx="11444748" cy="6253316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>
              <a:defRPr sz="3600"/>
            </a:pPr>
            <a:r>
              <a:rPr lang="ru-RU" dirty="0"/>
              <a:t>Почему </a:t>
            </a:r>
            <a:r>
              <a:rPr lang="ru-RU" dirty="0" err="1"/>
              <a:t>htop</a:t>
            </a:r>
            <a:r>
              <a:rPr lang="ru-RU" dirty="0"/>
              <a:t> — идеальный выбор для старта?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Наглядность и цветовая индикация: В отличие от классического текстового вывода, </a:t>
            </a:r>
            <a:r>
              <a:rPr lang="ru-RU" dirty="0" err="1"/>
              <a:t>htop</a:t>
            </a:r>
            <a:r>
              <a:rPr lang="ru-RU" dirty="0"/>
              <a:t> визуализирует загрузку процессора и оперативной памяти в виде цветных шкал. Сразу видно, если сервер перегружен.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Все нужные атрибуты на одном экране;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В </a:t>
            </a:r>
            <a:r>
              <a:rPr lang="ru-RU" dirty="0" err="1"/>
              <a:t>htop</a:t>
            </a:r>
            <a:r>
              <a:rPr lang="ru-RU" dirty="0"/>
              <a:t> очень просто показать родительские процессы. Достаточно нажать клавишу F5, и вся таблица превратится в удобное интерактивное «дерево» процессов (</a:t>
            </a:r>
            <a:r>
              <a:rPr lang="ru-RU" dirty="0" err="1"/>
              <a:t>Tree</a:t>
            </a:r>
            <a:r>
              <a:rPr lang="ru-RU" dirty="0"/>
              <a:t> </a:t>
            </a:r>
            <a:r>
              <a:rPr lang="ru-RU" dirty="0" err="1"/>
              <a:t>view</a:t>
            </a:r>
            <a:r>
              <a:rPr lang="ru-RU" dirty="0"/>
              <a:t>). Наглядно видно, какой процесс кого породил.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Интерактивное управление: Не нужно запоминать синтаксис команды </a:t>
            </a:r>
            <a:r>
              <a:rPr lang="ru-RU" dirty="0" err="1"/>
              <a:t>kill</a:t>
            </a:r>
            <a:r>
              <a:rPr lang="ru-RU" dirty="0"/>
              <a:t>. Можно выбрать зависший процесс стрелочками на клавиатуре, нажать F9 (</a:t>
            </a:r>
            <a:r>
              <a:rPr lang="ru-RU" dirty="0" err="1"/>
              <a:t>Kill</a:t>
            </a:r>
            <a:r>
              <a:rPr lang="ru-RU" dirty="0"/>
              <a:t>), выбрать нужный сигнал (SIGTERM или SIGKILL) и завершить его.</a:t>
            </a:r>
          </a:p>
          <a:p>
            <a:pPr>
              <a:defRPr sz="3600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830933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/>
              <a:t>4. </a:t>
            </a:r>
            <a:r>
              <a:rPr dirty="0" err="1"/>
              <a:t>Сигналы</a:t>
            </a:r>
            <a:r>
              <a:rPr dirty="0"/>
              <a:t> </a:t>
            </a:r>
            <a:r>
              <a:rPr dirty="0" err="1"/>
              <a:t>процессам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Сигнал</a:t>
            </a:r>
            <a:r>
              <a:rPr dirty="0"/>
              <a:t> — </a:t>
            </a:r>
            <a:r>
              <a:rPr dirty="0" err="1"/>
              <a:t>способ</a:t>
            </a:r>
            <a:r>
              <a:rPr dirty="0"/>
              <a:t> </a:t>
            </a:r>
            <a:r>
              <a:rPr dirty="0" err="1"/>
              <a:t>сообщить</a:t>
            </a:r>
            <a:r>
              <a:rPr dirty="0"/>
              <a:t> </a:t>
            </a:r>
            <a:r>
              <a:rPr dirty="0" err="1"/>
              <a:t>процессу</a:t>
            </a:r>
            <a:r>
              <a:rPr dirty="0"/>
              <a:t> о </a:t>
            </a:r>
            <a:r>
              <a:rPr dirty="0" err="1"/>
              <a:t>событии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требовании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b="1" dirty="0">
                <a:solidFill>
                  <a:srgbClr val="002060"/>
                </a:solidFill>
              </a:rPr>
              <a:t>SIGTERM</a:t>
            </a:r>
            <a:r>
              <a:rPr dirty="0"/>
              <a:t> </a:t>
            </a:r>
            <a:r>
              <a:rPr dirty="0" err="1"/>
              <a:t>просит</a:t>
            </a:r>
            <a:r>
              <a:rPr dirty="0"/>
              <a:t> </a:t>
            </a:r>
            <a:r>
              <a:rPr dirty="0" err="1"/>
              <a:t>процесс</a:t>
            </a:r>
            <a:r>
              <a:rPr dirty="0"/>
              <a:t> </a:t>
            </a:r>
            <a:r>
              <a:rPr dirty="0" err="1"/>
              <a:t>корректно</a:t>
            </a:r>
            <a:r>
              <a:rPr dirty="0"/>
              <a:t> </a:t>
            </a:r>
            <a:r>
              <a:rPr dirty="0" err="1"/>
              <a:t>завершиться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b="1" dirty="0">
                <a:solidFill>
                  <a:srgbClr val="002060"/>
                </a:solidFill>
              </a:rPr>
              <a:t>SIGKILL</a:t>
            </a:r>
            <a:r>
              <a:rPr dirty="0"/>
              <a:t> </a:t>
            </a:r>
            <a:r>
              <a:rPr dirty="0" err="1"/>
              <a:t>принудительно</a:t>
            </a:r>
            <a:r>
              <a:rPr dirty="0"/>
              <a:t> </a:t>
            </a:r>
            <a:r>
              <a:rPr dirty="0" err="1"/>
              <a:t>завершает</a:t>
            </a:r>
            <a:r>
              <a:rPr dirty="0"/>
              <a:t> </a:t>
            </a:r>
            <a:r>
              <a:rPr dirty="0" err="1"/>
              <a:t>процесс</a:t>
            </a:r>
            <a:r>
              <a:rPr dirty="0"/>
              <a:t> и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дает</a:t>
            </a:r>
            <a:r>
              <a:rPr dirty="0"/>
              <a:t> </a:t>
            </a:r>
            <a:r>
              <a:rPr dirty="0" err="1"/>
              <a:t>ему</a:t>
            </a:r>
            <a:r>
              <a:rPr dirty="0"/>
              <a:t> </a:t>
            </a:r>
            <a:r>
              <a:rPr dirty="0" err="1"/>
              <a:t>очистить</a:t>
            </a:r>
            <a:r>
              <a:rPr dirty="0"/>
              <a:t> </a:t>
            </a:r>
            <a:r>
              <a:rPr dirty="0" err="1"/>
              <a:t>ресурсы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b="1" dirty="0">
                <a:solidFill>
                  <a:srgbClr val="002060"/>
                </a:solidFill>
              </a:rPr>
              <a:t>SIGHUP</a:t>
            </a:r>
            <a:r>
              <a:rPr dirty="0"/>
              <a:t>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используется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перечитывания</a:t>
            </a:r>
            <a:r>
              <a:rPr dirty="0"/>
              <a:t> </a:t>
            </a:r>
            <a:r>
              <a:rPr dirty="0" err="1"/>
              <a:t>конфигурации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Администратор</a:t>
            </a:r>
            <a:r>
              <a:rPr dirty="0"/>
              <a:t> </a:t>
            </a:r>
            <a:r>
              <a:rPr dirty="0" err="1"/>
              <a:t>сначала</a:t>
            </a:r>
            <a:r>
              <a:rPr dirty="0"/>
              <a:t> </a:t>
            </a:r>
            <a:r>
              <a:rPr dirty="0" err="1"/>
              <a:t>пробует</a:t>
            </a:r>
            <a:r>
              <a:rPr dirty="0"/>
              <a:t> </a:t>
            </a:r>
            <a:r>
              <a:rPr dirty="0" err="1"/>
              <a:t>мягкие</a:t>
            </a:r>
            <a:r>
              <a:rPr dirty="0"/>
              <a:t> </a:t>
            </a:r>
            <a:r>
              <a:rPr dirty="0" err="1"/>
              <a:t>способы</a:t>
            </a:r>
            <a:r>
              <a:rPr dirty="0"/>
              <a:t>, а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сразу</a:t>
            </a:r>
            <a:r>
              <a:rPr dirty="0"/>
              <a:t> SIGKILL.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/>
              <a:t>SIGTERM и SIGKILL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b="1" dirty="0">
                <a:solidFill>
                  <a:srgbClr val="002060"/>
                </a:solidFill>
              </a:rPr>
              <a:t>SIGTERM </a:t>
            </a:r>
            <a:r>
              <a:rPr dirty="0"/>
              <a:t>— </a:t>
            </a:r>
            <a:r>
              <a:rPr dirty="0" err="1"/>
              <a:t>нормальная</a:t>
            </a:r>
            <a:r>
              <a:rPr dirty="0"/>
              <a:t> </a:t>
            </a:r>
            <a:r>
              <a:rPr dirty="0" err="1"/>
              <a:t>просьба</a:t>
            </a:r>
            <a:r>
              <a:rPr dirty="0"/>
              <a:t> </a:t>
            </a:r>
            <a:r>
              <a:rPr dirty="0" err="1"/>
              <a:t>завершиться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kill PID</a:t>
            </a:r>
            <a:endParaRPr dirty="0"/>
          </a:p>
          <a:p>
            <a:pPr indent="354013">
              <a:defRPr sz="3600"/>
            </a:pPr>
            <a:r>
              <a:rPr dirty="0"/>
              <a:t>SIGKILL — </a:t>
            </a:r>
            <a:r>
              <a:rPr dirty="0" err="1"/>
              <a:t>жесткое</a:t>
            </a:r>
            <a:r>
              <a:rPr dirty="0"/>
              <a:t> </a:t>
            </a:r>
            <a:r>
              <a:rPr dirty="0" err="1"/>
              <a:t>завершение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kill -9 PID</a:t>
            </a:r>
            <a:endParaRPr dirty="0"/>
          </a:p>
          <a:p>
            <a:pPr indent="354013">
              <a:defRPr sz="3600"/>
            </a:pPr>
            <a:r>
              <a:rPr dirty="0"/>
              <a:t>kill -9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оставить</a:t>
            </a:r>
            <a:r>
              <a:rPr dirty="0"/>
              <a:t> </a:t>
            </a:r>
            <a:r>
              <a:rPr dirty="0" err="1"/>
              <a:t>временные</a:t>
            </a:r>
            <a:r>
              <a:rPr dirty="0"/>
              <a:t> </a:t>
            </a:r>
            <a:r>
              <a:rPr dirty="0" err="1"/>
              <a:t>файлы</a:t>
            </a:r>
            <a:r>
              <a:rPr dirty="0"/>
              <a:t>, </a:t>
            </a:r>
            <a:r>
              <a:rPr dirty="0" err="1"/>
              <a:t>неполные</a:t>
            </a:r>
            <a:r>
              <a:rPr dirty="0"/>
              <a:t> </a:t>
            </a:r>
            <a:r>
              <a:rPr dirty="0" err="1"/>
              <a:t>операции</a:t>
            </a:r>
            <a:r>
              <a:rPr dirty="0"/>
              <a:t> и </a:t>
            </a:r>
            <a:r>
              <a:rPr dirty="0" err="1"/>
              <a:t>потерю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/>
              <a:t>5. </a:t>
            </a:r>
            <a:r>
              <a:rPr dirty="0" err="1"/>
              <a:t>Завершение</a:t>
            </a:r>
            <a:r>
              <a:rPr dirty="0"/>
              <a:t> </a:t>
            </a:r>
            <a:r>
              <a:rPr dirty="0" err="1"/>
              <a:t>процессов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b="1" dirty="0">
                <a:solidFill>
                  <a:srgbClr val="002060"/>
                </a:solidFill>
              </a:rPr>
              <a:t>kill</a:t>
            </a:r>
            <a:r>
              <a:rPr lang="ru-RU" dirty="0"/>
              <a:t>отправляет сигнал процессу по PID.</a:t>
            </a:r>
          </a:p>
          <a:p>
            <a:pPr indent="354013">
              <a:defRPr sz="3600"/>
            </a:pPr>
            <a:r>
              <a:rPr lang="ru-RU" b="1" dirty="0" err="1">
                <a:solidFill>
                  <a:srgbClr val="002060"/>
                </a:solidFill>
              </a:rPr>
              <a:t>pkill</a:t>
            </a:r>
            <a:r>
              <a:rPr lang="ru-RU" dirty="0"/>
              <a:t> отправляет сигнал процессам по имени или шаблону.</a:t>
            </a:r>
          </a:p>
          <a:p>
            <a:pPr indent="354013">
              <a:defRPr sz="3600"/>
            </a:pPr>
            <a:r>
              <a:rPr lang="ru-RU" b="1" dirty="0" err="1">
                <a:solidFill>
                  <a:srgbClr val="002060"/>
                </a:solidFill>
              </a:rPr>
              <a:t>killall</a:t>
            </a:r>
            <a:r>
              <a:rPr lang="ru-RU" dirty="0"/>
              <a:t> завершает процессы по имени команды.</a:t>
            </a:r>
          </a:p>
          <a:p>
            <a:pPr indent="354013">
              <a:defRPr sz="3600"/>
            </a:pPr>
            <a:r>
              <a:rPr lang="ru-RU" dirty="0"/>
              <a:t>Перед завершением нужно проверить, что выбран именно нужный процесс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Безопасное завершение процесса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Сначала</a:t>
            </a:r>
            <a:r>
              <a:rPr dirty="0"/>
              <a:t> </a:t>
            </a:r>
            <a:r>
              <a:rPr dirty="0" err="1"/>
              <a:t>найдите</a:t>
            </a:r>
            <a:r>
              <a:rPr dirty="0"/>
              <a:t> </a:t>
            </a:r>
            <a:r>
              <a:rPr dirty="0" err="1"/>
              <a:t>процесс</a:t>
            </a:r>
            <a:r>
              <a:rPr dirty="0"/>
              <a:t>: </a:t>
            </a:r>
            <a:r>
              <a:rPr dirty="0" err="1"/>
              <a:t>pgrep</a:t>
            </a:r>
            <a:r>
              <a:rPr dirty="0"/>
              <a:t> -a </a:t>
            </a:r>
            <a:r>
              <a:rPr dirty="0" err="1"/>
              <a:t>имя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Затем</a:t>
            </a:r>
            <a:r>
              <a:rPr dirty="0"/>
              <a:t> </a:t>
            </a:r>
            <a:r>
              <a:rPr dirty="0" err="1"/>
              <a:t>попробуйте</a:t>
            </a:r>
            <a:r>
              <a:rPr dirty="0"/>
              <a:t> SIGTERM: kill PID.</a:t>
            </a:r>
          </a:p>
          <a:p>
            <a:pPr indent="354013">
              <a:defRPr sz="3600"/>
            </a:pPr>
            <a:r>
              <a:rPr dirty="0" err="1"/>
              <a:t>Проверьте</a:t>
            </a:r>
            <a:r>
              <a:rPr dirty="0"/>
              <a:t>, </a:t>
            </a:r>
            <a:r>
              <a:rPr dirty="0" err="1"/>
              <a:t>завершился</a:t>
            </a:r>
            <a:r>
              <a:rPr dirty="0"/>
              <a:t> </a:t>
            </a:r>
            <a:r>
              <a:rPr dirty="0" err="1"/>
              <a:t>ли</a:t>
            </a:r>
            <a:r>
              <a:rPr dirty="0"/>
              <a:t> </a:t>
            </a:r>
            <a:r>
              <a:rPr dirty="0" err="1"/>
              <a:t>процесс</a:t>
            </a:r>
            <a:r>
              <a:rPr dirty="0"/>
              <a:t>: </a:t>
            </a:r>
            <a:r>
              <a:rPr dirty="0" err="1"/>
              <a:t>pgrep</a:t>
            </a:r>
            <a:r>
              <a:rPr dirty="0"/>
              <a:t> -a </a:t>
            </a:r>
            <a:r>
              <a:rPr dirty="0" err="1"/>
              <a:t>имя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процесс</a:t>
            </a:r>
            <a:r>
              <a:rPr dirty="0"/>
              <a:t> </a:t>
            </a:r>
            <a:r>
              <a:rPr dirty="0" err="1"/>
              <a:t>завис</a:t>
            </a:r>
            <a:r>
              <a:rPr dirty="0"/>
              <a:t>, </a:t>
            </a:r>
            <a:r>
              <a:rPr dirty="0" err="1"/>
              <a:t>используйте</a:t>
            </a:r>
            <a:r>
              <a:rPr dirty="0"/>
              <a:t> kill -9 PID.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служб</a:t>
            </a:r>
            <a:r>
              <a:rPr dirty="0"/>
              <a:t> </a:t>
            </a:r>
            <a:r>
              <a:rPr dirty="0" err="1"/>
              <a:t>лучше</a:t>
            </a:r>
            <a:r>
              <a:rPr dirty="0"/>
              <a:t> </a:t>
            </a:r>
            <a:r>
              <a:rPr dirty="0" err="1"/>
              <a:t>применять</a:t>
            </a:r>
            <a:r>
              <a:rPr dirty="0"/>
              <a:t> </a:t>
            </a:r>
            <a:r>
              <a:rPr b="1" dirty="0" err="1">
                <a:solidFill>
                  <a:srgbClr val="002060"/>
                </a:solidFill>
              </a:rPr>
              <a:t>systemctl</a:t>
            </a:r>
            <a:r>
              <a:rPr b="1" dirty="0">
                <a:solidFill>
                  <a:srgbClr val="002060"/>
                </a:solidFill>
              </a:rPr>
              <a:t> stop</a:t>
            </a:r>
            <a:r>
              <a:rPr dirty="0"/>
              <a:t>, </a:t>
            </a: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процесс</a:t>
            </a:r>
            <a:r>
              <a:rPr dirty="0"/>
              <a:t> </a:t>
            </a:r>
            <a:r>
              <a:rPr dirty="0" err="1"/>
              <a:t>является</a:t>
            </a:r>
            <a:r>
              <a:rPr dirty="0"/>
              <a:t> </a:t>
            </a:r>
            <a:r>
              <a:rPr dirty="0" err="1"/>
              <a:t>службой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734C2-4091-C5FC-A916-CE8196FF1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F1DF27C-0F7B-4574-0A26-721756585527}"/>
              </a:ext>
            </a:extLst>
          </p:cNvPr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Безопасное завершение процесса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299689C-0104-42E8-082B-ABF631C21C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35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/>
              <a:t>6. </a:t>
            </a:r>
            <a:r>
              <a:rPr dirty="0" err="1"/>
              <a:t>Стандартные</a:t>
            </a:r>
            <a:r>
              <a:rPr dirty="0"/>
              <a:t> </a:t>
            </a:r>
            <a:r>
              <a:rPr dirty="0" err="1"/>
              <a:t>потоки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b="1" dirty="0">
                <a:solidFill>
                  <a:srgbClr val="002060"/>
                </a:solidFill>
              </a:rPr>
              <a:t>stdin</a:t>
            </a:r>
            <a:r>
              <a:rPr dirty="0"/>
              <a:t> — </a:t>
            </a:r>
            <a:r>
              <a:rPr dirty="0" err="1"/>
              <a:t>стандартный</a:t>
            </a:r>
            <a:r>
              <a:rPr dirty="0"/>
              <a:t> </a:t>
            </a:r>
            <a:r>
              <a:rPr dirty="0" err="1"/>
              <a:t>ввод</a:t>
            </a:r>
            <a:r>
              <a:rPr dirty="0"/>
              <a:t>, </a:t>
            </a:r>
            <a:r>
              <a:rPr dirty="0" err="1"/>
              <a:t>откуда</a:t>
            </a:r>
            <a:r>
              <a:rPr dirty="0"/>
              <a:t> </a:t>
            </a:r>
            <a:r>
              <a:rPr dirty="0" err="1"/>
              <a:t>программа</a:t>
            </a:r>
            <a:r>
              <a:rPr dirty="0"/>
              <a:t> </a:t>
            </a:r>
            <a:r>
              <a:rPr dirty="0" err="1"/>
              <a:t>получает</a:t>
            </a:r>
            <a:r>
              <a:rPr dirty="0"/>
              <a:t> </a:t>
            </a:r>
            <a:r>
              <a:rPr dirty="0" err="1"/>
              <a:t>данные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b="1" dirty="0" err="1">
                <a:solidFill>
                  <a:srgbClr val="002060"/>
                </a:solidFill>
              </a:rPr>
              <a:t>stdout</a:t>
            </a:r>
            <a:r>
              <a:rPr dirty="0"/>
              <a:t> — </a:t>
            </a:r>
            <a:r>
              <a:rPr dirty="0" err="1"/>
              <a:t>стандартный</a:t>
            </a:r>
            <a:r>
              <a:rPr dirty="0"/>
              <a:t> </a:t>
            </a:r>
            <a:r>
              <a:rPr dirty="0" err="1"/>
              <a:t>вывод</a:t>
            </a:r>
            <a:r>
              <a:rPr dirty="0"/>
              <a:t>, </a:t>
            </a:r>
            <a:r>
              <a:rPr dirty="0" err="1"/>
              <a:t>куда</a:t>
            </a:r>
            <a:r>
              <a:rPr dirty="0"/>
              <a:t> </a:t>
            </a:r>
            <a:r>
              <a:rPr dirty="0" err="1"/>
              <a:t>программа</a:t>
            </a:r>
            <a:r>
              <a:rPr dirty="0"/>
              <a:t> </a:t>
            </a:r>
            <a:r>
              <a:rPr dirty="0" err="1"/>
              <a:t>пишет</a:t>
            </a:r>
            <a:r>
              <a:rPr dirty="0"/>
              <a:t> </a:t>
            </a:r>
            <a:r>
              <a:rPr dirty="0" err="1"/>
              <a:t>обычный</a:t>
            </a:r>
            <a:r>
              <a:rPr dirty="0"/>
              <a:t> </a:t>
            </a:r>
            <a:r>
              <a:rPr dirty="0" err="1"/>
              <a:t>результат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b="1" dirty="0">
                <a:solidFill>
                  <a:srgbClr val="002060"/>
                </a:solidFill>
              </a:rPr>
              <a:t>stderr</a:t>
            </a:r>
            <a:r>
              <a:rPr dirty="0"/>
              <a:t> — </a:t>
            </a:r>
            <a:r>
              <a:rPr dirty="0" err="1"/>
              <a:t>стандартный</a:t>
            </a:r>
            <a:r>
              <a:rPr dirty="0"/>
              <a:t> </a:t>
            </a:r>
            <a:r>
              <a:rPr dirty="0" err="1"/>
              <a:t>поток</a:t>
            </a:r>
            <a:r>
              <a:rPr dirty="0"/>
              <a:t> </a:t>
            </a:r>
            <a:r>
              <a:rPr dirty="0" err="1"/>
              <a:t>ошибок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Разделение</a:t>
            </a:r>
            <a:r>
              <a:rPr dirty="0"/>
              <a:t> </a:t>
            </a:r>
            <a:r>
              <a:rPr dirty="0" err="1"/>
              <a:t>stdout</a:t>
            </a:r>
            <a:r>
              <a:rPr dirty="0"/>
              <a:t> и stderr </a:t>
            </a:r>
            <a:r>
              <a:rPr dirty="0" err="1"/>
              <a:t>помогает</a:t>
            </a:r>
            <a:r>
              <a:rPr dirty="0"/>
              <a:t> </a:t>
            </a:r>
            <a:r>
              <a:rPr dirty="0" err="1"/>
              <a:t>сохранять</a:t>
            </a:r>
            <a:r>
              <a:rPr dirty="0"/>
              <a:t> </a:t>
            </a:r>
            <a:r>
              <a:rPr dirty="0" err="1"/>
              <a:t>результат</a:t>
            </a:r>
            <a:r>
              <a:rPr dirty="0"/>
              <a:t> и </a:t>
            </a:r>
            <a:r>
              <a:rPr dirty="0" err="1"/>
              <a:t>ошибки</a:t>
            </a:r>
            <a:r>
              <a:rPr dirty="0"/>
              <a:t> </a:t>
            </a:r>
            <a:r>
              <a:rPr dirty="0" err="1"/>
              <a:t>отдельно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Пример stdout и stderr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Команда</a:t>
            </a:r>
            <a:r>
              <a:rPr dirty="0"/>
              <a:t> </a:t>
            </a:r>
            <a:r>
              <a:rPr sz="3600" b="1" dirty="0">
                <a:solidFill>
                  <a:srgbClr val="002060"/>
                </a:solidFill>
              </a:rPr>
              <a:t>ls /</a:t>
            </a:r>
            <a:r>
              <a:rPr sz="3600" b="1" dirty="0" err="1">
                <a:solidFill>
                  <a:srgbClr val="002060"/>
                </a:solidFill>
              </a:rPr>
              <a:t>etc</a:t>
            </a:r>
            <a:r>
              <a:rPr dirty="0"/>
              <a:t> </a:t>
            </a:r>
            <a:r>
              <a:rPr dirty="0" err="1"/>
              <a:t>выводит</a:t>
            </a:r>
            <a:r>
              <a:rPr dirty="0"/>
              <a:t> </a:t>
            </a:r>
            <a:r>
              <a:rPr dirty="0" err="1"/>
              <a:t>список</a:t>
            </a:r>
            <a:r>
              <a:rPr dirty="0"/>
              <a:t> в </a:t>
            </a:r>
            <a:r>
              <a:rPr dirty="0" err="1"/>
              <a:t>stdout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Команда</a:t>
            </a:r>
            <a:r>
              <a:rPr dirty="0"/>
              <a:t> </a:t>
            </a:r>
            <a:r>
              <a:rPr b="1" dirty="0">
                <a:solidFill>
                  <a:srgbClr val="002060"/>
                </a:solidFill>
              </a:rPr>
              <a:t>ls /</a:t>
            </a:r>
            <a:r>
              <a:rPr b="1" dirty="0" err="1">
                <a:solidFill>
                  <a:srgbClr val="002060"/>
                </a:solidFill>
              </a:rPr>
              <a:t>no_such_dir</a:t>
            </a:r>
            <a:r>
              <a:rPr b="1" dirty="0">
                <a:solidFill>
                  <a:srgbClr val="002060"/>
                </a:solidFill>
              </a:rPr>
              <a:t> </a:t>
            </a:r>
            <a:r>
              <a:rPr dirty="0" err="1"/>
              <a:t>пишет</a:t>
            </a:r>
            <a:r>
              <a:rPr dirty="0"/>
              <a:t> </a:t>
            </a:r>
            <a:r>
              <a:rPr dirty="0" err="1"/>
              <a:t>ошибку</a:t>
            </a:r>
            <a:r>
              <a:rPr dirty="0"/>
              <a:t> в stderr.</a:t>
            </a:r>
          </a:p>
          <a:p>
            <a:pPr indent="354013">
              <a:defRPr sz="3600"/>
            </a:pPr>
            <a:r>
              <a:rPr dirty="0" err="1"/>
              <a:t>Оба</a:t>
            </a:r>
            <a:r>
              <a:rPr dirty="0"/>
              <a:t> </a:t>
            </a:r>
            <a:r>
              <a:rPr dirty="0" err="1"/>
              <a:t>потока</a:t>
            </a:r>
            <a:r>
              <a:rPr dirty="0"/>
              <a:t> </a:t>
            </a: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видны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экране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перенаправляются</a:t>
            </a:r>
            <a:r>
              <a:rPr dirty="0"/>
              <a:t> </a:t>
            </a:r>
            <a:r>
              <a:rPr dirty="0" err="1"/>
              <a:t>разными</a:t>
            </a:r>
            <a:r>
              <a:rPr dirty="0"/>
              <a:t> </a:t>
            </a:r>
            <a:r>
              <a:rPr dirty="0" err="1"/>
              <a:t>операторами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важно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скриптов</a:t>
            </a:r>
            <a:r>
              <a:rPr dirty="0"/>
              <a:t> и </a:t>
            </a:r>
            <a:r>
              <a:rPr dirty="0" err="1"/>
              <a:t>логирования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/>
              <a:t>7. </a:t>
            </a:r>
            <a:r>
              <a:rPr lang="ru-RU" dirty="0"/>
              <a:t>Перенаправление вывода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b="1" dirty="0">
                <a:solidFill>
                  <a:srgbClr val="002060"/>
                </a:solidFill>
              </a:rPr>
              <a:t>&gt;</a:t>
            </a:r>
            <a:r>
              <a:rPr dirty="0"/>
              <a:t> </a:t>
            </a:r>
            <a:r>
              <a:rPr dirty="0" err="1"/>
              <a:t>записывает</a:t>
            </a:r>
            <a:r>
              <a:rPr dirty="0"/>
              <a:t> </a:t>
            </a:r>
            <a:r>
              <a:rPr dirty="0" err="1"/>
              <a:t>stdout</a:t>
            </a:r>
            <a:r>
              <a:rPr dirty="0"/>
              <a:t> в </a:t>
            </a:r>
            <a:r>
              <a:rPr dirty="0" err="1"/>
              <a:t>файл</a:t>
            </a:r>
            <a:r>
              <a:rPr dirty="0"/>
              <a:t> с </a:t>
            </a:r>
            <a:r>
              <a:rPr dirty="0" err="1"/>
              <a:t>перезаписью</a:t>
            </a:r>
            <a:r>
              <a:rPr dirty="0"/>
              <a:t>.</a:t>
            </a:r>
          </a:p>
          <a:p>
            <a:pPr>
              <a:defRPr sz="3600"/>
            </a:pPr>
            <a:r>
              <a:rPr dirty="0" err="1"/>
              <a:t>Пример</a:t>
            </a:r>
            <a:r>
              <a:rPr dirty="0"/>
              <a:t>: </a:t>
            </a:r>
            <a:r>
              <a:rPr sz="3600" b="1" dirty="0">
                <a:solidFill>
                  <a:srgbClr val="002060"/>
                </a:solidFill>
              </a:rPr>
              <a:t>ls /</a:t>
            </a:r>
            <a:r>
              <a:rPr sz="3600" b="1" dirty="0" err="1">
                <a:solidFill>
                  <a:srgbClr val="002060"/>
                </a:solidFill>
              </a:rPr>
              <a:t>etc</a:t>
            </a:r>
            <a:r>
              <a:rPr sz="3600" b="1" dirty="0">
                <a:solidFill>
                  <a:srgbClr val="002060"/>
                </a:solidFill>
              </a:rPr>
              <a:t> &gt; etc-list.txt</a:t>
            </a:r>
            <a:endParaRPr dirty="0"/>
          </a:p>
          <a:p>
            <a:pPr>
              <a:defRPr sz="3600"/>
            </a:pPr>
            <a:r>
              <a:rPr sz="3600" b="1" dirty="0">
                <a:solidFill>
                  <a:srgbClr val="002060"/>
                </a:solidFill>
              </a:rPr>
              <a:t>&gt;&gt;</a:t>
            </a:r>
            <a:r>
              <a:rPr dirty="0"/>
              <a:t> </a:t>
            </a:r>
            <a:r>
              <a:rPr dirty="0" err="1"/>
              <a:t>добавляет</a:t>
            </a:r>
            <a:r>
              <a:rPr dirty="0"/>
              <a:t> </a:t>
            </a:r>
            <a:r>
              <a:rPr dirty="0" err="1"/>
              <a:t>stdout</a:t>
            </a:r>
            <a:r>
              <a:rPr dirty="0"/>
              <a:t> в </a:t>
            </a:r>
            <a:r>
              <a:rPr dirty="0" err="1"/>
              <a:t>конец</a:t>
            </a:r>
            <a:r>
              <a:rPr dirty="0"/>
              <a:t> </a:t>
            </a:r>
            <a:r>
              <a:rPr dirty="0" err="1"/>
              <a:t>файла</a:t>
            </a:r>
            <a:r>
              <a:rPr dirty="0"/>
              <a:t>.</a:t>
            </a:r>
          </a:p>
          <a:p>
            <a:pPr>
              <a:defRPr sz="3600"/>
            </a:pPr>
            <a:r>
              <a:rPr dirty="0" err="1"/>
              <a:t>Пример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date &gt;&gt; report.log</a:t>
            </a:r>
            <a:endParaRPr dirty="0"/>
          </a:p>
          <a:p>
            <a:pPr>
              <a:defRPr sz="3600"/>
            </a:pPr>
            <a:r>
              <a:rPr dirty="0" err="1"/>
              <a:t>Перед</a:t>
            </a:r>
            <a:r>
              <a:rPr dirty="0"/>
              <a:t> </a:t>
            </a:r>
            <a:r>
              <a:rPr dirty="0" err="1"/>
              <a:t>использованием</a:t>
            </a:r>
            <a:r>
              <a:rPr dirty="0"/>
              <a:t> </a:t>
            </a:r>
            <a:r>
              <a:rPr b="1" dirty="0">
                <a:solidFill>
                  <a:srgbClr val="002060"/>
                </a:solidFill>
              </a:rPr>
              <a:t>&gt;</a:t>
            </a:r>
            <a:r>
              <a:rPr dirty="0"/>
              <a:t> </a:t>
            </a:r>
            <a:r>
              <a:rPr dirty="0" err="1"/>
              <a:t>проверьте</a:t>
            </a:r>
            <a:r>
              <a:rPr dirty="0"/>
              <a:t>,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перезаписываете</a:t>
            </a:r>
            <a:r>
              <a:rPr dirty="0"/>
              <a:t> </a:t>
            </a:r>
            <a:r>
              <a:rPr dirty="0" err="1"/>
              <a:t>ли</a:t>
            </a:r>
            <a:r>
              <a:rPr dirty="0"/>
              <a:t> </a:t>
            </a:r>
            <a:r>
              <a:rPr dirty="0" err="1"/>
              <a:t>важный</a:t>
            </a:r>
            <a:r>
              <a:rPr dirty="0"/>
              <a:t> </a:t>
            </a:r>
            <a:r>
              <a:rPr dirty="0" err="1"/>
              <a:t>файл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Перенаправление ошибок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442913">
              <a:defRPr sz="3600"/>
            </a:pPr>
            <a:r>
              <a:rPr b="1" dirty="0">
                <a:solidFill>
                  <a:srgbClr val="002060"/>
                </a:solidFill>
              </a:rPr>
              <a:t>2&gt;</a:t>
            </a:r>
            <a:r>
              <a:rPr dirty="0"/>
              <a:t> </a:t>
            </a:r>
            <a:r>
              <a:rPr dirty="0" err="1"/>
              <a:t>записывает</a:t>
            </a:r>
            <a:r>
              <a:rPr dirty="0"/>
              <a:t> stderr в </a:t>
            </a:r>
            <a:r>
              <a:rPr dirty="0" err="1"/>
              <a:t>файл</a:t>
            </a:r>
            <a:r>
              <a:rPr dirty="0"/>
              <a:t>.</a:t>
            </a:r>
          </a:p>
          <a:p>
            <a:pPr indent="442913">
              <a:defRPr sz="3600"/>
            </a:pPr>
            <a:r>
              <a:rPr dirty="0" err="1"/>
              <a:t>Пример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ls /</a:t>
            </a:r>
            <a:r>
              <a:rPr b="1" dirty="0" err="1">
                <a:solidFill>
                  <a:srgbClr val="002060"/>
                </a:solidFill>
              </a:rPr>
              <a:t>no_such_dir</a:t>
            </a:r>
            <a:r>
              <a:rPr b="1" dirty="0">
                <a:solidFill>
                  <a:srgbClr val="002060"/>
                </a:solidFill>
              </a:rPr>
              <a:t> 2&gt; errors.log</a:t>
            </a:r>
            <a:endParaRPr dirty="0"/>
          </a:p>
          <a:p>
            <a:pPr indent="442913">
              <a:defRPr sz="3600"/>
            </a:pPr>
            <a:r>
              <a:rPr b="1" dirty="0">
                <a:solidFill>
                  <a:srgbClr val="002060"/>
                </a:solidFill>
              </a:rPr>
              <a:t>2&gt;&amp;1 </a:t>
            </a:r>
            <a:r>
              <a:rPr dirty="0" err="1"/>
              <a:t>объединяет</a:t>
            </a:r>
            <a:r>
              <a:rPr dirty="0"/>
              <a:t> stderr </a:t>
            </a:r>
            <a:r>
              <a:rPr dirty="0" err="1"/>
              <a:t>со</a:t>
            </a:r>
            <a:r>
              <a:rPr dirty="0"/>
              <a:t> </a:t>
            </a:r>
            <a:r>
              <a:rPr dirty="0" err="1"/>
              <a:t>stdout</a:t>
            </a:r>
            <a:r>
              <a:rPr dirty="0"/>
              <a:t>.</a:t>
            </a:r>
          </a:p>
          <a:p>
            <a:pPr indent="442913">
              <a:defRPr sz="3600"/>
            </a:pPr>
            <a:r>
              <a:rPr dirty="0" err="1"/>
              <a:t>Пример</a:t>
            </a:r>
            <a:r>
              <a:rPr dirty="0"/>
              <a:t>: </a:t>
            </a:r>
            <a:r>
              <a:rPr b="1" dirty="0" err="1">
                <a:solidFill>
                  <a:srgbClr val="002060"/>
                </a:solidFill>
              </a:rPr>
              <a:t>команда</a:t>
            </a:r>
            <a:r>
              <a:rPr b="1" dirty="0">
                <a:solidFill>
                  <a:srgbClr val="002060"/>
                </a:solidFill>
              </a:rPr>
              <a:t> &gt; all.log 2&gt;&amp;1</a:t>
            </a:r>
          </a:p>
          <a:p>
            <a:pPr indent="442913">
              <a:defRPr sz="3600"/>
            </a:pPr>
            <a:r>
              <a:rPr dirty="0" err="1"/>
              <a:t>Такой</a:t>
            </a:r>
            <a:r>
              <a:rPr dirty="0"/>
              <a:t> </a:t>
            </a:r>
            <a:r>
              <a:rPr dirty="0" err="1"/>
              <a:t>прием</a:t>
            </a:r>
            <a:r>
              <a:rPr dirty="0"/>
              <a:t>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применяют</a:t>
            </a:r>
            <a:r>
              <a:rPr dirty="0"/>
              <a:t> в </a:t>
            </a:r>
            <a:r>
              <a:rPr dirty="0" err="1"/>
              <a:t>cron</a:t>
            </a:r>
            <a:r>
              <a:rPr dirty="0"/>
              <a:t> и </a:t>
            </a:r>
            <a:r>
              <a:rPr dirty="0" err="1"/>
              <a:t>скриптах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DE07D-AF95-9503-D499-00CAC4F24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8E8C4B-DEC7-ED55-A2F0-97944C516753}"/>
              </a:ext>
            </a:extLst>
          </p:cNvPr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Перенаправление ошибок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05ADBB7-1FCD-832B-949E-AAEC97DCA7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8571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8.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Pipeline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конвейер</a:t>
            </a:r>
            <a:r>
              <a:rPr dirty="0"/>
              <a:t> </a:t>
            </a:r>
            <a:r>
              <a:rPr dirty="0" err="1"/>
              <a:t>передает</a:t>
            </a:r>
            <a:r>
              <a:rPr dirty="0"/>
              <a:t> </a:t>
            </a:r>
            <a:r>
              <a:rPr dirty="0" err="1"/>
              <a:t>stdout</a:t>
            </a:r>
            <a:r>
              <a:rPr dirty="0"/>
              <a:t> </a:t>
            </a:r>
            <a:r>
              <a:rPr dirty="0" err="1"/>
              <a:t>одной</a:t>
            </a:r>
            <a:r>
              <a:rPr dirty="0"/>
              <a:t> </a:t>
            </a:r>
            <a:r>
              <a:rPr dirty="0" err="1"/>
              <a:t>команды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stdin </a:t>
            </a:r>
            <a:r>
              <a:rPr dirty="0" err="1"/>
              <a:t>другой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Символ</a:t>
            </a:r>
            <a:r>
              <a:rPr dirty="0"/>
              <a:t> </a:t>
            </a:r>
            <a:r>
              <a:rPr dirty="0" err="1"/>
              <a:t>конвейера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|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: </a:t>
            </a:r>
            <a:r>
              <a:rPr b="1" dirty="0" err="1">
                <a:solidFill>
                  <a:srgbClr val="002060"/>
                </a:solidFill>
              </a:rPr>
              <a:t>ps</a:t>
            </a:r>
            <a:r>
              <a:rPr b="1" dirty="0">
                <a:solidFill>
                  <a:srgbClr val="002060"/>
                </a:solidFill>
              </a:rPr>
              <a:t> aux | grep ssh</a:t>
            </a:r>
            <a:endParaRPr dirty="0"/>
          </a:p>
          <a:p>
            <a:pPr indent="354013">
              <a:defRPr sz="3600"/>
            </a:pPr>
            <a:r>
              <a:rPr dirty="0" err="1"/>
              <a:t>Каждая</a:t>
            </a:r>
            <a:r>
              <a:rPr dirty="0"/>
              <a:t> </a:t>
            </a:r>
            <a:r>
              <a:rPr dirty="0" err="1"/>
              <a:t>команда</a:t>
            </a:r>
            <a:r>
              <a:rPr dirty="0"/>
              <a:t> в </a:t>
            </a:r>
            <a:r>
              <a:rPr dirty="0" err="1"/>
              <a:t>конвейере</a:t>
            </a:r>
            <a:r>
              <a:rPr dirty="0"/>
              <a:t> </a:t>
            </a:r>
            <a:r>
              <a:rPr dirty="0" err="1"/>
              <a:t>должна</a:t>
            </a:r>
            <a:r>
              <a:rPr dirty="0"/>
              <a:t> </a:t>
            </a:r>
            <a:r>
              <a:rPr dirty="0" err="1"/>
              <a:t>выполнять</a:t>
            </a:r>
            <a:r>
              <a:rPr dirty="0"/>
              <a:t> </a:t>
            </a:r>
            <a:r>
              <a:rPr dirty="0" err="1"/>
              <a:t>небольшую</a:t>
            </a:r>
            <a:r>
              <a:rPr dirty="0"/>
              <a:t> </a:t>
            </a:r>
            <a:r>
              <a:rPr dirty="0" err="1"/>
              <a:t>понятную</a:t>
            </a:r>
            <a:r>
              <a:rPr dirty="0"/>
              <a:t> </a:t>
            </a:r>
            <a:r>
              <a:rPr dirty="0" err="1"/>
              <a:t>задачу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Конвейеры</a:t>
            </a:r>
            <a:r>
              <a:rPr dirty="0"/>
              <a:t> </a:t>
            </a:r>
            <a:r>
              <a:rPr dirty="0" err="1"/>
              <a:t>позволяют</a:t>
            </a:r>
            <a:r>
              <a:rPr dirty="0"/>
              <a:t> </a:t>
            </a:r>
            <a:r>
              <a:rPr dirty="0" err="1"/>
              <a:t>строить</a:t>
            </a:r>
            <a:r>
              <a:rPr dirty="0"/>
              <a:t> </a:t>
            </a:r>
            <a:r>
              <a:rPr dirty="0" err="1"/>
              <a:t>диагностику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простых</a:t>
            </a:r>
            <a:r>
              <a:rPr dirty="0"/>
              <a:t> </a:t>
            </a:r>
            <a:r>
              <a:rPr dirty="0" err="1"/>
              <a:t>инструментов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Пример анализа файла через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найти</a:t>
            </a:r>
            <a:r>
              <a:rPr dirty="0"/>
              <a:t> </a:t>
            </a:r>
            <a:r>
              <a:rPr dirty="0" err="1"/>
              <a:t>уникальные</a:t>
            </a:r>
            <a:r>
              <a:rPr dirty="0"/>
              <a:t> </a:t>
            </a:r>
            <a:r>
              <a:rPr dirty="0" err="1"/>
              <a:t>имена</a:t>
            </a:r>
            <a:r>
              <a:rPr dirty="0"/>
              <a:t> </a:t>
            </a:r>
            <a:r>
              <a:rPr dirty="0" err="1"/>
              <a:t>пользователей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файла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cut -d: -f1 /</a:t>
            </a:r>
            <a:r>
              <a:rPr b="1" dirty="0" err="1">
                <a:solidFill>
                  <a:srgbClr val="002060"/>
                </a:solidFill>
              </a:rPr>
              <a:t>etc</a:t>
            </a:r>
            <a:r>
              <a:rPr b="1" dirty="0">
                <a:solidFill>
                  <a:srgbClr val="002060"/>
                </a:solidFill>
              </a:rPr>
              <a:t>/passwd | sort | </a:t>
            </a:r>
            <a:r>
              <a:rPr b="1" dirty="0" err="1">
                <a:solidFill>
                  <a:srgbClr val="002060"/>
                </a:solidFill>
              </a:rPr>
              <a:t>uniq</a:t>
            </a:r>
            <a:endParaRPr b="1" dirty="0">
              <a:solidFill>
                <a:srgbClr val="002060"/>
              </a:solidFill>
            </a:endParaRPr>
          </a:p>
          <a:p>
            <a:pPr indent="354013">
              <a:defRPr sz="3600"/>
            </a:pPr>
            <a:r>
              <a:rPr dirty="0"/>
              <a:t>cut </a:t>
            </a:r>
            <a:r>
              <a:rPr dirty="0" err="1"/>
              <a:t>берет</a:t>
            </a:r>
            <a:r>
              <a:rPr dirty="0"/>
              <a:t> </a:t>
            </a:r>
            <a:r>
              <a:rPr dirty="0" err="1"/>
              <a:t>первый</a:t>
            </a:r>
            <a:r>
              <a:rPr dirty="0"/>
              <a:t> </a:t>
            </a:r>
            <a:r>
              <a:rPr dirty="0" err="1"/>
              <a:t>столбец</a:t>
            </a:r>
            <a:r>
              <a:rPr dirty="0"/>
              <a:t>, sort </a:t>
            </a:r>
            <a:r>
              <a:rPr dirty="0" err="1"/>
              <a:t>сортирует</a:t>
            </a:r>
            <a:r>
              <a:rPr dirty="0"/>
              <a:t>, </a:t>
            </a:r>
            <a:r>
              <a:rPr dirty="0" err="1"/>
              <a:t>uniq</a:t>
            </a:r>
            <a:r>
              <a:rPr dirty="0"/>
              <a:t> </a:t>
            </a:r>
            <a:r>
              <a:rPr dirty="0" err="1"/>
              <a:t>убирает</a:t>
            </a:r>
            <a:r>
              <a:rPr dirty="0"/>
              <a:t> </a:t>
            </a:r>
            <a:r>
              <a:rPr dirty="0" err="1"/>
              <a:t>повторы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Такой</a:t>
            </a:r>
            <a:r>
              <a:rPr dirty="0"/>
              <a:t> </a:t>
            </a:r>
            <a:r>
              <a:rPr dirty="0" err="1"/>
              <a:t>подход</a:t>
            </a:r>
            <a:r>
              <a:rPr dirty="0"/>
              <a:t>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силу</a:t>
            </a:r>
            <a:r>
              <a:rPr dirty="0"/>
              <a:t> Unix-</a:t>
            </a:r>
            <a:r>
              <a:rPr dirty="0" err="1"/>
              <a:t>философии</a:t>
            </a:r>
            <a:r>
              <a:rPr dirty="0"/>
              <a:t>: </a:t>
            </a:r>
            <a:r>
              <a:rPr dirty="0" err="1"/>
              <a:t>маленькие</a:t>
            </a:r>
            <a:r>
              <a:rPr dirty="0"/>
              <a:t> </a:t>
            </a:r>
            <a:r>
              <a:rPr dirty="0" err="1"/>
              <a:t>инструменты</a:t>
            </a:r>
            <a:r>
              <a:rPr dirty="0"/>
              <a:t> </a:t>
            </a:r>
            <a:r>
              <a:rPr dirty="0" err="1"/>
              <a:t>вместе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9. grep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b="1" dirty="0">
                <a:solidFill>
                  <a:srgbClr val="002060"/>
                </a:solidFill>
              </a:rPr>
              <a:t>grep</a:t>
            </a:r>
            <a:r>
              <a:rPr dirty="0"/>
              <a:t> </a:t>
            </a:r>
            <a:r>
              <a:rPr dirty="0" err="1"/>
              <a:t>фильтрует</a:t>
            </a:r>
            <a:r>
              <a:rPr dirty="0"/>
              <a:t> </a:t>
            </a:r>
            <a:r>
              <a:rPr dirty="0" err="1"/>
              <a:t>строки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шаблону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grep '^root' /</a:t>
            </a:r>
            <a:r>
              <a:rPr b="1" dirty="0" err="1">
                <a:solidFill>
                  <a:srgbClr val="002060"/>
                </a:solidFill>
              </a:rPr>
              <a:t>etc</a:t>
            </a:r>
            <a:r>
              <a:rPr b="1" dirty="0">
                <a:solidFill>
                  <a:srgbClr val="002060"/>
                </a:solidFill>
              </a:rPr>
              <a:t>/passwd</a:t>
            </a:r>
            <a:endParaRPr dirty="0"/>
          </a:p>
          <a:p>
            <a:pPr indent="354013">
              <a:defRPr sz="3600"/>
            </a:pPr>
            <a:r>
              <a:rPr dirty="0" err="1"/>
              <a:t>Ключ</a:t>
            </a:r>
            <a:r>
              <a:rPr dirty="0"/>
              <a:t> </a:t>
            </a:r>
            <a:r>
              <a:rPr b="1" dirty="0">
                <a:solidFill>
                  <a:srgbClr val="002060"/>
                </a:solidFill>
              </a:rPr>
              <a:t>-</a:t>
            </a:r>
            <a:r>
              <a:rPr b="1" dirty="0" err="1">
                <a:solidFill>
                  <a:srgbClr val="002060"/>
                </a:solidFill>
              </a:rPr>
              <a:t>i</a:t>
            </a:r>
            <a:r>
              <a:rPr dirty="0"/>
              <a:t> </a:t>
            </a:r>
            <a:r>
              <a:rPr dirty="0" err="1"/>
              <a:t>игнорирует</a:t>
            </a:r>
            <a:r>
              <a:rPr dirty="0"/>
              <a:t> </a:t>
            </a:r>
            <a:r>
              <a:rPr dirty="0" err="1"/>
              <a:t>регистр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Ключ</a:t>
            </a:r>
            <a:r>
              <a:rPr dirty="0"/>
              <a:t> </a:t>
            </a:r>
            <a:r>
              <a:rPr sz="3600" b="1" dirty="0">
                <a:solidFill>
                  <a:srgbClr val="002060"/>
                </a:solidFill>
              </a:rPr>
              <a:t>-n</a:t>
            </a:r>
            <a:r>
              <a:rPr dirty="0"/>
              <a:t>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номера</a:t>
            </a:r>
            <a:r>
              <a:rPr dirty="0"/>
              <a:t> </a:t>
            </a:r>
            <a:r>
              <a:rPr dirty="0" err="1"/>
              <a:t>строк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grep </a:t>
            </a:r>
            <a:r>
              <a:rPr dirty="0" err="1"/>
              <a:t>полезен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журналов</a:t>
            </a:r>
            <a:r>
              <a:rPr dirty="0"/>
              <a:t>, </a:t>
            </a:r>
            <a:r>
              <a:rPr dirty="0" err="1"/>
              <a:t>конфигураций</a:t>
            </a:r>
            <a:r>
              <a:rPr dirty="0"/>
              <a:t> и </a:t>
            </a:r>
            <a:r>
              <a:rPr dirty="0" err="1"/>
              <a:t>вывода</a:t>
            </a:r>
            <a:r>
              <a:rPr dirty="0"/>
              <a:t> </a:t>
            </a:r>
            <a:r>
              <a:rPr dirty="0" err="1"/>
              <a:t>других</a:t>
            </a:r>
            <a:r>
              <a:rPr dirty="0"/>
              <a:t> </a:t>
            </a:r>
            <a:r>
              <a:rPr dirty="0" err="1"/>
              <a:t>команд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57631" y="182880"/>
            <a:ext cx="904625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dirty="0"/>
              <a:t>Базовые утилиты обработки текста и конвейеры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lang="ru-RU" dirty="0"/>
              <a:t>В Linux утилиты </a:t>
            </a:r>
            <a:r>
              <a:rPr lang="ru-RU" dirty="0" err="1"/>
              <a:t>cut</a:t>
            </a:r>
            <a:r>
              <a:rPr lang="ru-RU" dirty="0"/>
              <a:t>, </a:t>
            </a:r>
            <a:r>
              <a:rPr lang="ru-RU" dirty="0" err="1"/>
              <a:t>sort</a:t>
            </a:r>
            <a:r>
              <a:rPr lang="ru-RU" dirty="0"/>
              <a:t>, </a:t>
            </a:r>
            <a:r>
              <a:rPr lang="ru-RU" dirty="0" err="1"/>
              <a:t>uniq</a:t>
            </a:r>
            <a:r>
              <a:rPr lang="ru-RU" dirty="0"/>
              <a:t> и </a:t>
            </a:r>
            <a:r>
              <a:rPr lang="ru-RU" dirty="0" err="1"/>
              <a:t>wc</a:t>
            </a:r>
            <a:r>
              <a:rPr lang="ru-RU" dirty="0"/>
              <a:t> являются мощными инструментами для анализа логов, конфигураций и списков. </a:t>
            </a:r>
          </a:p>
          <a:p>
            <a:pPr indent="354013">
              <a:defRPr sz="3600"/>
            </a:pPr>
            <a:r>
              <a:rPr lang="ru-RU" dirty="0"/>
              <a:t>Чаще всего они используются не по отдельности, а связываются друг с другом с помощью конвейера (|), где вывод одной команды мгновенно передается на вход следующей.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5F8F0-B553-4C63-5A43-0B2747FC3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D2918E-231C-BFA4-63C4-E71CC8D2B1DD}"/>
              </a:ext>
            </a:extLst>
          </p:cNvPr>
          <p:cNvSpPr txBox="1"/>
          <p:nvPr/>
        </p:nvSpPr>
        <p:spPr>
          <a:xfrm>
            <a:off x="457199" y="398205"/>
            <a:ext cx="11459497" cy="6253317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indent="354013">
              <a:defRPr sz="3600"/>
            </a:pPr>
            <a:r>
              <a:rPr lang="ru-RU" b="1" dirty="0"/>
              <a:t>Утилита </a:t>
            </a:r>
            <a:r>
              <a:rPr lang="ru-RU" b="1" dirty="0" err="1"/>
              <a:t>cut</a:t>
            </a:r>
            <a:r>
              <a:rPr lang="ru-RU" b="1" dirty="0"/>
              <a:t> (Нарезка строк на столбцы)</a:t>
            </a:r>
          </a:p>
          <a:p>
            <a:pPr indent="354013">
              <a:defRPr sz="3600"/>
            </a:pPr>
            <a:r>
              <a:rPr lang="ru-RU" dirty="0"/>
              <a:t>Используется для того, чтобы «вырезать» из текстовых строк только нужные столбцы (поля) или символы.</a:t>
            </a:r>
          </a:p>
          <a:p>
            <a:pPr indent="354013">
              <a:defRPr sz="3600"/>
            </a:pPr>
            <a:r>
              <a:rPr lang="ru-RU" dirty="0"/>
              <a:t>Основные флаги:</a:t>
            </a:r>
          </a:p>
          <a:p>
            <a:pPr indent="354013">
              <a:defRPr sz="3600"/>
            </a:pPr>
            <a:r>
              <a:rPr lang="ru-RU" dirty="0"/>
              <a:t>-d (</a:t>
            </a:r>
            <a:r>
              <a:rPr lang="ru-RU" dirty="0" err="1"/>
              <a:t>delimiter</a:t>
            </a:r>
            <a:r>
              <a:rPr lang="ru-RU" dirty="0"/>
              <a:t>) — задает символ-разделитель столбцов (по умолчанию это знак табуляции).</a:t>
            </a:r>
          </a:p>
          <a:p>
            <a:pPr indent="354013">
              <a:defRPr sz="3600"/>
            </a:pPr>
            <a:r>
              <a:rPr lang="ru-RU" dirty="0"/>
              <a:t>-f (</a:t>
            </a:r>
            <a:r>
              <a:rPr lang="ru-RU" dirty="0" err="1"/>
              <a:t>fields</a:t>
            </a:r>
            <a:r>
              <a:rPr lang="ru-RU" dirty="0"/>
              <a:t>) — указывает номера столбцов, которые нужно оставить.</a:t>
            </a:r>
          </a:p>
          <a:p>
            <a:pPr indent="354013">
              <a:defRPr sz="3600"/>
            </a:pPr>
            <a:endParaRPr lang="ru-RU" dirty="0"/>
          </a:p>
          <a:p>
            <a:pPr indent="354013">
              <a:defRPr sz="3600"/>
            </a:pPr>
            <a:r>
              <a:rPr lang="ru-RU" dirty="0"/>
              <a:t>Примеры использования:</a:t>
            </a:r>
          </a:p>
          <a:p>
            <a:pPr indent="354013">
              <a:defRPr sz="3600"/>
            </a:pPr>
            <a:r>
              <a:rPr lang="ru-RU" dirty="0"/>
              <a:t># Вырезать только имена пользователей (1-й столбец) из файла /</a:t>
            </a:r>
            <a:r>
              <a:rPr lang="ru-RU" dirty="0" err="1"/>
              <a:t>etc</a:t>
            </a:r>
            <a:r>
              <a:rPr lang="ru-RU" dirty="0"/>
              <a:t>/</a:t>
            </a:r>
            <a:r>
              <a:rPr lang="ru-RU" dirty="0" err="1"/>
              <a:t>passwd</a:t>
            </a:r>
            <a:r>
              <a:rPr lang="ru-RU" dirty="0"/>
              <a:t>, где разделителем является двоеточие ":"</a:t>
            </a:r>
          </a:p>
          <a:p>
            <a:pPr indent="354013">
              <a:defRPr sz="3600"/>
            </a:pPr>
            <a:r>
              <a:rPr lang="ru-RU" b="1" dirty="0" err="1">
                <a:solidFill>
                  <a:srgbClr val="002060"/>
                </a:solidFill>
              </a:rPr>
              <a:t>cut</a:t>
            </a:r>
            <a:r>
              <a:rPr lang="ru-RU" b="1" dirty="0">
                <a:solidFill>
                  <a:srgbClr val="002060"/>
                </a:solidFill>
              </a:rPr>
              <a:t> -d ':' -f 1 /</a:t>
            </a:r>
            <a:r>
              <a:rPr lang="ru-RU" b="1" dirty="0" err="1">
                <a:solidFill>
                  <a:srgbClr val="002060"/>
                </a:solidFill>
              </a:rPr>
              <a:t>etc</a:t>
            </a:r>
            <a:r>
              <a:rPr lang="ru-RU" b="1" dirty="0">
                <a:solidFill>
                  <a:srgbClr val="002060"/>
                </a:solidFill>
              </a:rPr>
              <a:t>/</a:t>
            </a:r>
            <a:r>
              <a:rPr lang="ru-RU" b="1" dirty="0" err="1">
                <a:solidFill>
                  <a:srgbClr val="002060"/>
                </a:solidFill>
              </a:rPr>
              <a:t>passwd</a:t>
            </a:r>
            <a:endParaRPr lang="ru-RU" b="1" dirty="0">
              <a:solidFill>
                <a:srgbClr val="002060"/>
              </a:solidFill>
            </a:endParaRPr>
          </a:p>
          <a:p>
            <a:pPr indent="354013">
              <a:defRPr sz="3600"/>
            </a:pPr>
            <a:endParaRPr lang="ru-RU" dirty="0"/>
          </a:p>
          <a:p>
            <a:pPr indent="354013">
              <a:defRPr sz="3600"/>
            </a:pPr>
            <a:r>
              <a:rPr lang="ru-RU" dirty="0"/>
              <a:t># Вырезать 1-й и 7-й столбцы (имя и командную оболочку)</a:t>
            </a:r>
          </a:p>
          <a:p>
            <a:pPr indent="354013">
              <a:defRPr sz="3600"/>
            </a:pPr>
            <a:r>
              <a:rPr lang="ru-RU" b="1" dirty="0" err="1">
                <a:solidFill>
                  <a:srgbClr val="002060"/>
                </a:solidFill>
              </a:rPr>
              <a:t>cut</a:t>
            </a:r>
            <a:r>
              <a:rPr lang="ru-RU" b="1" dirty="0">
                <a:solidFill>
                  <a:srgbClr val="002060"/>
                </a:solidFill>
              </a:rPr>
              <a:t> -d ':' -f 1,7 /</a:t>
            </a:r>
            <a:r>
              <a:rPr lang="ru-RU" b="1" dirty="0" err="1">
                <a:solidFill>
                  <a:srgbClr val="002060"/>
                </a:solidFill>
              </a:rPr>
              <a:t>etc</a:t>
            </a:r>
            <a:r>
              <a:rPr lang="ru-RU" b="1" dirty="0">
                <a:solidFill>
                  <a:srgbClr val="002060"/>
                </a:solidFill>
              </a:rPr>
              <a:t>/</a:t>
            </a:r>
            <a:r>
              <a:rPr lang="ru-RU" b="1" dirty="0" err="1">
                <a:solidFill>
                  <a:srgbClr val="002060"/>
                </a:solidFill>
              </a:rPr>
              <a:t>passwd</a:t>
            </a:r>
            <a:endParaRPr lang="ru-RU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48798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7A043-528C-DF23-01F9-AA4EDEB12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00A4865-8A27-9619-5B76-2F4BDEE3AC27}"/>
              </a:ext>
            </a:extLst>
          </p:cNvPr>
          <p:cNvSpPr txBox="1"/>
          <p:nvPr/>
        </p:nvSpPr>
        <p:spPr>
          <a:xfrm>
            <a:off x="457200" y="398205"/>
            <a:ext cx="11371006" cy="6209071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pPr indent="354013">
              <a:defRPr sz="3600"/>
            </a:pPr>
            <a:r>
              <a:rPr lang="ru-RU" b="1" dirty="0"/>
              <a:t>Утилита </a:t>
            </a:r>
            <a:r>
              <a:rPr lang="ru-RU" b="1" dirty="0" err="1"/>
              <a:t>sort</a:t>
            </a:r>
            <a:r>
              <a:rPr lang="ru-RU" b="1" dirty="0"/>
              <a:t> (Сортировка строк)</a:t>
            </a:r>
          </a:p>
          <a:p>
            <a:pPr indent="354013">
              <a:defRPr sz="3600"/>
            </a:pPr>
            <a:r>
              <a:rPr lang="ru-RU" dirty="0"/>
              <a:t>Используется для упорядочивания строк по алфавиту или по числам. Без предварительной сортировки многие другие утилиты (например, </a:t>
            </a:r>
            <a:r>
              <a:rPr lang="ru-RU" dirty="0" err="1"/>
              <a:t>uniq</a:t>
            </a:r>
            <a:r>
              <a:rPr lang="ru-RU" dirty="0"/>
              <a:t>) работают некорректно.</a:t>
            </a:r>
          </a:p>
          <a:p>
            <a:pPr indent="354013">
              <a:defRPr sz="3600"/>
            </a:pPr>
            <a:r>
              <a:rPr lang="ru-RU" dirty="0"/>
              <a:t>Основные флаги:</a:t>
            </a:r>
          </a:p>
          <a:p>
            <a:pPr indent="354013">
              <a:defRPr sz="3600"/>
            </a:pPr>
            <a:r>
              <a:rPr lang="ru-RU" dirty="0"/>
              <a:t>-n (</a:t>
            </a:r>
            <a:r>
              <a:rPr lang="ru-RU" dirty="0" err="1"/>
              <a:t>numeric</a:t>
            </a:r>
            <a:r>
              <a:rPr lang="ru-RU" dirty="0"/>
              <a:t>) — сортировать как числа, а не по алфавиту (иначе число 10 встанет выше, чем 2).</a:t>
            </a:r>
          </a:p>
          <a:p>
            <a:pPr indent="354013">
              <a:defRPr sz="3600"/>
            </a:pPr>
            <a:r>
              <a:rPr lang="ru-RU" dirty="0"/>
              <a:t>-r (</a:t>
            </a:r>
            <a:r>
              <a:rPr lang="ru-RU" dirty="0" err="1"/>
              <a:t>reverse</a:t>
            </a:r>
            <a:r>
              <a:rPr lang="ru-RU" dirty="0"/>
              <a:t>) — развернуть сортировку (от большего к меньшему, от Я до А).</a:t>
            </a:r>
          </a:p>
          <a:p>
            <a:pPr indent="354013">
              <a:defRPr sz="3600"/>
            </a:pPr>
            <a:r>
              <a:rPr lang="ru-RU" dirty="0"/>
              <a:t>-t (</a:t>
            </a:r>
            <a:r>
              <a:rPr lang="ru-RU" dirty="0" err="1"/>
              <a:t>field-separator</a:t>
            </a:r>
            <a:r>
              <a:rPr lang="ru-RU" dirty="0"/>
              <a:t>) — задать разделитель полей, если нужно сортировать по конкретному столбцу.</a:t>
            </a:r>
          </a:p>
          <a:p>
            <a:pPr indent="354013">
              <a:defRPr sz="3600"/>
            </a:pPr>
            <a:r>
              <a:rPr lang="ru-RU" dirty="0"/>
              <a:t>-k (</a:t>
            </a:r>
            <a:r>
              <a:rPr lang="ru-RU" dirty="0" err="1"/>
              <a:t>key</a:t>
            </a:r>
            <a:r>
              <a:rPr lang="ru-RU" dirty="0"/>
              <a:t>) — указать номер столбца для сортировки.</a:t>
            </a:r>
          </a:p>
          <a:p>
            <a:pPr indent="354013">
              <a:defRPr sz="3600"/>
            </a:pPr>
            <a:endParaRPr lang="ru-RU" dirty="0"/>
          </a:p>
          <a:p>
            <a:pPr indent="354013">
              <a:defRPr sz="3600"/>
            </a:pPr>
            <a:r>
              <a:rPr lang="ru-RU" dirty="0"/>
              <a:t>Примеры использования:</a:t>
            </a:r>
          </a:p>
          <a:p>
            <a:pPr indent="354013">
              <a:defRPr sz="3600"/>
            </a:pPr>
            <a:r>
              <a:rPr lang="ru-RU" dirty="0"/>
              <a:t># Отсортировать список пользователей по алфавиту</a:t>
            </a:r>
          </a:p>
          <a:p>
            <a:pPr indent="354013">
              <a:defRPr sz="3600"/>
            </a:pPr>
            <a:r>
              <a:rPr lang="ru-RU" b="1" dirty="0" err="1">
                <a:solidFill>
                  <a:srgbClr val="002060"/>
                </a:solidFill>
              </a:rPr>
              <a:t>cut</a:t>
            </a:r>
            <a:r>
              <a:rPr lang="ru-RU" b="1" dirty="0">
                <a:solidFill>
                  <a:srgbClr val="002060"/>
                </a:solidFill>
              </a:rPr>
              <a:t> -d ':' -f 1 /</a:t>
            </a:r>
            <a:r>
              <a:rPr lang="ru-RU" b="1" dirty="0" err="1">
                <a:solidFill>
                  <a:srgbClr val="002060"/>
                </a:solidFill>
              </a:rPr>
              <a:t>etc</a:t>
            </a:r>
            <a:r>
              <a:rPr lang="ru-RU" b="1" dirty="0">
                <a:solidFill>
                  <a:srgbClr val="002060"/>
                </a:solidFill>
              </a:rPr>
              <a:t>/</a:t>
            </a:r>
            <a:r>
              <a:rPr lang="ru-RU" b="1" dirty="0" err="1">
                <a:solidFill>
                  <a:srgbClr val="002060"/>
                </a:solidFill>
              </a:rPr>
              <a:t>passwd</a:t>
            </a:r>
            <a:r>
              <a:rPr lang="ru-RU" b="1" dirty="0">
                <a:solidFill>
                  <a:srgbClr val="002060"/>
                </a:solidFill>
              </a:rPr>
              <a:t> | </a:t>
            </a:r>
            <a:r>
              <a:rPr lang="ru-RU" b="1" dirty="0" err="1">
                <a:solidFill>
                  <a:srgbClr val="002060"/>
                </a:solidFill>
              </a:rPr>
              <a:t>sort</a:t>
            </a:r>
            <a:endParaRPr lang="ru-RU" b="1" dirty="0">
              <a:solidFill>
                <a:srgbClr val="002060"/>
              </a:solidFill>
            </a:endParaRPr>
          </a:p>
          <a:p>
            <a:pPr indent="354013">
              <a:defRPr sz="3600"/>
            </a:pPr>
            <a:endParaRPr lang="ru-RU" dirty="0"/>
          </a:p>
          <a:p>
            <a:pPr indent="354013">
              <a:defRPr sz="3600"/>
            </a:pPr>
            <a:r>
              <a:rPr lang="ru-RU" dirty="0"/>
              <a:t># Отсортировать процессы по PID (численная сортировка от большего к меньшему)</a:t>
            </a:r>
          </a:p>
          <a:p>
            <a:pPr indent="354013">
              <a:defRPr sz="3600"/>
            </a:pPr>
            <a:r>
              <a:rPr lang="ru-RU" b="1" dirty="0" err="1">
                <a:solidFill>
                  <a:srgbClr val="002060"/>
                </a:solidFill>
              </a:rPr>
              <a:t>ps</a:t>
            </a:r>
            <a:r>
              <a:rPr lang="ru-RU" b="1" dirty="0">
                <a:solidFill>
                  <a:srgbClr val="002060"/>
                </a:solidFill>
              </a:rPr>
              <a:t> -</a:t>
            </a:r>
            <a:r>
              <a:rPr lang="ru-RU" b="1" dirty="0" err="1">
                <a:solidFill>
                  <a:srgbClr val="002060"/>
                </a:solidFill>
              </a:rPr>
              <a:t>eo</a:t>
            </a:r>
            <a:r>
              <a:rPr lang="ru-RU" b="1" dirty="0">
                <a:solidFill>
                  <a:srgbClr val="002060"/>
                </a:solidFill>
              </a:rPr>
              <a:t> </a:t>
            </a:r>
            <a:r>
              <a:rPr lang="ru-RU" b="1" dirty="0" err="1">
                <a:solidFill>
                  <a:srgbClr val="002060"/>
                </a:solidFill>
              </a:rPr>
              <a:t>pid,comm</a:t>
            </a:r>
            <a:r>
              <a:rPr lang="ru-RU" b="1" dirty="0">
                <a:solidFill>
                  <a:srgbClr val="002060"/>
                </a:solidFill>
              </a:rPr>
              <a:t> | </a:t>
            </a:r>
            <a:r>
              <a:rPr lang="ru-RU" b="1" dirty="0" err="1">
                <a:solidFill>
                  <a:srgbClr val="002060"/>
                </a:solidFill>
              </a:rPr>
              <a:t>sort</a:t>
            </a:r>
            <a:r>
              <a:rPr lang="ru-RU" b="1" dirty="0">
                <a:solidFill>
                  <a:srgbClr val="002060"/>
                </a:solidFill>
              </a:rPr>
              <a:t> -</a:t>
            </a:r>
            <a:r>
              <a:rPr lang="ru-RU" b="1" dirty="0" err="1">
                <a:solidFill>
                  <a:srgbClr val="002060"/>
                </a:solidFill>
              </a:rPr>
              <a:t>nk</a:t>
            </a:r>
            <a:r>
              <a:rPr lang="ru-RU" b="1" dirty="0">
                <a:solidFill>
                  <a:srgbClr val="002060"/>
                </a:solidFill>
              </a:rPr>
              <a:t> 1 -r</a:t>
            </a:r>
          </a:p>
        </p:txBody>
      </p:sp>
    </p:spTree>
    <p:extLst>
      <p:ext uri="{BB962C8B-B14F-4D97-AF65-F5344CB8AC3E}">
        <p14:creationId xmlns:p14="http://schemas.microsoft.com/office/powerpoint/2010/main" val="28188215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6F80F-EDB0-1A1E-CE11-D471C084A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D626021-8EBA-5B27-A093-4D7FEB31E291}"/>
              </a:ext>
            </a:extLst>
          </p:cNvPr>
          <p:cNvSpPr txBox="1"/>
          <p:nvPr/>
        </p:nvSpPr>
        <p:spPr>
          <a:xfrm>
            <a:off x="457200" y="398205"/>
            <a:ext cx="11356258" cy="6135329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indent="354013">
              <a:defRPr sz="3600"/>
            </a:pPr>
            <a:r>
              <a:rPr lang="ru-RU" b="1" dirty="0"/>
              <a:t>Утилита </a:t>
            </a:r>
            <a:r>
              <a:rPr lang="ru-RU" b="1" dirty="0" err="1"/>
              <a:t>uniq</a:t>
            </a:r>
            <a:r>
              <a:rPr lang="ru-RU" b="1" dirty="0"/>
              <a:t> (Фильтрация повторяющихся строк)</a:t>
            </a:r>
          </a:p>
          <a:p>
            <a:pPr indent="354013">
              <a:defRPr sz="3600"/>
            </a:pPr>
            <a:r>
              <a:rPr lang="ru-RU" dirty="0"/>
              <a:t>Удаляет последовательно идущие дубликаты строк.</a:t>
            </a:r>
          </a:p>
          <a:p>
            <a:pPr indent="354013">
              <a:defRPr sz="3600"/>
            </a:pPr>
            <a:r>
              <a:rPr lang="ru-RU" dirty="0"/>
              <a:t>Критически важное правило: </a:t>
            </a:r>
            <a:r>
              <a:rPr lang="ru-RU" dirty="0" err="1"/>
              <a:t>uniq</a:t>
            </a:r>
            <a:r>
              <a:rPr lang="ru-RU" dirty="0"/>
              <a:t> «видит» дубликаты только если они идут друг за другом. Поэтому перед применением </a:t>
            </a:r>
            <a:r>
              <a:rPr lang="ru-RU" dirty="0" err="1"/>
              <a:t>uniq</a:t>
            </a:r>
            <a:r>
              <a:rPr lang="ru-RU" dirty="0"/>
              <a:t> текст всегда нужно обрабатывать командой </a:t>
            </a:r>
            <a:r>
              <a:rPr lang="ru-RU" dirty="0" err="1"/>
              <a:t>sort</a:t>
            </a:r>
            <a:r>
              <a:rPr lang="ru-RU" dirty="0"/>
              <a:t>.</a:t>
            </a:r>
          </a:p>
          <a:p>
            <a:pPr indent="354013">
              <a:defRPr sz="3600"/>
            </a:pPr>
            <a:r>
              <a:rPr lang="ru-RU" dirty="0"/>
              <a:t>Основные флаги:</a:t>
            </a:r>
          </a:p>
          <a:p>
            <a:pPr indent="354013">
              <a:defRPr sz="3600"/>
            </a:pPr>
            <a:r>
              <a:rPr lang="ru-RU" dirty="0"/>
              <a:t>-c (</a:t>
            </a:r>
            <a:r>
              <a:rPr lang="ru-RU" dirty="0" err="1"/>
              <a:t>count</a:t>
            </a:r>
            <a:r>
              <a:rPr lang="ru-RU" dirty="0"/>
              <a:t>) — подсчитать, сколько раз встретилась каждая уникальная строка.</a:t>
            </a:r>
          </a:p>
          <a:p>
            <a:pPr indent="354013">
              <a:defRPr sz="3600"/>
            </a:pPr>
            <a:r>
              <a:rPr lang="ru-RU" dirty="0"/>
              <a:t>-u (</a:t>
            </a:r>
            <a:r>
              <a:rPr lang="ru-RU" dirty="0" err="1"/>
              <a:t>unique</a:t>
            </a:r>
            <a:r>
              <a:rPr lang="ru-RU" dirty="0"/>
              <a:t>) — показать только те строки, которые вообще не имели дубликатов.</a:t>
            </a:r>
          </a:p>
          <a:p>
            <a:pPr indent="354013">
              <a:defRPr sz="3600"/>
            </a:pPr>
            <a:r>
              <a:rPr lang="ru-RU" dirty="0"/>
              <a:t>-d (</a:t>
            </a:r>
            <a:r>
              <a:rPr lang="ru-RU" dirty="0" err="1"/>
              <a:t>repeated</a:t>
            </a:r>
            <a:r>
              <a:rPr lang="ru-RU" dirty="0"/>
              <a:t>) — показать только те строки, которые дублировались.</a:t>
            </a:r>
          </a:p>
          <a:p>
            <a:pPr indent="354013">
              <a:defRPr sz="3600"/>
            </a:pPr>
            <a:r>
              <a:rPr lang="ru-RU" dirty="0"/>
              <a:t>Пример использования:</a:t>
            </a:r>
          </a:p>
          <a:p>
            <a:pPr indent="354013">
              <a:defRPr sz="3600"/>
            </a:pPr>
            <a:r>
              <a:rPr lang="ru-RU" dirty="0"/>
              <a:t># Найти все уникальные командные оболочки, назначенные пользователям</a:t>
            </a:r>
          </a:p>
          <a:p>
            <a:pPr indent="354013">
              <a:defRPr sz="3600"/>
            </a:pPr>
            <a:r>
              <a:rPr lang="ru-RU" b="1" dirty="0" err="1">
                <a:solidFill>
                  <a:srgbClr val="002060"/>
                </a:solidFill>
              </a:rPr>
              <a:t>cut</a:t>
            </a:r>
            <a:r>
              <a:rPr lang="ru-RU" b="1" dirty="0">
                <a:solidFill>
                  <a:srgbClr val="002060"/>
                </a:solidFill>
              </a:rPr>
              <a:t> -d ':' -f 7 /</a:t>
            </a:r>
            <a:r>
              <a:rPr lang="ru-RU" b="1" dirty="0" err="1">
                <a:solidFill>
                  <a:srgbClr val="002060"/>
                </a:solidFill>
              </a:rPr>
              <a:t>etc</a:t>
            </a:r>
            <a:r>
              <a:rPr lang="ru-RU" b="1" dirty="0">
                <a:solidFill>
                  <a:srgbClr val="002060"/>
                </a:solidFill>
              </a:rPr>
              <a:t>/</a:t>
            </a:r>
            <a:r>
              <a:rPr lang="ru-RU" b="1" dirty="0" err="1">
                <a:solidFill>
                  <a:srgbClr val="002060"/>
                </a:solidFill>
              </a:rPr>
              <a:t>passwd</a:t>
            </a:r>
            <a:r>
              <a:rPr lang="ru-RU" b="1" dirty="0">
                <a:solidFill>
                  <a:srgbClr val="002060"/>
                </a:solidFill>
              </a:rPr>
              <a:t> | </a:t>
            </a:r>
            <a:r>
              <a:rPr lang="ru-RU" b="1" dirty="0" err="1">
                <a:solidFill>
                  <a:srgbClr val="002060"/>
                </a:solidFill>
              </a:rPr>
              <a:t>sort</a:t>
            </a:r>
            <a:r>
              <a:rPr lang="ru-RU" b="1" dirty="0">
                <a:solidFill>
                  <a:srgbClr val="002060"/>
                </a:solidFill>
              </a:rPr>
              <a:t> | </a:t>
            </a:r>
            <a:r>
              <a:rPr lang="ru-RU" b="1" dirty="0" err="1">
                <a:solidFill>
                  <a:srgbClr val="002060"/>
                </a:solidFill>
              </a:rPr>
              <a:t>uniq</a:t>
            </a:r>
            <a:endParaRPr lang="ru-RU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37569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D3D04-BE5C-337B-D369-B65E51B81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B3325B-0ACE-471D-C4E6-16100BD32158}"/>
              </a:ext>
            </a:extLst>
          </p:cNvPr>
          <p:cNvSpPr txBox="1"/>
          <p:nvPr/>
        </p:nvSpPr>
        <p:spPr>
          <a:xfrm>
            <a:off x="457200" y="398206"/>
            <a:ext cx="10972800" cy="5728274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indent="354013">
              <a:defRPr sz="3600"/>
            </a:pPr>
            <a:r>
              <a:rPr lang="ru-RU" b="1" dirty="0"/>
              <a:t>Утилита </a:t>
            </a:r>
            <a:r>
              <a:rPr lang="ru-RU" b="1" dirty="0" err="1"/>
              <a:t>wc</a:t>
            </a:r>
            <a:r>
              <a:rPr lang="ru-RU" b="1" dirty="0"/>
              <a:t> (Word </a:t>
            </a:r>
            <a:r>
              <a:rPr lang="ru-RU" b="1" dirty="0" err="1"/>
              <a:t>Count</a:t>
            </a:r>
            <a:r>
              <a:rPr lang="ru-RU" b="1" dirty="0"/>
              <a:t> — Подсчет статистики текста)</a:t>
            </a:r>
          </a:p>
          <a:p>
            <a:pPr indent="354013">
              <a:defRPr sz="3600"/>
            </a:pPr>
            <a:r>
              <a:rPr lang="ru-RU" dirty="0"/>
              <a:t>Используется для подсчета количества строк, слов и байт (символов) в файле или в потоке данных.</a:t>
            </a:r>
          </a:p>
          <a:p>
            <a:pPr indent="354013">
              <a:defRPr sz="3600"/>
            </a:pPr>
            <a:r>
              <a:rPr lang="ru-RU" dirty="0"/>
              <a:t>Основные флаги:</a:t>
            </a:r>
          </a:p>
          <a:p>
            <a:pPr indent="354013">
              <a:defRPr sz="3600"/>
            </a:pPr>
            <a:r>
              <a:rPr lang="ru-RU" dirty="0"/>
              <a:t>-l (</a:t>
            </a:r>
            <a:r>
              <a:rPr lang="ru-RU" dirty="0" err="1"/>
              <a:t>lines</a:t>
            </a:r>
            <a:r>
              <a:rPr lang="ru-RU" dirty="0"/>
              <a:t>) — подсчитать только количество строк. (Самый частый сценарий для сисадмина, чтобы узнать число ошибок в логе или количество пользователей).</a:t>
            </a:r>
          </a:p>
          <a:p>
            <a:pPr indent="354013">
              <a:defRPr sz="3600"/>
            </a:pPr>
            <a:r>
              <a:rPr lang="ru-RU" dirty="0"/>
              <a:t>-w (</a:t>
            </a:r>
            <a:r>
              <a:rPr lang="ru-RU" dirty="0" err="1"/>
              <a:t>words</a:t>
            </a:r>
            <a:r>
              <a:rPr lang="ru-RU" dirty="0"/>
              <a:t>) — подсчитать количество слов.</a:t>
            </a:r>
          </a:p>
          <a:p>
            <a:pPr indent="354013">
              <a:defRPr sz="3600"/>
            </a:pPr>
            <a:r>
              <a:rPr lang="ru-RU" dirty="0"/>
              <a:t>-c (</a:t>
            </a:r>
            <a:r>
              <a:rPr lang="ru-RU" dirty="0" err="1"/>
              <a:t>bytes</a:t>
            </a:r>
            <a:r>
              <a:rPr lang="ru-RU" dirty="0"/>
              <a:t>/</a:t>
            </a:r>
            <a:r>
              <a:rPr lang="ru-RU" dirty="0" err="1"/>
              <a:t>characters</a:t>
            </a:r>
            <a:r>
              <a:rPr lang="ru-RU" dirty="0"/>
              <a:t>) — подсчитать количество байт/символов.</a:t>
            </a:r>
          </a:p>
          <a:p>
            <a:pPr indent="354013">
              <a:defRPr sz="3600"/>
            </a:pPr>
            <a:r>
              <a:rPr lang="ru-RU" dirty="0"/>
              <a:t>Примеры использования:</a:t>
            </a:r>
          </a:p>
          <a:p>
            <a:pPr indent="354013">
              <a:defRPr sz="3600"/>
            </a:pPr>
            <a:r>
              <a:rPr lang="ru-RU" dirty="0"/>
              <a:t># Посчитать, сколько всего учетных записей зарегистрировано в системе</a:t>
            </a:r>
          </a:p>
          <a:p>
            <a:pPr indent="354013">
              <a:defRPr sz="3600"/>
            </a:pPr>
            <a:r>
              <a:rPr lang="ru-RU" b="1" dirty="0" err="1">
                <a:solidFill>
                  <a:srgbClr val="002060"/>
                </a:solidFill>
              </a:rPr>
              <a:t>wc</a:t>
            </a:r>
            <a:r>
              <a:rPr lang="ru-RU" b="1" dirty="0">
                <a:solidFill>
                  <a:srgbClr val="002060"/>
                </a:solidFill>
              </a:rPr>
              <a:t> -l /</a:t>
            </a:r>
            <a:r>
              <a:rPr lang="ru-RU" b="1" dirty="0" err="1">
                <a:solidFill>
                  <a:srgbClr val="002060"/>
                </a:solidFill>
              </a:rPr>
              <a:t>etc</a:t>
            </a:r>
            <a:r>
              <a:rPr lang="ru-RU" b="1" dirty="0">
                <a:solidFill>
                  <a:srgbClr val="002060"/>
                </a:solidFill>
              </a:rPr>
              <a:t>/</a:t>
            </a:r>
            <a:r>
              <a:rPr lang="ru-RU" b="1" dirty="0" err="1">
                <a:solidFill>
                  <a:srgbClr val="002060"/>
                </a:solidFill>
              </a:rPr>
              <a:t>passwd</a:t>
            </a:r>
            <a:endParaRPr lang="ru-RU" b="1" dirty="0">
              <a:solidFill>
                <a:srgbClr val="002060"/>
              </a:solidFill>
            </a:endParaRPr>
          </a:p>
          <a:p>
            <a:pPr indent="354013">
              <a:defRPr sz="3600"/>
            </a:pPr>
            <a:endParaRPr lang="ru-RU" dirty="0"/>
          </a:p>
          <a:p>
            <a:pPr indent="354013">
              <a:defRPr sz="3600"/>
            </a:pPr>
            <a:r>
              <a:rPr lang="ru-RU" dirty="0"/>
              <a:t># Узнать, сколько строк лога содержат ошибку "</a:t>
            </a:r>
            <a:r>
              <a:rPr lang="ru-RU" dirty="0" err="1"/>
              <a:t>error</a:t>
            </a:r>
            <a:r>
              <a:rPr lang="ru-RU" dirty="0"/>
              <a:t>"</a:t>
            </a:r>
          </a:p>
          <a:p>
            <a:pPr indent="354013">
              <a:defRPr sz="3600"/>
            </a:pPr>
            <a:r>
              <a:rPr lang="ru-RU" b="1" dirty="0" err="1">
                <a:solidFill>
                  <a:srgbClr val="002060"/>
                </a:solidFill>
              </a:rPr>
              <a:t>grep</a:t>
            </a:r>
            <a:r>
              <a:rPr lang="ru-RU" b="1" dirty="0">
                <a:solidFill>
                  <a:srgbClr val="002060"/>
                </a:solidFill>
              </a:rPr>
              <a:t> "</a:t>
            </a:r>
            <a:r>
              <a:rPr lang="ru-RU" b="1" dirty="0" err="1">
                <a:solidFill>
                  <a:srgbClr val="002060"/>
                </a:solidFill>
              </a:rPr>
              <a:t>error</a:t>
            </a:r>
            <a:r>
              <a:rPr lang="ru-RU" b="1" dirty="0">
                <a:solidFill>
                  <a:srgbClr val="002060"/>
                </a:solidFill>
              </a:rPr>
              <a:t>" /</a:t>
            </a:r>
            <a:r>
              <a:rPr lang="ru-RU" b="1" dirty="0" err="1">
                <a:solidFill>
                  <a:srgbClr val="002060"/>
                </a:solidFill>
              </a:rPr>
              <a:t>var</a:t>
            </a:r>
            <a:r>
              <a:rPr lang="ru-RU" b="1" dirty="0">
                <a:solidFill>
                  <a:srgbClr val="002060"/>
                </a:solidFill>
              </a:rPr>
              <a:t>/</a:t>
            </a:r>
            <a:r>
              <a:rPr lang="ru-RU" b="1" dirty="0" err="1">
                <a:solidFill>
                  <a:srgbClr val="002060"/>
                </a:solidFill>
              </a:rPr>
              <a:t>log</a:t>
            </a:r>
            <a:r>
              <a:rPr lang="ru-RU" b="1" dirty="0">
                <a:solidFill>
                  <a:srgbClr val="002060"/>
                </a:solidFill>
              </a:rPr>
              <a:t>/</a:t>
            </a:r>
            <a:r>
              <a:rPr lang="ru-RU" b="1" dirty="0" err="1">
                <a:solidFill>
                  <a:srgbClr val="002060"/>
                </a:solidFill>
              </a:rPr>
              <a:t>syslog</a:t>
            </a:r>
            <a:r>
              <a:rPr lang="ru-RU" b="1" dirty="0">
                <a:solidFill>
                  <a:srgbClr val="002060"/>
                </a:solidFill>
              </a:rPr>
              <a:t> | </a:t>
            </a:r>
            <a:r>
              <a:rPr lang="ru-RU" b="1" dirty="0" err="1">
                <a:solidFill>
                  <a:srgbClr val="002060"/>
                </a:solidFill>
              </a:rPr>
              <a:t>wc</a:t>
            </a:r>
            <a:r>
              <a:rPr lang="ru-RU" b="1" dirty="0">
                <a:solidFill>
                  <a:srgbClr val="002060"/>
                </a:solidFill>
              </a:rPr>
              <a:t> -l</a:t>
            </a:r>
          </a:p>
        </p:txBody>
      </p:sp>
    </p:spTree>
    <p:extLst>
      <p:ext uri="{BB962C8B-B14F-4D97-AF65-F5344CB8AC3E}">
        <p14:creationId xmlns:p14="http://schemas.microsoft.com/office/powerpoint/2010/main" val="40092046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D54CA-241E-639F-8EDC-D124BA259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6163F3-23BC-FAF3-50CC-ADCC597EE821}"/>
              </a:ext>
            </a:extLst>
          </p:cNvPr>
          <p:cNvSpPr txBox="1"/>
          <p:nvPr/>
        </p:nvSpPr>
        <p:spPr>
          <a:xfrm>
            <a:off x="457200" y="398205"/>
            <a:ext cx="11577484" cy="6341807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pPr indent="354013">
              <a:defRPr sz="3600"/>
            </a:pPr>
            <a:r>
              <a:rPr lang="ru-RU" dirty="0"/>
              <a:t>Реальный пример комплексной диагностики (</a:t>
            </a:r>
            <a:r>
              <a:rPr lang="ru-RU" dirty="0" err="1"/>
              <a:t>Pipeline</a:t>
            </a:r>
            <a:r>
              <a:rPr lang="ru-RU" dirty="0"/>
              <a:t>)</a:t>
            </a:r>
          </a:p>
          <a:p>
            <a:pPr indent="354013">
              <a:defRPr sz="3600"/>
            </a:pPr>
            <a:r>
              <a:rPr lang="ru-RU" dirty="0"/>
              <a:t>Представьте, что веб-сервер </a:t>
            </a:r>
            <a:r>
              <a:rPr lang="ru-RU" dirty="0" err="1"/>
              <a:t>Nginx</a:t>
            </a:r>
            <a:r>
              <a:rPr lang="ru-RU" dirty="0"/>
              <a:t> атаковали, и администратору нужно срочно составить ТОП-5 IP-адресов, которые чаще всего обращались к серверу, согласно файлу логов (access.log), где IP-адрес идет самым первым полем.</a:t>
            </a:r>
          </a:p>
          <a:p>
            <a:pPr indent="354013">
              <a:defRPr sz="3600"/>
            </a:pPr>
            <a:r>
              <a:rPr lang="ru-RU" dirty="0"/>
              <a:t>Команда в одну строчку будет выглядеть так:</a:t>
            </a:r>
          </a:p>
          <a:p>
            <a:pPr indent="354013">
              <a:defRPr sz="3600"/>
            </a:pPr>
            <a:r>
              <a:rPr lang="ru-RU" b="1" dirty="0" err="1">
                <a:solidFill>
                  <a:srgbClr val="002060"/>
                </a:solidFill>
              </a:rPr>
              <a:t>cat</a:t>
            </a:r>
            <a:r>
              <a:rPr lang="ru-RU" b="1" dirty="0">
                <a:solidFill>
                  <a:srgbClr val="002060"/>
                </a:solidFill>
              </a:rPr>
              <a:t> access.log | </a:t>
            </a:r>
            <a:r>
              <a:rPr lang="ru-RU" b="1" dirty="0" err="1">
                <a:solidFill>
                  <a:srgbClr val="002060"/>
                </a:solidFill>
              </a:rPr>
              <a:t>cut</a:t>
            </a:r>
            <a:r>
              <a:rPr lang="ru-RU" b="1" dirty="0">
                <a:solidFill>
                  <a:srgbClr val="002060"/>
                </a:solidFill>
              </a:rPr>
              <a:t> -d ' ' -f 1 | </a:t>
            </a:r>
            <a:r>
              <a:rPr lang="ru-RU" b="1" dirty="0" err="1">
                <a:solidFill>
                  <a:srgbClr val="002060"/>
                </a:solidFill>
              </a:rPr>
              <a:t>sort</a:t>
            </a:r>
            <a:r>
              <a:rPr lang="ru-RU" b="1" dirty="0">
                <a:solidFill>
                  <a:srgbClr val="002060"/>
                </a:solidFill>
              </a:rPr>
              <a:t> | </a:t>
            </a:r>
            <a:r>
              <a:rPr lang="ru-RU" b="1" dirty="0" err="1">
                <a:solidFill>
                  <a:srgbClr val="002060"/>
                </a:solidFill>
              </a:rPr>
              <a:t>uniq</a:t>
            </a:r>
            <a:r>
              <a:rPr lang="ru-RU" b="1" dirty="0">
                <a:solidFill>
                  <a:srgbClr val="002060"/>
                </a:solidFill>
              </a:rPr>
              <a:t> -c | </a:t>
            </a:r>
            <a:r>
              <a:rPr lang="ru-RU" b="1" dirty="0" err="1">
                <a:solidFill>
                  <a:srgbClr val="002060"/>
                </a:solidFill>
              </a:rPr>
              <a:t>sort</a:t>
            </a:r>
            <a:r>
              <a:rPr lang="ru-RU" b="1" dirty="0">
                <a:solidFill>
                  <a:srgbClr val="002060"/>
                </a:solidFill>
              </a:rPr>
              <a:t> -</a:t>
            </a:r>
            <a:r>
              <a:rPr lang="ru-RU" b="1" dirty="0" err="1">
                <a:solidFill>
                  <a:srgbClr val="002060"/>
                </a:solidFill>
              </a:rPr>
              <a:t>nk</a:t>
            </a:r>
            <a:r>
              <a:rPr lang="ru-RU" b="1" dirty="0">
                <a:solidFill>
                  <a:srgbClr val="002060"/>
                </a:solidFill>
              </a:rPr>
              <a:t> 1 -r | </a:t>
            </a:r>
            <a:r>
              <a:rPr lang="ru-RU" b="1" dirty="0" err="1">
                <a:solidFill>
                  <a:srgbClr val="002060"/>
                </a:solidFill>
              </a:rPr>
              <a:t>head</a:t>
            </a:r>
            <a:r>
              <a:rPr lang="ru-RU" b="1" dirty="0">
                <a:solidFill>
                  <a:srgbClr val="002060"/>
                </a:solidFill>
              </a:rPr>
              <a:t> -n 5</a:t>
            </a:r>
          </a:p>
          <a:p>
            <a:pPr indent="354013">
              <a:defRPr sz="3600"/>
            </a:pPr>
            <a:endParaRPr lang="ru-RU" dirty="0"/>
          </a:p>
          <a:p>
            <a:pPr indent="354013">
              <a:defRPr sz="3600"/>
            </a:pPr>
            <a:r>
              <a:rPr lang="ru-RU" dirty="0"/>
              <a:t>Разбор работы конвейера: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 err="1"/>
              <a:t>cat</a:t>
            </a:r>
            <a:r>
              <a:rPr lang="ru-RU" dirty="0"/>
              <a:t> access.log — читает лог-файл и отправляет текст дальше.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 err="1"/>
              <a:t>cut</a:t>
            </a:r>
            <a:r>
              <a:rPr lang="ru-RU" dirty="0"/>
              <a:t> -d ' ' -f 1 — вырезает из каждой строчки только первый столбец (IP-адрес), отбрасывая дату, время и запросы.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 err="1"/>
              <a:t>sort</a:t>
            </a:r>
            <a:r>
              <a:rPr lang="ru-RU" dirty="0"/>
              <a:t> — группирует одинаковые IP-адреса друг за другом.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 err="1"/>
              <a:t>uniq</a:t>
            </a:r>
            <a:r>
              <a:rPr lang="ru-RU" dirty="0"/>
              <a:t> -c — схлопывает дубликаты и приписывает к каждому IP-адресу количество его упоминаний (например: 1500 192.168.1.50).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 err="1"/>
              <a:t>sort</a:t>
            </a:r>
            <a:r>
              <a:rPr lang="ru-RU" dirty="0"/>
              <a:t> -</a:t>
            </a:r>
            <a:r>
              <a:rPr lang="ru-RU" dirty="0" err="1"/>
              <a:t>nk</a:t>
            </a:r>
            <a:r>
              <a:rPr lang="ru-RU" dirty="0"/>
              <a:t> 1 -r — сортирует полученный список по первому столбцу (числу запросов) в обратном порядке (от самых активных к менее активным).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 err="1"/>
              <a:t>head</a:t>
            </a:r>
            <a:r>
              <a:rPr lang="ru-RU" dirty="0"/>
              <a:t> -n 5 — оставляет на экране только первые 5 строк (самых главных виновников нагрузки).</a:t>
            </a:r>
          </a:p>
        </p:txBody>
      </p:sp>
    </p:spTree>
    <p:extLst>
      <p:ext uri="{BB962C8B-B14F-4D97-AF65-F5344CB8AC3E}">
        <p14:creationId xmlns:p14="http://schemas.microsoft.com/office/powerpoint/2010/main" val="24162746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4271D-E1FF-97E1-C165-3DBD64C51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E579A7F-04AF-5C62-5580-2CD2C7A890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6759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Почему процессы нужно понимать до настройки служб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Любая</a:t>
            </a:r>
            <a:r>
              <a:rPr dirty="0"/>
              <a:t> </a:t>
            </a:r>
            <a:r>
              <a:rPr dirty="0" err="1"/>
              <a:t>служба</a:t>
            </a:r>
            <a:r>
              <a:rPr dirty="0"/>
              <a:t> в Linux </a:t>
            </a:r>
            <a:r>
              <a:rPr dirty="0" err="1"/>
              <a:t>работает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один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несколько</a:t>
            </a:r>
            <a:r>
              <a:rPr dirty="0"/>
              <a:t> </a:t>
            </a:r>
            <a:r>
              <a:rPr dirty="0" err="1"/>
              <a:t>процессов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процесс</a:t>
            </a:r>
            <a:r>
              <a:rPr dirty="0"/>
              <a:t> </a:t>
            </a:r>
            <a:r>
              <a:rPr dirty="0" err="1"/>
              <a:t>завис</a:t>
            </a:r>
            <a:r>
              <a:rPr dirty="0"/>
              <a:t>, </a:t>
            </a:r>
            <a:r>
              <a:rPr dirty="0" err="1"/>
              <a:t>служба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считаться</a:t>
            </a:r>
            <a:r>
              <a:rPr dirty="0"/>
              <a:t> </a:t>
            </a:r>
            <a:r>
              <a:rPr dirty="0" err="1"/>
              <a:t>запущенной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фактически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работать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Нагрузка</a:t>
            </a:r>
            <a:r>
              <a:rPr dirty="0"/>
              <a:t> CPU, RAM и </a:t>
            </a:r>
            <a:r>
              <a:rPr dirty="0" err="1"/>
              <a:t>диска</a:t>
            </a:r>
            <a:r>
              <a:rPr dirty="0"/>
              <a:t>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видна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процессы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Управление</a:t>
            </a:r>
            <a:r>
              <a:rPr dirty="0"/>
              <a:t> </a:t>
            </a:r>
            <a:r>
              <a:rPr dirty="0" err="1"/>
              <a:t>процессами</a:t>
            </a:r>
            <a:r>
              <a:rPr dirty="0"/>
              <a:t> </a:t>
            </a:r>
            <a:r>
              <a:rPr dirty="0" err="1"/>
              <a:t>помогает</a:t>
            </a:r>
            <a:r>
              <a:rPr dirty="0"/>
              <a:t> </a:t>
            </a:r>
            <a:r>
              <a:rPr dirty="0" err="1"/>
              <a:t>аккуратно</a:t>
            </a:r>
            <a:r>
              <a:rPr dirty="0"/>
              <a:t> </a:t>
            </a:r>
            <a:r>
              <a:rPr dirty="0" err="1"/>
              <a:t>остановить</a:t>
            </a:r>
            <a:r>
              <a:rPr dirty="0"/>
              <a:t> </a:t>
            </a:r>
            <a:r>
              <a:rPr dirty="0" err="1"/>
              <a:t>проблему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перезагрузки</a:t>
            </a:r>
            <a:r>
              <a:rPr dirty="0"/>
              <a:t> </a:t>
            </a:r>
            <a:r>
              <a:rPr dirty="0" err="1"/>
              <a:t>сервера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Фоновые</a:t>
            </a:r>
            <a:r>
              <a:rPr dirty="0"/>
              <a:t> </a:t>
            </a:r>
            <a:r>
              <a:rPr dirty="0" err="1"/>
              <a:t>задания</a:t>
            </a:r>
            <a:r>
              <a:rPr dirty="0"/>
              <a:t> в shell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lang="ru-RU" dirty="0"/>
              <a:t>В операционной системе Linux администратор может выполнять длительные задачи (например, архивацию больших каталогов, копирование терабайтных бэкапов или сетевой мониторинг), не блокируя при этом терминал. </a:t>
            </a:r>
            <a:endParaRPr lang="en-US" dirty="0"/>
          </a:p>
          <a:p>
            <a:pPr indent="354013">
              <a:defRPr sz="3600"/>
            </a:pPr>
            <a:r>
              <a:rPr lang="ru-RU" dirty="0"/>
              <a:t>Механизм управления задачами (</a:t>
            </a:r>
            <a:r>
              <a:rPr lang="ru-RU" dirty="0" err="1"/>
              <a:t>Job</a:t>
            </a:r>
            <a:r>
              <a:rPr lang="ru-RU" dirty="0"/>
              <a:t> Control) позволяет переключать процессы между активным (передним) и фоновым режимами.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1646E-BEDF-B66F-570E-1A457C901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11FA5A5-673B-A043-7FEA-A58F54C3191A}"/>
              </a:ext>
            </a:extLst>
          </p:cNvPr>
          <p:cNvSpPr txBox="1"/>
          <p:nvPr/>
        </p:nvSpPr>
        <p:spPr>
          <a:xfrm>
            <a:off x="457200" y="324465"/>
            <a:ext cx="10972800" cy="5802015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ctr">
              <a:defRPr sz="3600"/>
            </a:pPr>
            <a:r>
              <a:rPr lang="ru-RU" b="1" dirty="0"/>
              <a:t>Запуск команды в фоне: Символ &amp;</a:t>
            </a:r>
          </a:p>
          <a:p>
            <a:pPr indent="354013">
              <a:defRPr sz="3600"/>
            </a:pPr>
            <a:r>
              <a:rPr lang="ru-RU" dirty="0"/>
              <a:t>Если в конце любой команды поставить амперсанд (&amp;), оболочка Shell мгновенно запустит этот процесс в фоновом режиме (</a:t>
            </a:r>
            <a:r>
              <a:rPr lang="ru-RU" dirty="0" err="1"/>
              <a:t>background</a:t>
            </a:r>
            <a:r>
              <a:rPr lang="ru-RU" dirty="0"/>
              <a:t>) и сразу же вернет управление пользователю для ввода новых команд.</a:t>
            </a:r>
          </a:p>
          <a:p>
            <a:pPr indent="354013">
              <a:defRPr sz="3600"/>
            </a:pPr>
            <a:r>
              <a:rPr lang="ru-RU" dirty="0"/>
              <a:t>Синтаксис:</a:t>
            </a:r>
            <a:r>
              <a:rPr lang="en-US" dirty="0"/>
              <a:t> </a:t>
            </a:r>
            <a:r>
              <a:rPr lang="ru-RU" b="1" dirty="0">
                <a:solidFill>
                  <a:srgbClr val="002060"/>
                </a:solidFill>
              </a:rPr>
              <a:t>команда &amp;</a:t>
            </a:r>
          </a:p>
          <a:p>
            <a:pPr indent="354013">
              <a:defRPr sz="3600"/>
            </a:pPr>
            <a:r>
              <a:rPr lang="ru-RU" dirty="0"/>
              <a:t>Пример применения:</a:t>
            </a:r>
          </a:p>
          <a:p>
            <a:pPr>
              <a:defRPr sz="3600"/>
            </a:pPr>
            <a:r>
              <a:rPr lang="ru-RU" b="1" dirty="0" err="1">
                <a:solidFill>
                  <a:srgbClr val="002060"/>
                </a:solidFill>
              </a:rPr>
              <a:t>tar</a:t>
            </a:r>
            <a:r>
              <a:rPr lang="ru-RU" b="1" dirty="0">
                <a:solidFill>
                  <a:srgbClr val="002060"/>
                </a:solidFill>
              </a:rPr>
              <a:t> -</a:t>
            </a:r>
            <a:r>
              <a:rPr lang="ru-RU" b="1" dirty="0" err="1">
                <a:solidFill>
                  <a:srgbClr val="002060"/>
                </a:solidFill>
              </a:rPr>
              <a:t>czf</a:t>
            </a:r>
            <a:r>
              <a:rPr lang="ru-RU" b="1" dirty="0">
                <a:solidFill>
                  <a:srgbClr val="002060"/>
                </a:solidFill>
              </a:rPr>
              <a:t> backup.tar.gz /</a:t>
            </a:r>
            <a:r>
              <a:rPr lang="ru-RU" b="1" dirty="0" err="1">
                <a:solidFill>
                  <a:srgbClr val="002060"/>
                </a:solidFill>
              </a:rPr>
              <a:t>var</a:t>
            </a:r>
            <a:r>
              <a:rPr lang="ru-RU" b="1" dirty="0">
                <a:solidFill>
                  <a:srgbClr val="002060"/>
                </a:solidFill>
              </a:rPr>
              <a:t>/</a:t>
            </a:r>
            <a:r>
              <a:rPr lang="ru-RU" b="1" dirty="0" err="1">
                <a:solidFill>
                  <a:srgbClr val="002060"/>
                </a:solidFill>
              </a:rPr>
              <a:t>www</a:t>
            </a:r>
            <a:r>
              <a:rPr lang="ru-RU" b="1" dirty="0">
                <a:solidFill>
                  <a:srgbClr val="002060"/>
                </a:solidFill>
              </a:rPr>
              <a:t>/</a:t>
            </a:r>
            <a:r>
              <a:rPr lang="ru-RU" b="1" dirty="0" err="1">
                <a:solidFill>
                  <a:srgbClr val="002060"/>
                </a:solidFill>
              </a:rPr>
              <a:t>html</a:t>
            </a:r>
            <a:r>
              <a:rPr lang="ru-RU" b="1" dirty="0">
                <a:solidFill>
                  <a:srgbClr val="002060"/>
                </a:solidFill>
              </a:rPr>
              <a:t> &amp;</a:t>
            </a:r>
          </a:p>
          <a:p>
            <a:pPr>
              <a:defRPr sz="3600"/>
            </a:pPr>
            <a:endParaRPr lang="en-US" dirty="0"/>
          </a:p>
          <a:p>
            <a:pPr indent="354013">
              <a:defRPr sz="3600"/>
            </a:pPr>
            <a:r>
              <a:rPr lang="ru-RU" dirty="0"/>
              <a:t>Что выведет терминал:</a:t>
            </a:r>
          </a:p>
          <a:p>
            <a:pPr indent="354013">
              <a:defRPr sz="3600"/>
            </a:pPr>
            <a:r>
              <a:rPr lang="ru-RU" dirty="0"/>
              <a:t>Система выдаст сообщение вида [1] 28450, где: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[1] — номер задания (</a:t>
            </a:r>
            <a:r>
              <a:rPr lang="ru-RU" dirty="0" err="1"/>
              <a:t>job</a:t>
            </a:r>
            <a:r>
              <a:rPr lang="ru-RU" dirty="0"/>
              <a:t> ID) внутри текущей сессии Shell (уникален только для текущего окна терминала).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28450 — общесистемный PID процесса.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6949668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DAB41-AA33-08DF-6CD7-39FF3C87B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69AB84E-156B-8297-51BB-FD2D78F2A303}"/>
              </a:ext>
            </a:extLst>
          </p:cNvPr>
          <p:cNvSpPr txBox="1"/>
          <p:nvPr/>
        </p:nvSpPr>
        <p:spPr>
          <a:xfrm>
            <a:off x="457200" y="324465"/>
            <a:ext cx="10972800" cy="6179574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ctr">
              <a:defRPr sz="3600"/>
            </a:pPr>
            <a:r>
              <a:rPr lang="ru-RU" b="1" dirty="0"/>
              <a:t>Просмотр фоновых задач: Команда </a:t>
            </a:r>
            <a:r>
              <a:rPr lang="ru-RU" b="1" dirty="0" err="1"/>
              <a:t>jobs</a:t>
            </a:r>
            <a:endParaRPr lang="ru-RU" b="1" dirty="0"/>
          </a:p>
          <a:p>
            <a:pPr indent="354013">
              <a:defRPr sz="3600"/>
            </a:pPr>
            <a:r>
              <a:rPr lang="ru-RU" dirty="0"/>
              <a:t>Используется для вывода списка всех фоновых и приостановленных задач, которые были запущены именно в текущем сеансе связи (терминале).</a:t>
            </a:r>
          </a:p>
          <a:p>
            <a:pPr indent="354013">
              <a:defRPr sz="3600"/>
            </a:pPr>
            <a:r>
              <a:rPr lang="ru-RU" dirty="0"/>
              <a:t>Синтаксис:</a:t>
            </a:r>
            <a:r>
              <a:rPr lang="en-US" dirty="0"/>
              <a:t> </a:t>
            </a:r>
            <a:r>
              <a:rPr lang="ru-RU" b="1" dirty="0" err="1">
                <a:solidFill>
                  <a:srgbClr val="002060"/>
                </a:solidFill>
              </a:rPr>
              <a:t>jobs</a:t>
            </a:r>
            <a:r>
              <a:rPr lang="ru-RU" b="1" dirty="0">
                <a:solidFill>
                  <a:srgbClr val="002060"/>
                </a:solidFill>
              </a:rPr>
              <a:t> [опции]</a:t>
            </a:r>
          </a:p>
          <a:p>
            <a:pPr>
              <a:defRPr sz="3600"/>
            </a:pPr>
            <a:r>
              <a:rPr lang="ru-RU" dirty="0"/>
              <a:t>Популярные флаги: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-l — дополнительно выводить системный PID для каждого задания.</a:t>
            </a:r>
            <a:endParaRPr lang="en-US"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endParaRPr lang="ru-RU" dirty="0"/>
          </a:p>
          <a:p>
            <a:pPr indent="354013">
              <a:defRPr sz="3600"/>
            </a:pPr>
            <a:r>
              <a:rPr lang="ru-RU" dirty="0"/>
              <a:t>Пример вывода:</a:t>
            </a:r>
          </a:p>
          <a:p>
            <a:pPr>
              <a:defRPr sz="3600"/>
            </a:pPr>
            <a:r>
              <a:rPr lang="ru-RU" dirty="0">
                <a:solidFill>
                  <a:srgbClr val="002060"/>
                </a:solidFill>
              </a:rPr>
              <a:t>[1]-  </a:t>
            </a:r>
            <a:r>
              <a:rPr lang="ru-RU" dirty="0" err="1">
                <a:solidFill>
                  <a:srgbClr val="002060"/>
                </a:solidFill>
              </a:rPr>
              <a:t>Running</a:t>
            </a:r>
            <a:r>
              <a:rPr lang="ru-RU" dirty="0">
                <a:solidFill>
                  <a:srgbClr val="002060"/>
                </a:solidFill>
              </a:rPr>
              <a:t>                 </a:t>
            </a:r>
            <a:r>
              <a:rPr lang="ru-RU" dirty="0" err="1">
                <a:solidFill>
                  <a:srgbClr val="002060"/>
                </a:solidFill>
              </a:rPr>
              <a:t>ping</a:t>
            </a:r>
            <a:r>
              <a:rPr lang="ru-RU" dirty="0">
                <a:solidFill>
                  <a:srgbClr val="002060"/>
                </a:solidFill>
              </a:rPr>
              <a:t> 8.8.8.8 &gt; /</a:t>
            </a:r>
            <a:r>
              <a:rPr lang="ru-RU" dirty="0" err="1">
                <a:solidFill>
                  <a:srgbClr val="002060"/>
                </a:solidFill>
              </a:rPr>
              <a:t>dev</a:t>
            </a:r>
            <a:r>
              <a:rPr lang="ru-RU" dirty="0">
                <a:solidFill>
                  <a:srgbClr val="002060"/>
                </a:solidFill>
              </a:rPr>
              <a:t>/</a:t>
            </a:r>
            <a:r>
              <a:rPr lang="ru-RU" dirty="0" err="1">
                <a:solidFill>
                  <a:srgbClr val="002060"/>
                </a:solidFill>
              </a:rPr>
              <a:t>null</a:t>
            </a:r>
            <a:r>
              <a:rPr lang="ru-RU" dirty="0">
                <a:solidFill>
                  <a:srgbClr val="002060"/>
                </a:solidFill>
              </a:rPr>
              <a:t> &amp;</a:t>
            </a:r>
          </a:p>
          <a:p>
            <a:pPr>
              <a:defRPr sz="3600"/>
            </a:pPr>
            <a:r>
              <a:rPr lang="ru-RU" dirty="0">
                <a:solidFill>
                  <a:srgbClr val="002060"/>
                </a:solidFill>
              </a:rPr>
              <a:t>[2]+  </a:t>
            </a:r>
            <a:r>
              <a:rPr lang="ru-RU" dirty="0" err="1">
                <a:solidFill>
                  <a:srgbClr val="002060"/>
                </a:solidFill>
              </a:rPr>
              <a:t>Stopped</a:t>
            </a:r>
            <a:r>
              <a:rPr lang="ru-RU" dirty="0">
                <a:solidFill>
                  <a:srgbClr val="002060"/>
                </a:solidFill>
              </a:rPr>
              <a:t>                 </a:t>
            </a:r>
            <a:r>
              <a:rPr lang="ru-RU" dirty="0" err="1">
                <a:solidFill>
                  <a:srgbClr val="002060"/>
                </a:solidFill>
              </a:rPr>
              <a:t>nano</a:t>
            </a:r>
            <a:r>
              <a:rPr lang="ru-RU" dirty="0">
                <a:solidFill>
                  <a:srgbClr val="002060"/>
                </a:solidFill>
              </a:rPr>
              <a:t> config.txt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Знак + показывает задачу, к которой команды </a:t>
            </a:r>
            <a:r>
              <a:rPr lang="ru-RU" dirty="0" err="1"/>
              <a:t>fg</a:t>
            </a:r>
            <a:r>
              <a:rPr lang="ru-RU" dirty="0"/>
              <a:t> или </a:t>
            </a:r>
            <a:r>
              <a:rPr lang="ru-RU" dirty="0" err="1"/>
              <a:t>bg</a:t>
            </a:r>
            <a:r>
              <a:rPr lang="ru-RU" dirty="0"/>
              <a:t> обратятся по умолчанию (последнее измененное задание).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Знак - показывает предпоследнюю задачу.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 err="1"/>
              <a:t>Running</a:t>
            </a:r>
            <a:r>
              <a:rPr lang="ru-RU" dirty="0"/>
              <a:t> / </a:t>
            </a:r>
            <a:r>
              <a:rPr lang="ru-RU" dirty="0" err="1"/>
              <a:t>Stopped</a:t>
            </a:r>
            <a:r>
              <a:rPr lang="ru-RU" dirty="0"/>
              <a:t> — текущий статус процесса в фоне.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4585497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45E9C-6AD6-91AE-7AC6-624DCEFFC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0FE234C-FB01-30BA-BCA7-9B0892ECB2BD}"/>
              </a:ext>
            </a:extLst>
          </p:cNvPr>
          <p:cNvSpPr txBox="1"/>
          <p:nvPr/>
        </p:nvSpPr>
        <p:spPr>
          <a:xfrm>
            <a:off x="457200" y="324465"/>
            <a:ext cx="10972800" cy="5802015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 algn="ctr">
              <a:defRPr sz="3600"/>
            </a:pPr>
            <a:r>
              <a:rPr lang="ru-RU" b="1" dirty="0"/>
              <a:t>Возврат на передний план: Команда </a:t>
            </a:r>
            <a:r>
              <a:rPr lang="ru-RU" b="1" dirty="0" err="1"/>
              <a:t>fg</a:t>
            </a:r>
            <a:r>
              <a:rPr lang="ru-RU" b="1" dirty="0"/>
              <a:t> (</a:t>
            </a:r>
            <a:r>
              <a:rPr lang="ru-RU" b="1" dirty="0" err="1"/>
              <a:t>Foreground</a:t>
            </a:r>
            <a:r>
              <a:rPr lang="ru-RU" b="1" dirty="0"/>
              <a:t>)</a:t>
            </a:r>
          </a:p>
          <a:p>
            <a:pPr indent="354013">
              <a:defRPr sz="3600"/>
            </a:pPr>
            <a:r>
              <a:rPr lang="ru-RU" dirty="0"/>
              <a:t>Переводит выбранное фоновое или приостановленное задание на передний план терминала (</a:t>
            </a:r>
            <a:r>
              <a:rPr lang="ru-RU" dirty="0" err="1"/>
              <a:t>foreground</a:t>
            </a:r>
            <a:r>
              <a:rPr lang="ru-RU" dirty="0"/>
              <a:t>). Процесс снова забирает фокус ввода, и вы не сможете вводить другие команды, пока он не завершится.</a:t>
            </a:r>
          </a:p>
          <a:p>
            <a:pPr indent="354013">
              <a:defRPr sz="3600"/>
            </a:pPr>
            <a:r>
              <a:rPr lang="ru-RU" dirty="0"/>
              <a:t>Синтаксис: </a:t>
            </a:r>
            <a:r>
              <a:rPr lang="ru-RU" b="1" dirty="0" err="1">
                <a:solidFill>
                  <a:srgbClr val="002060"/>
                </a:solidFill>
              </a:rPr>
              <a:t>fg</a:t>
            </a:r>
            <a:r>
              <a:rPr lang="ru-RU" b="1" dirty="0">
                <a:solidFill>
                  <a:srgbClr val="002060"/>
                </a:solidFill>
              </a:rPr>
              <a:t> [%</a:t>
            </a:r>
            <a:r>
              <a:rPr lang="ru-RU" b="1" dirty="0" err="1">
                <a:solidFill>
                  <a:srgbClr val="002060"/>
                </a:solidFill>
              </a:rPr>
              <a:t>номер_задания</a:t>
            </a:r>
            <a:r>
              <a:rPr lang="ru-RU" b="1" dirty="0">
                <a:solidFill>
                  <a:srgbClr val="002060"/>
                </a:solidFill>
              </a:rPr>
              <a:t>]</a:t>
            </a:r>
          </a:p>
          <a:p>
            <a:pPr indent="354013">
              <a:defRPr sz="3600"/>
            </a:pPr>
            <a:r>
              <a:rPr lang="ru-RU" dirty="0"/>
              <a:t>Примеры использования: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b="1" dirty="0" err="1">
                <a:solidFill>
                  <a:srgbClr val="002060"/>
                </a:solidFill>
              </a:rPr>
              <a:t>fg</a:t>
            </a:r>
            <a:r>
              <a:rPr lang="ru-RU" b="1" dirty="0">
                <a:solidFill>
                  <a:srgbClr val="002060"/>
                </a:solidFill>
              </a:rPr>
              <a:t> </a:t>
            </a:r>
            <a:r>
              <a:rPr lang="ru-RU" dirty="0"/>
              <a:t>     # Вернет на передний план задачу со знаком "+" (в примере выше — </a:t>
            </a:r>
            <a:r>
              <a:rPr lang="ru-RU" dirty="0" err="1"/>
              <a:t>nano</a:t>
            </a:r>
            <a:r>
              <a:rPr lang="ru-RU" dirty="0"/>
              <a:t>)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b="1" dirty="0" err="1">
                <a:solidFill>
                  <a:srgbClr val="002060"/>
                </a:solidFill>
              </a:rPr>
              <a:t>fg</a:t>
            </a:r>
            <a:r>
              <a:rPr lang="ru-RU" b="1" dirty="0">
                <a:solidFill>
                  <a:srgbClr val="002060"/>
                </a:solidFill>
              </a:rPr>
              <a:t> %1   </a:t>
            </a:r>
            <a:r>
              <a:rPr lang="ru-RU" dirty="0"/>
              <a:t># Принудительно вернет задачу №1 (в примере выше — </a:t>
            </a:r>
            <a:r>
              <a:rPr lang="ru-RU" dirty="0" err="1"/>
              <a:t>ping</a:t>
            </a:r>
            <a:r>
              <a:rPr lang="ru-RU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796903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910D8-68B7-8C45-25BD-D7E8F075B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8EC185-6D09-7D91-54E0-3D05B8E6390E}"/>
              </a:ext>
            </a:extLst>
          </p:cNvPr>
          <p:cNvSpPr txBox="1"/>
          <p:nvPr/>
        </p:nvSpPr>
        <p:spPr>
          <a:xfrm>
            <a:off x="457200" y="324465"/>
            <a:ext cx="10972800" cy="6356554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ctr">
              <a:defRPr sz="3600"/>
            </a:pPr>
            <a:r>
              <a:rPr lang="ru-RU" b="1" dirty="0"/>
              <a:t>Отправка запущенной задачи в фон «на ходу»: </a:t>
            </a:r>
            <a:r>
              <a:rPr lang="ru-RU" b="1" dirty="0" err="1"/>
              <a:t>Ctrl+Z</a:t>
            </a:r>
            <a:r>
              <a:rPr lang="ru-RU" b="1" dirty="0"/>
              <a:t> и </a:t>
            </a:r>
            <a:r>
              <a:rPr lang="ru-RU" b="1" dirty="0" err="1"/>
              <a:t>bg</a:t>
            </a:r>
            <a:endParaRPr lang="ru-RU" b="1" dirty="0"/>
          </a:p>
          <a:p>
            <a:pPr indent="354013">
              <a:defRPr sz="3600"/>
            </a:pPr>
            <a:r>
              <a:rPr lang="ru-RU" dirty="0"/>
              <a:t>Бывают ситуации, когда администратор запустил тяжелую утилиту (например, </a:t>
            </a:r>
            <a:r>
              <a:rPr lang="ru-RU" dirty="0" err="1"/>
              <a:t>cp</a:t>
            </a:r>
            <a:r>
              <a:rPr lang="ru-RU" dirty="0"/>
              <a:t> -r), забыл поставить &amp;, и терминал оказался заблокирован. </a:t>
            </a:r>
            <a:endParaRPr lang="en-US" dirty="0"/>
          </a:p>
          <a:p>
            <a:pPr indent="354013">
              <a:defRPr sz="3600"/>
            </a:pPr>
            <a:r>
              <a:rPr lang="ru-RU" dirty="0"/>
              <a:t>Механизм фонового контроля позволяет исправить это без прерывания работы утилиты.</a:t>
            </a:r>
          </a:p>
          <a:p>
            <a:pPr indent="354013">
              <a:defRPr sz="3600"/>
            </a:pPr>
            <a:r>
              <a:rPr lang="ru-RU" dirty="0"/>
              <a:t>Пошаговый алгоритм:</a:t>
            </a:r>
          </a:p>
          <a:p>
            <a:pPr indent="354013">
              <a:defRPr sz="3600"/>
            </a:pPr>
            <a:r>
              <a:rPr lang="ru-RU" dirty="0"/>
              <a:t>1.	Прямо во время выполнения команды нажмите комбинацию клавиш </a:t>
            </a:r>
            <a:r>
              <a:rPr lang="ru-RU" dirty="0" err="1"/>
              <a:t>Ctrl+Z</a:t>
            </a:r>
            <a:r>
              <a:rPr lang="ru-RU" dirty="0"/>
              <a:t>.</a:t>
            </a:r>
          </a:p>
          <a:p>
            <a:pPr indent="354013">
              <a:defRPr sz="3600"/>
            </a:pPr>
            <a:r>
              <a:rPr lang="ru-RU" dirty="0"/>
              <a:t>Что произойдет: Процесс мгновенно заморозится (ядро отправит ему сигнал SIGSTOP). В терминале появится статус </a:t>
            </a:r>
            <a:r>
              <a:rPr lang="ru-RU" dirty="0" err="1"/>
              <a:t>Stopped</a:t>
            </a:r>
            <a:r>
              <a:rPr lang="ru-RU" dirty="0"/>
              <a:t>, а управление вернется сисадмину. Но в этот момент процесс не работает, он «поставлен на паузу».</a:t>
            </a:r>
          </a:p>
          <a:p>
            <a:pPr indent="354013">
              <a:defRPr sz="3600"/>
            </a:pPr>
            <a:r>
              <a:rPr lang="ru-RU" dirty="0"/>
              <a:t>2.	Чтобы заставить его продолжить работу, но уже скрытно в фоновом режиме, введите команду </a:t>
            </a:r>
            <a:r>
              <a:rPr lang="ru-RU" dirty="0" err="1"/>
              <a:t>bg</a:t>
            </a:r>
            <a:r>
              <a:rPr lang="ru-RU" dirty="0"/>
              <a:t> (</a:t>
            </a:r>
            <a:r>
              <a:rPr lang="ru-RU" dirty="0" err="1"/>
              <a:t>Background</a:t>
            </a:r>
            <a:r>
              <a:rPr lang="ru-RU" dirty="0"/>
              <a:t>):</a:t>
            </a:r>
          </a:p>
          <a:p>
            <a:pPr indent="354013">
              <a:defRPr sz="3600"/>
            </a:pPr>
            <a:r>
              <a:rPr lang="ru-RU" b="1" dirty="0" err="1">
                <a:solidFill>
                  <a:srgbClr val="002060"/>
                </a:solidFill>
              </a:rPr>
              <a:t>bg</a:t>
            </a:r>
            <a:r>
              <a:rPr lang="ru-RU" b="1" dirty="0">
                <a:solidFill>
                  <a:srgbClr val="002060"/>
                </a:solidFill>
              </a:rPr>
              <a:t> [%</a:t>
            </a:r>
            <a:r>
              <a:rPr lang="ru-RU" b="1" dirty="0" err="1">
                <a:solidFill>
                  <a:srgbClr val="002060"/>
                </a:solidFill>
              </a:rPr>
              <a:t>номер_задания</a:t>
            </a:r>
            <a:r>
              <a:rPr lang="ru-RU" b="1" dirty="0">
                <a:solidFill>
                  <a:srgbClr val="002060"/>
                </a:solidFill>
              </a:rPr>
              <a:t>]</a:t>
            </a:r>
            <a:endParaRPr lang="en-US" b="1" dirty="0">
              <a:solidFill>
                <a:srgbClr val="002060"/>
              </a:solidFill>
            </a:endParaRPr>
          </a:p>
          <a:p>
            <a:pPr indent="354013">
              <a:defRPr sz="3600"/>
            </a:pPr>
            <a:r>
              <a:rPr lang="ru-RU" dirty="0"/>
              <a:t>Пример: </a:t>
            </a:r>
            <a:r>
              <a:rPr lang="ru-RU" b="1" dirty="0" err="1">
                <a:solidFill>
                  <a:srgbClr val="002060"/>
                </a:solidFill>
              </a:rPr>
              <a:t>bg</a:t>
            </a:r>
            <a:r>
              <a:rPr lang="ru-RU" b="1" dirty="0">
                <a:solidFill>
                  <a:srgbClr val="002060"/>
                </a:solidFill>
              </a:rPr>
              <a:t> %1</a:t>
            </a:r>
            <a:r>
              <a:rPr lang="ru-RU" dirty="0"/>
              <a:t> переведет замороженную задачу в статус </a:t>
            </a:r>
            <a:r>
              <a:rPr lang="ru-RU" dirty="0" err="1"/>
              <a:t>Running</a:t>
            </a:r>
            <a:r>
              <a:rPr lang="ru-RU" dirty="0"/>
              <a:t> внутри фона.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132959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EF1C8-67C8-3354-E8B6-343A56AEA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4E2A04D-F1B3-3D26-E9D0-6365D7DAB030}"/>
              </a:ext>
            </a:extLst>
          </p:cNvPr>
          <p:cNvSpPr txBox="1"/>
          <p:nvPr/>
        </p:nvSpPr>
        <p:spPr>
          <a:xfrm>
            <a:off x="457200" y="324465"/>
            <a:ext cx="10972800" cy="635655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3600"/>
            </a:pPr>
            <a:r>
              <a:rPr lang="ru-RU" b="1" dirty="0"/>
              <a:t>Шпаргалка для администратора по </a:t>
            </a:r>
            <a:r>
              <a:rPr lang="ru-RU" b="1" dirty="0" err="1"/>
              <a:t>Job</a:t>
            </a:r>
            <a:r>
              <a:rPr lang="ru-RU" b="1" dirty="0"/>
              <a:t> Control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5BB54E0-C3AD-2D58-7BD7-9176FCF9D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439" y="1211607"/>
            <a:ext cx="11277600" cy="4434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2772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A30B4-0E84-A0CD-1BAB-E3FDF07E9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99C89D-B014-4030-98AC-A70D38EA57F5}"/>
              </a:ext>
            </a:extLst>
          </p:cNvPr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Фоновые</a:t>
            </a:r>
            <a:r>
              <a:rPr dirty="0"/>
              <a:t> </a:t>
            </a:r>
            <a:r>
              <a:rPr dirty="0" err="1"/>
              <a:t>задания</a:t>
            </a:r>
            <a:r>
              <a:rPr dirty="0"/>
              <a:t> в shell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C4236C1-BE43-E04A-C1AA-3E643CC8F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64530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Сигналы процессов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Сигнал</a:t>
            </a:r>
            <a:r>
              <a:rPr dirty="0"/>
              <a:t> TERM </a:t>
            </a:r>
            <a:r>
              <a:rPr dirty="0" err="1"/>
              <a:t>просит</a:t>
            </a:r>
            <a:r>
              <a:rPr dirty="0"/>
              <a:t> </a:t>
            </a:r>
            <a:r>
              <a:rPr dirty="0" err="1"/>
              <a:t>процесс</a:t>
            </a:r>
            <a:r>
              <a:rPr dirty="0"/>
              <a:t> </a:t>
            </a:r>
            <a:r>
              <a:rPr dirty="0" err="1"/>
              <a:t>завершиться</a:t>
            </a:r>
            <a:r>
              <a:rPr dirty="0"/>
              <a:t> </a:t>
            </a:r>
            <a:r>
              <a:rPr dirty="0" err="1"/>
              <a:t>штатно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Сигнал</a:t>
            </a:r>
            <a:r>
              <a:rPr dirty="0"/>
              <a:t> KILL </a:t>
            </a:r>
            <a:r>
              <a:rPr dirty="0" err="1"/>
              <a:t>принудительно</a:t>
            </a:r>
            <a:r>
              <a:rPr dirty="0"/>
              <a:t> </a:t>
            </a:r>
            <a:r>
              <a:rPr dirty="0" err="1"/>
              <a:t>завершает</a:t>
            </a:r>
            <a:r>
              <a:rPr dirty="0"/>
              <a:t> </a:t>
            </a:r>
            <a:r>
              <a:rPr dirty="0" err="1"/>
              <a:t>процесс</a:t>
            </a:r>
            <a:r>
              <a:rPr dirty="0"/>
              <a:t> и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дает</a:t>
            </a:r>
            <a:r>
              <a:rPr dirty="0"/>
              <a:t> </a:t>
            </a:r>
            <a:r>
              <a:rPr dirty="0" err="1"/>
              <a:t>ему</a:t>
            </a:r>
            <a:r>
              <a:rPr dirty="0"/>
              <a:t> </a:t>
            </a:r>
            <a:r>
              <a:rPr dirty="0" err="1"/>
              <a:t>обработать</a:t>
            </a:r>
            <a:r>
              <a:rPr dirty="0"/>
              <a:t> </a:t>
            </a:r>
            <a:r>
              <a:rPr dirty="0" err="1"/>
              <a:t>завершение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Сначала</a:t>
            </a:r>
            <a:r>
              <a:rPr dirty="0"/>
              <a:t> </a:t>
            </a:r>
            <a:r>
              <a:rPr dirty="0" err="1"/>
              <a:t>используют</a:t>
            </a:r>
            <a:r>
              <a:rPr dirty="0"/>
              <a:t> </a:t>
            </a:r>
            <a:r>
              <a:rPr dirty="0" err="1"/>
              <a:t>обычное</a:t>
            </a:r>
            <a:r>
              <a:rPr dirty="0"/>
              <a:t> </a:t>
            </a:r>
            <a:r>
              <a:rPr dirty="0" err="1"/>
              <a:t>завершение</a:t>
            </a:r>
            <a:r>
              <a:rPr dirty="0"/>
              <a:t>, и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затем</a:t>
            </a:r>
            <a:r>
              <a:rPr dirty="0"/>
              <a:t> </a:t>
            </a:r>
            <a:r>
              <a:rPr dirty="0" err="1"/>
              <a:t>принудительное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Команда</a:t>
            </a:r>
            <a:r>
              <a:rPr dirty="0"/>
              <a:t> kill </a:t>
            </a:r>
            <a:r>
              <a:rPr dirty="0" err="1"/>
              <a:t>отправляет</a:t>
            </a:r>
            <a:r>
              <a:rPr dirty="0"/>
              <a:t> </a:t>
            </a:r>
            <a:r>
              <a:rPr dirty="0" err="1"/>
              <a:t>сигнал</a:t>
            </a:r>
            <a:r>
              <a:rPr dirty="0"/>
              <a:t> </a:t>
            </a:r>
            <a:r>
              <a:rPr dirty="0" err="1"/>
              <a:t>процессу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PID.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Типовые ошибки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Использовать</a:t>
            </a:r>
            <a:r>
              <a:rPr dirty="0"/>
              <a:t> kill -9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попытки</a:t>
            </a:r>
            <a:r>
              <a:rPr dirty="0"/>
              <a:t> </a:t>
            </a:r>
            <a:r>
              <a:rPr dirty="0" err="1"/>
              <a:t>корректного</a:t>
            </a:r>
            <a:r>
              <a:rPr dirty="0"/>
              <a:t> </a:t>
            </a:r>
            <a:r>
              <a:rPr dirty="0" err="1"/>
              <a:t>завершения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Перезаписать</a:t>
            </a:r>
            <a:r>
              <a:rPr dirty="0"/>
              <a:t> </a:t>
            </a:r>
            <a:r>
              <a:rPr dirty="0" err="1"/>
              <a:t>файл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&gt; </a:t>
            </a:r>
            <a:r>
              <a:rPr dirty="0" err="1"/>
              <a:t>вместо</a:t>
            </a:r>
            <a:r>
              <a:rPr dirty="0"/>
              <a:t> </a:t>
            </a:r>
            <a:r>
              <a:rPr dirty="0" err="1"/>
              <a:t>добавления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&gt;&gt;.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отделить</a:t>
            </a:r>
            <a:r>
              <a:rPr dirty="0"/>
              <a:t> stderr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stdout</a:t>
            </a:r>
            <a:r>
              <a:rPr dirty="0"/>
              <a:t> в </a:t>
            </a:r>
            <a:r>
              <a:rPr dirty="0" err="1"/>
              <a:t>скрипте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Построить</a:t>
            </a:r>
            <a:r>
              <a:rPr dirty="0"/>
              <a:t> </a:t>
            </a:r>
            <a:r>
              <a:rPr dirty="0" err="1"/>
              <a:t>длинный</a:t>
            </a:r>
            <a:r>
              <a:rPr dirty="0"/>
              <a:t> pipeline и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понимать</a:t>
            </a:r>
            <a:r>
              <a:rPr dirty="0"/>
              <a:t>, </a:t>
            </a:r>
            <a:r>
              <a:rPr dirty="0" err="1"/>
              <a:t>какой</a:t>
            </a:r>
            <a:r>
              <a:rPr dirty="0"/>
              <a:t> </a:t>
            </a:r>
            <a:r>
              <a:rPr dirty="0" err="1"/>
              <a:t>этап</a:t>
            </a:r>
            <a:r>
              <a:rPr dirty="0"/>
              <a:t> </a:t>
            </a:r>
            <a:r>
              <a:rPr dirty="0" err="1"/>
              <a:t>дал</a:t>
            </a:r>
            <a:r>
              <a:rPr dirty="0"/>
              <a:t> </a:t>
            </a:r>
            <a:r>
              <a:rPr dirty="0" err="1"/>
              <a:t>ошибку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Завершать</a:t>
            </a:r>
            <a:r>
              <a:rPr dirty="0"/>
              <a:t> </a:t>
            </a:r>
            <a:r>
              <a:rPr dirty="0" err="1"/>
              <a:t>процесс</a:t>
            </a:r>
            <a:r>
              <a:rPr dirty="0"/>
              <a:t> </a:t>
            </a:r>
            <a:r>
              <a:rPr dirty="0" err="1"/>
              <a:t>службы</a:t>
            </a:r>
            <a:r>
              <a:rPr dirty="0"/>
              <a:t> </a:t>
            </a:r>
            <a:r>
              <a:rPr dirty="0" err="1"/>
              <a:t>напрямую</a:t>
            </a:r>
            <a:r>
              <a:rPr dirty="0"/>
              <a:t> </a:t>
            </a:r>
            <a:r>
              <a:rPr dirty="0" err="1"/>
              <a:t>вместо</a:t>
            </a:r>
            <a:r>
              <a:rPr dirty="0"/>
              <a:t> </a:t>
            </a:r>
            <a:r>
              <a:rPr dirty="0" err="1"/>
              <a:t>systemctl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81064-74A6-C138-5A10-F3F8203F1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FBD69A-AA75-8716-A43C-750D0D65DCC1}"/>
              </a:ext>
            </a:extLst>
          </p:cNvPr>
          <p:cNvSpPr txBox="1"/>
          <p:nvPr/>
        </p:nvSpPr>
        <p:spPr>
          <a:xfrm>
            <a:off x="1555540" y="210777"/>
            <a:ext cx="8827288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dirty="0"/>
              <a:t>Алгоритм действий администратора при аварии</a:t>
            </a:r>
          </a:p>
          <a:p>
            <a:pPr algn="ctr">
              <a:defRPr sz="3200" b="1">
                <a:solidFill>
                  <a:srgbClr val="143764"/>
                </a:solidFill>
              </a:defRPr>
            </a:pP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43260E-0CDE-2314-483E-BEFC196E692D}"/>
              </a:ext>
            </a:extLst>
          </p:cNvPr>
          <p:cNvSpPr txBox="1"/>
          <p:nvPr/>
        </p:nvSpPr>
        <p:spPr>
          <a:xfrm>
            <a:off x="457200" y="914400"/>
            <a:ext cx="11430000" cy="5574890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indent="357188">
              <a:defRPr sz="3600"/>
            </a:pPr>
            <a:r>
              <a:rPr lang="ru-RU" dirty="0"/>
              <a:t>Когда сервер «тормозит», сайты не открываются, а службы выдают ошибки, администратор должен определить, какой именно процесс виновен в сбое. </a:t>
            </a:r>
          </a:p>
          <a:p>
            <a:pPr indent="357188">
              <a:defRPr sz="3600"/>
            </a:pPr>
            <a:r>
              <a:rPr lang="ru-RU" dirty="0"/>
              <a:t>Диагностика строится вокруг трех главных дефицитных ресурсов сервера: Процессор (CPU), Оперативная память (RAM) и Дисковый ввод-вывод (I/O). </a:t>
            </a:r>
          </a:p>
          <a:p>
            <a:pPr indent="357188">
              <a:defRPr sz="3600"/>
            </a:pPr>
            <a:r>
              <a:rPr lang="ru-RU" dirty="0"/>
              <a:t>Администратор действует по следующему чек-листу, связывая изученные инструменты:</a:t>
            </a:r>
          </a:p>
          <a:p>
            <a:pPr indent="357188"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Шаг 1: Оценка общей картины. </a:t>
            </a:r>
          </a:p>
          <a:p>
            <a:pPr>
              <a:defRPr sz="3600"/>
            </a:pPr>
            <a:r>
              <a:rPr lang="ru-RU" dirty="0"/>
              <a:t>Запускает </a:t>
            </a:r>
            <a:r>
              <a:rPr lang="ru-RU" dirty="0" err="1"/>
              <a:t>top</a:t>
            </a:r>
            <a:r>
              <a:rPr lang="ru-RU" dirty="0"/>
              <a:t> (или </a:t>
            </a:r>
            <a:r>
              <a:rPr lang="ru-RU" dirty="0" err="1"/>
              <a:t>htop</a:t>
            </a:r>
            <a:r>
              <a:rPr lang="ru-RU" dirty="0"/>
              <a:t>). Смотрит на </a:t>
            </a:r>
            <a:r>
              <a:rPr lang="ru-RU" dirty="0" err="1"/>
              <a:t>Load</a:t>
            </a:r>
            <a:r>
              <a:rPr lang="ru-RU" dirty="0"/>
              <a:t> </a:t>
            </a:r>
            <a:r>
              <a:rPr lang="ru-RU" dirty="0" err="1"/>
              <a:t>Average</a:t>
            </a:r>
            <a:r>
              <a:rPr lang="ru-RU" dirty="0"/>
              <a:t> и показатели памяти.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2315413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DAC77-3161-BB85-42E2-DC55B3662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DB9425A-0CF0-1EFB-DC71-88AC4DDCC046}"/>
              </a:ext>
            </a:extLst>
          </p:cNvPr>
          <p:cNvSpPr txBox="1"/>
          <p:nvPr/>
        </p:nvSpPr>
        <p:spPr>
          <a:xfrm>
            <a:off x="457200" y="294468"/>
            <a:ext cx="11430000" cy="58320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lang="ru-RU" b="1" dirty="0"/>
              <a:t>Шаг 2: Локализация виновника. </a:t>
            </a:r>
          </a:p>
          <a:p>
            <a:pPr>
              <a:defRPr sz="3600"/>
            </a:pPr>
            <a:r>
              <a:rPr lang="ru-RU" dirty="0"/>
              <a:t>Ищет в списке конкретный процесс, который забирает максимум ресурсов (%CPU или %MEM). Запоминает его числовой идентификатор — PID.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Шаг 3: Проверка деталей. </a:t>
            </a:r>
          </a:p>
          <a:p>
            <a:pPr>
              <a:defRPr sz="3600"/>
            </a:pPr>
            <a:r>
              <a:rPr lang="ru-RU" dirty="0"/>
              <a:t>Если имя процесса обрезано, запускает </a:t>
            </a:r>
            <a:r>
              <a:rPr lang="ru-RU" dirty="0" err="1"/>
              <a:t>ps</a:t>
            </a:r>
            <a:r>
              <a:rPr lang="ru-RU" dirty="0"/>
              <a:t> -</a:t>
            </a:r>
            <a:r>
              <a:rPr lang="ru-RU" dirty="0" err="1"/>
              <a:t>fp</a:t>
            </a:r>
            <a:r>
              <a:rPr lang="ru-RU" dirty="0"/>
              <a:t> [PID], чтобы увидеть, какой именно скрипт или команда сгенерировали этот процесс.</a:t>
            </a:r>
          </a:p>
        </p:txBody>
      </p:sp>
    </p:spTree>
    <p:extLst>
      <p:ext uri="{BB962C8B-B14F-4D97-AF65-F5344CB8AC3E}">
        <p14:creationId xmlns:p14="http://schemas.microsoft.com/office/powerpoint/2010/main" val="329416658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2AEB4-BAB6-BFDA-8B9C-52D56F36D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22A162-CB11-30BD-F414-D5A9B33FD5E8}"/>
              </a:ext>
            </a:extLst>
          </p:cNvPr>
          <p:cNvSpPr txBox="1"/>
          <p:nvPr/>
        </p:nvSpPr>
        <p:spPr>
          <a:xfrm>
            <a:off x="457200" y="480447"/>
            <a:ext cx="11430000" cy="6075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Шаг 4: Попытка мягкого решения. </a:t>
            </a:r>
          </a:p>
          <a:p>
            <a:pPr>
              <a:defRPr sz="3600"/>
            </a:pPr>
            <a:r>
              <a:rPr lang="ru-RU" dirty="0"/>
              <a:t>Отправляет процессу штатный сигнал на завершение: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 err="1">
                <a:solidFill>
                  <a:srgbClr val="002060"/>
                </a:solidFill>
              </a:rPr>
              <a:t>sudo</a:t>
            </a:r>
            <a:r>
              <a:rPr lang="ru-RU" b="1" dirty="0">
                <a:solidFill>
                  <a:srgbClr val="002060"/>
                </a:solidFill>
              </a:rPr>
              <a:t> </a:t>
            </a:r>
            <a:r>
              <a:rPr lang="ru-RU" b="1" dirty="0" err="1">
                <a:solidFill>
                  <a:srgbClr val="002060"/>
                </a:solidFill>
              </a:rPr>
              <a:t>kill</a:t>
            </a:r>
            <a:r>
              <a:rPr lang="ru-RU" b="1" dirty="0">
                <a:solidFill>
                  <a:srgbClr val="002060"/>
                </a:solidFill>
              </a:rPr>
              <a:t> -15 [PID]  # (Отправка SIGTERM)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Это позволяет программе корректно закрыть файлы, разорвать сетевые соединения и не повредить базу данных.</a:t>
            </a:r>
          </a:p>
        </p:txBody>
      </p:sp>
    </p:spTree>
    <p:extLst>
      <p:ext uri="{BB962C8B-B14F-4D97-AF65-F5344CB8AC3E}">
        <p14:creationId xmlns:p14="http://schemas.microsoft.com/office/powerpoint/2010/main" val="182447803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929D3-C323-2B22-F48A-E2710FE03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6185886-E727-644D-0668-373F1FE96FEB}"/>
              </a:ext>
            </a:extLst>
          </p:cNvPr>
          <p:cNvSpPr txBox="1"/>
          <p:nvPr/>
        </p:nvSpPr>
        <p:spPr>
          <a:xfrm>
            <a:off x="457200" y="368710"/>
            <a:ext cx="11430000" cy="5757770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>
              <a:defRPr sz="3600"/>
            </a:pPr>
            <a:r>
              <a:rPr lang="ru-RU" b="1" dirty="0"/>
              <a:t>Шаг 5: Жесткое решение (если шаг 4 не помог). </a:t>
            </a:r>
          </a:p>
          <a:p>
            <a:pPr>
              <a:defRPr sz="3600"/>
            </a:pPr>
            <a:r>
              <a:rPr lang="ru-RU" dirty="0"/>
              <a:t>Если процесс завис намертво и не реагирует на SIGTERM, применяется принудительное уничтожение: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 err="1">
                <a:solidFill>
                  <a:srgbClr val="002060"/>
                </a:solidFill>
              </a:rPr>
              <a:t>sudo</a:t>
            </a:r>
            <a:r>
              <a:rPr lang="ru-RU" b="1" dirty="0">
                <a:solidFill>
                  <a:srgbClr val="002060"/>
                </a:solidFill>
              </a:rPr>
              <a:t> </a:t>
            </a:r>
            <a:r>
              <a:rPr lang="ru-RU" b="1" dirty="0" err="1">
                <a:solidFill>
                  <a:srgbClr val="002060"/>
                </a:solidFill>
              </a:rPr>
              <a:t>kill</a:t>
            </a:r>
            <a:r>
              <a:rPr lang="ru-RU" b="1" dirty="0">
                <a:solidFill>
                  <a:srgbClr val="002060"/>
                </a:solidFill>
              </a:rPr>
              <a:t> -9 [PID]   # (Отправка SIGKILL)</a:t>
            </a:r>
          </a:p>
          <a:p>
            <a:pPr>
              <a:defRPr sz="3600"/>
            </a:pPr>
            <a:r>
              <a:rPr lang="ru-RU" dirty="0"/>
              <a:t>Ядро Linux мгновенно выкидывает процесс из оперативной памяти, освобождая ресурсы сервера.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Шаг 6: Финальная проверка. </a:t>
            </a:r>
          </a:p>
          <a:p>
            <a:pPr>
              <a:defRPr sz="3600"/>
            </a:pPr>
            <a:r>
              <a:rPr lang="ru-RU" dirty="0"/>
              <a:t>Повторно запускается </a:t>
            </a:r>
            <a:r>
              <a:rPr lang="ru-RU" dirty="0" err="1"/>
              <a:t>top</a:t>
            </a:r>
            <a:r>
              <a:rPr lang="ru-RU" dirty="0"/>
              <a:t> или </a:t>
            </a:r>
            <a:r>
              <a:rPr lang="ru-RU" dirty="0" err="1"/>
              <a:t>ps</a:t>
            </a:r>
            <a:r>
              <a:rPr lang="ru-RU" dirty="0"/>
              <a:t>, чтобы убедиться, что нагрузка на сервер упала, а служба (если это был дочерний процесс) успешно перезапустилась</a:t>
            </a:r>
          </a:p>
        </p:txBody>
      </p:sp>
    </p:spTree>
    <p:extLst>
      <p:ext uri="{BB962C8B-B14F-4D97-AF65-F5344CB8AC3E}">
        <p14:creationId xmlns:p14="http://schemas.microsoft.com/office/powerpoint/2010/main" val="234009518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Итоги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Команды</a:t>
            </a:r>
            <a:r>
              <a:rPr dirty="0"/>
              <a:t> Linux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понимать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объект</a:t>
            </a:r>
            <a:r>
              <a:rPr dirty="0"/>
              <a:t>, с </a:t>
            </a:r>
            <a:r>
              <a:rPr dirty="0" err="1"/>
              <a:t>которым</a:t>
            </a:r>
            <a:r>
              <a:rPr dirty="0"/>
              <a:t> </a:t>
            </a:r>
            <a:r>
              <a:rPr dirty="0" err="1"/>
              <a:t>они</a:t>
            </a:r>
            <a:r>
              <a:rPr dirty="0"/>
              <a:t> </a:t>
            </a:r>
            <a:r>
              <a:rPr dirty="0" err="1"/>
              <a:t>работают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Любое</a:t>
            </a:r>
            <a:r>
              <a:rPr dirty="0"/>
              <a:t> </a:t>
            </a:r>
            <a:r>
              <a:rPr dirty="0" err="1"/>
              <a:t>изменение</a:t>
            </a:r>
            <a:r>
              <a:rPr dirty="0"/>
              <a:t> </a:t>
            </a:r>
            <a:r>
              <a:rPr dirty="0" err="1"/>
              <a:t>системы</a:t>
            </a:r>
            <a:r>
              <a:rPr dirty="0"/>
              <a:t> </a:t>
            </a:r>
            <a:r>
              <a:rPr dirty="0" err="1"/>
              <a:t>завершается</a:t>
            </a:r>
            <a:r>
              <a:rPr dirty="0"/>
              <a:t> </a:t>
            </a:r>
            <a:r>
              <a:rPr dirty="0" err="1"/>
              <a:t>проверкой</a:t>
            </a:r>
            <a:r>
              <a:rPr dirty="0"/>
              <a:t> </a:t>
            </a:r>
            <a:r>
              <a:rPr dirty="0" err="1"/>
              <a:t>результата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Опасные</a:t>
            </a:r>
            <a:r>
              <a:rPr dirty="0"/>
              <a:t> </a:t>
            </a:r>
            <a:r>
              <a:rPr dirty="0" err="1"/>
              <a:t>команды</a:t>
            </a:r>
            <a:r>
              <a:rPr dirty="0"/>
              <a:t> </a:t>
            </a:r>
            <a:r>
              <a:rPr dirty="0" err="1"/>
              <a:t>требуют</a:t>
            </a:r>
            <a:r>
              <a:rPr dirty="0"/>
              <a:t> </a:t>
            </a:r>
            <a:r>
              <a:rPr dirty="0" err="1"/>
              <a:t>предварительной</a:t>
            </a:r>
            <a:r>
              <a:rPr dirty="0"/>
              <a:t> </a:t>
            </a:r>
            <a:r>
              <a:rPr dirty="0" err="1"/>
              <a:t>проверки</a:t>
            </a:r>
            <a:r>
              <a:rPr dirty="0"/>
              <a:t> </a:t>
            </a:r>
            <a:r>
              <a:rPr dirty="0" err="1"/>
              <a:t>пути</a:t>
            </a:r>
            <a:r>
              <a:rPr dirty="0"/>
              <a:t>, </a:t>
            </a:r>
            <a:r>
              <a:rPr dirty="0" err="1"/>
              <a:t>прав</a:t>
            </a:r>
            <a:r>
              <a:rPr dirty="0"/>
              <a:t> и </a:t>
            </a:r>
            <a:r>
              <a:rPr dirty="0" err="1"/>
              <a:t>текущего</a:t>
            </a:r>
            <a:r>
              <a:rPr dirty="0"/>
              <a:t> </a:t>
            </a:r>
            <a:r>
              <a:rPr dirty="0" err="1"/>
              <a:t>пользователя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Отчет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лабораторной</a:t>
            </a:r>
            <a:r>
              <a:rPr dirty="0"/>
              <a:t> </a:t>
            </a:r>
            <a:r>
              <a:rPr dirty="0" err="1"/>
              <a:t>должен</a:t>
            </a:r>
            <a:r>
              <a:rPr dirty="0"/>
              <a:t> </a:t>
            </a:r>
            <a:r>
              <a:rPr dirty="0" err="1"/>
              <a:t>содержать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команды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и </a:t>
            </a:r>
            <a:r>
              <a:rPr dirty="0" err="1"/>
              <a:t>выводы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результатам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Чем</a:t>
            </a:r>
            <a:r>
              <a:rPr dirty="0"/>
              <a:t> </a:t>
            </a:r>
            <a:r>
              <a:rPr dirty="0" err="1"/>
              <a:t>процесс</a:t>
            </a:r>
            <a:r>
              <a:rPr dirty="0"/>
              <a:t> </a:t>
            </a:r>
            <a:r>
              <a:rPr dirty="0" err="1"/>
              <a:t>отличается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программы</a:t>
            </a:r>
            <a:r>
              <a:rPr dirty="0"/>
              <a:t>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такое</a:t>
            </a:r>
            <a:r>
              <a:rPr dirty="0"/>
              <a:t> PID и PPID?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Чем</a:t>
            </a:r>
            <a:r>
              <a:rPr dirty="0"/>
              <a:t> SIGTERM </a:t>
            </a:r>
            <a:r>
              <a:rPr dirty="0" err="1"/>
              <a:t>отличается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SIGKILL?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чего</a:t>
            </a:r>
            <a:r>
              <a:rPr dirty="0"/>
              <a:t> </a:t>
            </a:r>
            <a:r>
              <a:rPr dirty="0" err="1"/>
              <a:t>нужны</a:t>
            </a:r>
            <a:r>
              <a:rPr dirty="0"/>
              <a:t> </a:t>
            </a:r>
            <a:r>
              <a:rPr dirty="0" err="1"/>
              <a:t>stdout</a:t>
            </a:r>
            <a:r>
              <a:rPr dirty="0"/>
              <a:t> и stderr?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работает</a:t>
            </a:r>
            <a:r>
              <a:rPr dirty="0"/>
              <a:t> pipeline?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3047</Words>
  <Application>Microsoft Office PowerPoint</Application>
  <PresentationFormat>Широкоэкранный</PresentationFormat>
  <Paragraphs>289</Paragraphs>
  <Slides>50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7</cp:revision>
  <dcterms:created xsi:type="dcterms:W3CDTF">2013-01-27T09:14:16Z</dcterms:created>
  <dcterms:modified xsi:type="dcterms:W3CDTF">2026-07-05T04:48:15Z</dcterms:modified>
  <cp:category/>
</cp:coreProperties>
</file>