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310" r:id="rId23"/>
    <p:sldId id="311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32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16" r:id="rId49"/>
    <p:sldId id="313" r:id="rId50"/>
    <p:sldId id="319" r:id="rId51"/>
    <p:sldId id="314" r:id="rId52"/>
    <p:sldId id="317" r:id="rId53"/>
    <p:sldId id="318" r:id="rId54"/>
    <p:sldId id="312" r:id="rId55"/>
    <p:sldId id="301" r:id="rId56"/>
    <p:sldId id="302" r:id="rId57"/>
    <p:sldId id="303" r:id="rId58"/>
    <p:sldId id="304" r:id="rId59"/>
    <p:sldId id="305" r:id="rId60"/>
    <p:sldId id="306" r:id="rId61"/>
    <p:sldId id="307" r:id="rId62"/>
    <p:sldId id="308" r:id="rId63"/>
    <p:sldId id="309" r:id="rId6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278892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Лекция</a:t>
            </a:r>
            <a:r>
              <a:rPr dirty="0"/>
              <a:t> 9. </a:t>
            </a:r>
            <a:r>
              <a:rPr dirty="0" err="1"/>
              <a:t>Сеть</a:t>
            </a:r>
            <a:r>
              <a:rPr dirty="0"/>
              <a:t> Linux, SSH и </a:t>
            </a:r>
            <a:r>
              <a:rPr dirty="0" err="1"/>
              <a:t>базовый</a:t>
            </a:r>
            <a:r>
              <a:rPr dirty="0"/>
              <a:t> firewall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339212"/>
            <a:ext cx="10972800" cy="192318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sz="3200" b="1" dirty="0">
                <a:solidFill>
                  <a:srgbClr val="143764"/>
                </a:solidFill>
              </a:rPr>
              <a:t>РО 1.3. Базовое </a:t>
            </a:r>
            <a:r>
              <a:rPr sz="3200" b="1" dirty="0" err="1">
                <a:solidFill>
                  <a:srgbClr val="143764"/>
                </a:solidFill>
              </a:rPr>
              <a:t>администрирование</a:t>
            </a:r>
            <a:r>
              <a:rPr sz="3200" b="1" dirty="0">
                <a:solidFill>
                  <a:srgbClr val="143764"/>
                </a:solidFill>
              </a:rPr>
              <a:t> Linux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Понять</a:t>
            </a:r>
            <a:r>
              <a:rPr dirty="0"/>
              <a:t>,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сетевые</a:t>
            </a:r>
            <a:r>
              <a:rPr dirty="0"/>
              <a:t> </a:t>
            </a:r>
            <a:r>
              <a:rPr dirty="0" err="1"/>
              <a:t>параметры</a:t>
            </a:r>
            <a:r>
              <a:rPr dirty="0"/>
              <a:t> </a:t>
            </a:r>
            <a:r>
              <a:rPr dirty="0" err="1"/>
              <a:t>нужны</a:t>
            </a:r>
            <a:r>
              <a:rPr dirty="0"/>
              <a:t> Linux-</a:t>
            </a:r>
            <a:r>
              <a:rPr dirty="0" err="1"/>
              <a:t>серверу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в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Научиться</a:t>
            </a:r>
            <a:r>
              <a:rPr dirty="0"/>
              <a:t> </a:t>
            </a:r>
            <a:r>
              <a:rPr dirty="0" err="1"/>
              <a:t>проверять</a:t>
            </a:r>
            <a:r>
              <a:rPr dirty="0"/>
              <a:t> </a:t>
            </a:r>
            <a:r>
              <a:rPr dirty="0" err="1"/>
              <a:t>интерфейсы</a:t>
            </a:r>
            <a:r>
              <a:rPr dirty="0"/>
              <a:t>, IP-</a:t>
            </a:r>
            <a:r>
              <a:rPr dirty="0" err="1"/>
              <a:t>адреса</a:t>
            </a:r>
            <a:r>
              <a:rPr dirty="0"/>
              <a:t>, </a:t>
            </a:r>
            <a:r>
              <a:rPr dirty="0" err="1"/>
              <a:t>маршруты</a:t>
            </a:r>
            <a:r>
              <a:rPr dirty="0"/>
              <a:t> и DNS.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Научиться</a:t>
            </a:r>
            <a:r>
              <a:rPr dirty="0"/>
              <a:t> </a:t>
            </a:r>
            <a:r>
              <a:rPr dirty="0" err="1"/>
              <a:t>объяснять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 SSH, SSH-</a:t>
            </a:r>
            <a:r>
              <a:rPr dirty="0" err="1"/>
              <a:t>ключей</a:t>
            </a:r>
            <a:r>
              <a:rPr dirty="0"/>
              <a:t> и </a:t>
            </a:r>
            <a:r>
              <a:rPr dirty="0" err="1"/>
              <a:t>базовой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dirty="0"/>
              <a:t> </a:t>
            </a:r>
            <a:r>
              <a:rPr dirty="0" err="1"/>
              <a:t>sshd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Научиться</a:t>
            </a:r>
            <a:r>
              <a:rPr dirty="0"/>
              <a:t> </a:t>
            </a:r>
            <a:r>
              <a:rPr dirty="0" err="1"/>
              <a:t>включать</a:t>
            </a:r>
            <a:r>
              <a:rPr dirty="0"/>
              <a:t> firewall </a:t>
            </a:r>
            <a:r>
              <a:rPr dirty="0" err="1"/>
              <a:t>так</a:t>
            </a:r>
            <a:r>
              <a:rPr dirty="0"/>
              <a:t>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потерять</a:t>
            </a:r>
            <a:r>
              <a:rPr dirty="0"/>
              <a:t> </a:t>
            </a:r>
            <a:r>
              <a:rPr dirty="0" err="1"/>
              <a:t>удаленный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Список учебных вопросов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3600"/>
            </a:pPr>
            <a:r>
              <a:rPr sz="3000" dirty="0"/>
              <a:t>1. </a:t>
            </a:r>
            <a:r>
              <a:rPr sz="3000" dirty="0" err="1"/>
              <a:t>Сетевые</a:t>
            </a:r>
            <a:r>
              <a:rPr sz="3000" dirty="0"/>
              <a:t> </a:t>
            </a:r>
            <a:r>
              <a:rPr sz="3000" dirty="0" err="1"/>
              <a:t>параметры</a:t>
            </a:r>
            <a:r>
              <a:rPr sz="3000" dirty="0"/>
              <a:t> </a:t>
            </a:r>
            <a:r>
              <a:rPr sz="2800" dirty="0"/>
              <a:t>Linux: IP-</a:t>
            </a:r>
            <a:r>
              <a:rPr sz="2800" dirty="0" err="1"/>
              <a:t>адрес</a:t>
            </a:r>
            <a:r>
              <a:rPr sz="2800" dirty="0"/>
              <a:t>, mask/prefix, gateway, DNS, hostname.</a:t>
            </a:r>
          </a:p>
          <a:p>
            <a:pPr>
              <a:defRPr sz="3600"/>
            </a:pPr>
            <a:r>
              <a:rPr sz="2800" dirty="0"/>
              <a:t>2. </a:t>
            </a:r>
            <a:r>
              <a:rPr sz="2800" dirty="0" err="1"/>
              <a:t>Просмотр</a:t>
            </a:r>
            <a:r>
              <a:rPr sz="2800" dirty="0"/>
              <a:t> </a:t>
            </a:r>
            <a:r>
              <a:rPr sz="2800" dirty="0" err="1"/>
              <a:t>сетевых</a:t>
            </a:r>
            <a:r>
              <a:rPr sz="2800" dirty="0"/>
              <a:t> </a:t>
            </a:r>
            <a:r>
              <a:rPr sz="2800" dirty="0" err="1"/>
              <a:t>интерфейсов</a:t>
            </a:r>
            <a:r>
              <a:rPr sz="2800" dirty="0"/>
              <a:t>: </a:t>
            </a:r>
            <a:r>
              <a:rPr sz="2800" dirty="0" err="1"/>
              <a:t>ip</a:t>
            </a:r>
            <a:r>
              <a:rPr sz="2800" dirty="0"/>
              <a:t> </a:t>
            </a:r>
            <a:r>
              <a:rPr sz="2800" dirty="0" err="1"/>
              <a:t>addr</a:t>
            </a:r>
            <a:r>
              <a:rPr sz="2800" dirty="0"/>
              <a:t>, </a:t>
            </a:r>
            <a:r>
              <a:rPr sz="2800" dirty="0" err="1"/>
              <a:t>ip</a:t>
            </a:r>
            <a:r>
              <a:rPr sz="2800" dirty="0"/>
              <a:t> link.</a:t>
            </a:r>
          </a:p>
          <a:p>
            <a:pPr>
              <a:defRPr sz="3600"/>
            </a:pPr>
            <a:r>
              <a:rPr sz="2800" dirty="0"/>
              <a:t>3. </a:t>
            </a:r>
            <a:r>
              <a:rPr sz="2800" dirty="0" err="1"/>
              <a:t>Проверка</a:t>
            </a:r>
            <a:r>
              <a:rPr sz="2800" dirty="0"/>
              <a:t> </a:t>
            </a:r>
            <a:r>
              <a:rPr sz="2800" dirty="0" err="1"/>
              <a:t>маршрутов</a:t>
            </a:r>
            <a:r>
              <a:rPr sz="2800" dirty="0"/>
              <a:t>: </a:t>
            </a:r>
            <a:r>
              <a:rPr sz="2800" dirty="0" err="1"/>
              <a:t>ip</a:t>
            </a:r>
            <a:r>
              <a:rPr sz="2800" dirty="0"/>
              <a:t> route.</a:t>
            </a:r>
          </a:p>
          <a:p>
            <a:pPr>
              <a:defRPr sz="3600"/>
            </a:pPr>
            <a:r>
              <a:rPr sz="2800" dirty="0"/>
              <a:t>4. </a:t>
            </a:r>
            <a:r>
              <a:rPr sz="2800" dirty="0" err="1"/>
              <a:t>Проверка</a:t>
            </a:r>
            <a:r>
              <a:rPr sz="2800" dirty="0"/>
              <a:t> DNS: /</a:t>
            </a:r>
            <a:r>
              <a:rPr sz="2800" dirty="0" err="1"/>
              <a:t>etc</a:t>
            </a:r>
            <a:r>
              <a:rPr sz="2800" dirty="0"/>
              <a:t>/</a:t>
            </a:r>
            <a:r>
              <a:rPr sz="2800" dirty="0" err="1"/>
              <a:t>resolv.conf</a:t>
            </a:r>
            <a:r>
              <a:rPr sz="2800" dirty="0"/>
              <a:t>, </a:t>
            </a:r>
            <a:r>
              <a:rPr sz="2800" dirty="0" err="1"/>
              <a:t>resolvectl</a:t>
            </a:r>
            <a:r>
              <a:rPr sz="2800" dirty="0"/>
              <a:t>, dig/</a:t>
            </a:r>
            <a:r>
              <a:rPr sz="2800" dirty="0" err="1"/>
              <a:t>nslookup</a:t>
            </a:r>
            <a:r>
              <a:rPr sz="2800" dirty="0"/>
              <a:t> </a:t>
            </a:r>
            <a:r>
              <a:rPr sz="2800" dirty="0" err="1"/>
              <a:t>на</a:t>
            </a:r>
            <a:r>
              <a:rPr sz="2800" dirty="0"/>
              <a:t> </a:t>
            </a:r>
            <a:r>
              <a:rPr sz="2800" dirty="0" err="1"/>
              <a:t>уровне</a:t>
            </a:r>
            <a:r>
              <a:rPr sz="2800" dirty="0"/>
              <a:t> </a:t>
            </a:r>
            <a:r>
              <a:rPr sz="2800" dirty="0" err="1"/>
              <a:t>назначения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5. </a:t>
            </a:r>
            <a:r>
              <a:rPr sz="2800" dirty="0" err="1"/>
              <a:t>Настройка</a:t>
            </a:r>
            <a:r>
              <a:rPr sz="2800" dirty="0"/>
              <a:t> hostname </a:t>
            </a:r>
            <a:r>
              <a:rPr sz="2800" dirty="0" err="1"/>
              <a:t>через</a:t>
            </a:r>
            <a:r>
              <a:rPr sz="2800" dirty="0"/>
              <a:t> </a:t>
            </a:r>
            <a:r>
              <a:rPr sz="2800" dirty="0" err="1"/>
              <a:t>hostnamectl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6. SSH: </a:t>
            </a:r>
            <a:r>
              <a:rPr sz="2800" dirty="0" err="1"/>
              <a:t>назначение</a:t>
            </a:r>
            <a:r>
              <a:rPr sz="2800" dirty="0"/>
              <a:t>, </a:t>
            </a:r>
            <a:r>
              <a:rPr sz="2800" dirty="0" err="1"/>
              <a:t>клиент</a:t>
            </a:r>
            <a:r>
              <a:rPr sz="2800" dirty="0"/>
              <a:t>, </a:t>
            </a:r>
            <a:r>
              <a:rPr sz="2800" dirty="0" err="1"/>
              <a:t>сервер</a:t>
            </a:r>
            <a:r>
              <a:rPr sz="2800" dirty="0"/>
              <a:t>, </a:t>
            </a:r>
            <a:r>
              <a:rPr sz="2800" dirty="0" err="1"/>
              <a:t>порт</a:t>
            </a:r>
            <a:r>
              <a:rPr sz="2800" dirty="0"/>
              <a:t> 22.</a:t>
            </a:r>
          </a:p>
          <a:p>
            <a:pPr>
              <a:defRPr sz="3600"/>
            </a:pPr>
            <a:r>
              <a:rPr sz="2800" dirty="0"/>
              <a:t>7. SSH-</a:t>
            </a:r>
            <a:r>
              <a:rPr sz="2800" dirty="0" err="1"/>
              <a:t>ключи</a:t>
            </a:r>
            <a:r>
              <a:rPr sz="2800" dirty="0"/>
              <a:t>: </a:t>
            </a:r>
            <a:r>
              <a:rPr sz="2800" dirty="0" err="1"/>
              <a:t>назначение</a:t>
            </a:r>
            <a:r>
              <a:rPr sz="2800" dirty="0"/>
              <a:t> </a:t>
            </a:r>
            <a:r>
              <a:rPr sz="2800" dirty="0" err="1"/>
              <a:t>открытого</a:t>
            </a:r>
            <a:r>
              <a:rPr sz="2800" dirty="0"/>
              <a:t> и </a:t>
            </a:r>
            <a:r>
              <a:rPr sz="2800" dirty="0" err="1"/>
              <a:t>закрытого</a:t>
            </a:r>
            <a:r>
              <a:rPr sz="2800" dirty="0"/>
              <a:t> </a:t>
            </a:r>
            <a:r>
              <a:rPr sz="2800" dirty="0" err="1"/>
              <a:t>ключа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8. </a:t>
            </a:r>
            <a:r>
              <a:rPr sz="2800" dirty="0" err="1"/>
              <a:t>Базовая</a:t>
            </a:r>
            <a:r>
              <a:rPr sz="2800" dirty="0"/>
              <a:t> </a:t>
            </a:r>
            <a:r>
              <a:rPr sz="2800" dirty="0" err="1"/>
              <a:t>настройка</a:t>
            </a:r>
            <a:r>
              <a:rPr sz="2800" dirty="0"/>
              <a:t> </a:t>
            </a:r>
            <a:r>
              <a:rPr sz="2800" dirty="0" err="1"/>
              <a:t>sshd_config</a:t>
            </a:r>
            <a:r>
              <a:rPr sz="2800" dirty="0"/>
              <a:t>: </a:t>
            </a:r>
            <a:r>
              <a:rPr sz="2800" dirty="0" err="1"/>
              <a:t>парольный</a:t>
            </a:r>
            <a:r>
              <a:rPr sz="2800" dirty="0"/>
              <a:t> </a:t>
            </a:r>
            <a:r>
              <a:rPr sz="2800" dirty="0" err="1"/>
              <a:t>вход</a:t>
            </a:r>
            <a:r>
              <a:rPr sz="2800" dirty="0"/>
              <a:t>, root login, </a:t>
            </a:r>
            <a:r>
              <a:rPr sz="2800" dirty="0" err="1"/>
              <a:t>доступ</a:t>
            </a:r>
            <a:r>
              <a:rPr sz="2800" dirty="0"/>
              <a:t> </a:t>
            </a:r>
            <a:r>
              <a:rPr sz="2800" dirty="0" err="1"/>
              <a:t>по</a:t>
            </a:r>
            <a:r>
              <a:rPr sz="2800" dirty="0"/>
              <a:t> </a:t>
            </a:r>
            <a:r>
              <a:rPr sz="2800" dirty="0" err="1"/>
              <a:t>ключу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9. </a:t>
            </a:r>
            <a:r>
              <a:rPr sz="2800" dirty="0" err="1"/>
              <a:t>Базовый</a:t>
            </a:r>
            <a:r>
              <a:rPr sz="2800" dirty="0"/>
              <a:t> firewall </a:t>
            </a:r>
            <a:r>
              <a:rPr sz="2800" dirty="0" err="1"/>
              <a:t>через</a:t>
            </a:r>
            <a:r>
              <a:rPr sz="2800" dirty="0"/>
              <a:t> </a:t>
            </a:r>
            <a:r>
              <a:rPr sz="2800" dirty="0" err="1"/>
              <a:t>ufw</a:t>
            </a:r>
            <a:r>
              <a:rPr sz="2800" dirty="0"/>
              <a:t>: </a:t>
            </a:r>
            <a:r>
              <a:rPr sz="2800" dirty="0" err="1"/>
              <a:t>разрешение</a:t>
            </a:r>
            <a:r>
              <a:rPr sz="2800" dirty="0"/>
              <a:t> SSH/HTTP и </a:t>
            </a:r>
            <a:r>
              <a:rPr sz="2800" dirty="0" err="1"/>
              <a:t>ограничение</a:t>
            </a:r>
            <a:r>
              <a:rPr sz="2800" dirty="0"/>
              <a:t> </a:t>
            </a:r>
            <a:r>
              <a:rPr sz="2800" dirty="0" err="1"/>
              <a:t>доступа</a:t>
            </a:r>
            <a:r>
              <a:rPr sz="2800" dirty="0"/>
              <a:t> </a:t>
            </a:r>
            <a:r>
              <a:rPr sz="2800" dirty="0" err="1"/>
              <a:t>по</a:t>
            </a:r>
            <a:r>
              <a:rPr sz="2800" dirty="0"/>
              <a:t> </a:t>
            </a:r>
            <a:r>
              <a:rPr sz="2800" dirty="0" err="1"/>
              <a:t>сети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Сетевые параметры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Linux-</a:t>
            </a:r>
            <a:r>
              <a:rPr dirty="0" err="1"/>
              <a:t>серверу</a:t>
            </a:r>
            <a:r>
              <a:rPr dirty="0"/>
              <a:t> </a:t>
            </a:r>
            <a:r>
              <a:rPr dirty="0" err="1"/>
              <a:t>нужны</a:t>
            </a:r>
            <a:r>
              <a:rPr dirty="0"/>
              <a:t> </a:t>
            </a:r>
            <a:r>
              <a:rPr dirty="0" err="1"/>
              <a:t>базовые</a:t>
            </a:r>
            <a:r>
              <a:rPr dirty="0"/>
              <a:t> </a:t>
            </a:r>
            <a:r>
              <a:rPr dirty="0" err="1"/>
              <a:t>сетевые</a:t>
            </a:r>
            <a:r>
              <a:rPr dirty="0"/>
              <a:t> </a:t>
            </a:r>
            <a:r>
              <a:rPr dirty="0" err="1"/>
              <a:t>параметры</a:t>
            </a:r>
            <a:r>
              <a:rPr dirty="0"/>
              <a:t>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доступным</a:t>
            </a:r>
            <a:r>
              <a:rPr dirty="0"/>
              <a:t> в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IP-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определяет</a:t>
            </a:r>
            <a:r>
              <a:rPr dirty="0"/>
              <a:t> </a:t>
            </a:r>
            <a:r>
              <a:rPr dirty="0" err="1"/>
              <a:t>сам</a:t>
            </a:r>
            <a:r>
              <a:rPr dirty="0"/>
              <a:t> </a:t>
            </a:r>
            <a:r>
              <a:rPr dirty="0" err="1"/>
              <a:t>узел</a:t>
            </a:r>
            <a:r>
              <a:rPr dirty="0"/>
              <a:t> в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Маска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prefix </a:t>
            </a:r>
            <a:r>
              <a:rPr dirty="0" err="1"/>
              <a:t>определяет</a:t>
            </a:r>
            <a:r>
              <a:rPr dirty="0"/>
              <a:t> </a:t>
            </a:r>
            <a:r>
              <a:rPr dirty="0" err="1"/>
              <a:t>границы</a:t>
            </a:r>
            <a:r>
              <a:rPr dirty="0"/>
              <a:t> </a:t>
            </a:r>
            <a:r>
              <a:rPr dirty="0" err="1"/>
              <a:t>локальной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Gateway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шлюз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умолчанию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выхода</a:t>
            </a:r>
            <a:r>
              <a:rPr dirty="0"/>
              <a:t> в </a:t>
            </a:r>
            <a:r>
              <a:rPr dirty="0" err="1"/>
              <a:t>другие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DNS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преобразования</a:t>
            </a:r>
            <a:r>
              <a:rPr dirty="0"/>
              <a:t> </a:t>
            </a:r>
            <a:r>
              <a:rPr dirty="0" err="1"/>
              <a:t>имен</a:t>
            </a:r>
            <a:r>
              <a:rPr dirty="0"/>
              <a:t> в IP-</a:t>
            </a:r>
            <a:r>
              <a:rPr dirty="0" err="1"/>
              <a:t>адреса</a:t>
            </a:r>
            <a:r>
              <a:rPr dirty="0"/>
              <a:t>, hostname -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</a:t>
            </a:r>
            <a:r>
              <a:rPr dirty="0" err="1"/>
              <a:t>самого</a:t>
            </a:r>
            <a:r>
              <a:rPr dirty="0"/>
              <a:t> </a:t>
            </a:r>
            <a:r>
              <a:rPr dirty="0" err="1"/>
              <a:t>узла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сетевые</a:t>
            </a:r>
            <a:r>
              <a:rPr dirty="0"/>
              <a:t> </a:t>
            </a:r>
            <a:r>
              <a:rPr dirty="0" err="1"/>
              <a:t>параметры</a:t>
            </a:r>
            <a:r>
              <a:rPr dirty="0"/>
              <a:t> Linux-</a:t>
            </a:r>
            <a:r>
              <a:rPr dirty="0" err="1"/>
              <a:t>сервера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161E09E-314F-5D27-E428-98D69F75F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IP-адрес и prefix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IP-</a:t>
            </a:r>
            <a:r>
              <a:rPr dirty="0" err="1"/>
              <a:t>адрес</a:t>
            </a:r>
            <a:r>
              <a:rPr dirty="0"/>
              <a:t> - </a:t>
            </a:r>
            <a:r>
              <a:rPr dirty="0" err="1"/>
              <a:t>числовой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узла</a:t>
            </a:r>
            <a:r>
              <a:rPr dirty="0"/>
              <a:t> в IP-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Prefix </a:t>
            </a:r>
            <a:r>
              <a:rPr dirty="0" err="1"/>
              <a:t>показывает</a:t>
            </a:r>
            <a:r>
              <a:rPr dirty="0"/>
              <a:t>, </a:t>
            </a:r>
            <a:r>
              <a:rPr dirty="0" err="1"/>
              <a:t>какая</a:t>
            </a:r>
            <a:r>
              <a:rPr dirty="0"/>
              <a:t> </a:t>
            </a:r>
            <a:r>
              <a:rPr dirty="0" err="1"/>
              <a:t>часть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относится</a:t>
            </a:r>
            <a:r>
              <a:rPr dirty="0"/>
              <a:t> к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192.168.10.20/24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192.168.10.20 в </a:t>
            </a:r>
            <a:r>
              <a:rPr dirty="0" err="1"/>
              <a:t>сети</a:t>
            </a:r>
            <a:r>
              <a:rPr dirty="0"/>
              <a:t> 192.168.10.0/24.</a:t>
            </a:r>
          </a:p>
          <a:p>
            <a:pPr indent="354013">
              <a:defRPr sz="3600"/>
            </a:pPr>
            <a:r>
              <a:rPr dirty="0"/>
              <a:t>/24 </a:t>
            </a:r>
            <a:r>
              <a:rPr dirty="0" err="1"/>
              <a:t>соответствует</a:t>
            </a:r>
            <a:r>
              <a:rPr dirty="0"/>
              <a:t> </a:t>
            </a:r>
            <a:r>
              <a:rPr dirty="0" err="1"/>
              <a:t>маске</a:t>
            </a:r>
            <a:r>
              <a:rPr dirty="0"/>
              <a:t> 255.255.255.0.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prefix </a:t>
            </a:r>
            <a:r>
              <a:rPr dirty="0" err="1"/>
              <a:t>указаны</a:t>
            </a:r>
            <a:r>
              <a:rPr dirty="0"/>
              <a:t> </a:t>
            </a:r>
            <a:r>
              <a:rPr dirty="0" err="1"/>
              <a:t>неверно</a:t>
            </a:r>
            <a:r>
              <a:rPr dirty="0"/>
              <a:t>,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оказаться</a:t>
            </a:r>
            <a:r>
              <a:rPr dirty="0"/>
              <a:t> в </a:t>
            </a:r>
            <a:r>
              <a:rPr dirty="0" err="1"/>
              <a:t>неправильной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Gateway и default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Gateway - </a:t>
            </a:r>
            <a:r>
              <a:rPr dirty="0" err="1"/>
              <a:t>маршрутизатор</a:t>
            </a:r>
            <a:r>
              <a:rPr dirty="0"/>
              <a:t>,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выходит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пределы</a:t>
            </a:r>
            <a:r>
              <a:rPr dirty="0"/>
              <a:t> </a:t>
            </a:r>
            <a:r>
              <a:rPr dirty="0" err="1"/>
              <a:t>своей</a:t>
            </a:r>
            <a:r>
              <a:rPr dirty="0"/>
              <a:t> </a:t>
            </a:r>
            <a:r>
              <a:rPr dirty="0" err="1"/>
              <a:t>локальной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Default route - </a:t>
            </a:r>
            <a:r>
              <a:rPr dirty="0" err="1"/>
              <a:t>маршрут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умолчанию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всех</a:t>
            </a:r>
            <a:r>
              <a:rPr dirty="0"/>
              <a:t> </a:t>
            </a:r>
            <a:r>
              <a:rPr dirty="0" err="1"/>
              <a:t>неизвестных</a:t>
            </a:r>
            <a:r>
              <a:rPr dirty="0"/>
              <a:t> </a:t>
            </a:r>
            <a:r>
              <a:rPr dirty="0" err="1"/>
              <a:t>сетей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gateway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задан</a:t>
            </a:r>
            <a:r>
              <a:rPr dirty="0"/>
              <a:t>,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видеть</a:t>
            </a:r>
            <a:r>
              <a:rPr dirty="0"/>
              <a:t> </a:t>
            </a:r>
            <a:r>
              <a:rPr dirty="0" err="1"/>
              <a:t>соседей</a:t>
            </a:r>
            <a:r>
              <a:rPr dirty="0"/>
              <a:t> в LAN,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интернет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другие</a:t>
            </a:r>
            <a:r>
              <a:rPr dirty="0"/>
              <a:t> </a:t>
            </a:r>
            <a:r>
              <a:rPr dirty="0" err="1"/>
              <a:t>подсети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Типичная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 default route: default via 192.168.10.1 dev ens33.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DNS и hostname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DNS - Domain Name System,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преобразования</a:t>
            </a:r>
            <a:r>
              <a:rPr dirty="0"/>
              <a:t> </a:t>
            </a:r>
            <a:r>
              <a:rPr dirty="0" err="1"/>
              <a:t>имен</a:t>
            </a:r>
            <a:r>
              <a:rPr dirty="0"/>
              <a:t> в IP-</a:t>
            </a:r>
            <a:r>
              <a:rPr dirty="0" err="1"/>
              <a:t>адреса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Без</a:t>
            </a:r>
            <a:r>
              <a:rPr dirty="0"/>
              <a:t> DNS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подключаться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IP,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имена</a:t>
            </a:r>
            <a:r>
              <a:rPr dirty="0"/>
              <a:t> </a:t>
            </a:r>
            <a:r>
              <a:rPr dirty="0" err="1"/>
              <a:t>сайтов</a:t>
            </a:r>
            <a:r>
              <a:rPr dirty="0"/>
              <a:t> и </a:t>
            </a:r>
            <a:r>
              <a:rPr dirty="0" err="1"/>
              <a:t>серверов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будут</a:t>
            </a:r>
            <a:r>
              <a:rPr dirty="0"/>
              <a:t> </a:t>
            </a:r>
            <a:r>
              <a:rPr dirty="0" err="1"/>
              <a:t>разрешаться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Hostname -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самого</a:t>
            </a:r>
            <a:r>
              <a:rPr dirty="0"/>
              <a:t> Linux-</a:t>
            </a:r>
            <a:r>
              <a:rPr dirty="0" err="1"/>
              <a:t>узла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Корректный</a:t>
            </a:r>
            <a:r>
              <a:rPr dirty="0"/>
              <a:t> hostname </a:t>
            </a:r>
            <a:r>
              <a:rPr dirty="0" err="1"/>
              <a:t>важен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журналов</a:t>
            </a:r>
            <a:r>
              <a:rPr dirty="0"/>
              <a:t>, SSH, </a:t>
            </a:r>
            <a:r>
              <a:rPr dirty="0" err="1"/>
              <a:t>мониторинга</a:t>
            </a:r>
            <a:r>
              <a:rPr dirty="0"/>
              <a:t> и </a:t>
            </a:r>
            <a:r>
              <a:rPr dirty="0" err="1"/>
              <a:t>документации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адресного плана учебного 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: linux-srv01.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IP-</a:t>
            </a:r>
            <a:r>
              <a:rPr dirty="0" err="1"/>
              <a:t>адрес</a:t>
            </a:r>
            <a:r>
              <a:rPr dirty="0"/>
              <a:t>: 192.168.10.20/24.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Gateway: 192.168.10.1.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DNS: 192.168.10.1 </a:t>
            </a:r>
            <a:r>
              <a:rPr dirty="0" err="1"/>
              <a:t>или</a:t>
            </a:r>
            <a:r>
              <a:rPr dirty="0"/>
              <a:t> 8.8.8.8 в </a:t>
            </a:r>
            <a:r>
              <a:rPr dirty="0" err="1"/>
              <a:t>учебном</a:t>
            </a:r>
            <a:r>
              <a:rPr dirty="0"/>
              <a:t> </a:t>
            </a:r>
            <a:r>
              <a:rPr dirty="0" err="1"/>
              <a:t>стенде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SSH-</a:t>
            </a:r>
            <a:r>
              <a:rPr dirty="0" err="1"/>
              <a:t>порт</a:t>
            </a:r>
            <a:r>
              <a:rPr dirty="0"/>
              <a:t>: TCP 22.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Просмотр сетевых интерфейсов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Сетевой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 - </a:t>
            </a:r>
            <a:r>
              <a:rPr dirty="0" err="1"/>
              <a:t>точка</a:t>
            </a:r>
            <a:r>
              <a:rPr dirty="0"/>
              <a:t> </a:t>
            </a:r>
            <a:r>
              <a:rPr dirty="0" err="1"/>
              <a:t>подключения</a:t>
            </a:r>
            <a:r>
              <a:rPr dirty="0"/>
              <a:t> Linux к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Физический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виртуальный</a:t>
            </a:r>
            <a:r>
              <a:rPr dirty="0"/>
              <a:t> </a:t>
            </a:r>
            <a:r>
              <a:rPr dirty="0" err="1"/>
              <a:t>адаптер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называться</a:t>
            </a:r>
            <a:r>
              <a:rPr dirty="0"/>
              <a:t> </a:t>
            </a:r>
            <a:r>
              <a:rPr b="1" dirty="0">
                <a:solidFill>
                  <a:srgbClr val="002060"/>
                </a:solidFill>
              </a:rPr>
              <a:t>ens33</a:t>
            </a:r>
            <a:r>
              <a:rPr dirty="0"/>
              <a:t>, </a:t>
            </a:r>
            <a:r>
              <a:rPr b="1" dirty="0">
                <a:solidFill>
                  <a:srgbClr val="002060"/>
                </a:solidFill>
              </a:rPr>
              <a:t>enp0s3</a:t>
            </a:r>
            <a:r>
              <a:rPr dirty="0"/>
              <a:t>, </a:t>
            </a:r>
            <a:r>
              <a:rPr b="1" dirty="0">
                <a:solidFill>
                  <a:srgbClr val="002060"/>
                </a:solidFill>
              </a:rPr>
              <a:t>eth0</a:t>
            </a:r>
            <a:r>
              <a:rPr dirty="0"/>
              <a:t>, </a:t>
            </a:r>
            <a:r>
              <a:rPr b="1" dirty="0">
                <a:solidFill>
                  <a:srgbClr val="002060"/>
                </a:solidFill>
              </a:rPr>
              <a:t>wlan0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настройкой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понять</a:t>
            </a:r>
            <a:r>
              <a:rPr dirty="0"/>
              <a:t>, </a:t>
            </a:r>
            <a:r>
              <a:rPr dirty="0" err="1"/>
              <a:t>какой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 </a:t>
            </a:r>
            <a:r>
              <a:rPr dirty="0" err="1"/>
              <a:t>существует</a:t>
            </a:r>
            <a:r>
              <a:rPr dirty="0"/>
              <a:t> и </a:t>
            </a:r>
            <a:r>
              <a:rPr dirty="0" err="1"/>
              <a:t>включен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он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этого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семейства</a:t>
            </a:r>
            <a:r>
              <a:rPr dirty="0"/>
              <a:t> </a:t>
            </a:r>
            <a:r>
              <a:rPr b="1" dirty="0" err="1">
                <a:solidFill>
                  <a:srgbClr val="002060"/>
                </a:solidFill>
              </a:rPr>
              <a:t>ip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ip link: состояние интерфейса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просмотра</a:t>
            </a:r>
            <a:r>
              <a:rPr dirty="0"/>
              <a:t> </a:t>
            </a:r>
            <a:r>
              <a:rPr dirty="0" err="1"/>
              <a:t>интерфейсов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ip</a:t>
            </a:r>
            <a:r>
              <a:rPr b="1" dirty="0">
                <a:solidFill>
                  <a:srgbClr val="002060"/>
                </a:solidFill>
              </a:rPr>
              <a:t> link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выводе</a:t>
            </a:r>
            <a:r>
              <a:rPr dirty="0"/>
              <a:t> </a:t>
            </a:r>
            <a:r>
              <a:rPr dirty="0" err="1"/>
              <a:t>важны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dirty="0"/>
              <a:t>, </a:t>
            </a:r>
            <a:r>
              <a:rPr dirty="0" err="1"/>
              <a:t>состояние</a:t>
            </a:r>
            <a:r>
              <a:rPr dirty="0"/>
              <a:t> UP/DOWN и MAC-</a:t>
            </a:r>
            <a:r>
              <a:rPr dirty="0" err="1"/>
              <a:t>адрес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UP </a:t>
            </a:r>
            <a:r>
              <a:rPr dirty="0" err="1"/>
              <a:t>означает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 </a:t>
            </a:r>
            <a:r>
              <a:rPr dirty="0" err="1"/>
              <a:t>включен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уровне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DOWN </a:t>
            </a:r>
            <a:r>
              <a:rPr dirty="0" err="1"/>
              <a:t>означает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 </a:t>
            </a:r>
            <a:r>
              <a:rPr dirty="0" err="1"/>
              <a:t>выключен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поднят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 DOWN, IP-</a:t>
            </a:r>
            <a:r>
              <a:rPr dirty="0" err="1"/>
              <a:t>настройка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корректной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связи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будет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чтения ip 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Строка</a:t>
            </a:r>
            <a:r>
              <a:rPr dirty="0"/>
              <a:t> </a:t>
            </a:r>
            <a:r>
              <a:rPr dirty="0" err="1"/>
              <a:t>вида</a:t>
            </a:r>
            <a:r>
              <a:rPr lang="en-US" dirty="0"/>
              <a:t>:</a:t>
            </a:r>
            <a:r>
              <a:rPr dirty="0"/>
              <a:t> </a:t>
            </a:r>
            <a:endParaRPr lang="en-US" dirty="0"/>
          </a:p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2: ens33: &lt;BROADCAST,MULTICAST,UP,LOWER_UP&gt;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 ens33.</a:t>
            </a:r>
          </a:p>
          <a:p>
            <a:pPr indent="354013">
              <a:defRPr sz="3600"/>
            </a:pPr>
            <a:r>
              <a:rPr dirty="0">
                <a:solidFill>
                  <a:srgbClr val="002060"/>
                </a:solidFill>
              </a:rPr>
              <a:t>UP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административно</a:t>
            </a:r>
            <a:r>
              <a:rPr dirty="0"/>
              <a:t> </a:t>
            </a:r>
            <a:r>
              <a:rPr dirty="0" err="1"/>
              <a:t>включен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>
                <a:solidFill>
                  <a:srgbClr val="002060"/>
                </a:solidFill>
              </a:rPr>
              <a:t>LOWER_UP </a:t>
            </a:r>
            <a:r>
              <a:rPr dirty="0" err="1"/>
              <a:t>означает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линк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физическом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виртуальном</a:t>
            </a:r>
            <a:r>
              <a:rPr dirty="0"/>
              <a:t> </a:t>
            </a:r>
            <a:r>
              <a:rPr dirty="0" err="1"/>
              <a:t>уровне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>
                <a:solidFill>
                  <a:srgbClr val="002060"/>
                </a:solidFill>
              </a:rPr>
              <a:t>link/ether </a:t>
            </a:r>
            <a:r>
              <a:rPr dirty="0" err="1"/>
              <a:t>показывает</a:t>
            </a:r>
            <a:r>
              <a:rPr dirty="0"/>
              <a:t> MAC-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сетевого</a:t>
            </a:r>
            <a:r>
              <a:rPr dirty="0"/>
              <a:t> </a:t>
            </a:r>
            <a:r>
              <a:rPr dirty="0" err="1"/>
              <a:t>адаптера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LOWER_UP </a:t>
            </a:r>
            <a:r>
              <a:rPr dirty="0" err="1"/>
              <a:t>отсутствует</a:t>
            </a:r>
            <a:r>
              <a:rPr dirty="0"/>
              <a:t>,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виртуальный</a:t>
            </a:r>
            <a:r>
              <a:rPr dirty="0"/>
              <a:t> </a:t>
            </a:r>
            <a:r>
              <a:rPr dirty="0" err="1"/>
              <a:t>адаптер</a:t>
            </a:r>
            <a:r>
              <a:rPr dirty="0"/>
              <a:t>, </a:t>
            </a:r>
            <a:r>
              <a:rPr dirty="0" err="1"/>
              <a:t>кабель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режим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 ВМ.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ip addr: IP-адреса интерфейсов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просмотра</a:t>
            </a:r>
            <a:r>
              <a:rPr dirty="0"/>
              <a:t> IP-</a:t>
            </a:r>
            <a:r>
              <a:rPr dirty="0" err="1"/>
              <a:t>адресов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: </a:t>
            </a:r>
            <a:r>
              <a:rPr dirty="0" err="1"/>
              <a:t>ip</a:t>
            </a:r>
            <a:r>
              <a:rPr dirty="0"/>
              <a:t> </a:t>
            </a:r>
            <a:r>
              <a:rPr dirty="0" err="1"/>
              <a:t>addr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Короткий</a:t>
            </a:r>
            <a:r>
              <a:rPr dirty="0"/>
              <a:t> </a:t>
            </a:r>
            <a:r>
              <a:rPr dirty="0" err="1"/>
              <a:t>вариант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ip</a:t>
            </a:r>
            <a:r>
              <a:rPr b="1" dirty="0">
                <a:solidFill>
                  <a:srgbClr val="002060"/>
                </a:solidFill>
              </a:rPr>
              <a:t> a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выводе</a:t>
            </a:r>
            <a:r>
              <a:rPr dirty="0"/>
              <a:t> </a:t>
            </a:r>
            <a:r>
              <a:rPr dirty="0" err="1"/>
              <a:t>важны</a:t>
            </a:r>
            <a:r>
              <a:rPr dirty="0"/>
              <a:t> </a:t>
            </a:r>
            <a:r>
              <a:rPr dirty="0" err="1"/>
              <a:t>inet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IPv4 и inet6 </a:t>
            </a:r>
            <a:r>
              <a:rPr dirty="0" err="1"/>
              <a:t>для</a:t>
            </a:r>
            <a:r>
              <a:rPr dirty="0"/>
              <a:t> IPv6.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endParaRPr lang="en-US" dirty="0"/>
          </a:p>
          <a:p>
            <a:pPr>
              <a:defRPr sz="3600"/>
            </a:pPr>
            <a:r>
              <a:rPr sz="3200" dirty="0" err="1">
                <a:solidFill>
                  <a:srgbClr val="002060"/>
                </a:solidFill>
              </a:rPr>
              <a:t>inet</a:t>
            </a:r>
            <a:r>
              <a:rPr sz="3200" dirty="0">
                <a:solidFill>
                  <a:srgbClr val="002060"/>
                </a:solidFill>
              </a:rPr>
              <a:t> 192.168.10.20/24 </a:t>
            </a:r>
            <a:r>
              <a:rPr sz="3200" dirty="0" err="1">
                <a:solidFill>
                  <a:srgbClr val="002060"/>
                </a:solidFill>
              </a:rPr>
              <a:t>brd</a:t>
            </a:r>
            <a:r>
              <a:rPr sz="3200" dirty="0">
                <a:solidFill>
                  <a:srgbClr val="002060"/>
                </a:solidFill>
              </a:rPr>
              <a:t> 192.168.10.255 scope global ens33.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у </a:t>
            </a:r>
            <a:r>
              <a:rPr dirty="0" err="1"/>
              <a:t>интерфейса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inet-адреса</a:t>
            </a:r>
            <a:r>
              <a:rPr dirty="0"/>
              <a:t>,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настроен</a:t>
            </a:r>
            <a:r>
              <a:rPr dirty="0"/>
              <a:t> в IPv4-сети.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конкретного интерфейса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интерфейсов</a:t>
            </a:r>
            <a:r>
              <a:rPr dirty="0"/>
              <a:t> </a:t>
            </a:r>
            <a:r>
              <a:rPr dirty="0" err="1"/>
              <a:t>много</a:t>
            </a:r>
            <a:r>
              <a:rPr dirty="0"/>
              <a:t>, </a:t>
            </a:r>
            <a:r>
              <a:rPr dirty="0" err="1"/>
              <a:t>удобно</a:t>
            </a:r>
            <a:r>
              <a:rPr dirty="0"/>
              <a:t> </a:t>
            </a:r>
            <a:r>
              <a:rPr dirty="0" err="1"/>
              <a:t>смотреть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>
                <a:solidFill>
                  <a:srgbClr val="002060"/>
                </a:solidFill>
              </a:rPr>
              <a:t>ip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addr</a:t>
            </a:r>
            <a:r>
              <a:rPr dirty="0">
                <a:solidFill>
                  <a:srgbClr val="002060"/>
                </a:solidFill>
              </a:rPr>
              <a:t> show ens33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Так</a:t>
            </a:r>
            <a:r>
              <a:rPr dirty="0"/>
              <a:t> </a:t>
            </a:r>
            <a:r>
              <a:rPr dirty="0" err="1"/>
              <a:t>проще</a:t>
            </a:r>
            <a:r>
              <a:rPr dirty="0"/>
              <a:t> </a:t>
            </a:r>
            <a:r>
              <a:rPr dirty="0" err="1"/>
              <a:t>увидеть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, prefix и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именно</a:t>
            </a:r>
            <a:r>
              <a:rPr dirty="0"/>
              <a:t> </a:t>
            </a:r>
            <a:r>
              <a:rPr dirty="0" err="1"/>
              <a:t>нужного</a:t>
            </a:r>
            <a:r>
              <a:rPr dirty="0"/>
              <a:t> </a:t>
            </a:r>
            <a:r>
              <a:rPr dirty="0" err="1"/>
              <a:t>адаптера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эта</a:t>
            </a:r>
            <a:r>
              <a:rPr dirty="0"/>
              <a:t> </a:t>
            </a: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подтверждает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применился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Проверка маршрутов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Маршрут</a:t>
            </a:r>
            <a:r>
              <a:rPr dirty="0"/>
              <a:t> </a:t>
            </a:r>
            <a:r>
              <a:rPr dirty="0" err="1"/>
              <a:t>определяет</a:t>
            </a:r>
            <a:r>
              <a:rPr dirty="0"/>
              <a:t>, </a:t>
            </a:r>
            <a:r>
              <a:rPr dirty="0" err="1"/>
              <a:t>куда</a:t>
            </a:r>
            <a:r>
              <a:rPr dirty="0"/>
              <a:t> Linux </a:t>
            </a:r>
            <a:r>
              <a:rPr dirty="0" err="1"/>
              <a:t>отправляет</a:t>
            </a:r>
            <a:r>
              <a:rPr dirty="0"/>
              <a:t> IP-</a:t>
            </a:r>
            <a:r>
              <a:rPr dirty="0" err="1"/>
              <a:t>пакеты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Локальная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доступна</a:t>
            </a:r>
            <a:r>
              <a:rPr dirty="0"/>
              <a:t> </a:t>
            </a:r>
            <a:r>
              <a:rPr dirty="0" err="1"/>
              <a:t>напрямую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Другие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 </a:t>
            </a:r>
            <a:r>
              <a:rPr dirty="0" err="1"/>
              <a:t>доступны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gateway.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маршрут</a:t>
            </a:r>
            <a:r>
              <a:rPr dirty="0"/>
              <a:t> </a:t>
            </a:r>
            <a:r>
              <a:rPr dirty="0" err="1"/>
              <a:t>неверный</a:t>
            </a:r>
            <a:r>
              <a:rPr dirty="0"/>
              <a:t>, IP-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правильным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связи</a:t>
            </a:r>
            <a:r>
              <a:rPr dirty="0"/>
              <a:t> с </a:t>
            </a:r>
            <a:r>
              <a:rPr dirty="0" err="1"/>
              <a:t>внешними</a:t>
            </a:r>
            <a:r>
              <a:rPr dirty="0"/>
              <a:t> </a:t>
            </a:r>
            <a:r>
              <a:rPr dirty="0" err="1"/>
              <a:t>сетями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будет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ip route: таблица маршрутизации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просмотра</a:t>
            </a:r>
            <a:r>
              <a:rPr dirty="0"/>
              <a:t> </a:t>
            </a:r>
            <a:r>
              <a:rPr dirty="0" err="1"/>
              <a:t>маршрутов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: </a:t>
            </a:r>
            <a:r>
              <a:rPr dirty="0" err="1"/>
              <a:t>ip</a:t>
            </a:r>
            <a:r>
              <a:rPr dirty="0"/>
              <a:t> route.</a:t>
            </a:r>
          </a:p>
          <a:p>
            <a:pPr indent="354013">
              <a:defRPr sz="3600"/>
            </a:pPr>
            <a:r>
              <a:rPr dirty="0" err="1"/>
              <a:t>Строка</a:t>
            </a:r>
            <a:r>
              <a:rPr dirty="0"/>
              <a:t> </a:t>
            </a:r>
            <a:r>
              <a:rPr dirty="0">
                <a:solidFill>
                  <a:srgbClr val="002060"/>
                </a:solidFill>
              </a:rPr>
              <a:t>default via 192.168.10.1 dev ens33 </a:t>
            </a:r>
            <a:r>
              <a:rPr dirty="0" err="1"/>
              <a:t>показывает</a:t>
            </a:r>
            <a:r>
              <a:rPr dirty="0"/>
              <a:t> gateway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умолчанию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Строка</a:t>
            </a:r>
            <a:r>
              <a:rPr dirty="0"/>
              <a:t> 192.168.10.0/24 dev ens33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локальную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src</a:t>
            </a:r>
            <a:r>
              <a:rPr dirty="0"/>
              <a:t> 192.168.10.20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источника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будет</a:t>
            </a:r>
            <a:r>
              <a:rPr dirty="0"/>
              <a:t> </a:t>
            </a:r>
            <a:r>
              <a:rPr dirty="0" err="1"/>
              <a:t>использоваться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маршрута до адреса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понять</a:t>
            </a:r>
            <a:r>
              <a:rPr dirty="0"/>
              <a:t>, </a:t>
            </a:r>
            <a:r>
              <a:rPr dirty="0" err="1"/>
              <a:t>куда</a:t>
            </a:r>
            <a:r>
              <a:rPr dirty="0"/>
              <a:t> </a:t>
            </a:r>
            <a:r>
              <a:rPr dirty="0" err="1"/>
              <a:t>пойдет</a:t>
            </a:r>
            <a:r>
              <a:rPr dirty="0"/>
              <a:t> </a:t>
            </a:r>
            <a:r>
              <a:rPr dirty="0" err="1"/>
              <a:t>пакет</a:t>
            </a:r>
            <a:r>
              <a:rPr dirty="0"/>
              <a:t>, </a:t>
            </a:r>
            <a:r>
              <a:rPr dirty="0" err="1"/>
              <a:t>используют</a:t>
            </a:r>
            <a:r>
              <a:rPr dirty="0"/>
              <a:t>: </a:t>
            </a:r>
            <a:endParaRPr lang="en-US" dirty="0"/>
          </a:p>
          <a:p>
            <a:pPr indent="354013">
              <a:defRPr sz="3600"/>
            </a:pPr>
            <a:r>
              <a:rPr dirty="0" err="1">
                <a:solidFill>
                  <a:srgbClr val="002060"/>
                </a:solidFill>
              </a:rPr>
              <a:t>ip</a:t>
            </a:r>
            <a:r>
              <a:rPr dirty="0">
                <a:solidFill>
                  <a:srgbClr val="002060"/>
                </a:solidFill>
              </a:rPr>
              <a:t> route get 8.8.8.8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выбранный</a:t>
            </a:r>
            <a:r>
              <a:rPr dirty="0"/>
              <a:t> gateway, </a:t>
            </a:r>
            <a:r>
              <a:rPr dirty="0" err="1"/>
              <a:t>интерфейс</a:t>
            </a:r>
            <a:r>
              <a:rPr dirty="0"/>
              <a:t> и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источника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полезнее</a:t>
            </a:r>
            <a:r>
              <a:rPr dirty="0"/>
              <a:t>,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гадать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всей</a:t>
            </a:r>
            <a:r>
              <a:rPr dirty="0"/>
              <a:t> </a:t>
            </a:r>
            <a:r>
              <a:rPr dirty="0" err="1"/>
              <a:t>таблице</a:t>
            </a:r>
            <a:r>
              <a:rPr dirty="0"/>
              <a:t> </a:t>
            </a:r>
            <a:r>
              <a:rPr dirty="0" err="1"/>
              <a:t>маршрутов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gateway </a:t>
            </a:r>
            <a:r>
              <a:rPr dirty="0" err="1"/>
              <a:t>отсутствует</a:t>
            </a:r>
            <a:r>
              <a:rPr dirty="0"/>
              <a:t>, </a:t>
            </a: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покажет</a:t>
            </a:r>
            <a:r>
              <a:rPr dirty="0"/>
              <a:t> </a:t>
            </a:r>
            <a:r>
              <a:rPr dirty="0" err="1"/>
              <a:t>ошибку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локальный</a:t>
            </a:r>
            <a:r>
              <a:rPr dirty="0"/>
              <a:t> </a:t>
            </a:r>
            <a:r>
              <a:rPr dirty="0" err="1"/>
              <a:t>маршрут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ping gateway и внешний адрес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доступность</a:t>
            </a:r>
            <a:r>
              <a:rPr dirty="0"/>
              <a:t> gateway: ping -c 4 192.168.10.1.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gateway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отвечает</a:t>
            </a:r>
            <a:r>
              <a:rPr dirty="0"/>
              <a:t>, </a:t>
            </a:r>
            <a:r>
              <a:rPr dirty="0" err="1"/>
              <a:t>проблема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уровне</a:t>
            </a:r>
            <a:r>
              <a:rPr dirty="0"/>
              <a:t> LAN, </a:t>
            </a:r>
            <a:r>
              <a:rPr dirty="0" err="1"/>
              <a:t>адресации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виртуальной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внешний</a:t>
            </a:r>
            <a:r>
              <a:rPr dirty="0"/>
              <a:t> IP: ping -c 4 8.8.8.8.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gateway </a:t>
            </a:r>
            <a:r>
              <a:rPr dirty="0" err="1"/>
              <a:t>отвечает</a:t>
            </a:r>
            <a:r>
              <a:rPr dirty="0"/>
              <a:t>, а </a:t>
            </a:r>
            <a:r>
              <a:rPr dirty="0" err="1"/>
              <a:t>внешний</a:t>
            </a:r>
            <a:r>
              <a:rPr dirty="0"/>
              <a:t> IP </a:t>
            </a:r>
            <a:r>
              <a:rPr dirty="0" err="1"/>
              <a:t>нет</a:t>
            </a:r>
            <a:r>
              <a:rPr dirty="0"/>
              <a:t>,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проверять</a:t>
            </a:r>
            <a:r>
              <a:rPr dirty="0"/>
              <a:t> </a:t>
            </a:r>
            <a:r>
              <a:rPr dirty="0" err="1"/>
              <a:t>маршрутизацию</a:t>
            </a:r>
            <a:r>
              <a:rPr dirty="0"/>
              <a:t> и NAT.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диагностика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уровням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2274A66-68F6-8CC2-7F9F-2F01322E7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Проверка DNS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DNS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отдельно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IP-</a:t>
            </a:r>
            <a:r>
              <a:rPr dirty="0" err="1"/>
              <a:t>связности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>
                <a:solidFill>
                  <a:srgbClr val="002060"/>
                </a:solidFill>
              </a:rPr>
              <a:t>ping 8.8.8.8 </a:t>
            </a:r>
            <a:r>
              <a:rPr dirty="0" err="1"/>
              <a:t>работает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>
                <a:solidFill>
                  <a:srgbClr val="002060"/>
                </a:solidFill>
              </a:rPr>
              <a:t>ping </a:t>
            </a:r>
            <a:r>
              <a:rPr lang="en-US" dirty="0">
                <a:solidFill>
                  <a:srgbClr val="002060"/>
                </a:solidFill>
              </a:rPr>
              <a:t>google</a:t>
            </a:r>
            <a:r>
              <a:rPr dirty="0">
                <a:solidFill>
                  <a:srgbClr val="002060"/>
                </a:solidFill>
              </a:rPr>
              <a:t>.com </a:t>
            </a:r>
            <a:r>
              <a:rPr dirty="0" err="1"/>
              <a:t>нет</a:t>
            </a:r>
            <a:r>
              <a:rPr dirty="0"/>
              <a:t>, </a:t>
            </a:r>
            <a:r>
              <a:rPr dirty="0" err="1"/>
              <a:t>вероятна</a:t>
            </a:r>
            <a:r>
              <a:rPr dirty="0"/>
              <a:t> </a:t>
            </a:r>
            <a:r>
              <a:rPr dirty="0" err="1"/>
              <a:t>проблема</a:t>
            </a:r>
            <a:r>
              <a:rPr dirty="0"/>
              <a:t> DNS.</a:t>
            </a:r>
          </a:p>
          <a:p>
            <a:pPr indent="354013">
              <a:defRPr sz="3600"/>
            </a:pPr>
            <a:r>
              <a:rPr dirty="0"/>
              <a:t>DNS-</a:t>
            </a:r>
            <a:r>
              <a:rPr dirty="0" err="1"/>
              <a:t>клиент</a:t>
            </a:r>
            <a:r>
              <a:rPr dirty="0"/>
              <a:t> Linux </a:t>
            </a:r>
            <a:r>
              <a:rPr dirty="0" err="1"/>
              <a:t>получает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 DNS-</a:t>
            </a:r>
            <a:r>
              <a:rPr dirty="0" err="1"/>
              <a:t>серверов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сетевой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systemd</a:t>
            </a:r>
            <a:r>
              <a:rPr dirty="0"/>
              <a:t>-resolved.</a:t>
            </a:r>
          </a:p>
          <a:p>
            <a:pPr indent="354013">
              <a:defRPr sz="3600"/>
            </a:pP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отличать</a:t>
            </a:r>
            <a:r>
              <a:rPr dirty="0"/>
              <a:t> </a:t>
            </a:r>
            <a:r>
              <a:rPr dirty="0" err="1"/>
              <a:t>проблему</a:t>
            </a:r>
            <a:r>
              <a:rPr dirty="0"/>
              <a:t> </a:t>
            </a:r>
            <a:r>
              <a:rPr dirty="0" err="1"/>
              <a:t>маршрута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проблемы</a:t>
            </a:r>
            <a:r>
              <a:rPr dirty="0"/>
              <a:t> </a:t>
            </a:r>
            <a:r>
              <a:rPr dirty="0" err="1"/>
              <a:t>разрешения</a:t>
            </a:r>
            <a:r>
              <a:rPr dirty="0"/>
              <a:t> </a:t>
            </a:r>
            <a:r>
              <a:rPr dirty="0" err="1"/>
              <a:t>имен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12955"/>
            <a:ext cx="10972800" cy="5713525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indent="354013" algn="ctr">
              <a:defRPr sz="3600"/>
            </a:pPr>
            <a:r>
              <a:rPr lang="ru-RU" b="1" dirty="0"/>
              <a:t>Как работает DNS в </a:t>
            </a:r>
            <a:r>
              <a:rPr lang="ru-RU" b="1" dirty="0" err="1"/>
              <a:t>Debian</a:t>
            </a:r>
            <a:r>
              <a:rPr lang="ru-RU" b="1" dirty="0"/>
              <a:t> (Кратко)</a:t>
            </a:r>
          </a:p>
          <a:p>
            <a:pPr indent="354013">
              <a:defRPr sz="3600"/>
            </a:pPr>
            <a:r>
              <a:rPr lang="ru-RU" dirty="0"/>
              <a:t>Когда программа (например, </a:t>
            </a:r>
            <a:r>
              <a:rPr lang="ru-RU" dirty="0" err="1"/>
              <a:t>ping</a:t>
            </a:r>
            <a:r>
              <a:rPr lang="ru-RU" dirty="0"/>
              <a:t> или веб-сервер) запрашивает адрес google.com, операционная система действует по цепочке: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Файл /</a:t>
            </a:r>
            <a:r>
              <a:rPr lang="ru-RU" dirty="0" err="1"/>
              <a:t>etc</a:t>
            </a:r>
            <a:r>
              <a:rPr lang="ru-RU" dirty="0"/>
              <a:t>/</a:t>
            </a:r>
            <a:r>
              <a:rPr lang="ru-RU" dirty="0" err="1"/>
              <a:t>hosts</a:t>
            </a:r>
            <a:r>
              <a:rPr lang="ru-RU" dirty="0"/>
              <a:t>: Сначала система заглядывает сюда. Если там вручную прописано соответствие IP и домена, запрос завершается.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Системный </a:t>
            </a:r>
            <a:r>
              <a:rPr lang="ru-RU" dirty="0" err="1"/>
              <a:t>резолвер</a:t>
            </a:r>
            <a:r>
              <a:rPr lang="ru-RU" dirty="0"/>
              <a:t> (</a:t>
            </a:r>
            <a:r>
              <a:rPr lang="ru-RU" dirty="0" err="1"/>
              <a:t>Resolver</a:t>
            </a:r>
            <a:r>
              <a:rPr lang="ru-RU" dirty="0"/>
              <a:t>): Если в /</a:t>
            </a:r>
            <a:r>
              <a:rPr lang="ru-RU" dirty="0" err="1"/>
              <a:t>etc</a:t>
            </a:r>
            <a:r>
              <a:rPr lang="ru-RU" dirty="0"/>
              <a:t>/</a:t>
            </a:r>
            <a:r>
              <a:rPr lang="ru-RU" dirty="0" err="1"/>
              <a:t>hosts</a:t>
            </a:r>
            <a:r>
              <a:rPr lang="ru-RU" dirty="0"/>
              <a:t> ответа нет, специальная библиотека ядра отправляет UDP-запрос на IP-адреса DNS-серверов (например, 8.8.8.8), которые указаны в конфигурационных файлах системы</a:t>
            </a:r>
            <a:r>
              <a:rPr lang="en-US" dirty="0"/>
              <a:t> (</a:t>
            </a:r>
            <a:r>
              <a:rPr lang="ru-RU" dirty="0"/>
              <a:t>/</a:t>
            </a:r>
            <a:r>
              <a:rPr lang="ru-RU" dirty="0" err="1"/>
              <a:t>etc</a:t>
            </a:r>
            <a:r>
              <a:rPr lang="ru-RU" dirty="0"/>
              <a:t>/</a:t>
            </a:r>
            <a:r>
              <a:rPr lang="ru-RU" dirty="0" err="1"/>
              <a:t>resolv.conf</a:t>
            </a:r>
            <a:r>
              <a:rPr lang="en-US" dirty="0"/>
              <a:t>)</a:t>
            </a:r>
            <a:r>
              <a:rPr lang="ru-RU" dirty="0"/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BA011-DC9D-12E7-787E-5EA8AC145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0BE396-7781-5349-CF6A-9F5F210EDF0B}"/>
              </a:ext>
            </a:extLst>
          </p:cNvPr>
          <p:cNvSpPr txBox="1"/>
          <p:nvPr/>
        </p:nvSpPr>
        <p:spPr>
          <a:xfrm>
            <a:off x="4589198" y="182880"/>
            <a:ext cx="298312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Файл /</a:t>
            </a:r>
            <a:r>
              <a:rPr lang="ru-RU" dirty="0" err="1"/>
              <a:t>etc</a:t>
            </a:r>
            <a:r>
              <a:rPr lang="ru-RU" dirty="0"/>
              <a:t>/</a:t>
            </a:r>
            <a:r>
              <a:rPr lang="ru-RU" dirty="0" err="1"/>
              <a:t>hosts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342852-D29F-610C-C720-9588C73571EF}"/>
              </a:ext>
            </a:extLst>
          </p:cNvPr>
          <p:cNvSpPr txBox="1"/>
          <p:nvPr/>
        </p:nvSpPr>
        <p:spPr>
          <a:xfrm>
            <a:off x="457200" y="767655"/>
            <a:ext cx="10972800" cy="4408279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indent="354013">
              <a:defRPr sz="3600"/>
            </a:pPr>
            <a:r>
              <a:rPr lang="ru-RU" dirty="0"/>
              <a:t>Файл /</a:t>
            </a:r>
            <a:r>
              <a:rPr lang="ru-RU" dirty="0" err="1"/>
              <a:t>etc</a:t>
            </a:r>
            <a:r>
              <a:rPr lang="ru-RU" dirty="0"/>
              <a:t>/</a:t>
            </a:r>
            <a:r>
              <a:rPr lang="ru-RU" dirty="0" err="1"/>
              <a:t>hosts</a:t>
            </a:r>
            <a:r>
              <a:rPr lang="ru-RU" dirty="0"/>
              <a:t> — это простой текстовый файл в Linux. Он связывает IP-адреса с доменными именами.</a:t>
            </a:r>
          </a:p>
          <a:p>
            <a:pPr indent="354013">
              <a:defRPr sz="3600"/>
            </a:pPr>
            <a:r>
              <a:rPr lang="ru-RU" dirty="0"/>
              <a:t>Когда вы вводите в терминале или браузере имя (например, server1), операционная система в первую очередь заглядывает в файл /</a:t>
            </a:r>
            <a:r>
              <a:rPr lang="ru-RU" dirty="0" err="1"/>
              <a:t>etc</a:t>
            </a:r>
            <a:r>
              <a:rPr lang="ru-RU" dirty="0"/>
              <a:t>/</a:t>
            </a:r>
            <a:r>
              <a:rPr lang="ru-RU" dirty="0" err="1"/>
              <a:t>hosts</a:t>
            </a:r>
            <a:r>
              <a:rPr lang="ru-RU" dirty="0"/>
              <a:t>.</a:t>
            </a:r>
          </a:p>
          <a:p>
            <a:pPr indent="354013">
              <a:defRPr sz="3600"/>
            </a:pPr>
            <a:r>
              <a:rPr lang="ru-RU" dirty="0"/>
              <a:t>Если она находит там это имя, то сразу берёт указанный IP-адрес и не обращается к глобальной сети DNS.</a:t>
            </a:r>
          </a:p>
          <a:p>
            <a:pPr indent="354013">
              <a:defRPr sz="3600"/>
            </a:pPr>
            <a:r>
              <a:rPr lang="ru-RU" dirty="0"/>
              <a:t>Если имени там нет, система идёт дальше — к внешним DNS-серверам (например, к 8.8.8.8).</a:t>
            </a:r>
            <a:endParaRPr lang="en-US" dirty="0"/>
          </a:p>
          <a:p>
            <a:r>
              <a:rPr lang="ru-RU" sz="3600" dirty="0"/>
              <a:t>Каждая строка — это одна запись, которая строится по очень простой схеме:</a:t>
            </a:r>
          </a:p>
          <a:p>
            <a:r>
              <a:rPr lang="ru-RU" sz="3600" dirty="0">
                <a:solidFill>
                  <a:srgbClr val="002060"/>
                </a:solidFill>
              </a:rPr>
              <a:t>[IP-адрес] [</a:t>
            </a:r>
            <a:r>
              <a:rPr lang="ru-RU" sz="3600" dirty="0" err="1">
                <a:solidFill>
                  <a:srgbClr val="002060"/>
                </a:solidFill>
              </a:rPr>
              <a:t>Имя_компьютера</a:t>
            </a:r>
            <a:r>
              <a:rPr lang="ru-RU" sz="3600" dirty="0">
                <a:solidFill>
                  <a:srgbClr val="002060"/>
                </a:solidFill>
              </a:rPr>
              <a:t>] [</a:t>
            </a:r>
            <a:r>
              <a:rPr lang="ru-RU" sz="3600" dirty="0" err="1">
                <a:solidFill>
                  <a:srgbClr val="002060"/>
                </a:solidFill>
              </a:rPr>
              <a:t>Альтернативное_имя_или_алиас</a:t>
            </a:r>
            <a:r>
              <a:rPr lang="ru-RU" sz="3600" dirty="0">
                <a:solidFill>
                  <a:srgbClr val="002060"/>
                </a:solidFill>
              </a:rPr>
              <a:t>]</a:t>
            </a:r>
          </a:p>
          <a:p>
            <a:pPr indent="354013">
              <a:defRPr sz="3600"/>
            </a:pP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8D138A9-C5F4-BB44-7A71-98011A785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278" y="5175935"/>
            <a:ext cx="9939799" cy="149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2771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35278-9C6F-C080-7A22-6427B687E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E91F8A-6A13-F689-4E88-0E492A9C981F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/</a:t>
            </a:r>
            <a:r>
              <a:rPr dirty="0" err="1"/>
              <a:t>etc</a:t>
            </a:r>
            <a:r>
              <a:rPr dirty="0"/>
              <a:t>/</a:t>
            </a:r>
            <a:r>
              <a:rPr dirty="0" err="1"/>
              <a:t>resolv.conf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735709-230E-CBF4-F0DC-B68878DFAF6E}"/>
              </a:ext>
            </a:extLst>
          </p:cNvPr>
          <p:cNvSpPr txBox="1"/>
          <p:nvPr/>
        </p:nvSpPr>
        <p:spPr>
          <a:xfrm>
            <a:off x="457200" y="914400"/>
            <a:ext cx="10972800" cy="4159045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/</a:t>
            </a:r>
            <a:r>
              <a:rPr b="1" dirty="0" err="1">
                <a:solidFill>
                  <a:srgbClr val="002060"/>
                </a:solidFill>
              </a:rPr>
              <a:t>etc</a:t>
            </a:r>
            <a:r>
              <a:rPr b="1" dirty="0">
                <a:solidFill>
                  <a:srgbClr val="002060"/>
                </a:solidFill>
              </a:rPr>
              <a:t>/</a:t>
            </a:r>
            <a:r>
              <a:rPr b="1" dirty="0" err="1">
                <a:solidFill>
                  <a:srgbClr val="002060"/>
                </a:solidFill>
              </a:rPr>
              <a:t>resolv.conf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dirty="0" err="1"/>
              <a:t>традиционно</a:t>
            </a:r>
            <a:r>
              <a:rPr dirty="0"/>
              <a:t> </a:t>
            </a:r>
            <a:r>
              <a:rPr dirty="0" err="1"/>
              <a:t>содержит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dirty="0"/>
              <a:t> DNS-</a:t>
            </a:r>
            <a:r>
              <a:rPr dirty="0" err="1"/>
              <a:t>клиента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современных</a:t>
            </a:r>
            <a:r>
              <a:rPr dirty="0"/>
              <a:t> </a:t>
            </a:r>
            <a:r>
              <a:rPr dirty="0" err="1"/>
              <a:t>системах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символическая</a:t>
            </a:r>
            <a:r>
              <a:rPr dirty="0"/>
              <a:t> </a:t>
            </a:r>
            <a:r>
              <a:rPr dirty="0" err="1"/>
              <a:t>ссылка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systemd</a:t>
            </a:r>
            <a:r>
              <a:rPr dirty="0"/>
              <a:t>-resolved.</a:t>
            </a:r>
          </a:p>
          <a:p>
            <a:pPr indent="354013">
              <a:defRPr sz="3600"/>
            </a:pPr>
            <a:r>
              <a:rPr dirty="0" err="1"/>
              <a:t>Просмотр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cat /</a:t>
            </a:r>
            <a:r>
              <a:rPr b="1" dirty="0" err="1">
                <a:solidFill>
                  <a:srgbClr val="002060"/>
                </a:solidFill>
              </a:rPr>
              <a:t>etc</a:t>
            </a:r>
            <a:r>
              <a:rPr b="1" dirty="0">
                <a:solidFill>
                  <a:srgbClr val="002060"/>
                </a:solidFill>
              </a:rPr>
              <a:t>/</a:t>
            </a:r>
            <a:r>
              <a:rPr b="1" dirty="0" err="1">
                <a:solidFill>
                  <a:srgbClr val="002060"/>
                </a:solidFill>
              </a:rPr>
              <a:t>resolv.conf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Строка</a:t>
            </a:r>
            <a:r>
              <a:rPr dirty="0"/>
              <a:t> nameserver </a:t>
            </a:r>
            <a:r>
              <a:rPr dirty="0" err="1"/>
              <a:t>показывает</a:t>
            </a:r>
            <a:r>
              <a:rPr dirty="0"/>
              <a:t> DNS-</a:t>
            </a:r>
            <a:r>
              <a:rPr dirty="0" err="1"/>
              <a:t>сервер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лучше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редактировать</a:t>
            </a:r>
            <a:r>
              <a:rPr dirty="0"/>
              <a:t> </a:t>
            </a:r>
            <a:r>
              <a:rPr dirty="0" err="1"/>
              <a:t>вручную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системой</a:t>
            </a:r>
            <a:r>
              <a:rPr dirty="0"/>
              <a:t> </a:t>
            </a:r>
            <a:r>
              <a:rPr dirty="0" err="1"/>
              <a:t>управляет</a:t>
            </a:r>
            <a:r>
              <a:rPr dirty="0"/>
              <a:t> </a:t>
            </a:r>
            <a:r>
              <a:rPr dirty="0" err="1"/>
              <a:t>NetworkManager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systemd</a:t>
            </a:r>
            <a:r>
              <a:rPr dirty="0"/>
              <a:t>-resolved.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048400-FFEE-A9C6-4DA5-8FCBB0BD5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96" y="5164885"/>
            <a:ext cx="10542007" cy="100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810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resolvectl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b="1" dirty="0" err="1">
                <a:solidFill>
                  <a:srgbClr val="002060"/>
                </a:solidFill>
              </a:rPr>
              <a:t>resolvectl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 DNS в </a:t>
            </a:r>
            <a:r>
              <a:rPr dirty="0" err="1"/>
              <a:t>системах</a:t>
            </a:r>
            <a:r>
              <a:rPr dirty="0"/>
              <a:t> с </a:t>
            </a:r>
            <a:r>
              <a:rPr dirty="0" err="1"/>
              <a:t>systemd</a:t>
            </a:r>
            <a:r>
              <a:rPr dirty="0"/>
              <a:t>-resolved.</a:t>
            </a:r>
          </a:p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 </a:t>
            </a:r>
            <a:r>
              <a:rPr dirty="0" err="1">
                <a:solidFill>
                  <a:srgbClr val="002060"/>
                </a:solidFill>
              </a:rPr>
              <a:t>resolvectl</a:t>
            </a:r>
            <a:r>
              <a:rPr dirty="0">
                <a:solidFill>
                  <a:srgbClr val="002060"/>
                </a:solidFill>
              </a:rPr>
              <a:t> status </a:t>
            </a:r>
            <a:r>
              <a:rPr dirty="0" err="1"/>
              <a:t>показывает</a:t>
            </a:r>
            <a:r>
              <a:rPr dirty="0"/>
              <a:t> DNS-</a:t>
            </a:r>
            <a:r>
              <a:rPr dirty="0" err="1"/>
              <a:t>серверы</a:t>
            </a:r>
            <a:r>
              <a:rPr dirty="0"/>
              <a:t>, </a:t>
            </a:r>
            <a:r>
              <a:rPr dirty="0" err="1"/>
              <a:t>домены</a:t>
            </a:r>
            <a:r>
              <a:rPr dirty="0"/>
              <a:t> и </a:t>
            </a:r>
            <a:r>
              <a:rPr dirty="0" err="1"/>
              <a:t>состояние</a:t>
            </a:r>
            <a:r>
              <a:rPr dirty="0"/>
              <a:t> resolver.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resolvectl</a:t>
            </a:r>
            <a:r>
              <a:rPr b="1" dirty="0">
                <a:solidFill>
                  <a:srgbClr val="002060"/>
                </a:solidFill>
              </a:rPr>
              <a:t> query example.com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DNS-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задан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разрешается</a:t>
            </a:r>
            <a:r>
              <a:rPr dirty="0"/>
              <a:t>,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смотреть</a:t>
            </a:r>
            <a:r>
              <a:rPr dirty="0"/>
              <a:t> </a:t>
            </a:r>
            <a:r>
              <a:rPr dirty="0" err="1"/>
              <a:t>доступность</a:t>
            </a:r>
            <a:r>
              <a:rPr dirty="0"/>
              <a:t> DNS и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ответы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dig и nslookup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dig</a:t>
            </a:r>
            <a:r>
              <a:rPr dirty="0"/>
              <a:t> и </a:t>
            </a:r>
            <a:r>
              <a:rPr dirty="0" err="1">
                <a:solidFill>
                  <a:srgbClr val="002060"/>
                </a:solidFill>
              </a:rPr>
              <a:t>nslookup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явной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DNS-</a:t>
            </a:r>
            <a:r>
              <a:rPr dirty="0" err="1"/>
              <a:t>запросов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dig example.com</a:t>
            </a:r>
          </a:p>
          <a:p>
            <a:pPr indent="354013">
              <a:defRPr sz="3600"/>
            </a:pPr>
            <a:r>
              <a:rPr dirty="0" err="1"/>
              <a:t>Короткий</a:t>
            </a:r>
            <a:r>
              <a:rPr dirty="0"/>
              <a:t> </a:t>
            </a:r>
            <a:r>
              <a:rPr dirty="0" err="1"/>
              <a:t>ответ</a:t>
            </a:r>
            <a:r>
              <a:rPr dirty="0"/>
              <a:t>: dig +short example.com.</a:t>
            </a:r>
          </a:p>
          <a:p>
            <a:pPr indent="354013">
              <a:defRPr sz="3600"/>
            </a:pPr>
            <a:r>
              <a:rPr dirty="0" err="1"/>
              <a:t>nslookup</a:t>
            </a:r>
            <a:r>
              <a:rPr dirty="0"/>
              <a:t> example.com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 и DNS-</a:t>
            </a:r>
            <a:r>
              <a:rPr dirty="0" err="1"/>
              <a:t>сервер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отвечал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утилит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, </a:t>
            </a:r>
            <a:r>
              <a:rPr dirty="0" err="1"/>
              <a:t>их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устанавливают</a:t>
            </a:r>
            <a:r>
              <a:rPr dirty="0"/>
              <a:t> </a:t>
            </a:r>
            <a:r>
              <a:rPr dirty="0" err="1"/>
              <a:t>пакетами</a:t>
            </a:r>
            <a:r>
              <a:rPr dirty="0"/>
              <a:t> </a:t>
            </a:r>
            <a:r>
              <a:rPr dirty="0" err="1"/>
              <a:t>dnsutils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bind9-dnsutils.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как</a:t>
            </a:r>
            <a:r>
              <a:rPr dirty="0"/>
              <a:t> Linux </a:t>
            </a:r>
            <a:r>
              <a:rPr dirty="0" err="1"/>
              <a:t>разрешает</a:t>
            </a:r>
            <a:r>
              <a:rPr dirty="0"/>
              <a:t> DNS-</a:t>
            </a:r>
            <a:r>
              <a:rPr dirty="0" err="1"/>
              <a:t>имя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862BA6-795C-8A2C-902A-3248987DC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Настройка hostname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Hostname - </a:t>
            </a:r>
            <a:r>
              <a:rPr dirty="0" err="1"/>
              <a:t>системное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Linux-</a:t>
            </a:r>
            <a:r>
              <a:rPr dirty="0" err="1"/>
              <a:t>узла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Оно</a:t>
            </a:r>
            <a:r>
              <a:rPr dirty="0"/>
              <a:t> </a:t>
            </a:r>
            <a:r>
              <a:rPr dirty="0" err="1"/>
              <a:t>отображается</a:t>
            </a:r>
            <a:r>
              <a:rPr dirty="0"/>
              <a:t> в </a:t>
            </a:r>
            <a:r>
              <a:rPr dirty="0" err="1"/>
              <a:t>приглашении</a:t>
            </a:r>
            <a:r>
              <a:rPr dirty="0"/>
              <a:t> shell, </a:t>
            </a:r>
            <a:r>
              <a:rPr dirty="0" err="1"/>
              <a:t>журналах</a:t>
            </a:r>
            <a:r>
              <a:rPr dirty="0"/>
              <a:t>, SSH и </a:t>
            </a:r>
            <a:r>
              <a:rPr dirty="0" err="1"/>
              <a:t>мониторинге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должно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осмысленным</a:t>
            </a:r>
            <a:r>
              <a:rPr dirty="0"/>
              <a:t>: linux-srv01, dns01, web01.</a:t>
            </a:r>
          </a:p>
          <a:p>
            <a:pPr indent="354013">
              <a:defRPr sz="3600"/>
            </a:pPr>
            <a:r>
              <a:rPr dirty="0" err="1"/>
              <a:t>Случайные</a:t>
            </a:r>
            <a:r>
              <a:rPr dirty="0"/>
              <a:t> </a:t>
            </a:r>
            <a:r>
              <a:rPr dirty="0" err="1"/>
              <a:t>имена</a:t>
            </a:r>
            <a:r>
              <a:rPr dirty="0"/>
              <a:t> </a:t>
            </a:r>
            <a:r>
              <a:rPr dirty="0" err="1"/>
              <a:t>вроде</a:t>
            </a:r>
            <a:r>
              <a:rPr dirty="0"/>
              <a:t> ubuntu </a:t>
            </a:r>
            <a:r>
              <a:rPr dirty="0" err="1"/>
              <a:t>или</a:t>
            </a:r>
            <a:r>
              <a:rPr dirty="0"/>
              <a:t> localhost </a:t>
            </a:r>
            <a:r>
              <a:rPr dirty="0" err="1"/>
              <a:t>усложняют</a:t>
            </a:r>
            <a:r>
              <a:rPr dirty="0"/>
              <a:t> </a:t>
            </a:r>
            <a:r>
              <a:rPr dirty="0" err="1"/>
              <a:t>сопровождение</a:t>
            </a:r>
            <a:r>
              <a:rPr dirty="0"/>
              <a:t> </a:t>
            </a:r>
            <a:r>
              <a:rPr dirty="0" err="1"/>
              <a:t>стенда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hostnamectl: просмотр имени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просмотра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: </a:t>
            </a:r>
            <a:r>
              <a:rPr dirty="0" err="1"/>
              <a:t>hostnamectl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Static hostname, Operating System, Kernel и Architecture.</a:t>
            </a:r>
          </a:p>
          <a:p>
            <a:pPr indent="354013">
              <a:defRPr sz="3600"/>
            </a:pPr>
            <a:r>
              <a:rPr dirty="0" err="1"/>
              <a:t>Также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быстро</a:t>
            </a:r>
            <a:r>
              <a:rPr dirty="0"/>
              <a:t> </a:t>
            </a:r>
            <a:r>
              <a:rPr dirty="0" err="1"/>
              <a:t>вывести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командой</a:t>
            </a:r>
            <a:r>
              <a:rPr dirty="0"/>
              <a:t> hostname.</a:t>
            </a: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отчете</a:t>
            </a:r>
            <a:r>
              <a:rPr dirty="0"/>
              <a:t> </a:t>
            </a:r>
            <a:r>
              <a:rPr dirty="0" err="1"/>
              <a:t>полезно</a:t>
            </a:r>
            <a:r>
              <a:rPr dirty="0"/>
              <a:t> </a:t>
            </a:r>
            <a:r>
              <a:rPr dirty="0" err="1"/>
              <a:t>фиксировать</a:t>
            </a:r>
            <a:r>
              <a:rPr dirty="0"/>
              <a:t> hostname </a:t>
            </a:r>
            <a:r>
              <a:rPr dirty="0" err="1"/>
              <a:t>вместе</a:t>
            </a:r>
            <a:r>
              <a:rPr dirty="0"/>
              <a:t> с IP-</a:t>
            </a:r>
            <a:r>
              <a:rPr dirty="0" err="1"/>
              <a:t>адресом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hostnamectl: изменение имени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hostnamectl</a:t>
            </a:r>
            <a:r>
              <a:rPr dirty="0"/>
              <a:t> set-hostname linux-srv01.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: </a:t>
            </a:r>
            <a:r>
              <a:rPr dirty="0" err="1"/>
              <a:t>hostnamectl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некоторых</a:t>
            </a:r>
            <a:r>
              <a:rPr dirty="0"/>
              <a:t> </a:t>
            </a:r>
            <a:r>
              <a:rPr dirty="0" err="1"/>
              <a:t>стендах</a:t>
            </a:r>
            <a:r>
              <a:rPr dirty="0"/>
              <a:t> </a:t>
            </a:r>
            <a:r>
              <a:rPr dirty="0" err="1"/>
              <a:t>также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/</a:t>
            </a:r>
            <a:r>
              <a:rPr dirty="0" err="1"/>
              <a:t>etc</a:t>
            </a:r>
            <a:r>
              <a:rPr dirty="0"/>
              <a:t>/hosts,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локальное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разрешалось</a:t>
            </a:r>
            <a:r>
              <a:rPr dirty="0"/>
              <a:t> </a:t>
            </a:r>
            <a:r>
              <a:rPr dirty="0" err="1"/>
              <a:t>корректно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смены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</a:t>
            </a:r>
            <a:r>
              <a:rPr dirty="0" err="1"/>
              <a:t>новые</a:t>
            </a:r>
            <a:r>
              <a:rPr dirty="0"/>
              <a:t> SSH-</a:t>
            </a:r>
            <a:r>
              <a:rPr dirty="0" err="1"/>
              <a:t>сессии</a:t>
            </a:r>
            <a:r>
              <a:rPr dirty="0"/>
              <a:t> и </a:t>
            </a:r>
            <a:r>
              <a:rPr dirty="0" err="1"/>
              <a:t>журналы</a:t>
            </a:r>
            <a:r>
              <a:rPr dirty="0"/>
              <a:t> </a:t>
            </a:r>
            <a:r>
              <a:rPr dirty="0" err="1"/>
              <a:t>будут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новое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SSH: назначение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SSH - Secure Shell, </a:t>
            </a:r>
            <a:r>
              <a:rPr dirty="0" err="1"/>
              <a:t>защищенный</a:t>
            </a:r>
            <a:r>
              <a:rPr dirty="0"/>
              <a:t> </a:t>
            </a:r>
            <a:r>
              <a:rPr dirty="0" err="1"/>
              <a:t>протокол</a:t>
            </a:r>
            <a:r>
              <a:rPr dirty="0"/>
              <a:t> </a:t>
            </a:r>
            <a:r>
              <a:rPr dirty="0" err="1"/>
              <a:t>удаленного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к </a:t>
            </a:r>
            <a:r>
              <a:rPr dirty="0" err="1"/>
              <a:t>командной</a:t>
            </a:r>
            <a:r>
              <a:rPr dirty="0"/>
              <a:t> </a:t>
            </a:r>
            <a:r>
              <a:rPr dirty="0" err="1"/>
              <a:t>строке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SSH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администратору</a:t>
            </a:r>
            <a:r>
              <a:rPr dirty="0"/>
              <a:t> </a:t>
            </a:r>
            <a:r>
              <a:rPr dirty="0" err="1"/>
              <a:t>управлять</a:t>
            </a:r>
            <a:r>
              <a:rPr dirty="0"/>
              <a:t> </a:t>
            </a:r>
            <a:r>
              <a:rPr dirty="0" err="1"/>
              <a:t>сервером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физического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Клиент</a:t>
            </a:r>
            <a:r>
              <a:rPr dirty="0"/>
              <a:t> SSH </a:t>
            </a:r>
            <a:r>
              <a:rPr dirty="0" err="1"/>
              <a:t>запускается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рабочей</a:t>
            </a:r>
            <a:r>
              <a:rPr dirty="0"/>
              <a:t> </a:t>
            </a:r>
            <a:r>
              <a:rPr dirty="0" err="1"/>
              <a:t>станции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SSH-</a:t>
            </a:r>
            <a:r>
              <a:rPr dirty="0" err="1"/>
              <a:t>сервер</a:t>
            </a:r>
            <a:r>
              <a:rPr dirty="0"/>
              <a:t>,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sshd</a:t>
            </a:r>
            <a:r>
              <a:rPr dirty="0"/>
              <a:t>,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Linux-</a:t>
            </a:r>
            <a:r>
              <a:rPr dirty="0" err="1"/>
              <a:t>сервере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Стандартный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 SSH - TCP 22.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SSH-</a:t>
            </a:r>
            <a:r>
              <a:rPr dirty="0" err="1"/>
              <a:t>клиент</a:t>
            </a:r>
            <a:r>
              <a:rPr dirty="0"/>
              <a:t>, </a:t>
            </a:r>
            <a:r>
              <a:rPr dirty="0" err="1"/>
              <a:t>сервер</a:t>
            </a:r>
            <a:r>
              <a:rPr dirty="0"/>
              <a:t> и </a:t>
            </a:r>
            <a:r>
              <a:rPr dirty="0" err="1"/>
              <a:t>порт</a:t>
            </a:r>
            <a:r>
              <a:rPr dirty="0"/>
              <a:t>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D800CEA-AE39-0639-B19D-30793807F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Подключение по SSH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Базовый</a:t>
            </a:r>
            <a:r>
              <a:rPr dirty="0"/>
              <a:t> </a:t>
            </a:r>
            <a:r>
              <a:rPr dirty="0" err="1"/>
              <a:t>формат</a:t>
            </a:r>
            <a:r>
              <a:rPr dirty="0"/>
              <a:t> </a:t>
            </a:r>
            <a:r>
              <a:rPr dirty="0" err="1"/>
              <a:t>подключения</a:t>
            </a:r>
            <a:r>
              <a:rPr dirty="0"/>
              <a:t>: ssh </a:t>
            </a:r>
            <a:r>
              <a:rPr dirty="0" err="1"/>
              <a:t>пользователь@адрес_сервера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ssh student@192.168.10.20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первом</a:t>
            </a:r>
            <a:r>
              <a:rPr dirty="0"/>
              <a:t> </a:t>
            </a:r>
            <a:r>
              <a:rPr dirty="0" err="1"/>
              <a:t>подключении</a:t>
            </a:r>
            <a:r>
              <a:rPr dirty="0"/>
              <a:t>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fingerprint </a:t>
            </a:r>
            <a:r>
              <a:rPr dirty="0" err="1"/>
              <a:t>сервера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Fingerprint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осознанно</a:t>
            </a:r>
            <a:r>
              <a:rPr dirty="0"/>
              <a:t> </a:t>
            </a:r>
            <a:r>
              <a:rPr dirty="0" err="1"/>
              <a:t>принять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действительно</a:t>
            </a:r>
            <a:r>
              <a:rPr dirty="0"/>
              <a:t> </a:t>
            </a:r>
            <a:r>
              <a:rPr dirty="0" err="1"/>
              <a:t>нужный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успешного</a:t>
            </a:r>
            <a:r>
              <a:rPr dirty="0"/>
              <a:t> </a:t>
            </a:r>
            <a:r>
              <a:rPr dirty="0" err="1"/>
              <a:t>входа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выполняются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удаленном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SSH-службы на сервере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82516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: </a:t>
            </a:r>
            <a:endParaRPr lang="en-US" dirty="0"/>
          </a:p>
          <a:p>
            <a:pPr indent="354013">
              <a:defRPr sz="3600"/>
            </a:pPr>
            <a:r>
              <a:rPr b="1" dirty="0" err="1">
                <a:solidFill>
                  <a:srgbClr val="002060"/>
                </a:solidFill>
              </a:rPr>
              <a:t>systemctl</a:t>
            </a:r>
            <a:r>
              <a:rPr b="1" dirty="0">
                <a:solidFill>
                  <a:srgbClr val="002060"/>
                </a:solidFill>
              </a:rPr>
              <a:t> status ssh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запущена</a:t>
            </a:r>
            <a:r>
              <a:rPr dirty="0"/>
              <a:t>, </a:t>
            </a:r>
            <a:r>
              <a:rPr dirty="0" err="1"/>
              <a:t>используют</a:t>
            </a:r>
            <a:r>
              <a:rPr dirty="0"/>
              <a:t>: </a:t>
            </a:r>
            <a:endParaRPr lang="en-US" dirty="0"/>
          </a:p>
          <a:p>
            <a:pPr indent="354013">
              <a:defRPr sz="3600"/>
            </a:pP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b="1" dirty="0" err="1">
                <a:solidFill>
                  <a:srgbClr val="002060"/>
                </a:solidFill>
              </a:rPr>
              <a:t>systemctl</a:t>
            </a:r>
            <a:r>
              <a:rPr b="1" dirty="0">
                <a:solidFill>
                  <a:srgbClr val="002060"/>
                </a:solidFill>
              </a:rPr>
              <a:t> start ssh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Автозагрузку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: </a:t>
            </a:r>
            <a:endParaRPr lang="en-US" dirty="0"/>
          </a:p>
          <a:p>
            <a:pPr indent="354013">
              <a:defRPr sz="3600"/>
            </a:pPr>
            <a:r>
              <a:rPr b="1" dirty="0" err="1">
                <a:solidFill>
                  <a:srgbClr val="002060"/>
                </a:solidFill>
              </a:rPr>
              <a:t>systemctl</a:t>
            </a:r>
            <a:r>
              <a:rPr b="1" dirty="0">
                <a:solidFill>
                  <a:srgbClr val="002060"/>
                </a:solidFill>
              </a:rPr>
              <a:t> is-enabled ssh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включить</a:t>
            </a:r>
            <a:r>
              <a:rPr dirty="0"/>
              <a:t> и </a:t>
            </a:r>
            <a:r>
              <a:rPr dirty="0" err="1"/>
              <a:t>запустить</a:t>
            </a:r>
            <a:r>
              <a:rPr dirty="0"/>
              <a:t> </a:t>
            </a:r>
            <a:r>
              <a:rPr dirty="0" err="1"/>
              <a:t>сразу</a:t>
            </a:r>
            <a:r>
              <a:rPr dirty="0"/>
              <a:t>: </a:t>
            </a:r>
            <a:endParaRPr lang="en-US" dirty="0"/>
          </a:p>
          <a:p>
            <a:pPr indent="354013">
              <a:defRPr sz="3600"/>
            </a:pP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b="1" dirty="0" err="1">
                <a:solidFill>
                  <a:srgbClr val="002060"/>
                </a:solidFill>
              </a:rPr>
              <a:t>systemctl</a:t>
            </a:r>
            <a:r>
              <a:rPr b="1" dirty="0">
                <a:solidFill>
                  <a:srgbClr val="002060"/>
                </a:solidFill>
              </a:rPr>
              <a:t> enable --now ssh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порта SSH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442913">
              <a:defRPr sz="3600"/>
            </a:pPr>
            <a:r>
              <a:rPr dirty="0" err="1"/>
              <a:t>Даже</a:t>
            </a:r>
            <a:r>
              <a:rPr dirty="0"/>
              <a:t> active-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должна</a:t>
            </a:r>
            <a:r>
              <a:rPr dirty="0"/>
              <a:t> </a:t>
            </a:r>
            <a:r>
              <a:rPr dirty="0" err="1"/>
              <a:t>слушать</a:t>
            </a:r>
            <a:r>
              <a:rPr dirty="0"/>
              <a:t> </a:t>
            </a:r>
            <a:r>
              <a:rPr dirty="0" err="1"/>
              <a:t>сетевой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порта</a:t>
            </a:r>
            <a:r>
              <a:rPr dirty="0"/>
              <a:t>: ss -</a:t>
            </a:r>
            <a:r>
              <a:rPr dirty="0" err="1"/>
              <a:t>tlnp</a:t>
            </a:r>
            <a:r>
              <a:rPr dirty="0"/>
              <a:t> | grep ':22'.</a:t>
            </a:r>
          </a:p>
          <a:p>
            <a:pPr indent="442913">
              <a:defRPr sz="3600"/>
            </a:pPr>
            <a:r>
              <a:rPr dirty="0" err="1"/>
              <a:t>Ключ</a:t>
            </a:r>
            <a:r>
              <a:rPr dirty="0"/>
              <a:t> -t </a:t>
            </a:r>
            <a:r>
              <a:rPr dirty="0" err="1"/>
              <a:t>показывает</a:t>
            </a:r>
            <a:r>
              <a:rPr dirty="0"/>
              <a:t> TCP, -l </a:t>
            </a:r>
            <a:r>
              <a:rPr dirty="0" err="1"/>
              <a:t>только</a:t>
            </a:r>
            <a:r>
              <a:rPr dirty="0"/>
              <a:t> listening, -n </a:t>
            </a:r>
            <a:r>
              <a:rPr dirty="0" err="1"/>
              <a:t>числовые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, -p </a:t>
            </a:r>
            <a:r>
              <a:rPr dirty="0" err="1"/>
              <a:t>процесс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 22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слушается</a:t>
            </a:r>
            <a:r>
              <a:rPr dirty="0"/>
              <a:t>,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сможет</a:t>
            </a:r>
            <a:r>
              <a:rPr dirty="0"/>
              <a:t> </a:t>
            </a:r>
            <a:r>
              <a:rPr dirty="0" err="1"/>
              <a:t>подключиться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SSH.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7. SSH-</a:t>
            </a:r>
            <a:r>
              <a:rPr dirty="0" err="1"/>
              <a:t>ключи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/>
              <a:t>SSH-</a:t>
            </a:r>
            <a:r>
              <a:rPr dirty="0" err="1"/>
              <a:t>ключи</a:t>
            </a:r>
            <a:r>
              <a:rPr dirty="0"/>
              <a:t> - </a:t>
            </a:r>
            <a:r>
              <a:rPr dirty="0" err="1"/>
              <a:t>способ</a:t>
            </a:r>
            <a:r>
              <a:rPr dirty="0"/>
              <a:t> </a:t>
            </a:r>
            <a:r>
              <a:rPr dirty="0" err="1"/>
              <a:t>аутентификации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передачи</a:t>
            </a:r>
            <a:r>
              <a:rPr dirty="0"/>
              <a:t> </a:t>
            </a:r>
            <a:r>
              <a:rPr dirty="0" err="1"/>
              <a:t>пароля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Пара</a:t>
            </a:r>
            <a:r>
              <a:rPr dirty="0"/>
              <a:t> </a:t>
            </a:r>
            <a:r>
              <a:rPr dirty="0" err="1"/>
              <a:t>ключей</a:t>
            </a:r>
            <a:r>
              <a:rPr dirty="0"/>
              <a:t> </a:t>
            </a:r>
            <a:r>
              <a:rPr dirty="0" err="1"/>
              <a:t>состоит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закрытого</a:t>
            </a:r>
            <a:r>
              <a:rPr dirty="0"/>
              <a:t> и </a:t>
            </a:r>
            <a:r>
              <a:rPr dirty="0" err="1"/>
              <a:t>открытого</a:t>
            </a:r>
            <a:r>
              <a:rPr dirty="0"/>
              <a:t> </a:t>
            </a:r>
            <a:r>
              <a:rPr dirty="0" err="1"/>
              <a:t>ключа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Закрытый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</a:t>
            </a:r>
            <a:r>
              <a:rPr dirty="0" err="1"/>
              <a:t>остается</a:t>
            </a:r>
            <a:r>
              <a:rPr dirty="0"/>
              <a:t> у </a:t>
            </a:r>
            <a:r>
              <a:rPr dirty="0" err="1"/>
              <a:t>администратора</a:t>
            </a:r>
            <a:r>
              <a:rPr dirty="0"/>
              <a:t> и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передается</a:t>
            </a:r>
            <a:r>
              <a:rPr dirty="0"/>
              <a:t> </a:t>
            </a:r>
            <a:r>
              <a:rPr dirty="0" err="1"/>
              <a:t>другим</a:t>
            </a:r>
            <a:r>
              <a:rPr dirty="0"/>
              <a:t> </a:t>
            </a:r>
            <a:r>
              <a:rPr dirty="0" err="1"/>
              <a:t>людям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Открытый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</a:t>
            </a:r>
            <a:r>
              <a:rPr dirty="0" err="1"/>
              <a:t>копируется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 в </a:t>
            </a:r>
            <a:r>
              <a:rPr dirty="0" err="1"/>
              <a:t>authorized_keys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проверяет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владеет</a:t>
            </a:r>
            <a:r>
              <a:rPr dirty="0"/>
              <a:t> </a:t>
            </a:r>
            <a:r>
              <a:rPr dirty="0" err="1"/>
              <a:t>соответствующим</a:t>
            </a:r>
            <a:r>
              <a:rPr dirty="0"/>
              <a:t> </a:t>
            </a:r>
            <a:r>
              <a:rPr dirty="0" err="1"/>
              <a:t>закрытым</a:t>
            </a:r>
            <a:r>
              <a:rPr dirty="0"/>
              <a:t> </a:t>
            </a:r>
            <a:r>
              <a:rPr dirty="0" err="1"/>
              <a:t>ключом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аутентификация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SSH-</a:t>
            </a:r>
            <a:r>
              <a:rPr dirty="0" err="1"/>
              <a:t>ключу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B8B5EFE-FFAF-370A-2253-1FFF03CBF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DDAA4-2B6C-3C68-E17E-8FD896CA2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162CD1-79E5-157B-0C04-A58110DD144B}"/>
              </a:ext>
            </a:extLst>
          </p:cNvPr>
          <p:cNvSpPr txBox="1"/>
          <p:nvPr/>
        </p:nvSpPr>
        <p:spPr>
          <a:xfrm>
            <a:off x="457200" y="368710"/>
            <a:ext cx="10972800" cy="6253316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indent="354013">
              <a:defRPr sz="3600"/>
            </a:pPr>
            <a:r>
              <a:rPr lang="ru-RU" b="1" dirty="0"/>
              <a:t>Меры повышения безопасности SSH: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Отказ от паролей: Переключиться на аутентификацию по ключам (Ed25519). Ключи невозможно подобрать перебором (</a:t>
            </a:r>
            <a:r>
              <a:rPr lang="ru-RU" dirty="0" err="1"/>
              <a:t>брутфорсом</a:t>
            </a:r>
            <a:r>
              <a:rPr lang="ru-RU" dirty="0"/>
              <a:t>).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Запрет </a:t>
            </a:r>
            <a:r>
              <a:rPr lang="ru-RU" dirty="0" err="1"/>
              <a:t>Root</a:t>
            </a:r>
            <a:r>
              <a:rPr lang="ru-RU" dirty="0"/>
              <a:t>-доступа: В /</a:t>
            </a:r>
            <a:r>
              <a:rPr lang="ru-RU" dirty="0" err="1"/>
              <a:t>etc</a:t>
            </a:r>
            <a:r>
              <a:rPr lang="ru-RU" dirty="0"/>
              <a:t>/</a:t>
            </a:r>
            <a:r>
              <a:rPr lang="ru-RU" dirty="0" err="1"/>
              <a:t>ssh</a:t>
            </a:r>
            <a:r>
              <a:rPr lang="ru-RU" dirty="0"/>
              <a:t>/</a:t>
            </a:r>
            <a:r>
              <a:rPr lang="ru-RU" dirty="0" err="1"/>
              <a:t>sshd_config</a:t>
            </a:r>
            <a:r>
              <a:rPr lang="ru-RU" dirty="0"/>
              <a:t> выставить </a:t>
            </a:r>
            <a:r>
              <a:rPr lang="ru-RU" dirty="0" err="1"/>
              <a:t>PermitRootLogin</a:t>
            </a:r>
            <a:r>
              <a:rPr lang="ru-RU" dirty="0"/>
              <a:t> </a:t>
            </a:r>
            <a:r>
              <a:rPr lang="ru-RU" dirty="0" err="1"/>
              <a:t>no</a:t>
            </a:r>
            <a:r>
              <a:rPr lang="ru-RU" dirty="0"/>
              <a:t>. Хакеры не смогут зайти под именем суперпользователя напрямую.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Отключение парольного входа: В файле конфигурации задать </a:t>
            </a:r>
            <a:r>
              <a:rPr lang="ru-RU" dirty="0" err="1"/>
              <a:t>PasswordAuthentication</a:t>
            </a:r>
            <a:r>
              <a:rPr lang="ru-RU" dirty="0"/>
              <a:t> </a:t>
            </a:r>
            <a:r>
              <a:rPr lang="ru-RU" dirty="0" err="1"/>
              <a:t>no</a:t>
            </a:r>
            <a:r>
              <a:rPr lang="ru-RU" dirty="0"/>
              <a:t> (строго после проверки работы ключей!).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Смена стандартного порта: Изменить порт со стандартного 22 на любой случайный (например, 2222 или 49152), чтобы скрыться от 99% автоматических ботов-сканеров.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Ограничение в UFW: Разрешить доступ к SSH-порту в файрволе только для конкретных доверенных IP-адресов.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Установка Fail2ban: Защитить порт утилитой, которая автоматически блокирует в файрволе IP-адреса после нескольких неудачных попыток входа.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179509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Создание SSH-ключа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Современный</a:t>
            </a:r>
            <a:r>
              <a:rPr dirty="0"/>
              <a:t> </a:t>
            </a: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ключа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учебной</a:t>
            </a:r>
            <a:r>
              <a:rPr dirty="0"/>
              <a:t> </a:t>
            </a:r>
            <a:r>
              <a:rPr dirty="0" err="1"/>
              <a:t>практики</a:t>
            </a:r>
            <a:r>
              <a:rPr dirty="0"/>
              <a:t>: ed25519.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создания</a:t>
            </a:r>
            <a:r>
              <a:rPr dirty="0"/>
              <a:t>: ssh-keygen -t ed25519 -C "</a:t>
            </a:r>
            <a:r>
              <a:rPr dirty="0" err="1"/>
              <a:t>student@lab</a:t>
            </a:r>
            <a:r>
              <a:rPr dirty="0"/>
              <a:t>".</a:t>
            </a:r>
          </a:p>
          <a:p>
            <a:pPr indent="354013">
              <a:defRPr sz="3600"/>
            </a:pPr>
            <a:r>
              <a:rPr dirty="0" err="1"/>
              <a:t>Закрытый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сохраняется</a:t>
            </a:r>
            <a:r>
              <a:rPr dirty="0"/>
              <a:t> в ~/.ssh/id_ed25519.</a:t>
            </a:r>
          </a:p>
          <a:p>
            <a:pPr indent="354013">
              <a:defRPr sz="3600"/>
            </a:pPr>
            <a:r>
              <a:rPr dirty="0" err="1"/>
              <a:t>Открытый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</a:t>
            </a:r>
            <a:r>
              <a:rPr dirty="0" err="1"/>
              <a:t>сохраняется</a:t>
            </a:r>
            <a:r>
              <a:rPr dirty="0"/>
              <a:t> в ~/.ssh/id_ed25519.pub.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закрытого</a:t>
            </a:r>
            <a:r>
              <a:rPr dirty="0"/>
              <a:t> </a:t>
            </a:r>
            <a:r>
              <a:rPr dirty="0" err="1"/>
              <a:t>ключа</a:t>
            </a:r>
            <a:r>
              <a:rPr dirty="0"/>
              <a:t> </a:t>
            </a:r>
            <a:r>
              <a:rPr dirty="0" err="1"/>
              <a:t>желательно</a:t>
            </a:r>
            <a:r>
              <a:rPr dirty="0"/>
              <a:t> </a:t>
            </a:r>
            <a:r>
              <a:rPr dirty="0" err="1"/>
              <a:t>задать</a:t>
            </a:r>
            <a:r>
              <a:rPr dirty="0"/>
              <a:t> passphrase.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Копирование открытого ключа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312013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Удобный</a:t>
            </a:r>
            <a:r>
              <a:rPr dirty="0"/>
              <a:t> </a:t>
            </a:r>
            <a:r>
              <a:rPr dirty="0" err="1"/>
              <a:t>способ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dirty="0"/>
              <a:t> </a:t>
            </a:r>
            <a:r>
              <a:rPr dirty="0" err="1"/>
              <a:t>ключа</a:t>
            </a:r>
            <a:r>
              <a:rPr dirty="0"/>
              <a:t>: ssh-copy-id student@192.168.10.20.</a:t>
            </a:r>
          </a:p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добавляет</a:t>
            </a:r>
            <a:r>
              <a:rPr dirty="0"/>
              <a:t> </a:t>
            </a:r>
            <a:r>
              <a:rPr dirty="0" err="1"/>
              <a:t>открытый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в ~/.ssh/</a:t>
            </a:r>
            <a:r>
              <a:rPr dirty="0" err="1"/>
              <a:t>authorized_keys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этого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вход</a:t>
            </a:r>
            <a:r>
              <a:rPr dirty="0"/>
              <a:t>: ssh student@192.168.10.20.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ssh-copy-id </a:t>
            </a:r>
            <a:r>
              <a:rPr dirty="0" err="1"/>
              <a:t>недоступен</a:t>
            </a:r>
            <a:r>
              <a:rPr dirty="0"/>
              <a:t>, </a:t>
            </a:r>
            <a:r>
              <a:rPr dirty="0" err="1"/>
              <a:t>открытый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добавить</a:t>
            </a:r>
            <a:r>
              <a:rPr dirty="0"/>
              <a:t> </a:t>
            </a:r>
            <a:r>
              <a:rPr dirty="0" err="1"/>
              <a:t>вручную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сохранить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Права каталога ~/.ssh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97265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Каталог</a:t>
            </a:r>
            <a:r>
              <a:rPr dirty="0"/>
              <a:t> ~/.ssh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доступен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владельцу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Типичные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: </a:t>
            </a:r>
            <a:r>
              <a:rPr dirty="0" err="1"/>
              <a:t>chmod</a:t>
            </a:r>
            <a:r>
              <a:rPr dirty="0"/>
              <a:t> 700 ~/.ssh.</a:t>
            </a:r>
          </a:p>
          <a:p>
            <a:pPr indent="354013">
              <a:defRPr sz="3600"/>
            </a:pP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authorized_keys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: </a:t>
            </a:r>
            <a:r>
              <a:rPr dirty="0" err="1"/>
              <a:t>chmod</a:t>
            </a:r>
            <a:r>
              <a:rPr dirty="0"/>
              <a:t> 600 ~/.ssh/</a:t>
            </a:r>
            <a:r>
              <a:rPr dirty="0" err="1"/>
              <a:t>authorized_keys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слишком</a:t>
            </a:r>
            <a:r>
              <a:rPr dirty="0"/>
              <a:t> </a:t>
            </a:r>
            <a:r>
              <a:rPr dirty="0" err="1"/>
              <a:t>открытые</a:t>
            </a:r>
            <a:r>
              <a:rPr dirty="0"/>
              <a:t>, </a:t>
            </a:r>
            <a:r>
              <a:rPr dirty="0" err="1"/>
              <a:t>sshd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отказаться</a:t>
            </a:r>
            <a:r>
              <a:rPr dirty="0"/>
              <a:t> </a:t>
            </a:r>
            <a:r>
              <a:rPr dirty="0" err="1"/>
              <a:t>принимать</a:t>
            </a:r>
            <a:r>
              <a:rPr dirty="0"/>
              <a:t> </a:t>
            </a:r>
            <a:r>
              <a:rPr dirty="0" err="1"/>
              <a:t>ключи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Владелец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совпадать</a:t>
            </a:r>
            <a:r>
              <a:rPr dirty="0"/>
              <a:t> с </a:t>
            </a:r>
            <a:r>
              <a:rPr dirty="0" err="1"/>
              <a:t>пользователем</a:t>
            </a:r>
            <a:r>
              <a:rPr dirty="0"/>
              <a:t> </a:t>
            </a:r>
            <a:r>
              <a:rPr dirty="0" err="1"/>
              <a:t>учетной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8. </a:t>
            </a:r>
            <a:r>
              <a:rPr dirty="0" err="1"/>
              <a:t>Базовая</a:t>
            </a:r>
            <a:r>
              <a:rPr dirty="0"/>
              <a:t> </a:t>
            </a:r>
            <a:r>
              <a:rPr dirty="0" err="1"/>
              <a:t>настройка</a:t>
            </a:r>
            <a:r>
              <a:rPr dirty="0"/>
              <a:t> </a:t>
            </a:r>
            <a:r>
              <a:rPr dirty="0" err="1"/>
              <a:t>sshd_config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sshd_config</a:t>
            </a:r>
            <a:r>
              <a:rPr dirty="0"/>
              <a:t> - </a:t>
            </a:r>
            <a:r>
              <a:rPr dirty="0" err="1"/>
              <a:t>основной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dirty="0"/>
              <a:t> SSH-</a:t>
            </a:r>
            <a:r>
              <a:rPr dirty="0" err="1"/>
              <a:t>сервера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расположен</a:t>
            </a:r>
            <a:r>
              <a:rPr dirty="0"/>
              <a:t> в /</a:t>
            </a:r>
            <a:r>
              <a:rPr dirty="0" err="1"/>
              <a:t>etc</a:t>
            </a:r>
            <a:r>
              <a:rPr dirty="0"/>
              <a:t>/ssh/</a:t>
            </a:r>
            <a:r>
              <a:rPr dirty="0" err="1"/>
              <a:t>sshd_config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правкой</a:t>
            </a:r>
            <a:r>
              <a:rPr dirty="0"/>
              <a:t> </a:t>
            </a:r>
            <a:r>
              <a:rPr dirty="0" err="1"/>
              <a:t>делают</a:t>
            </a:r>
            <a:r>
              <a:rPr dirty="0"/>
              <a:t> </a:t>
            </a:r>
            <a:r>
              <a:rPr dirty="0" err="1"/>
              <a:t>резервную</a:t>
            </a:r>
            <a:r>
              <a:rPr dirty="0"/>
              <a:t> </a:t>
            </a:r>
            <a:r>
              <a:rPr dirty="0" err="1"/>
              <a:t>копию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Изменения</a:t>
            </a:r>
            <a:r>
              <a:rPr dirty="0"/>
              <a:t> SSH </a:t>
            </a:r>
            <a:r>
              <a:rPr dirty="0" err="1"/>
              <a:t>опасны</a:t>
            </a:r>
            <a:r>
              <a:rPr dirty="0"/>
              <a:t>: </a:t>
            </a:r>
            <a:r>
              <a:rPr dirty="0" err="1"/>
              <a:t>ошибка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заблокировать</a:t>
            </a:r>
            <a:r>
              <a:rPr dirty="0"/>
              <a:t> </a:t>
            </a:r>
            <a:r>
              <a:rPr dirty="0" err="1"/>
              <a:t>удаленный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Старую</a:t>
            </a:r>
            <a:r>
              <a:rPr dirty="0"/>
              <a:t> SSH-</a:t>
            </a:r>
            <a:r>
              <a:rPr dirty="0" err="1"/>
              <a:t>сессию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закрывают</a:t>
            </a:r>
            <a:r>
              <a:rPr dirty="0"/>
              <a:t>, </a:t>
            </a:r>
            <a:r>
              <a:rPr dirty="0" err="1"/>
              <a:t>пока</a:t>
            </a:r>
            <a:r>
              <a:rPr dirty="0"/>
              <a:t> </a:t>
            </a:r>
            <a:r>
              <a:rPr dirty="0" err="1"/>
              <a:t>новая</a:t>
            </a:r>
            <a:r>
              <a:rPr dirty="0"/>
              <a:t>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входа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выполнена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Резервная копия sshd_config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правкой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: </a:t>
            </a:r>
            <a:endParaRPr lang="en-US" dirty="0"/>
          </a:p>
          <a:p>
            <a:pPr>
              <a:defRPr sz="3600"/>
            </a:pPr>
            <a:r>
              <a:rPr dirty="0" err="1">
                <a:solidFill>
                  <a:srgbClr val="002060"/>
                </a:solidFill>
              </a:rPr>
              <a:t>sudo</a:t>
            </a:r>
            <a:r>
              <a:rPr dirty="0">
                <a:solidFill>
                  <a:srgbClr val="002060"/>
                </a:solidFill>
              </a:rPr>
              <a:t> cp /</a:t>
            </a:r>
            <a:r>
              <a:rPr dirty="0" err="1">
                <a:solidFill>
                  <a:srgbClr val="002060"/>
                </a:solidFill>
              </a:rPr>
              <a:t>etc</a:t>
            </a:r>
            <a:r>
              <a:rPr dirty="0">
                <a:solidFill>
                  <a:srgbClr val="002060"/>
                </a:solidFill>
              </a:rPr>
              <a:t>/ssh/</a:t>
            </a:r>
            <a:r>
              <a:rPr dirty="0" err="1">
                <a:solidFill>
                  <a:srgbClr val="002060"/>
                </a:solidFill>
              </a:rPr>
              <a:t>sshd_config</a:t>
            </a:r>
            <a:r>
              <a:rPr dirty="0">
                <a:solidFill>
                  <a:srgbClr val="002060"/>
                </a:solidFill>
              </a:rPr>
              <a:t> /</a:t>
            </a:r>
            <a:r>
              <a:rPr dirty="0" err="1">
                <a:solidFill>
                  <a:srgbClr val="002060"/>
                </a:solidFill>
              </a:rPr>
              <a:t>etc</a:t>
            </a:r>
            <a:r>
              <a:rPr dirty="0">
                <a:solidFill>
                  <a:srgbClr val="002060"/>
                </a:solidFill>
              </a:rPr>
              <a:t>/ssh/</a:t>
            </a:r>
            <a:r>
              <a:rPr dirty="0" err="1">
                <a:solidFill>
                  <a:srgbClr val="002060"/>
                </a:solidFill>
              </a:rPr>
              <a:t>sshd_config.bak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Копия</a:t>
            </a:r>
            <a:r>
              <a:rPr dirty="0"/>
              <a:t> </a:t>
            </a:r>
            <a:r>
              <a:rPr dirty="0" err="1"/>
              <a:t>нужна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быстрого</a:t>
            </a:r>
            <a:r>
              <a:rPr dirty="0"/>
              <a:t> </a:t>
            </a:r>
            <a:r>
              <a:rPr dirty="0" err="1"/>
              <a:t>возврата</a:t>
            </a:r>
            <a:r>
              <a:rPr dirty="0"/>
              <a:t> к </a:t>
            </a:r>
            <a:r>
              <a:rPr dirty="0" err="1"/>
              <a:t>рабочей</a:t>
            </a:r>
            <a:r>
              <a:rPr dirty="0"/>
              <a:t> </a:t>
            </a:r>
            <a:r>
              <a:rPr dirty="0" err="1"/>
              <a:t>конфигурации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копии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открывают</a:t>
            </a:r>
            <a:r>
              <a:rPr dirty="0"/>
              <a:t> в </a:t>
            </a:r>
            <a:r>
              <a:rPr dirty="0" err="1"/>
              <a:t>редакторе</a:t>
            </a:r>
            <a:r>
              <a:rPr dirty="0"/>
              <a:t>, </a:t>
            </a:r>
            <a:r>
              <a:rPr dirty="0" err="1"/>
              <a:t>например</a:t>
            </a:r>
            <a:r>
              <a:rPr dirty="0"/>
              <a:t> </a:t>
            </a:r>
            <a:r>
              <a:rPr dirty="0" err="1">
                <a:solidFill>
                  <a:srgbClr val="002060"/>
                </a:solidFill>
              </a:rPr>
              <a:t>sudo</a:t>
            </a:r>
            <a:r>
              <a:rPr dirty="0">
                <a:solidFill>
                  <a:srgbClr val="002060"/>
                </a:solidFill>
              </a:rPr>
              <a:t> nano /</a:t>
            </a:r>
            <a:r>
              <a:rPr dirty="0" err="1">
                <a:solidFill>
                  <a:srgbClr val="002060"/>
                </a:solidFill>
              </a:rPr>
              <a:t>etc</a:t>
            </a:r>
            <a:r>
              <a:rPr dirty="0">
                <a:solidFill>
                  <a:srgbClr val="002060"/>
                </a:solidFill>
              </a:rPr>
              <a:t>/ssh/</a:t>
            </a:r>
            <a:r>
              <a:rPr dirty="0" err="1">
                <a:solidFill>
                  <a:srgbClr val="002060"/>
                </a:solidFill>
              </a:rPr>
              <a:t>sshd_config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Менять</a:t>
            </a:r>
            <a:r>
              <a:rPr dirty="0"/>
              <a:t> </a:t>
            </a:r>
            <a:r>
              <a:rPr dirty="0" err="1"/>
              <a:t>лучше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смысловой</a:t>
            </a:r>
            <a:r>
              <a:rPr dirty="0"/>
              <a:t> </a:t>
            </a:r>
            <a:r>
              <a:rPr dirty="0" err="1"/>
              <a:t>блок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раз</a:t>
            </a:r>
            <a:r>
              <a:rPr dirty="0"/>
              <a:t>.</a:t>
            </a:r>
            <a:endParaRPr lang="ru-RU" dirty="0"/>
          </a:p>
          <a:p>
            <a:pPr indent="354013">
              <a:defRPr sz="3600"/>
            </a:pPr>
            <a:r>
              <a:rPr lang="ru-RU" sz="3600" dirty="0"/>
              <a:t>Проверка синтаксиса конфигурационного файла перед перезагрузкой</a:t>
            </a:r>
            <a:r>
              <a:rPr lang="ru-RU" dirty="0"/>
              <a:t>: </a:t>
            </a:r>
          </a:p>
          <a:p>
            <a:pPr indent="354013">
              <a:defRPr sz="3600"/>
            </a:pPr>
            <a:r>
              <a:rPr lang="ru-RU" dirty="0" err="1">
                <a:solidFill>
                  <a:srgbClr val="002060"/>
                </a:solidFill>
              </a:rPr>
              <a:t>sudo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 err="1">
                <a:solidFill>
                  <a:srgbClr val="002060"/>
                </a:solidFill>
              </a:rPr>
              <a:t>sshd</a:t>
            </a:r>
            <a:r>
              <a:rPr lang="ru-RU" dirty="0">
                <a:solidFill>
                  <a:srgbClr val="002060"/>
                </a:solidFill>
              </a:rPr>
              <a:t> -t</a:t>
            </a:r>
            <a:endParaRPr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Root login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Параметр</a:t>
            </a:r>
            <a:r>
              <a:rPr dirty="0"/>
              <a:t> </a:t>
            </a:r>
            <a:r>
              <a:rPr dirty="0" err="1"/>
              <a:t>PermitRootLogin</a:t>
            </a:r>
            <a:r>
              <a:rPr dirty="0"/>
              <a:t> </a:t>
            </a:r>
            <a:r>
              <a:rPr dirty="0" err="1"/>
              <a:t>управляет</a:t>
            </a:r>
            <a:r>
              <a:rPr dirty="0"/>
              <a:t> </a:t>
            </a:r>
            <a:r>
              <a:rPr dirty="0" err="1"/>
              <a:t>входом</a:t>
            </a:r>
            <a:r>
              <a:rPr dirty="0"/>
              <a:t> root </a:t>
            </a:r>
            <a:r>
              <a:rPr dirty="0" err="1"/>
              <a:t>по</a:t>
            </a:r>
            <a:r>
              <a:rPr dirty="0"/>
              <a:t> SSH.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базовой</a:t>
            </a:r>
            <a:r>
              <a:rPr dirty="0"/>
              <a:t> </a:t>
            </a:r>
            <a:r>
              <a:rPr dirty="0" err="1"/>
              <a:t>безопасности</a:t>
            </a:r>
            <a:r>
              <a:rPr dirty="0"/>
              <a:t> root login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запрещают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Типичное</a:t>
            </a:r>
            <a:r>
              <a:rPr dirty="0"/>
              <a:t> </a:t>
            </a:r>
            <a:r>
              <a:rPr dirty="0" err="1"/>
              <a:t>значение</a:t>
            </a:r>
            <a:r>
              <a:rPr dirty="0"/>
              <a:t>: </a:t>
            </a:r>
            <a:r>
              <a:rPr dirty="0" err="1"/>
              <a:t>PermitRootLogin</a:t>
            </a:r>
            <a:r>
              <a:rPr dirty="0"/>
              <a:t> no.</a:t>
            </a:r>
          </a:p>
          <a:p>
            <a:pPr indent="354013"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входит</a:t>
            </a:r>
            <a:r>
              <a:rPr dirty="0"/>
              <a:t> </a:t>
            </a:r>
            <a:r>
              <a:rPr dirty="0" err="1"/>
              <a:t>обычным</a:t>
            </a:r>
            <a:r>
              <a:rPr dirty="0"/>
              <a:t> </a:t>
            </a:r>
            <a:r>
              <a:rPr dirty="0" err="1"/>
              <a:t>пользователем</a:t>
            </a:r>
            <a:r>
              <a:rPr dirty="0"/>
              <a:t> и </a:t>
            </a:r>
            <a:r>
              <a:rPr dirty="0" err="1"/>
              <a:t>повышает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sudo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запретом</a:t>
            </a:r>
            <a:r>
              <a:rPr dirty="0"/>
              <a:t> root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убедиться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обычный</a:t>
            </a:r>
            <a:r>
              <a:rPr dirty="0"/>
              <a:t> 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sudo-доступ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Парольный вход и ключи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PasswordAuthentication</a:t>
            </a:r>
            <a:r>
              <a:rPr dirty="0"/>
              <a:t> </a:t>
            </a:r>
            <a:r>
              <a:rPr dirty="0" err="1"/>
              <a:t>управляет</a:t>
            </a:r>
            <a:r>
              <a:rPr dirty="0"/>
              <a:t> </a:t>
            </a:r>
            <a:r>
              <a:rPr dirty="0" err="1"/>
              <a:t>входом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паролю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PubkeyAuthentication</a:t>
            </a:r>
            <a:r>
              <a:rPr dirty="0"/>
              <a:t> </a:t>
            </a:r>
            <a:r>
              <a:rPr dirty="0" err="1"/>
              <a:t>управляет</a:t>
            </a:r>
            <a:r>
              <a:rPr dirty="0"/>
              <a:t> </a:t>
            </a:r>
            <a:r>
              <a:rPr dirty="0" err="1"/>
              <a:t>входом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SSH-</a:t>
            </a:r>
            <a:r>
              <a:rPr dirty="0" err="1"/>
              <a:t>ключам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Отключать</a:t>
            </a:r>
            <a:r>
              <a:rPr dirty="0"/>
              <a:t> </a:t>
            </a:r>
            <a:r>
              <a:rPr dirty="0" err="1"/>
              <a:t>парольный</a:t>
            </a:r>
            <a:r>
              <a:rPr dirty="0"/>
              <a:t> </a:t>
            </a:r>
            <a:r>
              <a:rPr dirty="0" err="1"/>
              <a:t>вход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успешной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входа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ключу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Типичная</a:t>
            </a:r>
            <a:r>
              <a:rPr dirty="0"/>
              <a:t> </a:t>
            </a:r>
            <a:r>
              <a:rPr dirty="0" err="1"/>
              <a:t>безопасная</a:t>
            </a:r>
            <a:r>
              <a:rPr dirty="0"/>
              <a:t> </a:t>
            </a:r>
            <a:r>
              <a:rPr dirty="0" err="1"/>
              <a:t>логика</a:t>
            </a:r>
            <a:r>
              <a:rPr dirty="0"/>
              <a:t>: </a:t>
            </a: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настроить</a:t>
            </a:r>
            <a:r>
              <a:rPr dirty="0"/>
              <a:t> </a:t>
            </a:r>
            <a:r>
              <a:rPr dirty="0" err="1"/>
              <a:t>ключи</a:t>
            </a:r>
            <a:r>
              <a:rPr dirty="0"/>
              <a:t>,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,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ограничивать</a:t>
            </a:r>
            <a:r>
              <a:rPr dirty="0"/>
              <a:t> </a:t>
            </a:r>
            <a:r>
              <a:rPr dirty="0" err="1"/>
              <a:t>парольный</a:t>
            </a:r>
            <a:r>
              <a:rPr dirty="0"/>
              <a:t> </a:t>
            </a:r>
            <a:r>
              <a:rPr dirty="0" err="1"/>
              <a:t>вход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конфигурации SSH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перезапуском</a:t>
            </a:r>
            <a:r>
              <a:rPr dirty="0"/>
              <a:t> SSH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синтаксис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sshd</a:t>
            </a:r>
            <a:r>
              <a:rPr dirty="0"/>
              <a:t> -t.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вывода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, </a:t>
            </a:r>
            <a:r>
              <a:rPr dirty="0" err="1"/>
              <a:t>синтаксис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корректен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применяют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systemctl</a:t>
            </a:r>
            <a:r>
              <a:rPr dirty="0"/>
              <a:t> reload ssh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systemctl</a:t>
            </a:r>
            <a:r>
              <a:rPr dirty="0"/>
              <a:t> restart ssh.</a:t>
            </a:r>
          </a:p>
          <a:p>
            <a:pPr indent="354013">
              <a:defRPr sz="3600"/>
            </a:pP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открывают</a:t>
            </a:r>
            <a:r>
              <a:rPr dirty="0"/>
              <a:t> </a:t>
            </a:r>
            <a:r>
              <a:rPr dirty="0" err="1"/>
              <a:t>новую</a:t>
            </a:r>
            <a:r>
              <a:rPr dirty="0"/>
              <a:t> </a:t>
            </a:r>
            <a:r>
              <a:rPr dirty="0" err="1"/>
              <a:t>сессию</a:t>
            </a:r>
            <a:r>
              <a:rPr dirty="0"/>
              <a:t> SSH и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вход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Старую</a:t>
            </a:r>
            <a:r>
              <a:rPr dirty="0"/>
              <a:t> </a:t>
            </a:r>
            <a:r>
              <a:rPr dirty="0" err="1"/>
              <a:t>рабочую</a:t>
            </a:r>
            <a:r>
              <a:rPr dirty="0"/>
              <a:t> </a:t>
            </a:r>
            <a:r>
              <a:rPr dirty="0" err="1"/>
              <a:t>сессию</a:t>
            </a:r>
            <a:r>
              <a:rPr dirty="0"/>
              <a:t> </a:t>
            </a:r>
            <a:r>
              <a:rPr dirty="0" err="1"/>
              <a:t>закрывают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успешной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новой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9. Firewall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ufw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lang="ru-RU" dirty="0"/>
              <a:t>Сетевой экран (файрвол) в Linux контролирует входящий и исходящий сетевой трафик на основе заданных правил безопасности. </a:t>
            </a:r>
            <a:endParaRPr lang="en-US" dirty="0"/>
          </a:p>
          <a:p>
            <a:pPr indent="354013">
              <a:defRPr sz="3600"/>
            </a:pPr>
            <a:r>
              <a:rPr lang="ru-RU" dirty="0"/>
              <a:t>В современных дистрибутивах </a:t>
            </a:r>
            <a:r>
              <a:rPr lang="ru-RU" dirty="0" err="1"/>
              <a:t>Debian</a:t>
            </a:r>
            <a:r>
              <a:rPr lang="ru-RU" dirty="0"/>
              <a:t> и Ubuntu архитектура файрвола разделена на низкоуровневый движок ядра и удобные пользовательские утилиты.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A0BFAF-AAE8-EDAD-29AB-2AA65551FBE4}"/>
              </a:ext>
            </a:extLst>
          </p:cNvPr>
          <p:cNvSpPr txBox="1"/>
          <p:nvPr/>
        </p:nvSpPr>
        <p:spPr>
          <a:xfrm>
            <a:off x="457200" y="353961"/>
            <a:ext cx="10972800" cy="6164826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indent="354013">
              <a:defRPr sz="3600"/>
            </a:pPr>
            <a:r>
              <a:rPr lang="ru-RU" b="1" dirty="0"/>
              <a:t>Эволюция подсистем ядра: </a:t>
            </a:r>
            <a:r>
              <a:rPr lang="ru-RU" b="1" dirty="0" err="1"/>
              <a:t>iptables</a:t>
            </a:r>
            <a:r>
              <a:rPr lang="ru-RU" b="1" dirty="0"/>
              <a:t> и </a:t>
            </a:r>
            <a:r>
              <a:rPr lang="ru-RU" b="1" dirty="0" err="1"/>
              <a:t>nftables</a:t>
            </a:r>
            <a:r>
              <a:rPr lang="ru-RU" b="1" dirty="0"/>
              <a:t> (Для ознакомления)</a:t>
            </a:r>
          </a:p>
          <a:p>
            <a:pPr indent="354013">
              <a:defRPr sz="3600"/>
            </a:pPr>
            <a:r>
              <a:rPr lang="ru-RU" dirty="0"/>
              <a:t>Все сетевые экраны в Linux работают на уровне ядра операционной системы. Инструменты командной строки лишь управляют этими ядерными модулями.</a:t>
            </a:r>
            <a:endParaRPr lang="en-US" dirty="0"/>
          </a:p>
          <a:p>
            <a:pPr indent="354013">
              <a:defRPr sz="3600"/>
            </a:pPr>
            <a:endParaRPr lang="ru-RU" dirty="0"/>
          </a:p>
          <a:p>
            <a:pPr indent="354013">
              <a:defRPr sz="3600"/>
            </a:pPr>
            <a:r>
              <a:rPr lang="ru-RU" b="1" dirty="0"/>
              <a:t>Исключенный из стандартов: </a:t>
            </a:r>
            <a:r>
              <a:rPr lang="ru-RU" b="1" dirty="0" err="1">
                <a:solidFill>
                  <a:srgbClr val="002060"/>
                </a:solidFill>
              </a:rPr>
              <a:t>iptables</a:t>
            </a:r>
            <a:endParaRPr lang="ru-RU"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r>
              <a:rPr lang="ru-RU" dirty="0"/>
              <a:t>	Что это: Исторический стандарт сетевого экрана Linux, использовавшийся более 20 лет.</a:t>
            </a:r>
          </a:p>
          <a:p>
            <a:pPr indent="354013">
              <a:defRPr sz="3600"/>
            </a:pPr>
            <a:r>
              <a:rPr lang="ru-RU" dirty="0"/>
              <a:t>	Как устроен: Делит трафик на таблицы (</a:t>
            </a:r>
            <a:r>
              <a:rPr lang="ru-RU" dirty="0" err="1"/>
              <a:t>filter</a:t>
            </a:r>
            <a:r>
              <a:rPr lang="ru-RU" dirty="0"/>
              <a:t>, </a:t>
            </a:r>
            <a:r>
              <a:rPr lang="ru-RU" dirty="0" err="1"/>
              <a:t>nat</a:t>
            </a:r>
            <a:r>
              <a:rPr lang="ru-RU" dirty="0"/>
              <a:t>, </a:t>
            </a:r>
            <a:r>
              <a:rPr lang="ru-RU" dirty="0" err="1"/>
              <a:t>mangle</a:t>
            </a:r>
            <a:r>
              <a:rPr lang="ru-RU" dirty="0"/>
              <a:t>) и цепочки (INPUT, OUTPUT, FORWARD).</a:t>
            </a:r>
          </a:p>
          <a:p>
            <a:pPr indent="354013">
              <a:defRPr sz="3600"/>
            </a:pPr>
            <a:r>
              <a:rPr lang="ru-RU" dirty="0"/>
              <a:t>	Минусы: Сложный, громоздкий синтаксис. Плохо масштабируется на современных многоядерных процессорах и при обработке гигантских списков IP-адресов. Раздельные утилиты для IPv4 (</a:t>
            </a:r>
            <a:r>
              <a:rPr lang="ru-RU" dirty="0" err="1"/>
              <a:t>iptables</a:t>
            </a:r>
            <a:r>
              <a:rPr lang="ru-RU" dirty="0"/>
              <a:t>) и IPv6 (ip6tables).</a:t>
            </a:r>
          </a:p>
          <a:p>
            <a:pPr indent="354013">
              <a:defRPr sz="3600"/>
            </a:pPr>
            <a:r>
              <a:rPr lang="ru-RU" dirty="0"/>
              <a:t>	Современный статус: Устарел. В современных </a:t>
            </a:r>
            <a:r>
              <a:rPr lang="ru-RU" dirty="0" err="1"/>
              <a:t>Debian</a:t>
            </a:r>
            <a:r>
              <a:rPr lang="ru-RU" dirty="0"/>
              <a:t>/Ubuntu заменен на слой совместимости </a:t>
            </a:r>
            <a:r>
              <a:rPr lang="ru-RU" dirty="0" err="1"/>
              <a:t>iptables-nft</a:t>
            </a:r>
            <a:r>
              <a:rPr lang="ru-RU" dirty="0"/>
              <a:t>, который переводит старые команды в правила для нового движка </a:t>
            </a:r>
            <a:r>
              <a:rPr lang="ru-RU" dirty="0" err="1"/>
              <a:t>nftables</a:t>
            </a:r>
            <a:r>
              <a:rPr lang="ru-RU" dirty="0"/>
              <a:t>.</a:t>
            </a:r>
          </a:p>
          <a:p>
            <a:pPr indent="354013">
              <a:defRPr sz="3600"/>
            </a:pPr>
            <a:endParaRPr lang="ru-RU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F9EE1-CB75-E05A-4DE0-8E1E13365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74EEE8-5F71-5ADF-872F-D1843B0DA109}"/>
              </a:ext>
            </a:extLst>
          </p:cNvPr>
          <p:cNvSpPr txBox="1"/>
          <p:nvPr/>
        </p:nvSpPr>
        <p:spPr>
          <a:xfrm>
            <a:off x="457200" y="353961"/>
            <a:ext cx="10972800" cy="6164826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lang="ru-RU" b="1" dirty="0"/>
              <a:t>Современный стандарт: </a:t>
            </a:r>
            <a:r>
              <a:rPr lang="ru-RU" b="1" dirty="0" err="1">
                <a:solidFill>
                  <a:srgbClr val="002060"/>
                </a:solidFill>
              </a:rPr>
              <a:t>nftables</a:t>
            </a:r>
            <a:r>
              <a:rPr lang="ru-RU" b="1" dirty="0"/>
              <a:t> (утилита </a:t>
            </a:r>
            <a:r>
              <a:rPr lang="ru-RU" b="1" dirty="0" err="1">
                <a:solidFill>
                  <a:srgbClr val="002060"/>
                </a:solidFill>
              </a:rPr>
              <a:t>nft</a:t>
            </a:r>
            <a:r>
              <a:rPr lang="ru-RU" b="1" dirty="0"/>
              <a:t>)</a:t>
            </a:r>
          </a:p>
          <a:p>
            <a:pPr indent="354013">
              <a:defRPr sz="3600"/>
            </a:pPr>
            <a:r>
              <a:rPr lang="ru-RU" dirty="0"/>
              <a:t>	Что это: Актуальный и очень быстрый движок ядра, пришедший на смену </a:t>
            </a:r>
            <a:r>
              <a:rPr lang="ru-RU" dirty="0" err="1"/>
              <a:t>iptables</a:t>
            </a:r>
            <a:r>
              <a:rPr lang="ru-RU" dirty="0"/>
              <a:t>.</a:t>
            </a:r>
          </a:p>
          <a:p>
            <a:pPr indent="354013">
              <a:defRPr sz="3600"/>
            </a:pPr>
            <a:r>
              <a:rPr lang="ru-RU" dirty="0"/>
              <a:t>	Плюсы:</a:t>
            </a:r>
          </a:p>
          <a:p>
            <a:pPr marL="354013" indent="-354013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	Объединяет IPv4, IPv6, ARP и сетевые мосты в единый контекст.</a:t>
            </a:r>
          </a:p>
          <a:p>
            <a:pPr marL="354013" indent="-354013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	Работает значительно быстрее за счет встроенной виртуальной машины JIT-компиляции прямо в ядре.</a:t>
            </a:r>
          </a:p>
          <a:p>
            <a:pPr marL="354013" indent="-354013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	Синтаксис стал чище и логичнее, но остался низкоуровневым (инженерным).</a:t>
            </a:r>
          </a:p>
          <a:p>
            <a:pPr indent="354013">
              <a:defRPr sz="3600"/>
            </a:pPr>
            <a:r>
              <a:rPr lang="ru-RU" dirty="0"/>
              <a:t>	Применение: Используется по умолчанию «под капотом» в </a:t>
            </a:r>
            <a:r>
              <a:rPr lang="ru-RU" dirty="0" err="1"/>
              <a:t>Debian</a:t>
            </a:r>
            <a:r>
              <a:rPr lang="ru-RU" dirty="0"/>
              <a:t> 10+ и Ubuntu 20.04+.</a:t>
            </a:r>
          </a:p>
        </p:txBody>
      </p:sp>
    </p:spTree>
    <p:extLst>
      <p:ext uri="{BB962C8B-B14F-4D97-AF65-F5344CB8AC3E}">
        <p14:creationId xmlns:p14="http://schemas.microsoft.com/office/powerpoint/2010/main" val="36446605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518F2-0893-58A7-AF7D-66FF636ED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DF14961-37AF-DF74-B0C2-B65A3C7C83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0" t="3583" r="2240" b="2328"/>
          <a:stretch>
            <a:fillRect/>
          </a:stretch>
        </p:blipFill>
        <p:spPr>
          <a:xfrm>
            <a:off x="1150374" y="1371599"/>
            <a:ext cx="9807678" cy="53035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9FAEF7-D870-DCB7-FDC6-D36F496F7806}"/>
              </a:ext>
            </a:extLst>
          </p:cNvPr>
          <p:cNvSpPr txBox="1"/>
          <p:nvPr/>
        </p:nvSpPr>
        <p:spPr>
          <a:xfrm>
            <a:off x="1587190" y="182880"/>
            <a:ext cx="8987140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sz="3200" b="1" dirty="0"/>
              <a:t>Движение трафика в Linux: 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sz="3200" b="1" dirty="0"/>
              <a:t>Цепочки и таблицы файрвола (</a:t>
            </a:r>
            <a:r>
              <a:rPr lang="ru-RU" sz="3200" b="1" dirty="0" err="1"/>
              <a:t>iptables</a:t>
            </a:r>
            <a:r>
              <a:rPr lang="ru-RU" sz="3200" b="1" dirty="0"/>
              <a:t> / </a:t>
            </a:r>
            <a:r>
              <a:rPr lang="ru-RU" sz="3200" b="1" dirty="0" err="1"/>
              <a:t>nftables</a:t>
            </a:r>
            <a:r>
              <a:rPr lang="ru-RU" sz="3200" b="1" dirty="0"/>
              <a:t>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072942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E8863-2600-F1D2-E771-339533C39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F7DD6A7-E808-1AA8-7819-4CEA753070B1}"/>
              </a:ext>
            </a:extLst>
          </p:cNvPr>
          <p:cNvSpPr txBox="1"/>
          <p:nvPr/>
        </p:nvSpPr>
        <p:spPr>
          <a:xfrm>
            <a:off x="457200" y="353961"/>
            <a:ext cx="10972800" cy="6164826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indent="354013" algn="ctr">
              <a:defRPr sz="3600"/>
            </a:pPr>
            <a:r>
              <a:rPr lang="ru-RU" b="1" dirty="0"/>
              <a:t>Подробнее про UFW (</a:t>
            </a:r>
            <a:r>
              <a:rPr lang="ru-RU" b="1" dirty="0" err="1"/>
              <a:t>Uncomplicated</a:t>
            </a:r>
            <a:r>
              <a:rPr lang="ru-RU" b="1" dirty="0"/>
              <a:t> Firewall)</a:t>
            </a:r>
          </a:p>
          <a:p>
            <a:pPr indent="354013">
              <a:defRPr sz="3600"/>
            </a:pPr>
            <a:r>
              <a:rPr lang="ru-RU" dirty="0"/>
              <a:t>UFW (Простой файрвол) — это дружелюбная текстовая надстройка (фронтенд) над системным движком. Она создана разработчиками Ubuntu, чтобы избавить администратора от необходимости писать сложные системные таблицы ядра, позволяя управлять защитой сервера простыми </a:t>
            </a:r>
            <a:r>
              <a:rPr lang="ru-RU" dirty="0" err="1"/>
              <a:t>человекочитаемыми</a:t>
            </a:r>
            <a:r>
              <a:rPr lang="ru-RU" dirty="0"/>
              <a:t> командами.</a:t>
            </a:r>
          </a:p>
          <a:p>
            <a:pPr indent="354013">
              <a:defRPr sz="3600"/>
            </a:pPr>
            <a:r>
              <a:rPr lang="ru-RU" dirty="0"/>
              <a:t>	Где используется: Установлен по умолчанию в Ubuntu. В </a:t>
            </a:r>
            <a:r>
              <a:rPr lang="ru-RU" dirty="0" err="1"/>
              <a:t>Debian</a:t>
            </a:r>
            <a:r>
              <a:rPr lang="ru-RU" dirty="0"/>
              <a:t> его можно легко добавить командой </a:t>
            </a:r>
            <a:r>
              <a:rPr lang="ru-RU" dirty="0" err="1"/>
              <a:t>sudo</a:t>
            </a:r>
            <a:r>
              <a:rPr lang="ru-RU" dirty="0"/>
              <a:t> </a:t>
            </a:r>
            <a:r>
              <a:rPr lang="ru-RU" dirty="0" err="1"/>
              <a:t>apt</a:t>
            </a:r>
            <a:r>
              <a:rPr lang="ru-RU" dirty="0"/>
              <a:t> </a:t>
            </a:r>
            <a:r>
              <a:rPr lang="ru-RU" dirty="0" err="1"/>
              <a:t>install</a:t>
            </a:r>
            <a:r>
              <a:rPr lang="ru-RU" dirty="0"/>
              <a:t> </a:t>
            </a:r>
            <a:r>
              <a:rPr lang="ru-RU" dirty="0" err="1"/>
              <a:t>ufw</a:t>
            </a:r>
            <a:r>
              <a:rPr lang="ru-RU" dirty="0"/>
              <a:t>.</a:t>
            </a:r>
          </a:p>
          <a:p>
            <a:pPr indent="354013">
              <a:defRPr sz="3600"/>
            </a:pPr>
            <a:r>
              <a:rPr lang="ru-RU" dirty="0"/>
              <a:t>Базовая логика UFW: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 умолчанию после активации UFW включает безопасный режим: блокировать всё входящее (</a:t>
            </a:r>
            <a:r>
              <a:rPr lang="ru-RU" dirty="0" err="1"/>
              <a:t>deny</a:t>
            </a:r>
            <a:r>
              <a:rPr lang="ru-RU" dirty="0"/>
              <a:t> </a:t>
            </a:r>
            <a:r>
              <a:rPr lang="ru-RU" dirty="0" err="1"/>
              <a:t>incoming</a:t>
            </a:r>
            <a:r>
              <a:rPr lang="ru-RU" dirty="0"/>
              <a:t>) и разрешать всё исходящее (</a:t>
            </a:r>
            <a:r>
              <a:rPr lang="ru-RU" dirty="0" err="1"/>
              <a:t>allow</a:t>
            </a:r>
            <a:r>
              <a:rPr lang="ru-RU" dirty="0"/>
              <a:t> </a:t>
            </a:r>
            <a:r>
              <a:rPr lang="ru-RU" dirty="0" err="1"/>
              <a:t>outgoing</a:t>
            </a:r>
            <a:r>
              <a:rPr lang="ru-RU" dirty="0"/>
              <a:t>). </a:t>
            </a:r>
            <a:endParaRPr lang="en-US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То есть изнутри сервера в Интернет выйти можно, а снаружи к серверу никто не подключится, пока вы явно не откроете порт.</a:t>
            </a:r>
          </a:p>
        </p:txBody>
      </p:sp>
    </p:spTree>
    <p:extLst>
      <p:ext uri="{BB962C8B-B14F-4D97-AF65-F5344CB8AC3E}">
        <p14:creationId xmlns:p14="http://schemas.microsoft.com/office/powerpoint/2010/main" val="9346828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69DC7-FD21-B1E3-0132-D31D441DB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E63136-9959-3B12-B370-C0187505D909}"/>
              </a:ext>
            </a:extLst>
          </p:cNvPr>
          <p:cNvSpPr txBox="1"/>
          <p:nvPr/>
        </p:nvSpPr>
        <p:spPr>
          <a:xfrm>
            <a:off x="457200" y="353961"/>
            <a:ext cx="10972800" cy="631231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>
              <a:defRPr sz="3600"/>
            </a:pPr>
            <a:r>
              <a:rPr lang="ru-RU" b="1" dirty="0"/>
              <a:t>Шпаргалка по основным командам UFW</a:t>
            </a:r>
          </a:p>
          <a:p>
            <a:pPr>
              <a:defRPr sz="3600"/>
            </a:pPr>
            <a:r>
              <a:rPr lang="ru-RU" dirty="0"/>
              <a:t>Перед началом настройки сетевого экрана на удаленном сервере критически важно сначала разрешить порт SSH, иначе вас мгновенно отключит от сессии без возможности вернуться.</a:t>
            </a:r>
          </a:p>
          <a:p>
            <a:pPr algn="ctr">
              <a:defRPr sz="3600"/>
            </a:pPr>
            <a:r>
              <a:rPr lang="ru-RU" b="1" dirty="0"/>
              <a:t>Управление состоянием службы:</a:t>
            </a:r>
            <a:endParaRPr lang="en-US" b="1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sudo</a:t>
            </a:r>
            <a:r>
              <a:rPr lang="ru-RU" dirty="0"/>
              <a:t> </a:t>
            </a:r>
            <a:r>
              <a:rPr lang="ru-RU" dirty="0" err="1"/>
              <a:t>ufw</a:t>
            </a:r>
            <a:r>
              <a:rPr lang="ru-RU" dirty="0"/>
              <a:t> </a:t>
            </a:r>
            <a:r>
              <a:rPr lang="ru-RU" dirty="0" err="1"/>
              <a:t>status</a:t>
            </a:r>
            <a:r>
              <a:rPr lang="ru-RU" dirty="0"/>
              <a:t> — Проверить текущий статус (покажет </a:t>
            </a:r>
            <a:r>
              <a:rPr lang="ru-RU" dirty="0" err="1"/>
              <a:t>Status</a:t>
            </a:r>
            <a:r>
              <a:rPr lang="ru-RU" dirty="0"/>
              <a:t>: </a:t>
            </a:r>
            <a:r>
              <a:rPr lang="ru-RU" dirty="0" err="1"/>
              <a:t>active</a:t>
            </a:r>
            <a:r>
              <a:rPr lang="ru-RU" dirty="0"/>
              <a:t> или </a:t>
            </a:r>
            <a:r>
              <a:rPr lang="ru-RU" dirty="0" err="1"/>
              <a:t>inactive</a:t>
            </a:r>
            <a:r>
              <a:rPr lang="ru-RU" dirty="0"/>
              <a:t> и список правил).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sudo</a:t>
            </a:r>
            <a:r>
              <a:rPr lang="ru-RU" dirty="0"/>
              <a:t> </a:t>
            </a:r>
            <a:r>
              <a:rPr lang="ru-RU" dirty="0" err="1"/>
              <a:t>ufw</a:t>
            </a:r>
            <a:r>
              <a:rPr lang="ru-RU" dirty="0"/>
              <a:t> </a:t>
            </a:r>
            <a:r>
              <a:rPr lang="ru-RU" dirty="0" err="1"/>
              <a:t>allow</a:t>
            </a:r>
            <a:r>
              <a:rPr lang="ru-RU" dirty="0"/>
              <a:t> </a:t>
            </a:r>
            <a:r>
              <a:rPr lang="ru-RU" dirty="0" err="1"/>
              <a:t>ssh</a:t>
            </a:r>
            <a:r>
              <a:rPr lang="ru-RU" dirty="0"/>
              <a:t> (или порт 22/</a:t>
            </a:r>
            <a:r>
              <a:rPr lang="ru-RU" dirty="0" err="1"/>
              <a:t>tcp</a:t>
            </a:r>
            <a:r>
              <a:rPr lang="ru-RU" dirty="0"/>
              <a:t>) — Самый первый шаг! Разрешить входящие подключения для управления сервером.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sudo</a:t>
            </a:r>
            <a:r>
              <a:rPr lang="ru-RU" dirty="0"/>
              <a:t> </a:t>
            </a:r>
            <a:r>
              <a:rPr lang="ru-RU" dirty="0" err="1"/>
              <a:t>ufw</a:t>
            </a:r>
            <a:r>
              <a:rPr lang="ru-RU" dirty="0"/>
              <a:t> </a:t>
            </a:r>
            <a:r>
              <a:rPr lang="ru-RU" dirty="0" err="1"/>
              <a:t>enable</a:t>
            </a:r>
            <a:r>
              <a:rPr lang="ru-RU" dirty="0"/>
              <a:t> — Включить файрвол (правила начнут действовать, добавится в автозагрузку).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sudo</a:t>
            </a:r>
            <a:r>
              <a:rPr lang="ru-RU" dirty="0"/>
              <a:t> </a:t>
            </a:r>
            <a:r>
              <a:rPr lang="ru-RU" dirty="0" err="1"/>
              <a:t>ufw</a:t>
            </a:r>
            <a:r>
              <a:rPr lang="ru-RU" dirty="0"/>
              <a:t> </a:t>
            </a:r>
            <a:r>
              <a:rPr lang="ru-RU" dirty="0" err="1"/>
              <a:t>disable</a:t>
            </a:r>
            <a:r>
              <a:rPr lang="ru-RU" dirty="0"/>
              <a:t> — Полностью отключить сетевой экран.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sudo</a:t>
            </a:r>
            <a:r>
              <a:rPr lang="ru-RU" dirty="0"/>
              <a:t> </a:t>
            </a:r>
            <a:r>
              <a:rPr lang="ru-RU" dirty="0" err="1"/>
              <a:t>ufw</a:t>
            </a:r>
            <a:r>
              <a:rPr lang="ru-RU" dirty="0"/>
              <a:t> </a:t>
            </a:r>
            <a:r>
              <a:rPr lang="ru-RU" dirty="0" err="1"/>
              <a:t>reset</a:t>
            </a:r>
            <a:r>
              <a:rPr lang="ru-RU" dirty="0"/>
              <a:t> — Сбросить все настройки к заводским.</a:t>
            </a:r>
          </a:p>
        </p:txBody>
      </p:sp>
    </p:spTree>
    <p:extLst>
      <p:ext uri="{BB962C8B-B14F-4D97-AF65-F5344CB8AC3E}">
        <p14:creationId xmlns:p14="http://schemas.microsoft.com/office/powerpoint/2010/main" val="17946192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35605-009C-71D9-9146-F87BCE70C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C686BD-34AC-E0B3-28F4-1A1FD5BF672F}"/>
              </a:ext>
            </a:extLst>
          </p:cNvPr>
          <p:cNvSpPr txBox="1"/>
          <p:nvPr/>
        </p:nvSpPr>
        <p:spPr>
          <a:xfrm>
            <a:off x="457200" y="353961"/>
            <a:ext cx="10972800" cy="631231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Создание правил (Открытие портов):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ufw</a:t>
            </a:r>
            <a:r>
              <a:rPr lang="en-US" dirty="0"/>
              <a:t> allow 80/</a:t>
            </a:r>
            <a:r>
              <a:rPr lang="en-US" dirty="0" err="1"/>
              <a:t>tcp</a:t>
            </a:r>
            <a:r>
              <a:rPr lang="en-US" dirty="0"/>
              <a:t> — </a:t>
            </a:r>
            <a:r>
              <a:rPr lang="ru-RU" dirty="0"/>
              <a:t>Открыть порт 80 (</a:t>
            </a:r>
            <a:r>
              <a:rPr lang="en-US" dirty="0"/>
              <a:t>HTTP) </a:t>
            </a:r>
            <a:r>
              <a:rPr lang="ru-RU" dirty="0"/>
              <a:t>строго для </a:t>
            </a:r>
            <a:r>
              <a:rPr lang="en-US" dirty="0"/>
              <a:t>TCP-</a:t>
            </a:r>
            <a:r>
              <a:rPr lang="ru-RU" dirty="0"/>
              <a:t>трафика.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ufw</a:t>
            </a:r>
            <a:r>
              <a:rPr lang="en-US" dirty="0"/>
              <a:t> allow 53 — </a:t>
            </a:r>
            <a:r>
              <a:rPr lang="ru-RU" dirty="0"/>
              <a:t>Открыть порт 53 (</a:t>
            </a:r>
            <a:r>
              <a:rPr lang="en-US" dirty="0"/>
              <a:t>DNS) </a:t>
            </a:r>
            <a:r>
              <a:rPr lang="ru-RU" dirty="0"/>
              <a:t>сразу для протоколов </a:t>
            </a:r>
            <a:r>
              <a:rPr lang="en-US" dirty="0"/>
              <a:t>TCP </a:t>
            </a:r>
            <a:r>
              <a:rPr lang="ru-RU" dirty="0"/>
              <a:t>и </a:t>
            </a:r>
            <a:r>
              <a:rPr lang="en-US" dirty="0"/>
              <a:t>UDP.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ufw</a:t>
            </a:r>
            <a:r>
              <a:rPr lang="en-US" dirty="0"/>
              <a:t> allow from 192.168.1.50 — </a:t>
            </a:r>
            <a:r>
              <a:rPr lang="ru-RU" dirty="0"/>
              <a:t>Разрешить любые подключения, но строго с доверенного </a:t>
            </a:r>
            <a:r>
              <a:rPr lang="en-US" dirty="0"/>
              <a:t>IP-</a:t>
            </a:r>
            <a:r>
              <a:rPr lang="ru-RU" dirty="0"/>
              <a:t>адреса.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ufw</a:t>
            </a:r>
            <a:r>
              <a:rPr lang="en-US" dirty="0"/>
              <a:t> allow from 10.0.0.0/24 to any port 3306 — </a:t>
            </a:r>
            <a:r>
              <a:rPr lang="ru-RU" dirty="0"/>
              <a:t>Разрешить доступ к базе данных (порт 3006) только для компьютеров из локальной подсети.</a:t>
            </a:r>
          </a:p>
        </p:txBody>
      </p:sp>
    </p:spTree>
    <p:extLst>
      <p:ext uri="{BB962C8B-B14F-4D97-AF65-F5344CB8AC3E}">
        <p14:creationId xmlns:p14="http://schemas.microsoft.com/office/powerpoint/2010/main" val="27709136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9F35F-BC11-17E9-8BA5-5C19D41C4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B3D361-4078-998C-11B0-7A2008A57819}"/>
              </a:ext>
            </a:extLst>
          </p:cNvPr>
          <p:cNvSpPr txBox="1"/>
          <p:nvPr/>
        </p:nvSpPr>
        <p:spPr>
          <a:xfrm>
            <a:off x="457200" y="353961"/>
            <a:ext cx="11488994" cy="631231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Закрытие и удаление правил:</a:t>
            </a:r>
            <a:endParaRPr lang="en-US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sudo</a:t>
            </a:r>
            <a:r>
              <a:rPr lang="ru-RU" dirty="0"/>
              <a:t> </a:t>
            </a:r>
            <a:r>
              <a:rPr lang="ru-RU" dirty="0" err="1"/>
              <a:t>ufw</a:t>
            </a:r>
            <a:r>
              <a:rPr lang="ru-RU" dirty="0"/>
              <a:t> </a:t>
            </a:r>
            <a:r>
              <a:rPr lang="ru-RU" dirty="0" err="1"/>
              <a:t>deny</a:t>
            </a:r>
            <a:r>
              <a:rPr lang="ru-RU" dirty="0"/>
              <a:t> 21/</a:t>
            </a:r>
            <a:r>
              <a:rPr lang="ru-RU" dirty="0" err="1"/>
              <a:t>tcp</a:t>
            </a:r>
            <a:r>
              <a:rPr lang="ru-RU" dirty="0"/>
              <a:t> — Явно запретить входящий трафик на порт FTP (21).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sudo</a:t>
            </a:r>
            <a:r>
              <a:rPr lang="ru-RU" dirty="0"/>
              <a:t> </a:t>
            </a:r>
            <a:r>
              <a:rPr lang="ru-RU" dirty="0" err="1"/>
              <a:t>ufw</a:t>
            </a:r>
            <a:r>
              <a:rPr lang="ru-RU" dirty="0"/>
              <a:t> </a:t>
            </a:r>
            <a:r>
              <a:rPr lang="ru-RU" dirty="0" err="1"/>
              <a:t>delete</a:t>
            </a:r>
            <a:r>
              <a:rPr lang="ru-RU" dirty="0"/>
              <a:t> </a:t>
            </a:r>
            <a:r>
              <a:rPr lang="ru-RU" dirty="0" err="1"/>
              <a:t>allow</a:t>
            </a:r>
            <a:r>
              <a:rPr lang="ru-RU" dirty="0"/>
              <a:t> 80/</a:t>
            </a:r>
            <a:r>
              <a:rPr lang="ru-RU" dirty="0" err="1"/>
              <a:t>tcp</a:t>
            </a:r>
            <a:r>
              <a:rPr lang="ru-RU" dirty="0"/>
              <a:t> — Удалить ранее созданное разрешающее правило для порта 80.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sudo</a:t>
            </a:r>
            <a:r>
              <a:rPr lang="ru-RU" dirty="0"/>
              <a:t> </a:t>
            </a:r>
            <a:r>
              <a:rPr lang="ru-RU" dirty="0" err="1"/>
              <a:t>ufw</a:t>
            </a:r>
            <a:r>
              <a:rPr lang="ru-RU" dirty="0"/>
              <a:t> </a:t>
            </a:r>
            <a:r>
              <a:rPr lang="ru-RU" dirty="0" err="1"/>
              <a:t>status</a:t>
            </a:r>
            <a:r>
              <a:rPr lang="ru-RU" dirty="0"/>
              <a:t> </a:t>
            </a:r>
            <a:r>
              <a:rPr lang="ru-RU" dirty="0" err="1"/>
              <a:t>numbered</a:t>
            </a:r>
            <a:r>
              <a:rPr lang="ru-RU" dirty="0"/>
              <a:t> → </a:t>
            </a:r>
            <a:r>
              <a:rPr lang="ru-RU" dirty="0" err="1"/>
              <a:t>sudo</a:t>
            </a:r>
            <a:r>
              <a:rPr lang="ru-RU" dirty="0"/>
              <a:t> </a:t>
            </a:r>
            <a:r>
              <a:rPr lang="ru-RU" dirty="0" err="1"/>
              <a:t>ufw</a:t>
            </a:r>
            <a:r>
              <a:rPr lang="ru-RU" dirty="0"/>
              <a:t> </a:t>
            </a:r>
            <a:r>
              <a:rPr lang="ru-RU" dirty="0" err="1"/>
              <a:t>delete</a:t>
            </a:r>
            <a:r>
              <a:rPr lang="ru-RU" dirty="0"/>
              <a:t> 3 — Удаление по номеру: сначала выводится список правил с индексами, а затем одной командой удаляется строка под номером 3.</a:t>
            </a:r>
          </a:p>
          <a:p>
            <a:pPr>
              <a:defRPr sz="3600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47284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A43EA-93E3-0009-4A5A-8AF728AF1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CF2242-FACF-4DBA-3CCE-CB8E508EFD6B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базовые</a:t>
            </a:r>
            <a:r>
              <a:rPr dirty="0"/>
              <a:t> </a:t>
            </a:r>
            <a:r>
              <a:rPr dirty="0" err="1"/>
              <a:t>правила</a:t>
            </a:r>
            <a:r>
              <a:rPr dirty="0"/>
              <a:t> </a:t>
            </a:r>
            <a:r>
              <a:rPr dirty="0" err="1"/>
              <a:t>ufw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F9A9A8-05C5-F217-1A05-5EEA2E5F22FB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F618B6-6888-54D0-0A1E-D77EBB067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9139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состояния ufw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Состояние</a:t>
            </a:r>
            <a:r>
              <a:rPr dirty="0"/>
              <a:t> firewall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ufw</a:t>
            </a:r>
            <a:r>
              <a:rPr dirty="0"/>
              <a:t> status verbose.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ufw</a:t>
            </a:r>
            <a:r>
              <a:rPr dirty="0"/>
              <a:t> inactive, </a:t>
            </a:r>
            <a:r>
              <a:rPr dirty="0" err="1"/>
              <a:t>правила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настроены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применяются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verbose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политику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умолчанию</a:t>
            </a:r>
            <a:r>
              <a:rPr dirty="0"/>
              <a:t> и </a:t>
            </a:r>
            <a:r>
              <a:rPr dirty="0" err="1"/>
              <a:t>разрешенные</a:t>
            </a:r>
            <a:r>
              <a:rPr dirty="0"/>
              <a:t> </a:t>
            </a:r>
            <a:r>
              <a:rPr dirty="0" err="1"/>
              <a:t>правила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включением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убедиться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правило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SSH.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Разрешение SSH и HTTP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Разрешить</a:t>
            </a:r>
            <a:r>
              <a:rPr dirty="0"/>
              <a:t> SSH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профилем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ufw</a:t>
            </a:r>
            <a:r>
              <a:rPr dirty="0"/>
              <a:t> allow OpenSSH.</a:t>
            </a:r>
          </a:p>
          <a:p>
            <a:pPr indent="354013">
              <a:defRPr sz="3600"/>
            </a:pP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указать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 </a:t>
            </a:r>
            <a:r>
              <a:rPr dirty="0" err="1"/>
              <a:t>явно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ufw</a:t>
            </a:r>
            <a:r>
              <a:rPr dirty="0"/>
              <a:t> allow 22/</a:t>
            </a:r>
            <a:r>
              <a:rPr dirty="0" err="1"/>
              <a:t>tcp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веб-сервера</a:t>
            </a:r>
            <a:r>
              <a:rPr dirty="0"/>
              <a:t> </a:t>
            </a:r>
            <a:r>
              <a:rPr dirty="0" err="1"/>
              <a:t>разрешают</a:t>
            </a:r>
            <a:r>
              <a:rPr dirty="0"/>
              <a:t> HTTP: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ufw</a:t>
            </a:r>
            <a:r>
              <a:rPr dirty="0"/>
              <a:t> allow 80/</a:t>
            </a:r>
            <a:r>
              <a:rPr dirty="0" err="1"/>
              <a:t>tcp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HTTPS </a:t>
            </a:r>
            <a:r>
              <a:rPr dirty="0" err="1"/>
              <a:t>используют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ufw</a:t>
            </a:r>
            <a:r>
              <a:rPr dirty="0"/>
              <a:t> allow 443/</a:t>
            </a:r>
            <a:r>
              <a:rPr dirty="0" err="1"/>
              <a:t>tcp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добавления</a:t>
            </a:r>
            <a:r>
              <a:rPr dirty="0"/>
              <a:t> </a:t>
            </a:r>
            <a:r>
              <a:rPr dirty="0" err="1"/>
              <a:t>правил</a:t>
            </a:r>
            <a:r>
              <a:rPr dirty="0"/>
              <a:t> </a:t>
            </a:r>
            <a:r>
              <a:rPr dirty="0" err="1"/>
              <a:t>снова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ufw</a:t>
            </a:r>
            <a:r>
              <a:rPr dirty="0"/>
              <a:t> status verbose.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Включение ufw без потери доступа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Правильный</a:t>
            </a:r>
            <a:r>
              <a:rPr dirty="0"/>
              <a:t> </a:t>
            </a:r>
            <a:r>
              <a:rPr dirty="0" err="1"/>
              <a:t>порядок</a:t>
            </a:r>
            <a:r>
              <a:rPr dirty="0"/>
              <a:t>: </a:t>
            </a: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разрешить</a:t>
            </a:r>
            <a:r>
              <a:rPr dirty="0"/>
              <a:t> SSH,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включать</a:t>
            </a:r>
            <a:r>
              <a:rPr dirty="0"/>
              <a:t> firewall.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ufw</a:t>
            </a:r>
            <a:r>
              <a:rPr dirty="0"/>
              <a:t> allow OpenSSH.</a:t>
            </a:r>
          </a:p>
          <a:p>
            <a:pPr indent="354013">
              <a:defRPr sz="3600"/>
            </a:pPr>
            <a:r>
              <a:rPr dirty="0" err="1"/>
              <a:t>Затем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ufw</a:t>
            </a:r>
            <a:r>
              <a:rPr dirty="0"/>
              <a:t> enable.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включения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текущую</a:t>
            </a:r>
            <a:r>
              <a:rPr dirty="0"/>
              <a:t> SSH-</a:t>
            </a:r>
            <a:r>
              <a:rPr dirty="0" err="1"/>
              <a:t>сессию</a:t>
            </a:r>
            <a:r>
              <a:rPr dirty="0"/>
              <a:t> и </a:t>
            </a:r>
            <a:r>
              <a:rPr dirty="0" err="1"/>
              <a:t>открывают</a:t>
            </a:r>
            <a:r>
              <a:rPr dirty="0"/>
              <a:t> </a:t>
            </a:r>
            <a:r>
              <a:rPr dirty="0" err="1"/>
              <a:t>новую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новая</a:t>
            </a:r>
            <a:r>
              <a:rPr dirty="0"/>
              <a:t> </a:t>
            </a:r>
            <a:r>
              <a:rPr dirty="0" err="1"/>
              <a:t>сессия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открывается</a:t>
            </a:r>
            <a:r>
              <a:rPr dirty="0"/>
              <a:t>, </a:t>
            </a:r>
            <a:r>
              <a:rPr dirty="0" err="1"/>
              <a:t>старую</a:t>
            </a:r>
            <a:r>
              <a:rPr dirty="0"/>
              <a:t> </a:t>
            </a:r>
            <a:r>
              <a:rPr dirty="0" err="1"/>
              <a:t>сессию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закрывают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Ограничение SSH по 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/>
              <a:t>SSH </a:t>
            </a:r>
            <a:r>
              <a:rPr dirty="0" err="1"/>
              <a:t>лучше</a:t>
            </a:r>
            <a:r>
              <a:rPr dirty="0"/>
              <a:t> </a:t>
            </a:r>
            <a:r>
              <a:rPr dirty="0" err="1"/>
              <a:t>открывать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всем</a:t>
            </a:r>
            <a:r>
              <a:rPr dirty="0"/>
              <a:t>, а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 </a:t>
            </a:r>
            <a:r>
              <a:rPr dirty="0" err="1"/>
              <a:t>управления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ufw</a:t>
            </a:r>
            <a:r>
              <a:rPr dirty="0"/>
              <a:t> allow from 192.168.10.0/24 to any port 22 proto </a:t>
            </a:r>
            <a:r>
              <a:rPr dirty="0" err="1"/>
              <a:t>tcp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Так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принимает</a:t>
            </a:r>
            <a:r>
              <a:rPr dirty="0"/>
              <a:t> SSH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указанной</a:t>
            </a:r>
            <a:r>
              <a:rPr dirty="0"/>
              <a:t> </a:t>
            </a:r>
            <a:r>
              <a:rPr dirty="0" err="1"/>
              <a:t>подсети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Правило </a:t>
            </a:r>
            <a:r>
              <a:rPr dirty="0" err="1"/>
              <a:t>должно</a:t>
            </a:r>
            <a:r>
              <a:rPr dirty="0"/>
              <a:t> </a:t>
            </a:r>
            <a:r>
              <a:rPr dirty="0" err="1"/>
              <a:t>соответствовать</a:t>
            </a:r>
            <a:r>
              <a:rPr dirty="0"/>
              <a:t> </a:t>
            </a:r>
            <a:r>
              <a:rPr dirty="0" err="1"/>
              <a:t>адресному</a:t>
            </a:r>
            <a:r>
              <a:rPr dirty="0"/>
              <a:t> </a:t>
            </a:r>
            <a:r>
              <a:rPr dirty="0" err="1"/>
              <a:t>плану</a:t>
            </a:r>
            <a:r>
              <a:rPr dirty="0"/>
              <a:t> </a:t>
            </a:r>
            <a:r>
              <a:rPr dirty="0" err="1"/>
              <a:t>стенда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с </a:t>
            </a:r>
            <a:r>
              <a:rPr dirty="0" err="1"/>
              <a:t>разрешенного</a:t>
            </a:r>
            <a:r>
              <a:rPr dirty="0"/>
              <a:t> и </a:t>
            </a:r>
            <a:r>
              <a:rPr dirty="0" err="1"/>
              <a:t>запрещенного</a:t>
            </a:r>
            <a:r>
              <a:rPr dirty="0"/>
              <a:t> </a:t>
            </a:r>
            <a:r>
              <a:rPr dirty="0" err="1"/>
              <a:t>клиента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Удаление ошибочного правила ufw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правил</a:t>
            </a:r>
            <a:r>
              <a:rPr dirty="0"/>
              <a:t> с </a:t>
            </a:r>
            <a:r>
              <a:rPr dirty="0" err="1"/>
              <a:t>номерами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ufw</a:t>
            </a:r>
            <a:r>
              <a:rPr dirty="0"/>
              <a:t> status numbered.</a:t>
            </a:r>
          </a:p>
          <a:p>
            <a:pPr indent="354013">
              <a:defRPr sz="3600"/>
            </a:pPr>
            <a:r>
              <a:rPr dirty="0" err="1"/>
              <a:t>Удаление</a:t>
            </a:r>
            <a:r>
              <a:rPr dirty="0"/>
              <a:t> </a:t>
            </a:r>
            <a:r>
              <a:rPr dirty="0" err="1"/>
              <a:t>правила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номеру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ufw</a:t>
            </a:r>
            <a:r>
              <a:rPr dirty="0"/>
              <a:t> delete 2.</a:t>
            </a:r>
          </a:p>
          <a:p>
            <a:pPr indent="354013">
              <a:defRPr sz="3600"/>
            </a:pPr>
            <a:r>
              <a:rPr dirty="0" err="1"/>
              <a:t>Номер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проверять</a:t>
            </a:r>
            <a:r>
              <a:rPr dirty="0"/>
              <a:t> </a:t>
            </a: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удалением</a:t>
            </a:r>
            <a:r>
              <a:rPr dirty="0"/>
              <a:t>, </a:t>
            </a:r>
            <a:r>
              <a:rPr dirty="0" err="1"/>
              <a:t>потому</a:t>
            </a:r>
            <a:r>
              <a:rPr dirty="0"/>
              <a:t>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удаления</a:t>
            </a:r>
            <a:r>
              <a:rPr dirty="0"/>
              <a:t>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меняется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удаления</a:t>
            </a:r>
            <a:r>
              <a:rPr dirty="0"/>
              <a:t> </a:t>
            </a:r>
            <a:r>
              <a:rPr dirty="0" err="1"/>
              <a:t>снова</a:t>
            </a:r>
            <a:r>
              <a:rPr dirty="0"/>
              <a:t> </a:t>
            </a:r>
            <a:r>
              <a:rPr dirty="0" err="1"/>
              <a:t>выполняют</a:t>
            </a:r>
            <a:r>
              <a:rPr dirty="0"/>
              <a:t>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ufw</a:t>
            </a:r>
            <a:r>
              <a:rPr dirty="0"/>
              <a:t> status numbered.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Итоговая диагностика сети и SSH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Интерфейс</a:t>
            </a:r>
            <a:r>
              <a:rPr dirty="0"/>
              <a:t>: </a:t>
            </a:r>
            <a:r>
              <a:rPr dirty="0" err="1"/>
              <a:t>ip</a:t>
            </a:r>
            <a:r>
              <a:rPr dirty="0"/>
              <a:t> link и </a:t>
            </a:r>
            <a:r>
              <a:rPr dirty="0" err="1"/>
              <a:t>ip</a:t>
            </a:r>
            <a:r>
              <a:rPr dirty="0"/>
              <a:t> </a:t>
            </a:r>
            <a:r>
              <a:rPr dirty="0" err="1"/>
              <a:t>addr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Маршрут</a:t>
            </a:r>
            <a:r>
              <a:rPr dirty="0"/>
              <a:t>: </a:t>
            </a:r>
            <a:r>
              <a:rPr dirty="0" err="1"/>
              <a:t>ip</a:t>
            </a:r>
            <a:r>
              <a:rPr dirty="0"/>
              <a:t> route и </a:t>
            </a:r>
            <a:r>
              <a:rPr dirty="0" err="1"/>
              <a:t>ip</a:t>
            </a:r>
            <a:r>
              <a:rPr dirty="0"/>
              <a:t> route get.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Доступность</a:t>
            </a:r>
            <a:r>
              <a:rPr dirty="0"/>
              <a:t> gateway: ping -c 4 </a:t>
            </a:r>
            <a:r>
              <a:rPr dirty="0" err="1"/>
              <a:t>адрес_gateway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DNS: </a:t>
            </a:r>
            <a:r>
              <a:rPr dirty="0" err="1"/>
              <a:t>resolvectl</a:t>
            </a:r>
            <a:r>
              <a:rPr dirty="0"/>
              <a:t> query </a:t>
            </a:r>
            <a:r>
              <a:rPr dirty="0" err="1"/>
              <a:t>или</a:t>
            </a:r>
            <a:r>
              <a:rPr dirty="0"/>
              <a:t> dig +short.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SSH и firewall: </a:t>
            </a:r>
            <a:r>
              <a:rPr dirty="0" err="1"/>
              <a:t>systemctl</a:t>
            </a:r>
            <a:r>
              <a:rPr dirty="0"/>
              <a:t> status ssh, ss -</a:t>
            </a:r>
            <a:r>
              <a:rPr dirty="0" err="1"/>
              <a:t>tlnp</a:t>
            </a:r>
            <a:r>
              <a:rPr dirty="0"/>
              <a:t>,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ufw</a:t>
            </a:r>
            <a:r>
              <a:rPr dirty="0"/>
              <a:t> status verbose.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Проверять</a:t>
            </a:r>
            <a:r>
              <a:rPr dirty="0"/>
              <a:t> DNS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IP-</a:t>
            </a:r>
            <a:r>
              <a:rPr dirty="0" err="1"/>
              <a:t>связности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Иметь</a:t>
            </a:r>
            <a:r>
              <a:rPr dirty="0"/>
              <a:t> </a:t>
            </a:r>
            <a:r>
              <a:rPr dirty="0" err="1"/>
              <a:t>правильный</a:t>
            </a:r>
            <a:r>
              <a:rPr dirty="0"/>
              <a:t> IP,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забыть</a:t>
            </a:r>
            <a:r>
              <a:rPr dirty="0"/>
              <a:t> default gateway.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Отключить</a:t>
            </a:r>
            <a:r>
              <a:rPr dirty="0"/>
              <a:t> </a:t>
            </a:r>
            <a:r>
              <a:rPr dirty="0" err="1"/>
              <a:t>парольный</a:t>
            </a:r>
            <a:r>
              <a:rPr dirty="0"/>
              <a:t> SSH-</a:t>
            </a:r>
            <a:r>
              <a:rPr dirty="0" err="1"/>
              <a:t>вход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ключей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Включить</a:t>
            </a:r>
            <a:r>
              <a:rPr dirty="0"/>
              <a:t> </a:t>
            </a:r>
            <a:r>
              <a:rPr dirty="0" err="1"/>
              <a:t>ufw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разрешения</a:t>
            </a:r>
            <a:r>
              <a:rPr dirty="0"/>
              <a:t> SSH.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Считать</a:t>
            </a:r>
            <a:r>
              <a:rPr dirty="0"/>
              <a:t> status ssh </a:t>
            </a:r>
            <a:r>
              <a:rPr dirty="0" err="1"/>
              <a:t>достаточным</a:t>
            </a:r>
            <a:r>
              <a:rPr dirty="0"/>
              <a:t>,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проверив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 и </a:t>
            </a:r>
            <a:r>
              <a:rPr dirty="0" err="1"/>
              <a:t>клиентское</a:t>
            </a:r>
            <a:r>
              <a:rPr dirty="0"/>
              <a:t> </a:t>
            </a:r>
            <a:r>
              <a:rPr dirty="0" err="1"/>
              <a:t>подключение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Сеть</a:t>
            </a:r>
            <a:r>
              <a:rPr dirty="0"/>
              <a:t> Linux </a:t>
            </a:r>
            <a:r>
              <a:rPr dirty="0" err="1"/>
              <a:t>проверяется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уровням</a:t>
            </a:r>
            <a:r>
              <a:rPr dirty="0"/>
              <a:t>: </a:t>
            </a:r>
            <a:r>
              <a:rPr dirty="0" err="1"/>
              <a:t>интерфейс</a:t>
            </a:r>
            <a:r>
              <a:rPr dirty="0"/>
              <a:t>, IP, </a:t>
            </a:r>
            <a:r>
              <a:rPr dirty="0" err="1"/>
              <a:t>маршрут</a:t>
            </a:r>
            <a:r>
              <a:rPr dirty="0"/>
              <a:t>, DNS, TCP-</a:t>
            </a:r>
            <a:r>
              <a:rPr dirty="0" err="1"/>
              <a:t>порт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SSH - </a:t>
            </a:r>
            <a:r>
              <a:rPr dirty="0" err="1"/>
              <a:t>основной</a:t>
            </a:r>
            <a:r>
              <a:rPr dirty="0"/>
              <a:t> </a:t>
            </a:r>
            <a:r>
              <a:rPr dirty="0" err="1"/>
              <a:t>инструмент</a:t>
            </a:r>
            <a:r>
              <a:rPr dirty="0"/>
              <a:t> </a:t>
            </a:r>
            <a:r>
              <a:rPr dirty="0" err="1"/>
              <a:t>удаленного</a:t>
            </a:r>
            <a:r>
              <a:rPr dirty="0"/>
              <a:t> </a:t>
            </a:r>
            <a:r>
              <a:rPr dirty="0" err="1"/>
              <a:t>администрирования</a:t>
            </a:r>
            <a:r>
              <a:rPr dirty="0"/>
              <a:t> Linux-</a:t>
            </a:r>
            <a:r>
              <a:rPr dirty="0" err="1"/>
              <a:t>сервера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SSH-</a:t>
            </a:r>
            <a:r>
              <a:rPr dirty="0" err="1"/>
              <a:t>ключи</a:t>
            </a:r>
            <a:r>
              <a:rPr dirty="0"/>
              <a:t> </a:t>
            </a:r>
            <a:r>
              <a:rPr dirty="0" err="1"/>
              <a:t>повышают</a:t>
            </a:r>
            <a:r>
              <a:rPr dirty="0"/>
              <a:t> </a:t>
            </a:r>
            <a:r>
              <a:rPr dirty="0" err="1"/>
              <a:t>безопасность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закрытый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</a:t>
            </a:r>
            <a:r>
              <a:rPr dirty="0" err="1"/>
              <a:t>защищен</a:t>
            </a:r>
            <a:r>
              <a:rPr dirty="0"/>
              <a:t> и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передается</a:t>
            </a:r>
            <a:r>
              <a:rPr dirty="0"/>
              <a:t> </a:t>
            </a:r>
            <a:r>
              <a:rPr dirty="0" err="1"/>
              <a:t>другим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sshd_config</a:t>
            </a:r>
            <a:r>
              <a:rPr dirty="0"/>
              <a:t> </a:t>
            </a:r>
            <a:r>
              <a:rPr dirty="0" err="1"/>
              <a:t>меняют</a:t>
            </a:r>
            <a:r>
              <a:rPr dirty="0"/>
              <a:t> </a:t>
            </a:r>
            <a:r>
              <a:rPr dirty="0" err="1"/>
              <a:t>осторожно</a:t>
            </a:r>
            <a:r>
              <a:rPr dirty="0"/>
              <a:t>: </a:t>
            </a:r>
            <a:r>
              <a:rPr dirty="0" err="1"/>
              <a:t>копия</a:t>
            </a:r>
            <a:r>
              <a:rPr dirty="0"/>
              <a:t>,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синтаксиса</a:t>
            </a:r>
            <a:r>
              <a:rPr dirty="0"/>
              <a:t>, reload/restart, </a:t>
            </a:r>
            <a:r>
              <a:rPr dirty="0" err="1"/>
              <a:t>новая</a:t>
            </a:r>
            <a:r>
              <a:rPr dirty="0"/>
              <a:t> </a:t>
            </a:r>
            <a:r>
              <a:rPr dirty="0" err="1"/>
              <a:t>сессия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ufw</a:t>
            </a:r>
            <a:r>
              <a:rPr dirty="0"/>
              <a:t> </a:t>
            </a:r>
            <a:r>
              <a:rPr dirty="0" err="1"/>
              <a:t>включают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разрешения</a:t>
            </a:r>
            <a:r>
              <a:rPr dirty="0"/>
              <a:t> </a:t>
            </a:r>
            <a:r>
              <a:rPr dirty="0" err="1"/>
              <a:t>нужного</a:t>
            </a:r>
            <a:r>
              <a:rPr dirty="0"/>
              <a:t> </a:t>
            </a:r>
            <a:r>
              <a:rPr dirty="0" err="1"/>
              <a:t>удаленного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ip</a:t>
            </a:r>
            <a:r>
              <a:rPr dirty="0"/>
              <a:t> link, а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ip</a:t>
            </a:r>
            <a:r>
              <a:rPr dirty="0"/>
              <a:t> </a:t>
            </a:r>
            <a:r>
              <a:rPr dirty="0" err="1"/>
              <a:t>addr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 default route?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отличить</a:t>
            </a:r>
            <a:r>
              <a:rPr dirty="0"/>
              <a:t> </a:t>
            </a:r>
            <a:r>
              <a:rPr dirty="0" err="1"/>
              <a:t>проблему</a:t>
            </a:r>
            <a:r>
              <a:rPr dirty="0"/>
              <a:t> DNS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проблемы</a:t>
            </a:r>
            <a:r>
              <a:rPr dirty="0"/>
              <a:t> </a:t>
            </a:r>
            <a:r>
              <a:rPr dirty="0" err="1"/>
              <a:t>маршрутизации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такое</a:t>
            </a:r>
            <a:r>
              <a:rPr dirty="0"/>
              <a:t> SSH-</a:t>
            </a:r>
            <a:r>
              <a:rPr dirty="0" err="1"/>
              <a:t>клиент</a:t>
            </a:r>
            <a:r>
              <a:rPr dirty="0"/>
              <a:t> и SSH-</a:t>
            </a:r>
            <a:r>
              <a:rPr dirty="0" err="1"/>
              <a:t>сервер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открытый</a:t>
            </a:r>
            <a:r>
              <a:rPr dirty="0"/>
              <a:t> SSH-</a:t>
            </a:r>
            <a:r>
              <a:rPr dirty="0" err="1"/>
              <a:t>ключ</a:t>
            </a:r>
            <a:r>
              <a:rPr dirty="0"/>
              <a:t>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закрытого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сразу</a:t>
            </a:r>
            <a:r>
              <a:rPr dirty="0"/>
              <a:t> </a:t>
            </a:r>
            <a:r>
              <a:rPr dirty="0" err="1"/>
              <a:t>отключать</a:t>
            </a:r>
            <a:r>
              <a:rPr dirty="0"/>
              <a:t> </a:t>
            </a:r>
            <a:r>
              <a:rPr dirty="0" err="1"/>
              <a:t>PasswordAuthentication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сделать</a:t>
            </a:r>
            <a:r>
              <a:rPr dirty="0"/>
              <a:t> </a:t>
            </a: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ufw</a:t>
            </a:r>
            <a:r>
              <a:rPr dirty="0"/>
              <a:t> enable?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SSH </a:t>
            </a:r>
            <a:r>
              <a:rPr dirty="0" err="1"/>
              <a:t>действительно</a:t>
            </a:r>
            <a:r>
              <a:rPr dirty="0"/>
              <a:t> </a:t>
            </a:r>
            <a:r>
              <a:rPr dirty="0" err="1"/>
              <a:t>слушает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 22?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3470</Words>
  <Application>Microsoft Office PowerPoint</Application>
  <PresentationFormat>Широкоэкранный</PresentationFormat>
  <Paragraphs>335</Paragraphs>
  <Slides>63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63</vt:i4>
      </vt:variant>
    </vt:vector>
  </HeadingPairs>
  <TitlesOfParts>
    <vt:vector size="6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6</cp:revision>
  <dcterms:created xsi:type="dcterms:W3CDTF">2013-01-27T09:14:16Z</dcterms:created>
  <dcterms:modified xsi:type="dcterms:W3CDTF">2026-07-05T14:06:32Z</dcterms:modified>
  <cp:category/>
</cp:coreProperties>
</file>