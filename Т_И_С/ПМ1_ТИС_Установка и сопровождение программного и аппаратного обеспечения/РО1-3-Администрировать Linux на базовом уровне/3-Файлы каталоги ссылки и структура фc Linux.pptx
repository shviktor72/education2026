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91" r:id="rId23"/>
    <p:sldId id="292" r:id="rId24"/>
    <p:sldId id="293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279" r:id="rId35"/>
    <p:sldId id="280" r:id="rId36"/>
    <p:sldId id="281" r:id="rId37"/>
    <p:sldId id="294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687" y="2343225"/>
            <a:ext cx="1130982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3.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каталоги</a:t>
            </a:r>
            <a:r>
              <a:rPr dirty="0"/>
              <a:t>, </a:t>
            </a:r>
            <a:r>
              <a:rPr dirty="0" err="1"/>
              <a:t>ссылки</a:t>
            </a:r>
            <a:r>
              <a:rPr dirty="0"/>
              <a:t> и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665" y="235973"/>
            <a:ext cx="10972800" cy="15338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Linux и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букв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Windows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основных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: /, /home, /</a:t>
            </a:r>
            <a:r>
              <a:rPr dirty="0" err="1"/>
              <a:t>etc</a:t>
            </a:r>
            <a:r>
              <a:rPr dirty="0"/>
              <a:t>, /var, /</a:t>
            </a:r>
            <a:r>
              <a:rPr dirty="0" err="1"/>
              <a:t>usr</a:t>
            </a:r>
            <a:r>
              <a:rPr dirty="0"/>
              <a:t>, /bin, /</a:t>
            </a:r>
            <a:r>
              <a:rPr dirty="0" err="1"/>
              <a:t>sbin</a:t>
            </a:r>
            <a:r>
              <a:rPr dirty="0"/>
              <a:t>, /</a:t>
            </a:r>
            <a:r>
              <a:rPr dirty="0" err="1"/>
              <a:t>tmp</a:t>
            </a:r>
            <a:r>
              <a:rPr dirty="0"/>
              <a:t>, /root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Файл</a:t>
            </a:r>
            <a:r>
              <a:rPr dirty="0"/>
              <a:t> и </a:t>
            </a:r>
            <a:r>
              <a:rPr dirty="0" err="1"/>
              <a:t>каталог</a:t>
            </a:r>
            <a:r>
              <a:rPr dirty="0"/>
              <a:t> в Linux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: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символическая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, </a:t>
            </a:r>
            <a:r>
              <a:rPr dirty="0" err="1"/>
              <a:t>сокет</a:t>
            </a:r>
            <a:r>
              <a:rPr dirty="0"/>
              <a:t>, pipe</a:t>
            </a:r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: </a:t>
            </a:r>
            <a:r>
              <a:rPr dirty="0" err="1"/>
              <a:t>mkdir</a:t>
            </a:r>
            <a:r>
              <a:rPr dirty="0"/>
              <a:t>, touch, cp, mv, rm, </a:t>
            </a:r>
            <a:r>
              <a:rPr dirty="0" err="1"/>
              <a:t>rmdir</a:t>
            </a:r>
            <a:endParaRPr dirty="0"/>
          </a:p>
          <a:p>
            <a:pPr>
              <a:defRPr sz="3600"/>
            </a:pPr>
            <a:r>
              <a:rPr dirty="0"/>
              <a:t>6.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: find, locate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назначения</a:t>
            </a:r>
            <a:endParaRPr dirty="0"/>
          </a:p>
          <a:p>
            <a:pPr>
              <a:defRPr sz="3600"/>
            </a:pPr>
            <a:r>
              <a:rPr dirty="0"/>
              <a:t>7. </a:t>
            </a:r>
            <a:r>
              <a:rPr dirty="0" err="1"/>
              <a:t>inode</a:t>
            </a:r>
            <a:r>
              <a:rPr dirty="0"/>
              <a:t>: </a:t>
            </a:r>
            <a:r>
              <a:rPr dirty="0" err="1"/>
              <a:t>назначение</a:t>
            </a:r>
            <a:r>
              <a:rPr dirty="0"/>
              <a:t> и </a:t>
            </a:r>
            <a:r>
              <a:rPr dirty="0" err="1"/>
              <a:t>связь</a:t>
            </a:r>
            <a:r>
              <a:rPr dirty="0"/>
              <a:t> с </a:t>
            </a:r>
            <a:r>
              <a:rPr dirty="0" err="1"/>
              <a:t>именем</a:t>
            </a:r>
            <a:r>
              <a:rPr dirty="0"/>
              <a:t> </a:t>
            </a:r>
            <a:r>
              <a:rPr dirty="0" err="1"/>
              <a:t>файла</a:t>
            </a:r>
            <a:endParaRPr dirty="0"/>
          </a:p>
          <a:p>
            <a:pPr>
              <a:defRPr sz="3600"/>
            </a:pPr>
            <a:r>
              <a:rPr dirty="0"/>
              <a:t>8. </a:t>
            </a:r>
            <a:r>
              <a:rPr dirty="0" err="1"/>
              <a:t>Жесткие</a:t>
            </a:r>
            <a:r>
              <a:rPr dirty="0"/>
              <a:t> </a:t>
            </a:r>
            <a:r>
              <a:rPr dirty="0" err="1"/>
              <a:t>ссылки</a:t>
            </a:r>
            <a:r>
              <a:rPr dirty="0"/>
              <a:t> и </a:t>
            </a:r>
            <a:r>
              <a:rPr dirty="0" err="1"/>
              <a:t>символические</a:t>
            </a:r>
            <a:r>
              <a:rPr dirty="0"/>
              <a:t> </a:t>
            </a:r>
            <a:r>
              <a:rPr dirty="0" err="1"/>
              <a:t>ссылки</a:t>
            </a:r>
            <a:endParaRPr dirty="0"/>
          </a:p>
          <a:p>
            <a:pPr>
              <a:defRPr sz="3600"/>
            </a:pPr>
            <a:r>
              <a:rPr dirty="0"/>
              <a:t>9. Типовые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удалении</a:t>
            </a:r>
            <a:r>
              <a:rPr dirty="0"/>
              <a:t>, </a:t>
            </a:r>
            <a:r>
              <a:rPr dirty="0" err="1"/>
              <a:t>копировании</a:t>
            </a:r>
            <a:r>
              <a:rPr dirty="0"/>
              <a:t> и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ссылками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0419" y="182880"/>
            <a:ext cx="858068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Linux и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букв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533832"/>
            <a:ext cx="11253019" cy="459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—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, </a:t>
            </a:r>
            <a:r>
              <a:rPr dirty="0" err="1"/>
              <a:t>каталогов</a:t>
            </a:r>
            <a:r>
              <a:rPr dirty="0"/>
              <a:t> и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объектов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Linux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корня</a:t>
            </a:r>
            <a:r>
              <a:rPr dirty="0"/>
              <a:t> /,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дисков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в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мыслит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буквами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, а </a:t>
            </a:r>
            <a:r>
              <a:rPr dirty="0" err="1"/>
              <a:t>путями</a:t>
            </a:r>
            <a:r>
              <a:rPr dirty="0"/>
              <a:t> и </a:t>
            </a:r>
            <a:r>
              <a:rPr dirty="0" err="1"/>
              <a:t>точками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это важно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Конфигурация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программы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лежат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частях</a:t>
            </a:r>
            <a:r>
              <a:rPr dirty="0"/>
              <a:t> </a:t>
            </a:r>
            <a:r>
              <a:rPr dirty="0" err="1"/>
              <a:t>дерева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удалить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нехватке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заполнена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Будущие</a:t>
            </a:r>
            <a:r>
              <a:rPr dirty="0"/>
              <a:t>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уверенной</a:t>
            </a:r>
            <a:r>
              <a:rPr dirty="0"/>
              <a:t> </a:t>
            </a:r>
            <a:r>
              <a:rPr dirty="0" err="1"/>
              <a:t>ориентации</a:t>
            </a:r>
            <a:r>
              <a:rPr dirty="0"/>
              <a:t> в </a:t>
            </a:r>
            <a:r>
              <a:rPr dirty="0" err="1"/>
              <a:t>структуре</a:t>
            </a:r>
            <a:r>
              <a:rPr dirty="0"/>
              <a:t> Linux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F6613-27E5-3A4E-47B9-DFE83CDE5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корня файловой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верхний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 Linux</a:t>
            </a:r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/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bin boot dev 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 home root </a:t>
            </a:r>
            <a:r>
              <a:rPr b="1" dirty="0" err="1">
                <a:solidFill>
                  <a:srgbClr val="002060"/>
                </a:solidFill>
              </a:rPr>
              <a:t>usr</a:t>
            </a:r>
            <a:r>
              <a:rPr b="1" dirty="0">
                <a:solidFill>
                  <a:srgbClr val="002060"/>
                </a:solidFill>
              </a:rPr>
              <a:t> var </a:t>
            </a:r>
            <a:r>
              <a:rPr dirty="0"/>
              <a:t>...</a:t>
            </a:r>
          </a:p>
          <a:p>
            <a:pPr>
              <a:defRPr sz="3600"/>
            </a:pPr>
            <a:r>
              <a:rPr lang="ru-RU" dirty="0"/>
              <a:t>Э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, а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ветви</a:t>
            </a:r>
            <a:r>
              <a:rPr dirty="0"/>
              <a:t> </a:t>
            </a:r>
            <a:r>
              <a:rPr dirty="0" err="1"/>
              <a:t>единого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 </a:t>
            </a:r>
            <a:r>
              <a:rPr dirty="0" err="1"/>
              <a:t>каталогов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Назначение основных каталогов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Корень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dirty="0"/>
              <a:t> — </a:t>
            </a:r>
            <a:r>
              <a:rPr dirty="0" err="1"/>
              <a:t>начало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/home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домашние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системную</a:t>
            </a:r>
            <a:r>
              <a:rPr dirty="0"/>
              <a:t> </a:t>
            </a:r>
            <a:r>
              <a:rPr dirty="0" err="1"/>
              <a:t>конфигурацию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/var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изменяемые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: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кэш</a:t>
            </a:r>
            <a:r>
              <a:rPr dirty="0"/>
              <a:t>, </a:t>
            </a:r>
            <a:r>
              <a:rPr dirty="0" err="1"/>
              <a:t>очереди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usr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, </a:t>
            </a:r>
            <a:r>
              <a:rPr dirty="0" err="1"/>
              <a:t>библиотеки</a:t>
            </a:r>
            <a:r>
              <a:rPr dirty="0"/>
              <a:t> и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ресурсы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Системные и пользовательские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/root </a:t>
            </a:r>
            <a:r>
              <a:rPr dirty="0"/>
              <a:t>—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root,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самое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/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tmp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dirty="0"/>
              <a:t>—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доступные</a:t>
            </a:r>
            <a:r>
              <a:rPr dirty="0"/>
              <a:t> </a:t>
            </a:r>
            <a:r>
              <a:rPr dirty="0" err="1"/>
              <a:t>разным</a:t>
            </a:r>
            <a:r>
              <a:rPr dirty="0"/>
              <a:t> </a:t>
            </a:r>
            <a:r>
              <a:rPr dirty="0" err="1"/>
              <a:t>программам</a:t>
            </a:r>
            <a:r>
              <a:rPr dirty="0"/>
              <a:t> и </a:t>
            </a:r>
            <a:r>
              <a:rPr dirty="0" err="1"/>
              <a:t>пользователям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sz="3600" b="1" dirty="0">
                <a:solidFill>
                  <a:srgbClr val="002060"/>
                </a:solidFill>
              </a:rPr>
              <a:t>/bin </a:t>
            </a:r>
            <a:r>
              <a:rPr dirty="0"/>
              <a:t>и </a:t>
            </a: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sbin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dirty="0" err="1"/>
              <a:t>содержат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исполняемые</a:t>
            </a:r>
            <a:r>
              <a:rPr dirty="0"/>
              <a:t> </a:t>
            </a:r>
            <a:r>
              <a:rPr dirty="0" err="1"/>
              <a:t>файлы</a:t>
            </a:r>
            <a:endParaRPr dirty="0"/>
          </a:p>
          <a:p>
            <a:pPr>
              <a:defRPr sz="3600"/>
            </a:pP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сопровождать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и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39DDBE-DB36-5694-A3B2-98BAA7E9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Подробный просмотр системного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владельцев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конфигурационных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-la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sz="3600"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-la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строки</a:t>
            </a:r>
            <a:r>
              <a:rPr dirty="0"/>
              <a:t> с </a:t>
            </a:r>
            <a:r>
              <a:rPr dirty="0" err="1"/>
              <a:t>владельцем</a:t>
            </a:r>
            <a:r>
              <a:rPr dirty="0"/>
              <a:t> root и </a:t>
            </a:r>
            <a:r>
              <a:rPr dirty="0" err="1"/>
              <a:t>системными</a:t>
            </a:r>
            <a:r>
              <a:rPr dirty="0"/>
              <a:t> </a:t>
            </a:r>
            <a:r>
              <a:rPr dirty="0" err="1"/>
              <a:t>файлами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lang="ru-RU" dirty="0"/>
              <a:t>С</a:t>
            </a:r>
            <a:r>
              <a:rPr dirty="0" err="1"/>
              <a:t>истемная</a:t>
            </a:r>
            <a:r>
              <a:rPr dirty="0"/>
              <a:t> </a:t>
            </a: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защищена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Файл и каталог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—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, </a:t>
            </a:r>
            <a:r>
              <a:rPr dirty="0" err="1"/>
              <a:t>содержащий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представляющий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объект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Каталог</a:t>
            </a:r>
            <a:r>
              <a:rPr dirty="0"/>
              <a:t> — </a:t>
            </a:r>
            <a:r>
              <a:rPr dirty="0" err="1"/>
              <a:t>специальный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с </a:t>
            </a:r>
            <a:r>
              <a:rPr dirty="0" err="1"/>
              <a:t>объектами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inode</a:t>
            </a:r>
            <a:r>
              <a:rPr dirty="0"/>
              <a:t> и </a:t>
            </a:r>
            <a:r>
              <a:rPr dirty="0" err="1"/>
              <a:t>метаданные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владелец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путь</a:t>
            </a:r>
            <a:r>
              <a:rPr dirty="0"/>
              <a:t> и </a:t>
            </a:r>
            <a:r>
              <a:rPr dirty="0" err="1"/>
              <a:t>тип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inode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54CB2F-DB84-DA30-615D-DE2E265F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Определение типа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полагаться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и </a:t>
            </a:r>
            <a:r>
              <a:rPr dirty="0" err="1"/>
              <a:t>расширение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file </a:t>
            </a:r>
            <a:r>
              <a:rPr b="1" dirty="0" err="1">
                <a:solidFill>
                  <a:srgbClr val="002060"/>
                </a:solidFill>
              </a:rPr>
              <a:t>путь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file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/passwd: ASCII text</a:t>
            </a:r>
          </a:p>
          <a:p>
            <a:pPr>
              <a:defRPr sz="3600"/>
            </a:pPr>
            <a:r>
              <a:rPr lang="ru-RU" dirty="0"/>
              <a:t>К</a:t>
            </a:r>
            <a:r>
              <a:rPr dirty="0" err="1"/>
              <a:t>оманда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фактический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Типы файлов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исполняемый</a:t>
            </a:r>
            <a:r>
              <a:rPr dirty="0"/>
              <a:t> </a:t>
            </a:r>
            <a:r>
              <a:rPr dirty="0" err="1"/>
              <a:t>код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и </a:t>
            </a:r>
            <a:r>
              <a:rPr dirty="0" err="1"/>
              <a:t>объектов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Символическая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путь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Устройства</a:t>
            </a:r>
            <a:r>
              <a:rPr dirty="0"/>
              <a:t>, </a:t>
            </a:r>
            <a:r>
              <a:rPr dirty="0" err="1"/>
              <a:t>сокеты</a:t>
            </a:r>
            <a:r>
              <a:rPr dirty="0"/>
              <a:t> и pipe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программам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с </a:t>
            </a:r>
            <a:r>
              <a:rPr dirty="0" err="1"/>
              <a:t>оборудованием</a:t>
            </a:r>
            <a:r>
              <a:rPr dirty="0"/>
              <a:t> и </a:t>
            </a:r>
            <a:r>
              <a:rPr dirty="0" err="1"/>
              <a:t>обменом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знать типы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одинаково</a:t>
            </a:r>
            <a:r>
              <a:rPr dirty="0"/>
              <a:t> </a:t>
            </a:r>
            <a:r>
              <a:rPr dirty="0" err="1"/>
              <a:t>обращаться</a:t>
            </a:r>
            <a:r>
              <a:rPr dirty="0"/>
              <a:t> с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файлом</a:t>
            </a:r>
            <a:r>
              <a:rPr dirty="0"/>
              <a:t>, </a:t>
            </a:r>
            <a:r>
              <a:rPr dirty="0" err="1"/>
              <a:t>каталогом</a:t>
            </a:r>
            <a:r>
              <a:rPr dirty="0"/>
              <a:t> и </a:t>
            </a:r>
            <a:r>
              <a:rPr dirty="0" err="1"/>
              <a:t>устройством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Символическая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несуществующий</a:t>
            </a:r>
            <a:r>
              <a:rPr dirty="0"/>
              <a:t> </a:t>
            </a:r>
            <a:r>
              <a:rPr dirty="0" err="1"/>
              <a:t>путь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сокеты</a:t>
            </a:r>
            <a:r>
              <a:rPr dirty="0"/>
              <a:t> и </a:t>
            </a:r>
            <a:r>
              <a:rPr dirty="0" err="1"/>
              <a:t>специальные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взаимодействия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обслуживания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774CED-C40A-DBCF-E4EF-2B110891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Чтение типа по длинному списку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первому</a:t>
            </a:r>
            <a:r>
              <a:rPr dirty="0"/>
              <a:t> </a:t>
            </a:r>
            <a:r>
              <a:rPr dirty="0" err="1"/>
              <a:t>символу</a:t>
            </a:r>
            <a:r>
              <a:rPr dirty="0"/>
              <a:t> ls -l</a:t>
            </a:r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 </a:t>
            </a:r>
            <a:r>
              <a:rPr b="1" dirty="0" err="1">
                <a:solidFill>
                  <a:srgbClr val="002060"/>
                </a:solidFill>
              </a:rPr>
              <a:t>путь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 /</a:t>
            </a:r>
            <a:r>
              <a:rPr b="1" dirty="0" err="1">
                <a:solidFill>
                  <a:srgbClr val="002060"/>
                </a:solidFill>
              </a:rPr>
              <a:t>tmp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b="1" dirty="0" err="1">
                <a:solidFill>
                  <a:srgbClr val="002060"/>
                </a:solidFill>
              </a:rPr>
              <a:t>rw</a:t>
            </a:r>
            <a:r>
              <a:rPr b="1" dirty="0">
                <a:solidFill>
                  <a:srgbClr val="002060"/>
                </a:solidFill>
              </a:rPr>
              <a:t>-r--r--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sz="3600" b="1" dirty="0" err="1">
                <a:solidFill>
                  <a:srgbClr val="002060"/>
                </a:solidFill>
              </a:rPr>
              <a:t>drwxrwxrwt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 err="1"/>
              <a:t>файл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d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l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 err="1"/>
              <a:t>ссылка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: </a:t>
            </a:r>
            <a:r>
              <a:rPr dirty="0" err="1"/>
              <a:t>mkdir</a:t>
            </a:r>
            <a:r>
              <a:rPr dirty="0"/>
              <a:t>, touch, cp, mv, rm, </a:t>
            </a:r>
            <a:r>
              <a:rPr dirty="0" err="1"/>
              <a:t>rmdir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меняют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>
                <a:solidFill>
                  <a:srgbClr val="002060"/>
                </a:solidFill>
              </a:rPr>
              <a:t>mkdir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sz="3600" dirty="0">
                <a:solidFill>
                  <a:srgbClr val="002060"/>
                </a:solidFill>
              </a:rPr>
              <a:t>touch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время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sz="3600" dirty="0">
                <a:solidFill>
                  <a:srgbClr val="002060"/>
                </a:solidFill>
              </a:rPr>
              <a:t>cp</a:t>
            </a:r>
            <a:r>
              <a:rPr dirty="0"/>
              <a:t> </a:t>
            </a:r>
            <a:r>
              <a:rPr dirty="0" err="1"/>
              <a:t>копирует</a:t>
            </a:r>
            <a:r>
              <a:rPr dirty="0"/>
              <a:t>, </a:t>
            </a:r>
            <a:r>
              <a:rPr sz="3600" dirty="0">
                <a:solidFill>
                  <a:srgbClr val="002060"/>
                </a:solidFill>
              </a:rPr>
              <a:t>mv</a:t>
            </a:r>
            <a:r>
              <a:rPr dirty="0"/>
              <a:t> </a:t>
            </a:r>
            <a:r>
              <a:rPr dirty="0" err="1"/>
              <a:t>перемещает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переименовывает</a:t>
            </a:r>
            <a:endParaRPr dirty="0"/>
          </a:p>
          <a:p>
            <a:pPr indent="354013">
              <a:defRPr sz="3600"/>
            </a:pPr>
            <a:r>
              <a:rPr sz="3600" dirty="0">
                <a:solidFill>
                  <a:srgbClr val="002060"/>
                </a:solidFill>
              </a:rPr>
              <a:t>rm</a:t>
            </a:r>
            <a:r>
              <a:rPr dirty="0"/>
              <a:t>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sz="3600" dirty="0" err="1">
                <a:solidFill>
                  <a:srgbClr val="002060"/>
                </a:solidFill>
              </a:rPr>
              <a:t>rmdir</a:t>
            </a:r>
            <a:r>
              <a:rPr sz="3600" dirty="0">
                <a:solidFill>
                  <a:srgbClr val="002060"/>
                </a:solidFill>
              </a:rPr>
              <a:t>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пустые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Любое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в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 и с </a:t>
            </a:r>
            <a:r>
              <a:rPr dirty="0" err="1"/>
              <a:t>пониманием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2872" y="182880"/>
            <a:ext cx="35357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каталога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mkdir</a:t>
            </a:r>
            <a:r>
              <a:rPr b="1" dirty="0">
                <a:solidFill>
                  <a:srgbClr val="002060"/>
                </a:solidFill>
              </a:rPr>
              <a:t> -p </a:t>
            </a:r>
            <a:r>
              <a:rPr b="1" dirty="0" err="1">
                <a:solidFill>
                  <a:srgbClr val="002060"/>
                </a:solidFill>
              </a:rPr>
              <a:t>путь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mkdir</a:t>
            </a:r>
            <a:r>
              <a:rPr b="1" dirty="0">
                <a:solidFill>
                  <a:srgbClr val="002060"/>
                </a:solidFill>
              </a:rPr>
              <a:t>  ~/lab3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lang="en-US" dirty="0"/>
              <a:t> lab3</a:t>
            </a:r>
            <a:r>
              <a:rPr dirty="0"/>
              <a:t> </a:t>
            </a:r>
            <a:r>
              <a:rPr lang="ru-RU" dirty="0"/>
              <a:t>внутри </a:t>
            </a:r>
            <a:r>
              <a:rPr dirty="0"/>
              <a:t>~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3176A6-1940-993C-7131-9666A727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95280"/>
            <a:ext cx="10611553" cy="2750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пустого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touch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touch ~/lab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b="1" dirty="0">
                <a:solidFill>
                  <a:srgbClr val="002060"/>
                </a:solidFill>
              </a:rPr>
              <a:t>3/file1.txt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file1.txt</a:t>
            </a:r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touch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записывает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, а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время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F48E92-1F83-D135-3D4D-836B3555F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67137"/>
            <a:ext cx="10308473" cy="18814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7489" y="182880"/>
            <a:ext cx="25865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Копирование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</a:t>
            </a:r>
            <a:r>
              <a:rPr lang="ru-RU" dirty="0"/>
              <a:t>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cp 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cp file1.txt file2.txt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6AEE53-B3B5-19FF-8A0C-E6C27E30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30" y="3100387"/>
            <a:ext cx="11008140" cy="15011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C09A-6377-8BCF-5B7B-09ED4F0D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5BE26-51D6-CF59-B105-FDE7C04472A4}"/>
              </a:ext>
            </a:extLst>
          </p:cNvPr>
          <p:cNvSpPr txBox="1"/>
          <p:nvPr/>
        </p:nvSpPr>
        <p:spPr>
          <a:xfrm>
            <a:off x="2972380" y="182880"/>
            <a:ext cx="62167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П</a:t>
            </a:r>
            <a:r>
              <a:rPr dirty="0" err="1"/>
              <a:t>еремещение</a:t>
            </a:r>
            <a:r>
              <a:rPr lang="ru-RU" dirty="0"/>
              <a:t> / переименование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90186-71C0-5B26-464B-E4DBE6D6C24F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</a:t>
            </a:r>
            <a:r>
              <a:rPr lang="ru-RU" dirty="0"/>
              <a:t>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mv</a:t>
            </a:r>
            <a:r>
              <a:rPr dirty="0"/>
              <a:t> </a:t>
            </a:r>
            <a:endParaRPr lang="ru-RU" dirty="0"/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sz="3600" b="1" dirty="0">
                <a:solidFill>
                  <a:srgbClr val="002060"/>
                </a:solidFill>
              </a:rPr>
              <a:t>mv file2.txt archive.txt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D7A3A8-5CA2-40F8-E74C-D9EA2563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66255"/>
            <a:ext cx="11009425" cy="167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89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10BE-233A-B560-5C3C-26008F4A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6F045A-0D81-E833-9E4F-1D5DF9F2F6FF}"/>
              </a:ext>
            </a:extLst>
          </p:cNvPr>
          <p:cNvSpPr txBox="1"/>
          <p:nvPr/>
        </p:nvSpPr>
        <p:spPr>
          <a:xfrm>
            <a:off x="5090549" y="182880"/>
            <a:ext cx="19804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У</a:t>
            </a:r>
            <a:r>
              <a:rPr dirty="0" err="1"/>
              <a:t>даление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F308A-AF10-FF63-0075-F09AC29E3060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</a:t>
            </a:r>
            <a:r>
              <a:rPr lang="ru-RU" dirty="0"/>
              <a:t>ы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rm -</a:t>
            </a:r>
            <a:r>
              <a:rPr b="1" dirty="0" err="1">
                <a:solidFill>
                  <a:srgbClr val="002060"/>
                </a:solidFill>
              </a:rPr>
              <a:t>i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rm -</a:t>
            </a:r>
            <a:r>
              <a:rPr b="1" dirty="0" err="1">
                <a:solidFill>
                  <a:srgbClr val="002060"/>
                </a:solidFill>
              </a:rPr>
              <a:t>i</a:t>
            </a:r>
            <a:r>
              <a:rPr b="1" dirty="0">
                <a:solidFill>
                  <a:srgbClr val="002060"/>
                </a:solidFill>
              </a:rPr>
              <a:t> archive.txt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4D52D0-2598-4FA6-5B72-AD93B9A8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22" y="2780685"/>
            <a:ext cx="11025778" cy="186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5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02601-C946-5814-9C92-229C1F8F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6B867-BB4D-46BE-AC7E-74843ADA8302}"/>
              </a:ext>
            </a:extLst>
          </p:cNvPr>
          <p:cNvSpPr txBox="1"/>
          <p:nvPr/>
        </p:nvSpPr>
        <p:spPr>
          <a:xfrm>
            <a:off x="5090549" y="182880"/>
            <a:ext cx="19804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У</a:t>
            </a:r>
            <a:r>
              <a:rPr dirty="0" err="1"/>
              <a:t>даление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37729E-8E53-01E1-487F-2F4E843F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59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339D-0418-BD2B-CEBF-6E81BB07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9C81D-5364-CD51-967F-07332D05F8A5}"/>
              </a:ext>
            </a:extLst>
          </p:cNvPr>
          <p:cNvSpPr txBox="1"/>
          <p:nvPr/>
        </p:nvSpPr>
        <p:spPr>
          <a:xfrm>
            <a:off x="1875117" y="182880"/>
            <a:ext cx="84112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b="1" dirty="0"/>
              <a:t>Команда </a:t>
            </a:r>
            <a:r>
              <a:rPr lang="ru-RU" sz="3200" b="1" dirty="0" err="1"/>
              <a:t>echo</a:t>
            </a:r>
            <a:r>
              <a:rPr lang="ru-RU" sz="3200" b="1" dirty="0"/>
              <a:t> в командной строке Linux </a:t>
            </a:r>
            <a:r>
              <a:rPr lang="ru-RU" sz="3200" b="1" dirty="0" err="1"/>
              <a:t>Bash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DCCFD-5E3E-735C-18F4-C8527B6CE69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echo</a:t>
            </a:r>
            <a:r>
              <a:rPr lang="ru-RU" dirty="0"/>
              <a:t> — это одна из самых часто используемых встроенных команд в оболочке </a:t>
            </a:r>
            <a:r>
              <a:rPr lang="ru-RU" dirty="0" err="1"/>
              <a:t>Bash</a:t>
            </a:r>
            <a:r>
              <a:rPr lang="ru-RU" dirty="0"/>
              <a:t>. Её основное назначение — выводить строку текста (или значения переменных) в стандартный вывод (</a:t>
            </a:r>
            <a:r>
              <a:rPr lang="ru-RU" dirty="0" err="1"/>
              <a:t>stdout</a:t>
            </a:r>
            <a:r>
              <a:rPr lang="ru-RU" dirty="0"/>
              <a:t>), то есть прямо на экран терминала.</a:t>
            </a:r>
          </a:p>
          <a:p>
            <a:pPr indent="354013">
              <a:defRPr sz="3600"/>
            </a:pPr>
            <a:r>
              <a:rPr lang="ru-RU" dirty="0"/>
              <a:t>Простая аналогия: Команда </a:t>
            </a:r>
            <a:r>
              <a:rPr lang="ru-RU" dirty="0" err="1"/>
              <a:t>echo</a:t>
            </a:r>
            <a:r>
              <a:rPr lang="ru-RU" dirty="0"/>
              <a:t> работает как сетевой или системный «попугай» — она просто громко повторяет в терминал всё, что вы передадите ей в качестве аргумента. Также она является аналогом функции </a:t>
            </a:r>
            <a:r>
              <a:rPr lang="ru-RU" dirty="0" err="1"/>
              <a:t>print</a:t>
            </a:r>
            <a:r>
              <a:rPr lang="ru-RU" dirty="0"/>
              <a:t>() в языках программирования.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38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B5B9-EF20-BA3E-3D2E-C81BE40D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1D5E9-BD14-55B4-E452-6E0E6B007885}"/>
              </a:ext>
            </a:extLst>
          </p:cNvPr>
          <p:cNvSpPr txBox="1"/>
          <p:nvPr/>
        </p:nvSpPr>
        <p:spPr>
          <a:xfrm>
            <a:off x="457200" y="545691"/>
            <a:ext cx="11194026" cy="612943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lang="ru-RU" dirty="0"/>
              <a:t>Зачем она нужна администратору? (Основные сценарии)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Вывод информационных сообщений: Используется в автоматических </a:t>
            </a:r>
            <a:r>
              <a:rPr lang="ru-RU" dirty="0" err="1"/>
              <a:t>bash</a:t>
            </a:r>
            <a:r>
              <a:rPr lang="ru-RU" dirty="0"/>
              <a:t>-скриптах, чтобы сообщать администратору о текущем статусе выполнения (например: «Бэкап успешно создан»).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Просмотр системных переменных окружения: Позволяет узнать текущие настройки пользователя или пути к программам (например, посмотреть, под каким пользователем мы работаем или где ищутся исполняемые файлы).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Быстрая запись текста в файлы (в связке с перенаправлением </a:t>
            </a:r>
            <a:r>
              <a:rPr lang="ru-RU" b="1" dirty="0">
                <a:solidFill>
                  <a:srgbClr val="002060"/>
                </a:solidFill>
              </a:rPr>
              <a:t>&gt;</a:t>
            </a:r>
            <a:r>
              <a:rPr lang="ru-RU" dirty="0"/>
              <a:t> и </a:t>
            </a:r>
            <a:r>
              <a:rPr lang="ru-RU" b="1" dirty="0">
                <a:solidFill>
                  <a:srgbClr val="002060"/>
                </a:solidFill>
              </a:rPr>
              <a:t>&gt;&gt;</a:t>
            </a:r>
            <a:r>
              <a:rPr lang="ru-RU" dirty="0"/>
              <a:t>): Вместо открытия тяжелых текстовых редакторов типа </a:t>
            </a:r>
            <a:r>
              <a:rPr lang="ru-RU" dirty="0" err="1"/>
              <a:t>nano</a:t>
            </a:r>
            <a:r>
              <a:rPr lang="ru-RU" dirty="0"/>
              <a:t> или </a:t>
            </a:r>
            <a:r>
              <a:rPr lang="ru-RU" dirty="0" err="1"/>
              <a:t>vim</a:t>
            </a:r>
            <a:r>
              <a:rPr lang="ru-RU" dirty="0"/>
              <a:t>, администратор может в одну строчку создать файл или дописать параметр в конфигурацию.</a:t>
            </a:r>
          </a:p>
        </p:txBody>
      </p:sp>
    </p:spTree>
    <p:extLst>
      <p:ext uri="{BB962C8B-B14F-4D97-AF65-F5344CB8AC3E}">
        <p14:creationId xmlns:p14="http://schemas.microsoft.com/office/powerpoint/2010/main" val="2530787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E9D3-F5AA-1220-DA9F-C80729F0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E55402-51FF-9250-3E38-AB0AA161C04F}"/>
              </a:ext>
            </a:extLst>
          </p:cNvPr>
          <p:cNvSpPr txBox="1"/>
          <p:nvPr/>
        </p:nvSpPr>
        <p:spPr>
          <a:xfrm>
            <a:off x="457200" y="545691"/>
            <a:ext cx="11194026" cy="61294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Синтаксис и примеры использования</a:t>
            </a:r>
          </a:p>
          <a:p>
            <a:pPr>
              <a:defRPr sz="3600"/>
            </a:pPr>
            <a:r>
              <a:rPr lang="ru-RU" dirty="0"/>
              <a:t>Базовый синтаксис выглядит очень просто: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echo</a:t>
            </a:r>
            <a:r>
              <a:rPr lang="ru-RU" b="1" dirty="0">
                <a:solidFill>
                  <a:srgbClr val="002060"/>
                </a:solidFill>
              </a:rPr>
              <a:t> [опции] [</a:t>
            </a:r>
            <a:r>
              <a:rPr lang="ru-RU" b="1" dirty="0" err="1">
                <a:solidFill>
                  <a:srgbClr val="002060"/>
                </a:solidFill>
              </a:rPr>
              <a:t>строка_текста</a:t>
            </a:r>
            <a:r>
              <a:rPr lang="ru-RU" b="1" dirty="0">
                <a:solidFill>
                  <a:srgbClr val="002060"/>
                </a:solidFill>
              </a:rPr>
              <a:t> или переменная]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А) Простой вывод текста</a:t>
            </a:r>
          </a:p>
          <a:p>
            <a:pPr>
              <a:defRPr sz="3600"/>
            </a:pPr>
            <a:r>
              <a:rPr lang="ru-RU" dirty="0"/>
              <a:t>Текст можно писать как в кавычках (одинарных или двойных), так и без них, если в нем нет спецсимволов.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4318A8-42C8-B280-EB50-021EDC557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4666020"/>
            <a:ext cx="11019182" cy="8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36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50B8-4B61-8B50-8086-2CEAE845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984DD1-3C8E-AA8F-92BD-3497DD709BB4}"/>
              </a:ext>
            </a:extLst>
          </p:cNvPr>
          <p:cNvSpPr txBox="1"/>
          <p:nvPr/>
        </p:nvSpPr>
        <p:spPr>
          <a:xfrm>
            <a:off x="457200" y="545691"/>
            <a:ext cx="11194026" cy="61294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en-US" dirty="0"/>
              <a:t>B</a:t>
            </a:r>
            <a:r>
              <a:rPr lang="ru-RU" dirty="0"/>
              <a:t>) Вывод переменных окружения</a:t>
            </a:r>
          </a:p>
          <a:p>
            <a:pPr>
              <a:defRPr sz="3600"/>
            </a:pPr>
            <a:r>
              <a:rPr lang="ru-RU" dirty="0"/>
              <a:t>Чтобы </a:t>
            </a:r>
            <a:r>
              <a:rPr lang="ru-RU" dirty="0" err="1"/>
              <a:t>echo</a:t>
            </a:r>
            <a:r>
              <a:rPr lang="ru-RU" dirty="0"/>
              <a:t> вывела не имя переменной, а её содержимое, перед именем обязательно ставится знак доллара $: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C026B4-CC86-AB10-A791-0E7D59CC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6662"/>
            <a:ext cx="11194026" cy="118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12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AA22-401D-846E-5F7B-1D89A82B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FA127-77CF-6000-A3DA-A3832E2E1D59}"/>
              </a:ext>
            </a:extLst>
          </p:cNvPr>
          <p:cNvSpPr txBox="1"/>
          <p:nvPr/>
        </p:nvSpPr>
        <p:spPr>
          <a:xfrm>
            <a:off x="457200" y="501446"/>
            <a:ext cx="11194026" cy="322989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en-US" dirty="0"/>
              <a:t>C</a:t>
            </a:r>
            <a:r>
              <a:rPr lang="ru-RU" dirty="0"/>
              <a:t>) Использование ключевых опций (флагов)</a:t>
            </a:r>
          </a:p>
          <a:p>
            <a:pPr>
              <a:defRPr sz="3600"/>
            </a:pPr>
            <a:r>
              <a:rPr lang="ru-RU" dirty="0"/>
              <a:t>По умолчанию </a:t>
            </a:r>
            <a:r>
              <a:rPr lang="ru-RU" b="1" dirty="0" err="1">
                <a:solidFill>
                  <a:srgbClr val="002060"/>
                </a:solidFill>
              </a:rPr>
              <a:t>echo</a:t>
            </a:r>
            <a:r>
              <a:rPr lang="ru-RU" dirty="0"/>
              <a:t> всегда автоматически добавляет перевод строки в самом конце своего вывода. Это поведение можно изменить:</a:t>
            </a:r>
          </a:p>
          <a:p>
            <a:pPr>
              <a:defRPr sz="3600"/>
            </a:pPr>
            <a:r>
              <a:rPr lang="ru-RU" dirty="0"/>
              <a:t>Опция </a:t>
            </a:r>
            <a:r>
              <a:rPr lang="ru-RU" b="1" dirty="0">
                <a:solidFill>
                  <a:srgbClr val="002060"/>
                </a:solidFill>
              </a:rPr>
              <a:t>-n</a:t>
            </a:r>
            <a:r>
              <a:rPr lang="ru-RU" dirty="0"/>
              <a:t> — отменяет автоматический перевод строки в конце вывода. Следующий вывод терминала останется на той же строке.</a:t>
            </a:r>
          </a:p>
          <a:p>
            <a:pPr>
              <a:defRPr sz="3600"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4FEB7C-3A8F-9C28-D8D9-8DC6D655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0"/>
          <a:stretch>
            <a:fillRect/>
          </a:stretch>
        </p:blipFill>
        <p:spPr>
          <a:xfrm>
            <a:off x="540774" y="4365524"/>
            <a:ext cx="11316929" cy="66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6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184-2EF0-9973-C50F-C91AD2DB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53737-77A3-909A-2EC0-120637F8E540}"/>
              </a:ext>
            </a:extLst>
          </p:cNvPr>
          <p:cNvSpPr txBox="1"/>
          <p:nvPr/>
        </p:nvSpPr>
        <p:spPr>
          <a:xfrm>
            <a:off x="457200" y="545691"/>
            <a:ext cx="11194026" cy="61294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Опция </a:t>
            </a:r>
            <a:r>
              <a:rPr lang="ru-RU" b="1" dirty="0">
                <a:solidFill>
                  <a:srgbClr val="002060"/>
                </a:solidFill>
              </a:rPr>
              <a:t>-e</a:t>
            </a:r>
            <a:r>
              <a:rPr lang="ru-RU" dirty="0"/>
              <a:t> — включает поддержку </a:t>
            </a:r>
            <a:r>
              <a:rPr lang="ru-RU" dirty="0" err="1"/>
              <a:t>escape</a:t>
            </a:r>
            <a:r>
              <a:rPr lang="ru-RU" dirty="0"/>
              <a:t>-последовательностей (специальных невидимых символов, начинающихся с обратного слэша </a:t>
            </a:r>
            <a:r>
              <a:rPr lang="ru-RU" b="1" dirty="0">
                <a:solidFill>
                  <a:srgbClr val="002060"/>
                </a:solidFill>
              </a:rPr>
              <a:t>\</a:t>
            </a:r>
            <a:r>
              <a:rPr lang="ru-RU" dirty="0"/>
              <a:t>).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\n</a:t>
            </a:r>
            <a:r>
              <a:rPr lang="ru-RU" dirty="0"/>
              <a:t> — принудительный перевод строки (перенос текста на новую строчку).</a:t>
            </a:r>
          </a:p>
          <a:p>
            <a:pPr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\t </a:t>
            </a:r>
            <a:r>
              <a:rPr lang="ru-RU" dirty="0"/>
              <a:t>— горизонтальная табуляция (отступ в 4-8 пробелов).</a:t>
            </a:r>
          </a:p>
          <a:p>
            <a:pPr>
              <a:defRPr sz="3600"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52FBF6-10C3-934F-4D04-1C03E714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3" y="3975918"/>
            <a:ext cx="10834440" cy="20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88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648D-FC75-2D1B-809D-EF1E9090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D2551A-1FC9-6AE1-1536-3F605DBAC72F}"/>
              </a:ext>
            </a:extLst>
          </p:cNvPr>
          <p:cNvSpPr txBox="1"/>
          <p:nvPr/>
        </p:nvSpPr>
        <p:spPr>
          <a:xfrm>
            <a:off x="498987" y="324466"/>
            <a:ext cx="11194026" cy="3259393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lang="en-US" dirty="0"/>
              <a:t>D) </a:t>
            </a:r>
            <a:r>
              <a:rPr lang="ru-RU" dirty="0"/>
              <a:t>Создание файлов без редактора</a:t>
            </a:r>
            <a:r>
              <a:rPr lang="en-US" dirty="0"/>
              <a:t>.</a:t>
            </a:r>
            <a:endParaRPr lang="ru-RU" dirty="0"/>
          </a:p>
          <a:p>
            <a:pPr>
              <a:defRPr sz="3600"/>
            </a:pPr>
            <a:r>
              <a:rPr lang="ru-RU" dirty="0"/>
              <a:t>В связке с операторами перенаправления потоков (из темы базовой работы с ФС) </a:t>
            </a:r>
            <a:r>
              <a:rPr lang="ru-RU" b="1" dirty="0" err="1">
                <a:solidFill>
                  <a:srgbClr val="002060"/>
                </a:solidFill>
              </a:rPr>
              <a:t>echo</a:t>
            </a:r>
            <a:r>
              <a:rPr lang="ru-RU" dirty="0"/>
              <a:t> превращается в инструмент быстрого создания конфигураций:</a:t>
            </a:r>
          </a:p>
          <a:p>
            <a:pPr>
              <a:defRPr sz="3600"/>
            </a:pPr>
            <a:r>
              <a:rPr lang="ru-RU" dirty="0"/>
              <a:t>Символ </a:t>
            </a:r>
            <a:r>
              <a:rPr lang="ru-RU" b="1" dirty="0">
                <a:solidFill>
                  <a:srgbClr val="002060"/>
                </a:solidFill>
              </a:rPr>
              <a:t>&gt;</a:t>
            </a:r>
            <a:r>
              <a:rPr lang="ru-RU" dirty="0"/>
              <a:t> (Перезапись / Создание): Создает новый файл с указанным текстом. Если файл уже существовал, его старое содержимое полностью удалится.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76F35E-92EC-0164-09A7-CBB021F1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9829"/>
            <a:ext cx="10712245" cy="5983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BD4030-675A-95CE-9F59-33A13FCD1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87" y="3791608"/>
            <a:ext cx="10712245" cy="274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99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BE3A-3208-D53F-2EAB-084062E1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CB2182-1A25-1CC7-DB5A-80BCA2BA2565}"/>
              </a:ext>
            </a:extLst>
          </p:cNvPr>
          <p:cNvSpPr txBox="1"/>
          <p:nvPr/>
        </p:nvSpPr>
        <p:spPr>
          <a:xfrm>
            <a:off x="457200" y="545691"/>
            <a:ext cx="11194026" cy="61294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Символ &gt;&gt; (</a:t>
            </a:r>
            <a:r>
              <a:rPr lang="ru-RU" dirty="0" err="1"/>
              <a:t>Дозапись</a:t>
            </a:r>
            <a:r>
              <a:rPr lang="ru-RU" dirty="0"/>
              <a:t> в конец): Берет текст и аккуратно дописывает его в самый конец существующего файла, сохраняя старые данные.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4FCCB8-A423-D3C7-99D9-2E145FA2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15"/>
          <a:stretch>
            <a:fillRect/>
          </a:stretch>
        </p:blipFill>
        <p:spPr>
          <a:xfrm>
            <a:off x="540774" y="2640729"/>
            <a:ext cx="11269904" cy="7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86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E655-A27A-DB05-93A0-14C2F6A4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92E1A4-9F8D-0681-2AF4-F7B5ADC0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9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6.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: find, locate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назначения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неизвестно</a:t>
            </a:r>
            <a:r>
              <a:rPr dirty="0"/>
              <a:t> </a:t>
            </a:r>
            <a:r>
              <a:rPr dirty="0" err="1"/>
              <a:t>точное</a:t>
            </a:r>
            <a:r>
              <a:rPr dirty="0"/>
              <a:t> </a:t>
            </a: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файла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find</a:t>
            </a:r>
            <a:r>
              <a:rPr dirty="0"/>
              <a:t> </a:t>
            </a:r>
            <a:r>
              <a:rPr dirty="0" err="1"/>
              <a:t>обходит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и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актуальное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locate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подготовленной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имен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файла в рабочем каталоге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шаблону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find </a:t>
            </a:r>
            <a:r>
              <a:rPr b="1" dirty="0" err="1">
                <a:solidFill>
                  <a:srgbClr val="002060"/>
                </a:solidFill>
              </a:rPr>
              <a:t>каталог</a:t>
            </a:r>
            <a:r>
              <a:rPr b="1" dirty="0">
                <a:solidFill>
                  <a:srgbClr val="002060"/>
                </a:solidFill>
              </a:rPr>
              <a:t> -name </a:t>
            </a:r>
            <a:r>
              <a:rPr b="1" dirty="0" err="1">
                <a:solidFill>
                  <a:srgbClr val="002060"/>
                </a:solidFill>
              </a:rPr>
              <a:t>шаблон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find ~/lab3 -name "*.txt"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найденных</a:t>
            </a:r>
            <a:r>
              <a:rPr dirty="0"/>
              <a:t> txt-</a:t>
            </a:r>
            <a:r>
              <a:rPr dirty="0" err="1"/>
              <a:t>файлов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AE9F3C-915C-49CE-D97E-8D30E1C5E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99" y="3429000"/>
            <a:ext cx="10365602" cy="23936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Быстрый поиск по базе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934929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известный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имени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locate </a:t>
            </a:r>
            <a:r>
              <a:rPr b="1" dirty="0" err="1">
                <a:solidFill>
                  <a:srgbClr val="002060"/>
                </a:solidFill>
              </a:rPr>
              <a:t>имя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locate </a:t>
            </a:r>
            <a:r>
              <a:rPr b="1" dirty="0" err="1">
                <a:solidFill>
                  <a:srgbClr val="002060"/>
                </a:solidFill>
              </a:rPr>
              <a:t>sshd_config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пути</a:t>
            </a:r>
            <a:r>
              <a:rPr dirty="0"/>
              <a:t> к </a:t>
            </a:r>
            <a:r>
              <a:rPr dirty="0" err="1"/>
              <a:t>файлам</a:t>
            </a:r>
            <a:r>
              <a:rPr dirty="0"/>
              <a:t> с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именем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 locate </a:t>
            </a:r>
            <a:r>
              <a:rPr dirty="0" err="1"/>
              <a:t>устарела</a:t>
            </a:r>
            <a:r>
              <a:rPr dirty="0"/>
              <a:t>,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созданные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найтись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C014CD-57D7-EC93-FD05-0D00AF6C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37" y="3849329"/>
            <a:ext cx="9628239" cy="275981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93EC-1720-F6D0-C23C-14D4D3DD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5DA7A-B0BD-7EFD-BA13-AB9C0A1ECDE0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Быстрый поиск по базе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FB5729-286E-4775-6844-47B3E664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83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inode: назначение и связь с именем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inode</a:t>
            </a:r>
            <a:r>
              <a:rPr dirty="0"/>
              <a:t> — </a:t>
            </a:r>
            <a:r>
              <a:rPr dirty="0" err="1"/>
              <a:t>служебная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с </a:t>
            </a:r>
            <a:r>
              <a:rPr dirty="0" err="1"/>
              <a:t>метаданными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inode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владелец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размер</a:t>
            </a:r>
            <a:r>
              <a:rPr dirty="0"/>
              <a:t>, </a:t>
            </a:r>
            <a:r>
              <a:rPr dirty="0" err="1"/>
              <a:t>времена</a:t>
            </a:r>
            <a:r>
              <a:rPr dirty="0"/>
              <a:t> и </a:t>
            </a:r>
            <a:r>
              <a:rPr dirty="0" err="1"/>
              <a:t>ссылки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блоки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в </a:t>
            </a:r>
            <a:r>
              <a:rPr dirty="0" err="1"/>
              <a:t>каталоге</a:t>
            </a:r>
            <a:r>
              <a:rPr dirty="0"/>
              <a:t> и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inode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объясняет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у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hard link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inode</a:t>
            </a:r>
            <a:r>
              <a:rPr dirty="0"/>
              <a:t> и </a:t>
            </a:r>
            <a:r>
              <a:rPr dirty="0" err="1"/>
              <a:t>жесткая</a:t>
            </a:r>
            <a:r>
              <a:rPr dirty="0"/>
              <a:t> </a:t>
            </a:r>
            <a:r>
              <a:rPr dirty="0" err="1"/>
              <a:t>ссылка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DFE8AF-1308-914D-72C4-21FC23C0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inode и числа ссылок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метаданные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и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имен</a:t>
            </a:r>
            <a:r>
              <a:rPr lang="ru-RU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stat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stat file1.txt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Inode</a:t>
            </a:r>
            <a:r>
              <a:rPr dirty="0"/>
              <a:t>: 123456; Links: 1</a:t>
            </a:r>
          </a:p>
          <a:p>
            <a:pPr>
              <a:defRPr sz="3600"/>
            </a:pPr>
            <a:r>
              <a:rPr dirty="0"/>
              <a:t>Links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жестких</a:t>
            </a:r>
            <a:r>
              <a:rPr dirty="0"/>
              <a:t> </a:t>
            </a:r>
            <a:r>
              <a:rPr dirty="0" err="1"/>
              <a:t>ссылок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inode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Жесткие ссылки и символические 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Жесткая ссылка — второе имя для того же inode</a:t>
            </a:r>
          </a:p>
          <a:p>
            <a:pPr>
              <a:defRPr sz="3600"/>
            </a:pPr>
            <a:r>
              <a:t>Символическая ссылка — отдельный файл, в котором записан путь к цели</a:t>
            </a:r>
          </a:p>
          <a:p>
            <a:pPr>
              <a:defRPr sz="3600"/>
            </a:pPr>
            <a:r>
              <a:t>Hard link продолжает работать после удаления одного имени</a:t>
            </a:r>
          </a:p>
          <a:p>
            <a:pPr>
              <a:defRPr sz="3600"/>
            </a:pPr>
            <a:r>
              <a:t>Symlink может стать битой ссылкой, если целевой путь исчез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Схема: </a:t>
            </a:r>
            <a:r>
              <a:rPr lang="en-US" dirty="0"/>
              <a:t>hard link </a:t>
            </a:r>
            <a:r>
              <a:rPr lang="ru-RU" dirty="0"/>
              <a:t>и </a:t>
            </a:r>
            <a:r>
              <a:rPr lang="en-US" dirty="0" err="1"/>
              <a:t>symlink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6CC755-D94D-38B5-5EBC-556D76A93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hard link и symlink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ln / ln -s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</a:t>
            </a:r>
            <a:endParaRPr lang="ru-RU"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ln file1.txt hard1.txt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ln -s file1.txt sym1.txt</a:t>
            </a:r>
          </a:p>
          <a:p>
            <a:pPr>
              <a:defRPr sz="3600"/>
            </a:pPr>
            <a:r>
              <a:rPr dirty="0" err="1"/>
              <a:t>результат</a:t>
            </a:r>
            <a:r>
              <a:rPr dirty="0"/>
              <a:t>: </a:t>
            </a:r>
            <a:r>
              <a:rPr dirty="0">
                <a:solidFill>
                  <a:srgbClr val="002060"/>
                </a:solidFill>
              </a:rPr>
              <a:t>hard1.txt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inode</a:t>
            </a:r>
            <a:r>
              <a:rPr dirty="0"/>
              <a:t>, </a:t>
            </a:r>
            <a:r>
              <a:rPr dirty="0">
                <a:solidFill>
                  <a:srgbClr val="002060"/>
                </a:solidFill>
              </a:rPr>
              <a:t>sym1.txt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путь</a:t>
            </a:r>
            <a:r>
              <a:rPr lang="ru-RU" dirty="0"/>
              <a:t>.</a:t>
            </a:r>
            <a:endParaRPr dirty="0"/>
          </a:p>
          <a:p>
            <a:pPr>
              <a:defRPr sz="3600"/>
            </a:pPr>
            <a:r>
              <a:rPr dirty="0">
                <a:solidFill>
                  <a:srgbClr val="002060"/>
                </a:solidFill>
              </a:rPr>
              <a:t>hard link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>
                <a:solidFill>
                  <a:srgbClr val="002060"/>
                </a:solidFill>
              </a:rPr>
              <a:t>inode</a:t>
            </a:r>
            <a:r>
              <a:rPr dirty="0"/>
              <a:t>, </a:t>
            </a:r>
            <a:r>
              <a:rPr dirty="0" err="1">
                <a:solidFill>
                  <a:srgbClr val="002060"/>
                </a:solidFill>
              </a:rPr>
              <a:t>symlink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именем</a:t>
            </a:r>
            <a:r>
              <a:rPr dirty="0"/>
              <a:t> </a:t>
            </a:r>
            <a:r>
              <a:rPr dirty="0" err="1"/>
              <a:t>пути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5950" y="182880"/>
            <a:ext cx="656961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Типовые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удалении</a:t>
            </a:r>
            <a:r>
              <a:rPr dirty="0"/>
              <a:t>,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копировании</a:t>
            </a:r>
            <a:r>
              <a:rPr dirty="0"/>
              <a:t> и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ссылками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489586"/>
            <a:ext cx="11149781" cy="4636893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непроверенного</a:t>
            </a:r>
            <a:r>
              <a:rPr dirty="0"/>
              <a:t> </a:t>
            </a:r>
            <a:r>
              <a:rPr dirty="0" err="1"/>
              <a:t>pwd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Использование</a:t>
            </a:r>
            <a:r>
              <a:rPr dirty="0"/>
              <a:t> rm -r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содержимого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Ожидание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symlink</a:t>
            </a:r>
            <a:r>
              <a:rPr dirty="0"/>
              <a:t> </a:t>
            </a:r>
            <a:r>
              <a:rPr dirty="0" err="1"/>
              <a:t>сохранит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цели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Путаница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копией</a:t>
            </a:r>
            <a:r>
              <a:rPr dirty="0"/>
              <a:t> и hard link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Копирование</a:t>
            </a:r>
            <a:r>
              <a:rPr dirty="0"/>
              <a:t> </a:t>
            </a:r>
            <a:r>
              <a:rPr dirty="0" err="1"/>
              <a:t>ссылок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, </a:t>
            </a:r>
            <a:r>
              <a:rPr dirty="0" err="1"/>
              <a:t>копируется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цель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корня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lang="en-US" b="1" dirty="0"/>
              <a:t>;</a:t>
            </a:r>
            <a:endParaRPr b="1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устойчивое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</a:t>
            </a:r>
            <a:r>
              <a:rPr dirty="0"/>
              <a:t> в Linux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, </a:t>
            </a:r>
            <a:r>
              <a:rPr dirty="0" err="1"/>
              <a:t>тип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владелец</a:t>
            </a:r>
            <a:r>
              <a:rPr dirty="0"/>
              <a:t> и </a:t>
            </a:r>
            <a:r>
              <a:rPr dirty="0" err="1"/>
              <a:t>inode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Hard link и </a:t>
            </a:r>
            <a:r>
              <a:rPr dirty="0" err="1"/>
              <a:t>symlink</a:t>
            </a:r>
            <a:r>
              <a:rPr dirty="0"/>
              <a:t> </a:t>
            </a:r>
            <a:r>
              <a:rPr dirty="0" err="1"/>
              <a:t>решают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,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и </a:t>
            </a:r>
            <a:r>
              <a:rPr dirty="0" err="1"/>
              <a:t>ожидаемого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1. Чем дерево каталогов Linux отличается от букв дисков Windows?</a:t>
            </a:r>
          </a:p>
          <a:p>
            <a:pPr>
              <a:defRPr sz="3600"/>
            </a:pPr>
            <a:r>
              <a:t>2. Для чего нужны /etc, /var и /home?</a:t>
            </a:r>
          </a:p>
          <a:p>
            <a:pPr>
              <a:defRPr sz="3600"/>
            </a:pPr>
            <a:r>
              <a:t>3. Что такое каталог с точки зрения файловой системы?</a:t>
            </a:r>
          </a:p>
          <a:p>
            <a:pPr>
              <a:defRPr sz="3600"/>
            </a:pPr>
            <a:r>
              <a:t>4. Что показывает inode?</a:t>
            </a:r>
          </a:p>
          <a:p>
            <a:pPr>
              <a:defRPr sz="3600"/>
            </a:pPr>
            <a:r>
              <a:t>5. Чем копия отличается от hard link?</a:t>
            </a:r>
          </a:p>
          <a:p>
            <a:pPr>
              <a:defRPr sz="3600"/>
            </a:pPr>
            <a:r>
              <a:t>6. Почему symlink может стать битой ссылкой?</a:t>
            </a:r>
          </a:p>
          <a:p>
            <a:pPr>
              <a:defRPr sz="3600"/>
            </a:pPr>
            <a:r>
              <a:t>7. Когда использовать find, а когда locate?</a:t>
            </a:r>
          </a:p>
          <a:p>
            <a:pPr>
              <a:defRPr sz="3600"/>
            </a:pPr>
            <a:r>
              <a:t>8. Какие проверки нужно сделать перед rm -r?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1885</Words>
  <Application>Microsoft Office PowerPoint</Application>
  <PresentationFormat>Широкоэкранный</PresentationFormat>
  <Paragraphs>190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2026-07-04T08:48:49Z</dcterms:modified>
  <cp:category/>
</cp:coreProperties>
</file>