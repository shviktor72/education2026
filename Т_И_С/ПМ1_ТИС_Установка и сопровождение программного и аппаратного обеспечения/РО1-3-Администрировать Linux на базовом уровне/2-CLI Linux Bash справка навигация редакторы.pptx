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96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7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8" r:id="rId35"/>
    <p:sldId id="288" r:id="rId36"/>
    <p:sldId id="289" r:id="rId37"/>
    <p:sldId id="290" r:id="rId38"/>
    <p:sldId id="295" r:id="rId39"/>
    <p:sldId id="299" r:id="rId40"/>
    <p:sldId id="291" r:id="rId41"/>
    <p:sldId id="292" r:id="rId42"/>
    <p:sldId id="293" r:id="rId43"/>
    <p:sldId id="294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415" y="2886260"/>
            <a:ext cx="1134316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2.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Командная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Linux: Bash, </a:t>
            </a:r>
            <a:r>
              <a:rPr dirty="0" err="1"/>
              <a:t>справка</a:t>
            </a:r>
            <a:r>
              <a:rPr dirty="0"/>
              <a:t>, </a:t>
            </a:r>
            <a:r>
              <a:rPr dirty="0" err="1"/>
              <a:t>навигация</a:t>
            </a:r>
            <a:r>
              <a:rPr dirty="0"/>
              <a:t>, </a:t>
            </a:r>
            <a:r>
              <a:rPr dirty="0" err="1"/>
              <a:t>редакторы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9599" y="575188"/>
            <a:ext cx="109728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1.3. Базовое </a:t>
            </a:r>
            <a:r>
              <a:rPr sz="3200" b="1" dirty="0" err="1">
                <a:solidFill>
                  <a:srgbClr val="143764"/>
                </a:solidFill>
              </a:rPr>
              <a:t>администрирование</a:t>
            </a:r>
            <a:r>
              <a:rPr sz="3200" b="1" dirty="0">
                <a:solidFill>
                  <a:srgbClr val="143764"/>
                </a:solidFill>
              </a:rPr>
              <a:t> Linux</a:t>
            </a:r>
            <a:r>
              <a:rPr lang="ru-RU" sz="3200" b="1" dirty="0">
                <a:solidFill>
                  <a:srgbClr val="143764"/>
                </a:solidFill>
              </a:rPr>
              <a:t>.</a:t>
            </a:r>
            <a:endParaRPr sz="3200" b="1" dirty="0">
              <a:solidFill>
                <a:srgbClr val="1437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терминала</a:t>
            </a:r>
            <a:r>
              <a:rPr dirty="0"/>
              <a:t>,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оболочки</a:t>
            </a:r>
            <a:r>
              <a:rPr dirty="0"/>
              <a:t> и Bash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: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опции</a:t>
            </a:r>
            <a:r>
              <a:rPr dirty="0"/>
              <a:t>, </a:t>
            </a:r>
            <a:r>
              <a:rPr dirty="0" err="1"/>
              <a:t>аргументы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Освоить</a:t>
            </a:r>
            <a:r>
              <a:rPr dirty="0"/>
              <a:t> </a:t>
            </a:r>
            <a:r>
              <a:rPr dirty="0" err="1"/>
              <a:t>логику</a:t>
            </a:r>
            <a:r>
              <a:rPr dirty="0"/>
              <a:t> </a:t>
            </a:r>
            <a:r>
              <a:rPr dirty="0" err="1"/>
              <a:t>навигации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Linux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пользоваться</a:t>
            </a:r>
            <a:r>
              <a:rPr dirty="0"/>
              <a:t> </a:t>
            </a:r>
            <a:r>
              <a:rPr dirty="0" err="1"/>
              <a:t>справкой</a:t>
            </a:r>
            <a:r>
              <a:rPr dirty="0"/>
              <a:t>, </a:t>
            </a:r>
            <a:r>
              <a:rPr dirty="0" err="1"/>
              <a:t>просмотром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базовыми</a:t>
            </a:r>
            <a:r>
              <a:rPr dirty="0"/>
              <a:t> </a:t>
            </a:r>
            <a:r>
              <a:rPr dirty="0" err="1"/>
              <a:t>редакторами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CLI и </a:t>
            </a:r>
            <a:r>
              <a:rPr sz="2800" dirty="0" err="1"/>
              <a:t>терминал</a:t>
            </a:r>
            <a:r>
              <a:rPr sz="2800" dirty="0"/>
              <a:t>: </a:t>
            </a:r>
            <a:r>
              <a:rPr sz="2800" dirty="0" err="1"/>
              <a:t>назначение</a:t>
            </a:r>
            <a:r>
              <a:rPr sz="2800" dirty="0"/>
              <a:t> </a:t>
            </a:r>
            <a:r>
              <a:rPr sz="2800" dirty="0" err="1"/>
              <a:t>командной</a:t>
            </a:r>
            <a:r>
              <a:rPr sz="2800" dirty="0"/>
              <a:t> </a:t>
            </a:r>
            <a:r>
              <a:rPr sz="2800" dirty="0" err="1"/>
              <a:t>строки</a:t>
            </a:r>
            <a:r>
              <a:rPr sz="2800" dirty="0"/>
              <a:t>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администратора</a:t>
            </a:r>
            <a:r>
              <a:rPr sz="2800" dirty="0"/>
              <a:t> Linux</a:t>
            </a:r>
          </a:p>
          <a:p>
            <a:pPr>
              <a:defRPr sz="3600"/>
            </a:pPr>
            <a:r>
              <a:rPr sz="2800" dirty="0"/>
              <a:t>2. Bash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командная</a:t>
            </a:r>
            <a:r>
              <a:rPr sz="2800" dirty="0"/>
              <a:t> </a:t>
            </a:r>
            <a:r>
              <a:rPr sz="2800" dirty="0" err="1"/>
              <a:t>оболочка</a:t>
            </a:r>
            <a:r>
              <a:rPr sz="2800" dirty="0"/>
              <a:t>: </a:t>
            </a:r>
            <a:r>
              <a:rPr sz="2800" dirty="0" err="1"/>
              <a:t>приглашение</a:t>
            </a:r>
            <a:r>
              <a:rPr sz="2800" dirty="0"/>
              <a:t>, </a:t>
            </a:r>
            <a:r>
              <a:rPr sz="2800" dirty="0" err="1"/>
              <a:t>команды</a:t>
            </a:r>
            <a:r>
              <a:rPr sz="2800" dirty="0"/>
              <a:t>, </a:t>
            </a:r>
            <a:r>
              <a:rPr sz="2800" dirty="0" err="1"/>
              <a:t>аргументы</a:t>
            </a:r>
            <a:r>
              <a:rPr sz="2800" dirty="0"/>
              <a:t>, </a:t>
            </a:r>
            <a:r>
              <a:rPr sz="2800" dirty="0" err="1"/>
              <a:t>опции</a:t>
            </a:r>
            <a:endParaRPr sz="2800" dirty="0"/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Абсолютный</a:t>
            </a:r>
            <a:r>
              <a:rPr sz="2800" dirty="0"/>
              <a:t> и </a:t>
            </a:r>
            <a:r>
              <a:rPr sz="2800" dirty="0" err="1"/>
              <a:t>относительный</a:t>
            </a:r>
            <a:r>
              <a:rPr sz="2800" dirty="0"/>
              <a:t> </a:t>
            </a:r>
            <a:r>
              <a:rPr sz="2800" dirty="0" err="1"/>
              <a:t>путь</a:t>
            </a:r>
            <a:endParaRPr sz="2800" dirty="0"/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Навигация</a:t>
            </a:r>
            <a:r>
              <a:rPr sz="2800" dirty="0"/>
              <a:t>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/>
              <a:t>файловой</a:t>
            </a:r>
            <a:r>
              <a:rPr sz="2800" dirty="0"/>
              <a:t> </a:t>
            </a:r>
            <a:r>
              <a:rPr sz="2800" dirty="0" err="1"/>
              <a:t>системе</a:t>
            </a:r>
            <a:r>
              <a:rPr sz="2800" dirty="0"/>
              <a:t>: </a:t>
            </a:r>
            <a:r>
              <a:rPr sz="2800" dirty="0" err="1"/>
              <a:t>pwd</a:t>
            </a:r>
            <a:r>
              <a:rPr sz="2800" dirty="0"/>
              <a:t>, ls, cd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История</a:t>
            </a:r>
            <a:r>
              <a:rPr sz="2800" dirty="0"/>
              <a:t> </a:t>
            </a:r>
            <a:r>
              <a:rPr sz="2800" dirty="0" err="1"/>
              <a:t>команд</a:t>
            </a:r>
            <a:r>
              <a:rPr sz="2800" dirty="0"/>
              <a:t> и </a:t>
            </a:r>
            <a:r>
              <a:rPr sz="2800" dirty="0" err="1"/>
              <a:t>повторное</a:t>
            </a:r>
            <a:r>
              <a:rPr sz="2800" dirty="0"/>
              <a:t> </a:t>
            </a:r>
            <a:r>
              <a:rPr sz="2800" dirty="0" err="1"/>
              <a:t>выполнение</a:t>
            </a:r>
            <a:r>
              <a:rPr sz="2800" dirty="0"/>
              <a:t> </a:t>
            </a:r>
            <a:r>
              <a:rPr sz="2800" dirty="0" err="1"/>
              <a:t>команд</a:t>
            </a:r>
            <a:endParaRPr sz="2800" dirty="0"/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Справка</a:t>
            </a:r>
            <a:r>
              <a:rPr sz="2800" dirty="0"/>
              <a:t>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/>
              <a:t>командам</a:t>
            </a:r>
            <a:r>
              <a:rPr sz="2800" dirty="0"/>
              <a:t>: man, --help, apropos</a:t>
            </a:r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Просмотр</a:t>
            </a:r>
            <a:r>
              <a:rPr sz="2800" dirty="0"/>
              <a:t> </a:t>
            </a:r>
            <a:r>
              <a:rPr sz="2800" dirty="0" err="1"/>
              <a:t>файлов</a:t>
            </a:r>
            <a:r>
              <a:rPr sz="2800" dirty="0"/>
              <a:t>: cat, less, head, tail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Текстовые</a:t>
            </a:r>
            <a:r>
              <a:rPr sz="2800" dirty="0"/>
              <a:t> </a:t>
            </a:r>
            <a:r>
              <a:rPr sz="2800" dirty="0" err="1"/>
              <a:t>редакторы</a:t>
            </a:r>
            <a:r>
              <a:rPr sz="2800" dirty="0"/>
              <a:t>: nano, vi/vim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базовом</a:t>
            </a:r>
            <a:r>
              <a:rPr sz="2800" dirty="0"/>
              <a:t> </a:t>
            </a:r>
            <a:r>
              <a:rPr sz="2800" dirty="0" err="1"/>
              <a:t>уровне</a:t>
            </a:r>
            <a:endParaRPr sz="2800" dirty="0"/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Практическая</a:t>
            </a:r>
            <a:r>
              <a:rPr sz="2800" dirty="0"/>
              <a:t> </a:t>
            </a:r>
            <a:r>
              <a:rPr sz="2800" dirty="0" err="1"/>
              <a:t>аккуратность</a:t>
            </a:r>
            <a:r>
              <a:rPr sz="2800" dirty="0"/>
              <a:t> в </a:t>
            </a:r>
            <a:r>
              <a:rPr sz="2800" dirty="0" err="1"/>
              <a:t>терминале</a:t>
            </a:r>
            <a:r>
              <a:rPr sz="2800" dirty="0"/>
              <a:t>: </a:t>
            </a:r>
            <a:r>
              <a:rPr sz="2800" dirty="0" err="1"/>
              <a:t>рабочий</a:t>
            </a:r>
            <a:r>
              <a:rPr sz="2800" dirty="0"/>
              <a:t> </a:t>
            </a:r>
            <a:r>
              <a:rPr sz="2800" dirty="0" err="1"/>
              <a:t>каталог</a:t>
            </a:r>
            <a:r>
              <a:rPr sz="2800" dirty="0"/>
              <a:t>,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команды</a:t>
            </a:r>
            <a:r>
              <a:rPr sz="2800" dirty="0"/>
              <a:t> </a:t>
            </a:r>
            <a:r>
              <a:rPr sz="2800" dirty="0" err="1"/>
              <a:t>перед</a:t>
            </a:r>
            <a:r>
              <a:rPr sz="2800" dirty="0"/>
              <a:t> </a:t>
            </a:r>
            <a:r>
              <a:rPr sz="2800" dirty="0" err="1"/>
              <a:t>выполнением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079" y="182880"/>
            <a:ext cx="909736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CLI и </a:t>
            </a:r>
            <a:r>
              <a:rPr dirty="0" err="1"/>
              <a:t>терминал</a:t>
            </a:r>
            <a:r>
              <a:rPr dirty="0"/>
              <a:t>: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74838"/>
            <a:ext cx="10972800" cy="46516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CLI — Command Line Interface, </a:t>
            </a:r>
            <a:r>
              <a:rPr dirty="0" err="1"/>
              <a:t>командный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Терминал</a:t>
            </a:r>
            <a:r>
              <a:rPr dirty="0"/>
              <a:t> —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консоль</a:t>
            </a:r>
            <a:r>
              <a:rPr dirty="0"/>
              <a:t>,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которую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взаимодействует</a:t>
            </a:r>
            <a:r>
              <a:rPr dirty="0"/>
              <a:t> с </a:t>
            </a:r>
            <a:r>
              <a:rPr dirty="0" err="1"/>
              <a:t>оболочкой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Командная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точно</a:t>
            </a:r>
            <a:r>
              <a:rPr dirty="0"/>
              <a:t>, </a:t>
            </a:r>
            <a:r>
              <a:rPr dirty="0" err="1"/>
              <a:t>повторяемо</a:t>
            </a:r>
            <a:r>
              <a:rPr dirty="0"/>
              <a:t> и </a:t>
            </a:r>
            <a:r>
              <a:rPr dirty="0" err="1"/>
              <a:t>удаленно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Linux </a:t>
            </a:r>
            <a:r>
              <a:rPr dirty="0" err="1"/>
              <a:t>терминал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основным</a:t>
            </a:r>
            <a:r>
              <a:rPr dirty="0"/>
              <a:t> </a:t>
            </a:r>
            <a:r>
              <a:rPr dirty="0" err="1"/>
              <a:t>рабочим</a:t>
            </a:r>
            <a:r>
              <a:rPr dirty="0"/>
              <a:t> </a:t>
            </a:r>
            <a:r>
              <a:rPr dirty="0" err="1"/>
              <a:t>инструментом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серверному администратору нужен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графического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Удаленное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SSH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документировать</a:t>
            </a:r>
            <a:r>
              <a:rPr dirty="0"/>
              <a:t> в </a:t>
            </a:r>
            <a:r>
              <a:rPr dirty="0" err="1"/>
              <a:t>отчете</a:t>
            </a:r>
            <a:r>
              <a:rPr dirty="0"/>
              <a:t> и </a:t>
            </a:r>
            <a:r>
              <a:rPr dirty="0" err="1"/>
              <a:t>повторять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Командная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диагностический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CLI, </a:t>
            </a:r>
            <a:r>
              <a:rPr dirty="0" err="1"/>
              <a:t>терминал</a:t>
            </a:r>
            <a:r>
              <a:rPr dirty="0"/>
              <a:t> и Bash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FFB1F7-B8E1-54A1-AAF9-3863A63B28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2DB3E2-0246-6F50-F00E-16A0CC35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Терминал, оболочка и программа: кто за что отвечает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Терминал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ввод</a:t>
            </a:r>
            <a:r>
              <a:rPr dirty="0"/>
              <a:t> с </a:t>
            </a:r>
            <a:r>
              <a:rPr dirty="0" err="1"/>
              <a:t>клавиатуры</a:t>
            </a:r>
            <a:r>
              <a:rPr dirty="0"/>
              <a:t> и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экране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Оболочка</a:t>
            </a:r>
            <a:r>
              <a:rPr dirty="0"/>
              <a:t> </a:t>
            </a:r>
            <a:r>
              <a:rPr dirty="0" err="1"/>
              <a:t>разбирает</a:t>
            </a:r>
            <a:r>
              <a:rPr dirty="0"/>
              <a:t> </a:t>
            </a:r>
            <a:r>
              <a:rPr dirty="0" err="1"/>
              <a:t>введенную</a:t>
            </a:r>
            <a:r>
              <a:rPr dirty="0"/>
              <a:t> </a:t>
            </a:r>
            <a:r>
              <a:rPr dirty="0" err="1"/>
              <a:t>строку</a:t>
            </a:r>
            <a:r>
              <a:rPr dirty="0"/>
              <a:t> и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конкретную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встроенное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 </a:t>
            </a:r>
            <a:r>
              <a:rPr dirty="0" err="1"/>
              <a:t>оболочки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возвращается</a:t>
            </a:r>
            <a:r>
              <a:rPr dirty="0"/>
              <a:t> в </a:t>
            </a:r>
            <a:r>
              <a:rPr dirty="0" err="1"/>
              <a:t>терминал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текстовый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сообщение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ошибке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5190" y="182880"/>
            <a:ext cx="791114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2. Bash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командная</a:t>
            </a:r>
            <a:r>
              <a:rPr dirty="0"/>
              <a:t> </a:t>
            </a:r>
            <a:r>
              <a:rPr dirty="0" err="1"/>
              <a:t>оболочка</a:t>
            </a:r>
            <a:r>
              <a:rPr dirty="0"/>
              <a:t>: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приглашение</a:t>
            </a:r>
            <a:r>
              <a:rPr dirty="0"/>
              <a:t>,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аргументы</a:t>
            </a:r>
            <a:r>
              <a:rPr dirty="0"/>
              <a:t>, </a:t>
            </a:r>
            <a:r>
              <a:rPr dirty="0" err="1"/>
              <a:t>опции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86348"/>
            <a:ext cx="10972800" cy="508819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Bash</a:t>
            </a:r>
            <a:r>
              <a:rPr dirty="0"/>
              <a:t> — Bourne Again Shell, </a:t>
            </a:r>
            <a:r>
              <a:rPr dirty="0" err="1"/>
              <a:t>популярная</a:t>
            </a:r>
            <a:r>
              <a:rPr dirty="0"/>
              <a:t> </a:t>
            </a:r>
            <a:r>
              <a:rPr dirty="0" err="1"/>
              <a:t>командная</a:t>
            </a:r>
            <a:r>
              <a:rPr dirty="0"/>
              <a:t> </a:t>
            </a:r>
            <a:r>
              <a:rPr dirty="0" err="1"/>
              <a:t>оболочка</a:t>
            </a:r>
            <a:r>
              <a:rPr dirty="0"/>
              <a:t> Linux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Оболочка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и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окружением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Приглашение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оболочка</a:t>
            </a:r>
            <a:r>
              <a:rPr dirty="0"/>
              <a:t> </a:t>
            </a:r>
            <a:r>
              <a:rPr dirty="0" err="1"/>
              <a:t>готова</a:t>
            </a:r>
            <a:r>
              <a:rPr dirty="0"/>
              <a:t> </a:t>
            </a:r>
            <a:r>
              <a:rPr dirty="0" err="1"/>
              <a:t>принять</a:t>
            </a:r>
            <a:r>
              <a:rPr dirty="0"/>
              <a:t> </a:t>
            </a:r>
            <a:r>
              <a:rPr dirty="0" err="1"/>
              <a:t>ввод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</a:t>
            </a:r>
            <a:r>
              <a:rPr dirty="0" err="1"/>
              <a:t>приглашение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dirty="0" err="1"/>
              <a:t>узел</a:t>
            </a:r>
            <a:r>
              <a:rPr dirty="0"/>
              <a:t> и </a:t>
            </a: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команда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, </a:t>
            </a:r>
            <a:r>
              <a:rPr dirty="0" err="1"/>
              <a:t>какую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встроенную</a:t>
            </a:r>
            <a:r>
              <a:rPr dirty="0"/>
              <a:t> </a:t>
            </a:r>
            <a:r>
              <a:rPr dirty="0" err="1"/>
              <a:t>функцию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Опции</a:t>
            </a:r>
            <a:r>
              <a:rPr dirty="0"/>
              <a:t> </a:t>
            </a:r>
            <a:r>
              <a:rPr dirty="0" err="1"/>
              <a:t>изменяют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: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начинаются</a:t>
            </a:r>
            <a:r>
              <a:rPr dirty="0"/>
              <a:t> с </a:t>
            </a:r>
            <a:r>
              <a:rPr b="1" dirty="0">
                <a:solidFill>
                  <a:srgbClr val="002060"/>
                </a:solidFill>
              </a:rPr>
              <a:t>-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sz="3600" b="1" dirty="0">
                <a:solidFill>
                  <a:srgbClr val="002060"/>
                </a:solidFill>
              </a:rPr>
              <a:t>--</a:t>
            </a:r>
          </a:p>
          <a:p>
            <a:pPr indent="354013">
              <a:defRPr sz="3600"/>
            </a:pPr>
            <a:r>
              <a:rPr dirty="0" err="1"/>
              <a:t>Аргументы</a:t>
            </a:r>
            <a:r>
              <a:rPr dirty="0"/>
              <a:t> </a:t>
            </a:r>
            <a:r>
              <a:rPr dirty="0" err="1"/>
              <a:t>указывают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: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адрес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sz="3600" b="1" dirty="0">
                <a:solidFill>
                  <a:srgbClr val="002060"/>
                </a:solidFill>
              </a:rPr>
              <a:t>ls -la /</a:t>
            </a:r>
            <a:r>
              <a:rPr sz="3600" b="1" dirty="0" err="1">
                <a:solidFill>
                  <a:srgbClr val="002060"/>
                </a:solidFill>
              </a:rPr>
              <a:t>etc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dirty="0"/>
              <a:t>=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sz="3600" b="1" dirty="0">
                <a:solidFill>
                  <a:srgbClr val="002060"/>
                </a:solidFill>
              </a:rPr>
              <a:t>ls</a:t>
            </a:r>
            <a:r>
              <a:rPr dirty="0"/>
              <a:t>, </a:t>
            </a:r>
            <a:r>
              <a:rPr dirty="0" err="1"/>
              <a:t>опции</a:t>
            </a:r>
            <a:r>
              <a:rPr dirty="0"/>
              <a:t> </a:t>
            </a:r>
            <a:r>
              <a:rPr sz="3600" b="1" dirty="0">
                <a:solidFill>
                  <a:srgbClr val="002060"/>
                </a:solidFill>
              </a:rPr>
              <a:t>-la</a:t>
            </a:r>
            <a:r>
              <a:rPr dirty="0"/>
              <a:t>, </a:t>
            </a:r>
            <a:r>
              <a:rPr dirty="0" err="1"/>
              <a:t>аргумент</a:t>
            </a:r>
            <a:r>
              <a:rPr dirty="0"/>
              <a:t> </a:t>
            </a:r>
            <a:r>
              <a:rPr sz="3600" b="1" dirty="0">
                <a:solidFill>
                  <a:srgbClr val="002060"/>
                </a:solidFill>
              </a:rPr>
              <a:t>/</a:t>
            </a:r>
            <a:r>
              <a:rPr sz="3600" b="1" dirty="0" err="1">
                <a:solidFill>
                  <a:srgbClr val="002060"/>
                </a:solidFill>
              </a:rPr>
              <a:t>etc</a:t>
            </a:r>
            <a:endParaRPr sz="36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A60A-3084-46ED-9656-1C012EEF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A309E5-64AC-015F-CCF5-6B6B6492A875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команда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ABC235-71D4-E88E-7748-0827435DF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95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означает приглашение командной строки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чьего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каком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открыт</a:t>
            </a:r>
            <a:r>
              <a:rPr dirty="0"/>
              <a:t> </a:t>
            </a:r>
            <a:r>
              <a:rPr dirty="0" err="1"/>
              <a:t>сеанс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</a:t>
            </a:r>
            <a:r>
              <a:rPr dirty="0" err="1"/>
              <a:t>относительных</a:t>
            </a:r>
            <a:r>
              <a:rPr dirty="0"/>
              <a:t> </a:t>
            </a:r>
            <a:r>
              <a:rPr dirty="0" err="1"/>
              <a:t>путей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Символ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$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обычного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#</a:t>
            </a:r>
            <a:r>
              <a:rPr dirty="0"/>
              <a:t> — </a:t>
            </a:r>
            <a:r>
              <a:rPr dirty="0" err="1"/>
              <a:t>административную</a:t>
            </a:r>
            <a:r>
              <a:rPr dirty="0"/>
              <a:t> </a:t>
            </a:r>
            <a:r>
              <a:rPr dirty="0" err="1"/>
              <a:t>оболочку</a:t>
            </a:r>
            <a:r>
              <a:rPr dirty="0"/>
              <a:t> root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текущего каталога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28103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, в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будут</a:t>
            </a:r>
            <a:r>
              <a:rPr dirty="0"/>
              <a:t> </a:t>
            </a:r>
            <a:r>
              <a:rPr dirty="0" err="1"/>
              <a:t>выполняться</a:t>
            </a:r>
            <a:r>
              <a:rPr dirty="0"/>
              <a:t> </a:t>
            </a:r>
            <a:r>
              <a:rPr dirty="0" err="1"/>
              <a:t>относительные</a:t>
            </a:r>
            <a:r>
              <a:rPr dirty="0"/>
              <a:t> </a:t>
            </a:r>
            <a:r>
              <a:rPr dirty="0" err="1"/>
              <a:t>пути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pwd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pwd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/home/student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сейчас</a:t>
            </a:r>
            <a:r>
              <a:rPr dirty="0"/>
              <a:t> </a:t>
            </a:r>
            <a:r>
              <a:rPr dirty="0" err="1"/>
              <a:t>рабочий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student; </a:t>
            </a:r>
            <a:r>
              <a:rPr dirty="0" err="1"/>
              <a:t>относительные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 </a:t>
            </a:r>
            <a:r>
              <a:rPr dirty="0" err="1"/>
              <a:t>будут</a:t>
            </a:r>
            <a:r>
              <a:rPr dirty="0"/>
              <a:t> </a:t>
            </a:r>
            <a:r>
              <a:rPr dirty="0" err="1"/>
              <a:t>строиться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него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9B9135-480E-D57A-544C-277B76FE9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4564626"/>
            <a:ext cx="11154544" cy="1553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Абсолютный и относительный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Путь</a:t>
            </a:r>
            <a:r>
              <a:rPr dirty="0"/>
              <a:t> —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указать</a:t>
            </a:r>
            <a:r>
              <a:rPr dirty="0"/>
              <a:t> </a:t>
            </a:r>
            <a:r>
              <a:rPr dirty="0" err="1"/>
              <a:t>расположение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в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Абсолютный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корня</a:t>
            </a:r>
            <a:r>
              <a:rPr dirty="0"/>
              <a:t> /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Относительный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рабочего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путей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путей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/</a:t>
            </a:r>
            <a:r>
              <a:rPr dirty="0" err="1">
                <a:solidFill>
                  <a:srgbClr val="002060"/>
                </a:solidFill>
              </a:rPr>
              <a:t>etc</a:t>
            </a:r>
            <a:r>
              <a:rPr dirty="0">
                <a:solidFill>
                  <a:srgbClr val="002060"/>
                </a:solidFill>
              </a:rPr>
              <a:t>/ssh/</a:t>
            </a:r>
            <a:r>
              <a:rPr dirty="0" err="1">
                <a:solidFill>
                  <a:srgbClr val="002060"/>
                </a:solidFill>
              </a:rPr>
              <a:t>sshd_config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/>
              <a:t>— </a:t>
            </a:r>
            <a:r>
              <a:rPr dirty="0" err="1"/>
              <a:t>абсолютный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конфигурации</a:t>
            </a:r>
            <a:r>
              <a:rPr dirty="0"/>
              <a:t> SSH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docs/report.txt </a:t>
            </a:r>
            <a:r>
              <a:rPr dirty="0"/>
              <a:t>— </a:t>
            </a:r>
            <a:r>
              <a:rPr dirty="0" err="1"/>
              <a:t>относительный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.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каталог</a:t>
            </a:r>
            <a:endParaRPr dirty="0"/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..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уровнем</a:t>
            </a:r>
            <a:r>
              <a:rPr dirty="0"/>
              <a:t> </a:t>
            </a:r>
            <a:r>
              <a:rPr dirty="0" err="1"/>
              <a:t>выше</a:t>
            </a:r>
            <a:endParaRPr dirty="0"/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~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пользователя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Переход по абсолютному пути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2846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перейти</a:t>
            </a:r>
            <a:r>
              <a:rPr dirty="0"/>
              <a:t> в </a:t>
            </a:r>
            <a:r>
              <a:rPr dirty="0" err="1"/>
              <a:t>известный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независимо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места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cd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cd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pwd</a:t>
            </a:r>
            <a:r>
              <a:rPr dirty="0"/>
              <a:t> </a:t>
            </a:r>
            <a:r>
              <a:rPr dirty="0" err="1"/>
              <a:t>выводит</a:t>
            </a:r>
            <a:r>
              <a:rPr dirty="0"/>
              <a:t> /</a:t>
            </a:r>
            <a:r>
              <a:rPr dirty="0" err="1"/>
              <a:t>etc</a:t>
            </a:r>
            <a:endParaRPr dirty="0"/>
          </a:p>
          <a:p>
            <a:pPr indent="354013">
              <a:defRPr sz="3600"/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842EB6-DAD6-3270-B233-3830D8FBA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" y="4218038"/>
            <a:ext cx="10831308" cy="18961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Переход по относительному пути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92307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перейти</a:t>
            </a:r>
            <a:r>
              <a:rPr dirty="0"/>
              <a:t> в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относительно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положения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cd </a:t>
            </a:r>
            <a:r>
              <a:rPr b="1" dirty="0" err="1">
                <a:solidFill>
                  <a:srgbClr val="002060"/>
                </a:solidFill>
              </a:rPr>
              <a:t>имя_каталога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cd ssh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pwd</a:t>
            </a:r>
            <a:r>
              <a:rPr dirty="0"/>
              <a:t> </a:t>
            </a:r>
            <a:r>
              <a:rPr dirty="0" err="1"/>
              <a:t>выводит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/ssh</a:t>
            </a:r>
          </a:p>
          <a:p>
            <a:pPr indent="354013">
              <a:defRPr sz="3600"/>
            </a:pPr>
            <a:r>
              <a:rPr lang="ru-RU" dirty="0"/>
              <a:t>Р</a:t>
            </a:r>
            <a:r>
              <a:rPr dirty="0" err="1"/>
              <a:t>езультат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E554FB-651B-F09C-127B-90D657BC9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68" y="4518383"/>
            <a:ext cx="10157184" cy="17861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Навигация по файловой системе: pwd, ls,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Навигация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умение</a:t>
            </a:r>
            <a:r>
              <a:rPr dirty="0"/>
              <a:t> </a:t>
            </a:r>
            <a:r>
              <a:rPr dirty="0" err="1"/>
              <a:t>ориентироваться</a:t>
            </a:r>
            <a:r>
              <a:rPr dirty="0"/>
              <a:t> в </a:t>
            </a:r>
            <a:r>
              <a:rPr dirty="0" err="1"/>
              <a:t>дереве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Linux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pwd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рабочий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ls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cd</a:t>
            </a:r>
            <a:r>
              <a:rPr dirty="0"/>
              <a:t>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рабочий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Эти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любыми</a:t>
            </a:r>
            <a:r>
              <a:rPr dirty="0"/>
              <a:t> </a:t>
            </a:r>
            <a:r>
              <a:rPr dirty="0" err="1"/>
              <a:t>действиями</a:t>
            </a:r>
            <a:r>
              <a:rPr dirty="0"/>
              <a:t> с </a:t>
            </a:r>
            <a:r>
              <a:rPr dirty="0" err="1"/>
              <a:t>файлами</a:t>
            </a:r>
            <a:r>
              <a:rPr dirty="0"/>
              <a:t> и </a:t>
            </a:r>
            <a:r>
              <a:rPr dirty="0" err="1"/>
              <a:t>конфигурацией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содержимого каталога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399"/>
            <a:ext cx="10972800" cy="36133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объекты</a:t>
            </a:r>
            <a:r>
              <a:rPr dirty="0"/>
              <a:t> в </a:t>
            </a:r>
            <a:r>
              <a:rPr dirty="0" err="1"/>
              <a:t>текущем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указанном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/</a:t>
            </a:r>
            <a:r>
              <a:rPr b="1" dirty="0" err="1">
                <a:solidFill>
                  <a:srgbClr val="002060"/>
                </a:solidFill>
              </a:rPr>
              <a:t>usr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каталог</a:t>
            </a:r>
            <a:r>
              <a:rPr dirty="0"/>
              <a:t> /</a:t>
            </a:r>
            <a:r>
              <a:rPr dirty="0" err="1"/>
              <a:t>usr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, </a:t>
            </a:r>
            <a:r>
              <a:rPr dirty="0" err="1"/>
              <a:t>библиотеки</a:t>
            </a:r>
            <a:r>
              <a:rPr dirty="0"/>
              <a:t> и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016632-5A1B-14FA-732A-C44F9B25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788463"/>
            <a:ext cx="10679867" cy="9781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Подробный список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2266951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размер</a:t>
            </a:r>
            <a:r>
              <a:rPr dirty="0"/>
              <a:t> и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-la </a:t>
            </a:r>
            <a:r>
              <a:rPr b="1" dirty="0" err="1">
                <a:solidFill>
                  <a:srgbClr val="002060"/>
                </a:solidFill>
              </a:rPr>
              <a:t>путь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-la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строки</a:t>
            </a:r>
            <a:r>
              <a:rPr dirty="0"/>
              <a:t> с </a:t>
            </a:r>
            <a:r>
              <a:rPr dirty="0" err="1"/>
              <a:t>правами</a:t>
            </a:r>
            <a:r>
              <a:rPr dirty="0"/>
              <a:t>, </a:t>
            </a:r>
            <a:r>
              <a:rPr dirty="0" err="1"/>
              <a:t>владельцами</a:t>
            </a:r>
            <a:r>
              <a:rPr dirty="0"/>
              <a:t> и </a:t>
            </a:r>
            <a:r>
              <a:rPr dirty="0" err="1"/>
              <a:t>именами</a:t>
            </a:r>
            <a:r>
              <a:rPr dirty="0"/>
              <a:t> </a:t>
            </a:r>
            <a:r>
              <a:rPr dirty="0" err="1"/>
              <a:t>файлов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lang="ru-RU" dirty="0"/>
              <a:t>Д</a:t>
            </a:r>
            <a:r>
              <a:rPr dirty="0" err="1"/>
              <a:t>линный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объекта</a:t>
            </a:r>
            <a:r>
              <a:rPr dirty="0"/>
              <a:t> и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2D1D81-F4F9-3B57-7E3E-C133B5A75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547" y="2934546"/>
            <a:ext cx="7949382" cy="36952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Возврат в домашний каталог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вернуться</a:t>
            </a:r>
            <a:r>
              <a:rPr dirty="0"/>
              <a:t> в </a:t>
            </a:r>
            <a:r>
              <a:rPr dirty="0" err="1"/>
              <a:t>безопасное</a:t>
            </a:r>
            <a:r>
              <a:rPr dirty="0"/>
              <a:t> </a:t>
            </a:r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cd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cd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pwd</a:t>
            </a:r>
            <a:r>
              <a:rPr dirty="0"/>
              <a:t> </a:t>
            </a:r>
            <a:r>
              <a:rPr dirty="0" err="1"/>
              <a:t>выводит</a:t>
            </a:r>
            <a:r>
              <a:rPr dirty="0"/>
              <a:t> /home/student</a:t>
            </a:r>
          </a:p>
          <a:p>
            <a:pPr indent="354013">
              <a:defRPr sz="3600"/>
            </a:pPr>
            <a:r>
              <a:rPr lang="ru-RU" dirty="0"/>
              <a:t>Б</a:t>
            </a:r>
            <a:r>
              <a:rPr dirty="0" err="1"/>
              <a:t>ез</a:t>
            </a:r>
            <a:r>
              <a:rPr dirty="0"/>
              <a:t> </a:t>
            </a:r>
            <a:r>
              <a:rPr dirty="0" err="1"/>
              <a:t>аргументов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cd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в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575B0-DA60-DEF8-548D-759F73A3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0952D-C17D-EBEC-DF19-2EB488C5BF45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Возврат в домашний каталог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53AF2F-4A59-B4C3-5DE6-D3BF20CFC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57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История команд и повторное выполнение команд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399"/>
            <a:ext cx="10972800" cy="48374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ранее</a:t>
            </a:r>
            <a:r>
              <a:rPr dirty="0"/>
              <a:t> </a:t>
            </a:r>
            <a:r>
              <a:rPr dirty="0" err="1"/>
              <a:t>введенные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Стрелки</a:t>
            </a:r>
            <a:r>
              <a:rPr dirty="0"/>
              <a:t> </a:t>
            </a:r>
            <a:r>
              <a:rPr dirty="0" err="1"/>
              <a:t>вверх</a:t>
            </a:r>
            <a:r>
              <a:rPr dirty="0"/>
              <a:t> и </a:t>
            </a:r>
            <a:r>
              <a:rPr dirty="0" err="1"/>
              <a:t>вниз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повторить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изменить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history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с </a:t>
            </a:r>
            <a:r>
              <a:rPr dirty="0" err="1"/>
              <a:t>номерами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экономит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опасна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повторении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прав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истории команд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28611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ранее</a:t>
            </a:r>
            <a:r>
              <a:rPr dirty="0"/>
              <a:t> </a:t>
            </a:r>
            <a:r>
              <a:rPr dirty="0" err="1"/>
              <a:t>выполненную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и </a:t>
            </a:r>
            <a:r>
              <a:rPr dirty="0" err="1"/>
              <a:t>повторить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осознанно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history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history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с </a:t>
            </a:r>
            <a:r>
              <a:rPr dirty="0" err="1"/>
              <a:t>номерами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912025-8708-1266-9FB9-27EC5559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143" y="3693224"/>
            <a:ext cx="7285351" cy="30482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Безопасное использование истории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нажимать</a:t>
            </a:r>
            <a:r>
              <a:rPr dirty="0"/>
              <a:t> Enter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истории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в </a:t>
            </a:r>
            <a:r>
              <a:rPr dirty="0" err="1"/>
              <a:t>командах</a:t>
            </a:r>
            <a:r>
              <a:rPr dirty="0"/>
              <a:t> rm, </a:t>
            </a:r>
            <a:r>
              <a:rPr dirty="0" err="1"/>
              <a:t>chmod</a:t>
            </a:r>
            <a:r>
              <a:rPr dirty="0"/>
              <a:t>, </a:t>
            </a:r>
            <a:r>
              <a:rPr dirty="0" err="1"/>
              <a:t>chown</a:t>
            </a:r>
            <a:r>
              <a:rPr dirty="0"/>
              <a:t>, mv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повторять</a:t>
            </a:r>
            <a:r>
              <a:rPr dirty="0"/>
              <a:t> </a:t>
            </a:r>
            <a:r>
              <a:rPr dirty="0" err="1"/>
              <a:t>sudo-команду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непонятно</a:t>
            </a:r>
            <a:r>
              <a:rPr dirty="0"/>
              <a:t>, </a:t>
            </a: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выполнялась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учиться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Справка по командам: man, --help, apropos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обязан</a:t>
            </a:r>
            <a:r>
              <a:rPr dirty="0"/>
              <a:t> </a:t>
            </a:r>
            <a:r>
              <a:rPr dirty="0" err="1"/>
              <a:t>помнить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команд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и </a:t>
            </a:r>
            <a:r>
              <a:rPr dirty="0" err="1"/>
              <a:t>правильный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b="1" dirty="0">
                <a:solidFill>
                  <a:srgbClr val="002060"/>
                </a:solidFill>
              </a:rPr>
              <a:t>man</a:t>
            </a:r>
            <a:r>
              <a:rPr dirty="0"/>
              <a:t> </a:t>
            </a:r>
            <a:r>
              <a:rPr dirty="0" err="1"/>
              <a:t>открывает</a:t>
            </a:r>
            <a:r>
              <a:rPr dirty="0"/>
              <a:t> </a:t>
            </a:r>
            <a:r>
              <a:rPr dirty="0" err="1"/>
              <a:t>подробное</a:t>
            </a:r>
            <a:r>
              <a:rPr dirty="0"/>
              <a:t> </a:t>
            </a:r>
            <a:r>
              <a:rPr dirty="0" err="1"/>
              <a:t>руководство</a:t>
            </a:r>
            <a:endParaRPr dirty="0"/>
          </a:p>
          <a:p>
            <a:pPr indent="442913">
              <a:defRPr sz="3600"/>
            </a:pPr>
            <a:r>
              <a:rPr b="1" dirty="0">
                <a:solidFill>
                  <a:srgbClr val="002060"/>
                </a:solidFill>
              </a:rPr>
              <a:t>--help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краткую</a:t>
            </a:r>
            <a:r>
              <a:rPr dirty="0"/>
              <a:t> </a:t>
            </a:r>
            <a:r>
              <a:rPr dirty="0" err="1"/>
              <a:t>справку</a:t>
            </a:r>
            <a:endParaRPr dirty="0"/>
          </a:p>
          <a:p>
            <a:pPr indent="442913">
              <a:defRPr sz="3600"/>
            </a:pPr>
            <a:r>
              <a:rPr b="1" dirty="0">
                <a:solidFill>
                  <a:srgbClr val="002060"/>
                </a:solidFill>
              </a:rPr>
              <a:t>apropos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ключевому</a:t>
            </a:r>
            <a:r>
              <a:rPr dirty="0"/>
              <a:t> </a:t>
            </a:r>
            <a:r>
              <a:rPr dirty="0" err="1"/>
              <a:t>слову</a:t>
            </a:r>
            <a:r>
              <a:rPr dirty="0"/>
              <a:t> в </a:t>
            </a:r>
            <a:r>
              <a:rPr dirty="0" err="1"/>
              <a:t>описании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Открытие руководства 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2035277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изучить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и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man </a:t>
            </a:r>
            <a:r>
              <a:rPr b="1" dirty="0" err="1">
                <a:solidFill>
                  <a:srgbClr val="002060"/>
                </a:solidFill>
              </a:rPr>
              <a:t>команда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man ls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страница</a:t>
            </a:r>
            <a:r>
              <a:rPr dirty="0"/>
              <a:t> </a:t>
            </a:r>
            <a:r>
              <a:rPr dirty="0" err="1"/>
              <a:t>руководства</a:t>
            </a:r>
            <a:endParaRPr dirty="0"/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man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подробного</a:t>
            </a:r>
            <a:r>
              <a:rPr dirty="0"/>
              <a:t> </a:t>
            </a:r>
            <a:r>
              <a:rPr dirty="0" err="1"/>
              <a:t>изучения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; </a:t>
            </a:r>
            <a:endParaRPr lang="en-US" dirty="0"/>
          </a:p>
          <a:p>
            <a:pPr indent="354013">
              <a:defRPr sz="3600"/>
            </a:pPr>
            <a:r>
              <a:rPr lang="ru-RU" dirty="0"/>
              <a:t>В</a:t>
            </a:r>
            <a:r>
              <a:rPr dirty="0" err="1"/>
              <a:t>ыход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клавишей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q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4F1A61-C0BE-BC7E-064E-31FA65D49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99" y="3094088"/>
            <a:ext cx="9640836" cy="35662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Краткая справка по команде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15615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 err="1"/>
              <a:t>Задач</a:t>
            </a:r>
            <a:r>
              <a:rPr lang="ru-RU" dirty="0"/>
              <a:t>а: быстро уточнить основные опции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команда</a:t>
            </a:r>
            <a:r>
              <a:rPr b="1" dirty="0">
                <a:solidFill>
                  <a:srgbClr val="002060"/>
                </a:solidFill>
              </a:rPr>
              <a:t> --help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ls --help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опций</a:t>
            </a:r>
            <a:r>
              <a:rPr dirty="0"/>
              <a:t> ls</a:t>
            </a:r>
          </a:p>
          <a:p>
            <a:pPr>
              <a:defRPr sz="3600"/>
            </a:pPr>
            <a:r>
              <a:rPr lang="ru-RU" dirty="0"/>
              <a:t>Ф</a:t>
            </a:r>
            <a:r>
              <a:rPr dirty="0" err="1"/>
              <a:t>ормат</a:t>
            </a:r>
            <a:r>
              <a:rPr dirty="0"/>
              <a:t> --help </a:t>
            </a:r>
            <a:r>
              <a:rPr dirty="0" err="1"/>
              <a:t>удобен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вспомнить</a:t>
            </a:r>
            <a:r>
              <a:rPr dirty="0"/>
              <a:t> </a:t>
            </a:r>
            <a:r>
              <a:rPr dirty="0" err="1"/>
              <a:t>ключ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F13103-3637-D17D-FCB1-6D77F14A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02" y="3786954"/>
            <a:ext cx="9585008" cy="29366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Поиск команды по назначению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318387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подходящую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известно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apropos </a:t>
            </a:r>
            <a:r>
              <a:rPr b="1" dirty="0" err="1">
                <a:solidFill>
                  <a:srgbClr val="002060"/>
                </a:solidFill>
              </a:rPr>
              <a:t>слово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apropos copy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, </a:t>
            </a:r>
            <a:r>
              <a:rPr dirty="0" err="1"/>
              <a:t>связанных</a:t>
            </a:r>
            <a:r>
              <a:rPr dirty="0"/>
              <a:t> с </a:t>
            </a:r>
            <a:r>
              <a:rPr dirty="0" err="1"/>
              <a:t>копированием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EEF17F-EB53-15D9-6019-4C2CCDDC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61" y="3991777"/>
            <a:ext cx="9273048" cy="26833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7. </a:t>
            </a: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: cat, less, head,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— </a:t>
            </a:r>
            <a:r>
              <a:rPr dirty="0" err="1"/>
              <a:t>частая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чтении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, </a:t>
            </a:r>
            <a:r>
              <a:rPr dirty="0" err="1"/>
              <a:t>журналов</a:t>
            </a:r>
            <a:r>
              <a:rPr dirty="0"/>
              <a:t> и </a:t>
            </a:r>
            <a:r>
              <a:rPr dirty="0" err="1"/>
              <a:t>отчетов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cat</a:t>
            </a:r>
            <a:r>
              <a:rPr dirty="0"/>
              <a:t>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маленьких</a:t>
            </a:r>
            <a:r>
              <a:rPr dirty="0"/>
              <a:t> </a:t>
            </a:r>
            <a:r>
              <a:rPr dirty="0" err="1"/>
              <a:t>файлов</a:t>
            </a:r>
            <a:endParaRPr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less</a:t>
            </a:r>
            <a:r>
              <a:rPr dirty="0"/>
              <a:t>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длинных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журналов</a:t>
            </a:r>
            <a:endParaRPr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head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начало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, </a:t>
            </a:r>
            <a:r>
              <a:rPr b="1" dirty="0">
                <a:solidFill>
                  <a:srgbClr val="002060"/>
                </a:solidFill>
              </a:rPr>
              <a:t>tail</a:t>
            </a:r>
            <a:r>
              <a:rPr dirty="0"/>
              <a:t> — </a:t>
            </a:r>
            <a:r>
              <a:rPr dirty="0" err="1"/>
              <a:t>конец</a:t>
            </a:r>
            <a:r>
              <a:rPr dirty="0"/>
              <a:t> </a:t>
            </a:r>
            <a:r>
              <a:rPr dirty="0" err="1"/>
              <a:t>файла</a:t>
            </a:r>
            <a:endParaRPr dirty="0"/>
          </a:p>
          <a:p>
            <a:pPr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и </a:t>
            </a:r>
            <a:r>
              <a:rPr dirty="0" err="1"/>
              <a:t>цели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небольшого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вывести</a:t>
            </a:r>
            <a:r>
              <a:rPr dirty="0"/>
              <a:t> </a:t>
            </a:r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текстовый</a:t>
            </a:r>
            <a:r>
              <a:rPr dirty="0"/>
              <a:t> </a:t>
            </a:r>
            <a:r>
              <a:rPr dirty="0" err="1"/>
              <a:t>файл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cat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cat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os</a:t>
            </a:r>
            <a:r>
              <a:rPr b="1" dirty="0">
                <a:solidFill>
                  <a:srgbClr val="002060"/>
                </a:solidFill>
              </a:rPr>
              <a:t>-release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строки</a:t>
            </a:r>
            <a:r>
              <a:rPr dirty="0"/>
              <a:t> с </a:t>
            </a:r>
            <a:r>
              <a:rPr dirty="0" err="1"/>
              <a:t>названием</a:t>
            </a:r>
            <a:r>
              <a:rPr dirty="0"/>
              <a:t> и </a:t>
            </a:r>
            <a:r>
              <a:rPr dirty="0" err="1"/>
              <a:t>версией</a:t>
            </a:r>
            <a:r>
              <a:rPr dirty="0"/>
              <a:t> ОС</a:t>
            </a:r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cat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журналов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уйдет</a:t>
            </a:r>
            <a:r>
              <a:rPr dirty="0"/>
              <a:t> в </a:t>
            </a:r>
            <a:r>
              <a:rPr dirty="0" err="1"/>
              <a:t>терминал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Постраничный просмотр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длинный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потери</a:t>
            </a:r>
            <a:r>
              <a:rPr dirty="0"/>
              <a:t> </a:t>
            </a:r>
            <a:r>
              <a:rPr dirty="0" err="1"/>
              <a:t>ориентации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less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less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открыт</a:t>
            </a:r>
            <a:r>
              <a:rPr dirty="0"/>
              <a:t> в </a:t>
            </a:r>
            <a:r>
              <a:rPr dirty="0" err="1"/>
              <a:t>просмотрщике</a:t>
            </a:r>
            <a:r>
              <a:rPr dirty="0"/>
              <a:t> less</a:t>
            </a:r>
          </a:p>
          <a:p>
            <a:pPr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листать</a:t>
            </a:r>
            <a:r>
              <a:rPr dirty="0"/>
              <a:t>,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слово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dirty="0"/>
              <a:t>и </a:t>
            </a:r>
            <a:r>
              <a:rPr dirty="0" err="1"/>
              <a:t>выйти</a:t>
            </a:r>
            <a:r>
              <a:rPr dirty="0"/>
              <a:t> </a:t>
            </a:r>
            <a:r>
              <a:rPr dirty="0" err="1"/>
              <a:t>клавишей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q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начала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первые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отчета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head -n </a:t>
            </a:r>
            <a:r>
              <a:rPr b="1" dirty="0" err="1">
                <a:solidFill>
                  <a:srgbClr val="002060"/>
                </a:solidFill>
              </a:rPr>
              <a:t>число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head -n 20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/passwd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первые</a:t>
            </a:r>
            <a:r>
              <a:rPr dirty="0"/>
              <a:t> 20 </a:t>
            </a:r>
            <a:r>
              <a:rPr dirty="0" err="1"/>
              <a:t>строк</a:t>
            </a:r>
            <a:r>
              <a:rPr dirty="0"/>
              <a:t> </a:t>
            </a:r>
            <a:r>
              <a:rPr dirty="0" err="1"/>
              <a:t>файла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head</a:t>
            </a:r>
            <a:r>
              <a:rPr dirty="0"/>
              <a:t> </a:t>
            </a:r>
            <a:r>
              <a:rPr dirty="0" err="1"/>
              <a:t>полезен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в </a:t>
            </a:r>
            <a:r>
              <a:rPr dirty="0" err="1"/>
              <a:t>начале</a:t>
            </a:r>
            <a:r>
              <a:rPr dirty="0"/>
              <a:t> </a:t>
            </a:r>
            <a:r>
              <a:rPr dirty="0" err="1"/>
              <a:t>файла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конца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последние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, </a:t>
            </a:r>
            <a:r>
              <a:rPr dirty="0" err="1"/>
              <a:t>особенно</a:t>
            </a:r>
            <a:r>
              <a:rPr dirty="0"/>
              <a:t> в </a:t>
            </a:r>
            <a:r>
              <a:rPr dirty="0" err="1"/>
              <a:t>журналах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tail -n </a:t>
            </a:r>
            <a:r>
              <a:rPr b="1" dirty="0" err="1">
                <a:solidFill>
                  <a:srgbClr val="002060"/>
                </a:solidFill>
              </a:rPr>
              <a:t>число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tail -n 30 /var/log/syslog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последние</a:t>
            </a:r>
            <a:r>
              <a:rPr dirty="0"/>
              <a:t> 30 </a:t>
            </a:r>
            <a:r>
              <a:rPr dirty="0" err="1"/>
              <a:t>строк</a:t>
            </a:r>
            <a:r>
              <a:rPr dirty="0"/>
              <a:t> </a:t>
            </a:r>
            <a:r>
              <a:rPr dirty="0" err="1"/>
              <a:t>файла</a:t>
            </a:r>
            <a:endParaRPr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tail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последние</a:t>
            </a:r>
            <a:r>
              <a:rPr dirty="0"/>
              <a:t> </a:t>
            </a:r>
            <a:r>
              <a:rPr dirty="0" err="1"/>
              <a:t>события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74CA-95E0-0CB9-5D8F-F0264BFA3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1A80A3-0242-8A00-D1A8-95E9D2CBD62A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конца файла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4675CB-B9DF-D2BC-0EA5-A1E5E46E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3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5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8. </a:t>
            </a:r>
            <a:r>
              <a:rPr dirty="0" err="1"/>
              <a:t>Текстовые</a:t>
            </a:r>
            <a:r>
              <a:rPr dirty="0"/>
              <a:t> </a:t>
            </a:r>
            <a:r>
              <a:rPr dirty="0" err="1"/>
              <a:t>редакторы</a:t>
            </a:r>
            <a:r>
              <a:rPr dirty="0"/>
              <a:t>: nano, vi/vim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уровне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Редактор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конфигурационных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nano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начинающих</a:t>
            </a:r>
            <a:r>
              <a:rPr dirty="0"/>
              <a:t> и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подсказки</a:t>
            </a:r>
            <a:r>
              <a:rPr dirty="0"/>
              <a:t> </a:t>
            </a:r>
            <a:r>
              <a:rPr dirty="0" err="1"/>
              <a:t>клавиш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vi/vim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в </a:t>
            </a:r>
            <a:r>
              <a:rPr dirty="0" err="1"/>
              <a:t>минимальной</a:t>
            </a:r>
            <a:r>
              <a:rPr dirty="0"/>
              <a:t>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установке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системного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и </a:t>
            </a:r>
            <a:r>
              <a:rPr dirty="0" err="1"/>
              <a:t>выйти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Редактирование файла в nano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изменить</a:t>
            </a:r>
            <a:r>
              <a:rPr dirty="0"/>
              <a:t>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текстовый</a:t>
            </a:r>
            <a:r>
              <a:rPr dirty="0"/>
              <a:t> </a:t>
            </a:r>
            <a:r>
              <a:rPr dirty="0" err="1"/>
              <a:t>файл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nano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nano notes.txt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открывается</a:t>
            </a:r>
            <a:r>
              <a:rPr dirty="0"/>
              <a:t> </a:t>
            </a:r>
            <a:r>
              <a:rPr dirty="0" err="1"/>
              <a:t>редактор</a:t>
            </a:r>
            <a:r>
              <a:rPr dirty="0"/>
              <a:t> nano</a:t>
            </a:r>
          </a:p>
          <a:p>
            <a:pPr>
              <a:defRPr sz="3600"/>
            </a:pPr>
            <a:r>
              <a:rPr b="1" dirty="0" err="1">
                <a:solidFill>
                  <a:srgbClr val="002060"/>
                </a:solidFill>
              </a:rPr>
              <a:t>Ctrl+O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dirty="0" err="1"/>
              <a:t>сохраняет</a:t>
            </a:r>
            <a:endParaRPr lang="en-US" dirty="0"/>
          </a:p>
          <a:p>
            <a:pPr>
              <a:defRPr sz="3600"/>
            </a:pPr>
            <a:r>
              <a:rPr b="1" dirty="0" err="1">
                <a:solidFill>
                  <a:srgbClr val="002060"/>
                </a:solidFill>
              </a:rPr>
              <a:t>Ctrl+X</a:t>
            </a:r>
            <a:r>
              <a:rPr dirty="0"/>
              <a:t>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редактор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Открытие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в vim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C5A26-8696-7F2A-AE08-A5479164A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9" y="822960"/>
            <a:ext cx="7307826" cy="41106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AD4FDA-2D40-AE66-F506-F40058B76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612" y="2686501"/>
            <a:ext cx="5982929" cy="398861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CFC3-351C-9DDB-8029-5A176067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4C87E2-90D9-3FFF-56B3-31C56FEA0ED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Открытие файла в vim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A3B25-667B-AE63-11FF-C97C944E7AC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Задача</a:t>
            </a:r>
            <a:r>
              <a:rPr dirty="0"/>
              <a:t>: </a:t>
            </a:r>
            <a:r>
              <a:rPr lang="ru-RU" dirty="0"/>
              <a:t>В</a:t>
            </a:r>
            <a:r>
              <a:rPr dirty="0" err="1"/>
              <a:t>ыйти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редактора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lang="en-US" dirty="0"/>
              <a:t>.</a:t>
            </a:r>
            <a:endParaRPr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vim </a:t>
            </a:r>
            <a:r>
              <a:rPr b="1" dirty="0" err="1">
                <a:solidFill>
                  <a:srgbClr val="002060"/>
                </a:solidFill>
              </a:rPr>
              <a:t>файл</a:t>
            </a:r>
            <a:endParaRPr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vim notes.txt</a:t>
            </a:r>
          </a:p>
          <a:p>
            <a:pPr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открывается</a:t>
            </a:r>
            <a:r>
              <a:rPr dirty="0"/>
              <a:t> </a:t>
            </a:r>
            <a:r>
              <a:rPr dirty="0" err="1"/>
              <a:t>редактор</a:t>
            </a:r>
            <a:r>
              <a:rPr dirty="0"/>
              <a:t> vim</a:t>
            </a:r>
          </a:p>
          <a:p>
            <a:pPr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lang="ru-RU" dirty="0"/>
              <a:t>пользоваться</a:t>
            </a:r>
            <a:r>
              <a:rPr dirty="0"/>
              <a:t>: </a:t>
            </a:r>
            <a:endParaRPr lang="en-US" dirty="0"/>
          </a:p>
          <a:p>
            <a:pPr>
              <a:defRPr sz="3600"/>
            </a:pPr>
            <a:r>
              <a:rPr b="1" dirty="0" err="1">
                <a:solidFill>
                  <a:srgbClr val="002060"/>
                </a:solidFill>
              </a:rPr>
              <a:t>i</a:t>
            </a:r>
            <a:r>
              <a:rPr dirty="0"/>
              <a:t> </a:t>
            </a:r>
            <a:r>
              <a:rPr lang="ru-RU" dirty="0"/>
              <a:t>-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ввод</a:t>
            </a:r>
            <a:r>
              <a:rPr dirty="0"/>
              <a:t>, </a:t>
            </a:r>
            <a:endParaRPr lang="ru-RU" dirty="0"/>
          </a:p>
          <a:p>
            <a:pPr>
              <a:defRPr sz="3600"/>
            </a:pPr>
            <a:r>
              <a:rPr b="1" dirty="0">
                <a:solidFill>
                  <a:srgbClr val="002060"/>
                </a:solidFill>
              </a:rPr>
              <a:t>Esc</a:t>
            </a:r>
            <a:r>
              <a:rPr dirty="0"/>
              <a:t> </a:t>
            </a:r>
            <a:r>
              <a:rPr dirty="0" err="1"/>
              <a:t>затем</a:t>
            </a:r>
            <a:r>
              <a:rPr dirty="0"/>
              <a:t> </a:t>
            </a:r>
            <a:r>
              <a:rPr sz="3600" b="1" dirty="0">
                <a:solidFill>
                  <a:srgbClr val="002060"/>
                </a:solidFill>
              </a:rPr>
              <a:t>:</a:t>
            </a:r>
            <a:r>
              <a:rPr sz="3600" b="1" dirty="0" err="1">
                <a:solidFill>
                  <a:srgbClr val="002060"/>
                </a:solidFill>
              </a:rPr>
              <a:t>wq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lang="ru-RU" sz="3600" b="1" dirty="0">
                <a:solidFill>
                  <a:srgbClr val="002060"/>
                </a:solidFill>
              </a:rPr>
              <a:t>-</a:t>
            </a:r>
            <a:r>
              <a:rPr lang="ru-RU" dirty="0"/>
              <a:t>сохраняет</a:t>
            </a:r>
            <a:r>
              <a:rPr dirty="0"/>
              <a:t> и </a:t>
            </a:r>
            <a:r>
              <a:rPr dirty="0" err="1"/>
              <a:t>выходит</a:t>
            </a:r>
            <a:r>
              <a:rPr dirty="0"/>
              <a:t>, </a:t>
            </a:r>
            <a:endParaRPr lang="ru-RU" dirty="0"/>
          </a:p>
          <a:p>
            <a:pPr>
              <a:defRPr sz="3600"/>
            </a:pPr>
            <a:r>
              <a:rPr sz="3600" b="1" dirty="0">
                <a:solidFill>
                  <a:srgbClr val="002060"/>
                </a:solidFill>
              </a:rPr>
              <a:t>:q! </a:t>
            </a:r>
            <a:r>
              <a:rPr lang="ru-RU" sz="3600" b="1" dirty="0">
                <a:solidFill>
                  <a:srgbClr val="002060"/>
                </a:solidFill>
              </a:rPr>
              <a:t> -</a:t>
            </a:r>
            <a:r>
              <a:rPr dirty="0" err="1"/>
              <a:t>выходит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сохранения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2612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6F3D-938F-0243-3287-C24FBDFD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C234B-653F-17D2-0D25-890DA886F01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Открытие файла в vim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6B7253-DCED-4CD2-F212-C62626230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114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3575" y="182880"/>
            <a:ext cx="1057437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9. </a:t>
            </a: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аккуратность</a:t>
            </a:r>
            <a:r>
              <a:rPr dirty="0"/>
              <a:t> в </a:t>
            </a:r>
            <a:r>
              <a:rPr dirty="0" err="1"/>
              <a:t>терминале</a:t>
            </a:r>
            <a:r>
              <a:rPr dirty="0"/>
              <a:t>: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рабочий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выполнением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050026"/>
            <a:ext cx="11356258" cy="4076454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в </a:t>
            </a:r>
            <a:r>
              <a:rPr dirty="0" err="1"/>
              <a:t>конкретном</a:t>
            </a:r>
            <a:r>
              <a:rPr dirty="0"/>
              <a:t> </a:t>
            </a:r>
            <a:r>
              <a:rPr dirty="0" err="1"/>
              <a:t>контексте</a:t>
            </a:r>
            <a:r>
              <a:rPr dirty="0"/>
              <a:t>: </a:t>
            </a:r>
            <a:r>
              <a:rPr dirty="0" err="1"/>
              <a:t>пользователь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права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pwd</a:t>
            </a:r>
            <a:r>
              <a:rPr dirty="0"/>
              <a:t> и ls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использованием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последствия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Опасные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отрабатываются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файлах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Мини-чек-лист перед выполнением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94618"/>
            <a:ext cx="11430000" cy="493186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Я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нужном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Я </a:t>
            </a:r>
            <a:r>
              <a:rPr dirty="0" err="1"/>
              <a:t>работаю</a:t>
            </a:r>
            <a:r>
              <a:rPr dirty="0"/>
              <a:t> </a:t>
            </a:r>
            <a:r>
              <a:rPr dirty="0" err="1"/>
              <a:t>нужным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Я </a:t>
            </a:r>
            <a:r>
              <a:rPr dirty="0" err="1"/>
              <a:t>нахожусь</a:t>
            </a:r>
            <a:r>
              <a:rPr dirty="0"/>
              <a:t> в </a:t>
            </a:r>
            <a:r>
              <a:rPr dirty="0" err="1"/>
              <a:t>правильном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Я </a:t>
            </a:r>
            <a:r>
              <a:rPr dirty="0" err="1"/>
              <a:t>понимаю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изменит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Я </a:t>
            </a:r>
            <a:r>
              <a:rPr dirty="0" err="1"/>
              <a:t>смогу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Терминал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оболочке</a:t>
            </a:r>
            <a:r>
              <a:rPr dirty="0"/>
              <a:t>, а </a:t>
            </a:r>
            <a:r>
              <a:rPr dirty="0" err="1"/>
              <a:t>оболочка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Bash </a:t>
            </a:r>
            <a:r>
              <a:rPr dirty="0" err="1"/>
              <a:t>разбирает</a:t>
            </a:r>
            <a:r>
              <a:rPr dirty="0"/>
              <a:t> </a:t>
            </a:r>
            <a:r>
              <a:rPr dirty="0" err="1"/>
              <a:t>команду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опции</a:t>
            </a:r>
            <a:r>
              <a:rPr dirty="0"/>
              <a:t> и </a:t>
            </a:r>
            <a:r>
              <a:rPr dirty="0" err="1"/>
              <a:t>аргументы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Навигация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текущем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 и </a:t>
            </a:r>
            <a:r>
              <a:rPr dirty="0" err="1"/>
              <a:t>понимании</a:t>
            </a:r>
            <a:r>
              <a:rPr dirty="0"/>
              <a:t> </a:t>
            </a:r>
            <a:r>
              <a:rPr dirty="0" err="1"/>
              <a:t>путей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Справка</a:t>
            </a:r>
            <a:r>
              <a:rPr dirty="0"/>
              <a:t> и </a:t>
            </a: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являются</a:t>
            </a:r>
            <a:r>
              <a:rPr dirty="0"/>
              <a:t> </a:t>
            </a:r>
            <a:r>
              <a:rPr dirty="0" err="1"/>
              <a:t>частью</a:t>
            </a:r>
            <a:r>
              <a:rPr dirty="0"/>
              <a:t> </a:t>
            </a:r>
            <a:r>
              <a:rPr dirty="0" err="1"/>
              <a:t>профессиональной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Аккуратность</a:t>
            </a:r>
            <a:r>
              <a:rPr dirty="0"/>
              <a:t> в </a:t>
            </a:r>
            <a:r>
              <a:rPr dirty="0" err="1"/>
              <a:t>терминале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скорости</a:t>
            </a:r>
            <a:r>
              <a:rPr dirty="0"/>
              <a:t> </a:t>
            </a:r>
            <a:r>
              <a:rPr dirty="0" err="1"/>
              <a:t>набора</a:t>
            </a:r>
            <a:r>
              <a:rPr dirty="0"/>
              <a:t> </a:t>
            </a:r>
            <a:r>
              <a:rPr dirty="0" err="1"/>
              <a:t>команд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Чем терминал отличается от командной оболочки?</a:t>
            </a:r>
          </a:p>
          <a:p>
            <a:pPr>
              <a:defRPr sz="3600"/>
            </a:pPr>
            <a:r>
              <a:t>2. Что такое Bash?</a:t>
            </a:r>
          </a:p>
          <a:p>
            <a:pPr>
              <a:defRPr sz="3600"/>
            </a:pPr>
            <a:r>
              <a:t>3. Из каких частей состоит команда ls -la /etc?</a:t>
            </a:r>
          </a:p>
          <a:p>
            <a:pPr>
              <a:defRPr sz="3600"/>
            </a:pPr>
            <a:r>
              <a:t>4. Чем абсолютный путь отличается от относительного?</a:t>
            </a:r>
          </a:p>
          <a:p>
            <a:pPr>
              <a:defRPr sz="3600"/>
            </a:pPr>
            <a:r>
              <a:t>5. Для чего нужна команда pwd?</a:t>
            </a:r>
          </a:p>
          <a:p>
            <a:pPr>
              <a:defRPr sz="3600"/>
            </a:pPr>
            <a:r>
              <a:t>6. Когда лучше использовать less вместо cat?</a:t>
            </a:r>
          </a:p>
          <a:p>
            <a:pPr>
              <a:defRPr sz="3600"/>
            </a:pPr>
            <a:r>
              <a:t>7. Как получить справку по команде?</a:t>
            </a:r>
          </a:p>
          <a:p>
            <a:pPr>
              <a:defRPr sz="3600"/>
            </a:pPr>
            <a:r>
              <a:t>8. Что нужно проверить перед выполнением опасной команды?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1796</Words>
  <Application>Microsoft Office PowerPoint</Application>
  <PresentationFormat>Широкоэкранный</PresentationFormat>
  <Paragraphs>224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2026-07-03T12:17:29Z</dcterms:modified>
  <cp:category/>
</cp:coreProperties>
</file>