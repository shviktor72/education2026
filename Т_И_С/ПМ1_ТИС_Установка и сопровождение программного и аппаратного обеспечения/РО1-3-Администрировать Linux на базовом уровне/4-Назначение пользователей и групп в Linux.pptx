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92" r:id="rId6"/>
    <p:sldId id="261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5" r:id="rId16"/>
    <p:sldId id="301" r:id="rId17"/>
    <p:sldId id="302" r:id="rId18"/>
    <p:sldId id="303" r:id="rId19"/>
    <p:sldId id="304" r:id="rId20"/>
    <p:sldId id="305" r:id="rId21"/>
    <p:sldId id="270" r:id="rId22"/>
    <p:sldId id="307" r:id="rId23"/>
    <p:sldId id="308" r:id="rId24"/>
    <p:sldId id="309" r:id="rId25"/>
    <p:sldId id="310" r:id="rId26"/>
    <p:sldId id="311" r:id="rId27"/>
    <p:sldId id="272" r:id="rId28"/>
    <p:sldId id="273" r:id="rId29"/>
    <p:sldId id="286" r:id="rId30"/>
    <p:sldId id="287" r:id="rId31"/>
    <p:sldId id="288" r:id="rId32"/>
    <p:sldId id="290" r:id="rId33"/>
    <p:sldId id="291" r:id="rId34"/>
    <p:sldId id="312" r:id="rId35"/>
    <p:sldId id="313" r:id="rId36"/>
    <p:sldId id="314" r:id="rId37"/>
    <p:sldId id="342" r:id="rId38"/>
    <p:sldId id="315" r:id="rId39"/>
    <p:sldId id="316" r:id="rId40"/>
    <p:sldId id="317" r:id="rId41"/>
    <p:sldId id="318" r:id="rId42"/>
    <p:sldId id="319" r:id="rId43"/>
    <p:sldId id="320" r:id="rId44"/>
    <p:sldId id="343" r:id="rId45"/>
    <p:sldId id="321" r:id="rId46"/>
    <p:sldId id="322" r:id="rId47"/>
    <p:sldId id="323" r:id="rId48"/>
    <p:sldId id="306" r:id="rId49"/>
    <p:sldId id="344" r:id="rId50"/>
    <p:sldId id="324" r:id="rId51"/>
    <p:sldId id="325" r:id="rId52"/>
    <p:sldId id="326" r:id="rId53"/>
    <p:sldId id="329" r:id="rId54"/>
    <p:sldId id="327" r:id="rId55"/>
    <p:sldId id="328" r:id="rId56"/>
    <p:sldId id="337" r:id="rId57"/>
    <p:sldId id="338" r:id="rId58"/>
    <p:sldId id="339" r:id="rId59"/>
    <p:sldId id="340" r:id="rId60"/>
    <p:sldId id="341" r:id="rId61"/>
    <p:sldId id="330" r:id="rId62"/>
    <p:sldId id="331" r:id="rId63"/>
    <p:sldId id="332" r:id="rId64"/>
    <p:sldId id="333" r:id="rId65"/>
    <p:sldId id="334" r:id="rId66"/>
    <p:sldId id="335" r:id="rId67"/>
    <p:sldId id="336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7806" y="2351782"/>
            <a:ext cx="744043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4. </a:t>
            </a:r>
            <a:r>
              <a:rPr dirty="0" err="1"/>
              <a:t>Пользователи</a:t>
            </a:r>
            <a:r>
              <a:rPr dirty="0"/>
              <a:t>, </a:t>
            </a:r>
            <a:r>
              <a:rPr dirty="0" err="1"/>
              <a:t>группы</a:t>
            </a:r>
            <a:r>
              <a:rPr dirty="0"/>
              <a:t>, </a:t>
            </a:r>
            <a:r>
              <a:rPr dirty="0" err="1"/>
              <a:t>sudo</a:t>
            </a:r>
            <a:r>
              <a:rPr dirty="0"/>
              <a:t> и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265471"/>
            <a:ext cx="10972800" cy="10913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Пноимать</a:t>
            </a:r>
            <a:r>
              <a:rPr lang="ru-RU"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Linux, </a:t>
            </a:r>
            <a:r>
              <a:rPr dirty="0" err="1"/>
              <a:t>группы</a:t>
            </a:r>
            <a:r>
              <a:rPr dirty="0"/>
              <a:t>, </a:t>
            </a:r>
            <a:r>
              <a:rPr dirty="0" err="1"/>
              <a:t>sudo</a:t>
            </a:r>
            <a:r>
              <a:rPr dirty="0"/>
              <a:t>, </a:t>
            </a:r>
            <a:r>
              <a:rPr dirty="0" err="1"/>
              <a:t>su</a:t>
            </a:r>
            <a:r>
              <a:rPr dirty="0"/>
              <a:t> и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понятия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команд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, </a:t>
            </a: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каждое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lang="en-US" dirty="0"/>
              <a:t>;</a:t>
            </a:r>
            <a:endParaRPr dirty="0"/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Назначение</a:t>
            </a:r>
            <a:r>
              <a:rPr sz="2800" dirty="0"/>
              <a:t> </a:t>
            </a:r>
            <a:r>
              <a:rPr sz="2800" dirty="0" err="1"/>
              <a:t>пользователей</a:t>
            </a:r>
            <a:r>
              <a:rPr sz="2800" dirty="0"/>
              <a:t> и </a:t>
            </a:r>
            <a:r>
              <a:rPr sz="2800" dirty="0" err="1"/>
              <a:t>групп</a:t>
            </a:r>
            <a:r>
              <a:rPr sz="2800" dirty="0"/>
              <a:t> в Linux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Обычный</a:t>
            </a:r>
            <a:r>
              <a:rPr sz="2800" dirty="0"/>
              <a:t> </a:t>
            </a:r>
            <a:r>
              <a:rPr sz="2800" dirty="0" err="1"/>
              <a:t>пользователь</a:t>
            </a:r>
            <a:r>
              <a:rPr sz="2800" dirty="0"/>
              <a:t>, </a:t>
            </a:r>
            <a:r>
              <a:rPr sz="2800" dirty="0" err="1"/>
              <a:t>системный</a:t>
            </a:r>
            <a:r>
              <a:rPr sz="2800" dirty="0"/>
              <a:t> </a:t>
            </a:r>
            <a:r>
              <a:rPr sz="2800" dirty="0" err="1"/>
              <a:t>пользователь</a:t>
            </a:r>
            <a:r>
              <a:rPr sz="2800" dirty="0"/>
              <a:t>, root</a:t>
            </a:r>
          </a:p>
          <a:p>
            <a:pPr>
              <a:defRPr sz="3600"/>
            </a:pPr>
            <a:r>
              <a:rPr sz="2800" dirty="0"/>
              <a:t>3. UID и GID: </a:t>
            </a:r>
            <a:r>
              <a:rPr sz="2800" dirty="0" err="1"/>
              <a:t>идентификаторы</a:t>
            </a:r>
            <a:r>
              <a:rPr sz="2800" dirty="0"/>
              <a:t> </a:t>
            </a:r>
            <a:r>
              <a:rPr sz="2800" dirty="0" err="1"/>
              <a:t>пользователей</a:t>
            </a:r>
            <a:r>
              <a:rPr sz="2800" dirty="0"/>
              <a:t> и </a:t>
            </a:r>
            <a:r>
              <a:rPr sz="2800" dirty="0" err="1"/>
              <a:t>групп</a:t>
            </a:r>
            <a:endParaRPr sz="2800" dirty="0"/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Основные</a:t>
            </a:r>
            <a:r>
              <a:rPr sz="2800" dirty="0"/>
              <a:t> </a:t>
            </a:r>
            <a:r>
              <a:rPr sz="2800" dirty="0" err="1"/>
              <a:t>файлы</a:t>
            </a:r>
            <a:r>
              <a:rPr sz="2800" dirty="0"/>
              <a:t> </a:t>
            </a:r>
            <a:r>
              <a:rPr sz="2800" dirty="0" err="1"/>
              <a:t>учетных</a:t>
            </a:r>
            <a:r>
              <a:rPr sz="2800" dirty="0"/>
              <a:t> </a:t>
            </a:r>
            <a:r>
              <a:rPr sz="2800" dirty="0" err="1"/>
              <a:t>записей</a:t>
            </a:r>
            <a:r>
              <a:rPr sz="2800" dirty="0"/>
              <a:t>: /</a:t>
            </a:r>
            <a:r>
              <a:rPr sz="2800" dirty="0" err="1"/>
              <a:t>etc</a:t>
            </a:r>
            <a:r>
              <a:rPr sz="2800" dirty="0"/>
              <a:t>/passwd, /</a:t>
            </a:r>
            <a:r>
              <a:rPr sz="2800" dirty="0" err="1"/>
              <a:t>etc</a:t>
            </a:r>
            <a:r>
              <a:rPr sz="2800" dirty="0"/>
              <a:t>/shadow, /</a:t>
            </a:r>
            <a:r>
              <a:rPr sz="2800" dirty="0" err="1"/>
              <a:t>etc</a:t>
            </a:r>
            <a:r>
              <a:rPr sz="2800" dirty="0"/>
              <a:t>/group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Создание</a:t>
            </a:r>
            <a:r>
              <a:rPr sz="2800" dirty="0"/>
              <a:t> и </a:t>
            </a:r>
            <a:r>
              <a:rPr sz="2800" dirty="0" err="1"/>
              <a:t>удаление</a:t>
            </a:r>
            <a:r>
              <a:rPr sz="2800" dirty="0"/>
              <a:t> </a:t>
            </a:r>
            <a:r>
              <a:rPr sz="2800" dirty="0" err="1"/>
              <a:t>пользователей</a:t>
            </a:r>
            <a:r>
              <a:rPr sz="2800" dirty="0"/>
              <a:t>: </a:t>
            </a:r>
            <a:r>
              <a:rPr sz="2800" dirty="0" err="1"/>
              <a:t>useradd</a:t>
            </a:r>
            <a:r>
              <a:rPr sz="2800" dirty="0"/>
              <a:t>, </a:t>
            </a:r>
            <a:r>
              <a:rPr sz="2800" dirty="0" err="1"/>
              <a:t>adduser</a:t>
            </a:r>
            <a:r>
              <a:rPr sz="2800" dirty="0"/>
              <a:t>, </a:t>
            </a:r>
            <a:r>
              <a:rPr sz="2800" dirty="0" err="1"/>
              <a:t>userdel</a:t>
            </a:r>
            <a:endParaRPr sz="2800" dirty="0"/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Создание</a:t>
            </a:r>
            <a:r>
              <a:rPr sz="2800" dirty="0"/>
              <a:t> и </a:t>
            </a:r>
            <a:r>
              <a:rPr sz="2800" dirty="0" err="1"/>
              <a:t>изменение</a:t>
            </a:r>
            <a:r>
              <a:rPr sz="2800" dirty="0"/>
              <a:t> </a:t>
            </a:r>
            <a:r>
              <a:rPr sz="2800" dirty="0" err="1"/>
              <a:t>групп</a:t>
            </a:r>
            <a:r>
              <a:rPr sz="2800" dirty="0"/>
              <a:t>: </a:t>
            </a:r>
            <a:r>
              <a:rPr sz="2800" dirty="0" err="1"/>
              <a:t>groupadd</a:t>
            </a:r>
            <a:r>
              <a:rPr sz="2800" dirty="0"/>
              <a:t>, </a:t>
            </a:r>
            <a:r>
              <a:rPr sz="2800" dirty="0" err="1"/>
              <a:t>groupdel</a:t>
            </a:r>
            <a:r>
              <a:rPr sz="2800" dirty="0"/>
              <a:t>, </a:t>
            </a:r>
            <a:r>
              <a:rPr sz="2800" dirty="0" err="1"/>
              <a:t>usermod</a:t>
            </a:r>
            <a:endParaRPr sz="2800" dirty="0"/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Пароли</a:t>
            </a:r>
            <a:r>
              <a:rPr sz="2800" dirty="0"/>
              <a:t> и </a:t>
            </a:r>
            <a:r>
              <a:rPr sz="2800" dirty="0" err="1"/>
              <a:t>базовые</a:t>
            </a:r>
            <a:r>
              <a:rPr sz="2800" dirty="0"/>
              <a:t> </a:t>
            </a:r>
            <a:r>
              <a:rPr sz="2800" dirty="0" err="1"/>
              <a:t>требования</a:t>
            </a:r>
            <a:r>
              <a:rPr sz="2800" dirty="0"/>
              <a:t> </a:t>
            </a:r>
            <a:r>
              <a:rPr sz="2800" dirty="0" err="1"/>
              <a:t>безопасности</a:t>
            </a:r>
            <a:r>
              <a:rPr sz="2800" dirty="0"/>
              <a:t> </a:t>
            </a:r>
            <a:r>
              <a:rPr sz="2800" dirty="0" err="1"/>
              <a:t>учетных</a:t>
            </a:r>
            <a:r>
              <a:rPr sz="2800" dirty="0"/>
              <a:t> </a:t>
            </a:r>
            <a:r>
              <a:rPr sz="2800" dirty="0" err="1"/>
              <a:t>записей</a:t>
            </a:r>
            <a:endParaRPr sz="2800" dirty="0"/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su</a:t>
            </a:r>
            <a:r>
              <a:rPr sz="2800" dirty="0"/>
              <a:t> и </a:t>
            </a:r>
            <a:r>
              <a:rPr sz="2800" dirty="0" err="1"/>
              <a:t>sudo</a:t>
            </a:r>
            <a:r>
              <a:rPr sz="2800" dirty="0"/>
              <a:t>: </a:t>
            </a:r>
            <a:r>
              <a:rPr sz="2800" dirty="0" err="1"/>
              <a:t>отличие</a:t>
            </a:r>
            <a:r>
              <a:rPr sz="2800" dirty="0"/>
              <a:t> </a:t>
            </a:r>
            <a:r>
              <a:rPr sz="2800" dirty="0" err="1"/>
              <a:t>смены</a:t>
            </a:r>
            <a:r>
              <a:rPr sz="2800" dirty="0"/>
              <a:t> </a:t>
            </a:r>
            <a:r>
              <a:rPr sz="2800" dirty="0" err="1"/>
              <a:t>пользователя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выполнения</a:t>
            </a:r>
            <a:r>
              <a:rPr sz="2800" dirty="0"/>
              <a:t> </a:t>
            </a:r>
            <a:r>
              <a:rPr sz="2800" dirty="0" err="1"/>
              <a:t>команды</a:t>
            </a:r>
            <a:r>
              <a:rPr sz="2800" dirty="0"/>
              <a:t> с </a:t>
            </a:r>
            <a:r>
              <a:rPr sz="2800" dirty="0" err="1"/>
              <a:t>повышенными</a:t>
            </a:r>
            <a:r>
              <a:rPr sz="2800" dirty="0"/>
              <a:t> </a:t>
            </a:r>
            <a:r>
              <a:rPr sz="2800" dirty="0" err="1"/>
              <a:t>правами</a:t>
            </a:r>
            <a:endParaRPr sz="2800" dirty="0"/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Настройка</a:t>
            </a:r>
            <a:r>
              <a:rPr sz="2800" dirty="0"/>
              <a:t> </a:t>
            </a:r>
            <a:r>
              <a:rPr sz="2800" dirty="0" err="1"/>
              <a:t>административных</a:t>
            </a:r>
            <a:r>
              <a:rPr sz="2800" dirty="0"/>
              <a:t> </a:t>
            </a:r>
            <a:r>
              <a:rPr sz="2800" dirty="0" err="1"/>
              <a:t>прав</a:t>
            </a:r>
            <a:r>
              <a:rPr sz="2800" dirty="0"/>
              <a:t> и </a:t>
            </a:r>
            <a:r>
              <a:rPr sz="2800" dirty="0" err="1"/>
              <a:t>осторожность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NOPASSWD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Назначение пользователей и групп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19402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— </a:t>
            </a:r>
            <a:r>
              <a:rPr dirty="0" err="1"/>
              <a:t>субъект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открываются</a:t>
            </a:r>
            <a:r>
              <a:rPr dirty="0"/>
              <a:t> </a:t>
            </a:r>
            <a:r>
              <a:rPr dirty="0" err="1"/>
              <a:t>файлы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Группа</a:t>
            </a:r>
            <a:r>
              <a:rPr dirty="0"/>
              <a:t> —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объединить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Linux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остальных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и </a:t>
            </a:r>
            <a:r>
              <a:rPr dirty="0" err="1"/>
              <a:t>группы</a:t>
            </a:r>
            <a:r>
              <a:rPr dirty="0"/>
              <a:t> — </a:t>
            </a:r>
            <a:r>
              <a:rPr dirty="0" err="1"/>
              <a:t>основа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и </a:t>
            </a:r>
            <a:r>
              <a:rPr dirty="0" err="1"/>
              <a:t>разделения</a:t>
            </a:r>
            <a:r>
              <a:rPr dirty="0"/>
              <a:t> </a:t>
            </a:r>
            <a:r>
              <a:rPr dirty="0" err="1"/>
              <a:t>ответственности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нельзя работать всем под одной учетной записью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Невозможно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изменил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запустил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известен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трудно</a:t>
            </a:r>
            <a:r>
              <a:rPr dirty="0"/>
              <a:t> </a:t>
            </a:r>
            <a:r>
              <a:rPr dirty="0" err="1"/>
              <a:t>отделить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гибко</a:t>
            </a:r>
            <a:r>
              <a:rPr dirty="0"/>
              <a:t> </a:t>
            </a:r>
            <a:r>
              <a:rPr dirty="0" err="1"/>
              <a:t>выдать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к </a:t>
            </a:r>
            <a:r>
              <a:rPr dirty="0" err="1"/>
              <a:t>нужному</a:t>
            </a:r>
            <a:r>
              <a:rPr dirty="0"/>
              <a:t> </a:t>
            </a:r>
            <a:r>
              <a:rPr dirty="0" err="1"/>
              <a:t>каталогу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команде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пользователи</a:t>
            </a:r>
            <a:r>
              <a:rPr dirty="0"/>
              <a:t>, </a:t>
            </a:r>
            <a:r>
              <a:rPr dirty="0" err="1"/>
              <a:t>группы</a:t>
            </a:r>
            <a:r>
              <a:rPr dirty="0"/>
              <a:t> и </a:t>
            </a:r>
            <a:r>
              <a:rPr dirty="0" err="1"/>
              <a:t>доступ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2D63AA-D71E-5ABF-03C0-15E18AF3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Пользователь как объект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, UID,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,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и shell.</a:t>
            </a:r>
          </a:p>
          <a:p>
            <a:pPr indent="354013">
              <a:defRPr sz="3600"/>
            </a:pP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Shell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какую</a:t>
            </a:r>
            <a:r>
              <a:rPr dirty="0"/>
              <a:t> </a:t>
            </a:r>
            <a:r>
              <a:rPr dirty="0" err="1"/>
              <a:t>командную</a:t>
            </a:r>
            <a:r>
              <a:rPr dirty="0"/>
              <a:t> </a:t>
            </a:r>
            <a:r>
              <a:rPr dirty="0" err="1"/>
              <a:t>оболочк</a:t>
            </a:r>
            <a:r>
              <a:rPr lang="ru-RU" dirty="0"/>
              <a:t>у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входе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текущего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административными</a:t>
            </a:r>
            <a:r>
              <a:rPr dirty="0"/>
              <a:t> </a:t>
            </a:r>
            <a:r>
              <a:rPr dirty="0" err="1"/>
              <a:t>действиями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whoami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whoami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 student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root, </a:t>
            </a:r>
            <a:r>
              <a:rPr dirty="0" err="1"/>
              <a:t>любые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повлиять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идентификаторов текущего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id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UID, </a:t>
            </a:r>
            <a:r>
              <a:rPr dirty="0" err="1"/>
              <a:t>основную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uid</a:t>
            </a:r>
            <a:r>
              <a:rPr b="1" dirty="0">
                <a:solidFill>
                  <a:srgbClr val="002060"/>
                </a:solidFill>
              </a:rPr>
              <a:t>=1000(student) gid=1000(student) groups=1000(student),27(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)</a:t>
            </a:r>
          </a:p>
          <a:p>
            <a:pPr indent="354013">
              <a:defRPr sz="3600"/>
            </a:pPr>
            <a:r>
              <a:rPr dirty="0" err="1"/>
              <a:t>По</a:t>
            </a:r>
            <a:r>
              <a:rPr dirty="0"/>
              <a:t> groups </a:t>
            </a:r>
            <a:r>
              <a:rPr dirty="0" err="1"/>
              <a:t>видно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групповые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административные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Обычный пользователь, системный пользователь, 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Linux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, и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создаются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и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предназначен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в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службам</a:t>
            </a:r>
            <a:r>
              <a:rPr dirty="0"/>
              <a:t> и </a:t>
            </a:r>
            <a:r>
              <a:rPr dirty="0" err="1"/>
              <a:t>приложениям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root — </a:t>
            </a:r>
            <a:r>
              <a:rPr dirty="0" err="1"/>
              <a:t>суперпользователь</a:t>
            </a:r>
            <a:r>
              <a:rPr dirty="0"/>
              <a:t> с UID 0 и </a:t>
            </a:r>
            <a:r>
              <a:rPr dirty="0" err="1"/>
              <a:t>максимальными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Обычный 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в </a:t>
            </a:r>
            <a:r>
              <a:rPr b="1" dirty="0">
                <a:solidFill>
                  <a:srgbClr val="002060"/>
                </a:solidFill>
              </a:rPr>
              <a:t>/home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интерактивную</a:t>
            </a:r>
            <a:r>
              <a:rPr dirty="0"/>
              <a:t> </a:t>
            </a:r>
            <a:r>
              <a:rPr dirty="0" err="1"/>
              <a:t>оболочку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/bin/bash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входить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SSH,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разрешено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ресурсам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группы</a:t>
            </a:r>
            <a:r>
              <a:rPr dirty="0"/>
              <a:t> и </a:t>
            </a:r>
            <a:r>
              <a:rPr dirty="0" err="1"/>
              <a:t>sudo-правила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Системный 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www-data, bind, </a:t>
            </a:r>
            <a:r>
              <a:rPr dirty="0" err="1"/>
              <a:t>mysql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обычного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shell /</a:t>
            </a:r>
            <a:r>
              <a:rPr dirty="0" err="1"/>
              <a:t>usr</a:t>
            </a:r>
            <a:r>
              <a:rPr dirty="0"/>
              <a:t>/</a:t>
            </a:r>
            <a:r>
              <a:rPr dirty="0" err="1"/>
              <a:t>sbin</a:t>
            </a:r>
            <a:r>
              <a:rPr dirty="0"/>
              <a:t>/</a:t>
            </a:r>
            <a:r>
              <a:rPr dirty="0" err="1"/>
              <a:t>nologin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/bin/false.</a:t>
            </a:r>
          </a:p>
          <a:p>
            <a:pPr indent="354013">
              <a:defRPr sz="3600"/>
            </a:pP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ущерб</a:t>
            </a:r>
            <a:r>
              <a:rPr dirty="0"/>
              <a:t>: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root, а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root</a:t>
            </a:r>
            <a:r>
              <a:rPr dirty="0"/>
              <a:t> — </a:t>
            </a:r>
            <a:r>
              <a:rPr dirty="0" err="1"/>
              <a:t>суперпользователь</a:t>
            </a:r>
            <a:r>
              <a:rPr dirty="0"/>
              <a:t> Linux с </a:t>
            </a:r>
            <a:r>
              <a:rPr b="1" dirty="0">
                <a:solidFill>
                  <a:srgbClr val="002060"/>
                </a:solidFill>
              </a:rPr>
              <a:t>UID 0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и </a:t>
            </a:r>
            <a:r>
              <a:rPr dirty="0" err="1"/>
              <a:t>изменять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любые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владельцев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пароли</a:t>
            </a:r>
            <a:r>
              <a:rPr dirty="0"/>
              <a:t> и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Постоянная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root </a:t>
            </a:r>
            <a:r>
              <a:rPr dirty="0" err="1"/>
              <a:t>опасна</a:t>
            </a:r>
            <a:r>
              <a:rPr dirty="0"/>
              <a:t>: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неверная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повредить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root через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id root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идентификаторы</a:t>
            </a:r>
            <a:r>
              <a:rPr dirty="0"/>
              <a:t> </a:t>
            </a:r>
            <a:r>
              <a:rPr dirty="0" err="1"/>
              <a:t>суперпользователя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 </a:t>
            </a:r>
            <a:r>
              <a:rPr sz="3600" b="1" dirty="0" err="1">
                <a:solidFill>
                  <a:srgbClr val="002060"/>
                </a:solidFill>
              </a:rPr>
              <a:t>uid</a:t>
            </a:r>
            <a:r>
              <a:rPr sz="3600" b="1" dirty="0">
                <a:solidFill>
                  <a:srgbClr val="002060"/>
                </a:solidFill>
              </a:rPr>
              <a:t>=0(root) gid=0(root) groups=0(root)</a:t>
            </a:r>
          </a:p>
          <a:p>
            <a:pPr indent="354013">
              <a:defRPr sz="3600"/>
            </a:pP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признак</a:t>
            </a:r>
            <a:r>
              <a:rPr dirty="0"/>
              <a:t> root — </a:t>
            </a:r>
            <a:r>
              <a:rPr b="1" dirty="0">
                <a:solidFill>
                  <a:srgbClr val="002060"/>
                </a:solidFill>
              </a:rPr>
              <a:t>UID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0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root </a:t>
            </a:r>
            <a:r>
              <a:rPr dirty="0" err="1"/>
              <a:t>важно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суперпользователя</a:t>
            </a:r>
            <a:r>
              <a:rPr dirty="0"/>
              <a:t> </a:t>
            </a:r>
            <a:r>
              <a:rPr dirty="0" err="1"/>
              <a:t>определяются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UID 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пользователя через системную базу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getent</a:t>
            </a:r>
            <a:r>
              <a:rPr b="1" dirty="0">
                <a:solidFill>
                  <a:srgbClr val="002060"/>
                </a:solidFill>
              </a:rPr>
              <a:t> passwd </a:t>
            </a:r>
            <a:r>
              <a:rPr b="1" dirty="0" err="1">
                <a:solidFill>
                  <a:srgbClr val="002060"/>
                </a:solidFill>
              </a:rPr>
              <a:t>имя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getent</a:t>
            </a:r>
            <a:r>
              <a:rPr b="1" dirty="0">
                <a:solidFill>
                  <a:srgbClr val="002060"/>
                </a:solidFill>
              </a:rPr>
              <a:t> passwd student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student:x:1000:1000:Student:/home/student:/bin/bash</a:t>
            </a:r>
          </a:p>
          <a:p>
            <a:pPr>
              <a:defRPr sz="3600"/>
            </a:pPr>
            <a:r>
              <a:rPr lang="ru-RU" dirty="0"/>
              <a:t>З</a:t>
            </a:r>
            <a:r>
              <a:rPr dirty="0" err="1"/>
              <a:t>апись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UID, GID, home и shell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UID и GID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UID — User Identifier,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GID — Group Identifier,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Linux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с </a:t>
            </a:r>
            <a:r>
              <a:rPr dirty="0" err="1"/>
              <a:t>числами</a:t>
            </a:r>
            <a:r>
              <a:rPr dirty="0"/>
              <a:t> UID и GID.</a:t>
            </a:r>
          </a:p>
          <a:p>
            <a:pPr indent="354013">
              <a:defRPr sz="3600"/>
            </a:pP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людям</a:t>
            </a:r>
            <a:r>
              <a:rPr dirty="0"/>
              <a:t>, а </a:t>
            </a:r>
            <a:r>
              <a:rPr dirty="0" err="1"/>
              <a:t>числовые</a:t>
            </a:r>
            <a:r>
              <a:rPr dirty="0"/>
              <a:t> </a:t>
            </a:r>
            <a:r>
              <a:rPr dirty="0" err="1"/>
              <a:t>идентификаторы</a:t>
            </a:r>
            <a:r>
              <a:rPr dirty="0"/>
              <a:t> — </a:t>
            </a:r>
            <a:r>
              <a:rPr dirty="0" err="1"/>
              <a:t>ядру</a:t>
            </a:r>
            <a:r>
              <a:rPr dirty="0"/>
              <a:t> и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UID и GID важны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UID, а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— </a:t>
            </a:r>
            <a:r>
              <a:rPr dirty="0" err="1"/>
              <a:t>как</a:t>
            </a:r>
            <a:r>
              <a:rPr dirty="0"/>
              <a:t> GID.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удалить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остаться</a:t>
            </a:r>
            <a:r>
              <a:rPr dirty="0"/>
              <a:t> с </a:t>
            </a:r>
            <a:r>
              <a:rPr dirty="0" err="1"/>
              <a:t>числовым</a:t>
            </a:r>
            <a:r>
              <a:rPr dirty="0"/>
              <a:t> UID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переносе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серверами</a:t>
            </a:r>
            <a:r>
              <a:rPr dirty="0"/>
              <a:t> </a:t>
            </a:r>
            <a:r>
              <a:rPr dirty="0" err="1"/>
              <a:t>одинаковые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означают</a:t>
            </a:r>
            <a:r>
              <a:rPr dirty="0"/>
              <a:t> </a:t>
            </a:r>
            <a:r>
              <a:rPr dirty="0" err="1"/>
              <a:t>одинаковые</a:t>
            </a:r>
            <a:r>
              <a:rPr dirty="0"/>
              <a:t> UID.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backup, NFS, </a:t>
            </a:r>
            <a:r>
              <a:rPr dirty="0" err="1"/>
              <a:t>контейнерах</a:t>
            </a:r>
            <a:r>
              <a:rPr dirty="0"/>
              <a:t> и </a:t>
            </a:r>
            <a:r>
              <a:rPr dirty="0" err="1"/>
              <a:t>миграции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Основная и дополнительные группы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записана</a:t>
            </a:r>
            <a:r>
              <a:rPr dirty="0"/>
              <a:t> в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главный</a:t>
            </a:r>
            <a:r>
              <a:rPr dirty="0"/>
              <a:t> GID.</a:t>
            </a:r>
          </a:p>
          <a:p>
            <a:pPr indent="354013">
              <a:defRPr sz="3600"/>
            </a:pP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ресурсам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основную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student и </a:t>
            </a:r>
            <a:r>
              <a:rPr dirty="0" err="1"/>
              <a:t>дополнительную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developer.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создании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другое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конкретного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id с </a:t>
            </a:r>
            <a:r>
              <a:rPr dirty="0" err="1"/>
              <a:t>именем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 </a:t>
            </a:r>
            <a:r>
              <a:rPr b="1" dirty="0" err="1">
                <a:solidFill>
                  <a:srgbClr val="002060"/>
                </a:solidFill>
              </a:rPr>
              <a:t>ivan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uid</a:t>
            </a:r>
            <a:r>
              <a:rPr b="1" dirty="0">
                <a:solidFill>
                  <a:srgbClr val="002060"/>
                </a:solidFill>
              </a:rPr>
              <a:t>=1001(</a:t>
            </a:r>
            <a:r>
              <a:rPr b="1" dirty="0" err="1">
                <a:solidFill>
                  <a:srgbClr val="002060"/>
                </a:solidFill>
              </a:rPr>
              <a:t>ivan</a:t>
            </a:r>
            <a:r>
              <a:rPr b="1" dirty="0">
                <a:solidFill>
                  <a:srgbClr val="002060"/>
                </a:solidFill>
              </a:rPr>
              <a:t>) gid=1001(</a:t>
            </a:r>
            <a:r>
              <a:rPr b="1" dirty="0" err="1">
                <a:solidFill>
                  <a:srgbClr val="002060"/>
                </a:solidFill>
              </a:rPr>
              <a:t>ivan</a:t>
            </a:r>
            <a:r>
              <a:rPr b="1" dirty="0">
                <a:solidFill>
                  <a:srgbClr val="002060"/>
                </a:solidFill>
              </a:rPr>
              <a:t>) groups=1001(</a:t>
            </a:r>
            <a:r>
              <a:rPr b="1" dirty="0" err="1">
                <a:solidFill>
                  <a:srgbClr val="002060"/>
                </a:solidFill>
              </a:rPr>
              <a:t>ivan</a:t>
            </a:r>
            <a:r>
              <a:rPr b="1" dirty="0">
                <a:solidFill>
                  <a:srgbClr val="002060"/>
                </a:solidFill>
              </a:rPr>
              <a:t>),1002(developer)</a:t>
            </a:r>
          </a:p>
          <a:p>
            <a:pPr indent="354013">
              <a:defRPr sz="3600"/>
            </a:pP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 UID, </a:t>
            </a:r>
            <a:r>
              <a:rPr dirty="0" err="1"/>
              <a:t>основную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обязательна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Основные файлы учетных записей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Linux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записях</a:t>
            </a:r>
            <a:r>
              <a:rPr dirty="0"/>
              <a:t> в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файлах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 </a:t>
            </a:r>
            <a:r>
              <a:rPr dirty="0" err="1"/>
              <a:t>редактировать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специальных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пользователях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sz="3600" b="1" dirty="0">
                <a:solidFill>
                  <a:srgbClr val="002060"/>
                </a:solidFill>
              </a:rPr>
              <a:t>/shadow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защищенные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паролях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sz="3600" b="1" dirty="0">
                <a:solidFill>
                  <a:srgbClr val="002060"/>
                </a:solidFill>
              </a:rPr>
              <a:t>/group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и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passwd, shadow и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78688C-9684-5701-89B0-A5A5ACD8F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/etc/passwd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учетную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Формат</a:t>
            </a:r>
            <a:r>
              <a:rPr dirty="0"/>
              <a:t>: </a:t>
            </a:r>
            <a:r>
              <a:rPr dirty="0" err="1"/>
              <a:t>имя:x:UID:GID:комментарий:home:shell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>
                <a:solidFill>
                  <a:srgbClr val="002060"/>
                </a:solidFill>
              </a:rPr>
              <a:t>ivan:x:1001:1001:Ivan</a:t>
            </a:r>
            <a:r>
              <a:rPr lang="en-US" dirty="0">
                <a:solidFill>
                  <a:srgbClr val="002060"/>
                </a:solidFill>
              </a:rPr>
              <a:t>,,,</a:t>
            </a:r>
            <a:r>
              <a:rPr dirty="0">
                <a:solidFill>
                  <a:srgbClr val="002060"/>
                </a:solidFill>
              </a:rPr>
              <a:t>:/home/</a:t>
            </a:r>
            <a:r>
              <a:rPr dirty="0" err="1">
                <a:solidFill>
                  <a:srgbClr val="002060"/>
                </a:solidFill>
              </a:rPr>
              <a:t>ivan</a:t>
            </a:r>
            <a:r>
              <a:rPr dirty="0">
                <a:solidFill>
                  <a:srgbClr val="002060"/>
                </a:solidFill>
              </a:rPr>
              <a:t>:/bin/bash</a:t>
            </a:r>
          </a:p>
          <a:p>
            <a:pPr indent="354013">
              <a:defRPr sz="3600"/>
            </a:pPr>
            <a:r>
              <a:rPr dirty="0" err="1"/>
              <a:t>Символ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x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, а в /</a:t>
            </a:r>
            <a:r>
              <a:rPr dirty="0" err="1"/>
              <a:t>etc</a:t>
            </a:r>
            <a:r>
              <a:rPr dirty="0"/>
              <a:t>/shadow.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читается</a:t>
            </a:r>
            <a:r>
              <a:rPr dirty="0"/>
              <a:t> </a:t>
            </a:r>
            <a:r>
              <a:rPr dirty="0" err="1"/>
              <a:t>многими</a:t>
            </a:r>
            <a:r>
              <a:rPr dirty="0"/>
              <a:t> </a:t>
            </a:r>
            <a:r>
              <a:rPr dirty="0" err="1"/>
              <a:t>программами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повреждение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/etc/shadow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/shadow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хеши</a:t>
            </a:r>
            <a:r>
              <a:rPr dirty="0"/>
              <a:t> </a:t>
            </a:r>
            <a:r>
              <a:rPr dirty="0" err="1"/>
              <a:t>паролей</a:t>
            </a:r>
            <a:r>
              <a:rPr dirty="0"/>
              <a:t> и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срока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root и </a:t>
            </a:r>
            <a:r>
              <a:rPr dirty="0" err="1"/>
              <a:t>системным</a:t>
            </a:r>
            <a:r>
              <a:rPr dirty="0"/>
              <a:t> </a:t>
            </a:r>
            <a:r>
              <a:rPr dirty="0" err="1"/>
              <a:t>инструментам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shadow.</a:t>
            </a:r>
          </a:p>
          <a:p>
            <a:pPr indent="354013">
              <a:defRPr sz="3600"/>
            </a:pPr>
            <a:r>
              <a:rPr dirty="0" err="1"/>
              <a:t>Прямое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 shadow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системами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на /etc/shadow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защиту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ls -l.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ls -l /</a:t>
            </a:r>
            <a:r>
              <a:rPr dirty="0" err="1"/>
              <a:t>etc</a:t>
            </a:r>
            <a:r>
              <a:rPr dirty="0"/>
              <a:t>/shadow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похож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: -</a:t>
            </a:r>
            <a:r>
              <a:rPr dirty="0" err="1"/>
              <a:t>rw</a:t>
            </a:r>
            <a:r>
              <a:rPr dirty="0"/>
              <a:t>-r----- 1 root shadow ... /</a:t>
            </a:r>
            <a:r>
              <a:rPr dirty="0" err="1"/>
              <a:t>etc</a:t>
            </a:r>
            <a:r>
              <a:rPr dirty="0"/>
              <a:t>/shadow</a:t>
            </a:r>
          </a:p>
          <a:p>
            <a:pPr indent="354013">
              <a:defRPr sz="3600"/>
            </a:pPr>
            <a:r>
              <a:rPr dirty="0" err="1"/>
              <a:t>Владелец</a:t>
            </a:r>
            <a:r>
              <a:rPr dirty="0"/>
              <a:t> root и </a:t>
            </a:r>
            <a:r>
              <a:rPr dirty="0" err="1"/>
              <a:t>ограниченные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защищен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shadow </a:t>
            </a:r>
            <a:r>
              <a:rPr dirty="0" err="1"/>
              <a:t>читается</a:t>
            </a:r>
            <a:r>
              <a:rPr dirty="0"/>
              <a:t> </a:t>
            </a:r>
            <a:r>
              <a:rPr dirty="0" err="1"/>
              <a:t>всеми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серьезная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/etc/group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/group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Linux.</a:t>
            </a:r>
          </a:p>
          <a:p>
            <a:pPr indent="354013">
              <a:defRPr sz="3600"/>
            </a:pPr>
            <a:r>
              <a:rPr dirty="0" err="1"/>
              <a:t>Формат</a:t>
            </a:r>
            <a:r>
              <a:rPr dirty="0"/>
              <a:t>: </a:t>
            </a:r>
            <a:r>
              <a:rPr dirty="0" err="1"/>
              <a:t>имя_группы:x:GID:участники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developer:x:1002:ivan,petr</a:t>
            </a:r>
          </a:p>
          <a:p>
            <a:pPr indent="354013">
              <a:defRPr sz="3600"/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последнего</a:t>
            </a:r>
            <a:r>
              <a:rPr dirty="0"/>
              <a:t> </a:t>
            </a:r>
            <a:r>
              <a:rPr dirty="0" err="1"/>
              <a:t>двоеточия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отображаться</a:t>
            </a:r>
            <a:r>
              <a:rPr dirty="0"/>
              <a:t> в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списке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дополнительная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Безопасный просмотр учетных записей через getent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>
                <a:solidFill>
                  <a:srgbClr val="002060"/>
                </a:solidFill>
              </a:rPr>
              <a:t>getent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механизмы</a:t>
            </a:r>
            <a:r>
              <a:rPr dirty="0"/>
              <a:t> NSS.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приходить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getent</a:t>
            </a:r>
            <a:r>
              <a:rPr dirty="0"/>
              <a:t> passwd </a:t>
            </a:r>
            <a:r>
              <a:rPr dirty="0" err="1"/>
              <a:t>ivan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getent</a:t>
            </a:r>
            <a:r>
              <a:rPr dirty="0"/>
              <a:t> group developer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найдены</a:t>
            </a:r>
            <a:r>
              <a:rPr dirty="0"/>
              <a:t> в </a:t>
            </a:r>
            <a:r>
              <a:rPr dirty="0" err="1"/>
              <a:t>системной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</a:t>
            </a:r>
            <a:r>
              <a:rPr dirty="0" err="1"/>
              <a:t>Создание</a:t>
            </a:r>
            <a:r>
              <a:rPr dirty="0"/>
              <a:t> и </a:t>
            </a: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Для создания учётных записей в системе существуют две команды: </a:t>
            </a:r>
            <a:r>
              <a:rPr lang="ru-RU" dirty="0" err="1"/>
              <a:t>useradd</a:t>
            </a:r>
            <a:r>
              <a:rPr lang="ru-RU" dirty="0"/>
              <a:t> и </a:t>
            </a:r>
            <a:r>
              <a:rPr lang="ru-RU" dirty="0" err="1"/>
              <a:t>adduser</a:t>
            </a:r>
            <a:r>
              <a:rPr lang="ru-RU" dirty="0"/>
              <a:t>. Несмотря на похожие названия, они принципиально отличаются по логике работы.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UID, home, shell, </a:t>
            </a:r>
            <a:r>
              <a:rPr dirty="0" err="1"/>
              <a:t>пароль</a:t>
            </a:r>
            <a:r>
              <a:rPr dirty="0"/>
              <a:t> и </a:t>
            </a:r>
            <a:r>
              <a:rPr dirty="0" err="1"/>
              <a:t>группы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8888" y="182880"/>
            <a:ext cx="80437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Команда </a:t>
            </a:r>
            <a:r>
              <a:rPr lang="en-US" dirty="0" err="1"/>
              <a:t>useradd</a:t>
            </a:r>
            <a:r>
              <a:rPr lang="en-US" dirty="0"/>
              <a:t> (</a:t>
            </a:r>
            <a:r>
              <a:rPr lang="ru-RU" dirty="0"/>
              <a:t>Низкоуровневая утилита)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4429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useradd</a:t>
            </a:r>
            <a:r>
              <a:rPr lang="ru-RU" dirty="0"/>
              <a:t> — это стандартная бинарная утилита, которая есть абсолютно во всех дистрибутивах Linux. Она работает «минимум действий из коробки».</a:t>
            </a:r>
          </a:p>
          <a:p>
            <a:pPr indent="442913">
              <a:defRPr sz="3600"/>
            </a:pPr>
            <a:r>
              <a:rPr lang="ru-RU" dirty="0"/>
              <a:t>Как работает: Создает «голую» учётную запись. По умолчанию она не создает пароль, часто не создает домашний каталог (зависит от настроек дистрибутива) и использует оболочку /</a:t>
            </a:r>
            <a:r>
              <a:rPr lang="ru-RU" dirty="0" err="1"/>
              <a:t>bin</a:t>
            </a:r>
            <a:r>
              <a:rPr lang="ru-RU" dirty="0"/>
              <a:t>/</a:t>
            </a:r>
            <a:r>
              <a:rPr lang="ru-RU" dirty="0" err="1"/>
              <a:t>sh</a:t>
            </a:r>
            <a:r>
              <a:rPr lang="ru-RU" dirty="0"/>
              <a:t> вместо удобной /</a:t>
            </a:r>
            <a:r>
              <a:rPr lang="ru-RU" dirty="0" err="1"/>
              <a:t>bin</a:t>
            </a:r>
            <a:r>
              <a:rPr lang="ru-RU" dirty="0"/>
              <a:t>/</a:t>
            </a:r>
            <a:r>
              <a:rPr lang="ru-RU" dirty="0" err="1"/>
              <a:t>bash</a:t>
            </a:r>
            <a:r>
              <a:rPr lang="ru-RU" dirty="0"/>
              <a:t>.</a:t>
            </a:r>
          </a:p>
          <a:p>
            <a:pPr indent="442913">
              <a:defRPr sz="3600"/>
            </a:pPr>
            <a:r>
              <a:rPr lang="ru-RU" dirty="0"/>
              <a:t>Для чего нужна: Идеально подходит для автоматизации и </a:t>
            </a:r>
            <a:r>
              <a:rPr lang="ru-RU" dirty="0" err="1"/>
              <a:t>bash</a:t>
            </a:r>
            <a:r>
              <a:rPr lang="ru-RU" dirty="0"/>
              <a:t>-скриптов, так как принимает все параметры через жесткие флаги (опции) в одну строчку.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1D37-52B9-1363-6F42-C42B8F4C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085AC-5869-1A2D-2BFA-8826FABCA244}"/>
              </a:ext>
            </a:extLst>
          </p:cNvPr>
          <p:cNvSpPr txBox="1"/>
          <p:nvPr/>
        </p:nvSpPr>
        <p:spPr>
          <a:xfrm>
            <a:off x="457200" y="486697"/>
            <a:ext cx="11267768" cy="563978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Базовый синтаксис и флаги:</a:t>
            </a: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useradd</a:t>
            </a:r>
            <a:r>
              <a:rPr lang="ru-RU" b="1" dirty="0">
                <a:solidFill>
                  <a:srgbClr val="002060"/>
                </a:solidFill>
              </a:rPr>
              <a:t> [опции] </a:t>
            </a:r>
            <a:r>
              <a:rPr lang="ru-RU" b="1" dirty="0" err="1">
                <a:solidFill>
                  <a:srgbClr val="002060"/>
                </a:solidFill>
              </a:rPr>
              <a:t>имя_пользователя</a:t>
            </a:r>
            <a:endParaRPr lang="ru-RU"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-m </a:t>
            </a:r>
            <a:r>
              <a:rPr lang="ru-RU" dirty="0"/>
              <a:t>— принудительно создать домашний каталог (/</a:t>
            </a:r>
            <a:r>
              <a:rPr lang="ru-RU" dirty="0" err="1"/>
              <a:t>home</a:t>
            </a:r>
            <a:r>
              <a:rPr lang="ru-RU" dirty="0"/>
              <a:t>/</a:t>
            </a:r>
            <a:r>
              <a:rPr lang="ru-RU" dirty="0" err="1"/>
              <a:t>имя_пользователя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-s </a:t>
            </a:r>
            <a:r>
              <a:rPr lang="ru-RU" dirty="0"/>
              <a:t>— указать командную оболочку (</a:t>
            </a:r>
            <a:r>
              <a:rPr lang="ru-RU" dirty="0" err="1"/>
              <a:t>shell</a:t>
            </a:r>
            <a:r>
              <a:rPr lang="ru-RU" dirty="0"/>
              <a:t>) по умолчанию (например, /</a:t>
            </a:r>
            <a:r>
              <a:rPr lang="ru-RU" dirty="0" err="1"/>
              <a:t>bin</a:t>
            </a:r>
            <a:r>
              <a:rPr lang="ru-RU" dirty="0"/>
              <a:t>/</a:t>
            </a:r>
            <a:r>
              <a:rPr lang="ru-RU" dirty="0" err="1"/>
              <a:t>bash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-g </a:t>
            </a:r>
            <a:r>
              <a:rPr lang="ru-RU" dirty="0"/>
              <a:t>— указать основную (первичную) группу.</a:t>
            </a:r>
          </a:p>
          <a:p>
            <a:pPr indent="354013">
              <a:defRPr sz="3600"/>
            </a:pPr>
            <a:r>
              <a:rPr lang="ru-RU" sz="3600" b="1" dirty="0">
                <a:solidFill>
                  <a:srgbClr val="002060"/>
                </a:solidFill>
              </a:rPr>
              <a:t>-G </a:t>
            </a:r>
            <a:r>
              <a:rPr lang="ru-RU" dirty="0"/>
              <a:t>— добавить пользователя в дополнительные (вторичные) группы (например, в группу </a:t>
            </a:r>
            <a:r>
              <a:rPr lang="ru-RU" dirty="0" err="1"/>
              <a:t>sudo</a:t>
            </a:r>
            <a:r>
              <a:rPr lang="ru-RU" dirty="0"/>
              <a:t>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6164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6FE8-852F-8F33-8349-7CE99AB5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7B615B-BDEE-5AFD-BD02-5D6D50390DC8}"/>
              </a:ext>
            </a:extLst>
          </p:cNvPr>
          <p:cNvSpPr txBox="1"/>
          <p:nvPr/>
        </p:nvSpPr>
        <p:spPr>
          <a:xfrm>
            <a:off x="457200" y="442452"/>
            <a:ext cx="10972800" cy="56840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Пример правильного создания пользователя в одну строку: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После этого обязательно нужно задать пароль вручную: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D195E9-A3AA-36A1-E77E-598091F1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4" y="1625241"/>
            <a:ext cx="10893084" cy="6607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36D613-CBFF-EB74-EA07-D0D1CB82C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3" y="4653116"/>
            <a:ext cx="10829927" cy="67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46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CD73-7D6A-DAA0-3E88-AD9041E4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D79AB2-8ACE-A20B-F45E-D3A0DCC09350}"/>
              </a:ext>
            </a:extLst>
          </p:cNvPr>
          <p:cNvSpPr txBox="1"/>
          <p:nvPr/>
        </p:nvSpPr>
        <p:spPr>
          <a:xfrm>
            <a:off x="528021" y="182880"/>
            <a:ext cx="111054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Команда </a:t>
            </a:r>
            <a:r>
              <a:rPr lang="ru-RU" dirty="0" err="1"/>
              <a:t>adduser</a:t>
            </a:r>
            <a:r>
              <a:rPr lang="ru-RU" dirty="0"/>
              <a:t> (Высокоуровневый интерактивный скрипт)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034A4-DABC-C292-B822-19E5187A36B7}"/>
              </a:ext>
            </a:extLst>
          </p:cNvPr>
          <p:cNvSpPr txBox="1"/>
          <p:nvPr/>
        </p:nvSpPr>
        <p:spPr>
          <a:xfrm>
            <a:off x="457200" y="914400"/>
            <a:ext cx="11734800" cy="59436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adduser</a:t>
            </a:r>
            <a:r>
              <a:rPr lang="ru-RU" dirty="0"/>
              <a:t> — это дружелюбный скрипт (написанный на языке Perl), который является надстройкой над </a:t>
            </a:r>
            <a:r>
              <a:rPr lang="ru-RU" dirty="0" err="1"/>
              <a:t>useradd</a:t>
            </a:r>
            <a:r>
              <a:rPr lang="ru-RU" dirty="0"/>
              <a:t>. Он по умолчанию используется в дистрибутивах </a:t>
            </a:r>
            <a:r>
              <a:rPr lang="ru-RU" dirty="0" err="1"/>
              <a:t>Debian</a:t>
            </a:r>
            <a:r>
              <a:rPr lang="ru-RU" dirty="0"/>
              <a:t> / Ubuntu.</a:t>
            </a:r>
          </a:p>
          <a:p>
            <a:pPr indent="354013">
              <a:defRPr sz="3600"/>
            </a:pPr>
            <a:r>
              <a:rPr lang="ru-RU" dirty="0"/>
              <a:t>Как работает: Запускает пошаговый интерактивный диалог прямо в терминале.</a:t>
            </a:r>
          </a:p>
          <a:p>
            <a:pPr indent="354013">
              <a:defRPr sz="3600"/>
            </a:pPr>
            <a:r>
              <a:rPr lang="ru-RU" dirty="0"/>
              <a:t>Что делает автоматически: </a:t>
            </a:r>
          </a:p>
          <a:p>
            <a:pPr indent="354013">
              <a:defRPr sz="3600"/>
            </a:pPr>
            <a:r>
              <a:rPr lang="ru-RU" dirty="0"/>
              <a:t>1. Создает домашний каталог.</a:t>
            </a:r>
          </a:p>
          <a:p>
            <a:pPr indent="354013">
              <a:defRPr sz="3600"/>
            </a:pPr>
            <a:r>
              <a:rPr lang="ru-RU" dirty="0"/>
              <a:t>2. Копирует туда файлы настроек (из папки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skel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dirty="0"/>
              <a:t>3. Назначает правильную оболочку (/</a:t>
            </a:r>
            <a:r>
              <a:rPr lang="ru-RU" dirty="0" err="1"/>
              <a:t>bin</a:t>
            </a:r>
            <a:r>
              <a:rPr lang="ru-RU" dirty="0"/>
              <a:t>/</a:t>
            </a:r>
            <a:r>
              <a:rPr lang="ru-RU" dirty="0" err="1"/>
              <a:t>bash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dirty="0"/>
              <a:t>4. Сразу же в интерактивном режиме просит ввести и подтвердить пароль.</a:t>
            </a:r>
          </a:p>
          <a:p>
            <a:pPr indent="354013">
              <a:defRPr sz="3600"/>
            </a:pPr>
            <a:r>
              <a:rPr lang="ru-RU" dirty="0"/>
              <a:t>5. Предлагает заполнить метаданные (ФИО, номер комнаты, телефон и т.д.).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Для чего нужна: Идеальна для ручного администрирования, когда сисадмину нужно быстро и без ошибок завести нового сотрудника в систему.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7514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7270-B29C-0462-D2EA-F03B5432D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46558B-08D2-0D87-05CF-1EE30D4A19A4}"/>
              </a:ext>
            </a:extLst>
          </p:cNvPr>
          <p:cNvSpPr txBox="1"/>
          <p:nvPr/>
        </p:nvSpPr>
        <p:spPr>
          <a:xfrm>
            <a:off x="457200" y="353961"/>
            <a:ext cx="10972800" cy="5772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Базовый синтаксис: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adduser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имя_пользователя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dirty="0"/>
              <a:t>Пример интерактивного вывода команды: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52C0C3-D1D4-F61C-27F1-FA46E5E32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379" y="2028825"/>
            <a:ext cx="10070382" cy="47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97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7A77-74A9-6A89-79B3-B1471E30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5DA90-9756-4492-F836-D8F2E175BDA6}"/>
              </a:ext>
            </a:extLst>
          </p:cNvPr>
          <p:cNvSpPr txBox="1"/>
          <p:nvPr/>
        </p:nvSpPr>
        <p:spPr>
          <a:xfrm>
            <a:off x="457200" y="280219"/>
            <a:ext cx="10972800" cy="6371304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Полезные смежные команды: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id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имя_пользователя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— проверить, создался ли пользователь (показывает его UID, первичную и вторичную группы).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userdel</a:t>
            </a:r>
            <a:r>
              <a:rPr lang="ru-RU" b="1" dirty="0">
                <a:solidFill>
                  <a:srgbClr val="002060"/>
                </a:solidFill>
              </a:rPr>
              <a:t> -r </a:t>
            </a:r>
            <a:r>
              <a:rPr lang="ru-RU" b="1" dirty="0" err="1">
                <a:solidFill>
                  <a:srgbClr val="002060"/>
                </a:solidFill>
              </a:rPr>
              <a:t>имя_пользователя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— удалить пользователя из системы. Флаг -r (</a:t>
            </a:r>
            <a:r>
              <a:rPr lang="ru-RU" dirty="0" err="1"/>
              <a:t>recursive</a:t>
            </a:r>
            <a:r>
              <a:rPr lang="ru-RU" dirty="0"/>
              <a:t>) критически важен: он удаляет не только запись, но и домашний каталог пользователя вместе со всеми его файлами.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usermod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aG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имя_пользователя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— добавить существующего пользователя в группу администраторов (</a:t>
            </a:r>
            <a:r>
              <a:rPr lang="ru-RU" dirty="0" err="1"/>
              <a:t>sudo</a:t>
            </a:r>
            <a:r>
              <a:rPr lang="ru-RU" dirty="0"/>
              <a:t>), чтобы он мог выполнять команды с повышенными привилегиями. Флаг -a означает </a:t>
            </a:r>
            <a:r>
              <a:rPr lang="ru-RU" dirty="0" err="1"/>
              <a:t>append</a:t>
            </a:r>
            <a:r>
              <a:rPr lang="ru-RU" dirty="0"/>
              <a:t> (дописать/добавить), чтобы не стереть старые группы!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57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 пользователя через userdel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осторожности</a:t>
            </a:r>
            <a:r>
              <a:rPr dirty="0"/>
              <a:t>: у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userdel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home: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userdel</a:t>
            </a:r>
            <a:r>
              <a:rPr b="1" dirty="0">
                <a:solidFill>
                  <a:srgbClr val="002060"/>
                </a:solidFill>
              </a:rPr>
              <a:t> -r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-r</a:t>
            </a:r>
            <a:r>
              <a:rPr dirty="0"/>
              <a:t>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почтовый</a:t>
            </a:r>
            <a:r>
              <a:rPr dirty="0"/>
              <a:t> </a:t>
            </a:r>
            <a:r>
              <a:rPr dirty="0" err="1"/>
              <a:t>ящик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проверить перед удалением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pgrep</a:t>
            </a:r>
            <a:r>
              <a:rPr dirty="0">
                <a:solidFill>
                  <a:srgbClr val="002060"/>
                </a:solidFill>
              </a:rPr>
              <a:t> -u </a:t>
            </a:r>
            <a:r>
              <a:rPr dirty="0" err="1">
                <a:solidFill>
                  <a:srgbClr val="002060"/>
                </a:solidFill>
              </a:rPr>
              <a:t>ivanov</a:t>
            </a:r>
            <a:r>
              <a:rPr dirty="0">
                <a:solidFill>
                  <a:srgbClr val="002060"/>
                </a:solidFill>
              </a:rPr>
              <a:t> -a.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нужные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lang="en-US" dirty="0"/>
              <a:t>     </a:t>
            </a:r>
            <a:r>
              <a:rPr dirty="0">
                <a:solidFill>
                  <a:srgbClr val="002060"/>
                </a:solidFill>
              </a:rPr>
              <a:t>ls -la /home/</a:t>
            </a:r>
            <a:r>
              <a:rPr dirty="0" err="1">
                <a:solidFill>
                  <a:srgbClr val="002060"/>
                </a:solidFill>
              </a:rPr>
              <a:t>ivanov</a:t>
            </a:r>
            <a:endParaRPr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</a:t>
            </a: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передать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исчезла</a:t>
            </a:r>
            <a:r>
              <a:rPr dirty="0"/>
              <a:t>: </a:t>
            </a:r>
            <a:r>
              <a:rPr dirty="0" err="1"/>
              <a:t>getent</a:t>
            </a:r>
            <a:r>
              <a:rPr dirty="0"/>
              <a:t> passwd </a:t>
            </a:r>
            <a:r>
              <a:rPr dirty="0" err="1"/>
              <a:t>ivanov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создании и удалении пользователей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Создали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-m, и у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домашнего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Забыли</a:t>
            </a:r>
            <a:r>
              <a:rPr dirty="0"/>
              <a:t> </a:t>
            </a:r>
            <a:r>
              <a:rPr dirty="0" err="1"/>
              <a:t>задать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Указали</a:t>
            </a:r>
            <a:r>
              <a:rPr dirty="0"/>
              <a:t> shell /bin/</a:t>
            </a:r>
            <a:r>
              <a:rPr dirty="0" err="1"/>
              <a:t>sh</a:t>
            </a:r>
            <a:r>
              <a:rPr dirty="0"/>
              <a:t>,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/bin/bash.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Удалили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с -r,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сохранив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Добавили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группу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перелогинились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членства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FEDB8-9E40-4DB6-FF86-F944A234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128DC-89F5-2053-970F-0320B4091769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создании и удалении пользователей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BB2999-5520-B30F-E0F0-F92162CB8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79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6. </a:t>
            </a:r>
            <a:r>
              <a:rPr dirty="0" err="1"/>
              <a:t>Создание</a:t>
            </a:r>
            <a:r>
              <a:rPr dirty="0"/>
              <a:t> и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групп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выдавать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нескольким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каждому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группа</a:t>
            </a:r>
            <a:r>
              <a:rPr dirty="0"/>
              <a:t> developer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получать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каталогу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id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getent</a:t>
            </a:r>
            <a:r>
              <a:rPr dirty="0"/>
              <a:t> group.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группы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groupadd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groupadd</a:t>
            </a:r>
            <a:r>
              <a:rPr b="1" dirty="0">
                <a:solidFill>
                  <a:srgbClr val="002060"/>
                </a:solidFill>
              </a:rPr>
              <a:t> developer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getent</a:t>
            </a:r>
            <a:r>
              <a:rPr b="1" dirty="0">
                <a:solidFill>
                  <a:srgbClr val="002060"/>
                </a:solidFill>
              </a:rPr>
              <a:t> group developer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 developer:x:1002: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существует</a:t>
            </a:r>
            <a:r>
              <a:rPr dirty="0"/>
              <a:t>,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сообщит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 группы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groupdel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groupdel</a:t>
            </a:r>
            <a:r>
              <a:rPr b="1" dirty="0">
                <a:solidFill>
                  <a:srgbClr val="002060"/>
                </a:solidFill>
              </a:rPr>
              <a:t> developer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удалить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группой</a:t>
            </a:r>
            <a:r>
              <a:rPr dirty="0"/>
              <a:t> </a:t>
            </a:r>
            <a:r>
              <a:rPr dirty="0" err="1"/>
              <a:t>существующего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удалением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связанные</a:t>
            </a:r>
            <a:r>
              <a:rPr dirty="0"/>
              <a:t> с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группой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Добавление пользователя в дополнительную группу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членства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usermod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endParaRPr lang="en-US" dirty="0"/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 -</a:t>
            </a:r>
            <a:r>
              <a:rPr dirty="0" err="1"/>
              <a:t>aG</a:t>
            </a:r>
            <a:r>
              <a:rPr dirty="0"/>
              <a:t> developer </a:t>
            </a:r>
            <a:r>
              <a:rPr dirty="0" err="1"/>
              <a:t>ivanov</a:t>
            </a:r>
            <a:endParaRPr dirty="0"/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-G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-a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удаляя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-a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случайно</a:t>
            </a:r>
            <a:r>
              <a:rPr dirty="0"/>
              <a:t> </a:t>
            </a:r>
            <a:r>
              <a:rPr dirty="0" err="1"/>
              <a:t>заменить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групп после usermod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членство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id.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/>
              <a:t>В groups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появиться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developer.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вошел</a:t>
            </a:r>
            <a:r>
              <a:rPr dirty="0"/>
              <a:t> в </a:t>
            </a:r>
            <a:r>
              <a:rPr dirty="0" err="1"/>
              <a:t>систему</a:t>
            </a:r>
            <a:r>
              <a:rPr dirty="0"/>
              <a:t>, </a:t>
            </a:r>
            <a:r>
              <a:rPr dirty="0" err="1"/>
              <a:t>ему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понадобиться</a:t>
            </a:r>
            <a:r>
              <a:rPr dirty="0"/>
              <a:t> </a:t>
            </a:r>
            <a:r>
              <a:rPr dirty="0" err="1"/>
              <a:t>выйти</a:t>
            </a:r>
            <a:r>
              <a:rPr dirty="0"/>
              <a:t> и </a:t>
            </a:r>
            <a:r>
              <a:rPr dirty="0" err="1"/>
              <a:t>войти</a:t>
            </a:r>
            <a:r>
              <a:rPr dirty="0"/>
              <a:t> </a:t>
            </a:r>
            <a:r>
              <a:rPr dirty="0" err="1"/>
              <a:t>заново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 shell-</a:t>
            </a:r>
            <a:r>
              <a:rPr dirty="0" err="1"/>
              <a:t>сессии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: </a:t>
            </a:r>
            <a:r>
              <a:rPr dirty="0" err="1"/>
              <a:t>su</a:t>
            </a:r>
            <a:r>
              <a:rPr dirty="0"/>
              <a:t> - </a:t>
            </a:r>
            <a:r>
              <a:rPr dirty="0" err="1"/>
              <a:t>ivanov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основной группы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-g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usermod</a:t>
            </a:r>
            <a:r>
              <a:rPr b="1" dirty="0">
                <a:solidFill>
                  <a:srgbClr val="002060"/>
                </a:solidFill>
              </a:rPr>
              <a:t> -g developer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-G: -g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главную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, а -G </a:t>
            </a:r>
            <a:r>
              <a:rPr dirty="0" err="1"/>
              <a:t>дополнительные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проверьте</a:t>
            </a:r>
            <a:r>
              <a:rPr dirty="0"/>
              <a:t> id </a:t>
            </a:r>
            <a:r>
              <a:rPr dirty="0" err="1"/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Неправильная</a:t>
            </a:r>
            <a:r>
              <a:rPr dirty="0"/>
              <a:t>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создаваемые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550B-274E-E66E-6DD2-F085536A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95F7D2-6447-4554-E24B-15506CAAAD6F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основной группы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55A811-A258-00F1-151B-ED3C79A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3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7. </a:t>
            </a:r>
            <a:r>
              <a:rPr dirty="0" err="1"/>
              <a:t>Пароли</a:t>
            </a:r>
            <a:r>
              <a:rPr dirty="0"/>
              <a:t> и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учетную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решает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,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, </a:t>
            </a: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неиспользуемых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и </a:t>
            </a:r>
            <a:r>
              <a:rPr dirty="0" err="1"/>
              <a:t>минимальные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открытым</a:t>
            </a:r>
            <a:r>
              <a:rPr dirty="0"/>
              <a:t> </a:t>
            </a:r>
            <a:r>
              <a:rPr dirty="0" err="1"/>
              <a:t>текстом</a:t>
            </a:r>
            <a:r>
              <a:rPr dirty="0"/>
              <a:t>, а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хеша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/shadow.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задавать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и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пароля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passwd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passwd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passwd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ввода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отображается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отклонен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срока действия пароля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chage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срока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chage</a:t>
            </a:r>
            <a:r>
              <a:rPr b="1" dirty="0">
                <a:solidFill>
                  <a:srgbClr val="002060"/>
                </a:solidFill>
              </a:rPr>
              <a:t> -l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 </a:t>
            </a:r>
            <a:r>
              <a:rPr dirty="0" err="1"/>
              <a:t>даты</a:t>
            </a:r>
            <a:r>
              <a:rPr dirty="0"/>
              <a:t> </a:t>
            </a:r>
            <a:r>
              <a:rPr dirty="0" err="1"/>
              <a:t>последней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, </a:t>
            </a:r>
            <a:r>
              <a:rPr dirty="0" err="1"/>
              <a:t>истечения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 и </a:t>
            </a:r>
            <a:r>
              <a:rPr dirty="0" err="1"/>
              <a:t>предупреждения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полезна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войти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истекшего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Блокировка</a:t>
            </a:r>
            <a:r>
              <a:rPr dirty="0"/>
              <a:t> и </a:t>
            </a:r>
            <a:r>
              <a:rPr dirty="0" err="1"/>
              <a:t>разблокировка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учетную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заблокировать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Заблокировать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passwd -l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Разблокировать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passwd -u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блокировки</a:t>
            </a:r>
            <a:r>
              <a:rPr dirty="0"/>
              <a:t> </a:t>
            </a:r>
            <a:r>
              <a:rPr dirty="0" err="1"/>
              <a:t>стоит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passwd -S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завершает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запущенные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4965-4DE6-3744-F40D-5CDFA46B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AF0B3-A736-F951-6029-2575E7D5D25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Блокировка</a:t>
            </a:r>
            <a:r>
              <a:rPr dirty="0"/>
              <a:t> и </a:t>
            </a:r>
            <a:r>
              <a:rPr dirty="0" err="1"/>
              <a:t>разблокировка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A367BF-D236-FB4B-B97B-0D519967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30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8. </a:t>
            </a:r>
            <a:r>
              <a:rPr dirty="0" err="1"/>
              <a:t>su</a:t>
            </a:r>
            <a:r>
              <a:rPr dirty="0"/>
              <a:t> и </a:t>
            </a:r>
            <a:r>
              <a:rPr dirty="0" err="1"/>
              <a:t>sudo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b="1" dirty="0" err="1">
                <a:solidFill>
                  <a:srgbClr val="002060"/>
                </a:solidFill>
              </a:rPr>
              <a:t>su</a:t>
            </a:r>
            <a:r>
              <a:rPr dirty="0"/>
              <a:t> и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путают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повышения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b="1" dirty="0" err="1">
                <a:solidFill>
                  <a:srgbClr val="002060"/>
                </a:solidFill>
              </a:rPr>
              <a:t>su</a:t>
            </a:r>
            <a:r>
              <a:rPr dirty="0"/>
              <a:t> </a:t>
            </a:r>
            <a:r>
              <a:rPr dirty="0" err="1"/>
              <a:t>переключает</a:t>
            </a:r>
            <a:r>
              <a:rPr dirty="0"/>
              <a:t> </a:t>
            </a:r>
            <a:r>
              <a:rPr dirty="0" err="1"/>
              <a:t>текущую</a:t>
            </a:r>
            <a:r>
              <a:rPr dirty="0"/>
              <a:t> shell-</a:t>
            </a:r>
            <a:r>
              <a:rPr dirty="0" err="1"/>
              <a:t>сессию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отдельную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с </a:t>
            </a:r>
            <a:r>
              <a:rPr dirty="0" err="1"/>
              <a:t>повышенными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/>
              <a:t>В </a:t>
            </a:r>
            <a:r>
              <a:rPr dirty="0" err="1"/>
              <a:t>администрировании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безопаснее</a:t>
            </a:r>
            <a:r>
              <a:rPr dirty="0"/>
              <a:t> и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контролируется</a:t>
            </a:r>
            <a:r>
              <a:rPr dirty="0"/>
              <a:t> </a:t>
            </a:r>
            <a:r>
              <a:rPr dirty="0" err="1"/>
              <a:t>журналами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Команда 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switch user.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</a:t>
            </a:r>
            <a:r>
              <a:rPr b="1" dirty="0">
                <a:solidFill>
                  <a:srgbClr val="002060"/>
                </a:solidFill>
              </a:rPr>
              <a:t> -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 </a:t>
            </a:r>
            <a:r>
              <a:rPr dirty="0" err="1"/>
              <a:t>запускает</a:t>
            </a:r>
            <a:r>
              <a:rPr dirty="0"/>
              <a:t> login-shell и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выбранного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к </a:t>
            </a:r>
            <a:r>
              <a:rPr dirty="0" err="1"/>
              <a:t>которому</a:t>
            </a:r>
            <a:r>
              <a:rPr dirty="0"/>
              <a:t> </a:t>
            </a:r>
            <a:r>
              <a:rPr dirty="0" err="1"/>
              <a:t>переключаются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su</a:t>
            </a:r>
            <a:r>
              <a:rPr dirty="0"/>
              <a:t> - root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root, </a:t>
            </a:r>
            <a:r>
              <a:rPr dirty="0" err="1"/>
              <a:t>если</a:t>
            </a:r>
            <a:r>
              <a:rPr dirty="0"/>
              <a:t> root-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отключен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Команда sudo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с </a:t>
            </a:r>
            <a:r>
              <a:rPr dirty="0" err="1"/>
              <a:t>повышенными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apt update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вводит</a:t>
            </a:r>
            <a:r>
              <a:rPr dirty="0"/>
              <a:t> </a:t>
            </a:r>
            <a:r>
              <a:rPr dirty="0" err="1"/>
              <a:t>свой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настроен</a:t>
            </a:r>
            <a:r>
              <a:rPr dirty="0"/>
              <a:t> </a:t>
            </a:r>
            <a:r>
              <a:rPr dirty="0" err="1"/>
              <a:t>стандартно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определяются</a:t>
            </a:r>
            <a:r>
              <a:rPr dirty="0"/>
              <a:t> </a:t>
            </a:r>
            <a:r>
              <a:rPr dirty="0" err="1"/>
              <a:t>правилами</a:t>
            </a:r>
            <a:r>
              <a:rPr dirty="0"/>
              <a:t> </a:t>
            </a:r>
            <a:r>
              <a:rPr dirty="0" err="1"/>
              <a:t>sudoers</a:t>
            </a:r>
            <a:r>
              <a:rPr dirty="0"/>
              <a:t> и </a:t>
            </a:r>
            <a:r>
              <a:rPr dirty="0" err="1"/>
              <a:t>членством</a:t>
            </a:r>
            <a:r>
              <a:rPr dirty="0"/>
              <a:t> в </a:t>
            </a:r>
            <a:r>
              <a:rPr dirty="0" err="1"/>
              <a:t>группах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записываются</a:t>
            </a:r>
            <a:r>
              <a:rPr dirty="0"/>
              <a:t> в </a:t>
            </a:r>
            <a:r>
              <a:rPr dirty="0" err="1"/>
              <a:t>журналы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Добавление пользователя в sudo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в </a:t>
            </a:r>
            <a:r>
              <a:rPr dirty="0" err="1"/>
              <a:t>sudo-группу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usermod</a:t>
            </a:r>
            <a:r>
              <a:rPr b="1" dirty="0">
                <a:solidFill>
                  <a:srgbClr val="002060"/>
                </a:solidFill>
              </a:rPr>
              <a:t> -</a:t>
            </a:r>
            <a:r>
              <a:rPr b="1" dirty="0" err="1">
                <a:solidFill>
                  <a:srgbClr val="002060"/>
                </a:solidFill>
              </a:rPr>
              <a:t>aG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выйти</a:t>
            </a:r>
            <a:r>
              <a:rPr dirty="0"/>
              <a:t> и </a:t>
            </a:r>
            <a:r>
              <a:rPr dirty="0" err="1"/>
              <a:t>войти</a:t>
            </a:r>
            <a:r>
              <a:rPr dirty="0"/>
              <a:t> </a:t>
            </a:r>
            <a:r>
              <a:rPr dirty="0" err="1"/>
              <a:t>заново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Проверка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-l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ivanov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доступных sudo-прав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48061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-l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разрешены</a:t>
            </a:r>
            <a:r>
              <a:rPr dirty="0"/>
              <a:t> </a:t>
            </a:r>
            <a:r>
              <a:rPr dirty="0" err="1"/>
              <a:t>текущему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-l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ALL, </a:t>
            </a:r>
            <a:r>
              <a:rPr dirty="0" err="1"/>
              <a:t>ограниченный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запрет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,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сообщит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sudoers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A0726C-71DF-8274-BC68-93B867D3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1995"/>
            <a:ext cx="10648335" cy="232531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административных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и NOPASSWD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442913">
              <a:defRPr sz="3600"/>
            </a:pPr>
            <a:r>
              <a:rPr lang="ru-RU" dirty="0"/>
              <a:t>Зачем нужен </a:t>
            </a:r>
            <a:r>
              <a:rPr lang="ru-RU" dirty="0" err="1"/>
              <a:t>sudo</a:t>
            </a:r>
            <a:r>
              <a:rPr lang="ru-RU" dirty="0"/>
              <a:t>?</a:t>
            </a:r>
          </a:p>
          <a:p>
            <a:pPr indent="442913">
              <a:defRPr sz="3600"/>
            </a:pPr>
            <a:r>
              <a:rPr lang="ru-RU" dirty="0"/>
              <a:t>В Linux управление системой разделено на обычных пользователей (минимальные права) и суперпользователя </a:t>
            </a:r>
            <a:r>
              <a:rPr lang="ru-RU" dirty="0" err="1"/>
              <a:t>root</a:t>
            </a:r>
            <a:r>
              <a:rPr lang="ru-RU" dirty="0"/>
              <a:t> (абсолютные права).</a:t>
            </a:r>
          </a:p>
          <a:p>
            <a:pPr indent="442913">
              <a:defRPr sz="3600"/>
            </a:pPr>
            <a:r>
              <a:rPr lang="ru-RU" dirty="0"/>
              <a:t>По соображениям безопасности работать напрямую под </a:t>
            </a:r>
            <a:r>
              <a:rPr lang="ru-RU" dirty="0" err="1"/>
              <a:t>root</a:t>
            </a:r>
            <a:r>
              <a:rPr lang="ru-RU" dirty="0"/>
              <a:t> запрещено. Вместо этого используется утилита </a:t>
            </a:r>
            <a:r>
              <a:rPr lang="ru-RU" dirty="0" err="1"/>
              <a:t>sudo</a:t>
            </a:r>
            <a:r>
              <a:rPr lang="ru-RU" dirty="0"/>
              <a:t> (</a:t>
            </a:r>
            <a:r>
              <a:rPr lang="ru-RU" dirty="0" err="1"/>
              <a:t>Superuser</a:t>
            </a:r>
            <a:r>
              <a:rPr lang="ru-RU" dirty="0"/>
              <a:t> Do), которая позволяет обычному пользователю выполнять конкретные команды от имени администратора.</a:t>
            </a:r>
          </a:p>
          <a:p>
            <a:pPr indent="442913">
              <a:defRPr sz="3600"/>
            </a:pPr>
            <a:r>
              <a:rPr lang="ru-RU" dirty="0"/>
              <a:t>По умолчанию при вызове </a:t>
            </a:r>
            <a:r>
              <a:rPr lang="ru-RU" dirty="0" err="1"/>
              <a:t>sudo</a:t>
            </a:r>
            <a:r>
              <a:rPr lang="ru-RU" dirty="0"/>
              <a:t> система запрашивает пароль самого пользователя (не пароль </a:t>
            </a:r>
            <a:r>
              <a:rPr lang="ru-RU" dirty="0" err="1"/>
              <a:t>root</a:t>
            </a:r>
            <a:r>
              <a:rPr lang="ru-RU" dirty="0"/>
              <a:t>), чтобы подтвердить, что за терминалом находится именно он.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4628-AF51-AF02-6F0C-CA8D054F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528CA1-6C5A-0DE9-4A04-9CE798A7E51F}"/>
              </a:ext>
            </a:extLst>
          </p:cNvPr>
          <p:cNvSpPr txBox="1"/>
          <p:nvPr/>
        </p:nvSpPr>
        <p:spPr>
          <a:xfrm>
            <a:off x="457200" y="368710"/>
            <a:ext cx="10972800" cy="4085303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442913">
              <a:defRPr sz="3600"/>
            </a:pPr>
            <a:r>
              <a:rPr lang="ru-RU" dirty="0"/>
              <a:t>Главное правило редактирования: Утилита </a:t>
            </a:r>
            <a:r>
              <a:rPr lang="ru-RU" b="1" dirty="0" err="1">
                <a:solidFill>
                  <a:srgbClr val="002060"/>
                </a:solidFill>
              </a:rPr>
              <a:t>visudo</a:t>
            </a:r>
            <a:endParaRPr lang="ru-RU" b="1" dirty="0">
              <a:solidFill>
                <a:srgbClr val="002060"/>
              </a:solidFill>
            </a:endParaRPr>
          </a:p>
          <a:p>
            <a:pPr indent="442913">
              <a:defRPr sz="3600"/>
            </a:pPr>
            <a:r>
              <a:rPr lang="ru-RU" dirty="0"/>
              <a:t>Все настройки прав </a:t>
            </a:r>
            <a:r>
              <a:rPr lang="ru-RU" dirty="0" err="1"/>
              <a:t>sudo</a:t>
            </a:r>
            <a:r>
              <a:rPr lang="ru-RU" dirty="0"/>
              <a:t> хранятся в системном файле </a:t>
            </a:r>
            <a:r>
              <a:rPr lang="ru-RU" dirty="0">
                <a:solidFill>
                  <a:srgbClr val="002060"/>
                </a:solidFill>
              </a:rPr>
              <a:t>/</a:t>
            </a:r>
            <a:r>
              <a:rPr lang="ru-RU" dirty="0" err="1">
                <a:solidFill>
                  <a:srgbClr val="002060"/>
                </a:solidFill>
              </a:rPr>
              <a:t>etc</a:t>
            </a:r>
            <a:r>
              <a:rPr lang="ru-RU" dirty="0">
                <a:solidFill>
                  <a:srgbClr val="002060"/>
                </a:solidFill>
              </a:rPr>
              <a:t>/</a:t>
            </a:r>
            <a:r>
              <a:rPr lang="ru-RU" dirty="0" err="1">
                <a:solidFill>
                  <a:srgbClr val="002060"/>
                </a:solidFill>
              </a:rPr>
              <a:t>sudoers</a:t>
            </a:r>
            <a:r>
              <a:rPr lang="ru-RU" dirty="0"/>
              <a:t>.</a:t>
            </a:r>
          </a:p>
          <a:p>
            <a:pPr indent="442913">
              <a:defRPr sz="3600"/>
            </a:pPr>
            <a:r>
              <a:rPr lang="ru-RU" dirty="0"/>
              <a:t>Критически важное правило: Никогда не открывайте этот файл обычными редакторами вроде </a:t>
            </a:r>
            <a:r>
              <a:rPr lang="ru-RU" dirty="0" err="1"/>
              <a:t>nano</a:t>
            </a:r>
            <a:r>
              <a:rPr lang="ru-RU" dirty="0"/>
              <a:t> или </a:t>
            </a:r>
            <a:r>
              <a:rPr lang="ru-RU" dirty="0" err="1"/>
              <a:t>vim</a:t>
            </a:r>
            <a:r>
              <a:rPr lang="ru-RU" dirty="0"/>
              <a:t> напрямую (</a:t>
            </a:r>
            <a:r>
              <a:rPr lang="ru-RU" dirty="0" err="1"/>
              <a:t>nano</a:t>
            </a:r>
            <a:r>
              <a:rPr lang="ru-RU" dirty="0"/>
              <a:t>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sudoers</a:t>
            </a:r>
            <a:r>
              <a:rPr lang="ru-RU" dirty="0"/>
              <a:t>). Если вы допустите хотя бы одну синтаксическую ошибку (пропустите пробел или букву), система заблокирует </a:t>
            </a:r>
            <a:r>
              <a:rPr lang="ru-RU" dirty="0" err="1"/>
              <a:t>sudo</a:t>
            </a:r>
            <a:r>
              <a:rPr lang="ru-RU" dirty="0"/>
              <a:t> для всех пользователей, и вы потеряете административный доступ к серверу.</a:t>
            </a:r>
          </a:p>
          <a:p>
            <a:pPr indent="442913">
              <a:defRPr sz="3600"/>
            </a:pPr>
            <a:r>
              <a:rPr lang="ru-RU" dirty="0"/>
              <a:t>Для безопасного изменения настроек используется специальная команда:</a:t>
            </a:r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C81172-4160-3250-D2A6-E0BA214E9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3695028"/>
            <a:ext cx="10099726" cy="827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2898C7-8407-613C-EF57-BB9309CAC4AA}"/>
              </a:ext>
            </a:extLst>
          </p:cNvPr>
          <p:cNvSpPr txBox="1"/>
          <p:nvPr/>
        </p:nvSpPr>
        <p:spPr>
          <a:xfrm>
            <a:off x="457200" y="4883388"/>
            <a:ext cx="10972800" cy="148791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442913">
              <a:defRPr sz="3600"/>
            </a:pPr>
            <a:r>
              <a:rPr lang="ru-RU" dirty="0"/>
              <a:t>Как это работает: </a:t>
            </a:r>
            <a:r>
              <a:rPr lang="ru-RU" dirty="0" err="1"/>
              <a:t>visudo</a:t>
            </a:r>
            <a:r>
              <a:rPr lang="ru-RU" dirty="0"/>
              <a:t> открывает файл во временном буфере. При сохранении утилита автоматически проверяет синтаксис на ошибки. Если вы ошиблись, она не запишет файл в систему и выдаст предупреждение, защищая сервер от сбоя.</a:t>
            </a:r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540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5D64-AEBB-6167-2E34-21CB2CC6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2C537-28D2-DB97-2EEC-0549669F5D54}"/>
              </a:ext>
            </a:extLst>
          </p:cNvPr>
          <p:cNvSpPr txBox="1"/>
          <p:nvPr/>
        </p:nvSpPr>
        <p:spPr>
          <a:xfrm>
            <a:off x="457200" y="368710"/>
            <a:ext cx="10972800" cy="6268064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442913" algn="ctr">
              <a:defRPr sz="3600"/>
            </a:pPr>
            <a:r>
              <a:rPr lang="ru-RU" b="1" dirty="0"/>
              <a:t>Синтаксис правил в файле </a:t>
            </a:r>
            <a:r>
              <a:rPr lang="ru-RU" b="1" dirty="0" err="1"/>
              <a:t>sudoers</a:t>
            </a:r>
            <a:endParaRPr lang="ru-RU" b="1" dirty="0"/>
          </a:p>
          <a:p>
            <a:pPr indent="442913">
              <a:defRPr sz="3600"/>
            </a:pPr>
            <a:r>
              <a:rPr lang="ru-RU" dirty="0"/>
              <a:t>Стандартная строка конфигурации прав имеет следующий формат:</a:t>
            </a:r>
          </a:p>
          <a:p>
            <a:pPr indent="442913">
              <a:defRPr sz="3600"/>
            </a:pPr>
            <a:r>
              <a:rPr lang="ru-RU" b="1" dirty="0">
                <a:solidFill>
                  <a:srgbClr val="002060"/>
                </a:solidFill>
              </a:rPr>
              <a:t>кто где=(</a:t>
            </a:r>
            <a:r>
              <a:rPr lang="ru-RU" b="1" dirty="0" err="1">
                <a:solidFill>
                  <a:srgbClr val="002060"/>
                </a:solidFill>
              </a:rPr>
              <a:t>от_кого</a:t>
            </a:r>
            <a:r>
              <a:rPr lang="ru-RU" b="1" dirty="0">
                <a:solidFill>
                  <a:srgbClr val="002060"/>
                </a:solidFill>
              </a:rPr>
              <a:t>) что</a:t>
            </a:r>
          </a:p>
          <a:p>
            <a:pPr indent="442913">
              <a:defRPr sz="3600"/>
            </a:pPr>
            <a:r>
              <a:rPr lang="ru-RU" dirty="0"/>
              <a:t>Пример:</a:t>
            </a:r>
          </a:p>
          <a:p>
            <a:pPr indent="4429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viktor</a:t>
            </a:r>
            <a:r>
              <a:rPr lang="ru-RU" b="1" dirty="0">
                <a:solidFill>
                  <a:srgbClr val="002060"/>
                </a:solidFill>
              </a:rPr>
              <a:t>    ALL=(ALL:ALL) ALL</a:t>
            </a:r>
          </a:p>
          <a:p>
            <a:pPr indent="442913">
              <a:defRPr sz="3600"/>
            </a:pPr>
            <a:r>
              <a:rPr lang="ru-RU" dirty="0" err="1"/>
              <a:t>viktor</a:t>
            </a:r>
            <a:r>
              <a:rPr lang="ru-RU" dirty="0"/>
              <a:t> — имя пользователя, которому даются права. (Если строка начинается со знака процента %</a:t>
            </a:r>
            <a:r>
              <a:rPr lang="ru-RU" dirty="0" err="1"/>
              <a:t>sudo</a:t>
            </a:r>
            <a:r>
              <a:rPr lang="ru-RU" dirty="0"/>
              <a:t>, это означает, что правило применяется ко всей группе пользователей </a:t>
            </a:r>
            <a:r>
              <a:rPr lang="ru-RU" dirty="0" err="1"/>
              <a:t>sudo</a:t>
            </a:r>
            <a:r>
              <a:rPr lang="ru-RU" dirty="0"/>
              <a:t>).</a:t>
            </a:r>
          </a:p>
          <a:p>
            <a:pPr indent="442913">
              <a:defRPr sz="3600"/>
            </a:pPr>
            <a:r>
              <a:rPr lang="ru-RU" dirty="0"/>
              <a:t>ALL= (первый) — на каких хостах (компьютерах) действует правило. ALL означает на всех.</a:t>
            </a:r>
          </a:p>
          <a:p>
            <a:pPr indent="442913">
              <a:defRPr sz="3600"/>
            </a:pPr>
            <a:r>
              <a:rPr lang="ru-RU" dirty="0"/>
              <a:t>(ALL:ALL) — от имени какого пользователя и группы можно запускать команды. ALL:ALL позволяет маскироваться под любого юзера или группу в системе.</a:t>
            </a:r>
          </a:p>
          <a:p>
            <a:pPr indent="442913">
              <a:defRPr sz="3600"/>
            </a:pPr>
            <a:r>
              <a:rPr lang="ru-RU" dirty="0"/>
              <a:t>ALL (последний) — список разрешенных команд. ALL означает выполнение абсолютно любых команд.</a:t>
            </a:r>
          </a:p>
          <a:p>
            <a:pPr indent="442913"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77072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5008-F94E-041F-4F6B-C59E4072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8A6EB-F96F-B306-9C7A-74638512A0F7}"/>
              </a:ext>
            </a:extLst>
          </p:cNvPr>
          <p:cNvSpPr txBox="1"/>
          <p:nvPr/>
        </p:nvSpPr>
        <p:spPr>
          <a:xfrm>
            <a:off x="457200" y="368710"/>
            <a:ext cx="10972800" cy="575777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442913">
              <a:defRPr sz="3600"/>
            </a:pPr>
            <a:r>
              <a:rPr lang="ru-RU" dirty="0"/>
              <a:t>Механизм </a:t>
            </a:r>
            <a:r>
              <a:rPr lang="ru-RU" b="1" dirty="0"/>
              <a:t>NOPASSWD</a:t>
            </a:r>
            <a:r>
              <a:rPr lang="ru-RU" dirty="0"/>
              <a:t>: Зачем и как настраивать?</a:t>
            </a:r>
          </a:p>
          <a:p>
            <a:pPr indent="442913">
              <a:defRPr sz="3600"/>
            </a:pPr>
            <a:r>
              <a:rPr lang="ru-RU" dirty="0"/>
              <a:t>NOPASSWD — это специальная директива, которая указывает системе не запрашивать пароль при выполнении команд через </a:t>
            </a:r>
            <a:r>
              <a:rPr lang="ru-RU" dirty="0" err="1"/>
              <a:t>sudo</a:t>
            </a:r>
            <a:r>
              <a:rPr lang="ru-RU" dirty="0"/>
              <a:t>.</a:t>
            </a:r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r>
              <a:rPr lang="ru-RU" b="1" dirty="0"/>
              <a:t>Когда это нужно?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автоматизации и скриптов: Если ваш </a:t>
            </a:r>
            <a:r>
              <a:rPr lang="ru-RU" dirty="0" err="1"/>
              <a:t>bash</a:t>
            </a:r>
            <a:r>
              <a:rPr lang="ru-RU" dirty="0"/>
              <a:t>-скрипт должен перезапустить службу или сделать бэкап по расписанию (</a:t>
            </a:r>
            <a:r>
              <a:rPr lang="ru-RU" dirty="0" err="1"/>
              <a:t>cron</a:t>
            </a:r>
            <a:r>
              <a:rPr lang="ru-RU" dirty="0"/>
              <a:t>), он не сможет сам ввести пароль в интерактивном окне.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Для удобства сисадмина: В безопасных учебных или изолированных тестовых средах, чтобы сэкономить время на постоянном вводе пароля.</a:t>
            </a:r>
          </a:p>
          <a:p>
            <a:pPr indent="442913"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17800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118C8-E8E1-8FC8-F61C-92FF7D55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D40A10-5D4B-5CF7-085F-41ABF4C3B5FC}"/>
              </a:ext>
            </a:extLst>
          </p:cNvPr>
          <p:cNvSpPr txBox="1"/>
          <p:nvPr/>
        </p:nvSpPr>
        <p:spPr>
          <a:xfrm>
            <a:off x="457200" y="368710"/>
            <a:ext cx="10972800" cy="6341806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defRPr sz="3600"/>
            </a:pPr>
            <a:r>
              <a:rPr lang="ru-RU" b="1" dirty="0"/>
              <a:t>Примеры настройки:</a:t>
            </a:r>
          </a:p>
          <a:p>
            <a:pPr>
              <a:defRPr sz="3600"/>
            </a:pPr>
            <a:r>
              <a:rPr lang="ru-RU" dirty="0"/>
              <a:t>Вариант 1. Полный доступ без пароля (для пользователя)</a:t>
            </a:r>
          </a:p>
          <a:p>
            <a:pPr>
              <a:defRPr sz="3600"/>
            </a:pPr>
            <a:r>
              <a:rPr lang="ru-RU" dirty="0"/>
              <a:t>Разрешить пользователю </a:t>
            </a:r>
            <a:r>
              <a:rPr lang="ru-RU" dirty="0" err="1"/>
              <a:t>ivanov</a:t>
            </a:r>
            <a:r>
              <a:rPr lang="ru-RU" dirty="0"/>
              <a:t> выполнять абсолютно любые команды без ввода пароля: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ivanov</a:t>
            </a:r>
            <a:r>
              <a:rPr lang="ru-RU" b="1" dirty="0">
                <a:solidFill>
                  <a:srgbClr val="002060"/>
                </a:solidFill>
              </a:rPr>
              <a:t>    ALL=(ALL:ALL) NOPASSWD: ALL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Вариант 2. Полный доступ без пароля (для группы)</a:t>
            </a:r>
          </a:p>
          <a:p>
            <a:pPr>
              <a:defRPr sz="3600"/>
            </a:pPr>
            <a:r>
              <a:rPr lang="ru-RU" dirty="0"/>
              <a:t>Разрешить всем пользователям, состоящим в группе </a:t>
            </a:r>
            <a:r>
              <a:rPr lang="ru-RU" dirty="0" err="1"/>
              <a:t>wheel</a:t>
            </a:r>
            <a:r>
              <a:rPr lang="ru-RU" dirty="0"/>
              <a:t> или </a:t>
            </a:r>
            <a:r>
              <a:rPr lang="ru-RU" dirty="0" err="1"/>
              <a:t>sudo</a:t>
            </a:r>
            <a:r>
              <a:rPr lang="ru-RU" dirty="0"/>
              <a:t>, работать без ввода пароля: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%</a:t>
            </a: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    ALL=(ALL:ALL) NOPASSWD: </a:t>
            </a:r>
            <a:r>
              <a:rPr lang="ru-RU" dirty="0"/>
              <a:t>ALL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Вариант 3. Ограниченный доступ без пароля (наиболее безопасный)</a:t>
            </a:r>
          </a:p>
          <a:p>
            <a:pPr>
              <a:defRPr sz="3600"/>
            </a:pPr>
            <a:r>
              <a:rPr lang="ru-RU" dirty="0"/>
              <a:t>Принцип наименьших привилегий. Разрешить пользователю </a:t>
            </a:r>
            <a:r>
              <a:rPr lang="ru-RU" dirty="0" err="1"/>
              <a:t>petrov</a:t>
            </a:r>
            <a:r>
              <a:rPr lang="ru-RU" dirty="0"/>
              <a:t> без пароля выполнять только одну конкретную команду — перезапуск веб-сервера </a:t>
            </a:r>
            <a:r>
              <a:rPr lang="ru-RU" dirty="0" err="1"/>
              <a:t>Nginx</a:t>
            </a:r>
            <a:r>
              <a:rPr lang="ru-RU" dirty="0"/>
              <a:t>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petrov</a:t>
            </a:r>
            <a:r>
              <a:rPr lang="ru-RU" b="1" dirty="0">
                <a:solidFill>
                  <a:srgbClr val="002060"/>
                </a:solidFill>
              </a:rPr>
              <a:t>    ALL=(ALL:ALL) NOPASSWD: /</a:t>
            </a:r>
            <a:r>
              <a:rPr lang="ru-RU" b="1" dirty="0" err="1">
                <a:solidFill>
                  <a:srgbClr val="002060"/>
                </a:solidFill>
              </a:rPr>
              <a:t>usr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sbin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ru-RU" b="1" dirty="0" err="1">
                <a:solidFill>
                  <a:srgbClr val="002060"/>
                </a:solidFill>
              </a:rPr>
              <a:t>systemctl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restart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nginx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dirty="0"/>
              <a:t>Если </a:t>
            </a:r>
            <a:r>
              <a:rPr lang="ru-RU" dirty="0" err="1"/>
              <a:t>petrov</a:t>
            </a:r>
            <a:r>
              <a:rPr lang="ru-RU" dirty="0"/>
              <a:t> попытается выполнить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systemctl</a:t>
            </a:r>
            <a:r>
              <a:rPr lang="ru-RU" dirty="0"/>
              <a:t> </a:t>
            </a:r>
            <a:r>
              <a:rPr lang="ru-RU" dirty="0" err="1"/>
              <a:t>stop</a:t>
            </a:r>
            <a:r>
              <a:rPr lang="ru-RU" dirty="0"/>
              <a:t> </a:t>
            </a:r>
            <a:r>
              <a:rPr lang="ru-RU" dirty="0" err="1"/>
              <a:t>nginx</a:t>
            </a:r>
            <a:r>
              <a:rPr lang="ru-RU" dirty="0"/>
              <a:t> или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cat</a:t>
            </a:r>
            <a:r>
              <a:rPr lang="ru-RU" dirty="0"/>
              <a:t>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shadow</a:t>
            </a:r>
            <a:r>
              <a:rPr lang="ru-RU" dirty="0"/>
              <a:t>, система либо запросит пароль, либо заблокирует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26650540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EE10-72E3-A20A-AEC4-7D50195B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616DB1-F4F1-4CEC-5E80-888BBD57627B}"/>
              </a:ext>
            </a:extLst>
          </p:cNvPr>
          <p:cNvSpPr txBox="1"/>
          <p:nvPr/>
        </p:nvSpPr>
        <p:spPr>
          <a:xfrm>
            <a:off x="457200" y="368710"/>
            <a:ext cx="10972800" cy="575777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/>
              <a:t>Пошаговый алгоритм: Как применить настройки на практике</a:t>
            </a:r>
          </a:p>
          <a:p>
            <a:pPr>
              <a:defRPr sz="3600"/>
            </a:pPr>
            <a:r>
              <a:rPr lang="ru-RU" dirty="0"/>
              <a:t>Откройте терминал и запустите безопасный редактор: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sudo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visudo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Прокрутите файл в самый конец (новые правила должны быть ниже стандартных, чтобы переопределять их).</a:t>
            </a:r>
          </a:p>
          <a:p>
            <a:pPr>
              <a:defRPr sz="3600"/>
            </a:pPr>
            <a:r>
              <a:rPr lang="ru-RU" dirty="0"/>
              <a:t>Допишите нужную строку, например: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student</a:t>
            </a:r>
            <a:r>
              <a:rPr lang="ru-RU" b="1" dirty="0">
                <a:solidFill>
                  <a:srgbClr val="002060"/>
                </a:solidFill>
              </a:rPr>
              <a:t> ALL=(ALL:ALL) NOPASSWD: ALL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Сохраните файл (</a:t>
            </a:r>
            <a:r>
              <a:rPr lang="ru-RU" dirty="0" err="1"/>
              <a:t>Ctrl+O</a:t>
            </a:r>
            <a:r>
              <a:rPr lang="ru-RU" dirty="0"/>
              <a:t> -&gt; Enter в </a:t>
            </a:r>
            <a:r>
              <a:rPr lang="ru-RU" dirty="0" err="1"/>
              <a:t>nano</a:t>
            </a:r>
            <a:r>
              <a:rPr lang="ru-RU" dirty="0"/>
              <a:t>) и выберитесь (</a:t>
            </a:r>
            <a:r>
              <a:rPr lang="ru-RU" dirty="0" err="1"/>
              <a:t>Ctrl+X</a:t>
            </a:r>
            <a:r>
              <a:rPr lang="ru-RU" dirty="0"/>
              <a:t>).</a:t>
            </a:r>
          </a:p>
          <a:p>
            <a:pPr>
              <a:defRPr sz="3600"/>
            </a:pPr>
            <a:r>
              <a:rPr lang="ru-RU" dirty="0"/>
              <a:t>Проверить работу можно, сбросив кэш паролей </a:t>
            </a:r>
            <a:r>
              <a:rPr lang="ru-RU" dirty="0" err="1"/>
              <a:t>sudo</a:t>
            </a:r>
            <a:r>
              <a:rPr lang="ru-RU" dirty="0"/>
              <a:t> командой </a:t>
            </a:r>
            <a:r>
              <a:rPr lang="ru-RU" dirty="0" err="1"/>
              <a:t>sudo</a:t>
            </a:r>
            <a:r>
              <a:rPr lang="ru-RU" dirty="0"/>
              <a:t> -k, а затем выполнив любую административную команду (например,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ip</a:t>
            </a:r>
            <a:r>
              <a:rPr lang="ru-RU" dirty="0"/>
              <a:t> </a:t>
            </a:r>
            <a:r>
              <a:rPr lang="ru-RU" dirty="0" err="1"/>
              <a:t>address</a:t>
            </a:r>
            <a:r>
              <a:rPr lang="ru-RU" dirty="0"/>
              <a:t>). Пароль запрашиваться не должен.</a:t>
            </a:r>
          </a:p>
        </p:txBody>
      </p:sp>
    </p:spTree>
    <p:extLst>
      <p:ext uri="{BB962C8B-B14F-4D97-AF65-F5344CB8AC3E}">
        <p14:creationId xmlns:p14="http://schemas.microsoft.com/office/powerpoint/2010/main" val="275579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sudoers</a:t>
            </a:r>
            <a:r>
              <a:rPr dirty="0"/>
              <a:t> и </a:t>
            </a:r>
            <a:r>
              <a:rPr dirty="0" err="1"/>
              <a:t>риск</a:t>
            </a:r>
            <a:r>
              <a:rPr dirty="0"/>
              <a:t> NOPASSWD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671D3D-2DB2-BB45-EE43-B8BC34D5A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Безопасное редактирование sudoers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sudoers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редактировать</a:t>
            </a:r>
            <a:r>
              <a:rPr dirty="0"/>
              <a:t> </a:t>
            </a:r>
            <a:r>
              <a:rPr dirty="0" err="1"/>
              <a:t>обычным</a:t>
            </a:r>
            <a:r>
              <a:rPr dirty="0"/>
              <a:t> </a:t>
            </a:r>
            <a:r>
              <a:rPr dirty="0" err="1"/>
              <a:t>текстовым</a:t>
            </a:r>
            <a:r>
              <a:rPr dirty="0"/>
              <a:t> </a:t>
            </a:r>
            <a:r>
              <a:rPr dirty="0" err="1"/>
              <a:t>редактором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Правильная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visudo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visudo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сохранением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sudoers.d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такие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строгими</a:t>
            </a:r>
            <a:r>
              <a:rPr dirty="0"/>
              <a:t>: </a:t>
            </a:r>
            <a:r>
              <a:rPr dirty="0" err="1"/>
              <a:t>обычно</a:t>
            </a:r>
            <a:r>
              <a:rPr dirty="0"/>
              <a:t> 0440.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Ограниченное sudo-правило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Иногда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разрешить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административную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: </a:t>
            </a:r>
            <a:r>
              <a:rPr dirty="0" err="1"/>
              <a:t>ivanov</a:t>
            </a:r>
            <a:r>
              <a:rPr dirty="0"/>
              <a:t> ALL=(root) /</a:t>
            </a:r>
            <a:r>
              <a:rPr dirty="0" err="1"/>
              <a:t>usr</a:t>
            </a:r>
            <a:r>
              <a:rPr dirty="0"/>
              <a:t>/bin/</a:t>
            </a:r>
            <a:r>
              <a:rPr dirty="0" err="1"/>
              <a:t>systemctl</a:t>
            </a:r>
            <a:r>
              <a:rPr dirty="0"/>
              <a:t> restart nginx.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безопаснее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выдавать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ALL.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-l.</a:t>
            </a:r>
          </a:p>
          <a:p>
            <a:pPr indent="354013">
              <a:defRPr sz="3600"/>
            </a:pP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команде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полным</a:t>
            </a:r>
            <a:r>
              <a:rPr dirty="0"/>
              <a:t>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сработать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ожидается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NOPASSWD опасен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NOPASSWD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sudo-команду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</a:t>
            </a:r>
            <a:r>
              <a:rPr dirty="0" err="1"/>
              <a:t>пароля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учетная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скомпрометированы</a:t>
            </a:r>
            <a:r>
              <a:rPr dirty="0"/>
              <a:t>,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выполнится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NOPASSWD </a:t>
            </a:r>
            <a:r>
              <a:rPr dirty="0" err="1"/>
              <a:t>допустим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узких</a:t>
            </a:r>
            <a:r>
              <a:rPr dirty="0"/>
              <a:t> </a:t>
            </a:r>
            <a:r>
              <a:rPr dirty="0" err="1"/>
              <a:t>сценариев</a:t>
            </a:r>
            <a:r>
              <a:rPr dirty="0"/>
              <a:t> и </a:t>
            </a:r>
            <a:r>
              <a:rPr dirty="0" err="1"/>
              <a:t>конкретных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Правило NOPASSWD: ALL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плохая</a:t>
            </a:r>
            <a:r>
              <a:rPr dirty="0"/>
              <a:t> </a:t>
            </a:r>
            <a:r>
              <a:rPr dirty="0" err="1"/>
              <a:t>идея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Итоговый алгоритм работы с учетной записью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Определить</a:t>
            </a:r>
            <a:r>
              <a:rPr dirty="0"/>
              <a:t>,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adduser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точной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и </a:t>
            </a:r>
            <a:r>
              <a:rPr dirty="0" err="1"/>
              <a:t>скриптов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задать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, </a:t>
            </a:r>
            <a:r>
              <a:rPr dirty="0" err="1"/>
              <a:t>проверить</a:t>
            </a:r>
            <a:r>
              <a:rPr dirty="0"/>
              <a:t> passwd, id и home.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и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нужные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и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-l.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в Linux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именем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UID, GID, home, shell и </a:t>
            </a:r>
            <a:r>
              <a:rPr dirty="0" err="1"/>
              <a:t>группами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useradd</a:t>
            </a:r>
            <a:r>
              <a:rPr dirty="0"/>
              <a:t> и </a:t>
            </a:r>
            <a:r>
              <a:rPr dirty="0" err="1"/>
              <a:t>adduser</a:t>
            </a:r>
            <a:r>
              <a:rPr dirty="0"/>
              <a:t> </a:t>
            </a:r>
            <a:r>
              <a:rPr dirty="0" err="1"/>
              <a:t>решают</a:t>
            </a:r>
            <a:r>
              <a:rPr dirty="0"/>
              <a:t> </a:t>
            </a:r>
            <a:r>
              <a:rPr dirty="0" err="1"/>
              <a:t>похожую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уровнях</a:t>
            </a:r>
            <a:r>
              <a:rPr dirty="0"/>
              <a:t> </a:t>
            </a:r>
            <a:r>
              <a:rPr dirty="0" err="1"/>
              <a:t>удобства</a:t>
            </a:r>
            <a:r>
              <a:rPr dirty="0"/>
              <a:t> и </a:t>
            </a:r>
            <a:r>
              <a:rPr dirty="0" err="1"/>
              <a:t>контроля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управляемого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а </a:t>
            </a:r>
            <a:r>
              <a:rPr dirty="0" err="1"/>
              <a:t>sudo</a:t>
            </a:r>
            <a:r>
              <a:rPr dirty="0"/>
              <a:t> —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контролируемого</a:t>
            </a:r>
            <a:r>
              <a:rPr dirty="0"/>
              <a:t> </a:t>
            </a:r>
            <a:r>
              <a:rPr dirty="0" err="1"/>
              <a:t>повышения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Любое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завершать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id, </a:t>
            </a:r>
            <a:r>
              <a:rPr dirty="0" err="1"/>
              <a:t>getent</a:t>
            </a:r>
            <a:r>
              <a:rPr dirty="0"/>
              <a:t>, </a:t>
            </a:r>
            <a:r>
              <a:rPr dirty="0" err="1"/>
              <a:t>sudo</a:t>
            </a:r>
            <a:r>
              <a:rPr dirty="0"/>
              <a:t> -l и </a:t>
            </a:r>
            <a:r>
              <a:rPr dirty="0" err="1"/>
              <a:t>тестовый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системного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root </a:t>
            </a:r>
            <a:r>
              <a:rPr dirty="0" err="1"/>
              <a:t>опасно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постоянной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означают</a:t>
            </a:r>
            <a:r>
              <a:rPr dirty="0"/>
              <a:t> UID и GID?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adduser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passwd?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 -</a:t>
            </a:r>
            <a:r>
              <a:rPr dirty="0" err="1"/>
              <a:t>aG</a:t>
            </a:r>
            <a:r>
              <a:rPr dirty="0"/>
              <a:t> </a:t>
            </a:r>
            <a:r>
              <a:rPr dirty="0" err="1"/>
              <a:t>безопаснее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 -G </a:t>
            </a:r>
            <a:r>
              <a:rPr dirty="0" err="1"/>
              <a:t>без</a:t>
            </a:r>
            <a:r>
              <a:rPr dirty="0"/>
              <a:t> -a?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NOPASSWD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применять</a:t>
            </a:r>
            <a:r>
              <a:rPr dirty="0"/>
              <a:t> </a:t>
            </a:r>
            <a:r>
              <a:rPr dirty="0" err="1"/>
              <a:t>очень</a:t>
            </a:r>
            <a:r>
              <a:rPr dirty="0"/>
              <a:t> </a:t>
            </a:r>
            <a:r>
              <a:rPr dirty="0" err="1"/>
              <a:t>осторожно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3709</Words>
  <Application>Microsoft Office PowerPoint</Application>
  <PresentationFormat>Широкоэкранный</PresentationFormat>
  <Paragraphs>373</Paragraphs>
  <Slides>67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2026-07-04T12:10:54Z</dcterms:modified>
  <cp:category/>
</cp:coreProperties>
</file>