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31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304" r:id="rId10"/>
    <p:sldId id="265" r:id="rId11"/>
    <p:sldId id="266" r:id="rId12"/>
    <p:sldId id="267" r:id="rId13"/>
    <p:sldId id="332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305" r:id="rId22"/>
    <p:sldId id="306" r:id="rId23"/>
    <p:sldId id="275" r:id="rId24"/>
    <p:sldId id="278" r:id="rId25"/>
    <p:sldId id="279" r:id="rId26"/>
    <p:sldId id="280" r:id="rId27"/>
    <p:sldId id="281" r:id="rId28"/>
    <p:sldId id="282" r:id="rId29"/>
    <p:sldId id="307" r:id="rId30"/>
    <p:sldId id="283" r:id="rId31"/>
    <p:sldId id="284" r:id="rId32"/>
    <p:sldId id="308" r:id="rId33"/>
    <p:sldId id="285" r:id="rId34"/>
    <p:sldId id="286" r:id="rId35"/>
    <p:sldId id="287" r:id="rId36"/>
    <p:sldId id="309" r:id="rId37"/>
    <p:sldId id="288" r:id="rId38"/>
    <p:sldId id="310" r:id="rId39"/>
    <p:sldId id="311" r:id="rId40"/>
    <p:sldId id="312" r:id="rId41"/>
    <p:sldId id="313" r:id="rId42"/>
    <p:sldId id="314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315" r:id="rId51"/>
    <p:sldId id="296" r:id="rId52"/>
    <p:sldId id="316" r:id="rId53"/>
    <p:sldId id="297" r:id="rId54"/>
    <p:sldId id="298" r:id="rId55"/>
    <p:sldId id="299" r:id="rId56"/>
    <p:sldId id="318" r:id="rId57"/>
    <p:sldId id="317" r:id="rId58"/>
    <p:sldId id="319" r:id="rId59"/>
    <p:sldId id="320" r:id="rId60"/>
    <p:sldId id="321" r:id="rId61"/>
    <p:sldId id="322" r:id="rId62"/>
    <p:sldId id="323" r:id="rId63"/>
    <p:sldId id="324" r:id="rId64"/>
    <p:sldId id="325" r:id="rId65"/>
    <p:sldId id="326" r:id="rId66"/>
    <p:sldId id="327" r:id="rId67"/>
    <p:sldId id="300" r:id="rId68"/>
    <p:sldId id="334" r:id="rId69"/>
    <p:sldId id="335" r:id="rId70"/>
    <p:sldId id="333" r:id="rId71"/>
    <p:sldId id="336" r:id="rId72"/>
    <p:sldId id="301" r:id="rId73"/>
    <p:sldId id="328" r:id="rId74"/>
    <p:sldId id="329" r:id="rId75"/>
    <p:sldId id="330" r:id="rId76"/>
    <p:sldId id="302" r:id="rId77"/>
    <p:sldId id="303" r:id="rId7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72C23-F884-E49D-0AAC-96D42AF22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377A7C-5782-A69C-6159-3A8682ACC7D8}"/>
              </a:ext>
            </a:extLst>
          </p:cNvPr>
          <p:cNvSpPr txBox="1"/>
          <p:nvPr/>
        </p:nvSpPr>
        <p:spPr>
          <a:xfrm>
            <a:off x="476373" y="2502895"/>
            <a:ext cx="11269047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3600" b="1" dirty="0" err="1">
                <a:solidFill>
                  <a:srgbClr val="002060"/>
                </a:solidFill>
              </a:rPr>
              <a:t>Лекция</a:t>
            </a:r>
            <a:r>
              <a:rPr sz="3600" b="1" dirty="0">
                <a:solidFill>
                  <a:srgbClr val="002060"/>
                </a:solidFill>
              </a:rPr>
              <a:t> 1. </a:t>
            </a:r>
            <a:endParaRPr lang="en-US" sz="3600" b="1" dirty="0">
              <a:solidFill>
                <a:srgbClr val="002060"/>
              </a:solidFill>
            </a:endParaRPr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3600" b="1" dirty="0">
                <a:solidFill>
                  <a:srgbClr val="002060"/>
                </a:solidFill>
              </a:rPr>
              <a:t>Linux </a:t>
            </a:r>
            <a:r>
              <a:rPr sz="3600" b="1" dirty="0" err="1">
                <a:solidFill>
                  <a:srgbClr val="002060"/>
                </a:solidFill>
              </a:rPr>
              <a:t>как</a:t>
            </a:r>
            <a:r>
              <a:rPr sz="3600" b="1" dirty="0">
                <a:solidFill>
                  <a:srgbClr val="002060"/>
                </a:solidFill>
              </a:rPr>
              <a:t> </a:t>
            </a:r>
            <a:r>
              <a:rPr sz="3600" b="1" dirty="0" err="1">
                <a:solidFill>
                  <a:srgbClr val="002060"/>
                </a:solidFill>
              </a:rPr>
              <a:t>серверная</a:t>
            </a:r>
            <a:r>
              <a:rPr sz="3600" b="1" dirty="0">
                <a:solidFill>
                  <a:srgbClr val="002060"/>
                </a:solidFill>
              </a:rPr>
              <a:t> ОС и </a:t>
            </a:r>
            <a:r>
              <a:rPr sz="3600" b="1" dirty="0" err="1">
                <a:solidFill>
                  <a:srgbClr val="002060"/>
                </a:solidFill>
              </a:rPr>
              <a:t>первичная</a:t>
            </a:r>
            <a:r>
              <a:rPr sz="3600" b="1" dirty="0">
                <a:solidFill>
                  <a:srgbClr val="002060"/>
                </a:solidFill>
              </a:rPr>
              <a:t> </a:t>
            </a:r>
            <a:r>
              <a:rPr sz="3600" b="1" dirty="0" err="1">
                <a:solidFill>
                  <a:srgbClr val="002060"/>
                </a:solidFill>
              </a:rPr>
              <a:t>проверка</a:t>
            </a:r>
            <a:r>
              <a:rPr sz="3600" b="1" dirty="0">
                <a:solidFill>
                  <a:srgbClr val="002060"/>
                </a:solidFill>
              </a:rPr>
              <a:t> </a:t>
            </a:r>
            <a:r>
              <a:rPr sz="3600" b="1" dirty="0" err="1">
                <a:solidFill>
                  <a:srgbClr val="002060"/>
                </a:solidFill>
              </a:rPr>
              <a:t>системы</a:t>
            </a:r>
            <a:endParaRPr sz="3600" b="1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B61759-9CEE-7F8A-59CA-F43845F77941}"/>
              </a:ext>
            </a:extLst>
          </p:cNvPr>
          <p:cNvSpPr txBox="1"/>
          <p:nvPr/>
        </p:nvSpPr>
        <p:spPr>
          <a:xfrm>
            <a:off x="506510" y="483747"/>
            <a:ext cx="11208774" cy="12860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600"/>
            </a:pPr>
            <a:r>
              <a:rPr b="1" dirty="0">
                <a:solidFill>
                  <a:srgbClr val="002060"/>
                </a:solidFill>
              </a:rPr>
              <a:t>РО 1.3. Базовое </a:t>
            </a:r>
            <a:r>
              <a:rPr b="1" dirty="0" err="1">
                <a:solidFill>
                  <a:srgbClr val="002060"/>
                </a:solidFill>
              </a:rPr>
              <a:t>администрирование</a:t>
            </a:r>
            <a:r>
              <a:rPr b="1" dirty="0">
                <a:solidFill>
                  <a:srgbClr val="002060"/>
                </a:solidFill>
              </a:rPr>
              <a:t> Linux</a:t>
            </a:r>
          </a:p>
        </p:txBody>
      </p:sp>
    </p:spTree>
    <p:extLst>
      <p:ext uri="{BB962C8B-B14F-4D97-AF65-F5344CB8AC3E}">
        <p14:creationId xmlns:p14="http://schemas.microsoft.com/office/powerpoint/2010/main" val="1293059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Понять</a:t>
            </a:r>
            <a:r>
              <a:rPr dirty="0"/>
              <a:t>, </a:t>
            </a: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серверная</a:t>
            </a:r>
            <a:r>
              <a:rPr dirty="0"/>
              <a:t> ОС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пользовательской</a:t>
            </a:r>
            <a:r>
              <a:rPr dirty="0"/>
              <a:t> ОС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Объяснять</a:t>
            </a:r>
            <a:r>
              <a:rPr dirty="0"/>
              <a:t>, </a:t>
            </a:r>
            <a:r>
              <a:rPr dirty="0" err="1"/>
              <a:t>почему</a:t>
            </a:r>
            <a:r>
              <a:rPr dirty="0"/>
              <a:t> Linux </a:t>
            </a:r>
            <a:r>
              <a:rPr dirty="0" err="1"/>
              <a:t>широко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серверах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Понимать</a:t>
            </a:r>
            <a:r>
              <a:rPr dirty="0"/>
              <a:t>, </a:t>
            </a: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параметры</a:t>
            </a:r>
            <a:r>
              <a:rPr dirty="0"/>
              <a:t> Linux Server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установки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Уметь</a:t>
            </a:r>
            <a:r>
              <a:rPr dirty="0"/>
              <a:t> </a:t>
            </a:r>
            <a:r>
              <a:rPr dirty="0" err="1"/>
              <a:t>интерпретировать</a:t>
            </a:r>
            <a:r>
              <a:rPr dirty="0"/>
              <a:t> </a:t>
            </a:r>
            <a:r>
              <a:rPr dirty="0" err="1"/>
              <a:t>базовые</a:t>
            </a:r>
            <a:r>
              <a:rPr dirty="0"/>
              <a:t> </a:t>
            </a:r>
            <a:r>
              <a:rPr dirty="0" err="1"/>
              <a:t>результаты</a:t>
            </a:r>
            <a:r>
              <a:rPr dirty="0"/>
              <a:t> </a:t>
            </a:r>
            <a:r>
              <a:rPr dirty="0" err="1"/>
              <a:t>первичной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Список учебных вопросов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7607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3600"/>
            </a:pPr>
            <a:r>
              <a:rPr sz="2800" dirty="0"/>
              <a:t>1. Linux </a:t>
            </a:r>
            <a:r>
              <a:rPr sz="2800" dirty="0" err="1"/>
              <a:t>как</a:t>
            </a:r>
            <a:r>
              <a:rPr sz="2800" dirty="0"/>
              <a:t> </a:t>
            </a:r>
            <a:r>
              <a:rPr sz="2800" dirty="0" err="1"/>
              <a:t>серверная</a:t>
            </a:r>
            <a:r>
              <a:rPr sz="2800" dirty="0"/>
              <a:t> </a:t>
            </a:r>
            <a:r>
              <a:rPr sz="2800" dirty="0" err="1"/>
              <a:t>операционная</a:t>
            </a:r>
            <a:r>
              <a:rPr sz="2800" dirty="0"/>
              <a:t> </a:t>
            </a:r>
            <a:r>
              <a:rPr sz="2800" dirty="0" err="1"/>
              <a:t>система</a:t>
            </a:r>
            <a:r>
              <a:rPr sz="2800" dirty="0"/>
              <a:t>: </a:t>
            </a:r>
            <a:r>
              <a:rPr sz="2800" dirty="0" err="1"/>
              <a:t>назначение</a:t>
            </a:r>
            <a:r>
              <a:rPr sz="2800" dirty="0"/>
              <a:t> и </a:t>
            </a:r>
            <a:r>
              <a:rPr sz="2800" dirty="0" err="1"/>
              <a:t>области</a:t>
            </a:r>
            <a:r>
              <a:rPr sz="2800" dirty="0"/>
              <a:t> </a:t>
            </a:r>
            <a:r>
              <a:rPr sz="2800" dirty="0" err="1"/>
              <a:t>применения</a:t>
            </a:r>
            <a:endParaRPr sz="2800" dirty="0"/>
          </a:p>
          <a:p>
            <a:pPr>
              <a:defRPr sz="3600"/>
            </a:pPr>
            <a:r>
              <a:rPr sz="2800" dirty="0"/>
              <a:t>2. </a:t>
            </a:r>
            <a:r>
              <a:rPr sz="2800" dirty="0" err="1"/>
              <a:t>Дистрибутив</a:t>
            </a:r>
            <a:r>
              <a:rPr sz="2800" dirty="0"/>
              <a:t> Linux: </a:t>
            </a:r>
            <a:r>
              <a:rPr sz="2800" dirty="0" err="1"/>
              <a:t>понятие</a:t>
            </a:r>
            <a:r>
              <a:rPr sz="2800" dirty="0"/>
              <a:t>, </a:t>
            </a:r>
            <a:r>
              <a:rPr sz="2800" dirty="0" err="1"/>
              <a:t>состав</a:t>
            </a:r>
            <a:r>
              <a:rPr sz="2800" dirty="0"/>
              <a:t>, </a:t>
            </a:r>
            <a:r>
              <a:rPr sz="2800" dirty="0" err="1"/>
              <a:t>отличие</a:t>
            </a:r>
            <a:r>
              <a:rPr sz="2800" dirty="0"/>
              <a:t> Ubuntu Server, Debian, Rocky Linux, </a:t>
            </a:r>
            <a:r>
              <a:rPr sz="2800" dirty="0" err="1"/>
              <a:t>AlmaLinux</a:t>
            </a:r>
            <a:endParaRPr sz="2800" dirty="0"/>
          </a:p>
          <a:p>
            <a:pPr>
              <a:defRPr sz="3600"/>
            </a:pPr>
            <a:r>
              <a:rPr sz="2800" dirty="0"/>
              <a:t>3. </a:t>
            </a:r>
            <a:r>
              <a:rPr sz="2800" dirty="0" err="1"/>
              <a:t>Почему</a:t>
            </a:r>
            <a:r>
              <a:rPr sz="2800" dirty="0"/>
              <a:t> Linux </a:t>
            </a:r>
            <a:r>
              <a:rPr sz="2800" dirty="0" err="1"/>
              <a:t>часто</a:t>
            </a:r>
            <a:r>
              <a:rPr sz="2800" dirty="0"/>
              <a:t> </a:t>
            </a:r>
            <a:r>
              <a:rPr sz="2800" dirty="0" err="1"/>
              <a:t>используют</a:t>
            </a:r>
            <a:r>
              <a:rPr sz="2800" dirty="0"/>
              <a:t> </a:t>
            </a:r>
            <a:r>
              <a:rPr sz="2800" dirty="0" err="1"/>
              <a:t>на</a:t>
            </a:r>
            <a:r>
              <a:rPr sz="2800" dirty="0"/>
              <a:t> </a:t>
            </a:r>
            <a:r>
              <a:rPr sz="2800" dirty="0" err="1"/>
              <a:t>серверах</a:t>
            </a:r>
            <a:r>
              <a:rPr sz="2800" dirty="0"/>
              <a:t>: </a:t>
            </a:r>
            <a:r>
              <a:rPr sz="2800" dirty="0" err="1"/>
              <a:t>стабильность</a:t>
            </a:r>
            <a:r>
              <a:rPr sz="2800" dirty="0"/>
              <a:t>, </a:t>
            </a:r>
            <a:r>
              <a:rPr sz="2800" dirty="0" err="1"/>
              <a:t>управление</a:t>
            </a:r>
            <a:r>
              <a:rPr sz="2800" dirty="0"/>
              <a:t> </a:t>
            </a:r>
            <a:r>
              <a:rPr sz="2800" dirty="0" err="1"/>
              <a:t>через</a:t>
            </a:r>
            <a:r>
              <a:rPr sz="2800" dirty="0"/>
              <a:t> CLI, </a:t>
            </a:r>
            <a:r>
              <a:rPr sz="2800" dirty="0" err="1"/>
              <a:t>пакеты</a:t>
            </a:r>
            <a:r>
              <a:rPr sz="2800" dirty="0"/>
              <a:t>, </a:t>
            </a:r>
            <a:r>
              <a:rPr sz="2800" dirty="0" err="1"/>
              <a:t>службы</a:t>
            </a:r>
            <a:endParaRPr sz="2800" dirty="0"/>
          </a:p>
          <a:p>
            <a:pPr>
              <a:defRPr sz="3600"/>
            </a:pPr>
            <a:r>
              <a:rPr sz="2800" dirty="0"/>
              <a:t>4. </a:t>
            </a:r>
            <a:r>
              <a:rPr sz="2800" dirty="0" err="1"/>
              <a:t>Что</a:t>
            </a:r>
            <a:r>
              <a:rPr sz="2800" dirty="0"/>
              <a:t> </a:t>
            </a:r>
            <a:r>
              <a:rPr sz="2800" dirty="0" err="1"/>
              <a:t>уже</a:t>
            </a:r>
            <a:r>
              <a:rPr sz="2800" dirty="0"/>
              <a:t> </a:t>
            </a:r>
            <a:r>
              <a:rPr sz="2800" dirty="0" err="1"/>
              <a:t>должно</a:t>
            </a:r>
            <a:r>
              <a:rPr sz="2800" dirty="0"/>
              <a:t> </a:t>
            </a:r>
            <a:r>
              <a:rPr sz="2800" dirty="0" err="1"/>
              <a:t>быть</a:t>
            </a:r>
            <a:r>
              <a:rPr sz="2800" dirty="0"/>
              <a:t> </a:t>
            </a:r>
            <a:r>
              <a:rPr sz="2800" dirty="0" err="1"/>
              <a:t>подготовлено</a:t>
            </a:r>
            <a:r>
              <a:rPr sz="2800" dirty="0"/>
              <a:t> </a:t>
            </a:r>
            <a:r>
              <a:rPr sz="2800" dirty="0" err="1"/>
              <a:t>после</a:t>
            </a:r>
            <a:r>
              <a:rPr sz="2800" dirty="0"/>
              <a:t> РО1.1: </a:t>
            </a:r>
            <a:r>
              <a:rPr sz="2800" dirty="0" err="1"/>
              <a:t>виртуальная</a:t>
            </a:r>
            <a:r>
              <a:rPr sz="2800" dirty="0"/>
              <a:t> </a:t>
            </a:r>
            <a:r>
              <a:rPr sz="2800" dirty="0" err="1"/>
              <a:t>машина</a:t>
            </a:r>
            <a:r>
              <a:rPr sz="2800" dirty="0"/>
              <a:t>, </a:t>
            </a:r>
            <a:r>
              <a:rPr sz="2800" dirty="0" err="1"/>
              <a:t>установленная</a:t>
            </a:r>
            <a:r>
              <a:rPr sz="2800" dirty="0"/>
              <a:t> ОС, </a:t>
            </a:r>
            <a:r>
              <a:rPr sz="2800" dirty="0" err="1"/>
              <a:t>пользователь</a:t>
            </a:r>
            <a:r>
              <a:rPr sz="2800" dirty="0"/>
              <a:t>, </a:t>
            </a:r>
            <a:r>
              <a:rPr sz="2800" dirty="0" err="1"/>
              <a:t>сеть</a:t>
            </a:r>
            <a:endParaRPr sz="2800" dirty="0"/>
          </a:p>
          <a:p>
            <a:pPr>
              <a:defRPr sz="3600"/>
            </a:pPr>
            <a:r>
              <a:rPr sz="2800" dirty="0"/>
              <a:t>5. </a:t>
            </a:r>
            <a:r>
              <a:rPr sz="2800" dirty="0" err="1"/>
              <a:t>Первичный</a:t>
            </a:r>
            <a:r>
              <a:rPr sz="2800" dirty="0"/>
              <a:t> </a:t>
            </a:r>
            <a:r>
              <a:rPr sz="2800" dirty="0" err="1"/>
              <a:t>вход</a:t>
            </a:r>
            <a:r>
              <a:rPr sz="2800" dirty="0"/>
              <a:t> в </a:t>
            </a:r>
            <a:r>
              <a:rPr sz="2800" dirty="0" err="1"/>
              <a:t>систему</a:t>
            </a:r>
            <a:r>
              <a:rPr sz="2800" dirty="0"/>
              <a:t>: </a:t>
            </a:r>
            <a:r>
              <a:rPr sz="2800" dirty="0" err="1"/>
              <a:t>локальная</a:t>
            </a:r>
            <a:r>
              <a:rPr sz="2800" dirty="0"/>
              <a:t> </a:t>
            </a:r>
            <a:r>
              <a:rPr sz="2800" dirty="0" err="1"/>
              <a:t>консоль</a:t>
            </a:r>
            <a:r>
              <a:rPr sz="2800" dirty="0"/>
              <a:t> и SSH </a:t>
            </a:r>
            <a:r>
              <a:rPr sz="2800" dirty="0" err="1"/>
              <a:t>на</a:t>
            </a:r>
            <a:r>
              <a:rPr sz="2800" dirty="0"/>
              <a:t> </a:t>
            </a:r>
            <a:r>
              <a:rPr sz="2800" dirty="0" err="1"/>
              <a:t>уровне</a:t>
            </a:r>
            <a:r>
              <a:rPr sz="2800" dirty="0"/>
              <a:t> </a:t>
            </a:r>
            <a:r>
              <a:rPr sz="2800" dirty="0" err="1"/>
              <a:t>назначения</a:t>
            </a:r>
            <a:endParaRPr sz="2800" dirty="0"/>
          </a:p>
          <a:p>
            <a:pPr>
              <a:defRPr sz="3600"/>
            </a:pPr>
            <a:r>
              <a:rPr sz="2800" dirty="0"/>
              <a:t>6. </a:t>
            </a:r>
            <a:r>
              <a:rPr sz="2800" dirty="0" err="1"/>
              <a:t>Проверка</a:t>
            </a:r>
            <a:r>
              <a:rPr sz="2800" dirty="0"/>
              <a:t> </a:t>
            </a:r>
            <a:r>
              <a:rPr sz="2800" dirty="0" err="1"/>
              <a:t>версии</a:t>
            </a:r>
            <a:r>
              <a:rPr sz="2800" dirty="0"/>
              <a:t> ОС и </a:t>
            </a:r>
            <a:r>
              <a:rPr sz="2800" dirty="0" err="1"/>
              <a:t>ядра</a:t>
            </a:r>
            <a:r>
              <a:rPr sz="2800" dirty="0"/>
              <a:t>: /</a:t>
            </a:r>
            <a:r>
              <a:rPr sz="2800" dirty="0" err="1"/>
              <a:t>etc</a:t>
            </a:r>
            <a:r>
              <a:rPr sz="2800" dirty="0"/>
              <a:t>/</a:t>
            </a:r>
            <a:r>
              <a:rPr sz="2800" dirty="0" err="1"/>
              <a:t>os</a:t>
            </a:r>
            <a:r>
              <a:rPr sz="2800" dirty="0"/>
              <a:t>-release, </a:t>
            </a:r>
            <a:r>
              <a:rPr sz="2800" dirty="0" err="1"/>
              <a:t>uname</a:t>
            </a:r>
            <a:endParaRPr sz="2800" dirty="0"/>
          </a:p>
          <a:p>
            <a:pPr>
              <a:defRPr sz="3600"/>
            </a:pPr>
            <a:r>
              <a:rPr sz="2800" dirty="0"/>
              <a:t>7. </a:t>
            </a:r>
            <a:r>
              <a:rPr sz="2800" dirty="0" err="1"/>
              <a:t>Проверка</a:t>
            </a:r>
            <a:r>
              <a:rPr sz="2800" dirty="0"/>
              <a:t> hostname, </a:t>
            </a:r>
            <a:r>
              <a:rPr sz="2800" dirty="0" err="1"/>
              <a:t>времени</a:t>
            </a:r>
            <a:r>
              <a:rPr sz="2800" dirty="0"/>
              <a:t> и </a:t>
            </a:r>
            <a:r>
              <a:rPr sz="2800" dirty="0" err="1"/>
              <a:t>локали</a:t>
            </a:r>
            <a:endParaRPr sz="2800" dirty="0"/>
          </a:p>
          <a:p>
            <a:pPr>
              <a:defRPr sz="3600"/>
            </a:pPr>
            <a:r>
              <a:rPr sz="2800" dirty="0"/>
              <a:t>8. </a:t>
            </a:r>
            <a:r>
              <a:rPr sz="2800" dirty="0" err="1"/>
              <a:t>Проверка</a:t>
            </a:r>
            <a:r>
              <a:rPr sz="2800" dirty="0"/>
              <a:t> </a:t>
            </a:r>
            <a:r>
              <a:rPr sz="2800" dirty="0" err="1"/>
              <a:t>ресурсов</a:t>
            </a:r>
            <a:r>
              <a:rPr sz="2800" dirty="0"/>
              <a:t>: CPU, RAM, </a:t>
            </a:r>
            <a:r>
              <a:rPr sz="2800" dirty="0" err="1"/>
              <a:t>диски</a:t>
            </a:r>
            <a:r>
              <a:rPr sz="2800" dirty="0"/>
              <a:t>, </a:t>
            </a:r>
            <a:r>
              <a:rPr sz="2800" dirty="0" err="1"/>
              <a:t>файловые</a:t>
            </a:r>
            <a:r>
              <a:rPr sz="2800" dirty="0"/>
              <a:t> </a:t>
            </a:r>
            <a:r>
              <a:rPr sz="2800" dirty="0" err="1"/>
              <a:t>системы</a:t>
            </a:r>
            <a:endParaRPr sz="2800" dirty="0"/>
          </a:p>
          <a:p>
            <a:pPr>
              <a:defRPr sz="3600"/>
            </a:pPr>
            <a:r>
              <a:rPr sz="2800" dirty="0"/>
              <a:t>9. </a:t>
            </a:r>
            <a:r>
              <a:rPr sz="2800" dirty="0" err="1"/>
              <a:t>Первичный</a:t>
            </a:r>
            <a:r>
              <a:rPr sz="2800" dirty="0"/>
              <a:t> </a:t>
            </a:r>
            <a:r>
              <a:rPr sz="2800" dirty="0" err="1"/>
              <a:t>чек-лист</a:t>
            </a:r>
            <a:r>
              <a:rPr sz="2800" dirty="0"/>
              <a:t> </a:t>
            </a:r>
            <a:r>
              <a:rPr sz="2800" dirty="0" err="1"/>
              <a:t>администратора</a:t>
            </a:r>
            <a:r>
              <a:rPr sz="2800" dirty="0"/>
              <a:t> </a:t>
            </a:r>
            <a:r>
              <a:rPr sz="2800" dirty="0" err="1"/>
              <a:t>после</a:t>
            </a:r>
            <a:r>
              <a:rPr sz="2800" dirty="0"/>
              <a:t> </a:t>
            </a:r>
            <a:r>
              <a:rPr sz="2800" dirty="0" err="1"/>
              <a:t>установки</a:t>
            </a:r>
            <a:r>
              <a:rPr sz="2800" dirty="0"/>
              <a:t> Linux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3176" y="182880"/>
            <a:ext cx="8575168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1. Linux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серверная</a:t>
            </a:r>
            <a:r>
              <a:rPr dirty="0"/>
              <a:t> </a:t>
            </a:r>
            <a:r>
              <a:rPr dirty="0" err="1"/>
              <a:t>операционная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: </a:t>
            </a:r>
            <a:endParaRPr lang="en-US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назначение</a:t>
            </a:r>
            <a:r>
              <a:rPr dirty="0"/>
              <a:t> и </a:t>
            </a:r>
            <a:r>
              <a:rPr dirty="0" err="1"/>
              <a:t>области</a:t>
            </a:r>
            <a:r>
              <a:rPr dirty="0"/>
              <a:t> </a:t>
            </a:r>
            <a:r>
              <a:rPr dirty="0" err="1"/>
              <a:t>применения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199" y="1460090"/>
            <a:ext cx="11179277" cy="510294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Сервер</a:t>
            </a:r>
            <a:r>
              <a:rPr dirty="0"/>
              <a:t> — </a:t>
            </a:r>
            <a:r>
              <a:rPr dirty="0" err="1"/>
              <a:t>компьютер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ВМ, </a:t>
            </a:r>
            <a:r>
              <a:rPr dirty="0" err="1"/>
              <a:t>которая</a:t>
            </a:r>
            <a:r>
              <a:rPr dirty="0"/>
              <a:t> </a:t>
            </a:r>
            <a:r>
              <a:rPr dirty="0" err="1"/>
              <a:t>обслуживает</a:t>
            </a:r>
            <a:r>
              <a:rPr dirty="0"/>
              <a:t> </a:t>
            </a:r>
            <a:r>
              <a:rPr dirty="0" err="1"/>
              <a:t>запросы</a:t>
            </a:r>
            <a:r>
              <a:rPr dirty="0"/>
              <a:t> </a:t>
            </a:r>
            <a:r>
              <a:rPr dirty="0" err="1"/>
              <a:t>клиентов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других</a:t>
            </a:r>
            <a:r>
              <a:rPr dirty="0"/>
              <a:t> </a:t>
            </a:r>
            <a:r>
              <a:rPr dirty="0" err="1"/>
              <a:t>серверов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Серверная</a:t>
            </a:r>
            <a:r>
              <a:rPr dirty="0"/>
              <a:t> ОС — </a:t>
            </a:r>
            <a:r>
              <a:rPr dirty="0" err="1"/>
              <a:t>операционная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, </a:t>
            </a:r>
            <a:r>
              <a:rPr dirty="0" err="1"/>
              <a:t>рассчитанная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постоянную</a:t>
            </a:r>
            <a:r>
              <a:rPr dirty="0"/>
              <a:t> </a:t>
            </a:r>
            <a:r>
              <a:rPr dirty="0" err="1"/>
              <a:t>работу</a:t>
            </a:r>
            <a:r>
              <a:rPr dirty="0"/>
              <a:t> </a:t>
            </a:r>
            <a:r>
              <a:rPr dirty="0" err="1"/>
              <a:t>служб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Linux Server — </a:t>
            </a:r>
            <a:r>
              <a:rPr dirty="0" err="1"/>
              <a:t>серверная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базе</a:t>
            </a:r>
            <a:r>
              <a:rPr dirty="0"/>
              <a:t> </a:t>
            </a:r>
            <a:r>
              <a:rPr dirty="0" err="1"/>
              <a:t>ядра</a:t>
            </a:r>
            <a:r>
              <a:rPr dirty="0"/>
              <a:t> Linux и </a:t>
            </a:r>
            <a:r>
              <a:rPr dirty="0" err="1"/>
              <a:t>выбранного</a:t>
            </a:r>
            <a:r>
              <a:rPr dirty="0"/>
              <a:t> </a:t>
            </a:r>
            <a:r>
              <a:rPr dirty="0" err="1"/>
              <a:t>дистрибутива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Администратору</a:t>
            </a:r>
            <a:r>
              <a:rPr dirty="0"/>
              <a:t> </a:t>
            </a: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понимать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и </a:t>
            </a:r>
            <a:r>
              <a:rPr dirty="0" err="1"/>
              <a:t>роль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в </a:t>
            </a:r>
            <a:r>
              <a:rPr dirty="0" err="1"/>
              <a:t>инфраструктуре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Зачем серверу операционная система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ОС </a:t>
            </a:r>
            <a:r>
              <a:rPr dirty="0" err="1"/>
              <a:t>управляет</a:t>
            </a:r>
            <a:r>
              <a:rPr dirty="0"/>
              <a:t> </a:t>
            </a:r>
            <a:r>
              <a:rPr dirty="0" err="1"/>
              <a:t>процессором</a:t>
            </a:r>
            <a:r>
              <a:rPr dirty="0"/>
              <a:t>, </a:t>
            </a:r>
            <a:r>
              <a:rPr dirty="0" err="1"/>
              <a:t>памятью</a:t>
            </a:r>
            <a:r>
              <a:rPr dirty="0"/>
              <a:t>, </a:t>
            </a:r>
            <a:r>
              <a:rPr dirty="0" err="1"/>
              <a:t>дисками</a:t>
            </a:r>
            <a:r>
              <a:rPr dirty="0"/>
              <a:t>, </a:t>
            </a:r>
            <a:r>
              <a:rPr dirty="0" err="1"/>
              <a:t>сетью</a:t>
            </a:r>
            <a:r>
              <a:rPr dirty="0"/>
              <a:t> и </a:t>
            </a:r>
            <a:r>
              <a:rPr dirty="0" err="1"/>
              <a:t>пользователями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ОС </a:t>
            </a:r>
            <a:r>
              <a:rPr dirty="0" err="1"/>
              <a:t>запускает</a:t>
            </a:r>
            <a:r>
              <a:rPr dirty="0"/>
              <a:t> </a:t>
            </a:r>
            <a:r>
              <a:rPr dirty="0" err="1"/>
              <a:t>серверные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и </a:t>
            </a:r>
            <a:r>
              <a:rPr dirty="0" err="1"/>
              <a:t>контролирует</a:t>
            </a:r>
            <a:r>
              <a:rPr dirty="0"/>
              <a:t> </a:t>
            </a:r>
            <a:r>
              <a:rPr dirty="0" err="1"/>
              <a:t>их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ОС </a:t>
            </a: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конфигурацию</a:t>
            </a:r>
            <a:r>
              <a:rPr dirty="0"/>
              <a:t>, </a:t>
            </a:r>
            <a:r>
              <a:rPr dirty="0" err="1"/>
              <a:t>журналы</a:t>
            </a:r>
            <a:r>
              <a:rPr dirty="0"/>
              <a:t> и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приложений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Без</a:t>
            </a:r>
            <a:r>
              <a:rPr dirty="0"/>
              <a:t> ОС 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остается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оборудованием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виртуальной</a:t>
            </a:r>
            <a:r>
              <a:rPr dirty="0"/>
              <a:t> </a:t>
            </a:r>
            <a:r>
              <a:rPr dirty="0" err="1"/>
              <a:t>машиной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управляемой</a:t>
            </a:r>
            <a:r>
              <a:rPr dirty="0"/>
              <a:t> </a:t>
            </a:r>
            <a:r>
              <a:rPr dirty="0" err="1"/>
              <a:t>роли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Серверная ОС и настольная ОС: принципиальная разница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Настольная</a:t>
            </a:r>
            <a:r>
              <a:rPr dirty="0"/>
              <a:t> ОС </a:t>
            </a:r>
            <a:r>
              <a:rPr dirty="0" err="1"/>
              <a:t>обслуживает</a:t>
            </a:r>
            <a:r>
              <a:rPr dirty="0"/>
              <a:t> </a:t>
            </a:r>
            <a:r>
              <a:rPr dirty="0" err="1"/>
              <a:t>прежде</a:t>
            </a:r>
            <a:r>
              <a:rPr dirty="0"/>
              <a:t> </a:t>
            </a:r>
            <a:r>
              <a:rPr dirty="0" err="1"/>
              <a:t>всего</a:t>
            </a:r>
            <a:r>
              <a:rPr dirty="0"/>
              <a:t> </a:t>
            </a:r>
            <a:r>
              <a:rPr dirty="0" err="1"/>
              <a:t>одного</a:t>
            </a:r>
            <a:r>
              <a:rPr dirty="0"/>
              <a:t> </a:t>
            </a:r>
            <a:r>
              <a:rPr dirty="0" err="1"/>
              <a:t>интерактивного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Серверная</a:t>
            </a:r>
            <a:r>
              <a:rPr dirty="0"/>
              <a:t> ОС </a:t>
            </a:r>
            <a:r>
              <a:rPr dirty="0" err="1"/>
              <a:t>обслуживает</a:t>
            </a:r>
            <a:r>
              <a:rPr dirty="0"/>
              <a:t> </a:t>
            </a:r>
            <a:r>
              <a:rPr dirty="0" err="1"/>
              <a:t>многих</a:t>
            </a:r>
            <a:r>
              <a:rPr dirty="0"/>
              <a:t> </a:t>
            </a:r>
            <a:r>
              <a:rPr dirty="0" err="1"/>
              <a:t>клиентов</a:t>
            </a:r>
            <a:r>
              <a:rPr dirty="0"/>
              <a:t>, </a:t>
            </a:r>
            <a:r>
              <a:rPr dirty="0" err="1"/>
              <a:t>процессы</a:t>
            </a:r>
            <a:r>
              <a:rPr dirty="0"/>
              <a:t> и </a:t>
            </a:r>
            <a:r>
              <a:rPr dirty="0" err="1"/>
              <a:t>сетевые</a:t>
            </a:r>
            <a:r>
              <a:rPr dirty="0"/>
              <a:t> </a:t>
            </a:r>
            <a:r>
              <a:rPr dirty="0" err="1"/>
              <a:t>службы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</a:t>
            </a:r>
            <a:r>
              <a:rPr dirty="0" err="1"/>
              <a:t>критичны</a:t>
            </a:r>
            <a:r>
              <a:rPr dirty="0"/>
              <a:t> </a:t>
            </a:r>
            <a:r>
              <a:rPr dirty="0" err="1"/>
              <a:t>стабильность</a:t>
            </a:r>
            <a:r>
              <a:rPr dirty="0"/>
              <a:t>, </a:t>
            </a:r>
            <a:r>
              <a:rPr dirty="0" err="1"/>
              <a:t>безопасность</a:t>
            </a:r>
            <a:r>
              <a:rPr dirty="0"/>
              <a:t>, </a:t>
            </a:r>
            <a:r>
              <a:rPr dirty="0" err="1"/>
              <a:t>поддержка</a:t>
            </a:r>
            <a:r>
              <a:rPr dirty="0"/>
              <a:t> и </a:t>
            </a:r>
            <a:r>
              <a:rPr dirty="0" err="1"/>
              <a:t>удаленное</a:t>
            </a:r>
            <a:r>
              <a:rPr dirty="0"/>
              <a:t> </a:t>
            </a:r>
            <a:r>
              <a:rPr dirty="0" err="1"/>
              <a:t>управление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Графический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сервере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нужен</a:t>
            </a:r>
            <a:r>
              <a:rPr dirty="0"/>
              <a:t>, </a:t>
            </a:r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расходовать</a:t>
            </a:r>
            <a:r>
              <a:rPr dirty="0"/>
              <a:t> </a:t>
            </a:r>
            <a:r>
              <a:rPr dirty="0" err="1"/>
              <a:t>ресурсы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такое серверная служба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Служба</a:t>
            </a:r>
            <a:r>
              <a:rPr dirty="0"/>
              <a:t> — </a:t>
            </a:r>
            <a:r>
              <a:rPr dirty="0" err="1"/>
              <a:t>программа</a:t>
            </a:r>
            <a:r>
              <a:rPr dirty="0"/>
              <a:t>, </a:t>
            </a:r>
            <a:r>
              <a:rPr dirty="0" err="1"/>
              <a:t>которая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в </a:t>
            </a:r>
            <a:r>
              <a:rPr dirty="0" err="1"/>
              <a:t>фоне</a:t>
            </a:r>
            <a:r>
              <a:rPr dirty="0"/>
              <a:t> и </a:t>
            </a:r>
            <a:r>
              <a:rPr dirty="0" err="1"/>
              <a:t>предоставляет</a:t>
            </a:r>
            <a:r>
              <a:rPr dirty="0"/>
              <a:t> </a:t>
            </a:r>
            <a:r>
              <a:rPr dirty="0" err="1"/>
              <a:t>функцию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локально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Примеры</a:t>
            </a:r>
            <a:r>
              <a:rPr dirty="0"/>
              <a:t>: SSH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удаленного</a:t>
            </a:r>
            <a:r>
              <a:rPr dirty="0"/>
              <a:t> </a:t>
            </a:r>
            <a:r>
              <a:rPr dirty="0" err="1"/>
              <a:t>входа</a:t>
            </a:r>
            <a:r>
              <a:rPr dirty="0"/>
              <a:t>, web-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сайта</a:t>
            </a:r>
            <a:r>
              <a:rPr dirty="0"/>
              <a:t>, DNS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имен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видеть</a:t>
            </a:r>
            <a:r>
              <a:rPr dirty="0"/>
              <a:t> </a:t>
            </a:r>
            <a:r>
              <a:rPr dirty="0" err="1"/>
              <a:t>службу</a:t>
            </a:r>
            <a:r>
              <a:rPr dirty="0"/>
              <a:t> </a:t>
            </a:r>
            <a:r>
              <a:rPr dirty="0" err="1"/>
              <a:t>напрямую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зависит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ее</a:t>
            </a:r>
            <a:r>
              <a:rPr dirty="0"/>
              <a:t> </a:t>
            </a:r>
            <a:r>
              <a:rPr dirty="0" err="1"/>
              <a:t>доступности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отвечает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запуск</a:t>
            </a:r>
            <a:r>
              <a:rPr dirty="0"/>
              <a:t>, </a:t>
            </a:r>
            <a:r>
              <a:rPr dirty="0" err="1"/>
              <a:t>автозагрузку</a:t>
            </a:r>
            <a:r>
              <a:rPr dirty="0"/>
              <a:t>, </a:t>
            </a:r>
            <a:r>
              <a:rPr dirty="0" err="1"/>
              <a:t>безопасность</a:t>
            </a:r>
            <a:r>
              <a:rPr dirty="0"/>
              <a:t> и </a:t>
            </a:r>
            <a:r>
              <a:rPr dirty="0" err="1"/>
              <a:t>журналы</a:t>
            </a:r>
            <a:r>
              <a:rPr dirty="0"/>
              <a:t> </a:t>
            </a:r>
            <a:r>
              <a:rPr dirty="0" err="1"/>
              <a:t>служб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Linux как серверная ОС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C87D258-80D7-6D9E-C5CE-03277DC25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" y="0"/>
            <a:ext cx="1217980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1D03C-C4E6-7BA1-7666-48293CD58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3F6372-CA9B-DBE3-F26F-489418D358CF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Linux как серверная ОС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C4B21A-10D1-3D86-1230-13F81A21D249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1D259AE-F639-7B6C-1655-A0B64430A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" y="0"/>
            <a:ext cx="121798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259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области применения Linux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326761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Веб-серверы</a:t>
            </a:r>
            <a:r>
              <a:rPr dirty="0"/>
              <a:t>, reverse proxy и API-</a:t>
            </a:r>
            <a:r>
              <a:rPr dirty="0" err="1"/>
              <a:t>серверы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DNS, DHCP, VPN, </a:t>
            </a:r>
            <a:r>
              <a:rPr dirty="0" err="1"/>
              <a:t>маршрутизация</a:t>
            </a:r>
            <a:r>
              <a:rPr dirty="0"/>
              <a:t> и </a:t>
            </a:r>
            <a:r>
              <a:rPr dirty="0" err="1"/>
              <a:t>сетевые</a:t>
            </a:r>
            <a:r>
              <a:rPr dirty="0"/>
              <a:t> </a:t>
            </a:r>
            <a:r>
              <a:rPr dirty="0" err="1"/>
              <a:t>шлюзы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Базы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, </a:t>
            </a:r>
            <a:r>
              <a:rPr dirty="0" err="1"/>
              <a:t>файловые</a:t>
            </a:r>
            <a:r>
              <a:rPr dirty="0"/>
              <a:t> </a:t>
            </a:r>
            <a:r>
              <a:rPr dirty="0" err="1"/>
              <a:t>хранилища</a:t>
            </a:r>
            <a:r>
              <a:rPr dirty="0"/>
              <a:t>, </a:t>
            </a:r>
            <a:r>
              <a:rPr dirty="0" err="1"/>
              <a:t>системы</a:t>
            </a:r>
            <a:r>
              <a:rPr dirty="0"/>
              <a:t> </a:t>
            </a:r>
            <a:r>
              <a:rPr dirty="0" err="1"/>
              <a:t>мониторинга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Виртуализация</a:t>
            </a:r>
            <a:r>
              <a:rPr dirty="0"/>
              <a:t>, </a:t>
            </a:r>
            <a:r>
              <a:rPr dirty="0" err="1"/>
              <a:t>контейнеры</a:t>
            </a:r>
            <a:r>
              <a:rPr dirty="0"/>
              <a:t>, CI/CD и </a:t>
            </a:r>
            <a:r>
              <a:rPr dirty="0" err="1"/>
              <a:t>автоматизация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01155" y="182880"/>
            <a:ext cx="9759210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2. </a:t>
            </a:r>
            <a:r>
              <a:rPr dirty="0" err="1"/>
              <a:t>Дистрибутив</a:t>
            </a:r>
            <a:r>
              <a:rPr dirty="0"/>
              <a:t> Linux: </a:t>
            </a:r>
            <a:r>
              <a:rPr dirty="0" err="1"/>
              <a:t>понятие</a:t>
            </a:r>
            <a:r>
              <a:rPr dirty="0"/>
              <a:t>, </a:t>
            </a:r>
            <a:r>
              <a:rPr dirty="0" err="1"/>
              <a:t>состав</a:t>
            </a:r>
            <a:r>
              <a:rPr dirty="0"/>
              <a:t>, </a:t>
            </a:r>
            <a:endParaRPr lang="en-US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отличие</a:t>
            </a:r>
            <a:r>
              <a:rPr dirty="0"/>
              <a:t> Ubuntu Server, Debian, Rocky Linux, </a:t>
            </a:r>
            <a:r>
              <a:rPr dirty="0" err="1"/>
              <a:t>AlmaLinux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260098"/>
            <a:ext cx="11337010" cy="486638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7188">
              <a:defRPr sz="3600"/>
            </a:pPr>
            <a:r>
              <a:rPr dirty="0" err="1"/>
              <a:t>Ядро</a:t>
            </a:r>
            <a:r>
              <a:rPr dirty="0"/>
              <a:t> Linux — </a:t>
            </a:r>
            <a:r>
              <a:rPr dirty="0" err="1"/>
              <a:t>центральная</a:t>
            </a:r>
            <a:r>
              <a:rPr dirty="0"/>
              <a:t> </a:t>
            </a:r>
            <a:r>
              <a:rPr dirty="0" err="1"/>
              <a:t>часть</a:t>
            </a:r>
            <a:r>
              <a:rPr dirty="0"/>
              <a:t> ОС, </a:t>
            </a:r>
            <a:r>
              <a:rPr dirty="0" err="1"/>
              <a:t>управляющая</a:t>
            </a:r>
            <a:r>
              <a:rPr dirty="0"/>
              <a:t> </a:t>
            </a:r>
            <a:r>
              <a:rPr dirty="0" err="1"/>
              <a:t>оборудованием</a:t>
            </a:r>
            <a:r>
              <a:rPr dirty="0"/>
              <a:t> и </a:t>
            </a:r>
            <a:r>
              <a:rPr dirty="0" err="1"/>
              <a:t>процессами</a:t>
            </a:r>
            <a:r>
              <a:rPr lang="en-US" dirty="0"/>
              <a:t>.</a:t>
            </a:r>
            <a:endParaRPr dirty="0"/>
          </a:p>
          <a:p>
            <a:pPr indent="357188">
              <a:defRPr sz="3600"/>
            </a:pPr>
            <a:r>
              <a:rPr dirty="0" err="1"/>
              <a:t>Дистрибутив</a:t>
            </a:r>
            <a:r>
              <a:rPr dirty="0"/>
              <a:t> — </a:t>
            </a:r>
            <a:r>
              <a:rPr dirty="0" err="1"/>
              <a:t>готовая</a:t>
            </a:r>
            <a:r>
              <a:rPr dirty="0"/>
              <a:t> ОС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базе</a:t>
            </a:r>
            <a:r>
              <a:rPr dirty="0"/>
              <a:t> Linux, </a:t>
            </a:r>
            <a:r>
              <a:rPr dirty="0" err="1"/>
              <a:t>дополненная</a:t>
            </a:r>
            <a:r>
              <a:rPr dirty="0"/>
              <a:t> </a:t>
            </a:r>
            <a:r>
              <a:rPr dirty="0" err="1"/>
              <a:t>пакетами</a:t>
            </a:r>
            <a:r>
              <a:rPr dirty="0"/>
              <a:t>, </a:t>
            </a:r>
            <a:r>
              <a:rPr dirty="0" err="1"/>
              <a:t>установщиком</a:t>
            </a:r>
            <a:r>
              <a:rPr dirty="0"/>
              <a:t> и </a:t>
            </a:r>
            <a:r>
              <a:rPr dirty="0" err="1"/>
              <a:t>репозиториями</a:t>
            </a:r>
            <a:r>
              <a:rPr lang="en-US" dirty="0"/>
              <a:t>.</a:t>
            </a:r>
            <a:endParaRPr dirty="0"/>
          </a:p>
          <a:p>
            <a:pPr indent="357188">
              <a:defRPr sz="3600"/>
            </a:pPr>
            <a:r>
              <a:rPr dirty="0" err="1"/>
              <a:t>Пакетный</a:t>
            </a:r>
            <a:r>
              <a:rPr dirty="0"/>
              <a:t> </a:t>
            </a:r>
            <a:r>
              <a:rPr dirty="0" err="1"/>
              <a:t>менеджер</a:t>
            </a:r>
            <a:r>
              <a:rPr dirty="0"/>
              <a:t> </a:t>
            </a:r>
            <a:r>
              <a:rPr dirty="0" err="1"/>
              <a:t>устанавливает</a:t>
            </a:r>
            <a:r>
              <a:rPr dirty="0"/>
              <a:t> и </a:t>
            </a:r>
            <a:r>
              <a:rPr dirty="0" err="1"/>
              <a:t>обновляет</a:t>
            </a:r>
            <a:r>
              <a:rPr dirty="0"/>
              <a:t> </a:t>
            </a:r>
            <a:r>
              <a:rPr dirty="0" err="1"/>
              <a:t>программы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репозиториев</a:t>
            </a:r>
            <a:r>
              <a:rPr lang="en-US" dirty="0"/>
              <a:t>.</a:t>
            </a:r>
            <a:endParaRPr dirty="0"/>
          </a:p>
          <a:p>
            <a:pPr indent="357188"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всегда</a:t>
            </a:r>
            <a:r>
              <a:rPr dirty="0"/>
              <a:t> </a:t>
            </a:r>
            <a:r>
              <a:rPr dirty="0" err="1"/>
              <a:t>уточняет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просто</a:t>
            </a:r>
            <a:r>
              <a:rPr dirty="0"/>
              <a:t> Linux, а </a:t>
            </a:r>
            <a:r>
              <a:rPr dirty="0" err="1"/>
              <a:t>конкретный</a:t>
            </a:r>
            <a:r>
              <a:rPr dirty="0"/>
              <a:t> </a:t>
            </a:r>
            <a:r>
              <a:rPr dirty="0" err="1"/>
              <a:t>дистрибутив</a:t>
            </a:r>
            <a:r>
              <a:rPr dirty="0"/>
              <a:t> и </a:t>
            </a:r>
            <a:r>
              <a:rPr dirty="0" err="1"/>
              <a:t>версию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Из чего состоит дистрибутив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253019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Ядро</a:t>
            </a:r>
            <a:r>
              <a:rPr dirty="0"/>
              <a:t> Linux и </a:t>
            </a:r>
            <a:r>
              <a:rPr dirty="0" err="1"/>
              <a:t>системные</a:t>
            </a:r>
            <a:r>
              <a:rPr dirty="0"/>
              <a:t> </a:t>
            </a:r>
            <a:r>
              <a:rPr dirty="0" err="1"/>
              <a:t>библиотеки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Загрузчик</a:t>
            </a:r>
            <a:r>
              <a:rPr dirty="0"/>
              <a:t> и </a:t>
            </a:r>
            <a:r>
              <a:rPr dirty="0" err="1"/>
              <a:t>базовые</a:t>
            </a:r>
            <a:r>
              <a:rPr dirty="0"/>
              <a:t> </a:t>
            </a:r>
            <a:r>
              <a:rPr dirty="0" err="1"/>
              <a:t>системные</a:t>
            </a:r>
            <a:r>
              <a:rPr dirty="0"/>
              <a:t> </a:t>
            </a:r>
            <a:r>
              <a:rPr dirty="0" err="1"/>
              <a:t>утилиты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Командная</a:t>
            </a:r>
            <a:r>
              <a:rPr dirty="0"/>
              <a:t> </a:t>
            </a:r>
            <a:r>
              <a:rPr dirty="0" err="1"/>
              <a:t>оболочка</a:t>
            </a:r>
            <a:r>
              <a:rPr dirty="0"/>
              <a:t>, </a:t>
            </a:r>
            <a:r>
              <a:rPr dirty="0" err="1"/>
              <a:t>системные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и </a:t>
            </a:r>
            <a:r>
              <a:rPr dirty="0" err="1"/>
              <a:t>менеджер</a:t>
            </a:r>
            <a:r>
              <a:rPr dirty="0"/>
              <a:t> </a:t>
            </a:r>
            <a:r>
              <a:rPr dirty="0" err="1"/>
              <a:t>служб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Пакетный</a:t>
            </a:r>
            <a:r>
              <a:rPr dirty="0"/>
              <a:t> </a:t>
            </a:r>
            <a:r>
              <a:rPr dirty="0" err="1"/>
              <a:t>менеджер</a:t>
            </a:r>
            <a:r>
              <a:rPr dirty="0"/>
              <a:t> и </a:t>
            </a:r>
            <a:r>
              <a:rPr dirty="0" err="1"/>
              <a:t>репозитории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Документация</a:t>
            </a:r>
            <a:r>
              <a:rPr dirty="0"/>
              <a:t>, </a:t>
            </a:r>
            <a:r>
              <a:rPr dirty="0" err="1"/>
              <a:t>политика</a:t>
            </a:r>
            <a:r>
              <a:rPr dirty="0"/>
              <a:t> </a:t>
            </a:r>
            <a:r>
              <a:rPr dirty="0" err="1"/>
              <a:t>обновлений</a:t>
            </a:r>
            <a:r>
              <a:rPr dirty="0"/>
              <a:t> и </a:t>
            </a:r>
            <a:r>
              <a:rPr dirty="0" err="1"/>
              <a:t>срок</a:t>
            </a:r>
            <a:r>
              <a:rPr dirty="0"/>
              <a:t> </a:t>
            </a:r>
            <a:r>
              <a:rPr dirty="0" err="1"/>
              <a:t>поддержки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2C841-D924-4E14-CA85-A6CCDCC08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5CBD68-8A00-D036-FC05-EBA227DF6883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Из чего состоит дистрибутив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3F03C5A-DB14-23FA-06BB-42ACADAB6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421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Ubuntu Server и Debian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Debian </a:t>
            </a:r>
            <a:r>
              <a:rPr dirty="0" err="1"/>
              <a:t>ценят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стабильность</a:t>
            </a:r>
            <a:r>
              <a:rPr dirty="0"/>
              <a:t> и </a:t>
            </a:r>
            <a:r>
              <a:rPr dirty="0" err="1"/>
              <a:t>аккуратный</a:t>
            </a:r>
            <a:r>
              <a:rPr dirty="0"/>
              <a:t> </a:t>
            </a:r>
            <a:r>
              <a:rPr dirty="0" err="1"/>
              <a:t>подход</a:t>
            </a:r>
            <a:r>
              <a:rPr dirty="0"/>
              <a:t> к </a:t>
            </a:r>
            <a:r>
              <a:rPr dirty="0" err="1"/>
              <a:t>пакетам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Ubuntu Server </a:t>
            </a:r>
            <a:r>
              <a:rPr dirty="0" err="1"/>
              <a:t>основан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Debian и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удобен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учебных</a:t>
            </a:r>
            <a:r>
              <a:rPr dirty="0"/>
              <a:t> </a:t>
            </a:r>
            <a:r>
              <a:rPr dirty="0" err="1"/>
              <a:t>стендов</a:t>
            </a:r>
            <a:r>
              <a:rPr dirty="0"/>
              <a:t> и </a:t>
            </a:r>
            <a:r>
              <a:rPr dirty="0" err="1"/>
              <a:t>облаков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Оба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 </a:t>
            </a:r>
            <a:r>
              <a:rPr dirty="0" err="1"/>
              <a:t>формат</a:t>
            </a:r>
            <a:r>
              <a:rPr dirty="0"/>
              <a:t> </a:t>
            </a:r>
            <a:r>
              <a:rPr dirty="0" err="1"/>
              <a:t>пакетов</a:t>
            </a:r>
            <a:r>
              <a:rPr dirty="0"/>
              <a:t> deb и </a:t>
            </a:r>
            <a:r>
              <a:rPr dirty="0" err="1"/>
              <a:t>инструменты</a:t>
            </a:r>
            <a:r>
              <a:rPr dirty="0"/>
              <a:t> apt/</a:t>
            </a:r>
            <a:r>
              <a:rPr dirty="0" err="1"/>
              <a:t>dpkg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начинающего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 Ubuntu Server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проще</a:t>
            </a:r>
            <a:r>
              <a:rPr dirty="0"/>
              <a:t> </a:t>
            </a:r>
            <a:r>
              <a:rPr dirty="0" err="1"/>
              <a:t>из-за</a:t>
            </a:r>
            <a:r>
              <a:rPr dirty="0"/>
              <a:t> </a:t>
            </a:r>
            <a:r>
              <a:rPr dirty="0" err="1"/>
              <a:t>большого</a:t>
            </a:r>
            <a:r>
              <a:rPr dirty="0"/>
              <a:t> </a:t>
            </a:r>
            <a:r>
              <a:rPr dirty="0" err="1"/>
              <a:t>количества</a:t>
            </a:r>
            <a:r>
              <a:rPr dirty="0"/>
              <a:t> </a:t>
            </a:r>
            <a:r>
              <a:rPr dirty="0" err="1"/>
              <a:t>документации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Rocky Linux и AlmaLinux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297265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Rocky Linux и </a:t>
            </a:r>
            <a:r>
              <a:rPr dirty="0" err="1"/>
              <a:t>AlmaLinux</a:t>
            </a:r>
            <a:r>
              <a:rPr dirty="0"/>
              <a:t> </a:t>
            </a:r>
            <a:r>
              <a:rPr dirty="0" err="1"/>
              <a:t>относятся</a:t>
            </a:r>
            <a:r>
              <a:rPr dirty="0"/>
              <a:t> к </a:t>
            </a:r>
            <a:r>
              <a:rPr dirty="0" err="1"/>
              <a:t>семейству</a:t>
            </a:r>
            <a:r>
              <a:rPr dirty="0"/>
              <a:t> RHEL-</a:t>
            </a:r>
            <a:r>
              <a:rPr dirty="0" err="1"/>
              <a:t>совместимых</a:t>
            </a:r>
            <a:r>
              <a:rPr dirty="0"/>
              <a:t> </a:t>
            </a:r>
            <a:r>
              <a:rPr dirty="0" err="1"/>
              <a:t>систем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Они</a:t>
            </a:r>
            <a:r>
              <a:rPr dirty="0"/>
              <a:t> </a:t>
            </a:r>
            <a:r>
              <a:rPr dirty="0" err="1"/>
              <a:t>близки</a:t>
            </a:r>
            <a:r>
              <a:rPr dirty="0"/>
              <a:t> к </a:t>
            </a:r>
            <a:r>
              <a:rPr dirty="0" err="1"/>
              <a:t>корпоративной</a:t>
            </a:r>
            <a:r>
              <a:rPr dirty="0"/>
              <a:t> </a:t>
            </a:r>
            <a:r>
              <a:rPr dirty="0" err="1"/>
              <a:t>серверной</a:t>
            </a:r>
            <a:r>
              <a:rPr dirty="0"/>
              <a:t> </a:t>
            </a:r>
            <a:r>
              <a:rPr dirty="0" err="1"/>
              <a:t>среде</a:t>
            </a:r>
            <a:r>
              <a:rPr dirty="0"/>
              <a:t> Red Hat Enterprise Linux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Используют</a:t>
            </a:r>
            <a:r>
              <a:rPr dirty="0"/>
              <a:t> </a:t>
            </a:r>
            <a:r>
              <a:rPr dirty="0" err="1"/>
              <a:t>формат</a:t>
            </a:r>
            <a:r>
              <a:rPr dirty="0"/>
              <a:t> </a:t>
            </a:r>
            <a:r>
              <a:rPr dirty="0" err="1"/>
              <a:t>пакетов</a:t>
            </a:r>
            <a:r>
              <a:rPr dirty="0"/>
              <a:t> rpm и </a:t>
            </a:r>
            <a:r>
              <a:rPr dirty="0" err="1"/>
              <a:t>пакетный</a:t>
            </a:r>
            <a:r>
              <a:rPr dirty="0"/>
              <a:t> </a:t>
            </a:r>
            <a:r>
              <a:rPr dirty="0" err="1"/>
              <a:t>менеджер</a:t>
            </a:r>
            <a:r>
              <a:rPr dirty="0"/>
              <a:t> </a:t>
            </a:r>
            <a:r>
              <a:rPr dirty="0" err="1"/>
              <a:t>dnf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Подходят</a:t>
            </a:r>
            <a:r>
              <a:rPr dirty="0"/>
              <a:t>, </a:t>
            </a:r>
            <a:r>
              <a:rPr dirty="0" err="1"/>
              <a:t>когда</a:t>
            </a:r>
            <a:r>
              <a:rPr dirty="0"/>
              <a:t> </a:t>
            </a:r>
            <a:r>
              <a:rPr dirty="0" err="1"/>
              <a:t>нужна</a:t>
            </a:r>
            <a:r>
              <a:rPr dirty="0"/>
              <a:t> </a:t>
            </a:r>
            <a:r>
              <a:rPr dirty="0" err="1"/>
              <a:t>совместимость</a:t>
            </a:r>
            <a:r>
              <a:rPr dirty="0"/>
              <a:t> с </a:t>
            </a:r>
            <a:r>
              <a:rPr dirty="0" err="1"/>
              <a:t>корпоративными</a:t>
            </a:r>
            <a:r>
              <a:rPr dirty="0"/>
              <a:t> Linux-</a:t>
            </a:r>
            <a:r>
              <a:rPr dirty="0" err="1"/>
              <a:t>решениями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Как выбор дистрибутива влияет на работу администратора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пакетный</a:t>
            </a:r>
            <a:r>
              <a:rPr dirty="0"/>
              <a:t> </a:t>
            </a:r>
            <a:r>
              <a:rPr dirty="0" err="1"/>
              <a:t>менеджер</a:t>
            </a:r>
            <a:r>
              <a:rPr dirty="0"/>
              <a:t>: apt, </a:t>
            </a:r>
            <a:r>
              <a:rPr dirty="0" err="1"/>
              <a:t>dnf</a:t>
            </a:r>
            <a:r>
              <a:rPr dirty="0"/>
              <a:t>, yum, snap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отличаться</a:t>
            </a:r>
            <a:r>
              <a:rPr dirty="0"/>
              <a:t> </a:t>
            </a:r>
            <a:r>
              <a:rPr dirty="0" err="1"/>
              <a:t>имена</a:t>
            </a:r>
            <a:r>
              <a:rPr dirty="0"/>
              <a:t> </a:t>
            </a:r>
            <a:r>
              <a:rPr dirty="0" err="1"/>
              <a:t>пакетов</a:t>
            </a:r>
            <a:r>
              <a:rPr dirty="0"/>
              <a:t> и </a:t>
            </a:r>
            <a:r>
              <a:rPr dirty="0" err="1"/>
              <a:t>расположение</a:t>
            </a:r>
            <a:r>
              <a:rPr dirty="0"/>
              <a:t> </a:t>
            </a:r>
            <a:r>
              <a:rPr dirty="0" err="1"/>
              <a:t>некоторых</a:t>
            </a:r>
            <a:r>
              <a:rPr dirty="0"/>
              <a:t> </a:t>
            </a:r>
            <a:r>
              <a:rPr dirty="0" err="1"/>
              <a:t>конфигурационных</a:t>
            </a:r>
            <a:r>
              <a:rPr dirty="0"/>
              <a:t> </a:t>
            </a:r>
            <a:r>
              <a:rPr dirty="0" err="1"/>
              <a:t>файлов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срок</a:t>
            </a:r>
            <a:r>
              <a:rPr dirty="0"/>
              <a:t> </a:t>
            </a:r>
            <a:r>
              <a:rPr dirty="0" err="1"/>
              <a:t>поддержки</a:t>
            </a:r>
            <a:r>
              <a:rPr dirty="0"/>
              <a:t> и </a:t>
            </a:r>
            <a:r>
              <a:rPr dirty="0" err="1"/>
              <a:t>политика</a:t>
            </a:r>
            <a:r>
              <a:rPr dirty="0"/>
              <a:t> </a:t>
            </a:r>
            <a:r>
              <a:rPr dirty="0" err="1"/>
              <a:t>обновлений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Инструкции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интернета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сверять</a:t>
            </a:r>
            <a:r>
              <a:rPr dirty="0"/>
              <a:t> с </a:t>
            </a:r>
            <a:r>
              <a:rPr dirty="0" err="1"/>
              <a:t>дистрибутивом</a:t>
            </a:r>
            <a:r>
              <a:rPr dirty="0"/>
              <a:t> и </a:t>
            </a:r>
            <a:r>
              <a:rPr dirty="0" err="1"/>
              <a:t>версией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56587" y="182880"/>
            <a:ext cx="9648346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3. </a:t>
            </a:r>
            <a:r>
              <a:rPr dirty="0" err="1"/>
              <a:t>Почему</a:t>
            </a:r>
            <a:r>
              <a:rPr dirty="0"/>
              <a:t> Linux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серверах</a:t>
            </a:r>
            <a:r>
              <a:rPr dirty="0"/>
              <a:t>: </a:t>
            </a:r>
            <a:endParaRPr lang="en-US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стабильность</a:t>
            </a:r>
            <a:r>
              <a:rPr dirty="0"/>
              <a:t>, </a:t>
            </a: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CLI, </a:t>
            </a:r>
            <a:r>
              <a:rPr dirty="0" err="1"/>
              <a:t>пакеты</a:t>
            </a:r>
            <a:r>
              <a:rPr dirty="0"/>
              <a:t>, </a:t>
            </a:r>
            <a:r>
              <a:rPr dirty="0" err="1"/>
              <a:t>службы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199" y="1445342"/>
            <a:ext cx="11400503" cy="468113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Linux </a:t>
            </a:r>
            <a:r>
              <a:rPr dirty="0" err="1"/>
              <a:t>хорошо</a:t>
            </a:r>
            <a:r>
              <a:rPr dirty="0"/>
              <a:t> </a:t>
            </a:r>
            <a:r>
              <a:rPr dirty="0" err="1"/>
              <a:t>подходит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длительной</a:t>
            </a:r>
            <a:r>
              <a:rPr dirty="0"/>
              <a:t> </a:t>
            </a:r>
            <a:r>
              <a:rPr dirty="0" err="1"/>
              <a:t>фоновой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</a:t>
            </a:r>
            <a:r>
              <a:rPr dirty="0" err="1"/>
              <a:t>служб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администрировать</a:t>
            </a:r>
            <a:r>
              <a:rPr dirty="0"/>
              <a:t> </a:t>
            </a:r>
            <a:r>
              <a:rPr dirty="0" err="1"/>
              <a:t>удаленно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командную</a:t>
            </a:r>
            <a:r>
              <a:rPr dirty="0"/>
              <a:t> </a:t>
            </a:r>
            <a:r>
              <a:rPr dirty="0" err="1"/>
              <a:t>строку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Пакетные</a:t>
            </a:r>
            <a:r>
              <a:rPr dirty="0"/>
              <a:t> </a:t>
            </a:r>
            <a:r>
              <a:rPr dirty="0" err="1"/>
              <a:t>менеджеры</a:t>
            </a:r>
            <a:r>
              <a:rPr dirty="0"/>
              <a:t> </a:t>
            </a:r>
            <a:r>
              <a:rPr dirty="0" err="1"/>
              <a:t>позволяют</a:t>
            </a:r>
            <a:r>
              <a:rPr dirty="0"/>
              <a:t> </a:t>
            </a:r>
            <a:r>
              <a:rPr dirty="0" err="1"/>
              <a:t>управлять</a:t>
            </a:r>
            <a:r>
              <a:rPr dirty="0"/>
              <a:t> ПО </a:t>
            </a:r>
            <a:r>
              <a:rPr dirty="0" err="1"/>
              <a:t>централизованно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Открытая</a:t>
            </a:r>
            <a:r>
              <a:rPr dirty="0"/>
              <a:t> </a:t>
            </a:r>
            <a:r>
              <a:rPr dirty="0" err="1"/>
              <a:t>экосистема</a:t>
            </a:r>
            <a:r>
              <a:rPr dirty="0"/>
              <a:t> </a:t>
            </a:r>
            <a:r>
              <a:rPr dirty="0" err="1"/>
              <a:t>дает</a:t>
            </a:r>
            <a:r>
              <a:rPr dirty="0"/>
              <a:t> </a:t>
            </a:r>
            <a:r>
              <a:rPr dirty="0" err="1"/>
              <a:t>много</a:t>
            </a:r>
            <a:r>
              <a:rPr dirty="0"/>
              <a:t> </a:t>
            </a:r>
            <a:r>
              <a:rPr dirty="0" err="1"/>
              <a:t>серверного</a:t>
            </a:r>
            <a:r>
              <a:rPr dirty="0"/>
              <a:t> ПО и </a:t>
            </a:r>
            <a:r>
              <a:rPr dirty="0" err="1"/>
              <a:t>документации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Стабильность и поддержка как серверное требование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работать</a:t>
            </a:r>
            <a:r>
              <a:rPr dirty="0"/>
              <a:t> </a:t>
            </a:r>
            <a:r>
              <a:rPr dirty="0" err="1"/>
              <a:t>предсказуемо</a:t>
            </a:r>
            <a:r>
              <a:rPr dirty="0"/>
              <a:t> и </a:t>
            </a:r>
            <a:r>
              <a:rPr dirty="0" err="1"/>
              <a:t>долго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Обновления</a:t>
            </a:r>
            <a:r>
              <a:rPr dirty="0"/>
              <a:t> </a:t>
            </a:r>
            <a:r>
              <a:rPr dirty="0" err="1"/>
              <a:t>должны</a:t>
            </a:r>
            <a:r>
              <a:rPr dirty="0"/>
              <a:t> </a:t>
            </a:r>
            <a:r>
              <a:rPr dirty="0" err="1"/>
              <a:t>закрывать</a:t>
            </a:r>
            <a:r>
              <a:rPr dirty="0"/>
              <a:t> </a:t>
            </a:r>
            <a:r>
              <a:rPr dirty="0" err="1"/>
              <a:t>уязвимости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ломать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неожиданно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Журналы</a:t>
            </a:r>
            <a:r>
              <a:rPr dirty="0"/>
              <a:t> </a:t>
            </a:r>
            <a:r>
              <a:rPr dirty="0" err="1"/>
              <a:t>должны</a:t>
            </a:r>
            <a:r>
              <a:rPr dirty="0"/>
              <a:t> </a:t>
            </a:r>
            <a:r>
              <a:rPr dirty="0" err="1"/>
              <a:t>позволять</a:t>
            </a:r>
            <a:r>
              <a:rPr dirty="0"/>
              <a:t> </a:t>
            </a:r>
            <a:r>
              <a:rPr dirty="0" err="1"/>
              <a:t>найти</a:t>
            </a:r>
            <a:r>
              <a:rPr dirty="0"/>
              <a:t> </a:t>
            </a:r>
            <a:r>
              <a:rPr dirty="0" err="1"/>
              <a:t>причину</a:t>
            </a:r>
            <a:r>
              <a:rPr dirty="0"/>
              <a:t> </a:t>
            </a:r>
            <a:r>
              <a:rPr dirty="0" err="1"/>
              <a:t>сбоя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планирует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выполняет</a:t>
            </a:r>
            <a:r>
              <a:rPr dirty="0"/>
              <a:t> </a:t>
            </a:r>
            <a:r>
              <a:rPr dirty="0" err="1"/>
              <a:t>их</a:t>
            </a:r>
            <a:r>
              <a:rPr dirty="0"/>
              <a:t> </a:t>
            </a:r>
            <a:r>
              <a:rPr dirty="0" err="1"/>
              <a:t>случайно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CLI как профессиональный способ управления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CLI — Command Line Interface, </a:t>
            </a:r>
            <a:r>
              <a:rPr dirty="0" err="1"/>
              <a:t>командный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управления</a:t>
            </a:r>
            <a:r>
              <a:rPr dirty="0"/>
              <a:t> </a:t>
            </a:r>
            <a:r>
              <a:rPr dirty="0" err="1"/>
              <a:t>системой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Команду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повторить</a:t>
            </a:r>
            <a:r>
              <a:rPr dirty="0"/>
              <a:t>, </a:t>
            </a:r>
            <a:r>
              <a:rPr dirty="0" err="1"/>
              <a:t>записать</a:t>
            </a:r>
            <a:r>
              <a:rPr dirty="0"/>
              <a:t> в </a:t>
            </a:r>
            <a:r>
              <a:rPr dirty="0" err="1"/>
              <a:t>отчет</a:t>
            </a:r>
            <a:r>
              <a:rPr dirty="0"/>
              <a:t> и </a:t>
            </a:r>
            <a:r>
              <a:rPr dirty="0" err="1"/>
              <a:t>автоматизировать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/>
              <a:t>CLI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SSH </a:t>
            </a:r>
            <a:r>
              <a:rPr dirty="0" err="1"/>
              <a:t>даже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графической</a:t>
            </a:r>
            <a:r>
              <a:rPr dirty="0"/>
              <a:t> </a:t>
            </a:r>
            <a:r>
              <a:rPr dirty="0" err="1"/>
              <a:t>оболочки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серверной</a:t>
            </a:r>
            <a:r>
              <a:rPr dirty="0"/>
              <a:t> </a:t>
            </a:r>
            <a:r>
              <a:rPr dirty="0" err="1"/>
              <a:t>практике</a:t>
            </a:r>
            <a:r>
              <a:rPr dirty="0"/>
              <a:t> CLI —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усложнение</a:t>
            </a:r>
            <a:r>
              <a:rPr dirty="0"/>
              <a:t>, а </a:t>
            </a:r>
            <a:r>
              <a:rPr dirty="0" err="1"/>
              <a:t>способ</a:t>
            </a:r>
            <a:r>
              <a:rPr dirty="0"/>
              <a:t> </a:t>
            </a:r>
            <a:r>
              <a:rPr dirty="0" err="1"/>
              <a:t>точного</a:t>
            </a:r>
            <a:r>
              <a:rPr dirty="0"/>
              <a:t> </a:t>
            </a:r>
            <a:r>
              <a:rPr dirty="0" err="1"/>
              <a:t>управления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Пакеты и службы как основа сопровождения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Серверное</a:t>
            </a:r>
            <a:r>
              <a:rPr dirty="0"/>
              <a:t> ПО </a:t>
            </a:r>
            <a:r>
              <a:rPr dirty="0" err="1"/>
              <a:t>устанавливается</a:t>
            </a:r>
            <a:r>
              <a:rPr dirty="0"/>
              <a:t> </a:t>
            </a:r>
            <a:r>
              <a:rPr dirty="0" err="1"/>
              <a:t>пакетами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доверенных</a:t>
            </a:r>
            <a:r>
              <a:rPr dirty="0"/>
              <a:t> </a:t>
            </a:r>
            <a:r>
              <a:rPr dirty="0" err="1"/>
              <a:t>источников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установки</a:t>
            </a:r>
            <a:r>
              <a:rPr dirty="0"/>
              <a:t> </a:t>
            </a: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наличие</a:t>
            </a:r>
            <a:r>
              <a:rPr dirty="0"/>
              <a:t> </a:t>
            </a:r>
            <a:r>
              <a:rPr dirty="0" err="1"/>
              <a:t>программы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и </a:t>
            </a:r>
            <a:r>
              <a:rPr dirty="0" err="1"/>
              <a:t>состояние</a:t>
            </a:r>
            <a:r>
              <a:rPr dirty="0"/>
              <a:t> </a:t>
            </a:r>
            <a:r>
              <a:rPr dirty="0" err="1"/>
              <a:t>службы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должна</a:t>
            </a:r>
            <a:r>
              <a:rPr dirty="0"/>
              <a:t> </a:t>
            </a:r>
            <a:r>
              <a:rPr dirty="0" err="1"/>
              <a:t>запускаться</a:t>
            </a:r>
            <a:r>
              <a:rPr dirty="0"/>
              <a:t> </a:t>
            </a:r>
            <a:r>
              <a:rPr dirty="0" err="1"/>
              <a:t>сейчас</a:t>
            </a:r>
            <a:r>
              <a:rPr dirty="0"/>
              <a:t> и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следующей</a:t>
            </a:r>
            <a:r>
              <a:rPr dirty="0"/>
              <a:t> </a:t>
            </a:r>
            <a:r>
              <a:rPr dirty="0" err="1"/>
              <a:t>загрузке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Обновление</a:t>
            </a:r>
            <a:r>
              <a:rPr dirty="0"/>
              <a:t> </a:t>
            </a:r>
            <a:r>
              <a:rPr dirty="0" err="1"/>
              <a:t>пакета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повлиять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службу</a:t>
            </a:r>
            <a:r>
              <a:rPr dirty="0"/>
              <a:t>, </a:t>
            </a:r>
            <a:r>
              <a:rPr dirty="0" err="1"/>
              <a:t>поэтому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проверяются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B997B-8F32-E9CC-2B5C-82FE9ABFD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18F5D7-8C6A-B34B-00CA-1D3FFF29B51D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Пакеты и службы как основа сопровождения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A1669F7-54F1-35DF-B708-8E5AE3C10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9890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8CF67-9299-F8B4-68CE-DCEA17EC0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AB0B2E-C678-3865-B5B4-1C0A6B045062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Пакеты и службы как основа сопровождения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DD0F8BB-B232-21CD-0FED-A22A54574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6914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5823" y="182880"/>
            <a:ext cx="11009873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4.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уже</a:t>
            </a:r>
            <a:r>
              <a:rPr dirty="0"/>
              <a:t> </a:t>
            </a:r>
            <a:r>
              <a:rPr dirty="0" err="1"/>
              <a:t>должно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подготовлено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РО1.1: </a:t>
            </a:r>
            <a:endParaRPr lang="en-US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виртуальная</a:t>
            </a:r>
            <a:r>
              <a:rPr dirty="0"/>
              <a:t> </a:t>
            </a:r>
            <a:r>
              <a:rPr dirty="0" err="1"/>
              <a:t>машина</a:t>
            </a:r>
            <a:r>
              <a:rPr dirty="0"/>
              <a:t>, </a:t>
            </a:r>
            <a:r>
              <a:rPr dirty="0" err="1"/>
              <a:t>установленная</a:t>
            </a:r>
            <a:r>
              <a:rPr dirty="0"/>
              <a:t> ОС, </a:t>
            </a:r>
            <a:r>
              <a:rPr dirty="0" err="1"/>
              <a:t>пользователь</a:t>
            </a:r>
            <a:r>
              <a:rPr dirty="0"/>
              <a:t>, </a:t>
            </a:r>
            <a:r>
              <a:rPr dirty="0" err="1"/>
              <a:t>сеть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578076"/>
            <a:ext cx="11267768" cy="454840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ВМ — Virtual Machine, </a:t>
            </a:r>
            <a:r>
              <a:rPr dirty="0" err="1"/>
              <a:t>виртуальная</a:t>
            </a:r>
            <a:r>
              <a:rPr dirty="0"/>
              <a:t> </a:t>
            </a:r>
            <a:r>
              <a:rPr dirty="0" err="1"/>
              <a:t>машина</a:t>
            </a:r>
            <a:r>
              <a:rPr dirty="0"/>
              <a:t>, </a:t>
            </a:r>
            <a:r>
              <a:rPr dirty="0" err="1"/>
              <a:t>имитирующая</a:t>
            </a:r>
            <a:r>
              <a:rPr dirty="0"/>
              <a:t> </a:t>
            </a:r>
            <a:r>
              <a:rPr dirty="0" err="1"/>
              <a:t>отдельный</a:t>
            </a:r>
            <a:r>
              <a:rPr dirty="0"/>
              <a:t> </a:t>
            </a:r>
            <a:r>
              <a:rPr dirty="0" err="1"/>
              <a:t>компьютер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Установленная</a:t>
            </a:r>
            <a:r>
              <a:rPr dirty="0"/>
              <a:t> ОС </a:t>
            </a:r>
            <a:r>
              <a:rPr dirty="0" err="1"/>
              <a:t>должна</a:t>
            </a:r>
            <a:r>
              <a:rPr dirty="0"/>
              <a:t> </a:t>
            </a:r>
            <a:r>
              <a:rPr dirty="0" err="1"/>
              <a:t>загружаться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критических</a:t>
            </a:r>
            <a:r>
              <a:rPr dirty="0"/>
              <a:t> </a:t>
            </a:r>
            <a:r>
              <a:rPr dirty="0" err="1"/>
              <a:t>ошибок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Должна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учетная</a:t>
            </a:r>
            <a:r>
              <a:rPr dirty="0"/>
              <a:t> </a:t>
            </a:r>
            <a:r>
              <a:rPr dirty="0" err="1"/>
              <a:t>запись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входа</a:t>
            </a:r>
            <a:r>
              <a:rPr dirty="0"/>
              <a:t> и </a:t>
            </a:r>
            <a:r>
              <a:rPr dirty="0" err="1"/>
              <a:t>понятный</a:t>
            </a:r>
            <a:r>
              <a:rPr dirty="0"/>
              <a:t> </a:t>
            </a:r>
            <a:r>
              <a:rPr dirty="0" err="1"/>
              <a:t>способ</a:t>
            </a:r>
            <a:r>
              <a:rPr dirty="0"/>
              <a:t> </a:t>
            </a:r>
            <a:r>
              <a:rPr dirty="0" err="1"/>
              <a:t>получения</a:t>
            </a:r>
            <a:r>
              <a:rPr dirty="0"/>
              <a:t> </a:t>
            </a:r>
            <a:r>
              <a:rPr dirty="0" err="1"/>
              <a:t>прав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Сеть</a:t>
            </a:r>
            <a:r>
              <a:rPr dirty="0"/>
              <a:t> ВМ </a:t>
            </a:r>
            <a:r>
              <a:rPr dirty="0" err="1"/>
              <a:t>должна</a:t>
            </a:r>
            <a:r>
              <a:rPr dirty="0"/>
              <a:t> </a:t>
            </a:r>
            <a:r>
              <a:rPr dirty="0" err="1"/>
              <a:t>позволять</a:t>
            </a:r>
            <a:r>
              <a:rPr dirty="0"/>
              <a:t> </a:t>
            </a:r>
            <a:r>
              <a:rPr dirty="0" err="1"/>
              <a:t>проверять</a:t>
            </a:r>
            <a:r>
              <a:rPr dirty="0"/>
              <a:t> </a:t>
            </a:r>
            <a:r>
              <a:rPr dirty="0" err="1"/>
              <a:t>адреса</a:t>
            </a:r>
            <a:r>
              <a:rPr dirty="0"/>
              <a:t> и,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необходимости</a:t>
            </a:r>
            <a:r>
              <a:rPr dirty="0"/>
              <a:t>, SSH-</a:t>
            </a:r>
            <a:r>
              <a:rPr dirty="0" err="1"/>
              <a:t>доступ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07575" y="182880"/>
            <a:ext cx="8746369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5. </a:t>
            </a:r>
            <a:r>
              <a:rPr dirty="0" err="1"/>
              <a:t>Первичный</a:t>
            </a:r>
            <a:r>
              <a:rPr dirty="0"/>
              <a:t> </a:t>
            </a:r>
            <a:r>
              <a:rPr dirty="0" err="1"/>
              <a:t>вход</a:t>
            </a:r>
            <a:r>
              <a:rPr dirty="0"/>
              <a:t> в </a:t>
            </a:r>
            <a:r>
              <a:rPr dirty="0" err="1"/>
              <a:t>систему</a:t>
            </a:r>
            <a:r>
              <a:rPr dirty="0"/>
              <a:t>: </a:t>
            </a:r>
            <a:endParaRPr lang="en-US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локальная</a:t>
            </a:r>
            <a:r>
              <a:rPr dirty="0"/>
              <a:t> </a:t>
            </a:r>
            <a:r>
              <a:rPr dirty="0" err="1"/>
              <a:t>консоль</a:t>
            </a:r>
            <a:r>
              <a:rPr dirty="0"/>
              <a:t> и SSH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уровне</a:t>
            </a:r>
            <a:r>
              <a:rPr dirty="0"/>
              <a:t> </a:t>
            </a:r>
            <a:r>
              <a:rPr dirty="0" err="1"/>
              <a:t>назначения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651818"/>
            <a:ext cx="11415252" cy="476373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Локальная</a:t>
            </a:r>
            <a:r>
              <a:rPr dirty="0"/>
              <a:t> </a:t>
            </a:r>
            <a:r>
              <a:rPr dirty="0" err="1"/>
              <a:t>консоль</a:t>
            </a:r>
            <a:r>
              <a:rPr dirty="0"/>
              <a:t> — </a:t>
            </a:r>
            <a:r>
              <a:rPr dirty="0" err="1"/>
              <a:t>вход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окно</a:t>
            </a:r>
            <a:r>
              <a:rPr dirty="0"/>
              <a:t> ВМ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физический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к </a:t>
            </a:r>
            <a:r>
              <a:rPr dirty="0" err="1"/>
              <a:t>серверу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SSH — Secure Shell, </a:t>
            </a:r>
            <a:r>
              <a:rPr dirty="0" err="1"/>
              <a:t>защищенный</a:t>
            </a:r>
            <a:r>
              <a:rPr dirty="0"/>
              <a:t> </a:t>
            </a:r>
            <a:r>
              <a:rPr dirty="0" err="1"/>
              <a:t>удаленный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к </a:t>
            </a:r>
            <a:r>
              <a:rPr dirty="0" err="1"/>
              <a:t>командной</a:t>
            </a:r>
            <a:r>
              <a:rPr dirty="0"/>
              <a:t> </a:t>
            </a:r>
            <a:r>
              <a:rPr dirty="0" err="1"/>
              <a:t>строке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первой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локальная</a:t>
            </a:r>
            <a:r>
              <a:rPr dirty="0"/>
              <a:t> </a:t>
            </a:r>
            <a:r>
              <a:rPr dirty="0" err="1"/>
              <a:t>консоль</a:t>
            </a:r>
            <a:r>
              <a:rPr dirty="0"/>
              <a:t> </a:t>
            </a:r>
            <a:r>
              <a:rPr dirty="0" err="1"/>
              <a:t>надежнее</a:t>
            </a:r>
            <a:r>
              <a:rPr dirty="0"/>
              <a:t>: </a:t>
            </a:r>
            <a:r>
              <a:rPr dirty="0" err="1"/>
              <a:t>она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даже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проблемах</a:t>
            </a:r>
            <a:r>
              <a:rPr dirty="0"/>
              <a:t> </a:t>
            </a:r>
            <a:r>
              <a:rPr dirty="0" err="1"/>
              <a:t>сети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SSH </a:t>
            </a:r>
            <a:r>
              <a:rPr dirty="0" err="1"/>
              <a:t>нужен</a:t>
            </a:r>
            <a:r>
              <a:rPr dirty="0"/>
              <a:t>, </a:t>
            </a:r>
            <a:r>
              <a:rPr dirty="0" err="1"/>
              <a:t>когда</a:t>
            </a:r>
            <a:r>
              <a:rPr dirty="0"/>
              <a:t> 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уже</a:t>
            </a:r>
            <a:r>
              <a:rPr dirty="0"/>
              <a:t> </a:t>
            </a:r>
            <a:r>
              <a:rPr dirty="0" err="1"/>
              <a:t>доступен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 и </a:t>
            </a:r>
            <a:r>
              <a:rPr dirty="0" err="1"/>
              <a:t>управляется</a:t>
            </a:r>
            <a:r>
              <a:rPr dirty="0"/>
              <a:t> </a:t>
            </a:r>
            <a:r>
              <a:rPr dirty="0" err="1"/>
              <a:t>удаленно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Локальный вход и удаленный вход: когда что использовать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326761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Локальная</a:t>
            </a:r>
            <a:r>
              <a:rPr dirty="0"/>
              <a:t> </a:t>
            </a:r>
            <a:r>
              <a:rPr dirty="0" err="1"/>
              <a:t>консоль</a:t>
            </a:r>
            <a:r>
              <a:rPr dirty="0"/>
              <a:t> </a:t>
            </a:r>
            <a:r>
              <a:rPr dirty="0" err="1"/>
              <a:t>нужна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первичной</a:t>
            </a:r>
            <a:r>
              <a:rPr dirty="0"/>
              <a:t> </a:t>
            </a:r>
            <a:r>
              <a:rPr dirty="0" err="1"/>
              <a:t>настройке</a:t>
            </a:r>
            <a:r>
              <a:rPr dirty="0"/>
              <a:t> и </a:t>
            </a:r>
            <a:r>
              <a:rPr dirty="0" err="1"/>
              <a:t>потере</a:t>
            </a:r>
            <a:r>
              <a:rPr dirty="0"/>
              <a:t> </a:t>
            </a:r>
            <a:r>
              <a:rPr dirty="0" err="1"/>
              <a:t>сети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SSH </a:t>
            </a:r>
            <a:r>
              <a:rPr dirty="0" err="1"/>
              <a:t>нужен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обычной</a:t>
            </a:r>
            <a:r>
              <a:rPr dirty="0"/>
              <a:t> </a:t>
            </a:r>
            <a:r>
              <a:rPr dirty="0" err="1"/>
              <a:t>ежедневной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изменением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firewall </a:t>
            </a: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иметь</a:t>
            </a:r>
            <a:r>
              <a:rPr dirty="0"/>
              <a:t> </a:t>
            </a:r>
            <a:r>
              <a:rPr dirty="0" err="1"/>
              <a:t>резервный</a:t>
            </a:r>
            <a:r>
              <a:rPr dirty="0"/>
              <a:t> </a:t>
            </a:r>
            <a:r>
              <a:rPr dirty="0" err="1"/>
              <a:t>способ</a:t>
            </a:r>
            <a:r>
              <a:rPr dirty="0"/>
              <a:t> </a:t>
            </a:r>
            <a:r>
              <a:rPr dirty="0" err="1"/>
              <a:t>входа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входа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убедиться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нужный</a:t>
            </a:r>
            <a:r>
              <a:rPr dirty="0"/>
              <a:t> </a:t>
            </a:r>
            <a:r>
              <a:rPr dirty="0" err="1"/>
              <a:t>сервер</a:t>
            </a:r>
            <a:r>
              <a:rPr dirty="0"/>
              <a:t> и </a:t>
            </a:r>
            <a:r>
              <a:rPr dirty="0" err="1"/>
              <a:t>нужный</a:t>
            </a:r>
            <a:r>
              <a:rPr dirty="0"/>
              <a:t> </a:t>
            </a:r>
            <a:r>
              <a:rPr dirty="0" err="1"/>
              <a:t>пользователь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текущего пользователя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Задача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: </a:t>
            </a:r>
            <a:r>
              <a:rPr dirty="0" err="1"/>
              <a:t>убедиться</a:t>
            </a:r>
            <a:r>
              <a:rPr dirty="0"/>
              <a:t>,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чьего</a:t>
            </a:r>
            <a:r>
              <a:rPr dirty="0"/>
              <a:t> </a:t>
            </a:r>
            <a:r>
              <a:rPr dirty="0" err="1"/>
              <a:t>имени</a:t>
            </a:r>
            <a:r>
              <a:rPr dirty="0"/>
              <a:t> </a:t>
            </a:r>
            <a:r>
              <a:rPr dirty="0" err="1"/>
              <a:t>выполняются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Команда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whoami</a:t>
            </a:r>
            <a:endParaRPr b="1" dirty="0">
              <a:solidFill>
                <a:srgbClr val="002060"/>
              </a:solidFill>
            </a:endParaRP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whoami</a:t>
            </a:r>
            <a:endParaRPr b="1" dirty="0">
              <a:solidFill>
                <a:srgbClr val="002060"/>
              </a:solidFill>
            </a:endParaRP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: student</a:t>
            </a:r>
          </a:p>
          <a:p>
            <a:pPr indent="354013">
              <a:defRPr sz="3600"/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: </a:t>
            </a: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выполняются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имени</a:t>
            </a:r>
            <a:r>
              <a:rPr dirty="0"/>
              <a:t> student;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административных</a:t>
            </a:r>
            <a:r>
              <a:rPr dirty="0"/>
              <a:t> </a:t>
            </a:r>
            <a:r>
              <a:rPr dirty="0" err="1"/>
              <a:t>действий</a:t>
            </a:r>
            <a:r>
              <a:rPr dirty="0"/>
              <a:t> </a:t>
            </a:r>
            <a:r>
              <a:rPr dirty="0" err="1"/>
              <a:t>потребуется</a:t>
            </a:r>
            <a:r>
              <a:rPr dirty="0"/>
              <a:t> </a:t>
            </a:r>
            <a:r>
              <a:rPr dirty="0" err="1"/>
              <a:t>sudo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идентификаторов и групп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13355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indent="354013">
              <a:defRPr sz="3600"/>
            </a:pPr>
            <a:r>
              <a:rPr dirty="0" err="1"/>
              <a:t>Задача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: </a:t>
            </a:r>
            <a:r>
              <a:rPr dirty="0" err="1"/>
              <a:t>понять</a:t>
            </a:r>
            <a:r>
              <a:rPr dirty="0"/>
              <a:t>,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у </a:t>
            </a:r>
            <a:r>
              <a:rPr dirty="0" err="1"/>
              <a:t>пользователя</a:t>
            </a:r>
            <a:r>
              <a:rPr dirty="0"/>
              <a:t> </a:t>
            </a:r>
            <a:r>
              <a:rPr dirty="0" err="1"/>
              <a:t>административная</a:t>
            </a:r>
            <a:r>
              <a:rPr dirty="0"/>
              <a:t> </a:t>
            </a:r>
            <a:r>
              <a:rPr dirty="0" err="1"/>
              <a:t>группа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Команда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id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id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: </a:t>
            </a:r>
            <a:r>
              <a:rPr dirty="0" err="1"/>
              <a:t>uid</a:t>
            </a:r>
            <a:r>
              <a:rPr dirty="0"/>
              <a:t>=1000(student) gid=1000(student) groups=1000(student),27(</a:t>
            </a:r>
            <a:r>
              <a:rPr dirty="0" err="1"/>
              <a:t>sudo</a:t>
            </a:r>
            <a:r>
              <a:rPr dirty="0"/>
              <a:t>)</a:t>
            </a:r>
          </a:p>
          <a:p>
            <a:pPr indent="354013">
              <a:defRPr sz="3600"/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: </a:t>
            </a:r>
            <a:r>
              <a:rPr dirty="0" err="1"/>
              <a:t>наличие</a:t>
            </a:r>
            <a:r>
              <a:rPr dirty="0"/>
              <a:t> </a:t>
            </a:r>
            <a:r>
              <a:rPr dirty="0" err="1"/>
              <a:t>группы</a:t>
            </a:r>
            <a:r>
              <a:rPr dirty="0"/>
              <a:t>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означает</a:t>
            </a:r>
            <a:r>
              <a:rPr dirty="0"/>
              <a:t> </a:t>
            </a:r>
            <a:r>
              <a:rPr dirty="0" err="1"/>
              <a:t>потенциальную</a:t>
            </a:r>
            <a:r>
              <a:rPr dirty="0"/>
              <a:t> </a:t>
            </a:r>
            <a:r>
              <a:rPr dirty="0" err="1"/>
              <a:t>возможность</a:t>
            </a:r>
            <a:r>
              <a:rPr dirty="0"/>
              <a:t> </a:t>
            </a:r>
            <a:r>
              <a:rPr dirty="0" err="1"/>
              <a:t>выполнять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sudo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B6CF34C-7930-A273-CC6F-27E68BE21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80" y="4398553"/>
            <a:ext cx="11111220" cy="180229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удаленного входа по SSH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8817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442913">
              <a:defRPr sz="3600"/>
            </a:pPr>
            <a:r>
              <a:rPr dirty="0" err="1"/>
              <a:t>Задача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: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удаленный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к </a:t>
            </a:r>
            <a:r>
              <a:rPr dirty="0" err="1"/>
              <a:t>серверу</a:t>
            </a:r>
            <a:r>
              <a:rPr dirty="0"/>
              <a:t>, </a:t>
            </a:r>
            <a:r>
              <a:rPr dirty="0" err="1"/>
              <a:t>когда</a:t>
            </a:r>
            <a:r>
              <a:rPr dirty="0"/>
              <a:t> </a:t>
            </a:r>
            <a:r>
              <a:rPr dirty="0" err="1"/>
              <a:t>сеть</a:t>
            </a:r>
            <a:r>
              <a:rPr dirty="0"/>
              <a:t> </a:t>
            </a:r>
            <a:r>
              <a:rPr dirty="0" err="1"/>
              <a:t>уже</a:t>
            </a:r>
            <a:r>
              <a:rPr dirty="0"/>
              <a:t> </a:t>
            </a:r>
            <a:r>
              <a:rPr dirty="0" err="1"/>
              <a:t>настроена</a:t>
            </a:r>
            <a:r>
              <a:rPr lang="en-US" dirty="0"/>
              <a:t>.</a:t>
            </a:r>
            <a:endParaRPr dirty="0"/>
          </a:p>
          <a:p>
            <a:pPr indent="442913">
              <a:defRPr sz="3600"/>
            </a:pPr>
            <a:r>
              <a:rPr dirty="0" err="1"/>
              <a:t>Команда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ssh </a:t>
            </a:r>
            <a:r>
              <a:rPr b="1" dirty="0" err="1">
                <a:solidFill>
                  <a:srgbClr val="002060"/>
                </a:solidFill>
              </a:rPr>
              <a:t>пользователь@адрес</a:t>
            </a:r>
            <a:endParaRPr b="1" dirty="0">
              <a:solidFill>
                <a:srgbClr val="002060"/>
              </a:solidFill>
            </a:endParaRPr>
          </a:p>
          <a:p>
            <a:pPr indent="4429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ssh student@192.168.10.20</a:t>
            </a:r>
          </a:p>
          <a:p>
            <a:pPr indent="4429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: </a:t>
            </a:r>
            <a:r>
              <a:rPr dirty="0" err="1"/>
              <a:t>появляется</a:t>
            </a:r>
            <a:r>
              <a:rPr dirty="0"/>
              <a:t> </a:t>
            </a:r>
            <a:r>
              <a:rPr dirty="0" err="1"/>
              <a:t>приглашение</a:t>
            </a:r>
            <a:r>
              <a:rPr dirty="0"/>
              <a:t> </a:t>
            </a:r>
            <a:r>
              <a:rPr dirty="0" err="1"/>
              <a:t>удаленного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lang="en-US" dirty="0"/>
              <a:t>.</a:t>
            </a:r>
            <a:endParaRPr dirty="0"/>
          </a:p>
          <a:p>
            <a:pPr indent="442913">
              <a:defRPr sz="3600"/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: </a:t>
            </a:r>
            <a:r>
              <a:rPr dirty="0" err="1"/>
              <a:t>успешный</a:t>
            </a:r>
            <a:r>
              <a:rPr dirty="0"/>
              <a:t> </a:t>
            </a:r>
            <a:r>
              <a:rPr dirty="0" err="1"/>
              <a:t>вход</a:t>
            </a:r>
            <a:r>
              <a:rPr dirty="0"/>
              <a:t> </a:t>
            </a:r>
            <a:r>
              <a:rPr dirty="0" err="1"/>
              <a:t>подтверждает</a:t>
            </a:r>
            <a:r>
              <a:rPr dirty="0"/>
              <a:t> </a:t>
            </a:r>
            <a:r>
              <a:rPr dirty="0" err="1"/>
              <a:t>доступность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 и </a:t>
            </a:r>
            <a:r>
              <a:rPr dirty="0" err="1"/>
              <a:t>работу</a:t>
            </a:r>
            <a:r>
              <a:rPr dirty="0"/>
              <a:t> SSH-</a:t>
            </a:r>
            <a:r>
              <a:rPr dirty="0" err="1"/>
              <a:t>службы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CDAD9-AF2D-E157-1CD1-8DC806A1E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8DF045-C780-C8CA-5EF2-3169963962E1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удаленного входа по SSH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A3FE609-4566-D129-DB43-76F868F0D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78" y="1178554"/>
            <a:ext cx="11651305" cy="4765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0910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Проверка версии ОС и ядра: /etc/os-release, uname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1380"/>
            <a:ext cx="10972800" cy="50350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Версия</a:t>
            </a:r>
            <a:r>
              <a:rPr dirty="0"/>
              <a:t> ОС </a:t>
            </a:r>
            <a:r>
              <a:rPr dirty="0" err="1"/>
              <a:t>определяет</a:t>
            </a:r>
            <a:r>
              <a:rPr dirty="0"/>
              <a:t> </a:t>
            </a:r>
            <a:r>
              <a:rPr dirty="0" err="1"/>
              <a:t>документацию</a:t>
            </a:r>
            <a:r>
              <a:rPr dirty="0"/>
              <a:t>, </a:t>
            </a:r>
            <a:r>
              <a:rPr dirty="0" err="1"/>
              <a:t>пакетную</a:t>
            </a:r>
            <a:r>
              <a:rPr dirty="0"/>
              <a:t> </a:t>
            </a:r>
            <a:r>
              <a:rPr dirty="0" err="1"/>
              <a:t>систему</a:t>
            </a:r>
            <a:r>
              <a:rPr dirty="0"/>
              <a:t> и </a:t>
            </a:r>
            <a:r>
              <a:rPr dirty="0" err="1"/>
              <a:t>срок</a:t>
            </a:r>
            <a:r>
              <a:rPr dirty="0"/>
              <a:t> </a:t>
            </a:r>
            <a:r>
              <a:rPr dirty="0" err="1"/>
              <a:t>поддержки</a:t>
            </a:r>
            <a:r>
              <a:rPr lang="en-US" dirty="0"/>
              <a:t>;</a:t>
            </a:r>
            <a:endParaRPr dirty="0"/>
          </a:p>
          <a:p>
            <a:pPr indent="354013">
              <a:defRPr sz="3600"/>
            </a:pPr>
            <a:r>
              <a:rPr dirty="0" err="1"/>
              <a:t>Ядро</a:t>
            </a:r>
            <a:r>
              <a:rPr dirty="0"/>
              <a:t> Linux </a:t>
            </a:r>
            <a:r>
              <a:rPr dirty="0" err="1"/>
              <a:t>определяет</a:t>
            </a:r>
            <a:r>
              <a:rPr dirty="0"/>
              <a:t> </a:t>
            </a:r>
            <a:r>
              <a:rPr dirty="0" err="1"/>
              <a:t>низкоуровневые</a:t>
            </a:r>
            <a:r>
              <a:rPr dirty="0"/>
              <a:t> </a:t>
            </a:r>
            <a:r>
              <a:rPr dirty="0" err="1"/>
              <a:t>возможности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 и </a:t>
            </a:r>
            <a:r>
              <a:rPr dirty="0" err="1"/>
              <a:t>работу</a:t>
            </a:r>
            <a:r>
              <a:rPr dirty="0"/>
              <a:t> с </a:t>
            </a:r>
            <a:r>
              <a:rPr dirty="0" err="1"/>
              <a:t>оборудованием</a:t>
            </a:r>
            <a:r>
              <a:rPr lang="en-US" dirty="0"/>
              <a:t>;</a:t>
            </a:r>
            <a:endParaRPr dirty="0"/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установки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зафиксировать</a:t>
            </a:r>
            <a:r>
              <a:rPr dirty="0"/>
              <a:t> и </a:t>
            </a:r>
            <a:r>
              <a:rPr dirty="0" err="1"/>
              <a:t>дистрибутив</a:t>
            </a:r>
            <a:r>
              <a:rPr dirty="0"/>
              <a:t>, и </a:t>
            </a:r>
            <a:r>
              <a:rPr dirty="0" err="1"/>
              <a:t>версию</a:t>
            </a:r>
            <a:r>
              <a:rPr dirty="0"/>
              <a:t> </a:t>
            </a:r>
            <a:r>
              <a:rPr dirty="0" err="1"/>
              <a:t>ядра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Определение дистрибутива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495368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indent="354013">
              <a:defRPr sz="3600"/>
            </a:pPr>
            <a:r>
              <a:rPr dirty="0" err="1"/>
              <a:t>Задача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: </a:t>
            </a:r>
            <a:r>
              <a:rPr dirty="0" err="1"/>
              <a:t>зафиксировать</a:t>
            </a:r>
            <a:r>
              <a:rPr dirty="0"/>
              <a:t> </a:t>
            </a:r>
            <a:r>
              <a:rPr dirty="0" err="1"/>
              <a:t>название</a:t>
            </a:r>
            <a:r>
              <a:rPr dirty="0"/>
              <a:t> и </a:t>
            </a:r>
            <a:r>
              <a:rPr dirty="0" err="1"/>
              <a:t>версию</a:t>
            </a:r>
            <a:r>
              <a:rPr dirty="0"/>
              <a:t> </a:t>
            </a:r>
            <a:r>
              <a:rPr dirty="0" err="1"/>
              <a:t>установленной</a:t>
            </a:r>
            <a:r>
              <a:rPr dirty="0"/>
              <a:t> ОС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Команда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cat /</a:t>
            </a:r>
            <a:r>
              <a:rPr b="1" dirty="0" err="1">
                <a:solidFill>
                  <a:srgbClr val="002060"/>
                </a:solidFill>
              </a:rPr>
              <a:t>etc</a:t>
            </a:r>
            <a:r>
              <a:rPr b="1" dirty="0">
                <a:solidFill>
                  <a:srgbClr val="002060"/>
                </a:solidFill>
              </a:rPr>
              <a:t>/</a:t>
            </a:r>
            <a:r>
              <a:rPr b="1" dirty="0" err="1">
                <a:solidFill>
                  <a:srgbClr val="002060"/>
                </a:solidFill>
              </a:rPr>
              <a:t>os</a:t>
            </a:r>
            <a:r>
              <a:rPr b="1" dirty="0">
                <a:solidFill>
                  <a:srgbClr val="002060"/>
                </a:solidFill>
              </a:rPr>
              <a:t>-release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cat /</a:t>
            </a:r>
            <a:r>
              <a:rPr b="1" dirty="0" err="1">
                <a:solidFill>
                  <a:srgbClr val="002060"/>
                </a:solidFill>
              </a:rPr>
              <a:t>etc</a:t>
            </a:r>
            <a:r>
              <a:rPr b="1" dirty="0">
                <a:solidFill>
                  <a:srgbClr val="002060"/>
                </a:solidFill>
              </a:rPr>
              <a:t>/</a:t>
            </a:r>
            <a:r>
              <a:rPr b="1" dirty="0" err="1">
                <a:solidFill>
                  <a:srgbClr val="002060"/>
                </a:solidFill>
              </a:rPr>
              <a:t>os</a:t>
            </a:r>
            <a:r>
              <a:rPr b="1" dirty="0">
                <a:solidFill>
                  <a:srgbClr val="002060"/>
                </a:solidFill>
              </a:rPr>
              <a:t>-release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: PRETTY_NAME="Ubuntu 24.04 LTS"</a:t>
            </a:r>
          </a:p>
          <a:p>
            <a:pPr indent="354013">
              <a:defRPr sz="3600"/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: 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Ubuntu 24.04 LTS;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влияет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сопровождения</a:t>
            </a: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00838-58D6-55C2-DFB8-E0D2426F3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D09087-52AE-43C4-821B-5F1C5878E303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Определение дистрибутива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9073D9-AE7C-A1DE-A75F-E55D09323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71" y="1083422"/>
            <a:ext cx="10899057" cy="475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3085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Определение активного ядра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Задача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: </a:t>
            </a:r>
            <a:r>
              <a:rPr dirty="0" err="1"/>
              <a:t>понять</a:t>
            </a:r>
            <a:r>
              <a:rPr dirty="0"/>
              <a:t>, </a:t>
            </a:r>
            <a:r>
              <a:rPr dirty="0" err="1"/>
              <a:t>какое</a:t>
            </a:r>
            <a:r>
              <a:rPr dirty="0"/>
              <a:t> </a:t>
            </a:r>
            <a:r>
              <a:rPr dirty="0" err="1"/>
              <a:t>ядро</a:t>
            </a:r>
            <a:r>
              <a:rPr dirty="0"/>
              <a:t> </a:t>
            </a:r>
            <a:r>
              <a:rPr dirty="0" err="1"/>
              <a:t>загружено</a:t>
            </a:r>
            <a:r>
              <a:rPr dirty="0"/>
              <a:t> </a:t>
            </a:r>
            <a:r>
              <a:rPr dirty="0" err="1"/>
              <a:t>сейчас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Команда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uname</a:t>
            </a:r>
            <a:r>
              <a:rPr b="1" dirty="0">
                <a:solidFill>
                  <a:srgbClr val="002060"/>
                </a:solidFill>
              </a:rPr>
              <a:t> -r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uname</a:t>
            </a:r>
            <a:r>
              <a:rPr b="1" dirty="0">
                <a:solidFill>
                  <a:srgbClr val="002060"/>
                </a:solidFill>
              </a:rPr>
              <a:t> -r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: 6.8.0-31-generic</a:t>
            </a:r>
          </a:p>
          <a:p>
            <a:pPr indent="354013">
              <a:defRPr sz="3600"/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: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версия</a:t>
            </a:r>
            <a:r>
              <a:rPr dirty="0"/>
              <a:t> </a:t>
            </a:r>
            <a:r>
              <a:rPr dirty="0" err="1"/>
              <a:t>активного</a:t>
            </a:r>
            <a:r>
              <a:rPr dirty="0"/>
              <a:t> </a:t>
            </a:r>
            <a:r>
              <a:rPr dirty="0" err="1"/>
              <a:t>ядра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просто</a:t>
            </a:r>
            <a:r>
              <a:rPr dirty="0"/>
              <a:t> </a:t>
            </a:r>
            <a:r>
              <a:rPr dirty="0" err="1"/>
              <a:t>установленного</a:t>
            </a:r>
            <a:r>
              <a:rPr dirty="0"/>
              <a:t> </a:t>
            </a:r>
            <a:r>
              <a:rPr dirty="0" err="1"/>
              <a:t>пакета</a:t>
            </a:r>
            <a:r>
              <a:rPr lang="ru-RU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7. Проверка hostname, времени и локали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b="1" dirty="0"/>
              <a:t>Hostname</a:t>
            </a:r>
            <a:r>
              <a:rPr dirty="0"/>
              <a:t> —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узла</a:t>
            </a:r>
            <a:r>
              <a:rPr dirty="0"/>
              <a:t>,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которому</a:t>
            </a:r>
            <a:r>
              <a:rPr dirty="0"/>
              <a:t> 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узнают</a:t>
            </a:r>
            <a:r>
              <a:rPr dirty="0"/>
              <a:t> в </a:t>
            </a:r>
            <a:r>
              <a:rPr dirty="0" err="1"/>
              <a:t>инфраструктуре</a:t>
            </a:r>
            <a:r>
              <a:rPr dirty="0"/>
              <a:t> и </a:t>
            </a:r>
            <a:r>
              <a:rPr dirty="0" err="1"/>
              <a:t>документации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Время</a:t>
            </a:r>
            <a:r>
              <a:rPr dirty="0"/>
              <a:t> </a:t>
            </a: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журналов</a:t>
            </a:r>
            <a:r>
              <a:rPr dirty="0"/>
              <a:t>, </a:t>
            </a:r>
            <a:r>
              <a:rPr dirty="0" err="1"/>
              <a:t>сертификатов</a:t>
            </a:r>
            <a:r>
              <a:rPr dirty="0"/>
              <a:t>, </a:t>
            </a:r>
            <a:r>
              <a:rPr dirty="0" err="1"/>
              <a:t>аутентификации</a:t>
            </a:r>
            <a:r>
              <a:rPr dirty="0"/>
              <a:t> и </a:t>
            </a:r>
            <a:r>
              <a:rPr dirty="0" err="1"/>
              <a:t>расследования</a:t>
            </a:r>
            <a:r>
              <a:rPr dirty="0"/>
              <a:t> </a:t>
            </a:r>
            <a:r>
              <a:rPr dirty="0" err="1"/>
              <a:t>сбоев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Локаль</a:t>
            </a:r>
            <a:r>
              <a:rPr dirty="0"/>
              <a:t> </a:t>
            </a:r>
            <a:r>
              <a:rPr dirty="0" err="1"/>
              <a:t>определяет</a:t>
            </a:r>
            <a:r>
              <a:rPr dirty="0"/>
              <a:t> </a:t>
            </a:r>
            <a:r>
              <a:rPr dirty="0" err="1"/>
              <a:t>язык</a:t>
            </a:r>
            <a:r>
              <a:rPr dirty="0"/>
              <a:t> </a:t>
            </a:r>
            <a:r>
              <a:rPr dirty="0" err="1"/>
              <a:t>сообщений</a:t>
            </a:r>
            <a:r>
              <a:rPr dirty="0"/>
              <a:t>, </a:t>
            </a:r>
            <a:r>
              <a:rPr dirty="0" err="1"/>
              <a:t>кодировку</a:t>
            </a:r>
            <a:r>
              <a:rPr dirty="0"/>
              <a:t> и </a:t>
            </a:r>
            <a:r>
              <a:rPr dirty="0" err="1"/>
              <a:t>форматы</a:t>
            </a:r>
            <a:r>
              <a:rPr dirty="0"/>
              <a:t> </a:t>
            </a:r>
            <a:r>
              <a:rPr dirty="0" err="1"/>
              <a:t>вывода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/>
              <a:t>Эти </a:t>
            </a:r>
            <a:r>
              <a:rPr dirty="0" err="1"/>
              <a:t>параметры</a:t>
            </a:r>
            <a:r>
              <a:rPr dirty="0"/>
              <a:t> </a:t>
            </a:r>
            <a:r>
              <a:rPr dirty="0" err="1"/>
              <a:t>кажутся</a:t>
            </a:r>
            <a:r>
              <a:rPr dirty="0"/>
              <a:t> </a:t>
            </a:r>
            <a:r>
              <a:rPr dirty="0" err="1"/>
              <a:t>простыми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сильно</a:t>
            </a:r>
            <a:r>
              <a:rPr dirty="0"/>
              <a:t> </a:t>
            </a:r>
            <a:r>
              <a:rPr dirty="0" err="1"/>
              <a:t>влияют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сопровождение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имени узла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Задача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: </a:t>
            </a:r>
            <a:r>
              <a:rPr dirty="0" err="1"/>
              <a:t>сверить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с </a:t>
            </a:r>
            <a:r>
              <a:rPr dirty="0" err="1"/>
              <a:t>учебным</a:t>
            </a:r>
            <a:r>
              <a:rPr dirty="0"/>
              <a:t> </a:t>
            </a:r>
            <a:r>
              <a:rPr dirty="0" err="1"/>
              <a:t>заданием</a:t>
            </a:r>
            <a:r>
              <a:rPr dirty="0"/>
              <a:t> и </a:t>
            </a:r>
            <a:r>
              <a:rPr dirty="0" err="1"/>
              <a:t>паспортом</a:t>
            </a:r>
            <a:r>
              <a:rPr lang="en-US" dirty="0"/>
              <a:t>.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Команда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hostnamectl</a:t>
            </a:r>
            <a:endParaRPr b="1" dirty="0">
              <a:solidFill>
                <a:srgbClr val="002060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: </a:t>
            </a:r>
            <a:r>
              <a:rPr dirty="0" err="1">
                <a:solidFill>
                  <a:srgbClr val="002060"/>
                </a:solidFill>
              </a:rPr>
              <a:t>hostnamectl</a:t>
            </a:r>
            <a:endParaRPr dirty="0">
              <a:solidFill>
                <a:srgbClr val="002060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: Static hostname: srv-linux-01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: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</a:t>
            </a:r>
            <a:r>
              <a:rPr dirty="0" err="1"/>
              <a:t>должно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осмысленным</a:t>
            </a:r>
            <a:r>
              <a:rPr dirty="0"/>
              <a:t> и </a:t>
            </a:r>
            <a:r>
              <a:rPr dirty="0" err="1"/>
              <a:t>совпадать</a:t>
            </a:r>
            <a:r>
              <a:rPr dirty="0"/>
              <a:t> с </a:t>
            </a:r>
            <a:r>
              <a:rPr dirty="0" err="1"/>
              <a:t>документацией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58805-BF9B-26B0-D5DE-B6E73840E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2FD2D9-F4E2-5C53-3F01-8B1B1640A45B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имени узла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9BD54B-1826-79BA-5261-044447721DDE}"/>
              </a:ext>
            </a:extLst>
          </p:cNvPr>
          <p:cNvSpPr txBox="1"/>
          <p:nvPr/>
        </p:nvSpPr>
        <p:spPr>
          <a:xfrm>
            <a:off x="457200" y="914400"/>
            <a:ext cx="10972800" cy="2514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dirty="0"/>
              <a:t>Установка имени узла.</a:t>
            </a:r>
            <a:endParaRPr lang="en-US" dirty="0"/>
          </a:p>
          <a:p>
            <a:pPr>
              <a:defRPr sz="3600"/>
            </a:pPr>
            <a:r>
              <a:rPr dirty="0" err="1"/>
              <a:t>Команда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hostnamectl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en-US" b="1" dirty="0">
                <a:solidFill>
                  <a:srgbClr val="002060"/>
                </a:solidFill>
              </a:rPr>
              <a:t>set-hostname &lt;new name&gt;</a:t>
            </a:r>
            <a:endParaRPr b="1" dirty="0">
              <a:solidFill>
                <a:srgbClr val="002060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: </a:t>
            </a:r>
            <a:endParaRPr lang="en-US" dirty="0"/>
          </a:p>
          <a:p>
            <a:pPr>
              <a:defRPr sz="3600"/>
            </a:pPr>
            <a:r>
              <a:rPr lang="en-US" b="1" dirty="0">
                <a:solidFill>
                  <a:srgbClr val="002060"/>
                </a:solidFill>
              </a:rPr>
              <a:t>      </a:t>
            </a:r>
            <a:endParaRPr b="1" dirty="0">
              <a:solidFill>
                <a:srgbClr val="002060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6D379C3-94A9-C027-E809-4F883576A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58" y="3176587"/>
            <a:ext cx="11242289" cy="1395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3393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времени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Задача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: </a:t>
            </a:r>
            <a:r>
              <a:rPr dirty="0" err="1"/>
              <a:t>убедиться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 и </a:t>
            </a:r>
            <a:r>
              <a:rPr dirty="0" err="1"/>
              <a:t>часовой</a:t>
            </a:r>
            <a:r>
              <a:rPr dirty="0"/>
              <a:t> </a:t>
            </a:r>
            <a:r>
              <a:rPr dirty="0" err="1"/>
              <a:t>пояс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исказят</a:t>
            </a:r>
            <a:r>
              <a:rPr dirty="0"/>
              <a:t> </a:t>
            </a:r>
            <a:r>
              <a:rPr dirty="0" err="1"/>
              <a:t>журналы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Команда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timedatectl</a:t>
            </a:r>
            <a:endParaRPr b="1" dirty="0">
              <a:solidFill>
                <a:srgbClr val="002060"/>
              </a:solidFill>
            </a:endParaRP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timedatectl</a:t>
            </a:r>
            <a:endParaRPr b="1" dirty="0">
              <a:solidFill>
                <a:srgbClr val="002060"/>
              </a:solidFill>
            </a:endParaRP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: Time zone: Asia/</a:t>
            </a:r>
            <a:r>
              <a:rPr dirty="0" err="1"/>
              <a:t>Qyzylorda</a:t>
            </a:r>
            <a:r>
              <a:rPr dirty="0"/>
              <a:t>; System clock synchronized: yes</a:t>
            </a:r>
          </a:p>
          <a:p>
            <a:pPr indent="354013">
              <a:defRPr sz="3600"/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: </a:t>
            </a:r>
            <a:r>
              <a:rPr dirty="0" err="1"/>
              <a:t>синхронное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 </a:t>
            </a:r>
            <a:r>
              <a:rPr dirty="0" err="1"/>
              <a:t>упрощает</a:t>
            </a:r>
            <a:r>
              <a:rPr dirty="0"/>
              <a:t> </a:t>
            </a:r>
            <a:r>
              <a:rPr dirty="0" err="1"/>
              <a:t>диагностику</a:t>
            </a:r>
            <a:r>
              <a:rPr dirty="0"/>
              <a:t> </a:t>
            </a:r>
            <a:r>
              <a:rPr dirty="0" err="1"/>
              <a:t>событий</a:t>
            </a:r>
            <a:r>
              <a:rPr dirty="0"/>
              <a:t> и </a:t>
            </a:r>
            <a:r>
              <a:rPr dirty="0" err="1"/>
              <a:t>работу</a:t>
            </a:r>
            <a:r>
              <a:rPr dirty="0"/>
              <a:t> </a:t>
            </a:r>
            <a:r>
              <a:rPr dirty="0" err="1"/>
              <a:t>сертификатов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107A3-6677-E4F4-DDEC-C90CD9243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BD4163-144E-37A0-AC9B-A545667CC61E}"/>
              </a:ext>
            </a:extLst>
          </p:cNvPr>
          <p:cNvSpPr txBox="1"/>
          <p:nvPr/>
        </p:nvSpPr>
        <p:spPr>
          <a:xfrm>
            <a:off x="4219610" y="182880"/>
            <a:ext cx="372230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Настройка</a:t>
            </a:r>
            <a:r>
              <a:rPr dirty="0"/>
              <a:t> </a:t>
            </a:r>
            <a:r>
              <a:rPr dirty="0" err="1"/>
              <a:t>времени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5F229F-C62A-19BB-7BB1-8022CBB18CBE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600"/>
            </a:pPr>
            <a:r>
              <a:rPr lang="ru-RU" b="1" dirty="0"/>
              <a:t>Установить временную зону</a:t>
            </a:r>
          </a:p>
          <a:p>
            <a:pPr>
              <a:defRPr sz="3600"/>
            </a:pPr>
            <a:r>
              <a:rPr lang="ru-RU" dirty="0"/>
              <a:t>Сначала посмотреть список зон:</a:t>
            </a:r>
          </a:p>
          <a:p>
            <a:pPr>
              <a:defRPr sz="3600"/>
            </a:pPr>
            <a:r>
              <a:rPr lang="en-US" b="1" dirty="0" err="1">
                <a:solidFill>
                  <a:srgbClr val="002060"/>
                </a:solidFill>
              </a:rPr>
              <a:t>timedatectl</a:t>
            </a:r>
            <a:r>
              <a:rPr lang="en-US" b="1" dirty="0">
                <a:solidFill>
                  <a:srgbClr val="002060"/>
                </a:solidFill>
              </a:rPr>
              <a:t> list-</a:t>
            </a:r>
            <a:r>
              <a:rPr lang="en-US" b="1" dirty="0" err="1">
                <a:solidFill>
                  <a:srgbClr val="002060"/>
                </a:solidFill>
              </a:rPr>
              <a:t>timezones</a:t>
            </a:r>
            <a:endParaRPr lang="en-US" b="1" dirty="0">
              <a:solidFill>
                <a:srgbClr val="002060"/>
              </a:solidFill>
            </a:endParaRP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Найти нужную зону, например Алматы:</a:t>
            </a:r>
          </a:p>
          <a:p>
            <a:pPr>
              <a:defRPr sz="3600"/>
            </a:pPr>
            <a:r>
              <a:rPr lang="en-US" b="1" dirty="0" err="1">
                <a:solidFill>
                  <a:srgbClr val="002060"/>
                </a:solidFill>
              </a:rPr>
              <a:t>timedatectl</a:t>
            </a:r>
            <a:r>
              <a:rPr lang="en-US" b="1" dirty="0">
                <a:solidFill>
                  <a:srgbClr val="002060"/>
                </a:solidFill>
              </a:rPr>
              <a:t> list-</a:t>
            </a:r>
            <a:r>
              <a:rPr lang="en-US" b="1" dirty="0" err="1">
                <a:solidFill>
                  <a:srgbClr val="002060"/>
                </a:solidFill>
              </a:rPr>
              <a:t>timezones</a:t>
            </a:r>
            <a:r>
              <a:rPr lang="en-US" b="1" dirty="0">
                <a:solidFill>
                  <a:srgbClr val="002060"/>
                </a:solidFill>
              </a:rPr>
              <a:t> | grep Almaty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Установить временную зону:</a:t>
            </a:r>
          </a:p>
          <a:p>
            <a:pPr>
              <a:defRPr sz="3600"/>
            </a:pPr>
            <a:r>
              <a:rPr lang="en-US" b="1" dirty="0" err="1">
                <a:solidFill>
                  <a:srgbClr val="002060"/>
                </a:solidFill>
              </a:rPr>
              <a:t>sudo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b="1" dirty="0" err="1">
                <a:solidFill>
                  <a:srgbClr val="002060"/>
                </a:solidFill>
              </a:rPr>
              <a:t>timedatectl</a:t>
            </a:r>
            <a:r>
              <a:rPr lang="en-US" b="1" dirty="0">
                <a:solidFill>
                  <a:srgbClr val="002060"/>
                </a:solidFill>
              </a:rPr>
              <a:t> set-</a:t>
            </a:r>
            <a:r>
              <a:rPr lang="en-US" b="1" dirty="0" err="1">
                <a:solidFill>
                  <a:srgbClr val="002060"/>
                </a:solidFill>
              </a:rPr>
              <a:t>timezone</a:t>
            </a:r>
            <a:r>
              <a:rPr lang="en-US" b="1" dirty="0">
                <a:solidFill>
                  <a:srgbClr val="002060"/>
                </a:solidFill>
              </a:rPr>
              <a:t> Asia/Almaty</a:t>
            </a:r>
            <a:endParaRPr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52559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14574-269B-A214-1B71-CB0A35B10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C776DA-E0C3-5F3A-F9FD-B8E809C8A31E}"/>
              </a:ext>
            </a:extLst>
          </p:cNvPr>
          <p:cNvSpPr txBox="1"/>
          <p:nvPr/>
        </p:nvSpPr>
        <p:spPr>
          <a:xfrm>
            <a:off x="4219610" y="182880"/>
            <a:ext cx="372230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Настройка</a:t>
            </a:r>
            <a:r>
              <a:rPr dirty="0"/>
              <a:t> </a:t>
            </a:r>
            <a:r>
              <a:rPr dirty="0" err="1"/>
              <a:t>времени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6C67F8-4083-33B2-5FF5-5BAA1E98D958}"/>
              </a:ext>
            </a:extLst>
          </p:cNvPr>
          <p:cNvSpPr txBox="1"/>
          <p:nvPr/>
        </p:nvSpPr>
        <p:spPr>
          <a:xfrm>
            <a:off x="457199" y="914400"/>
            <a:ext cx="11400503" cy="576072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defRPr sz="3600"/>
            </a:pPr>
            <a:r>
              <a:rPr lang="ru-RU" b="1" dirty="0"/>
              <a:t>Установить дату и время вручную</a:t>
            </a:r>
          </a:p>
          <a:p>
            <a:pPr>
              <a:defRPr sz="3600"/>
            </a:pPr>
            <a:r>
              <a:rPr lang="ru-RU" dirty="0"/>
              <a:t>Сначала отключить автоматическую синхронизацию времени:</a:t>
            </a:r>
          </a:p>
          <a:p>
            <a:pPr>
              <a:defRPr sz="3600"/>
            </a:pPr>
            <a:r>
              <a:rPr lang="en-US" b="1" dirty="0" err="1">
                <a:solidFill>
                  <a:srgbClr val="002060"/>
                </a:solidFill>
              </a:rPr>
              <a:t>sudo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b="1" dirty="0" err="1">
                <a:solidFill>
                  <a:srgbClr val="002060"/>
                </a:solidFill>
              </a:rPr>
              <a:t>timedatectl</a:t>
            </a:r>
            <a:r>
              <a:rPr lang="en-US" b="1" dirty="0">
                <a:solidFill>
                  <a:srgbClr val="002060"/>
                </a:solidFill>
              </a:rPr>
              <a:t> set-</a:t>
            </a:r>
            <a:r>
              <a:rPr lang="en-US" b="1" dirty="0" err="1">
                <a:solidFill>
                  <a:srgbClr val="002060"/>
                </a:solidFill>
              </a:rPr>
              <a:t>ntp</a:t>
            </a:r>
            <a:r>
              <a:rPr lang="en-US" b="1" dirty="0">
                <a:solidFill>
                  <a:srgbClr val="002060"/>
                </a:solidFill>
              </a:rPr>
              <a:t> false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Потом задаем дату и время:</a:t>
            </a:r>
          </a:p>
          <a:p>
            <a:pPr>
              <a:defRPr sz="3600"/>
            </a:pPr>
            <a:r>
              <a:rPr lang="en-US" b="1" dirty="0" err="1">
                <a:solidFill>
                  <a:srgbClr val="002060"/>
                </a:solidFill>
              </a:rPr>
              <a:t>sudo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b="1" dirty="0" err="1">
                <a:solidFill>
                  <a:srgbClr val="002060"/>
                </a:solidFill>
              </a:rPr>
              <a:t>timedatectl</a:t>
            </a:r>
            <a:r>
              <a:rPr lang="en-US" b="1" dirty="0">
                <a:solidFill>
                  <a:srgbClr val="002060"/>
                </a:solidFill>
              </a:rPr>
              <a:t> set-time "2026-07-02 12:45:00"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Формат:</a:t>
            </a:r>
          </a:p>
          <a:p>
            <a:pPr>
              <a:defRPr sz="3600"/>
            </a:pPr>
            <a:r>
              <a:rPr lang="en-US" dirty="0"/>
              <a:t>YYYY-MM-DD HH:MM:SS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Например:</a:t>
            </a:r>
          </a:p>
          <a:p>
            <a:pPr>
              <a:defRPr sz="3600"/>
            </a:pPr>
            <a:r>
              <a:rPr lang="en-US" b="1" dirty="0" err="1">
                <a:solidFill>
                  <a:srgbClr val="002060"/>
                </a:solidFill>
              </a:rPr>
              <a:t>sudo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b="1" dirty="0" err="1">
                <a:solidFill>
                  <a:srgbClr val="002060"/>
                </a:solidFill>
              </a:rPr>
              <a:t>timedatectl</a:t>
            </a:r>
            <a:r>
              <a:rPr lang="en-US" b="1" dirty="0">
                <a:solidFill>
                  <a:srgbClr val="002060"/>
                </a:solidFill>
              </a:rPr>
              <a:t> set-time "2026-07-02 09:30:00"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Проверить:</a:t>
            </a:r>
          </a:p>
          <a:p>
            <a:pPr>
              <a:defRPr sz="3600"/>
            </a:pPr>
            <a:r>
              <a:rPr lang="en-US" b="1" dirty="0">
                <a:solidFill>
                  <a:srgbClr val="002060"/>
                </a:solidFill>
              </a:rPr>
              <a:t>date</a:t>
            </a:r>
          </a:p>
          <a:p>
            <a:pPr>
              <a:defRPr sz="3600"/>
            </a:pPr>
            <a:r>
              <a:rPr lang="en-US" b="1" dirty="0" err="1">
                <a:solidFill>
                  <a:srgbClr val="002060"/>
                </a:solidFill>
              </a:rPr>
              <a:t>timedatectl</a:t>
            </a:r>
            <a:endParaRPr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62239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89A3D-23B3-0BA9-273E-4315ECF94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C532DE-5D98-3A2F-2033-30666C744F7B}"/>
              </a:ext>
            </a:extLst>
          </p:cNvPr>
          <p:cNvSpPr txBox="1"/>
          <p:nvPr/>
        </p:nvSpPr>
        <p:spPr>
          <a:xfrm>
            <a:off x="4219610" y="182880"/>
            <a:ext cx="372230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Настройка</a:t>
            </a:r>
            <a:r>
              <a:rPr dirty="0"/>
              <a:t> </a:t>
            </a:r>
            <a:r>
              <a:rPr dirty="0" err="1"/>
              <a:t>времени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9B02A0-A52B-BE32-1306-EFF1804B73EC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>
              <a:defRPr sz="3600"/>
            </a:pPr>
            <a:r>
              <a:rPr lang="ru-RU" b="1" dirty="0"/>
              <a:t>Включить автоматическую синхронизацию времени</a:t>
            </a:r>
          </a:p>
          <a:p>
            <a:pPr>
              <a:defRPr sz="3600"/>
            </a:pPr>
            <a:r>
              <a:rPr lang="ru-RU" dirty="0"/>
              <a:t>Обычно на сервере лучше включить </a:t>
            </a:r>
            <a:r>
              <a:rPr lang="en-US" dirty="0"/>
              <a:t>NTP:</a:t>
            </a:r>
          </a:p>
          <a:p>
            <a:pPr>
              <a:defRPr sz="3600"/>
            </a:pPr>
            <a:r>
              <a:rPr lang="en-US" b="1" dirty="0" err="1">
                <a:solidFill>
                  <a:srgbClr val="002060"/>
                </a:solidFill>
              </a:rPr>
              <a:t>sudo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b="1" dirty="0" err="1">
                <a:solidFill>
                  <a:srgbClr val="002060"/>
                </a:solidFill>
              </a:rPr>
              <a:t>timedatectl</a:t>
            </a:r>
            <a:r>
              <a:rPr lang="en-US" b="1" dirty="0">
                <a:solidFill>
                  <a:srgbClr val="002060"/>
                </a:solidFill>
              </a:rPr>
              <a:t> set-</a:t>
            </a:r>
            <a:r>
              <a:rPr lang="en-US" b="1" dirty="0" err="1">
                <a:solidFill>
                  <a:srgbClr val="002060"/>
                </a:solidFill>
              </a:rPr>
              <a:t>ntp</a:t>
            </a:r>
            <a:r>
              <a:rPr lang="en-US" b="1" dirty="0">
                <a:solidFill>
                  <a:srgbClr val="002060"/>
                </a:solidFill>
              </a:rPr>
              <a:t> true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Проверить:</a:t>
            </a:r>
          </a:p>
          <a:p>
            <a:pPr>
              <a:defRPr sz="3600"/>
            </a:pPr>
            <a:r>
              <a:rPr lang="en-US" b="1" dirty="0" err="1">
                <a:solidFill>
                  <a:srgbClr val="002060"/>
                </a:solidFill>
              </a:rPr>
              <a:t>timedatectl</a:t>
            </a:r>
            <a:endParaRPr lang="en-US" b="1" dirty="0">
              <a:solidFill>
                <a:srgbClr val="002060"/>
              </a:solidFill>
            </a:endParaRP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Должно быть примерно:</a:t>
            </a:r>
          </a:p>
          <a:p>
            <a:pPr>
              <a:defRPr sz="3600"/>
            </a:pPr>
            <a:r>
              <a:rPr lang="en-US" b="1" dirty="0">
                <a:solidFill>
                  <a:srgbClr val="002060"/>
                </a:solidFill>
              </a:rPr>
              <a:t>System clock synchronized: yes</a:t>
            </a:r>
          </a:p>
          <a:p>
            <a:pPr>
              <a:defRPr sz="3600"/>
            </a:pPr>
            <a:r>
              <a:rPr lang="en-US" b="1" dirty="0">
                <a:solidFill>
                  <a:srgbClr val="002060"/>
                </a:solidFill>
              </a:rPr>
              <a:t>NTP service: active</a:t>
            </a:r>
            <a:endParaRPr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02505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7E0DF-712A-E1BC-CF8C-C75B16D8F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AB1EED-263A-1739-18AD-65BEED277780}"/>
              </a:ext>
            </a:extLst>
          </p:cNvPr>
          <p:cNvSpPr txBox="1"/>
          <p:nvPr/>
        </p:nvSpPr>
        <p:spPr>
          <a:xfrm>
            <a:off x="4219610" y="182880"/>
            <a:ext cx="372230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Настройка</a:t>
            </a:r>
            <a:r>
              <a:rPr dirty="0"/>
              <a:t> </a:t>
            </a:r>
            <a:r>
              <a:rPr dirty="0" err="1"/>
              <a:t>времени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4446898-3344-DE64-203D-45B2B1E2A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65" y="877529"/>
            <a:ext cx="10998392" cy="3244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1581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159D6-D89A-A0FA-FB6A-284C91423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253B0E-7F97-E147-18C2-595870B1E653}"/>
              </a:ext>
            </a:extLst>
          </p:cNvPr>
          <p:cNvSpPr txBox="1"/>
          <p:nvPr/>
        </p:nvSpPr>
        <p:spPr>
          <a:xfrm>
            <a:off x="4219610" y="182880"/>
            <a:ext cx="372230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Настройка</a:t>
            </a:r>
            <a:r>
              <a:rPr dirty="0"/>
              <a:t> </a:t>
            </a:r>
            <a:r>
              <a:rPr dirty="0" err="1"/>
              <a:t>времени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439DA56-6053-F0DC-8119-2FF3E4A69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797" y="1289131"/>
            <a:ext cx="11202662" cy="431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9596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локали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Задача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: </a:t>
            </a:r>
            <a:r>
              <a:rPr dirty="0" err="1"/>
              <a:t>понять</a:t>
            </a:r>
            <a:r>
              <a:rPr dirty="0"/>
              <a:t> </a:t>
            </a:r>
            <a:r>
              <a:rPr dirty="0" err="1"/>
              <a:t>язык</a:t>
            </a:r>
            <a:r>
              <a:rPr dirty="0"/>
              <a:t> и </a:t>
            </a:r>
            <a:r>
              <a:rPr dirty="0" err="1"/>
              <a:t>кодировку</a:t>
            </a:r>
            <a:r>
              <a:rPr dirty="0"/>
              <a:t> </a:t>
            </a:r>
            <a:r>
              <a:rPr dirty="0" err="1"/>
              <a:t>командной</a:t>
            </a:r>
            <a:r>
              <a:rPr dirty="0"/>
              <a:t> </a:t>
            </a:r>
            <a:r>
              <a:rPr dirty="0" err="1"/>
              <a:t>среды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Команда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locale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locale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: LANG=ru_RU.UTF-8</a:t>
            </a:r>
          </a:p>
          <a:p>
            <a:pPr indent="354013">
              <a:defRPr sz="3600"/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: UTF-8 </a:t>
            </a:r>
            <a:r>
              <a:rPr dirty="0" err="1"/>
              <a:t>важен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корректного</a:t>
            </a:r>
            <a:r>
              <a:rPr dirty="0"/>
              <a:t> </a:t>
            </a:r>
            <a:r>
              <a:rPr dirty="0" err="1"/>
              <a:t>отображения</a:t>
            </a:r>
            <a:r>
              <a:rPr dirty="0"/>
              <a:t> </a:t>
            </a:r>
            <a:r>
              <a:rPr dirty="0" err="1"/>
              <a:t>текста</a:t>
            </a:r>
            <a:r>
              <a:rPr dirty="0"/>
              <a:t> и </a:t>
            </a:r>
            <a:r>
              <a:rPr dirty="0" err="1"/>
              <a:t>имен</a:t>
            </a:r>
            <a:r>
              <a:rPr dirty="0"/>
              <a:t> </a:t>
            </a:r>
            <a:r>
              <a:rPr dirty="0" err="1"/>
              <a:t>файлов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8. Проверка ресурсов: CPU, RAM, диски, файловые системы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CPU — Central Processing Unit, </a:t>
            </a:r>
            <a:r>
              <a:rPr dirty="0" err="1"/>
              <a:t>центральный</a:t>
            </a:r>
            <a:r>
              <a:rPr dirty="0"/>
              <a:t> </a:t>
            </a:r>
            <a:r>
              <a:rPr dirty="0" err="1"/>
              <a:t>процессор</a:t>
            </a:r>
            <a:r>
              <a:rPr dirty="0"/>
              <a:t>, </a:t>
            </a:r>
            <a:r>
              <a:rPr dirty="0" err="1"/>
              <a:t>выполняющий</a:t>
            </a:r>
            <a:r>
              <a:rPr dirty="0"/>
              <a:t> </a:t>
            </a:r>
            <a:r>
              <a:rPr dirty="0" err="1"/>
              <a:t>инструкции</a:t>
            </a:r>
            <a:r>
              <a:rPr dirty="0"/>
              <a:t> </a:t>
            </a:r>
            <a:r>
              <a:rPr dirty="0" err="1"/>
              <a:t>программ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RAM — Random Access Memory, </a:t>
            </a:r>
            <a:r>
              <a:rPr dirty="0" err="1"/>
              <a:t>оперативная</a:t>
            </a:r>
            <a:r>
              <a:rPr dirty="0"/>
              <a:t> </a:t>
            </a:r>
            <a:r>
              <a:rPr dirty="0" err="1"/>
              <a:t>память</a:t>
            </a:r>
            <a:r>
              <a:rPr dirty="0"/>
              <a:t> </a:t>
            </a:r>
            <a:r>
              <a:rPr dirty="0" err="1"/>
              <a:t>активных</a:t>
            </a:r>
            <a:r>
              <a:rPr dirty="0"/>
              <a:t> </a:t>
            </a:r>
            <a:r>
              <a:rPr dirty="0" err="1"/>
              <a:t>процессов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Диск</a:t>
            </a:r>
            <a:r>
              <a:rPr dirty="0"/>
              <a:t> </a:t>
            </a:r>
            <a:r>
              <a:rPr dirty="0" err="1"/>
              <a:t>хранит</a:t>
            </a:r>
            <a:r>
              <a:rPr dirty="0"/>
              <a:t> ОС, </a:t>
            </a:r>
            <a:r>
              <a:rPr dirty="0" err="1"/>
              <a:t>конфигурации</a:t>
            </a:r>
            <a:r>
              <a:rPr dirty="0"/>
              <a:t>, </a:t>
            </a:r>
            <a:r>
              <a:rPr dirty="0" err="1"/>
              <a:t>журналы</a:t>
            </a:r>
            <a:r>
              <a:rPr dirty="0"/>
              <a:t>, </a:t>
            </a:r>
            <a:r>
              <a:rPr dirty="0" err="1"/>
              <a:t>пакеты</a:t>
            </a:r>
            <a:r>
              <a:rPr dirty="0"/>
              <a:t> и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служб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Файловая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,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дисковое</a:t>
            </a:r>
            <a:r>
              <a:rPr dirty="0"/>
              <a:t> </a:t>
            </a:r>
            <a:r>
              <a:rPr dirty="0" err="1"/>
              <a:t>пространство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первичная проверка ресурсов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E340BD-900D-4DFF-119A-D8A4F7140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Зачем проверять ресурсы до настройки служб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Недостаток</a:t>
            </a:r>
            <a:r>
              <a:rPr dirty="0"/>
              <a:t> RAM </a:t>
            </a:r>
            <a:r>
              <a:rPr dirty="0" err="1"/>
              <a:t>приводит</a:t>
            </a:r>
            <a:r>
              <a:rPr dirty="0"/>
              <a:t> к </a:t>
            </a:r>
            <a:r>
              <a:rPr dirty="0" err="1"/>
              <a:t>замедлению</a:t>
            </a:r>
            <a:r>
              <a:rPr dirty="0"/>
              <a:t> и </a:t>
            </a:r>
            <a:r>
              <a:rPr dirty="0" err="1"/>
              <a:t>аварийному</a:t>
            </a:r>
            <a:r>
              <a:rPr dirty="0"/>
              <a:t> </a:t>
            </a:r>
            <a:r>
              <a:rPr dirty="0" err="1"/>
              <a:t>завершению</a:t>
            </a:r>
            <a:r>
              <a:rPr dirty="0"/>
              <a:t> </a:t>
            </a:r>
            <a:r>
              <a:rPr dirty="0" err="1"/>
              <a:t>процессов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Заполненный</a:t>
            </a:r>
            <a:r>
              <a:rPr dirty="0"/>
              <a:t> </a:t>
            </a:r>
            <a:r>
              <a:rPr dirty="0" err="1"/>
              <a:t>корневой</a:t>
            </a:r>
            <a:r>
              <a:rPr dirty="0"/>
              <a:t> </a:t>
            </a:r>
            <a:r>
              <a:rPr dirty="0" err="1"/>
              <a:t>раздел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остановить</a:t>
            </a:r>
            <a:r>
              <a:rPr dirty="0"/>
              <a:t> </a:t>
            </a:r>
            <a:r>
              <a:rPr dirty="0" err="1"/>
              <a:t>запись</a:t>
            </a:r>
            <a:r>
              <a:rPr dirty="0"/>
              <a:t> </a:t>
            </a:r>
            <a:r>
              <a:rPr dirty="0" err="1"/>
              <a:t>журналов</a:t>
            </a:r>
            <a:r>
              <a:rPr dirty="0"/>
              <a:t> и </a:t>
            </a:r>
            <a:r>
              <a:rPr dirty="0" err="1"/>
              <a:t>установку</a:t>
            </a:r>
            <a:r>
              <a:rPr dirty="0"/>
              <a:t> </a:t>
            </a:r>
            <a:r>
              <a:rPr dirty="0" err="1"/>
              <a:t>пакетов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Нехватка</a:t>
            </a:r>
            <a:r>
              <a:rPr dirty="0"/>
              <a:t> CPU </a:t>
            </a:r>
            <a:r>
              <a:rPr dirty="0" err="1"/>
              <a:t>влияет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производительность</a:t>
            </a:r>
            <a:r>
              <a:rPr dirty="0"/>
              <a:t> </a:t>
            </a:r>
            <a:r>
              <a:rPr dirty="0" err="1"/>
              <a:t>служб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ресурсов</a:t>
            </a:r>
            <a:r>
              <a:rPr dirty="0"/>
              <a:t>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понять</a:t>
            </a:r>
            <a:r>
              <a:rPr dirty="0"/>
              <a:t>, </a:t>
            </a:r>
            <a:r>
              <a:rPr dirty="0" err="1"/>
              <a:t>готов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сервер</a:t>
            </a:r>
            <a:r>
              <a:rPr dirty="0"/>
              <a:t> к </a:t>
            </a:r>
            <a:r>
              <a:rPr dirty="0" err="1"/>
              <a:t>будущей</a:t>
            </a:r>
            <a:r>
              <a:rPr dirty="0"/>
              <a:t> </a:t>
            </a:r>
            <a:r>
              <a:rPr dirty="0" err="1"/>
              <a:t>роли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процессора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Задача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: </a:t>
            </a:r>
            <a:r>
              <a:rPr dirty="0" err="1"/>
              <a:t>оценить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, </a:t>
            </a:r>
            <a:r>
              <a:rPr dirty="0" err="1"/>
              <a:t>архитектуру</a:t>
            </a:r>
            <a:r>
              <a:rPr dirty="0"/>
              <a:t> и </a:t>
            </a:r>
            <a:r>
              <a:rPr dirty="0" err="1"/>
              <a:t>количество</a:t>
            </a:r>
            <a:r>
              <a:rPr dirty="0"/>
              <a:t> CPU</a:t>
            </a:r>
          </a:p>
          <a:p>
            <a:pPr indent="354013">
              <a:defRPr sz="3600"/>
            </a:pPr>
            <a:r>
              <a:rPr dirty="0" err="1"/>
              <a:t>Команда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lscpu</a:t>
            </a:r>
            <a:endParaRPr b="1" dirty="0">
              <a:solidFill>
                <a:srgbClr val="002060"/>
              </a:solidFill>
            </a:endParaRP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lscpu</a:t>
            </a:r>
            <a:endParaRPr b="1" dirty="0">
              <a:solidFill>
                <a:srgbClr val="002060"/>
              </a:solidFill>
            </a:endParaRP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: CPU(s): 2; Architecture: x86_64</a:t>
            </a:r>
          </a:p>
          <a:p>
            <a:pPr indent="354013">
              <a:defRPr sz="3600"/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: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учебного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достаточно</a:t>
            </a:r>
            <a:r>
              <a:rPr dirty="0"/>
              <a:t> 1-2 CPU,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роль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требовать</a:t>
            </a:r>
            <a:r>
              <a:rPr dirty="0"/>
              <a:t> </a:t>
            </a:r>
            <a:r>
              <a:rPr dirty="0" err="1"/>
              <a:t>больше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памяти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878826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indent="442913">
              <a:defRPr sz="3600"/>
            </a:pPr>
            <a:r>
              <a:rPr dirty="0" err="1"/>
              <a:t>Задача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: </a:t>
            </a:r>
            <a:r>
              <a:rPr dirty="0" err="1"/>
              <a:t>оценить</a:t>
            </a:r>
            <a:r>
              <a:rPr dirty="0"/>
              <a:t> RAM и swap </a:t>
            </a: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запуском</a:t>
            </a:r>
            <a:r>
              <a:rPr dirty="0"/>
              <a:t> </a:t>
            </a:r>
            <a:r>
              <a:rPr dirty="0" err="1"/>
              <a:t>служб</a:t>
            </a:r>
            <a:r>
              <a:rPr lang="en-US" dirty="0"/>
              <a:t>.</a:t>
            </a:r>
            <a:endParaRPr dirty="0"/>
          </a:p>
          <a:p>
            <a:pPr indent="442913">
              <a:defRPr sz="3600"/>
            </a:pPr>
            <a:r>
              <a:rPr dirty="0" err="1"/>
              <a:t>Команда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free -h</a:t>
            </a:r>
          </a:p>
          <a:p>
            <a:pPr indent="4429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free -h</a:t>
            </a:r>
          </a:p>
          <a:p>
            <a:pPr indent="4429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: Mem: 3.8Gi total, 1.2Gi used, 2.1Gi free</a:t>
            </a:r>
          </a:p>
          <a:p>
            <a:pPr indent="442913">
              <a:defRPr sz="3600"/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: </a:t>
            </a:r>
            <a:r>
              <a:rPr dirty="0" err="1"/>
              <a:t>важны</a:t>
            </a:r>
            <a:r>
              <a:rPr dirty="0"/>
              <a:t> </a:t>
            </a:r>
            <a:r>
              <a:rPr dirty="0" err="1"/>
              <a:t>общий</a:t>
            </a:r>
            <a:r>
              <a:rPr dirty="0"/>
              <a:t> </a:t>
            </a:r>
            <a:r>
              <a:rPr dirty="0" err="1"/>
              <a:t>объем</a:t>
            </a:r>
            <a:r>
              <a:rPr dirty="0"/>
              <a:t> и </a:t>
            </a:r>
            <a:r>
              <a:rPr dirty="0" err="1"/>
              <a:t>свободная</a:t>
            </a:r>
            <a:r>
              <a:rPr dirty="0"/>
              <a:t> </a:t>
            </a:r>
            <a:r>
              <a:rPr dirty="0" err="1"/>
              <a:t>память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факт</a:t>
            </a:r>
            <a:r>
              <a:rPr dirty="0"/>
              <a:t> </a:t>
            </a:r>
            <a:r>
              <a:rPr dirty="0" err="1"/>
              <a:t>запуска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DC7C4C6-3D11-4A3C-F803-BA71660FD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675546"/>
            <a:ext cx="11120284" cy="1400712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дисков и разделов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014452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 err="1"/>
              <a:t>Задача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: </a:t>
            </a:r>
            <a:r>
              <a:rPr dirty="0" err="1"/>
              <a:t>увидеть</a:t>
            </a:r>
            <a:r>
              <a:rPr dirty="0"/>
              <a:t> </a:t>
            </a:r>
            <a:r>
              <a:rPr dirty="0" err="1"/>
              <a:t>диски</a:t>
            </a:r>
            <a:r>
              <a:rPr dirty="0"/>
              <a:t>, </a:t>
            </a:r>
            <a:r>
              <a:rPr dirty="0" err="1"/>
              <a:t>разделы</a:t>
            </a:r>
            <a:r>
              <a:rPr dirty="0"/>
              <a:t> и </a:t>
            </a:r>
            <a:r>
              <a:rPr dirty="0" err="1"/>
              <a:t>точки</a:t>
            </a:r>
            <a:r>
              <a:rPr dirty="0"/>
              <a:t> </a:t>
            </a:r>
            <a:r>
              <a:rPr dirty="0" err="1"/>
              <a:t>монтирования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Команда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lsblk</a:t>
            </a:r>
            <a:endParaRPr b="1" dirty="0">
              <a:solidFill>
                <a:srgbClr val="002060"/>
              </a:solidFill>
            </a:endParaRPr>
          </a:p>
          <a:p>
            <a:pPr indent="354013">
              <a:defRPr sz="3600"/>
            </a:pPr>
            <a:r>
              <a:rPr lang="ru-RU" b="1" dirty="0" err="1">
                <a:solidFill>
                  <a:srgbClr val="002060"/>
                </a:solidFill>
              </a:rPr>
              <a:t>lsblk</a:t>
            </a:r>
            <a:r>
              <a:rPr lang="ru-RU" dirty="0"/>
              <a:t> показывает блочные устройства: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физические диски;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разделы;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LVM-тома;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точки монтирования;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размер дисков и разделов.</a:t>
            </a:r>
            <a:endParaRPr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D9A0C-5D21-C415-BFC4-3B5D11368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C31C99-A673-2B5C-DA26-600641CD38EE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дисков и разделов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AA858F2-7B04-4125-8763-2739D05FA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521" y="730660"/>
            <a:ext cx="10584004" cy="269834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1ABAF5F-905F-B8BA-C8E6-099FCFABC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20" y="3589080"/>
            <a:ext cx="5840241" cy="269833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99D3047-6062-63E2-5AC4-2A28EBA265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4443" y="3589079"/>
            <a:ext cx="4310518" cy="201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2766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свободного места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Задача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: </a:t>
            </a:r>
            <a:r>
              <a:rPr dirty="0" err="1"/>
              <a:t>оценить</a:t>
            </a:r>
            <a:r>
              <a:rPr dirty="0"/>
              <a:t> </a:t>
            </a:r>
            <a:r>
              <a:rPr dirty="0" err="1"/>
              <a:t>заполнение</a:t>
            </a:r>
            <a:r>
              <a:rPr dirty="0"/>
              <a:t> </a:t>
            </a:r>
            <a:r>
              <a:rPr dirty="0" err="1"/>
              <a:t>файловых</a:t>
            </a:r>
            <a:r>
              <a:rPr dirty="0"/>
              <a:t> </a:t>
            </a:r>
            <a:r>
              <a:rPr dirty="0" err="1"/>
              <a:t>систем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Команда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df</a:t>
            </a:r>
            <a:r>
              <a:rPr b="1" dirty="0">
                <a:solidFill>
                  <a:srgbClr val="002060"/>
                </a:solidFill>
              </a:rPr>
              <a:t> </a:t>
            </a:r>
            <a:r>
              <a:rPr lang="ru-RU" b="1" dirty="0">
                <a:solidFill>
                  <a:srgbClr val="002060"/>
                </a:solidFill>
              </a:rPr>
              <a:t>–</a:t>
            </a:r>
            <a:r>
              <a:rPr b="1" dirty="0">
                <a:solidFill>
                  <a:srgbClr val="002060"/>
                </a:solidFill>
              </a:rPr>
              <a:t>h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ru-RU" sz="3600" dirty="0"/>
              <a:t>показывает использование файловых систем: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sz="3600" dirty="0"/>
              <a:t>сколько всего места;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sz="3600" dirty="0"/>
              <a:t>сколько занято;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sz="3600" dirty="0"/>
              <a:t>сколько свободно;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sz="3600" dirty="0"/>
              <a:t>процент использования;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sz="3600" dirty="0"/>
              <a:t>куда смонтировано.</a:t>
            </a:r>
            <a:endParaRPr sz="36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1D978-215C-F42D-BBF2-B61FA966D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E9F720-196F-B4A3-0DEF-5DC6878F5DEE}"/>
              </a:ext>
            </a:extLst>
          </p:cNvPr>
          <p:cNvSpPr txBox="1"/>
          <p:nvPr/>
        </p:nvSpPr>
        <p:spPr>
          <a:xfrm>
            <a:off x="457200" y="309716"/>
            <a:ext cx="10972800" cy="58167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df</a:t>
            </a:r>
            <a:r>
              <a:rPr b="1" dirty="0">
                <a:solidFill>
                  <a:srgbClr val="002060"/>
                </a:solidFill>
              </a:rPr>
              <a:t> -h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684561D-59DA-3D41-928C-FB902E6A9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013" y="954189"/>
            <a:ext cx="10785987" cy="301670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3967F40-560C-AE38-9E63-7BFF819AC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13" y="4132037"/>
            <a:ext cx="4606413" cy="2614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7137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71251" y="182880"/>
            <a:ext cx="7419018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9. </a:t>
            </a:r>
            <a:r>
              <a:rPr dirty="0" err="1"/>
              <a:t>Первичный</a:t>
            </a:r>
            <a:r>
              <a:rPr dirty="0"/>
              <a:t> </a:t>
            </a:r>
            <a:r>
              <a:rPr dirty="0" err="1"/>
              <a:t>чек-лист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 </a:t>
            </a:r>
            <a:endParaRPr lang="en-US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установки</a:t>
            </a:r>
            <a:r>
              <a:rPr dirty="0"/>
              <a:t> Linux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04334"/>
            <a:ext cx="10972800" cy="462214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Чек-лист</a:t>
            </a:r>
            <a:r>
              <a:rPr dirty="0"/>
              <a:t> — </a:t>
            </a:r>
            <a:r>
              <a:rPr dirty="0" err="1"/>
              <a:t>порядок</a:t>
            </a:r>
            <a:r>
              <a:rPr dirty="0"/>
              <a:t> </a:t>
            </a:r>
            <a:r>
              <a:rPr dirty="0" err="1"/>
              <a:t>обязательных</a:t>
            </a:r>
            <a:r>
              <a:rPr dirty="0"/>
              <a:t> </a:t>
            </a:r>
            <a:r>
              <a:rPr dirty="0" err="1"/>
              <a:t>проверок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снижает</a:t>
            </a:r>
            <a:r>
              <a:rPr dirty="0"/>
              <a:t> </a:t>
            </a:r>
            <a:r>
              <a:rPr dirty="0" err="1"/>
              <a:t>риск</a:t>
            </a:r>
            <a:r>
              <a:rPr dirty="0"/>
              <a:t> </a:t>
            </a:r>
            <a:r>
              <a:rPr dirty="0" err="1"/>
              <a:t>пропустить</a:t>
            </a:r>
            <a:r>
              <a:rPr dirty="0"/>
              <a:t> </a:t>
            </a:r>
            <a:r>
              <a:rPr dirty="0" err="1"/>
              <a:t>проблему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Паспорт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— </a:t>
            </a:r>
            <a:r>
              <a:rPr dirty="0" err="1"/>
              <a:t>краткая</a:t>
            </a:r>
            <a:r>
              <a:rPr dirty="0"/>
              <a:t> </a:t>
            </a:r>
            <a:r>
              <a:rPr dirty="0" err="1"/>
              <a:t>запись</a:t>
            </a:r>
            <a:r>
              <a:rPr dirty="0"/>
              <a:t> о </a:t>
            </a:r>
            <a:r>
              <a:rPr dirty="0" err="1"/>
              <a:t>состоянии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установки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Первичная</a:t>
            </a:r>
            <a:r>
              <a:rPr dirty="0"/>
              <a:t> </a:t>
            </a: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нужна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установки</a:t>
            </a:r>
            <a:r>
              <a:rPr dirty="0"/>
              <a:t> </a:t>
            </a:r>
            <a:r>
              <a:rPr dirty="0" err="1"/>
              <a:t>ролей</a:t>
            </a:r>
            <a:r>
              <a:rPr dirty="0"/>
              <a:t>: web, DNS, DHCP, SSH, firewall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Хороший</a:t>
            </a:r>
            <a:r>
              <a:rPr dirty="0"/>
              <a:t> </a:t>
            </a:r>
            <a:r>
              <a:rPr dirty="0" err="1"/>
              <a:t>отчет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понятен</a:t>
            </a:r>
            <a:r>
              <a:rPr dirty="0"/>
              <a:t> </a:t>
            </a:r>
            <a:r>
              <a:rPr dirty="0" err="1"/>
              <a:t>другому</a:t>
            </a:r>
            <a:r>
              <a:rPr dirty="0"/>
              <a:t> </a:t>
            </a:r>
            <a:r>
              <a:rPr dirty="0" err="1"/>
              <a:t>администратору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входит в первичный паспорт сервера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Hostname и </a:t>
            </a:r>
            <a:r>
              <a:rPr dirty="0" err="1"/>
              <a:t>способ</a:t>
            </a:r>
            <a:r>
              <a:rPr dirty="0"/>
              <a:t> </a:t>
            </a:r>
            <a:r>
              <a:rPr dirty="0" err="1"/>
              <a:t>входа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Дистрибутив</a:t>
            </a:r>
            <a:r>
              <a:rPr dirty="0"/>
              <a:t> и </a:t>
            </a:r>
            <a:r>
              <a:rPr dirty="0" err="1"/>
              <a:t>версия</a:t>
            </a:r>
            <a:r>
              <a:rPr dirty="0"/>
              <a:t> </a:t>
            </a:r>
            <a:r>
              <a:rPr dirty="0" err="1"/>
              <a:t>ядра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IP-</a:t>
            </a:r>
            <a:r>
              <a:rPr dirty="0" err="1"/>
              <a:t>адрес</a:t>
            </a:r>
            <a:r>
              <a:rPr dirty="0"/>
              <a:t>, gateway и DNS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необходимости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CPU, RAM, </a:t>
            </a:r>
            <a:r>
              <a:rPr dirty="0" err="1"/>
              <a:t>диски</a:t>
            </a:r>
            <a:r>
              <a:rPr dirty="0"/>
              <a:t> и </a:t>
            </a:r>
            <a:r>
              <a:rPr dirty="0" err="1"/>
              <a:t>свободное</a:t>
            </a:r>
            <a:r>
              <a:rPr dirty="0"/>
              <a:t> </a:t>
            </a:r>
            <a:r>
              <a:rPr dirty="0" err="1"/>
              <a:t>место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Состояние</a:t>
            </a:r>
            <a:r>
              <a:rPr dirty="0"/>
              <a:t> </a:t>
            </a:r>
            <a:r>
              <a:rPr dirty="0" err="1"/>
              <a:t>служб</a:t>
            </a:r>
            <a:r>
              <a:rPr dirty="0"/>
              <a:t> и </a:t>
            </a:r>
            <a:r>
              <a:rPr dirty="0" err="1"/>
              <a:t>наличие</a:t>
            </a:r>
            <a:r>
              <a:rPr dirty="0"/>
              <a:t> </a:t>
            </a:r>
            <a:r>
              <a:rPr dirty="0" err="1"/>
              <a:t>ошибок</a:t>
            </a:r>
            <a:r>
              <a:rPr dirty="0"/>
              <a:t> в </a:t>
            </a:r>
            <a:r>
              <a:rPr dirty="0" err="1"/>
              <a:t>журнале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IP-адресов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Задача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: </a:t>
            </a:r>
            <a:r>
              <a:rPr dirty="0" err="1"/>
              <a:t>зафиксировать</a:t>
            </a:r>
            <a:r>
              <a:rPr dirty="0"/>
              <a:t> </a:t>
            </a:r>
            <a:r>
              <a:rPr dirty="0" err="1"/>
              <a:t>сетевые</a:t>
            </a:r>
            <a:r>
              <a:rPr dirty="0"/>
              <a:t> </a:t>
            </a:r>
            <a:r>
              <a:rPr dirty="0" err="1"/>
              <a:t>адреса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lang="ru-RU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Команда</a:t>
            </a:r>
            <a:r>
              <a:rPr dirty="0"/>
              <a:t>: </a:t>
            </a:r>
            <a:r>
              <a:rPr lang="ru-RU" b="1" dirty="0" err="1">
                <a:solidFill>
                  <a:srgbClr val="002060"/>
                </a:solidFill>
              </a:rPr>
              <a:t>ip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b="1" dirty="0" err="1">
                <a:solidFill>
                  <a:srgbClr val="002060"/>
                </a:solidFill>
              </a:rPr>
              <a:t>addr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dirty="0"/>
              <a:t>показывает сетевые интерфейсы и IP-адреса</a:t>
            </a:r>
            <a:r>
              <a:rPr lang="en-US" dirty="0"/>
              <a:t>.</a:t>
            </a:r>
          </a:p>
          <a:p>
            <a:pPr>
              <a:defRPr sz="3600"/>
            </a:pPr>
            <a:r>
              <a:rPr lang="ru-RU" dirty="0"/>
              <a:t>Короткий вариант:</a:t>
            </a:r>
            <a:endParaRPr lang="en-US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b="1" dirty="0" err="1">
                <a:solidFill>
                  <a:srgbClr val="002060"/>
                </a:solidFill>
              </a:rPr>
              <a:t>ip</a:t>
            </a:r>
            <a:r>
              <a:rPr lang="en-US" b="1" dirty="0">
                <a:solidFill>
                  <a:srgbClr val="002060"/>
                </a:solidFill>
              </a:rPr>
              <a:t> a </a:t>
            </a:r>
            <a:r>
              <a:rPr lang="ru-RU" dirty="0"/>
              <a:t>или 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b="1" dirty="0" err="1">
                <a:solidFill>
                  <a:srgbClr val="002060"/>
                </a:solidFill>
              </a:rPr>
              <a:t>ip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ru-RU" b="1" dirty="0">
                <a:solidFill>
                  <a:srgbClr val="002060"/>
                </a:solidFill>
              </a:rPr>
              <a:t>–</a:t>
            </a:r>
            <a:r>
              <a:rPr lang="en-US" b="1" dirty="0" err="1">
                <a:solidFill>
                  <a:srgbClr val="002060"/>
                </a:solidFill>
              </a:rPr>
              <a:t>br</a:t>
            </a:r>
            <a:r>
              <a:rPr lang="en-US" b="1" dirty="0">
                <a:solidFill>
                  <a:srgbClr val="002060"/>
                </a:solidFill>
              </a:rPr>
              <a:t> a</a:t>
            </a:r>
          </a:p>
          <a:p>
            <a:pPr>
              <a:defRPr sz="3600"/>
            </a:pPr>
            <a:endParaRPr 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FB671-761F-493A-7FCB-7DE88FFA5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53EB0F-4F20-A7A4-771B-38B43D598A5C}"/>
              </a:ext>
            </a:extLst>
          </p:cNvPr>
          <p:cNvSpPr txBox="1"/>
          <p:nvPr/>
        </p:nvSpPr>
        <p:spPr>
          <a:xfrm>
            <a:off x="457200" y="250723"/>
            <a:ext cx="10972800" cy="5875757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Полезные команды</a:t>
            </a:r>
          </a:p>
          <a:p>
            <a:pPr>
              <a:defRPr sz="3600"/>
            </a:pPr>
            <a:r>
              <a:rPr lang="ru-RU" dirty="0"/>
              <a:t>Показать конкретный интерфейс:</a:t>
            </a:r>
          </a:p>
          <a:p>
            <a:pPr>
              <a:defRPr sz="3600"/>
            </a:pPr>
            <a:r>
              <a:rPr lang="en-US" b="1" dirty="0" err="1">
                <a:solidFill>
                  <a:srgbClr val="002060"/>
                </a:solidFill>
              </a:rPr>
              <a:t>ip</a:t>
            </a:r>
            <a:r>
              <a:rPr lang="en-US" b="1" dirty="0">
                <a:solidFill>
                  <a:srgbClr val="002060"/>
                </a:solidFill>
              </a:rPr>
              <a:t> a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en-US" b="1" dirty="0">
                <a:solidFill>
                  <a:srgbClr val="002060"/>
                </a:solidFill>
              </a:rPr>
              <a:t>show enp0s3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Показать только </a:t>
            </a:r>
            <a:r>
              <a:rPr lang="en-US" dirty="0"/>
              <a:t>IPv4:</a:t>
            </a:r>
          </a:p>
          <a:p>
            <a:pPr>
              <a:defRPr sz="3600"/>
            </a:pPr>
            <a:r>
              <a:rPr lang="en-US" b="1" dirty="0" err="1">
                <a:solidFill>
                  <a:srgbClr val="002060"/>
                </a:solidFill>
              </a:rPr>
              <a:t>ip</a:t>
            </a:r>
            <a:r>
              <a:rPr lang="en-US" b="1" dirty="0">
                <a:solidFill>
                  <a:srgbClr val="002060"/>
                </a:solidFill>
              </a:rPr>
              <a:t> -4 a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Показать только </a:t>
            </a:r>
            <a:r>
              <a:rPr lang="en-US" dirty="0"/>
              <a:t>IPv6:</a:t>
            </a:r>
          </a:p>
          <a:p>
            <a:pPr>
              <a:defRPr sz="3600"/>
            </a:pPr>
            <a:r>
              <a:rPr lang="en-US" b="1" dirty="0" err="1">
                <a:solidFill>
                  <a:srgbClr val="002060"/>
                </a:solidFill>
              </a:rPr>
              <a:t>ip</a:t>
            </a:r>
            <a:r>
              <a:rPr lang="en-US" b="1" dirty="0">
                <a:solidFill>
                  <a:srgbClr val="002060"/>
                </a:solidFill>
              </a:rPr>
              <a:t> -6 a</a:t>
            </a:r>
            <a:endParaRPr lang="ru-RU" b="1" dirty="0">
              <a:solidFill>
                <a:srgbClr val="002060"/>
              </a:solidFill>
            </a:endParaRP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Включить интерфейс:</a:t>
            </a:r>
          </a:p>
          <a:p>
            <a:pPr>
              <a:defRPr sz="3600"/>
            </a:pPr>
            <a:r>
              <a:rPr lang="en-US" b="1" dirty="0" err="1">
                <a:solidFill>
                  <a:srgbClr val="002060"/>
                </a:solidFill>
              </a:rPr>
              <a:t>sudo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b="1" dirty="0" err="1">
                <a:solidFill>
                  <a:srgbClr val="002060"/>
                </a:solidFill>
              </a:rPr>
              <a:t>ip</a:t>
            </a:r>
            <a:r>
              <a:rPr lang="en-US" b="1" dirty="0">
                <a:solidFill>
                  <a:srgbClr val="002060"/>
                </a:solidFill>
              </a:rPr>
              <a:t> link set enp0s3 up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Выключить интерфейс:</a:t>
            </a:r>
          </a:p>
          <a:p>
            <a:pPr>
              <a:defRPr sz="3600"/>
            </a:pPr>
            <a:r>
              <a:rPr lang="en-US" b="1" dirty="0" err="1">
                <a:solidFill>
                  <a:srgbClr val="002060"/>
                </a:solidFill>
              </a:rPr>
              <a:t>sudo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b="1" dirty="0" err="1">
                <a:solidFill>
                  <a:srgbClr val="002060"/>
                </a:solidFill>
              </a:rPr>
              <a:t>ip</a:t>
            </a:r>
            <a:r>
              <a:rPr lang="en-US" b="1" dirty="0">
                <a:solidFill>
                  <a:srgbClr val="002060"/>
                </a:solidFill>
              </a:rPr>
              <a:t> link set enp0s3 down</a:t>
            </a:r>
            <a:endParaRPr lang="ru-RU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92196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F3868-F6BB-E598-62D4-E715322CF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DB5838-ACC2-472D-9021-614348977867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IP-адресов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72AD13-DEB3-8382-563D-B04AA05ECEB3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dirty="0"/>
              <a:t>Пример использования: </a:t>
            </a:r>
            <a:r>
              <a:rPr lang="ru-RU" dirty="0" err="1"/>
              <a:t>ip</a:t>
            </a:r>
            <a:r>
              <a:rPr lang="ru-RU" dirty="0"/>
              <a:t> -</a:t>
            </a:r>
            <a:r>
              <a:rPr lang="ru-RU" dirty="0" err="1"/>
              <a:t>br</a:t>
            </a:r>
            <a:r>
              <a:rPr lang="ru-RU" dirty="0"/>
              <a:t> </a:t>
            </a:r>
            <a:r>
              <a:rPr lang="ru-RU" dirty="0" err="1"/>
              <a:t>addr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B6B2561-60DE-8AA7-03A8-D3CF5C5FD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76" y="1609670"/>
            <a:ext cx="11225224" cy="460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3875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3F0D7-1B44-43BD-25BF-D41099527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FD3B6D-F345-A37A-3C63-D9BA572218A0}"/>
              </a:ext>
            </a:extLst>
          </p:cNvPr>
          <p:cNvSpPr txBox="1"/>
          <p:nvPr/>
        </p:nvSpPr>
        <p:spPr>
          <a:xfrm>
            <a:off x="1598303" y="182880"/>
            <a:ext cx="10080452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Настройка интерфейсов через /</a:t>
            </a:r>
            <a:r>
              <a:rPr lang="en-US" dirty="0" err="1"/>
              <a:t>etc</a:t>
            </a:r>
            <a:r>
              <a:rPr lang="en-US" dirty="0"/>
              <a:t>/network/interfaces</a:t>
            </a:r>
          </a:p>
          <a:p>
            <a:pPr algn="ctr">
              <a:defRPr sz="3200" b="1">
                <a:solidFill>
                  <a:srgbClr val="143764"/>
                </a:solidFill>
              </a:defRPr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CB8930-EEFB-70F9-CAE9-02A2BAB84279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defRPr sz="3600"/>
            </a:pPr>
            <a:r>
              <a:rPr lang="ru-RU" dirty="0"/>
              <a:t>Файл: </a:t>
            </a:r>
            <a:r>
              <a:rPr lang="ru-RU" b="1" dirty="0">
                <a:solidFill>
                  <a:srgbClr val="002060"/>
                </a:solidFill>
              </a:rPr>
              <a:t>/</a:t>
            </a:r>
            <a:r>
              <a:rPr lang="en-US" b="1" dirty="0" err="1">
                <a:solidFill>
                  <a:srgbClr val="002060"/>
                </a:solidFill>
              </a:rPr>
              <a:t>etc</a:t>
            </a:r>
            <a:r>
              <a:rPr lang="en-US" b="1" dirty="0">
                <a:solidFill>
                  <a:srgbClr val="002060"/>
                </a:solidFill>
              </a:rPr>
              <a:t>/network/interfaces</a:t>
            </a:r>
          </a:p>
          <a:p>
            <a:pPr>
              <a:defRPr sz="3600"/>
            </a:pPr>
            <a:r>
              <a:rPr lang="ru-RU" dirty="0"/>
              <a:t>Используется в </a:t>
            </a:r>
            <a:r>
              <a:rPr lang="en-US" dirty="0"/>
              <a:t>Debian/Ubuntu Server </a:t>
            </a:r>
            <a:r>
              <a:rPr lang="ru-RU" dirty="0"/>
              <a:t>для настройки сети.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Посмотреть имя интерфейса</a:t>
            </a:r>
          </a:p>
          <a:p>
            <a:pPr>
              <a:defRPr sz="3600"/>
            </a:pPr>
            <a:r>
              <a:rPr lang="ru-RU" dirty="0"/>
              <a:t>Перед настройкой нужно узнать имя сетевой карты:</a:t>
            </a:r>
          </a:p>
          <a:p>
            <a:pPr>
              <a:defRPr sz="3600"/>
            </a:pPr>
            <a:r>
              <a:rPr lang="en-US" b="1" dirty="0" err="1">
                <a:solidFill>
                  <a:srgbClr val="002060"/>
                </a:solidFill>
              </a:rPr>
              <a:t>ip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b="1" dirty="0" err="1">
                <a:solidFill>
                  <a:srgbClr val="002060"/>
                </a:solidFill>
              </a:rPr>
              <a:t>addr</a:t>
            </a:r>
            <a:endParaRPr lang="en-US" b="1" dirty="0">
              <a:solidFill>
                <a:srgbClr val="002060"/>
              </a:solidFill>
            </a:endParaRP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Примеры имён:</a:t>
            </a:r>
          </a:p>
          <a:p>
            <a:pPr>
              <a:defRPr sz="3600"/>
            </a:pPr>
            <a:r>
              <a:rPr lang="en-US" b="1" dirty="0">
                <a:solidFill>
                  <a:srgbClr val="002060"/>
                </a:solidFill>
              </a:rPr>
              <a:t>enp0s3</a:t>
            </a:r>
          </a:p>
          <a:p>
            <a:pPr>
              <a:defRPr sz="3600"/>
            </a:pPr>
            <a:r>
              <a:rPr lang="en-US" b="1" dirty="0">
                <a:solidFill>
                  <a:srgbClr val="002060"/>
                </a:solidFill>
              </a:rPr>
              <a:t>ens33</a:t>
            </a:r>
          </a:p>
          <a:p>
            <a:pPr>
              <a:defRPr sz="3600"/>
            </a:pPr>
            <a:r>
              <a:rPr lang="en-US" b="1" dirty="0">
                <a:solidFill>
                  <a:srgbClr val="002060"/>
                </a:solidFill>
              </a:rPr>
              <a:t>eth0</a:t>
            </a:r>
            <a:endParaRPr lang="ru-RU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022988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A5954-1F19-2BC3-DC4E-22AAC4C40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F320A8-EE52-AB18-B45B-A8D51BA9ED67}"/>
              </a:ext>
            </a:extLst>
          </p:cNvPr>
          <p:cNvSpPr txBox="1"/>
          <p:nvPr/>
        </p:nvSpPr>
        <p:spPr>
          <a:xfrm>
            <a:off x="457200" y="324465"/>
            <a:ext cx="10972800" cy="5802015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>
              <a:defRPr sz="3600"/>
            </a:pPr>
            <a:r>
              <a:rPr lang="ru-RU" b="1" dirty="0"/>
              <a:t>Автоматическое получение </a:t>
            </a:r>
            <a:r>
              <a:rPr lang="en-US" b="1" dirty="0"/>
              <a:t>IP </a:t>
            </a:r>
            <a:r>
              <a:rPr lang="ru-RU" b="1" dirty="0"/>
              <a:t>по </a:t>
            </a:r>
            <a:r>
              <a:rPr lang="en-US" b="1" dirty="0"/>
              <a:t>DHCP</a:t>
            </a:r>
          </a:p>
          <a:p>
            <a:pPr>
              <a:defRPr sz="3600"/>
            </a:pPr>
            <a:r>
              <a:rPr lang="en-US" dirty="0"/>
              <a:t>nano /</a:t>
            </a:r>
            <a:r>
              <a:rPr lang="en-US" dirty="0" err="1"/>
              <a:t>etc</a:t>
            </a:r>
            <a:r>
              <a:rPr lang="en-US" dirty="0"/>
              <a:t>/network/interfaces</a:t>
            </a:r>
          </a:p>
          <a:p>
            <a:pPr>
              <a:defRPr sz="3600"/>
            </a:pPr>
            <a:r>
              <a:rPr lang="ru-RU" dirty="0"/>
              <a:t>Пример настройки интерфейса </a:t>
            </a:r>
            <a:r>
              <a:rPr lang="en-US" dirty="0"/>
              <a:t>enp0s3: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en-US" b="1" dirty="0">
                <a:solidFill>
                  <a:srgbClr val="002060"/>
                </a:solidFill>
              </a:rPr>
              <a:t>auto enp0s3</a:t>
            </a:r>
          </a:p>
          <a:p>
            <a:pPr>
              <a:defRPr sz="3600"/>
            </a:pPr>
            <a:r>
              <a:rPr lang="en-US" b="1" dirty="0" err="1">
                <a:solidFill>
                  <a:srgbClr val="002060"/>
                </a:solidFill>
              </a:rPr>
              <a:t>iface</a:t>
            </a:r>
            <a:r>
              <a:rPr lang="en-US" b="1" dirty="0">
                <a:solidFill>
                  <a:srgbClr val="002060"/>
                </a:solidFill>
              </a:rPr>
              <a:t> enp0s3 </a:t>
            </a:r>
            <a:r>
              <a:rPr lang="en-US" b="1" dirty="0" err="1">
                <a:solidFill>
                  <a:srgbClr val="002060"/>
                </a:solidFill>
              </a:rPr>
              <a:t>inet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b="1" dirty="0" err="1">
                <a:solidFill>
                  <a:srgbClr val="002060"/>
                </a:solidFill>
              </a:rPr>
              <a:t>dhcp</a:t>
            </a:r>
            <a:endParaRPr lang="en-US" b="1" dirty="0">
              <a:solidFill>
                <a:srgbClr val="002060"/>
              </a:solidFill>
            </a:endParaRP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Что означает:</a:t>
            </a:r>
          </a:p>
          <a:p>
            <a:pPr>
              <a:defRPr sz="3600"/>
            </a:pPr>
            <a:r>
              <a:rPr lang="en-US" b="1" dirty="0">
                <a:solidFill>
                  <a:srgbClr val="002060"/>
                </a:solidFill>
              </a:rPr>
              <a:t>auto enp0s3</a:t>
            </a:r>
            <a:r>
              <a:rPr lang="en-US" dirty="0"/>
              <a:t>	- </a:t>
            </a:r>
            <a:r>
              <a:rPr lang="ru-RU" dirty="0"/>
              <a:t>поднимать интерфейс при загрузке</a:t>
            </a:r>
          </a:p>
          <a:p>
            <a:pPr>
              <a:defRPr sz="3600"/>
            </a:pPr>
            <a:r>
              <a:rPr lang="en-US" b="1" dirty="0" err="1">
                <a:solidFill>
                  <a:srgbClr val="002060"/>
                </a:solidFill>
              </a:rPr>
              <a:t>iface</a:t>
            </a:r>
            <a:r>
              <a:rPr lang="en-US" b="1" dirty="0">
                <a:solidFill>
                  <a:srgbClr val="002060"/>
                </a:solidFill>
              </a:rPr>
              <a:t> enp0s3 </a:t>
            </a:r>
            <a:r>
              <a:rPr lang="en-US" b="1" dirty="0" err="1">
                <a:solidFill>
                  <a:srgbClr val="002060"/>
                </a:solidFill>
              </a:rPr>
              <a:t>inet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b="1" dirty="0" err="1">
                <a:solidFill>
                  <a:srgbClr val="002060"/>
                </a:solidFill>
              </a:rPr>
              <a:t>dhcp</a:t>
            </a:r>
            <a:r>
              <a:rPr lang="en-US" dirty="0"/>
              <a:t>	- </a:t>
            </a:r>
            <a:r>
              <a:rPr lang="ru-RU" dirty="0"/>
              <a:t>получать </a:t>
            </a:r>
            <a:r>
              <a:rPr lang="en-US" dirty="0"/>
              <a:t>IPv4-</a:t>
            </a:r>
            <a:r>
              <a:rPr lang="ru-RU" dirty="0"/>
              <a:t>адрес автоматически по </a:t>
            </a:r>
            <a:r>
              <a:rPr lang="en-US" dirty="0"/>
              <a:t>DHCP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640710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67E77-6D28-410C-2919-E52AC9FE6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346D38-FC86-3C9D-078C-8577EA97A118}"/>
              </a:ext>
            </a:extLst>
          </p:cNvPr>
          <p:cNvSpPr txBox="1"/>
          <p:nvPr/>
        </p:nvSpPr>
        <p:spPr>
          <a:xfrm>
            <a:off x="457200" y="324465"/>
            <a:ext cx="10972800" cy="5802015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Статический </a:t>
            </a:r>
            <a:r>
              <a:rPr lang="en-US" b="1" dirty="0"/>
              <a:t>IP-</a:t>
            </a:r>
            <a:r>
              <a:rPr lang="ru-RU" b="1" dirty="0"/>
              <a:t>адрес</a:t>
            </a:r>
          </a:p>
          <a:p>
            <a:pPr>
              <a:defRPr sz="3600"/>
            </a:pPr>
            <a:r>
              <a:rPr lang="ru-RU" dirty="0"/>
              <a:t>Пример: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en-US" b="1" dirty="0">
                <a:solidFill>
                  <a:srgbClr val="002060"/>
                </a:solidFill>
              </a:rPr>
              <a:t>auto enp0s3</a:t>
            </a:r>
          </a:p>
          <a:p>
            <a:pPr>
              <a:defRPr sz="3600"/>
            </a:pPr>
            <a:r>
              <a:rPr lang="en-US" b="1" dirty="0" err="1">
                <a:solidFill>
                  <a:srgbClr val="002060"/>
                </a:solidFill>
              </a:rPr>
              <a:t>iface</a:t>
            </a:r>
            <a:r>
              <a:rPr lang="en-US" b="1" dirty="0">
                <a:solidFill>
                  <a:srgbClr val="002060"/>
                </a:solidFill>
              </a:rPr>
              <a:t> enp0s3 </a:t>
            </a:r>
            <a:r>
              <a:rPr lang="en-US" b="1" dirty="0" err="1">
                <a:solidFill>
                  <a:srgbClr val="002060"/>
                </a:solidFill>
              </a:rPr>
              <a:t>inet</a:t>
            </a:r>
            <a:r>
              <a:rPr lang="en-US" b="1" dirty="0">
                <a:solidFill>
                  <a:srgbClr val="002060"/>
                </a:solidFill>
              </a:rPr>
              <a:t> static</a:t>
            </a:r>
          </a:p>
          <a:p>
            <a:pPr>
              <a:defRPr sz="3600"/>
            </a:pPr>
            <a:r>
              <a:rPr lang="en-US" b="1" dirty="0">
                <a:solidFill>
                  <a:srgbClr val="002060"/>
                </a:solidFill>
              </a:rPr>
              <a:t>    address 192.168.0.245</a:t>
            </a:r>
          </a:p>
          <a:p>
            <a:pPr>
              <a:defRPr sz="3600"/>
            </a:pPr>
            <a:r>
              <a:rPr lang="en-US" b="1" dirty="0">
                <a:solidFill>
                  <a:srgbClr val="002060"/>
                </a:solidFill>
              </a:rPr>
              <a:t>    netmask 255.255.255.0</a:t>
            </a:r>
          </a:p>
          <a:p>
            <a:pPr>
              <a:defRPr sz="3600"/>
            </a:pPr>
            <a:r>
              <a:rPr lang="en-US" b="1" dirty="0">
                <a:solidFill>
                  <a:srgbClr val="002060"/>
                </a:solidFill>
              </a:rPr>
              <a:t>    gateway 192.168.0.1</a:t>
            </a:r>
          </a:p>
          <a:p>
            <a:pPr>
              <a:defRPr sz="3600"/>
            </a:pPr>
            <a:r>
              <a:rPr lang="en-US" b="1" dirty="0">
                <a:solidFill>
                  <a:srgbClr val="002060"/>
                </a:solidFill>
              </a:rPr>
              <a:t>    </a:t>
            </a:r>
            <a:r>
              <a:rPr lang="en-US" b="1" dirty="0" err="1">
                <a:solidFill>
                  <a:srgbClr val="002060"/>
                </a:solidFill>
              </a:rPr>
              <a:t>dns</a:t>
            </a:r>
            <a:r>
              <a:rPr lang="en-US" b="1" dirty="0">
                <a:solidFill>
                  <a:srgbClr val="002060"/>
                </a:solidFill>
              </a:rPr>
              <a:t>-nameservers 8.8.8.8 1.1.1.1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Разбор:</a:t>
            </a:r>
          </a:p>
          <a:p>
            <a:pPr>
              <a:defRPr sz="3600"/>
            </a:pPr>
            <a:r>
              <a:rPr lang="en-US" b="1" dirty="0">
                <a:solidFill>
                  <a:srgbClr val="002060"/>
                </a:solidFill>
              </a:rPr>
              <a:t>address</a:t>
            </a:r>
            <a:r>
              <a:rPr lang="en-US" dirty="0"/>
              <a:t>	- IP-</a:t>
            </a:r>
            <a:r>
              <a:rPr lang="ru-RU" dirty="0"/>
              <a:t>адрес сервера</a:t>
            </a:r>
          </a:p>
          <a:p>
            <a:pPr>
              <a:defRPr sz="3600"/>
            </a:pPr>
            <a:r>
              <a:rPr lang="en-US" sz="3600" b="1" dirty="0">
                <a:solidFill>
                  <a:srgbClr val="002060"/>
                </a:solidFill>
              </a:rPr>
              <a:t>netmask</a:t>
            </a:r>
            <a:r>
              <a:rPr lang="en-US" dirty="0"/>
              <a:t> - </a:t>
            </a:r>
            <a:r>
              <a:rPr lang="ru-RU" dirty="0"/>
              <a:t>маска подсети</a:t>
            </a:r>
          </a:p>
          <a:p>
            <a:pPr>
              <a:defRPr sz="3600"/>
            </a:pPr>
            <a:r>
              <a:rPr lang="en-US" sz="3600" b="1" dirty="0">
                <a:solidFill>
                  <a:srgbClr val="002060"/>
                </a:solidFill>
              </a:rPr>
              <a:t>gateway</a:t>
            </a:r>
            <a:r>
              <a:rPr lang="en-US" dirty="0"/>
              <a:t>	- </a:t>
            </a:r>
            <a:r>
              <a:rPr lang="ru-RU" dirty="0"/>
              <a:t>шлюз по умолчанию</a:t>
            </a:r>
          </a:p>
          <a:p>
            <a:pPr>
              <a:defRPr sz="3600"/>
            </a:pPr>
            <a:r>
              <a:rPr lang="en-US" sz="3600" b="1" dirty="0" err="1">
                <a:solidFill>
                  <a:srgbClr val="002060"/>
                </a:solidFill>
              </a:rPr>
              <a:t>dns</a:t>
            </a:r>
            <a:r>
              <a:rPr lang="en-US" sz="3600" b="1" dirty="0">
                <a:solidFill>
                  <a:srgbClr val="002060"/>
                </a:solidFill>
              </a:rPr>
              <a:t>-nameservers</a:t>
            </a:r>
            <a:r>
              <a:rPr lang="en-US" dirty="0"/>
              <a:t> - DNS-</a:t>
            </a:r>
            <a:r>
              <a:rPr lang="ru-RU" dirty="0"/>
              <a:t>серверы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76338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7DA55-46F0-46E0-4869-4F0973907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2274D8-5AD9-0586-EAAD-C5867A81B2C5}"/>
              </a:ext>
            </a:extLst>
          </p:cNvPr>
          <p:cNvSpPr txBox="1"/>
          <p:nvPr/>
        </p:nvSpPr>
        <p:spPr>
          <a:xfrm>
            <a:off x="457200" y="324465"/>
            <a:ext cx="10972800" cy="580201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dirty="0"/>
              <a:t>Современный вариант с </a:t>
            </a:r>
            <a:r>
              <a:rPr lang="en-US" dirty="0"/>
              <a:t>CIDR</a:t>
            </a:r>
          </a:p>
          <a:p>
            <a:pPr>
              <a:defRPr sz="3600"/>
            </a:pPr>
            <a:r>
              <a:rPr lang="ru-RU" dirty="0"/>
              <a:t>Вместо </a:t>
            </a:r>
            <a:r>
              <a:rPr lang="en-US" dirty="0"/>
              <a:t>netmask </a:t>
            </a:r>
            <a:r>
              <a:rPr lang="ru-RU" dirty="0"/>
              <a:t>можно использовать /24: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en-US" b="1" dirty="0">
                <a:solidFill>
                  <a:srgbClr val="002060"/>
                </a:solidFill>
              </a:rPr>
              <a:t>auto enp0s3</a:t>
            </a:r>
          </a:p>
          <a:p>
            <a:pPr>
              <a:defRPr sz="3600"/>
            </a:pPr>
            <a:r>
              <a:rPr lang="en-US" b="1" dirty="0" err="1">
                <a:solidFill>
                  <a:srgbClr val="002060"/>
                </a:solidFill>
              </a:rPr>
              <a:t>iface</a:t>
            </a:r>
            <a:r>
              <a:rPr lang="en-US" b="1" dirty="0">
                <a:solidFill>
                  <a:srgbClr val="002060"/>
                </a:solidFill>
              </a:rPr>
              <a:t> enp0s3 </a:t>
            </a:r>
            <a:r>
              <a:rPr lang="en-US" b="1" dirty="0" err="1">
                <a:solidFill>
                  <a:srgbClr val="002060"/>
                </a:solidFill>
              </a:rPr>
              <a:t>inet</a:t>
            </a:r>
            <a:r>
              <a:rPr lang="en-US" b="1" dirty="0">
                <a:solidFill>
                  <a:srgbClr val="002060"/>
                </a:solidFill>
              </a:rPr>
              <a:t> static</a:t>
            </a:r>
          </a:p>
          <a:p>
            <a:pPr>
              <a:defRPr sz="3600"/>
            </a:pPr>
            <a:r>
              <a:rPr lang="en-US" b="1" dirty="0">
                <a:solidFill>
                  <a:srgbClr val="002060"/>
                </a:solidFill>
              </a:rPr>
              <a:t>    address 192.168.0.245/24</a:t>
            </a:r>
          </a:p>
          <a:p>
            <a:pPr>
              <a:defRPr sz="3600"/>
            </a:pPr>
            <a:r>
              <a:rPr lang="en-US" b="1" dirty="0">
                <a:solidFill>
                  <a:srgbClr val="002060"/>
                </a:solidFill>
              </a:rPr>
              <a:t>    gateway 192.168.0.1</a:t>
            </a:r>
          </a:p>
          <a:p>
            <a:pPr>
              <a:defRPr sz="3600"/>
            </a:pPr>
            <a:r>
              <a:rPr lang="en-US" b="1" dirty="0">
                <a:solidFill>
                  <a:srgbClr val="002060"/>
                </a:solidFill>
              </a:rPr>
              <a:t>    </a:t>
            </a:r>
            <a:r>
              <a:rPr lang="en-US" b="1" dirty="0" err="1">
                <a:solidFill>
                  <a:srgbClr val="002060"/>
                </a:solidFill>
              </a:rPr>
              <a:t>dns</a:t>
            </a:r>
            <a:r>
              <a:rPr lang="en-US" b="1" dirty="0">
                <a:solidFill>
                  <a:srgbClr val="002060"/>
                </a:solidFill>
              </a:rPr>
              <a:t>-nameservers 8.8.8.8 1.1.1.1</a:t>
            </a:r>
          </a:p>
        </p:txBody>
      </p:sp>
    </p:spTree>
    <p:extLst>
      <p:ext uri="{BB962C8B-B14F-4D97-AF65-F5344CB8AC3E}">
        <p14:creationId xmlns:p14="http://schemas.microsoft.com/office/powerpoint/2010/main" val="422501974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4C53C-9BB6-EA34-C91F-819EEF7D8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D44B8E-5153-6EC0-F89E-D2F33A6630DE}"/>
              </a:ext>
            </a:extLst>
          </p:cNvPr>
          <p:cNvSpPr txBox="1"/>
          <p:nvPr/>
        </p:nvSpPr>
        <p:spPr>
          <a:xfrm>
            <a:off x="457200" y="324465"/>
            <a:ext cx="10972800" cy="580201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600"/>
            </a:pPr>
            <a:r>
              <a:rPr lang="ru-RU" b="1" dirty="0" err="1"/>
              <a:t>Loopback</a:t>
            </a:r>
            <a:r>
              <a:rPr lang="ru-RU" b="1" dirty="0"/>
              <a:t>-интерфейс</a:t>
            </a:r>
          </a:p>
          <a:p>
            <a:pPr>
              <a:defRPr sz="3600"/>
            </a:pPr>
            <a:r>
              <a:rPr lang="ru-RU" dirty="0"/>
              <a:t>Обычно в файле уже есть:</a:t>
            </a:r>
          </a:p>
          <a:p>
            <a:pPr>
              <a:defRPr sz="3600"/>
            </a:pPr>
            <a:r>
              <a:rPr lang="ru-RU" b="1" dirty="0" err="1">
                <a:solidFill>
                  <a:srgbClr val="002060"/>
                </a:solidFill>
              </a:rPr>
              <a:t>auto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b="1" dirty="0" err="1">
                <a:solidFill>
                  <a:srgbClr val="002060"/>
                </a:solidFill>
              </a:rPr>
              <a:t>lo</a:t>
            </a:r>
            <a:endParaRPr lang="ru-RU" b="1" dirty="0">
              <a:solidFill>
                <a:srgbClr val="002060"/>
              </a:solidFill>
            </a:endParaRPr>
          </a:p>
          <a:p>
            <a:pPr>
              <a:defRPr sz="3600"/>
            </a:pPr>
            <a:r>
              <a:rPr lang="ru-RU" b="1" dirty="0" err="1">
                <a:solidFill>
                  <a:srgbClr val="002060"/>
                </a:solidFill>
              </a:rPr>
              <a:t>iface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b="1" dirty="0" err="1">
                <a:solidFill>
                  <a:srgbClr val="002060"/>
                </a:solidFill>
              </a:rPr>
              <a:t>lo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b="1" dirty="0" err="1">
                <a:solidFill>
                  <a:srgbClr val="002060"/>
                </a:solidFill>
              </a:rPr>
              <a:t>inet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b="1" dirty="0" err="1">
                <a:solidFill>
                  <a:srgbClr val="002060"/>
                </a:solidFill>
              </a:rPr>
              <a:t>loopback</a:t>
            </a:r>
            <a:endParaRPr lang="ru-RU" b="1" dirty="0">
              <a:solidFill>
                <a:srgbClr val="002060"/>
              </a:solidFill>
            </a:endParaRP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 err="1">
                <a:solidFill>
                  <a:srgbClr val="002060"/>
                </a:solidFill>
              </a:rPr>
              <a:t>lo</a:t>
            </a:r>
            <a:r>
              <a:rPr lang="ru-RU" dirty="0"/>
              <a:t> — это внутренний интерфейс Linux.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Его удалять не нужно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5364983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92696-3C24-2102-B560-4831DCE13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C00AA1-A5C3-FF02-A1C7-850D868C1AF3}"/>
              </a:ext>
            </a:extLst>
          </p:cNvPr>
          <p:cNvSpPr txBox="1"/>
          <p:nvPr/>
        </p:nvSpPr>
        <p:spPr>
          <a:xfrm>
            <a:off x="457200" y="324465"/>
            <a:ext cx="10972800" cy="580201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dirty="0"/>
              <a:t>Полный пример файла</a:t>
            </a:r>
            <a:r>
              <a:rPr lang="en-US" dirty="0"/>
              <a:t> /</a:t>
            </a:r>
            <a:r>
              <a:rPr lang="en-US" dirty="0" err="1"/>
              <a:t>etc</a:t>
            </a:r>
            <a:r>
              <a:rPr lang="en-US" dirty="0"/>
              <a:t>/network/interfaces</a:t>
            </a:r>
            <a:endParaRPr lang="ru-RU" dirty="0"/>
          </a:p>
          <a:p>
            <a:pPr>
              <a:defRPr sz="3600"/>
            </a:pPr>
            <a:r>
              <a:rPr lang="en-US" b="1" dirty="0">
                <a:solidFill>
                  <a:srgbClr val="002060"/>
                </a:solidFill>
              </a:rPr>
              <a:t>auto lo</a:t>
            </a:r>
          </a:p>
          <a:p>
            <a:pPr>
              <a:defRPr sz="3600"/>
            </a:pPr>
            <a:r>
              <a:rPr lang="en-US" b="1" dirty="0" err="1">
                <a:solidFill>
                  <a:srgbClr val="002060"/>
                </a:solidFill>
              </a:rPr>
              <a:t>iface</a:t>
            </a:r>
            <a:r>
              <a:rPr lang="en-US" b="1" dirty="0">
                <a:solidFill>
                  <a:srgbClr val="002060"/>
                </a:solidFill>
              </a:rPr>
              <a:t> lo </a:t>
            </a:r>
            <a:r>
              <a:rPr lang="en-US" b="1" dirty="0" err="1">
                <a:solidFill>
                  <a:srgbClr val="002060"/>
                </a:solidFill>
              </a:rPr>
              <a:t>inet</a:t>
            </a:r>
            <a:r>
              <a:rPr lang="en-US" b="1" dirty="0">
                <a:solidFill>
                  <a:srgbClr val="002060"/>
                </a:solidFill>
              </a:rPr>
              <a:t> loopback</a:t>
            </a:r>
          </a:p>
          <a:p>
            <a:pPr>
              <a:defRPr sz="3600"/>
            </a:pPr>
            <a:endParaRPr lang="en-US" b="1" dirty="0">
              <a:solidFill>
                <a:srgbClr val="002060"/>
              </a:solidFill>
            </a:endParaRPr>
          </a:p>
          <a:p>
            <a:pPr>
              <a:defRPr sz="3600"/>
            </a:pPr>
            <a:r>
              <a:rPr lang="en-US" b="1" dirty="0">
                <a:solidFill>
                  <a:srgbClr val="002060"/>
                </a:solidFill>
              </a:rPr>
              <a:t>auto enp0s3</a:t>
            </a:r>
          </a:p>
          <a:p>
            <a:pPr>
              <a:defRPr sz="3600"/>
            </a:pPr>
            <a:r>
              <a:rPr lang="en-US" b="1" dirty="0" err="1">
                <a:solidFill>
                  <a:srgbClr val="002060"/>
                </a:solidFill>
              </a:rPr>
              <a:t>iface</a:t>
            </a:r>
            <a:r>
              <a:rPr lang="en-US" b="1" dirty="0">
                <a:solidFill>
                  <a:srgbClr val="002060"/>
                </a:solidFill>
              </a:rPr>
              <a:t> enp0s3 </a:t>
            </a:r>
            <a:r>
              <a:rPr lang="en-US" b="1" dirty="0" err="1">
                <a:solidFill>
                  <a:srgbClr val="002060"/>
                </a:solidFill>
              </a:rPr>
              <a:t>inet</a:t>
            </a:r>
            <a:r>
              <a:rPr lang="en-US" b="1" dirty="0">
                <a:solidFill>
                  <a:srgbClr val="002060"/>
                </a:solidFill>
              </a:rPr>
              <a:t> static</a:t>
            </a:r>
          </a:p>
          <a:p>
            <a:pPr>
              <a:defRPr sz="3600"/>
            </a:pPr>
            <a:r>
              <a:rPr lang="en-US" b="1" dirty="0">
                <a:solidFill>
                  <a:srgbClr val="002060"/>
                </a:solidFill>
              </a:rPr>
              <a:t>    address 192.168.0.245/24</a:t>
            </a:r>
          </a:p>
          <a:p>
            <a:pPr>
              <a:defRPr sz="3600"/>
            </a:pPr>
            <a:r>
              <a:rPr lang="en-US" b="1" dirty="0">
                <a:solidFill>
                  <a:srgbClr val="002060"/>
                </a:solidFill>
              </a:rPr>
              <a:t>    gateway 192.168.0.1</a:t>
            </a:r>
          </a:p>
          <a:p>
            <a:pPr>
              <a:defRPr sz="3600"/>
            </a:pPr>
            <a:r>
              <a:rPr lang="en-US" b="1" dirty="0">
                <a:solidFill>
                  <a:srgbClr val="002060"/>
                </a:solidFill>
              </a:rPr>
              <a:t>    </a:t>
            </a:r>
            <a:r>
              <a:rPr lang="en-US" b="1" dirty="0" err="1">
                <a:solidFill>
                  <a:srgbClr val="002060"/>
                </a:solidFill>
              </a:rPr>
              <a:t>dns</a:t>
            </a:r>
            <a:r>
              <a:rPr lang="en-US" b="1" dirty="0">
                <a:solidFill>
                  <a:srgbClr val="002060"/>
                </a:solidFill>
              </a:rPr>
              <a:t>-nameservers 8.8.8.8 1.1.1.1</a:t>
            </a:r>
          </a:p>
        </p:txBody>
      </p:sp>
    </p:spTree>
    <p:extLst>
      <p:ext uri="{BB962C8B-B14F-4D97-AF65-F5344CB8AC3E}">
        <p14:creationId xmlns:p14="http://schemas.microsoft.com/office/powerpoint/2010/main" val="174557711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66120-5CD7-4ED3-33BD-C178DEACB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887B1B-A302-A9FB-B373-A1783BA20F35}"/>
              </a:ext>
            </a:extLst>
          </p:cNvPr>
          <p:cNvSpPr txBox="1"/>
          <p:nvPr/>
        </p:nvSpPr>
        <p:spPr>
          <a:xfrm>
            <a:off x="457200" y="324465"/>
            <a:ext cx="10972800" cy="580201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600"/>
            </a:pPr>
            <a:r>
              <a:rPr lang="ru-RU" b="1" dirty="0"/>
              <a:t>Применить настройки</a:t>
            </a:r>
          </a:p>
          <a:p>
            <a:pPr>
              <a:defRPr sz="3600"/>
            </a:pPr>
            <a:r>
              <a:rPr lang="ru-RU" dirty="0"/>
              <a:t>Перезапустить интерфейс:</a:t>
            </a:r>
          </a:p>
          <a:p>
            <a:pPr>
              <a:defRPr sz="3600"/>
            </a:pPr>
            <a:r>
              <a:rPr lang="en-US" b="1" dirty="0" err="1">
                <a:solidFill>
                  <a:srgbClr val="002060"/>
                </a:solidFill>
              </a:rPr>
              <a:t>sudo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b="1" dirty="0" err="1">
                <a:solidFill>
                  <a:srgbClr val="002060"/>
                </a:solidFill>
              </a:rPr>
              <a:t>ifdown</a:t>
            </a:r>
            <a:r>
              <a:rPr lang="en-US" b="1" dirty="0">
                <a:solidFill>
                  <a:srgbClr val="002060"/>
                </a:solidFill>
              </a:rPr>
              <a:t> enp0s3</a:t>
            </a:r>
          </a:p>
          <a:p>
            <a:pPr>
              <a:defRPr sz="3600"/>
            </a:pPr>
            <a:r>
              <a:rPr lang="en-US" b="1" dirty="0" err="1">
                <a:solidFill>
                  <a:srgbClr val="002060"/>
                </a:solidFill>
              </a:rPr>
              <a:t>sudo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b="1" dirty="0" err="1">
                <a:solidFill>
                  <a:srgbClr val="002060"/>
                </a:solidFill>
              </a:rPr>
              <a:t>ifup</a:t>
            </a:r>
            <a:r>
              <a:rPr lang="en-US" b="1" dirty="0">
                <a:solidFill>
                  <a:srgbClr val="002060"/>
                </a:solidFill>
              </a:rPr>
              <a:t> enp0s3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Или можно перезапустить сетевую службу:</a:t>
            </a:r>
          </a:p>
          <a:p>
            <a:pPr>
              <a:defRPr sz="3600"/>
            </a:pPr>
            <a:r>
              <a:rPr lang="en-US" b="1" dirty="0" err="1">
                <a:solidFill>
                  <a:srgbClr val="002060"/>
                </a:solidFill>
              </a:rPr>
              <a:t>sudo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b="1" dirty="0" err="1">
                <a:solidFill>
                  <a:srgbClr val="002060"/>
                </a:solidFill>
              </a:rPr>
              <a:t>systemctl</a:t>
            </a:r>
            <a:r>
              <a:rPr lang="en-US" b="1" dirty="0">
                <a:solidFill>
                  <a:srgbClr val="002060"/>
                </a:solidFill>
              </a:rPr>
              <a:t> restart networking</a:t>
            </a:r>
          </a:p>
        </p:txBody>
      </p:sp>
    </p:spTree>
    <p:extLst>
      <p:ext uri="{BB962C8B-B14F-4D97-AF65-F5344CB8AC3E}">
        <p14:creationId xmlns:p14="http://schemas.microsoft.com/office/powerpoint/2010/main" val="240543415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2DA23-0795-C513-E886-18756DEDB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8F0E79-F971-B295-0BCF-75806037655D}"/>
              </a:ext>
            </a:extLst>
          </p:cNvPr>
          <p:cNvSpPr txBox="1"/>
          <p:nvPr/>
        </p:nvSpPr>
        <p:spPr>
          <a:xfrm>
            <a:off x="457200" y="324465"/>
            <a:ext cx="10972800" cy="5802015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ctr">
              <a:defRPr sz="3600"/>
            </a:pPr>
            <a:r>
              <a:rPr lang="ru-RU" b="1" dirty="0"/>
              <a:t>Проверить результат</a:t>
            </a:r>
          </a:p>
          <a:p>
            <a:pPr>
              <a:defRPr sz="3600"/>
            </a:pPr>
            <a:r>
              <a:rPr lang="ru-RU" dirty="0"/>
              <a:t>Проверить </a:t>
            </a:r>
            <a:r>
              <a:rPr lang="en-US" dirty="0"/>
              <a:t>IP-</a:t>
            </a:r>
            <a:r>
              <a:rPr lang="ru-RU" dirty="0"/>
              <a:t>адрес:</a:t>
            </a:r>
          </a:p>
          <a:p>
            <a:pPr>
              <a:defRPr sz="3600"/>
            </a:pPr>
            <a:r>
              <a:rPr lang="en-US" b="1" dirty="0" err="1">
                <a:solidFill>
                  <a:srgbClr val="002060"/>
                </a:solidFill>
              </a:rPr>
              <a:t>ip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b="1" dirty="0" err="1">
                <a:solidFill>
                  <a:srgbClr val="002060"/>
                </a:solidFill>
              </a:rPr>
              <a:t>addr</a:t>
            </a:r>
            <a:endParaRPr lang="en-US" b="1" dirty="0">
              <a:solidFill>
                <a:srgbClr val="002060"/>
              </a:solidFill>
            </a:endParaRP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Проверить маршрут по умолчанию:</a:t>
            </a:r>
          </a:p>
          <a:p>
            <a:pPr>
              <a:defRPr sz="3600"/>
            </a:pPr>
            <a:r>
              <a:rPr lang="en-US" b="1" dirty="0" err="1">
                <a:solidFill>
                  <a:srgbClr val="002060"/>
                </a:solidFill>
              </a:rPr>
              <a:t>ip</a:t>
            </a:r>
            <a:r>
              <a:rPr lang="en-US" b="1" dirty="0">
                <a:solidFill>
                  <a:srgbClr val="002060"/>
                </a:solidFill>
              </a:rPr>
              <a:t> route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Должно быть примерно:</a:t>
            </a:r>
          </a:p>
          <a:p>
            <a:pPr>
              <a:defRPr sz="3600"/>
            </a:pPr>
            <a:r>
              <a:rPr lang="en-US" b="1" dirty="0">
                <a:solidFill>
                  <a:srgbClr val="002060"/>
                </a:solidFill>
              </a:rPr>
              <a:t>default via 192.168.0.1 dev enp0s3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Проверить доступность шлюза:</a:t>
            </a:r>
          </a:p>
          <a:p>
            <a:pPr>
              <a:defRPr sz="3600"/>
            </a:pPr>
            <a:r>
              <a:rPr lang="en-US" b="1" dirty="0">
                <a:solidFill>
                  <a:srgbClr val="002060"/>
                </a:solidFill>
              </a:rPr>
              <a:t>ping 192.168.0.1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Проверить интернет:</a:t>
            </a:r>
          </a:p>
          <a:p>
            <a:pPr>
              <a:defRPr sz="3600"/>
            </a:pPr>
            <a:r>
              <a:rPr lang="en-US" b="1" dirty="0">
                <a:solidFill>
                  <a:srgbClr val="002060"/>
                </a:solidFill>
              </a:rPr>
              <a:t>ping 8.8.8.8</a:t>
            </a:r>
          </a:p>
          <a:p>
            <a:pPr>
              <a:defRPr sz="3600"/>
            </a:pPr>
            <a:endParaRPr lang="en-US" dirty="0"/>
          </a:p>
          <a:p>
            <a:pPr>
              <a:defRPr sz="3600"/>
            </a:pPr>
            <a:r>
              <a:rPr lang="ru-RU" dirty="0"/>
              <a:t>Проверить </a:t>
            </a:r>
            <a:r>
              <a:rPr lang="en-US" dirty="0"/>
              <a:t>DNS:</a:t>
            </a:r>
          </a:p>
          <a:p>
            <a:pPr>
              <a:defRPr sz="3600"/>
            </a:pPr>
            <a:r>
              <a:rPr lang="en-US" b="1" dirty="0">
                <a:solidFill>
                  <a:srgbClr val="002060"/>
                </a:solidFill>
              </a:rPr>
              <a:t>ping google.com</a:t>
            </a:r>
          </a:p>
        </p:txBody>
      </p:sp>
    </p:spTree>
    <p:extLst>
      <p:ext uri="{BB962C8B-B14F-4D97-AF65-F5344CB8AC3E}">
        <p14:creationId xmlns:p14="http://schemas.microsoft.com/office/powerpoint/2010/main" val="4432814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5FDDC-4947-0FBC-BCB9-7F44E7712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2D8D2B-5336-AD33-D345-A821611BCBC7}"/>
              </a:ext>
            </a:extLst>
          </p:cNvPr>
          <p:cNvSpPr txBox="1"/>
          <p:nvPr/>
        </p:nvSpPr>
        <p:spPr>
          <a:xfrm>
            <a:off x="457200" y="324465"/>
            <a:ext cx="10972800" cy="580201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en-US" dirty="0"/>
              <a:t>nano /</a:t>
            </a:r>
            <a:r>
              <a:rPr lang="en-US" dirty="0" err="1"/>
              <a:t>etc</a:t>
            </a:r>
            <a:r>
              <a:rPr lang="en-US" dirty="0"/>
              <a:t>/network/interfaces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2EE2D49-9A45-4EE3-ABC3-9112B58B7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186" y="324465"/>
            <a:ext cx="11172614" cy="6076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05517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неудачных служб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524865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indent="354013">
              <a:defRPr sz="3600"/>
            </a:pPr>
            <a:r>
              <a:rPr dirty="0" err="1"/>
              <a:t>Задача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: </a:t>
            </a:r>
            <a:r>
              <a:rPr dirty="0" err="1"/>
              <a:t>понять</a:t>
            </a:r>
            <a:r>
              <a:rPr dirty="0"/>
              <a:t>,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в </a:t>
            </a:r>
            <a:r>
              <a:rPr dirty="0" err="1"/>
              <a:t>состоянии</a:t>
            </a:r>
            <a:r>
              <a:rPr dirty="0"/>
              <a:t> </a:t>
            </a:r>
            <a:r>
              <a:rPr b="1" dirty="0">
                <a:solidFill>
                  <a:srgbClr val="002060"/>
                </a:solidFill>
              </a:rPr>
              <a:t>failed</a:t>
            </a:r>
            <a:r>
              <a:rPr lang="en-US" b="1" dirty="0">
                <a:solidFill>
                  <a:srgbClr val="002060"/>
                </a:solidFill>
              </a:rPr>
              <a:t>.</a:t>
            </a:r>
            <a:endParaRPr b="1" dirty="0">
              <a:solidFill>
                <a:srgbClr val="002060"/>
              </a:solidFill>
            </a:endParaRPr>
          </a:p>
          <a:p>
            <a:pPr indent="354013">
              <a:defRPr sz="3600"/>
            </a:pPr>
            <a:r>
              <a:rPr dirty="0" err="1"/>
              <a:t>Команда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systemctl</a:t>
            </a:r>
            <a:r>
              <a:rPr b="1" dirty="0">
                <a:solidFill>
                  <a:srgbClr val="002060"/>
                </a:solidFill>
              </a:rPr>
              <a:t> --failed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systemctl</a:t>
            </a:r>
            <a:r>
              <a:rPr b="1" dirty="0">
                <a:solidFill>
                  <a:srgbClr val="002060"/>
                </a:solidFill>
              </a:rPr>
              <a:t> --failed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: 0 loaded units listed</a:t>
            </a:r>
          </a:p>
          <a:p>
            <a:pPr indent="354013">
              <a:defRPr sz="3600"/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: </a:t>
            </a:r>
            <a:r>
              <a:rPr dirty="0" err="1"/>
              <a:t>если</a:t>
            </a:r>
            <a:r>
              <a:rPr dirty="0"/>
              <a:t> failed-</a:t>
            </a: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, </a:t>
            </a:r>
            <a:r>
              <a:rPr dirty="0" err="1"/>
              <a:t>их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изучить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дальнейшей</a:t>
            </a:r>
            <a:r>
              <a:rPr dirty="0"/>
              <a:t> </a:t>
            </a:r>
            <a:r>
              <a:rPr dirty="0" err="1"/>
              <a:t>настройки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97EAC2A-18A4-98F4-3F2D-96F623515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086" y="4185458"/>
            <a:ext cx="10587347" cy="2489661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F0BFB-BA5F-A353-96AB-E1520EA0C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4186B4-337B-4663-F43E-9B1257C09A87}"/>
              </a:ext>
            </a:extLst>
          </p:cNvPr>
          <p:cNvSpPr txBox="1"/>
          <p:nvPr/>
        </p:nvSpPr>
        <p:spPr>
          <a:xfrm>
            <a:off x="3541831" y="182880"/>
            <a:ext cx="507786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Проверка</a:t>
            </a:r>
            <a:r>
              <a:rPr lang="ru-RU" dirty="0"/>
              <a:t> открытых портов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0FAEAA-237E-9DD5-76A8-71293732B9C9}"/>
              </a:ext>
            </a:extLst>
          </p:cNvPr>
          <p:cNvSpPr txBox="1"/>
          <p:nvPr/>
        </p:nvSpPr>
        <p:spPr>
          <a:xfrm>
            <a:off x="457199" y="914400"/>
            <a:ext cx="11400503" cy="5619135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indent="354013">
              <a:defRPr sz="3600"/>
            </a:pPr>
            <a:r>
              <a:rPr lang="ru-RU" b="1" dirty="0" err="1">
                <a:solidFill>
                  <a:srgbClr val="002060"/>
                </a:solidFill>
              </a:rPr>
              <a:t>ss</a:t>
            </a:r>
            <a:r>
              <a:rPr lang="ru-RU" b="1" dirty="0">
                <a:solidFill>
                  <a:srgbClr val="002060"/>
                </a:solidFill>
              </a:rPr>
              <a:t> -</a:t>
            </a:r>
            <a:r>
              <a:rPr lang="ru-RU" b="1" dirty="0" err="1">
                <a:solidFill>
                  <a:srgbClr val="002060"/>
                </a:solidFill>
              </a:rPr>
              <a:t>tulpen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dirty="0"/>
              <a:t>— команда Linux для просмотра сетевых портов, которые слушают службы, и активных сетевых сокетов.</a:t>
            </a:r>
          </a:p>
          <a:p>
            <a:pPr indent="354013">
              <a:defRPr sz="3600"/>
            </a:pPr>
            <a:r>
              <a:rPr lang="ru-RU" dirty="0"/>
              <a:t>Команда показывает какие службы открыли сетевые порты на сервере: SSH, DNS, HTTP, DHCP, MySQL и т.д.</a:t>
            </a:r>
          </a:p>
          <a:p>
            <a:pPr indent="354013">
              <a:defRPr sz="3600"/>
            </a:pPr>
            <a:r>
              <a:rPr lang="ru-RU" dirty="0"/>
              <a:t>Расшифровка параметров</a:t>
            </a:r>
          </a:p>
          <a:p>
            <a:pPr indent="354013">
              <a:defRPr sz="3600"/>
            </a:pPr>
            <a:r>
              <a:rPr lang="ru-RU" dirty="0"/>
              <a:t>Параметр	Значение</a:t>
            </a:r>
          </a:p>
          <a:p>
            <a:pPr indent="354013">
              <a:defRPr sz="3600"/>
            </a:pPr>
            <a:r>
              <a:rPr lang="ru-RU" dirty="0"/>
              <a:t>-t	показать TCP-сокеты</a:t>
            </a:r>
          </a:p>
          <a:p>
            <a:pPr indent="354013">
              <a:defRPr sz="3600"/>
            </a:pPr>
            <a:r>
              <a:rPr lang="ru-RU" dirty="0"/>
              <a:t>-u	показать UDP-сокеты</a:t>
            </a:r>
          </a:p>
          <a:p>
            <a:pPr indent="354013">
              <a:defRPr sz="3600"/>
            </a:pPr>
            <a:r>
              <a:rPr lang="ru-RU" dirty="0"/>
              <a:t>-l	показать только </a:t>
            </a:r>
            <a:r>
              <a:rPr lang="ru-RU" dirty="0" err="1"/>
              <a:t>listening</a:t>
            </a:r>
            <a:r>
              <a:rPr lang="ru-RU" dirty="0"/>
              <a:t>-порты</a:t>
            </a:r>
          </a:p>
          <a:p>
            <a:pPr indent="354013">
              <a:defRPr sz="3600"/>
            </a:pPr>
            <a:r>
              <a:rPr lang="ru-RU" dirty="0"/>
              <a:t>-p	показать процесс, который использует порт</a:t>
            </a:r>
          </a:p>
          <a:p>
            <a:pPr indent="354013">
              <a:defRPr sz="3600"/>
            </a:pPr>
            <a:r>
              <a:rPr lang="ru-RU" dirty="0"/>
              <a:t>-e	расширенная информация</a:t>
            </a:r>
          </a:p>
          <a:p>
            <a:pPr indent="354013">
              <a:defRPr sz="3600"/>
            </a:pPr>
            <a:r>
              <a:rPr lang="ru-RU" dirty="0"/>
              <a:t>-n	не преобразовывать IP и порты в имена</a:t>
            </a:r>
          </a:p>
          <a:p>
            <a:pPr indent="354013">
              <a:defRPr sz="3600"/>
            </a:pPr>
            <a:endParaRPr lang="ru-RU" dirty="0"/>
          </a:p>
          <a:p>
            <a:pPr indent="354013">
              <a:defRPr sz="3600"/>
            </a:pPr>
            <a:r>
              <a:rPr lang="ru-RU" dirty="0"/>
              <a:t>LISTEN означает: служба запущена и ожидает входящие подключения.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6756809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CA70C-E22F-617E-A441-95E2BFE76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FA0AB4-0C90-5254-75FE-3A2165A582E7}"/>
              </a:ext>
            </a:extLst>
          </p:cNvPr>
          <p:cNvSpPr txBox="1"/>
          <p:nvPr/>
        </p:nvSpPr>
        <p:spPr>
          <a:xfrm>
            <a:off x="457200" y="914400"/>
            <a:ext cx="10972800" cy="520618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lang="ru-RU" dirty="0"/>
              <a:t>Пример: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34812E7-6398-0CB7-B4AB-EEC034EDA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62" y="2050639"/>
            <a:ext cx="11846468" cy="1415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00602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3D7C7-0008-FA55-ECCC-56820E642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F5DB61-636F-7ADC-43B8-A81B5C2B0BAA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неудачных служб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732AC65-580C-D341-0244-1F8BB9D3E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50542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39177-01BD-6104-F820-18A37A582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F453E3-9672-AD5A-8313-945C95717834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4641B65-2D5D-77DC-8698-20E2DCBC1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82627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предупреждений текущей загрузки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Задача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: </a:t>
            </a:r>
            <a:r>
              <a:rPr dirty="0" err="1"/>
              <a:t>найти</a:t>
            </a:r>
            <a:r>
              <a:rPr dirty="0"/>
              <a:t> </a:t>
            </a:r>
            <a:r>
              <a:rPr dirty="0" err="1"/>
              <a:t>важные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старта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Команда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journalctl</a:t>
            </a:r>
            <a:r>
              <a:rPr b="1" dirty="0">
                <a:solidFill>
                  <a:srgbClr val="002060"/>
                </a:solidFill>
              </a:rPr>
              <a:t> -p warning -b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journalctl</a:t>
            </a:r>
            <a:r>
              <a:rPr b="1" dirty="0">
                <a:solidFill>
                  <a:srgbClr val="002060"/>
                </a:solidFill>
              </a:rPr>
              <a:t> -p warning -b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: </a:t>
            </a:r>
            <a:r>
              <a:rPr dirty="0" err="1"/>
              <a:t>строки</a:t>
            </a:r>
            <a:r>
              <a:rPr dirty="0"/>
              <a:t> warning/err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пустой</a:t>
            </a:r>
            <a:r>
              <a:rPr dirty="0"/>
              <a:t> </a:t>
            </a:r>
            <a:r>
              <a:rPr dirty="0" err="1"/>
              <a:t>вывод</a:t>
            </a:r>
            <a:r>
              <a:rPr lang="en-US" dirty="0"/>
              <a:t>.</a:t>
            </a:r>
            <a:endParaRPr dirty="0"/>
          </a:p>
          <a:p>
            <a:pPr indent="354013">
              <a:defRPr sz="3600"/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: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каждое</a:t>
            </a:r>
            <a:r>
              <a:rPr dirty="0"/>
              <a:t> </a:t>
            </a:r>
            <a:r>
              <a:rPr dirty="0" err="1"/>
              <a:t>предупреждение</a:t>
            </a:r>
            <a:r>
              <a:rPr dirty="0"/>
              <a:t> </a:t>
            </a:r>
            <a:r>
              <a:rPr dirty="0" err="1"/>
              <a:t>критично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уметь</a:t>
            </a:r>
            <a:r>
              <a:rPr dirty="0"/>
              <a:t> </a:t>
            </a:r>
            <a:r>
              <a:rPr dirty="0" err="1"/>
              <a:t>объяснить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E89D2-5B2D-1C33-E710-5F08CA23E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FF6C0B-3943-4FEA-4150-0B285348023B}"/>
              </a:ext>
            </a:extLst>
          </p:cNvPr>
          <p:cNvSpPr txBox="1"/>
          <p:nvPr/>
        </p:nvSpPr>
        <p:spPr>
          <a:xfrm>
            <a:off x="457200" y="280219"/>
            <a:ext cx="10972800" cy="5846261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defRPr sz="3600"/>
            </a:pPr>
            <a:r>
              <a:rPr lang="ru-RU" dirty="0"/>
              <a:t>Разбор команды:</a:t>
            </a:r>
          </a:p>
          <a:p>
            <a:pPr>
              <a:defRPr sz="3600"/>
            </a:pPr>
            <a:r>
              <a:rPr lang="ru-RU" b="1" dirty="0" err="1">
                <a:solidFill>
                  <a:srgbClr val="002060"/>
                </a:solidFill>
              </a:rPr>
              <a:t>journalctl</a:t>
            </a:r>
            <a:r>
              <a:rPr lang="ru-RU" dirty="0"/>
              <a:t> - Просмотр системного журнала </a:t>
            </a:r>
            <a:r>
              <a:rPr lang="ru-RU" dirty="0" err="1"/>
              <a:t>systemd</a:t>
            </a:r>
            <a:r>
              <a:rPr lang="ru-RU" dirty="0"/>
              <a:t>.</a:t>
            </a:r>
          </a:p>
          <a:p>
            <a:pPr>
              <a:defRPr sz="3600"/>
            </a:pPr>
            <a:r>
              <a:rPr lang="ru-RU" b="1" dirty="0">
                <a:solidFill>
                  <a:srgbClr val="002060"/>
                </a:solidFill>
              </a:rPr>
              <a:t>-p </a:t>
            </a:r>
            <a:r>
              <a:rPr lang="ru-RU" b="1" dirty="0" err="1">
                <a:solidFill>
                  <a:srgbClr val="002060"/>
                </a:solidFill>
              </a:rPr>
              <a:t>warning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dirty="0"/>
              <a:t>- Показать сообщения с уровнем </a:t>
            </a:r>
            <a:r>
              <a:rPr lang="ru-RU" dirty="0" err="1"/>
              <a:t>warning</a:t>
            </a:r>
            <a:r>
              <a:rPr lang="ru-RU" dirty="0"/>
              <a:t> и выше. То есть будут показаны: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warning</a:t>
            </a:r>
            <a:endParaRPr lang="ru-RU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err</a:t>
            </a:r>
            <a:endParaRPr lang="ru-RU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crit</a:t>
            </a:r>
            <a:endParaRPr lang="ru-RU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alert</a:t>
            </a:r>
            <a:endParaRPr lang="ru-RU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 err="1"/>
              <a:t>emerg</a:t>
            </a:r>
            <a:endParaRPr lang="ru-RU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>
                <a:solidFill>
                  <a:srgbClr val="002060"/>
                </a:solidFill>
              </a:rPr>
              <a:t>-b </a:t>
            </a:r>
            <a:r>
              <a:rPr lang="ru-RU" dirty="0"/>
              <a:t>- Показать сообщения только с текущей загрузки системы.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1878806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F6DFD-644F-6913-DDB6-032A44325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529B00-F516-0EA9-C96B-97999B4EC874}"/>
              </a:ext>
            </a:extLst>
          </p:cNvPr>
          <p:cNvSpPr txBox="1"/>
          <p:nvPr/>
        </p:nvSpPr>
        <p:spPr>
          <a:xfrm>
            <a:off x="457200" y="280219"/>
            <a:ext cx="10972800" cy="584626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dirty="0"/>
              <a:t>Команда помогает найти проблемы при старте Linux: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ошибки запуска служб;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проблемы с дисками;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проблемы с сетью;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ошибки драйверов;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предупреждения ядра;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проблемы с монтированием файловых систем;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ошибки авторизации;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сбои </a:t>
            </a:r>
            <a:r>
              <a:rPr lang="ru-RU" dirty="0" err="1"/>
              <a:t>systemd</a:t>
            </a:r>
            <a:r>
              <a:rPr lang="ru-RU" dirty="0"/>
              <a:t>-юнитов.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7058293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3800B-FBDF-5D39-6DC3-8349EE3B2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3390B38-FECB-1AFD-74CF-EFABB6F37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932" y="1637071"/>
            <a:ext cx="11415415" cy="2684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38817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Linux Server — </a:t>
            </a:r>
            <a:r>
              <a:rPr dirty="0" err="1"/>
              <a:t>платформа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стабильной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</a:t>
            </a:r>
            <a:r>
              <a:rPr dirty="0" err="1"/>
              <a:t>серверных</a:t>
            </a:r>
            <a:r>
              <a:rPr dirty="0"/>
              <a:t> </a:t>
            </a:r>
            <a:r>
              <a:rPr dirty="0" err="1"/>
              <a:t>служб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Дистрибутив</a:t>
            </a:r>
            <a:r>
              <a:rPr dirty="0"/>
              <a:t> </a:t>
            </a:r>
            <a:r>
              <a:rPr dirty="0" err="1"/>
              <a:t>определяет</a:t>
            </a:r>
            <a:r>
              <a:rPr dirty="0"/>
              <a:t> </a:t>
            </a:r>
            <a:r>
              <a:rPr dirty="0" err="1"/>
              <a:t>пакетную</a:t>
            </a:r>
            <a:r>
              <a:rPr dirty="0"/>
              <a:t> </a:t>
            </a:r>
            <a:r>
              <a:rPr dirty="0" err="1"/>
              <a:t>систему</a:t>
            </a:r>
            <a:r>
              <a:rPr dirty="0"/>
              <a:t>, </a:t>
            </a:r>
            <a:r>
              <a:rPr dirty="0" err="1"/>
              <a:t>документацию</a:t>
            </a:r>
            <a:r>
              <a:rPr dirty="0"/>
              <a:t> и </a:t>
            </a:r>
            <a:r>
              <a:rPr dirty="0" err="1"/>
              <a:t>поддержку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настройкой</a:t>
            </a:r>
            <a:r>
              <a:rPr dirty="0"/>
              <a:t> </a:t>
            </a:r>
            <a:r>
              <a:rPr dirty="0" err="1"/>
              <a:t>ролей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вход</a:t>
            </a:r>
            <a:r>
              <a:rPr dirty="0"/>
              <a:t>, ОС, </a:t>
            </a:r>
            <a:r>
              <a:rPr dirty="0" err="1"/>
              <a:t>имя</a:t>
            </a:r>
            <a:r>
              <a:rPr dirty="0"/>
              <a:t>, </a:t>
            </a:r>
            <a:r>
              <a:rPr dirty="0" err="1"/>
              <a:t>время</a:t>
            </a:r>
            <a:r>
              <a:rPr dirty="0"/>
              <a:t>, </a:t>
            </a:r>
            <a:r>
              <a:rPr dirty="0" err="1"/>
              <a:t>ресурсы</a:t>
            </a:r>
            <a:r>
              <a:rPr dirty="0"/>
              <a:t> и </a:t>
            </a:r>
            <a:r>
              <a:rPr dirty="0" err="1"/>
              <a:t>сеть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первичной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имеют</a:t>
            </a:r>
            <a:r>
              <a:rPr dirty="0"/>
              <a:t> </a:t>
            </a:r>
            <a:r>
              <a:rPr dirty="0" err="1"/>
              <a:t>смысл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вместе</a:t>
            </a:r>
            <a:r>
              <a:rPr dirty="0"/>
              <a:t> с </a:t>
            </a:r>
            <a:r>
              <a:rPr dirty="0" err="1"/>
              <a:t>интерпретацией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lang="en-US" dirty="0"/>
              <a:t>;</a:t>
            </a:r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Паспорт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</a:t>
            </a:r>
            <a:r>
              <a:rPr dirty="0" err="1"/>
              <a:t>фиксирует</a:t>
            </a:r>
            <a:r>
              <a:rPr dirty="0"/>
              <a:t> </a:t>
            </a:r>
            <a:r>
              <a:rPr dirty="0" err="1"/>
              <a:t>исходное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dirty="0"/>
              <a:t> </a:t>
            </a:r>
            <a:r>
              <a:rPr dirty="0" err="1"/>
              <a:t>учебной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рабочей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312013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3600"/>
            </a:pPr>
            <a:r>
              <a:rPr dirty="0"/>
              <a:t>1. </a:t>
            </a: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серверная</a:t>
            </a:r>
            <a:r>
              <a:rPr dirty="0"/>
              <a:t> ОС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настольной</a:t>
            </a:r>
            <a:r>
              <a:rPr dirty="0"/>
              <a:t> ОС?</a:t>
            </a:r>
          </a:p>
          <a:p>
            <a:pPr>
              <a:defRPr sz="3600"/>
            </a:pPr>
            <a:r>
              <a:rPr dirty="0"/>
              <a:t>2.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такое</a:t>
            </a:r>
            <a:r>
              <a:rPr dirty="0"/>
              <a:t> </a:t>
            </a:r>
            <a:r>
              <a:rPr dirty="0" err="1"/>
              <a:t>серверная</a:t>
            </a:r>
            <a:r>
              <a:rPr dirty="0"/>
              <a:t> </a:t>
            </a:r>
            <a:r>
              <a:rPr dirty="0" err="1"/>
              <a:t>служба</a:t>
            </a:r>
            <a:r>
              <a:rPr dirty="0"/>
              <a:t>?</a:t>
            </a:r>
          </a:p>
          <a:p>
            <a:pPr>
              <a:defRPr sz="3600"/>
            </a:pPr>
            <a:r>
              <a:rPr dirty="0"/>
              <a:t>3. </a:t>
            </a: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ядро</a:t>
            </a:r>
            <a:r>
              <a:rPr dirty="0"/>
              <a:t> Linux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дистрибутива</a:t>
            </a:r>
            <a:r>
              <a:rPr dirty="0"/>
              <a:t>?</a:t>
            </a:r>
          </a:p>
          <a:p>
            <a:pPr>
              <a:defRPr sz="3600"/>
            </a:pPr>
            <a:r>
              <a:rPr dirty="0"/>
              <a:t>4. </a:t>
            </a:r>
            <a:r>
              <a:rPr dirty="0" err="1"/>
              <a:t>Почему</a:t>
            </a:r>
            <a:r>
              <a:rPr dirty="0"/>
              <a:t> </a:t>
            </a:r>
            <a:r>
              <a:rPr dirty="0" err="1"/>
              <a:t>выбор</a:t>
            </a:r>
            <a:r>
              <a:rPr dirty="0"/>
              <a:t> </a:t>
            </a:r>
            <a:r>
              <a:rPr dirty="0" err="1"/>
              <a:t>дистрибутива</a:t>
            </a:r>
            <a:r>
              <a:rPr dirty="0"/>
              <a:t> </a:t>
            </a:r>
            <a:r>
              <a:rPr dirty="0" err="1"/>
              <a:t>важен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?</a:t>
            </a:r>
          </a:p>
          <a:p>
            <a:pPr>
              <a:defRPr sz="3600"/>
            </a:pPr>
            <a:r>
              <a:rPr dirty="0"/>
              <a:t>5. </a:t>
            </a:r>
            <a:r>
              <a:rPr dirty="0" err="1"/>
              <a:t>Почему</a:t>
            </a:r>
            <a:r>
              <a:rPr dirty="0"/>
              <a:t> </a:t>
            </a:r>
            <a:r>
              <a:rPr dirty="0" err="1"/>
              <a:t>серверы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администрируют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CLI?</a:t>
            </a:r>
          </a:p>
          <a:p>
            <a:pPr>
              <a:defRPr sz="3600"/>
            </a:pPr>
            <a:r>
              <a:rPr dirty="0"/>
              <a:t>6. </a:t>
            </a:r>
            <a:r>
              <a:rPr dirty="0" err="1"/>
              <a:t>Зачем</a:t>
            </a:r>
            <a:r>
              <a:rPr dirty="0"/>
              <a:t> </a:t>
            </a:r>
            <a:r>
              <a:rPr dirty="0" err="1"/>
              <a:t>проверять</a:t>
            </a:r>
            <a:r>
              <a:rPr dirty="0"/>
              <a:t> hostname и </a:t>
            </a:r>
            <a:r>
              <a:rPr dirty="0" err="1"/>
              <a:t>время</a:t>
            </a:r>
            <a:r>
              <a:rPr dirty="0"/>
              <a:t> </a:t>
            </a:r>
            <a:r>
              <a:rPr dirty="0" err="1"/>
              <a:t>сразу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установки</a:t>
            </a:r>
            <a:r>
              <a:rPr dirty="0"/>
              <a:t>?</a:t>
            </a:r>
          </a:p>
          <a:p>
            <a:pPr>
              <a:defRPr sz="3600"/>
            </a:pPr>
            <a:r>
              <a:rPr dirty="0"/>
              <a:t>7. </a:t>
            </a: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ресурсы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установкой</a:t>
            </a:r>
            <a:r>
              <a:rPr dirty="0"/>
              <a:t> </a:t>
            </a:r>
            <a:r>
              <a:rPr dirty="0" err="1"/>
              <a:t>служб</a:t>
            </a:r>
            <a:r>
              <a:rPr dirty="0"/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2934</Words>
  <Application>Microsoft Office PowerPoint</Application>
  <PresentationFormat>Широкоэкранный</PresentationFormat>
  <Paragraphs>444</Paragraphs>
  <Slides>77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77</vt:i4>
      </vt:variant>
    </vt:vector>
  </HeadingPairs>
  <TitlesOfParts>
    <vt:vector size="80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6</cp:revision>
  <dcterms:created xsi:type="dcterms:W3CDTF">2013-01-27T09:14:16Z</dcterms:created>
  <dcterms:modified xsi:type="dcterms:W3CDTF">2026-07-02T10:05:57Z</dcterms:modified>
  <cp:category/>
</cp:coreProperties>
</file>