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1" r:id="rId5"/>
    <p:sldId id="272" r:id="rId6"/>
    <p:sldId id="259" r:id="rId7"/>
    <p:sldId id="260" r:id="rId8"/>
    <p:sldId id="273" r:id="rId9"/>
    <p:sldId id="261" r:id="rId10"/>
    <p:sldId id="262" r:id="rId11"/>
    <p:sldId id="274" r:id="rId12"/>
    <p:sldId id="263" r:id="rId13"/>
    <p:sldId id="264" r:id="rId14"/>
    <p:sldId id="282" r:id="rId15"/>
    <p:sldId id="275" r:id="rId16"/>
    <p:sldId id="265" r:id="rId17"/>
    <p:sldId id="276" r:id="rId18"/>
    <p:sldId id="277" r:id="rId19"/>
    <p:sldId id="267" r:id="rId20"/>
    <p:sldId id="268" r:id="rId21"/>
    <p:sldId id="278" r:id="rId22"/>
    <p:sldId id="269" r:id="rId23"/>
    <p:sldId id="279" r:id="rId24"/>
    <p:sldId id="270" r:id="rId25"/>
    <p:sldId id="271" r:id="rId26"/>
    <p:sldId id="28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31112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4. DHCP-</a:t>
            </a:r>
            <a:r>
              <a:rPr dirty="0" err="1"/>
              <a:t>сервер</a:t>
            </a:r>
            <a:r>
              <a:rPr dirty="0"/>
              <a:t>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60438"/>
            <a:ext cx="10972800" cy="97929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sz="3200" b="1" dirty="0">
                <a:solidFill>
                  <a:srgbClr val="143764"/>
                </a:solidFill>
              </a:rPr>
              <a:t>РО 1.4. </a:t>
            </a:r>
            <a:r>
              <a:rPr sz="3200" b="1" dirty="0" err="1">
                <a:solidFill>
                  <a:srgbClr val="143764"/>
                </a:solidFill>
              </a:rPr>
              <a:t>Основные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сервисы</a:t>
            </a:r>
            <a:r>
              <a:rPr sz="3200" b="1" dirty="0">
                <a:solidFill>
                  <a:srgbClr val="143764"/>
                </a:solidFill>
              </a:rPr>
              <a:t> Linux </a:t>
            </a:r>
            <a:r>
              <a:rPr sz="3200" b="1" dirty="0" err="1">
                <a:solidFill>
                  <a:srgbClr val="143764"/>
                </a:solidFill>
              </a:rPr>
              <a:t>для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предприятия</a:t>
            </a:r>
            <a:r>
              <a:rPr sz="3200" b="1" dirty="0">
                <a:solidFill>
                  <a:srgbClr val="143764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 и учебный сценарий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Цель</a:t>
            </a:r>
            <a:r>
              <a:rPr dirty="0"/>
              <a:t>: </a:t>
            </a:r>
            <a:r>
              <a:rPr dirty="0" err="1"/>
              <a:t>Освоить</a:t>
            </a:r>
            <a:r>
              <a:rPr dirty="0"/>
              <a:t> </a:t>
            </a:r>
            <a:r>
              <a:rPr dirty="0" err="1"/>
              <a:t>логику</a:t>
            </a:r>
            <a:r>
              <a:rPr dirty="0"/>
              <a:t> </a:t>
            </a:r>
            <a:r>
              <a:rPr dirty="0" err="1"/>
              <a:t>пулов</a:t>
            </a:r>
            <a:r>
              <a:rPr dirty="0"/>
              <a:t> (pools), </a:t>
            </a:r>
            <a:r>
              <a:rPr dirty="0" err="1"/>
              <a:t>аренды</a:t>
            </a:r>
            <a:r>
              <a:rPr dirty="0"/>
              <a:t> (leases), </a:t>
            </a:r>
            <a:r>
              <a:rPr dirty="0" err="1"/>
              <a:t>опций</a:t>
            </a:r>
            <a:r>
              <a:rPr dirty="0"/>
              <a:t> (options) и </a:t>
            </a:r>
            <a:r>
              <a:rPr dirty="0" err="1"/>
              <a:t>резервирования</a:t>
            </a:r>
            <a:r>
              <a:rPr dirty="0"/>
              <a:t> (reservations)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Инструмент</a:t>
            </a:r>
            <a:r>
              <a:rPr dirty="0"/>
              <a:t>: </a:t>
            </a:r>
            <a:r>
              <a:rPr dirty="0" err="1"/>
              <a:t>Развертывание</a:t>
            </a:r>
            <a:r>
              <a:rPr dirty="0"/>
              <a:t> и </a:t>
            </a:r>
            <a:r>
              <a:rPr dirty="0" err="1"/>
              <a:t>конфигурирование</a:t>
            </a:r>
            <a:r>
              <a:rPr dirty="0"/>
              <a:t> ISC DHCP Server в </a:t>
            </a:r>
            <a:r>
              <a:rPr dirty="0" err="1"/>
              <a:t>среде</a:t>
            </a:r>
            <a:r>
              <a:rPr dirty="0"/>
              <a:t> Debian/Ubuntu Linux.</a:t>
            </a:r>
          </a:p>
          <a:p>
            <a:pPr indent="354013">
              <a:defRPr sz="3600"/>
            </a:pPr>
            <a:r>
              <a:rPr dirty="0" err="1"/>
              <a:t>Сценарий</a:t>
            </a:r>
            <a:r>
              <a:rPr dirty="0"/>
              <a:t>: </a:t>
            </a:r>
            <a:r>
              <a:rPr dirty="0" err="1"/>
              <a:t>Изучаем</a:t>
            </a:r>
            <a:r>
              <a:rPr dirty="0"/>
              <a:t> </a:t>
            </a:r>
            <a:r>
              <a:rPr dirty="0" err="1"/>
              <a:t>теорию</a:t>
            </a:r>
            <a:r>
              <a:rPr dirty="0"/>
              <a:t> </a:t>
            </a:r>
            <a:r>
              <a:rPr dirty="0" err="1"/>
              <a:t>адресации</a:t>
            </a:r>
            <a:r>
              <a:rPr dirty="0"/>
              <a:t> ➔ </a:t>
            </a:r>
            <a:r>
              <a:rPr dirty="0" err="1"/>
              <a:t>пишем</a:t>
            </a:r>
            <a:r>
              <a:rPr dirty="0"/>
              <a:t> </a:t>
            </a:r>
            <a:r>
              <a:rPr dirty="0" err="1"/>
              <a:t>конфигурационный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➔ </a:t>
            </a:r>
            <a:r>
              <a:rPr dirty="0" err="1"/>
              <a:t>запускаем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➔ </a:t>
            </a:r>
            <a:r>
              <a:rPr dirty="0" err="1"/>
              <a:t>пошагово</a:t>
            </a:r>
            <a:r>
              <a:rPr dirty="0"/>
              <a:t> </a:t>
            </a:r>
            <a:r>
              <a:rPr dirty="0" err="1"/>
              <a:t>диагностируем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выдачи</a:t>
            </a:r>
            <a:r>
              <a:rPr dirty="0"/>
              <a:t> IP-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клиенте</a:t>
            </a:r>
            <a:r>
              <a:rPr dirty="0"/>
              <a:t> и </a:t>
            </a:r>
            <a:r>
              <a:rPr dirty="0" err="1"/>
              <a:t>сервере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Назначение DHCP и принцип работы (Протокол DORA)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DHCP (Dynamic Host Configuration Protocol) — </a:t>
            </a:r>
            <a:r>
              <a:rPr dirty="0" err="1"/>
              <a:t>прикладной</a:t>
            </a:r>
            <a:r>
              <a:rPr dirty="0"/>
              <a:t>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автоматического</a:t>
            </a:r>
            <a:r>
              <a:rPr dirty="0"/>
              <a:t> </a:t>
            </a:r>
            <a:r>
              <a:rPr dirty="0" err="1"/>
              <a:t>назначения</a:t>
            </a:r>
            <a:r>
              <a:rPr dirty="0"/>
              <a:t>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настроек</a:t>
            </a:r>
            <a:r>
              <a:rPr dirty="0"/>
              <a:t> </a:t>
            </a:r>
            <a:r>
              <a:rPr dirty="0" err="1"/>
              <a:t>хостам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Альтернатива</a:t>
            </a:r>
            <a:r>
              <a:rPr dirty="0"/>
              <a:t>: </a:t>
            </a:r>
            <a:r>
              <a:rPr dirty="0" err="1"/>
              <a:t>Ручная</a:t>
            </a:r>
            <a:r>
              <a:rPr dirty="0"/>
              <a:t> </a:t>
            </a:r>
            <a:r>
              <a:rPr dirty="0" err="1"/>
              <a:t>статическая</a:t>
            </a:r>
            <a:r>
              <a:rPr dirty="0"/>
              <a:t> </a:t>
            </a:r>
            <a:r>
              <a:rPr dirty="0" err="1"/>
              <a:t>настройка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узла</a:t>
            </a:r>
            <a:r>
              <a:rPr dirty="0"/>
              <a:t>. </a:t>
            </a:r>
            <a:r>
              <a:rPr dirty="0" err="1"/>
              <a:t>Минусы</a:t>
            </a:r>
            <a:r>
              <a:rPr dirty="0"/>
              <a:t>: </a:t>
            </a:r>
            <a:r>
              <a:rPr dirty="0" err="1"/>
              <a:t>высокий</a:t>
            </a:r>
            <a:r>
              <a:rPr dirty="0"/>
              <a:t>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дублирования</a:t>
            </a:r>
            <a:r>
              <a:rPr dirty="0"/>
              <a:t> IP, </a:t>
            </a:r>
            <a:r>
              <a:rPr dirty="0" err="1"/>
              <a:t>огромные</a:t>
            </a:r>
            <a:r>
              <a:rPr dirty="0"/>
              <a:t> </a:t>
            </a:r>
            <a:r>
              <a:rPr dirty="0" err="1"/>
              <a:t>трудозатраты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масштабировании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1DBCD-4F6B-F344-C30A-1F3A4266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3204666-78B6-F0DF-4E94-2EDC9B908A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218"/>
          <a:stretch>
            <a:fillRect/>
          </a:stretch>
        </p:blipFill>
        <p:spPr>
          <a:xfrm>
            <a:off x="619432" y="698548"/>
            <a:ext cx="11312013" cy="546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48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F18BC-2D33-4D17-BBB4-38E254DBC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AE7C1-F095-A16C-B054-BE8877211050}"/>
              </a:ext>
            </a:extLst>
          </p:cNvPr>
          <p:cNvSpPr txBox="1"/>
          <p:nvPr/>
        </p:nvSpPr>
        <p:spPr>
          <a:xfrm>
            <a:off x="457200" y="442452"/>
            <a:ext cx="10972800" cy="56840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выдачи</a:t>
            </a:r>
            <a:r>
              <a:rPr dirty="0"/>
              <a:t> IP-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4 </a:t>
            </a:r>
            <a:r>
              <a:rPr dirty="0" err="1"/>
              <a:t>шагов</a:t>
            </a:r>
            <a:r>
              <a:rPr dirty="0"/>
              <a:t> (DORA):</a:t>
            </a:r>
          </a:p>
          <a:p>
            <a:pPr>
              <a:defRPr sz="3600"/>
            </a:pPr>
            <a:r>
              <a:rPr dirty="0"/>
              <a:t>  1. Discover (</a:t>
            </a:r>
            <a:r>
              <a:rPr dirty="0" err="1"/>
              <a:t>Клиент</a:t>
            </a:r>
            <a:r>
              <a:rPr dirty="0"/>
              <a:t> ➔ Broadcast): «</a:t>
            </a:r>
            <a:r>
              <a:rPr dirty="0" err="1"/>
              <a:t>Кто</a:t>
            </a:r>
            <a:r>
              <a:rPr dirty="0"/>
              <a:t> в </a:t>
            </a:r>
            <a:r>
              <a:rPr dirty="0" err="1"/>
              <a:t>сети</a:t>
            </a:r>
            <a:r>
              <a:rPr dirty="0"/>
              <a:t> DHCP-</a:t>
            </a:r>
            <a:r>
              <a:rPr dirty="0" err="1"/>
              <a:t>сервер</a:t>
            </a:r>
            <a:r>
              <a:rPr dirty="0"/>
              <a:t>? </a:t>
            </a:r>
            <a:r>
              <a:rPr dirty="0" err="1"/>
              <a:t>Нам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!»</a:t>
            </a:r>
          </a:p>
          <a:p>
            <a:pPr>
              <a:defRPr sz="3600"/>
            </a:pPr>
            <a:r>
              <a:rPr dirty="0"/>
              <a:t>  2. Offer (</a:t>
            </a:r>
            <a:r>
              <a:rPr dirty="0" err="1"/>
              <a:t>Сервер</a:t>
            </a:r>
            <a:r>
              <a:rPr dirty="0"/>
              <a:t> ➔ Broadcast/Unicast): «Я </a:t>
            </a:r>
            <a:r>
              <a:rPr dirty="0" err="1"/>
              <a:t>сервер</a:t>
            </a:r>
            <a:r>
              <a:rPr dirty="0"/>
              <a:t>. </a:t>
            </a:r>
            <a:r>
              <a:rPr dirty="0" err="1"/>
              <a:t>Могу</a:t>
            </a:r>
            <a:r>
              <a:rPr dirty="0"/>
              <a:t> </a:t>
            </a:r>
            <a:r>
              <a:rPr dirty="0" err="1"/>
              <a:t>предложить</a:t>
            </a:r>
            <a:r>
              <a:rPr dirty="0"/>
              <a:t> IP-</a:t>
            </a:r>
            <a:r>
              <a:rPr dirty="0" err="1"/>
              <a:t>адрес</a:t>
            </a:r>
            <a:r>
              <a:rPr dirty="0"/>
              <a:t> 192.168.10.101».</a:t>
            </a:r>
          </a:p>
          <a:p>
            <a:pPr>
              <a:defRPr sz="3600"/>
            </a:pPr>
            <a:r>
              <a:rPr dirty="0"/>
              <a:t>  3. Request (</a:t>
            </a:r>
            <a:r>
              <a:rPr dirty="0" err="1"/>
              <a:t>Клиент</a:t>
            </a:r>
            <a:r>
              <a:rPr dirty="0"/>
              <a:t> ➔ Broadcast): «</a:t>
            </a:r>
            <a:r>
              <a:rPr dirty="0" err="1"/>
              <a:t>Отлично</a:t>
            </a:r>
            <a:r>
              <a:rPr dirty="0"/>
              <a:t>, я </a:t>
            </a:r>
            <a:r>
              <a:rPr dirty="0" err="1"/>
              <a:t>выбираю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предложение</a:t>
            </a:r>
            <a:r>
              <a:rPr dirty="0"/>
              <a:t> и </a:t>
            </a:r>
            <a:r>
              <a:rPr dirty="0" err="1"/>
              <a:t>прошу</a:t>
            </a:r>
            <a:r>
              <a:rPr dirty="0"/>
              <a:t> </a:t>
            </a:r>
            <a:r>
              <a:rPr dirty="0" err="1"/>
              <a:t>закрепить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мной</a:t>
            </a:r>
            <a:r>
              <a:rPr dirty="0"/>
              <a:t> </a:t>
            </a:r>
            <a:r>
              <a:rPr dirty="0" err="1"/>
              <a:t>этот</a:t>
            </a:r>
            <a:r>
              <a:rPr dirty="0"/>
              <a:t> IP».</a:t>
            </a:r>
          </a:p>
          <a:p>
            <a:pPr>
              <a:defRPr sz="3600"/>
            </a:pPr>
            <a:r>
              <a:rPr dirty="0"/>
              <a:t>  4. Ack (</a:t>
            </a:r>
            <a:r>
              <a:rPr dirty="0" err="1"/>
              <a:t>Сервер</a:t>
            </a:r>
            <a:r>
              <a:rPr dirty="0"/>
              <a:t> ➔ Broadcast/Unicast): «</a:t>
            </a:r>
            <a:r>
              <a:rPr dirty="0" err="1"/>
              <a:t>Принято</a:t>
            </a:r>
            <a:r>
              <a:rPr dirty="0"/>
              <a:t>. </a:t>
            </a:r>
            <a:r>
              <a:rPr dirty="0" err="1"/>
              <a:t>Вот</a:t>
            </a:r>
            <a:r>
              <a:rPr dirty="0"/>
              <a:t> </a:t>
            </a:r>
            <a:r>
              <a:rPr dirty="0" err="1"/>
              <a:t>твои</a:t>
            </a:r>
            <a:r>
              <a:rPr dirty="0"/>
              <a:t>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.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об</a:t>
            </a:r>
            <a:r>
              <a:rPr dirty="0"/>
              <a:t> </a:t>
            </a:r>
            <a:r>
              <a:rPr dirty="0" err="1"/>
              <a:t>аренде</a:t>
            </a:r>
            <a:r>
              <a:rPr dirty="0"/>
              <a:t> </a:t>
            </a:r>
            <a:r>
              <a:rPr dirty="0" err="1"/>
              <a:t>создана</a:t>
            </a:r>
            <a:r>
              <a:rPr dirty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4267072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обмен DHCP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9CE8DC-7FAC-2D48-94C2-1FDF0E5B1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Анатомия адресного плана: Pool, Lease и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проектировании</a:t>
            </a:r>
            <a:r>
              <a:rPr dirty="0"/>
              <a:t> DHCP-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подсеть</a:t>
            </a:r>
            <a:r>
              <a:rPr dirty="0"/>
              <a:t> </a:t>
            </a:r>
            <a:r>
              <a:rPr dirty="0" err="1"/>
              <a:t>логически</a:t>
            </a:r>
            <a:r>
              <a:rPr dirty="0"/>
              <a:t> </a:t>
            </a:r>
            <a:r>
              <a:rPr dirty="0" err="1"/>
              <a:t>делится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динамическую</a:t>
            </a:r>
            <a:r>
              <a:rPr dirty="0"/>
              <a:t> и </a:t>
            </a:r>
            <a:r>
              <a:rPr dirty="0" err="1"/>
              <a:t>статическую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:</a:t>
            </a:r>
          </a:p>
          <a:p>
            <a:pPr indent="354013">
              <a:defRPr sz="3600"/>
            </a:pPr>
            <a:r>
              <a:rPr dirty="0"/>
              <a:t>DHCP Pool (Range) — </a:t>
            </a:r>
            <a:r>
              <a:rPr dirty="0" err="1"/>
              <a:t>диапазон</a:t>
            </a:r>
            <a:r>
              <a:rPr dirty="0"/>
              <a:t> IP-</a:t>
            </a:r>
            <a:r>
              <a:rPr dirty="0" err="1"/>
              <a:t>адресов</a:t>
            </a:r>
            <a:r>
              <a:rPr dirty="0"/>
              <a:t>, </a:t>
            </a:r>
            <a:r>
              <a:rPr dirty="0" err="1"/>
              <a:t>динамически</a:t>
            </a:r>
            <a:r>
              <a:rPr dirty="0"/>
              <a:t> </a:t>
            </a:r>
            <a:r>
              <a:rPr dirty="0" err="1"/>
              <a:t>распределяемый</a:t>
            </a:r>
            <a:r>
              <a:rPr dirty="0"/>
              <a:t> </a:t>
            </a:r>
            <a:r>
              <a:rPr dirty="0" err="1"/>
              <a:t>сервером</a:t>
            </a:r>
            <a:r>
              <a:rPr dirty="0"/>
              <a:t> (</a:t>
            </a:r>
            <a:r>
              <a:rPr dirty="0" err="1"/>
              <a:t>например</a:t>
            </a:r>
            <a:r>
              <a:rPr dirty="0"/>
              <a:t>, .100 – .200). </a:t>
            </a:r>
            <a:endParaRPr lang="en-US" dirty="0"/>
          </a:p>
          <a:p>
            <a:pPr indent="354013">
              <a:defRPr sz="3600"/>
            </a:pPr>
            <a:r>
              <a:rPr dirty="0" err="1"/>
              <a:t>Вне</a:t>
            </a:r>
            <a:r>
              <a:rPr dirty="0"/>
              <a:t> </a:t>
            </a:r>
            <a:r>
              <a:rPr dirty="0" err="1"/>
              <a:t>пула</a:t>
            </a:r>
            <a:r>
              <a:rPr dirty="0"/>
              <a:t> </a:t>
            </a:r>
            <a:r>
              <a:rPr dirty="0" err="1"/>
              <a:t>оставляют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шлюзов</a:t>
            </a:r>
            <a:r>
              <a:rPr dirty="0"/>
              <a:t>, </a:t>
            </a:r>
            <a:r>
              <a:rPr dirty="0" err="1"/>
              <a:t>принтеров</a:t>
            </a:r>
            <a:r>
              <a:rPr dirty="0"/>
              <a:t> и </a:t>
            </a:r>
            <a:r>
              <a:rPr dirty="0" err="1"/>
              <a:t>серверов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0642B-7460-9F1F-87A7-407DBA43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B3CFC8-6609-1540-F4D4-4015A2D4456E}"/>
              </a:ext>
            </a:extLst>
          </p:cNvPr>
          <p:cNvSpPr txBox="1"/>
          <p:nvPr/>
        </p:nvSpPr>
        <p:spPr>
          <a:xfrm>
            <a:off x="457200" y="914400"/>
            <a:ext cx="11356258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DHCP Options —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, </a:t>
            </a:r>
            <a:r>
              <a:rPr dirty="0" err="1"/>
              <a:t>передаваемые</a:t>
            </a:r>
            <a:r>
              <a:rPr dirty="0"/>
              <a:t> </a:t>
            </a:r>
            <a:r>
              <a:rPr dirty="0" err="1"/>
              <a:t>клиенту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полноценной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в </a:t>
            </a:r>
            <a:r>
              <a:rPr dirty="0" err="1"/>
              <a:t>сети</a:t>
            </a:r>
            <a:r>
              <a:rPr dirty="0"/>
              <a:t> (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шлюз</a:t>
            </a:r>
            <a:r>
              <a:rPr dirty="0"/>
              <a:t>, DNS-</a:t>
            </a:r>
            <a:r>
              <a:rPr dirty="0" err="1"/>
              <a:t>серверы</a:t>
            </a:r>
            <a:r>
              <a:rPr dirty="0"/>
              <a:t>, </a:t>
            </a: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домен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).</a:t>
            </a:r>
          </a:p>
          <a:p>
            <a:pPr indent="354013">
              <a:defRPr sz="3600"/>
            </a:pPr>
            <a:r>
              <a:rPr dirty="0"/>
              <a:t>Lease Time — </a:t>
            </a:r>
            <a:r>
              <a:rPr dirty="0" err="1"/>
              <a:t>срок</a:t>
            </a:r>
            <a:r>
              <a:rPr dirty="0"/>
              <a:t> </a:t>
            </a:r>
            <a:r>
              <a:rPr dirty="0" err="1"/>
              <a:t>аренды</a:t>
            </a:r>
            <a:r>
              <a:rPr dirty="0"/>
              <a:t> IP-</a:t>
            </a:r>
            <a:r>
              <a:rPr dirty="0" err="1"/>
              <a:t>адреса</a:t>
            </a:r>
            <a:r>
              <a:rPr dirty="0"/>
              <a:t>.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истечении</a:t>
            </a:r>
            <a:r>
              <a:rPr dirty="0"/>
              <a:t> 50%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аренды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запрашивает</a:t>
            </a:r>
            <a:r>
              <a:rPr dirty="0"/>
              <a:t> </a:t>
            </a:r>
            <a:r>
              <a:rPr dirty="0" err="1"/>
              <a:t>продление</a:t>
            </a:r>
            <a:r>
              <a:rPr dirty="0"/>
              <a:t>. </a:t>
            </a:r>
            <a:r>
              <a:rPr dirty="0" err="1"/>
              <a:t>Короткая</a:t>
            </a:r>
            <a:r>
              <a:rPr dirty="0"/>
              <a:t> </a:t>
            </a:r>
            <a:r>
              <a:rPr dirty="0" err="1"/>
              <a:t>аренда</a:t>
            </a:r>
            <a:r>
              <a:rPr dirty="0"/>
              <a:t> (</a:t>
            </a:r>
            <a:r>
              <a:rPr dirty="0" err="1"/>
              <a:t>минуты</a:t>
            </a:r>
            <a:r>
              <a:rPr dirty="0"/>
              <a:t>/</a:t>
            </a:r>
            <a:r>
              <a:rPr dirty="0" err="1"/>
              <a:t>часы</a:t>
            </a:r>
            <a:r>
              <a:rPr dirty="0"/>
              <a:t>) </a:t>
            </a:r>
            <a:r>
              <a:rPr dirty="0" err="1"/>
              <a:t>нужна</a:t>
            </a:r>
            <a:r>
              <a:rPr dirty="0"/>
              <a:t> в Wi-Fi </a:t>
            </a:r>
            <a:r>
              <a:rPr dirty="0" err="1"/>
              <a:t>зонах</a:t>
            </a:r>
            <a:r>
              <a:rPr dirty="0"/>
              <a:t>, </a:t>
            </a:r>
            <a:r>
              <a:rPr dirty="0" err="1"/>
              <a:t>длинная</a:t>
            </a:r>
            <a:r>
              <a:rPr dirty="0"/>
              <a:t> (</a:t>
            </a:r>
            <a:r>
              <a:rPr dirty="0" err="1"/>
              <a:t>дни</a:t>
            </a:r>
            <a:r>
              <a:rPr dirty="0"/>
              <a:t>/</a:t>
            </a:r>
            <a:r>
              <a:rPr dirty="0" err="1"/>
              <a:t>недели</a:t>
            </a:r>
            <a:r>
              <a:rPr dirty="0"/>
              <a:t>) — в </a:t>
            </a:r>
            <a:r>
              <a:rPr dirty="0" err="1"/>
              <a:t>фиксированных</a:t>
            </a:r>
            <a:r>
              <a:rPr dirty="0"/>
              <a:t> </a:t>
            </a:r>
            <a:r>
              <a:rPr dirty="0" err="1"/>
              <a:t>офисных</a:t>
            </a:r>
            <a:r>
              <a:rPr dirty="0"/>
              <a:t> </a:t>
            </a:r>
            <a:r>
              <a:rPr dirty="0" err="1"/>
              <a:t>сетях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3238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DHCP pool и статические адреса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37F0B7-0FEB-EE14-4A6E-4DC4916B6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Reservation: резервирование адресов по MAC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Резервирование</a:t>
            </a:r>
            <a:r>
              <a:rPr dirty="0"/>
              <a:t> (Reservation) — </a:t>
            </a:r>
            <a:r>
              <a:rPr dirty="0" err="1"/>
              <a:t>явное</a:t>
            </a:r>
            <a:r>
              <a:rPr dirty="0"/>
              <a:t> </a:t>
            </a:r>
            <a:r>
              <a:rPr dirty="0" err="1"/>
              <a:t>сопоставление</a:t>
            </a:r>
            <a:r>
              <a:rPr dirty="0"/>
              <a:t> </a:t>
            </a:r>
            <a:r>
              <a:rPr dirty="0" err="1"/>
              <a:t>физического</a:t>
            </a:r>
            <a:r>
              <a:rPr dirty="0"/>
              <a:t> MAC-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адаптера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 с </a:t>
            </a:r>
            <a:r>
              <a:rPr dirty="0" err="1"/>
              <a:t>конкретным</a:t>
            </a:r>
            <a:r>
              <a:rPr dirty="0"/>
              <a:t> IP-</a:t>
            </a:r>
            <a:r>
              <a:rPr dirty="0" err="1"/>
              <a:t>адресом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Зачем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? </a:t>
            </a:r>
            <a:r>
              <a:rPr dirty="0" err="1"/>
              <a:t>Устройство</a:t>
            </a:r>
            <a:r>
              <a:rPr dirty="0"/>
              <a:t> (</a:t>
            </a:r>
            <a:r>
              <a:rPr dirty="0" err="1"/>
              <a:t>например</a:t>
            </a:r>
            <a:r>
              <a:rPr dirty="0"/>
              <a:t>,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принтер</a:t>
            </a:r>
            <a:r>
              <a:rPr dirty="0"/>
              <a:t>, </a:t>
            </a: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файловый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хост</a:t>
            </a:r>
            <a:r>
              <a:rPr dirty="0"/>
              <a:t> </a:t>
            </a:r>
            <a:r>
              <a:rPr dirty="0" err="1"/>
              <a:t>преподавателя</a:t>
            </a:r>
            <a:r>
              <a:rPr dirty="0"/>
              <a:t>) </a:t>
            </a:r>
            <a:r>
              <a:rPr dirty="0" err="1"/>
              <a:t>должно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строго</a:t>
            </a:r>
            <a:r>
              <a:rPr dirty="0"/>
              <a:t> </a:t>
            </a:r>
            <a:r>
              <a:rPr dirty="0" err="1"/>
              <a:t>постоянный</a:t>
            </a:r>
            <a:r>
              <a:rPr dirty="0"/>
              <a:t> IP-</a:t>
            </a:r>
            <a:r>
              <a:rPr dirty="0" err="1"/>
              <a:t>адрес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479AB-A5A6-35FE-5015-5701FB1A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9E2B74-9172-88E9-5097-3BA893794431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Преимущество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статикой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хосте</a:t>
            </a:r>
            <a:r>
              <a:rPr dirty="0"/>
              <a:t>:</a:t>
            </a:r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продолжает</a:t>
            </a:r>
            <a:r>
              <a:rPr dirty="0"/>
              <a:t> </a:t>
            </a:r>
            <a:r>
              <a:rPr dirty="0" err="1"/>
              <a:t>централизованно</a:t>
            </a:r>
            <a:r>
              <a:rPr dirty="0"/>
              <a:t> </a:t>
            </a:r>
            <a:r>
              <a:rPr dirty="0" err="1"/>
              <a:t>управлять</a:t>
            </a:r>
            <a:r>
              <a:rPr dirty="0"/>
              <a:t> </a:t>
            </a:r>
            <a:r>
              <a:rPr dirty="0" err="1"/>
              <a:t>всей</a:t>
            </a:r>
            <a:r>
              <a:rPr dirty="0"/>
              <a:t> </a:t>
            </a:r>
            <a:r>
              <a:rPr dirty="0" err="1"/>
              <a:t>сетью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места</a:t>
            </a:r>
            <a:r>
              <a:rPr dirty="0"/>
              <a:t>. </a:t>
            </a:r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поменяется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DNS,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придется</a:t>
            </a:r>
            <a:r>
              <a:rPr dirty="0"/>
              <a:t> </a:t>
            </a:r>
            <a:r>
              <a:rPr dirty="0" err="1"/>
              <a:t>перенастраивать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принтере</a:t>
            </a:r>
            <a:r>
              <a:rPr dirty="0"/>
              <a:t> — </a:t>
            </a:r>
            <a:r>
              <a:rPr dirty="0" err="1"/>
              <a:t>достаточно</a:t>
            </a:r>
            <a:r>
              <a:rPr dirty="0"/>
              <a:t> </a:t>
            </a:r>
            <a:r>
              <a:rPr dirty="0" err="1"/>
              <a:t>изменить</a:t>
            </a:r>
            <a:r>
              <a:rPr dirty="0"/>
              <a:t> DHCP Options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0461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DHCP reservation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9D87A4-1FA7-0ADA-F0CF-DB622255A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Ограничение L2: Почему DHCP не работает без Relay?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Проблема</a:t>
            </a:r>
            <a:r>
              <a:rPr dirty="0"/>
              <a:t>: </a:t>
            </a:r>
            <a:r>
              <a:rPr dirty="0" err="1"/>
              <a:t>Первичные</a:t>
            </a:r>
            <a:r>
              <a:rPr dirty="0"/>
              <a:t> </a:t>
            </a:r>
            <a:r>
              <a:rPr dirty="0" err="1"/>
              <a:t>запросы</a:t>
            </a:r>
            <a:r>
              <a:rPr dirty="0"/>
              <a:t> DHCP Discover </a:t>
            </a:r>
            <a:r>
              <a:rPr dirty="0" err="1"/>
              <a:t>отправляются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широковещательный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L2 (FF:FF:FF:FF:FF:FF).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</a:t>
            </a:r>
            <a:r>
              <a:rPr dirty="0" err="1"/>
              <a:t>маршрутизаторы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пропускают</a:t>
            </a:r>
            <a:r>
              <a:rPr dirty="0"/>
              <a:t> </a:t>
            </a:r>
            <a:r>
              <a:rPr dirty="0" err="1"/>
              <a:t>бродкаст-трафик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подсетями</a:t>
            </a:r>
            <a:r>
              <a:rPr dirty="0"/>
              <a:t> (VLAN).</a:t>
            </a:r>
          </a:p>
          <a:p>
            <a:pPr indent="442913">
              <a:defRPr sz="3600"/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дополнительных</a:t>
            </a:r>
            <a:r>
              <a:rPr dirty="0"/>
              <a:t> </a:t>
            </a:r>
            <a:r>
              <a:rPr dirty="0" err="1"/>
              <a:t>настроек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DHCP-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обслуживать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своего</a:t>
            </a:r>
            <a:r>
              <a:rPr dirty="0"/>
              <a:t> </a:t>
            </a:r>
            <a:r>
              <a:rPr dirty="0" err="1"/>
              <a:t>широковещательного</a:t>
            </a:r>
            <a:r>
              <a:rPr dirty="0"/>
              <a:t> </a:t>
            </a:r>
            <a:r>
              <a:rPr dirty="0" err="1"/>
              <a:t>сегмента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75AD-AAE7-9672-C22F-4379B8641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99B5AB-3A43-ABE1-1206-F21B3BF4C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383459"/>
            <a:ext cx="11367367" cy="605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51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CA664-4FDF-F46D-8BBC-2E62B3003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0B5DA9-5B6A-F5D9-257E-639A0A055C77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Решение</a:t>
            </a:r>
            <a:r>
              <a:rPr dirty="0"/>
              <a:t>: </a:t>
            </a:r>
            <a:r>
              <a:rPr dirty="0" err="1"/>
              <a:t>Использование</a:t>
            </a:r>
            <a:r>
              <a:rPr dirty="0"/>
              <a:t> </a:t>
            </a:r>
            <a:r>
              <a:rPr dirty="0" err="1"/>
              <a:t>агента</a:t>
            </a:r>
            <a:r>
              <a:rPr dirty="0"/>
              <a:t> </a:t>
            </a:r>
            <a:r>
              <a:rPr dirty="0" err="1"/>
              <a:t>ретрансляции</a:t>
            </a:r>
            <a:r>
              <a:rPr dirty="0"/>
              <a:t> (DHCP Relay).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перехватывает</a:t>
            </a:r>
            <a:r>
              <a:rPr dirty="0"/>
              <a:t> </a:t>
            </a:r>
            <a:r>
              <a:rPr dirty="0" err="1"/>
              <a:t>бродкаст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, </a:t>
            </a:r>
            <a:r>
              <a:rPr dirty="0" err="1"/>
              <a:t>упаковывает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в </a:t>
            </a:r>
            <a:r>
              <a:rPr dirty="0" err="1"/>
              <a:t>юникаст-пакет</a:t>
            </a:r>
            <a:r>
              <a:rPr dirty="0"/>
              <a:t> (Unicast) и </a:t>
            </a:r>
            <a:r>
              <a:rPr dirty="0" err="1"/>
              <a:t>пересылает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 DHCP-</a:t>
            </a:r>
            <a:r>
              <a:rPr dirty="0" err="1"/>
              <a:t>серверу</a:t>
            </a:r>
            <a:r>
              <a:rPr dirty="0"/>
              <a:t> в </a:t>
            </a:r>
            <a:r>
              <a:rPr dirty="0" err="1"/>
              <a:t>другую</a:t>
            </a:r>
            <a:r>
              <a:rPr dirty="0"/>
              <a:t> </a:t>
            </a:r>
            <a:r>
              <a:rPr dirty="0" err="1"/>
              <a:t>подсеть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рамках</a:t>
            </a:r>
            <a:r>
              <a:rPr dirty="0"/>
              <a:t> </a:t>
            </a:r>
            <a:r>
              <a:rPr dirty="0" err="1"/>
              <a:t>простых</a:t>
            </a:r>
            <a:r>
              <a:rPr dirty="0"/>
              <a:t> </a:t>
            </a:r>
            <a:r>
              <a:rPr dirty="0" err="1"/>
              <a:t>лабораторных</a:t>
            </a:r>
            <a:r>
              <a:rPr dirty="0"/>
              <a:t> </a:t>
            </a:r>
            <a:r>
              <a:rPr dirty="0" err="1"/>
              <a:t>работ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предполагаем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и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находятся</a:t>
            </a:r>
            <a:r>
              <a:rPr dirty="0"/>
              <a:t> </a:t>
            </a:r>
            <a:r>
              <a:rPr dirty="0" err="1"/>
              <a:t>строго</a:t>
            </a:r>
            <a:r>
              <a:rPr dirty="0"/>
              <a:t> в </a:t>
            </a:r>
            <a:r>
              <a:rPr dirty="0" err="1"/>
              <a:t>одном</a:t>
            </a:r>
            <a:r>
              <a:rPr dirty="0"/>
              <a:t> L2-сегменте (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48425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Файловая структура и конфигурация ISC DHCP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>
              <a:defRPr sz="3600"/>
            </a:pPr>
            <a:r>
              <a:rPr dirty="0"/>
              <a:t>В </a:t>
            </a:r>
            <a:r>
              <a:rPr dirty="0" err="1"/>
              <a:t>современных</a:t>
            </a:r>
            <a:r>
              <a:rPr dirty="0"/>
              <a:t> </a:t>
            </a:r>
            <a:r>
              <a:rPr dirty="0" err="1"/>
              <a:t>дистрибутивах</a:t>
            </a:r>
            <a:r>
              <a:rPr dirty="0"/>
              <a:t> Linux (Debian, Ubuntu)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настраивается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ключевых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:</a:t>
            </a:r>
          </a:p>
          <a:p>
            <a:pPr>
              <a:defRPr sz="3600"/>
            </a:pPr>
            <a:r>
              <a:rPr dirty="0"/>
              <a:t>`/</a:t>
            </a:r>
            <a:r>
              <a:rPr dirty="0" err="1"/>
              <a:t>etc</a:t>
            </a:r>
            <a:r>
              <a:rPr dirty="0"/>
              <a:t>/default/</a:t>
            </a:r>
            <a:r>
              <a:rPr dirty="0" err="1"/>
              <a:t>isc</a:t>
            </a:r>
            <a:r>
              <a:rPr dirty="0"/>
              <a:t>-</a:t>
            </a:r>
            <a:r>
              <a:rPr dirty="0" err="1"/>
              <a:t>dhcp</a:t>
            </a:r>
            <a:r>
              <a:rPr dirty="0"/>
              <a:t>-server` — </a:t>
            </a:r>
            <a:r>
              <a:rPr dirty="0" err="1"/>
              <a:t>определяет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каких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физических</a:t>
            </a:r>
            <a:r>
              <a:rPr dirty="0"/>
              <a:t> </a:t>
            </a:r>
            <a:r>
              <a:rPr dirty="0" err="1"/>
              <a:t>интерфейсах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ожидать</a:t>
            </a:r>
            <a:r>
              <a:rPr dirty="0"/>
              <a:t> </a:t>
            </a:r>
            <a:r>
              <a:rPr dirty="0" err="1"/>
              <a:t>запросы</a:t>
            </a:r>
            <a:r>
              <a:rPr dirty="0"/>
              <a:t> (</a:t>
            </a:r>
            <a:r>
              <a:rPr dirty="0" err="1"/>
              <a:t>например</a:t>
            </a:r>
            <a:r>
              <a:rPr dirty="0"/>
              <a:t>, `INTERFACESv4="ens33"`). </a:t>
            </a:r>
            <a:r>
              <a:rPr dirty="0" err="1"/>
              <a:t>Предотвращает</a:t>
            </a:r>
            <a:r>
              <a:rPr dirty="0"/>
              <a:t> </a:t>
            </a:r>
            <a:r>
              <a:rPr dirty="0" err="1"/>
              <a:t>случайную</a:t>
            </a:r>
            <a:r>
              <a:rPr dirty="0"/>
              <a:t> </a:t>
            </a:r>
            <a:r>
              <a:rPr dirty="0" err="1"/>
              <a:t>выдачу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 в </a:t>
            </a:r>
            <a:r>
              <a:rPr dirty="0" err="1"/>
              <a:t>сторону</a:t>
            </a:r>
            <a:r>
              <a:rPr dirty="0"/>
              <a:t> </a:t>
            </a:r>
            <a:r>
              <a:rPr dirty="0" err="1"/>
              <a:t>провайдера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`/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dhcp</a:t>
            </a:r>
            <a:r>
              <a:rPr dirty="0"/>
              <a:t>/</a:t>
            </a:r>
            <a:r>
              <a:rPr dirty="0" err="1"/>
              <a:t>dhcpd.conf</a:t>
            </a:r>
            <a:r>
              <a:rPr dirty="0"/>
              <a:t>` — </a:t>
            </a:r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конфигурационный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описывающий</a:t>
            </a:r>
            <a:r>
              <a:rPr dirty="0"/>
              <a:t> </a:t>
            </a:r>
            <a:r>
              <a:rPr dirty="0" err="1"/>
              <a:t>пулы</a:t>
            </a:r>
            <a:r>
              <a:rPr dirty="0"/>
              <a:t>, </a:t>
            </a:r>
            <a:r>
              <a:rPr dirty="0" err="1"/>
              <a:t>опции</a:t>
            </a:r>
            <a:r>
              <a:rPr dirty="0"/>
              <a:t> </a:t>
            </a:r>
            <a:r>
              <a:rPr dirty="0" err="1"/>
              <a:t>глобального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 и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резервирования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Внимание</a:t>
            </a:r>
            <a:r>
              <a:rPr dirty="0"/>
              <a:t>: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синтаксиса</a:t>
            </a:r>
            <a:r>
              <a:rPr dirty="0"/>
              <a:t> (</a:t>
            </a:r>
            <a:r>
              <a:rPr dirty="0" err="1"/>
              <a:t>например</a:t>
            </a:r>
            <a:r>
              <a:rPr dirty="0"/>
              <a:t>, </a:t>
            </a:r>
            <a:r>
              <a:rPr dirty="0" err="1"/>
              <a:t>пропущенная</a:t>
            </a:r>
            <a:r>
              <a:rPr dirty="0"/>
              <a:t> </a:t>
            </a:r>
            <a:r>
              <a:rPr dirty="0" err="1"/>
              <a:t>точка</a:t>
            </a:r>
            <a:r>
              <a:rPr dirty="0"/>
              <a:t> с </a:t>
            </a:r>
            <a:r>
              <a:rPr dirty="0" err="1"/>
              <a:t>запятой</a:t>
            </a:r>
            <a:r>
              <a:rPr dirty="0"/>
              <a:t> `;` в </a:t>
            </a:r>
            <a:r>
              <a:rPr dirty="0" err="1"/>
              <a:t>конце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)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блокируют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46DAE-57C7-295D-05B5-90BB8E73A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0EEFC7-2A46-FF3C-78A4-106B35826186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Файловая структура и конфигурация ISC DHCP Server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7040B-701E-6A7C-94D8-54E89EEC0B12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>
              <a:defRPr sz="3600"/>
            </a:pPr>
            <a:r>
              <a:rPr dirty="0"/>
              <a:t>В </a:t>
            </a:r>
            <a:r>
              <a:rPr dirty="0" err="1"/>
              <a:t>современных</a:t>
            </a:r>
            <a:r>
              <a:rPr dirty="0"/>
              <a:t> </a:t>
            </a:r>
            <a:r>
              <a:rPr dirty="0" err="1"/>
              <a:t>дистрибутивах</a:t>
            </a:r>
            <a:r>
              <a:rPr dirty="0"/>
              <a:t> Linux (Debian, Ubuntu)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настраивается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ключевых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/default/</a:t>
            </a:r>
            <a:r>
              <a:rPr b="1" dirty="0" err="1">
                <a:solidFill>
                  <a:srgbClr val="002060"/>
                </a:solidFill>
              </a:rPr>
              <a:t>isc</a:t>
            </a:r>
            <a:r>
              <a:rPr b="1" dirty="0">
                <a:solidFill>
                  <a:srgbClr val="002060"/>
                </a:solidFill>
              </a:rPr>
              <a:t>-</a:t>
            </a:r>
            <a:r>
              <a:rPr b="1" dirty="0" err="1">
                <a:solidFill>
                  <a:srgbClr val="002060"/>
                </a:solidFill>
              </a:rPr>
              <a:t>dhcp</a:t>
            </a:r>
            <a:r>
              <a:rPr b="1" dirty="0">
                <a:solidFill>
                  <a:srgbClr val="002060"/>
                </a:solidFill>
              </a:rPr>
              <a:t>-server </a:t>
            </a:r>
            <a:r>
              <a:rPr dirty="0"/>
              <a:t>— </a:t>
            </a:r>
            <a:r>
              <a:rPr dirty="0" err="1"/>
              <a:t>определяет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каких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физических</a:t>
            </a:r>
            <a:r>
              <a:rPr dirty="0"/>
              <a:t> </a:t>
            </a:r>
            <a:r>
              <a:rPr dirty="0" err="1"/>
              <a:t>интерфейсах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ожидать</a:t>
            </a:r>
            <a:r>
              <a:rPr dirty="0"/>
              <a:t> </a:t>
            </a:r>
            <a:r>
              <a:rPr dirty="0" err="1"/>
              <a:t>запросы</a:t>
            </a:r>
            <a:r>
              <a:rPr dirty="0"/>
              <a:t> (</a:t>
            </a:r>
            <a:r>
              <a:rPr dirty="0" err="1"/>
              <a:t>например</a:t>
            </a:r>
            <a:r>
              <a:rPr dirty="0"/>
              <a:t>, `INTERFACESv4="ens33"`). </a:t>
            </a:r>
            <a:r>
              <a:rPr dirty="0" err="1"/>
              <a:t>Предотвращает</a:t>
            </a:r>
            <a:r>
              <a:rPr dirty="0"/>
              <a:t> </a:t>
            </a:r>
            <a:r>
              <a:rPr dirty="0" err="1"/>
              <a:t>случайную</a:t>
            </a:r>
            <a:r>
              <a:rPr dirty="0"/>
              <a:t> </a:t>
            </a:r>
            <a:r>
              <a:rPr dirty="0" err="1"/>
              <a:t>выдачу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 в </a:t>
            </a:r>
            <a:r>
              <a:rPr dirty="0" err="1"/>
              <a:t>сторону</a:t>
            </a:r>
            <a:r>
              <a:rPr dirty="0"/>
              <a:t> </a:t>
            </a:r>
            <a:r>
              <a:rPr dirty="0" err="1"/>
              <a:t>провайдера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etc</a:t>
            </a: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dhcp</a:t>
            </a:r>
            <a:r>
              <a:rPr b="1" dirty="0">
                <a:solidFill>
                  <a:srgbClr val="002060"/>
                </a:solidFill>
              </a:rPr>
              <a:t>/</a:t>
            </a:r>
            <a:r>
              <a:rPr b="1" dirty="0" err="1">
                <a:solidFill>
                  <a:srgbClr val="002060"/>
                </a:solidFill>
              </a:rPr>
              <a:t>dhcpd.conf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dirty="0"/>
              <a:t>— </a:t>
            </a:r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конфигурационный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описывающий</a:t>
            </a:r>
            <a:r>
              <a:rPr dirty="0"/>
              <a:t> </a:t>
            </a:r>
            <a:r>
              <a:rPr dirty="0" err="1"/>
              <a:t>пулы</a:t>
            </a:r>
            <a:r>
              <a:rPr dirty="0"/>
              <a:t>, </a:t>
            </a:r>
            <a:r>
              <a:rPr dirty="0" err="1"/>
              <a:t>опции</a:t>
            </a:r>
            <a:r>
              <a:rPr dirty="0"/>
              <a:t> </a:t>
            </a:r>
            <a:r>
              <a:rPr dirty="0" err="1"/>
              <a:t>глобального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 и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резервирования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Внимание</a:t>
            </a:r>
            <a:r>
              <a:rPr dirty="0"/>
              <a:t>: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синтаксиса</a:t>
            </a:r>
            <a:r>
              <a:rPr dirty="0"/>
              <a:t> (</a:t>
            </a:r>
            <a:r>
              <a:rPr dirty="0" err="1"/>
              <a:t>например</a:t>
            </a:r>
            <a:r>
              <a:rPr dirty="0"/>
              <a:t>, </a:t>
            </a:r>
            <a:r>
              <a:rPr dirty="0" err="1"/>
              <a:t>пропущенная</a:t>
            </a:r>
            <a:r>
              <a:rPr dirty="0"/>
              <a:t> </a:t>
            </a:r>
            <a:r>
              <a:rPr dirty="0" err="1"/>
              <a:t>точка</a:t>
            </a:r>
            <a:r>
              <a:rPr dirty="0"/>
              <a:t> с </a:t>
            </a:r>
            <a:r>
              <a:rPr dirty="0" err="1"/>
              <a:t>запятой</a:t>
            </a:r>
            <a:r>
              <a:rPr dirty="0"/>
              <a:t> `;` в </a:t>
            </a:r>
            <a:r>
              <a:rPr dirty="0" err="1"/>
              <a:t>конце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)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блокируют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5184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B1F47-92EC-EC98-860F-DEC7E214B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FB787C-8290-7514-E60A-E3DBDB17C603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6. </a:t>
            </a: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dhcp</a:t>
            </a:r>
            <a:r>
              <a:rPr dirty="0"/>
              <a:t>/</a:t>
            </a:r>
            <a:r>
              <a:rPr dirty="0" err="1"/>
              <a:t>dhcpd.conf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EDBF21-3CE2-DD5D-44AF-B75C8146582D}"/>
              </a:ext>
            </a:extLst>
          </p:cNvPr>
          <p:cNvSpPr txBox="1"/>
          <p:nvPr/>
        </p:nvSpPr>
        <p:spPr>
          <a:xfrm>
            <a:off x="457200" y="822960"/>
            <a:ext cx="11430000" cy="585216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>
              <a:defRPr sz="3600"/>
            </a:pPr>
            <a:r>
              <a:rPr dirty="0"/>
              <a:t># </a:t>
            </a:r>
            <a:r>
              <a:rPr dirty="0" err="1"/>
              <a:t>Глобальные</a:t>
            </a:r>
            <a:r>
              <a:rPr dirty="0"/>
              <a:t> </a:t>
            </a:r>
            <a:r>
              <a:rPr dirty="0" err="1"/>
              <a:t>опции</a:t>
            </a:r>
            <a:r>
              <a:rPr dirty="0"/>
              <a:t> (</a:t>
            </a:r>
            <a:r>
              <a:rPr dirty="0" err="1"/>
              <a:t>применяются</a:t>
            </a:r>
            <a:r>
              <a:rPr dirty="0"/>
              <a:t> </a:t>
            </a:r>
            <a:r>
              <a:rPr dirty="0" err="1"/>
              <a:t>ко</a:t>
            </a:r>
            <a:r>
              <a:rPr dirty="0"/>
              <a:t> </a:t>
            </a:r>
            <a:r>
              <a:rPr dirty="0" err="1"/>
              <a:t>всем</a:t>
            </a:r>
            <a:r>
              <a:rPr dirty="0"/>
              <a:t> </a:t>
            </a:r>
            <a:r>
              <a:rPr dirty="0" err="1"/>
              <a:t>подсетям</a:t>
            </a:r>
            <a:r>
              <a:rPr dirty="0"/>
              <a:t>)</a:t>
            </a:r>
          </a:p>
          <a:p>
            <a:pPr>
              <a:defRPr sz="3600"/>
            </a:pPr>
            <a:r>
              <a:rPr dirty="0"/>
              <a:t>option domain-name "</a:t>
            </a:r>
            <a:r>
              <a:rPr dirty="0" err="1"/>
              <a:t>company.local</a:t>
            </a:r>
            <a:r>
              <a:rPr dirty="0"/>
              <a:t>";</a:t>
            </a:r>
          </a:p>
          <a:p>
            <a:pPr>
              <a:defRPr sz="3600"/>
            </a:pPr>
            <a:r>
              <a:rPr dirty="0"/>
              <a:t>option domain-name-servers 192.168.10.10, 8.8.8.8;</a:t>
            </a:r>
          </a:p>
          <a:p>
            <a:pPr>
              <a:defRPr sz="3600"/>
            </a:pPr>
            <a:r>
              <a:rPr dirty="0"/>
              <a:t>default-lease-time 600;   # 10 </a:t>
            </a:r>
            <a:r>
              <a:rPr dirty="0" err="1"/>
              <a:t>минут</a:t>
            </a:r>
            <a:endParaRPr dirty="0"/>
          </a:p>
          <a:p>
            <a:pPr>
              <a:defRPr sz="3600"/>
            </a:pPr>
            <a:r>
              <a:rPr dirty="0"/>
              <a:t>max-lease-time 7200;      # 2 </a:t>
            </a:r>
            <a:r>
              <a:rPr dirty="0" err="1"/>
              <a:t>часа</a:t>
            </a:r>
            <a:endParaRPr dirty="0"/>
          </a:p>
          <a:p>
            <a:pPr>
              <a:defRPr sz="3600"/>
            </a:pPr>
            <a:endParaRPr dirty="0"/>
          </a:p>
          <a:p>
            <a:pPr>
              <a:defRPr sz="3600"/>
            </a:pPr>
            <a:r>
              <a:rPr dirty="0"/>
              <a:t># </a:t>
            </a:r>
            <a:r>
              <a:rPr dirty="0" err="1"/>
              <a:t>Описание</a:t>
            </a:r>
            <a:r>
              <a:rPr dirty="0"/>
              <a:t> </a:t>
            </a:r>
            <a:r>
              <a:rPr dirty="0" err="1"/>
              <a:t>обслуживаемой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 и </a:t>
            </a:r>
            <a:r>
              <a:rPr dirty="0" err="1"/>
              <a:t>динамического</a:t>
            </a:r>
            <a:r>
              <a:rPr dirty="0"/>
              <a:t> </a:t>
            </a:r>
            <a:r>
              <a:rPr dirty="0" err="1"/>
              <a:t>пула</a:t>
            </a:r>
            <a:endParaRPr dirty="0"/>
          </a:p>
          <a:p>
            <a:pPr>
              <a:defRPr sz="3600"/>
            </a:pPr>
            <a:r>
              <a:rPr dirty="0"/>
              <a:t>subnet 192.168.10.0 netmask 255.255.255.0 {</a:t>
            </a:r>
          </a:p>
          <a:p>
            <a:pPr>
              <a:defRPr sz="3600"/>
            </a:pPr>
            <a:r>
              <a:rPr dirty="0"/>
              <a:t>    range 192.168.10.100 192.168.10.150;</a:t>
            </a:r>
          </a:p>
          <a:p>
            <a:pPr>
              <a:defRPr sz="3600"/>
            </a:pPr>
            <a:r>
              <a:rPr dirty="0"/>
              <a:t>    option routers 192.168.10.1;   #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шлюз</a:t>
            </a:r>
            <a:endParaRPr dirty="0"/>
          </a:p>
          <a:p>
            <a:pPr>
              <a:defRPr sz="3600"/>
            </a:pPr>
            <a:r>
              <a:rPr dirty="0"/>
              <a:t>}</a:t>
            </a:r>
          </a:p>
          <a:p>
            <a:pPr>
              <a:defRPr sz="3600"/>
            </a:pPr>
            <a:endParaRPr dirty="0"/>
          </a:p>
          <a:p>
            <a:pPr>
              <a:defRPr sz="3600"/>
            </a:pPr>
            <a:r>
              <a:rPr dirty="0"/>
              <a:t># </a:t>
            </a:r>
            <a:r>
              <a:rPr dirty="0" err="1"/>
              <a:t>Описание</a:t>
            </a:r>
            <a:r>
              <a:rPr dirty="0"/>
              <a:t> </a:t>
            </a:r>
            <a:r>
              <a:rPr dirty="0" err="1"/>
              <a:t>статического</a:t>
            </a:r>
            <a:r>
              <a:rPr dirty="0"/>
              <a:t> </a:t>
            </a:r>
            <a:r>
              <a:rPr dirty="0" err="1"/>
              <a:t>резервирования</a:t>
            </a:r>
            <a:endParaRPr dirty="0"/>
          </a:p>
          <a:p>
            <a:pPr>
              <a:defRPr sz="3600"/>
            </a:pPr>
            <a:r>
              <a:rPr dirty="0"/>
              <a:t>host office-printer {</a:t>
            </a:r>
          </a:p>
          <a:p>
            <a:pPr>
              <a:defRPr sz="3600"/>
            </a:pPr>
            <a:r>
              <a:rPr dirty="0"/>
              <a:t>    hardware ethernet 08:00:27:aa:bb:cc;</a:t>
            </a:r>
          </a:p>
          <a:p>
            <a:pPr>
              <a:defRPr sz="3600"/>
            </a:pPr>
            <a:r>
              <a:rPr dirty="0"/>
              <a:t>    fixed-address 192.168.10.50;</a:t>
            </a:r>
          </a:p>
          <a:p>
            <a:pPr>
              <a:defRPr sz="3600"/>
            </a:pPr>
            <a:r>
              <a:rPr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5311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Жизненный цикл службы: Команды управления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Установка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в Debian/Ubuntu:</a:t>
            </a:r>
          </a:p>
          <a:p>
            <a:pPr>
              <a:defRPr sz="3600"/>
            </a:pPr>
            <a:r>
              <a:rPr dirty="0">
                <a:solidFill>
                  <a:srgbClr val="002060"/>
                </a:solidFill>
              </a:rPr>
              <a:t>  </a:t>
            </a: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apt update &amp;&amp; </a:t>
            </a: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apt install </a:t>
            </a:r>
            <a:r>
              <a:rPr dirty="0" err="1">
                <a:solidFill>
                  <a:srgbClr val="002060"/>
                </a:solidFill>
              </a:rPr>
              <a:t>isc</a:t>
            </a:r>
            <a:r>
              <a:rPr dirty="0">
                <a:solidFill>
                  <a:srgbClr val="002060"/>
                </a:solidFill>
              </a:rPr>
              <a:t>-</a:t>
            </a:r>
            <a:r>
              <a:rPr dirty="0" err="1">
                <a:solidFill>
                  <a:srgbClr val="002060"/>
                </a:solidFill>
              </a:rPr>
              <a:t>dhcp</a:t>
            </a:r>
            <a:r>
              <a:rPr dirty="0">
                <a:solidFill>
                  <a:srgbClr val="002060"/>
                </a:solidFill>
              </a:rPr>
              <a:t>-server -y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синтаксиса</a:t>
            </a:r>
            <a:r>
              <a:rPr dirty="0"/>
              <a:t> </a:t>
            </a:r>
            <a:r>
              <a:rPr dirty="0" err="1"/>
              <a:t>конфигурационного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перезапуском</a:t>
            </a:r>
            <a:r>
              <a:rPr dirty="0"/>
              <a:t>:</a:t>
            </a:r>
          </a:p>
          <a:p>
            <a:pPr>
              <a:defRPr sz="3600"/>
            </a:pPr>
            <a:r>
              <a:rPr dirty="0"/>
              <a:t>  </a:t>
            </a: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dhcpd</a:t>
            </a:r>
            <a:r>
              <a:rPr dirty="0">
                <a:solidFill>
                  <a:srgbClr val="002060"/>
                </a:solidFill>
              </a:rPr>
              <a:t> -t -</a:t>
            </a:r>
            <a:r>
              <a:rPr dirty="0" err="1">
                <a:solidFill>
                  <a:srgbClr val="002060"/>
                </a:solidFill>
              </a:rPr>
              <a:t>cf</a:t>
            </a:r>
            <a:r>
              <a:rPr dirty="0">
                <a:solidFill>
                  <a:srgbClr val="002060"/>
                </a:solidFill>
              </a:rPr>
              <a:t> /</a:t>
            </a:r>
            <a:r>
              <a:rPr dirty="0" err="1">
                <a:solidFill>
                  <a:srgbClr val="002060"/>
                </a:solidFill>
              </a:rPr>
              <a:t>etc</a:t>
            </a:r>
            <a:r>
              <a:rPr dirty="0">
                <a:solidFill>
                  <a:srgbClr val="002060"/>
                </a:solidFill>
              </a:rPr>
              <a:t>/</a:t>
            </a:r>
            <a:r>
              <a:rPr dirty="0" err="1">
                <a:solidFill>
                  <a:srgbClr val="002060"/>
                </a:solidFill>
              </a:rPr>
              <a:t>dhcp</a:t>
            </a:r>
            <a:r>
              <a:rPr dirty="0">
                <a:solidFill>
                  <a:srgbClr val="002060"/>
                </a:solidFill>
              </a:rPr>
              <a:t>/</a:t>
            </a:r>
            <a:r>
              <a:rPr dirty="0" err="1">
                <a:solidFill>
                  <a:srgbClr val="002060"/>
                </a:solidFill>
              </a:rPr>
              <a:t>dhcpd.conf</a:t>
            </a:r>
            <a:endParaRPr dirty="0">
              <a:solidFill>
                <a:srgbClr val="00206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Перезапуск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применения</a:t>
            </a:r>
            <a:r>
              <a:rPr dirty="0"/>
              <a:t> </a:t>
            </a:r>
            <a:r>
              <a:rPr dirty="0" err="1"/>
              <a:t>изменений</a:t>
            </a:r>
            <a:r>
              <a:rPr dirty="0"/>
              <a:t>:</a:t>
            </a:r>
          </a:p>
          <a:p>
            <a:pPr>
              <a:defRPr sz="3600"/>
            </a:pPr>
            <a:r>
              <a:rPr dirty="0"/>
              <a:t>  </a:t>
            </a: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systemctl</a:t>
            </a:r>
            <a:r>
              <a:rPr dirty="0">
                <a:solidFill>
                  <a:srgbClr val="002060"/>
                </a:solidFill>
              </a:rPr>
              <a:t> restart </a:t>
            </a:r>
            <a:r>
              <a:rPr dirty="0" err="1">
                <a:solidFill>
                  <a:srgbClr val="002060"/>
                </a:solidFill>
              </a:rPr>
              <a:t>isc</a:t>
            </a:r>
            <a:r>
              <a:rPr dirty="0">
                <a:solidFill>
                  <a:srgbClr val="002060"/>
                </a:solidFill>
              </a:rPr>
              <a:t>-</a:t>
            </a:r>
            <a:r>
              <a:rPr dirty="0" err="1">
                <a:solidFill>
                  <a:srgbClr val="002060"/>
                </a:solidFill>
              </a:rPr>
              <a:t>dhcp</a:t>
            </a:r>
            <a:r>
              <a:rPr dirty="0">
                <a:solidFill>
                  <a:srgbClr val="002060"/>
                </a:solidFill>
              </a:rPr>
              <a:t>-server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Просмотр</a:t>
            </a:r>
            <a:r>
              <a:rPr dirty="0"/>
              <a:t> </a:t>
            </a:r>
            <a:r>
              <a:rPr dirty="0" err="1"/>
              <a:t>статуса</a:t>
            </a:r>
            <a:r>
              <a:rPr dirty="0"/>
              <a:t> и </a:t>
            </a:r>
            <a:r>
              <a:rPr dirty="0" err="1"/>
              <a:t>логов</a:t>
            </a:r>
            <a:r>
              <a:rPr dirty="0"/>
              <a:t> </a:t>
            </a:r>
            <a:r>
              <a:rPr dirty="0" err="1"/>
              <a:t>реального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:</a:t>
            </a:r>
          </a:p>
          <a:p>
            <a:pPr>
              <a:defRPr sz="3600"/>
            </a:pPr>
            <a:r>
              <a:rPr dirty="0"/>
              <a:t>  </a:t>
            </a: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systemctl</a:t>
            </a:r>
            <a:r>
              <a:rPr dirty="0">
                <a:solidFill>
                  <a:srgbClr val="002060"/>
                </a:solidFill>
              </a:rPr>
              <a:t> status </a:t>
            </a:r>
            <a:r>
              <a:rPr dirty="0" err="1">
                <a:solidFill>
                  <a:srgbClr val="002060"/>
                </a:solidFill>
              </a:rPr>
              <a:t>isc</a:t>
            </a:r>
            <a:r>
              <a:rPr dirty="0">
                <a:solidFill>
                  <a:srgbClr val="002060"/>
                </a:solidFill>
              </a:rPr>
              <a:t>-</a:t>
            </a:r>
            <a:r>
              <a:rPr dirty="0" err="1">
                <a:solidFill>
                  <a:srgbClr val="002060"/>
                </a:solidFill>
              </a:rPr>
              <a:t>dhcp</a:t>
            </a:r>
            <a:r>
              <a:rPr dirty="0">
                <a:solidFill>
                  <a:srgbClr val="002060"/>
                </a:solidFill>
              </a:rPr>
              <a:t>-server</a:t>
            </a:r>
          </a:p>
          <a:p>
            <a:pPr>
              <a:defRPr sz="3600"/>
            </a:pPr>
            <a:r>
              <a:rPr dirty="0">
                <a:solidFill>
                  <a:srgbClr val="002060"/>
                </a:solidFill>
              </a:rPr>
              <a:t>  </a:t>
            </a: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journalctl</a:t>
            </a:r>
            <a:r>
              <a:rPr dirty="0">
                <a:solidFill>
                  <a:srgbClr val="002060"/>
                </a:solidFill>
              </a:rPr>
              <a:t> -u </a:t>
            </a:r>
            <a:r>
              <a:rPr dirty="0" err="1">
                <a:solidFill>
                  <a:srgbClr val="002060"/>
                </a:solidFill>
              </a:rPr>
              <a:t>isc</a:t>
            </a:r>
            <a:r>
              <a:rPr dirty="0">
                <a:solidFill>
                  <a:srgbClr val="002060"/>
                </a:solidFill>
              </a:rPr>
              <a:t>-</a:t>
            </a:r>
            <a:r>
              <a:rPr dirty="0" err="1">
                <a:solidFill>
                  <a:srgbClr val="002060"/>
                </a:solidFill>
              </a:rPr>
              <a:t>dhcp</a:t>
            </a:r>
            <a:r>
              <a:rPr dirty="0">
                <a:solidFill>
                  <a:srgbClr val="002060"/>
                </a:solidFill>
              </a:rPr>
              <a:t>-server -f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Диагностика на стороне сервера и ведение логов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65122"/>
            <a:ext cx="10972800" cy="496135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Вся</a:t>
            </a:r>
            <a:r>
              <a:rPr dirty="0"/>
              <a:t> </a:t>
            </a:r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аренды</a:t>
            </a:r>
            <a:r>
              <a:rPr dirty="0"/>
              <a:t> </a:t>
            </a:r>
            <a:r>
              <a:rPr dirty="0" err="1"/>
              <a:t>динамических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 </a:t>
            </a:r>
            <a:r>
              <a:rPr dirty="0" err="1"/>
              <a:t>регистрируется</a:t>
            </a:r>
            <a:r>
              <a:rPr dirty="0"/>
              <a:t> в </a:t>
            </a:r>
            <a:r>
              <a:rPr dirty="0" err="1"/>
              <a:t>текстовой</a:t>
            </a:r>
            <a:r>
              <a:rPr dirty="0"/>
              <a:t> </a:t>
            </a:r>
            <a:r>
              <a:rPr dirty="0" err="1"/>
              <a:t>базе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:</a:t>
            </a:r>
          </a:p>
          <a:p>
            <a:pPr indent="354013">
              <a:defRPr sz="3600"/>
            </a:pPr>
            <a:r>
              <a:rPr dirty="0" err="1"/>
              <a:t>Файл</a:t>
            </a:r>
            <a:r>
              <a:rPr dirty="0"/>
              <a:t> </a:t>
            </a:r>
            <a:r>
              <a:rPr dirty="0">
                <a:solidFill>
                  <a:srgbClr val="002060"/>
                </a:solidFill>
              </a:rPr>
              <a:t>/var/lib/</a:t>
            </a:r>
            <a:r>
              <a:rPr dirty="0" err="1">
                <a:solidFill>
                  <a:srgbClr val="002060"/>
                </a:solidFill>
              </a:rPr>
              <a:t>dhcp</a:t>
            </a:r>
            <a:r>
              <a:rPr dirty="0">
                <a:solidFill>
                  <a:srgbClr val="002060"/>
                </a:solidFill>
              </a:rPr>
              <a:t>/</a:t>
            </a:r>
            <a:r>
              <a:rPr dirty="0" err="1">
                <a:solidFill>
                  <a:srgbClr val="002060"/>
                </a:solidFill>
              </a:rPr>
              <a:t>dhcpd.leases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текущие</a:t>
            </a:r>
            <a:r>
              <a:rPr dirty="0"/>
              <a:t> </a:t>
            </a:r>
            <a:r>
              <a:rPr dirty="0" err="1"/>
              <a:t>активные</a:t>
            </a:r>
            <a:r>
              <a:rPr dirty="0"/>
              <a:t> </a:t>
            </a:r>
            <a:r>
              <a:rPr dirty="0" err="1"/>
              <a:t>аренды</a:t>
            </a:r>
            <a:r>
              <a:rPr dirty="0"/>
              <a:t>, </a:t>
            </a:r>
            <a:r>
              <a:rPr dirty="0" err="1"/>
              <a:t>включая</a:t>
            </a:r>
            <a:r>
              <a:rPr dirty="0"/>
              <a:t> MAC-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,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хоста</a:t>
            </a:r>
            <a:r>
              <a:rPr dirty="0"/>
              <a:t> и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завершения</a:t>
            </a:r>
            <a:r>
              <a:rPr dirty="0"/>
              <a:t> </a:t>
            </a:r>
            <a:r>
              <a:rPr dirty="0" err="1"/>
              <a:t>аренды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BBC76-A687-2BAA-457E-74107F091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814530-4B68-B0FC-1EA3-B8089C02CE78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442913">
              <a:defRPr sz="3600"/>
            </a:pP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активных</a:t>
            </a:r>
            <a:r>
              <a:rPr dirty="0"/>
              <a:t> </a:t>
            </a:r>
            <a:r>
              <a:rPr dirty="0" err="1"/>
              <a:t>аренд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MAC-</a:t>
            </a:r>
            <a:r>
              <a:rPr dirty="0" err="1"/>
              <a:t>адресу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в </a:t>
            </a:r>
            <a:r>
              <a:rPr dirty="0" err="1"/>
              <a:t>файле</a:t>
            </a:r>
            <a:r>
              <a:rPr dirty="0"/>
              <a:t>:</a:t>
            </a:r>
          </a:p>
          <a:p>
            <a:pPr indent="442913">
              <a:defRPr sz="3600"/>
            </a:pPr>
            <a:r>
              <a:rPr dirty="0">
                <a:solidFill>
                  <a:srgbClr val="002060"/>
                </a:solidFill>
              </a:rPr>
              <a:t>cat /var/lib/</a:t>
            </a:r>
            <a:r>
              <a:rPr dirty="0" err="1">
                <a:solidFill>
                  <a:srgbClr val="002060"/>
                </a:solidFill>
              </a:rPr>
              <a:t>dhcp</a:t>
            </a:r>
            <a:r>
              <a:rPr dirty="0">
                <a:solidFill>
                  <a:srgbClr val="002060"/>
                </a:solidFill>
              </a:rPr>
              <a:t>/</a:t>
            </a:r>
            <a:r>
              <a:rPr dirty="0" err="1">
                <a:solidFill>
                  <a:srgbClr val="002060"/>
                </a:solidFill>
              </a:rPr>
              <a:t>dhcpd.leases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>
                <a:solidFill>
                  <a:srgbClr val="002060"/>
                </a:solidFill>
              </a:rPr>
              <a:t>grep -n "hardware ethernet" /var/lib/</a:t>
            </a:r>
            <a:r>
              <a:rPr dirty="0" err="1">
                <a:solidFill>
                  <a:srgbClr val="002060"/>
                </a:solidFill>
              </a:rPr>
              <a:t>dhcp</a:t>
            </a:r>
            <a:r>
              <a:rPr dirty="0">
                <a:solidFill>
                  <a:srgbClr val="002060"/>
                </a:solidFill>
              </a:rPr>
              <a:t>/</a:t>
            </a:r>
            <a:r>
              <a:rPr dirty="0" err="1">
                <a:solidFill>
                  <a:srgbClr val="002060"/>
                </a:solidFill>
              </a:rPr>
              <a:t>dhcpd.leases</a:t>
            </a:r>
            <a:endParaRPr dirty="0">
              <a:solidFill>
                <a:srgbClr val="002060"/>
              </a:solidFill>
            </a:endParaRPr>
          </a:p>
          <a:p>
            <a:pPr indent="442913">
              <a:defRPr sz="3600"/>
            </a:pPr>
            <a:r>
              <a:rPr dirty="0" err="1"/>
              <a:t>Мониторинг</a:t>
            </a:r>
            <a:r>
              <a:rPr dirty="0"/>
              <a:t> </a:t>
            </a:r>
            <a:r>
              <a:rPr dirty="0" err="1"/>
              <a:t>транзакций</a:t>
            </a:r>
            <a:r>
              <a:rPr dirty="0"/>
              <a:t> DORA в </a:t>
            </a:r>
            <a:r>
              <a:rPr dirty="0" err="1"/>
              <a:t>системном</a:t>
            </a:r>
            <a:r>
              <a:rPr dirty="0"/>
              <a:t> </a:t>
            </a:r>
            <a:r>
              <a:rPr dirty="0" err="1"/>
              <a:t>журнале</a:t>
            </a:r>
            <a:r>
              <a:rPr dirty="0"/>
              <a:t>:</a:t>
            </a:r>
            <a:r>
              <a:rPr lang="en-US"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логирует</a:t>
            </a:r>
            <a:r>
              <a:rPr dirty="0"/>
              <a:t> </a:t>
            </a:r>
            <a:r>
              <a:rPr dirty="0" err="1"/>
              <a:t>каждое</a:t>
            </a:r>
            <a:r>
              <a:rPr dirty="0"/>
              <a:t> </a:t>
            </a:r>
            <a:r>
              <a:rPr dirty="0" err="1"/>
              <a:t>событие</a:t>
            </a:r>
            <a:r>
              <a:rPr dirty="0"/>
              <a:t> (DHCPDISCOVER, DHCPOFFER, DHCPREQUEST, DHCPACK) с </a:t>
            </a:r>
            <a:r>
              <a:rPr dirty="0" err="1"/>
              <a:t>указанием</a:t>
            </a:r>
            <a:r>
              <a:rPr dirty="0"/>
              <a:t> MAC и </a:t>
            </a:r>
            <a:r>
              <a:rPr dirty="0" err="1"/>
              <a:t>назначенного</a:t>
            </a:r>
            <a:r>
              <a:rPr dirty="0"/>
              <a:t> IP.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используйте</a:t>
            </a:r>
            <a:r>
              <a:rPr dirty="0"/>
              <a:t>: </a:t>
            </a:r>
            <a:endParaRPr lang="en-US" dirty="0"/>
          </a:p>
          <a:p>
            <a:pPr>
              <a:defRPr sz="3600"/>
            </a:pP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tail -n 50 /var/log/syslog` </a:t>
            </a:r>
            <a:r>
              <a:rPr dirty="0" err="1">
                <a:solidFill>
                  <a:srgbClr val="002060"/>
                </a:solidFill>
              </a:rPr>
              <a:t>или</a:t>
            </a:r>
            <a:r>
              <a:rPr dirty="0">
                <a:solidFill>
                  <a:srgbClr val="002060"/>
                </a:solidFill>
              </a:rPr>
              <a:t> `</a:t>
            </a:r>
            <a:r>
              <a:rPr dirty="0" err="1">
                <a:solidFill>
                  <a:srgbClr val="002060"/>
                </a:solidFill>
              </a:rPr>
              <a:t>journalctl</a:t>
            </a:r>
            <a:r>
              <a:rPr dirty="0">
                <a:solidFill>
                  <a:srgbClr val="002060"/>
                </a:solidFill>
              </a:rPr>
              <a:t> -u </a:t>
            </a:r>
            <a:r>
              <a:rPr dirty="0" err="1">
                <a:solidFill>
                  <a:srgbClr val="002060"/>
                </a:solidFill>
              </a:rPr>
              <a:t>isc</a:t>
            </a:r>
            <a:r>
              <a:rPr dirty="0">
                <a:solidFill>
                  <a:srgbClr val="002060"/>
                </a:solidFill>
              </a:rPr>
              <a:t>-</a:t>
            </a:r>
            <a:r>
              <a:rPr dirty="0" err="1">
                <a:solidFill>
                  <a:srgbClr val="002060"/>
                </a:solidFill>
              </a:rPr>
              <a:t>dhcp</a:t>
            </a:r>
            <a:r>
              <a:rPr dirty="0">
                <a:solidFill>
                  <a:srgbClr val="002060"/>
                </a:solidFill>
              </a:rPr>
              <a:t>-server</a:t>
            </a:r>
          </a:p>
        </p:txBody>
      </p:sp>
    </p:spTree>
    <p:extLst>
      <p:ext uri="{BB962C8B-B14F-4D97-AF65-F5344CB8AC3E}">
        <p14:creationId xmlns:p14="http://schemas.microsoft.com/office/powerpoint/2010/main" val="66055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9. Диагностика на стороне клиента и анализ трафика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3600"/>
            </a:pPr>
            <a:r>
              <a:t>Проверка на клиенте Linux:</a:t>
            </a:r>
          </a:p>
          <a:p>
            <a:pPr>
              <a:defRPr sz="3600"/>
            </a:pPr>
            <a:r>
              <a:t>  * `ip addr show` — убедиться, что адрес получен и соответствует пулу.</a:t>
            </a:r>
          </a:p>
          <a:p>
            <a:pPr>
              <a:defRPr sz="3600"/>
            </a:pPr>
            <a:r>
              <a:t>  * `ip route show default` — проверить корректность назначения шлюза.</a:t>
            </a:r>
          </a:p>
          <a:p>
            <a:pPr>
              <a:defRPr sz="3600"/>
            </a:pPr>
            <a:r>
              <a:t>  * `resolvectl status` или `cat /etc/resolv.conf` — проверка назначения DNS.</a:t>
            </a:r>
          </a:p>
          <a:p>
            <a:pPr>
              <a:defRPr sz="3600"/>
            </a:pPr>
            <a:r>
              <a:t>  * `sudo dhclient -r &amp;&amp; sudo dhclient` — принудительный сброс и повторный запрос адреса.</a:t>
            </a:r>
          </a:p>
          <a:p>
            <a:pPr>
              <a:defRPr sz="3600"/>
            </a:pPr>
            <a:r>
              <a:t>Глубокий анализ (Сниффинг трафика) на сервере:</a:t>
            </a:r>
          </a:p>
          <a:p>
            <a:pPr>
              <a:defRPr sz="3600"/>
            </a:pPr>
            <a:r>
              <a:t>  Если клиент не получает адрес, проверьте, доходят ли широковещательные пакеты до интерфейса сервера с помощью tcpdump (порты UDP 67 и 68):</a:t>
            </a:r>
          </a:p>
          <a:p>
            <a:pPr>
              <a:defRPr sz="3600"/>
            </a:pPr>
            <a:r>
              <a:t>  `sudo tcpdump -ni ens33 port 67 or port 68 -vv`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8EFBE-CE2F-C2DC-177F-B235507E8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9CA458-A48C-7C0E-4228-21D322960A4A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9. Диагностика на стороне клиента и анализ трафика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8F9EBE-100F-1E9E-8D54-E5F70D7123F0}"/>
              </a:ext>
            </a:extLst>
          </p:cNvPr>
          <p:cNvSpPr txBox="1"/>
          <p:nvPr/>
        </p:nvSpPr>
        <p:spPr>
          <a:xfrm>
            <a:off x="457200" y="914400"/>
            <a:ext cx="11430000" cy="57607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indent="354013"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клиенте</a:t>
            </a:r>
            <a:r>
              <a:rPr dirty="0"/>
              <a:t> Linux: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>
                <a:solidFill>
                  <a:srgbClr val="002060"/>
                </a:solidFill>
              </a:rPr>
              <a:t>ip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addr</a:t>
            </a:r>
            <a:r>
              <a:rPr dirty="0">
                <a:solidFill>
                  <a:srgbClr val="002060"/>
                </a:solidFill>
              </a:rPr>
              <a:t> show </a:t>
            </a:r>
            <a:r>
              <a:rPr dirty="0"/>
              <a:t>— </a:t>
            </a:r>
            <a:r>
              <a:rPr dirty="0" err="1"/>
              <a:t>убедиться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получен</a:t>
            </a:r>
            <a:r>
              <a:rPr dirty="0"/>
              <a:t> и </a:t>
            </a:r>
            <a:r>
              <a:rPr dirty="0" err="1"/>
              <a:t>соответствует</a:t>
            </a:r>
            <a:r>
              <a:rPr dirty="0"/>
              <a:t> </a:t>
            </a:r>
            <a:r>
              <a:rPr dirty="0" err="1"/>
              <a:t>пулу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>
                <a:solidFill>
                  <a:srgbClr val="002060"/>
                </a:solidFill>
              </a:rPr>
              <a:t>ip</a:t>
            </a:r>
            <a:r>
              <a:rPr dirty="0">
                <a:solidFill>
                  <a:srgbClr val="002060"/>
                </a:solidFill>
              </a:rPr>
              <a:t> route show default </a:t>
            </a:r>
            <a:r>
              <a:rPr dirty="0"/>
              <a:t>—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корректность</a:t>
            </a:r>
            <a:r>
              <a:rPr dirty="0"/>
              <a:t> </a:t>
            </a:r>
            <a:r>
              <a:rPr dirty="0" err="1"/>
              <a:t>назначения</a:t>
            </a:r>
            <a:r>
              <a:rPr dirty="0"/>
              <a:t> </a:t>
            </a:r>
            <a:r>
              <a:rPr dirty="0" err="1"/>
              <a:t>шлюза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>
                <a:solidFill>
                  <a:srgbClr val="002060"/>
                </a:solidFill>
              </a:rPr>
              <a:t>resolvectl</a:t>
            </a:r>
            <a:r>
              <a:rPr dirty="0">
                <a:solidFill>
                  <a:srgbClr val="002060"/>
                </a:solidFill>
              </a:rPr>
              <a:t> status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>
                <a:solidFill>
                  <a:srgbClr val="002060"/>
                </a:solidFill>
              </a:rPr>
              <a:t>cat /</a:t>
            </a:r>
            <a:r>
              <a:rPr dirty="0" err="1">
                <a:solidFill>
                  <a:srgbClr val="002060"/>
                </a:solidFill>
              </a:rPr>
              <a:t>etc</a:t>
            </a:r>
            <a:r>
              <a:rPr dirty="0">
                <a:solidFill>
                  <a:srgbClr val="002060"/>
                </a:solidFill>
              </a:rPr>
              <a:t>/</a:t>
            </a:r>
            <a:r>
              <a:rPr dirty="0" err="1">
                <a:solidFill>
                  <a:srgbClr val="002060"/>
                </a:solidFill>
              </a:rPr>
              <a:t>resolv.conf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/>
              <a:t>—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назначения</a:t>
            </a:r>
            <a:r>
              <a:rPr dirty="0"/>
              <a:t> DNS.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dhclient</a:t>
            </a:r>
            <a:r>
              <a:rPr dirty="0">
                <a:solidFill>
                  <a:srgbClr val="002060"/>
                </a:solidFill>
              </a:rPr>
              <a:t> -r &amp;&amp; </a:t>
            </a: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dhclient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/>
              <a:t>— </a:t>
            </a:r>
            <a:r>
              <a:rPr dirty="0" err="1"/>
              <a:t>принудительный</a:t>
            </a:r>
            <a:r>
              <a:rPr dirty="0"/>
              <a:t> </a:t>
            </a:r>
            <a:r>
              <a:rPr dirty="0" err="1"/>
              <a:t>сброс</a:t>
            </a:r>
            <a:r>
              <a:rPr dirty="0"/>
              <a:t> и </a:t>
            </a:r>
            <a:r>
              <a:rPr dirty="0" err="1"/>
              <a:t>повторный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Глубокий</a:t>
            </a:r>
            <a:r>
              <a:rPr dirty="0"/>
              <a:t> </a:t>
            </a:r>
            <a:r>
              <a:rPr dirty="0" err="1"/>
              <a:t>анализ</a:t>
            </a:r>
            <a:r>
              <a:rPr dirty="0"/>
              <a:t> (</a:t>
            </a:r>
            <a:r>
              <a:rPr dirty="0" err="1"/>
              <a:t>Сниффинг</a:t>
            </a:r>
            <a:r>
              <a:rPr dirty="0"/>
              <a:t> </a:t>
            </a:r>
            <a:r>
              <a:rPr dirty="0" err="1"/>
              <a:t>трафика</a:t>
            </a:r>
            <a:r>
              <a:rPr dirty="0"/>
              <a:t>)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:</a:t>
            </a:r>
            <a:r>
              <a:rPr lang="en-US" dirty="0"/>
              <a:t> </a:t>
            </a:r>
            <a:r>
              <a:rPr dirty="0"/>
              <a:t> 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, </a:t>
            </a:r>
            <a:r>
              <a:rPr dirty="0" err="1"/>
              <a:t>проверьте</a:t>
            </a:r>
            <a:r>
              <a:rPr dirty="0"/>
              <a:t>, </a:t>
            </a:r>
            <a:r>
              <a:rPr dirty="0" err="1"/>
              <a:t>доходят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широковещательные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с </a:t>
            </a:r>
            <a:r>
              <a:rPr dirty="0" err="1"/>
              <a:t>помощью</a:t>
            </a:r>
            <a:r>
              <a:rPr dirty="0"/>
              <a:t> </a:t>
            </a:r>
            <a:r>
              <a:rPr dirty="0" err="1"/>
              <a:t>tcpdump</a:t>
            </a:r>
            <a:r>
              <a:rPr dirty="0"/>
              <a:t> (</a:t>
            </a:r>
            <a:r>
              <a:rPr dirty="0" err="1"/>
              <a:t>порты</a:t>
            </a:r>
            <a:r>
              <a:rPr dirty="0"/>
              <a:t> UDP 67 и 68):</a:t>
            </a:r>
          </a:p>
          <a:p>
            <a:pPr>
              <a:defRPr sz="3600"/>
            </a:pP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tcpdump</a:t>
            </a:r>
            <a:r>
              <a:rPr dirty="0">
                <a:solidFill>
                  <a:srgbClr val="002060"/>
                </a:solidFill>
              </a:rPr>
              <a:t> -</a:t>
            </a:r>
            <a:r>
              <a:rPr dirty="0" err="1">
                <a:solidFill>
                  <a:srgbClr val="002060"/>
                </a:solidFill>
              </a:rPr>
              <a:t>ni</a:t>
            </a:r>
            <a:r>
              <a:rPr dirty="0">
                <a:solidFill>
                  <a:srgbClr val="002060"/>
                </a:solidFill>
              </a:rPr>
              <a:t> ens33 port 67 or port 68 -</a:t>
            </a:r>
            <a:r>
              <a:rPr dirty="0" err="1">
                <a:solidFill>
                  <a:srgbClr val="002060"/>
                </a:solidFill>
              </a:rPr>
              <a:t>vv</a:t>
            </a:r>
            <a:endParaRPr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654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алгоритм диагностики DHCP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4067BD-0D8F-240B-6C1A-9E7082FEB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2600" y="182880"/>
            <a:ext cx="7688900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Итоги: Зачем предприятию служба DHCP?</a:t>
            </a:r>
            <a:endParaRPr lang="en-US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26761" cy="57607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Полная автоматизация: Избавляет администратора от ручной настройки IP-адресов на сотнях и тысячах рабочих станций.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Исключение конфликтов (Human </a:t>
            </a:r>
            <a:r>
              <a:rPr lang="ru-RU" dirty="0" err="1"/>
              <a:t>Error</a:t>
            </a:r>
            <a:r>
              <a:rPr lang="ru-RU" dirty="0"/>
              <a:t>): Сервер строго контролирует выдачу адресов, полностью исключая дублирование IP в сети и опечатки в масках или шлюзах.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Эффективность адресного пространства: Благодаря механизму аренды (</a:t>
            </a:r>
            <a:r>
              <a:rPr lang="ru-RU" dirty="0" err="1"/>
              <a:t>Lease</a:t>
            </a:r>
            <a:r>
              <a:rPr lang="ru-RU" dirty="0"/>
              <a:t>), временно отключившиеся устройства освобождают свои IP-адреса для новых клиентов. Это критически важно в средах с высокой ротацией (</a:t>
            </a:r>
            <a:r>
              <a:rPr lang="ru-RU" dirty="0" err="1"/>
              <a:t>Wi</a:t>
            </a:r>
            <a:r>
              <a:rPr lang="ru-RU" dirty="0"/>
              <a:t>-Fi зоны, гостевые сети).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Централизация изменений: Если в компании меняется адрес DNS-сервера или шлюза, администратор меняет одну строчку в `</a:t>
            </a:r>
            <a:r>
              <a:rPr lang="ru-RU" dirty="0" err="1"/>
              <a:t>dhcpd.conf</a:t>
            </a:r>
            <a:r>
              <a:rPr lang="ru-RU" dirty="0"/>
              <a:t>` на сервере, а не обходит все компьютеры в офисе вручную.</a:t>
            </a:r>
            <a:endParaRPr lang="en-US" dirty="0"/>
          </a:p>
          <a:p>
            <a:pPr>
              <a:defRPr sz="3600"/>
            </a:pP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A0C9F-678D-C12F-7FBD-9A3ADA236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967D9C-434E-2217-8AF2-6CDD05D79212}"/>
              </a:ext>
            </a:extLst>
          </p:cNvPr>
          <p:cNvSpPr txBox="1"/>
          <p:nvPr/>
        </p:nvSpPr>
        <p:spPr>
          <a:xfrm>
            <a:off x="3906927" y="182880"/>
            <a:ext cx="434766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К</a:t>
            </a:r>
            <a:r>
              <a:rPr dirty="0" err="1"/>
              <a:t>онтрольные</a:t>
            </a:r>
            <a:r>
              <a:rPr dirty="0"/>
              <a:t> </a:t>
            </a:r>
            <a:r>
              <a:rPr dirty="0" err="1"/>
              <a:t>вопросы</a:t>
            </a:r>
            <a:r>
              <a:rPr lang="ru-RU" dirty="0"/>
              <a:t>: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58944-02E8-6446-CBE4-79E1FB165402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dirty="0" err="1"/>
              <a:t>Опишите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этапа</a:t>
            </a:r>
            <a:r>
              <a:rPr dirty="0"/>
              <a:t> </a:t>
            </a:r>
            <a:r>
              <a:rPr dirty="0" err="1"/>
              <a:t>транзакции</a:t>
            </a:r>
            <a:r>
              <a:rPr dirty="0"/>
              <a:t> DORA.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происходит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этапе</a:t>
            </a:r>
            <a:r>
              <a:rPr dirty="0"/>
              <a:t> Request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Ack?</a:t>
            </a:r>
          </a:p>
          <a:p>
            <a:pPr>
              <a:defRPr sz="3600"/>
            </a:pPr>
            <a:r>
              <a:rPr dirty="0"/>
              <a:t>2. В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разница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резервированием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DHCP-</a:t>
            </a:r>
            <a:r>
              <a:rPr dirty="0" err="1"/>
              <a:t>сервере</a:t>
            </a:r>
            <a:r>
              <a:rPr dirty="0"/>
              <a:t> и </a:t>
            </a:r>
            <a:r>
              <a:rPr dirty="0" err="1"/>
              <a:t>статической</a:t>
            </a:r>
            <a:r>
              <a:rPr dirty="0"/>
              <a:t> </a:t>
            </a:r>
            <a:r>
              <a:rPr dirty="0" err="1"/>
              <a:t>конфигурацией</a:t>
            </a:r>
            <a:r>
              <a:rPr dirty="0"/>
              <a:t> IP-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непосредственно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самом</a:t>
            </a:r>
            <a:r>
              <a:rPr dirty="0"/>
              <a:t> </a:t>
            </a:r>
            <a:r>
              <a:rPr dirty="0" err="1"/>
              <a:t>хосте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3. </a:t>
            </a: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любых</a:t>
            </a:r>
            <a:r>
              <a:rPr dirty="0"/>
              <a:t> </a:t>
            </a:r>
            <a:r>
              <a:rPr dirty="0" err="1"/>
              <a:t>изменений</a:t>
            </a:r>
            <a:r>
              <a:rPr dirty="0"/>
              <a:t> в </a:t>
            </a:r>
            <a:r>
              <a:rPr dirty="0" err="1"/>
              <a:t>файле</a:t>
            </a:r>
            <a:r>
              <a:rPr dirty="0"/>
              <a:t> `</a:t>
            </a:r>
            <a:r>
              <a:rPr dirty="0" err="1"/>
              <a:t>dhcpd.conf</a:t>
            </a:r>
            <a:r>
              <a:rPr dirty="0"/>
              <a:t>`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обновляет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клиентах</a:t>
            </a:r>
            <a:r>
              <a:rPr dirty="0"/>
              <a:t> </a:t>
            </a:r>
            <a:r>
              <a:rPr dirty="0" err="1"/>
              <a:t>мгновенно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4. С </a:t>
            </a:r>
            <a:r>
              <a:rPr dirty="0" err="1"/>
              <a:t>помощью</a:t>
            </a:r>
            <a:r>
              <a:rPr dirty="0"/>
              <a:t> </a:t>
            </a:r>
            <a:r>
              <a:rPr dirty="0" err="1"/>
              <a:t>каких</a:t>
            </a:r>
            <a:r>
              <a:rPr dirty="0"/>
              <a:t> </a:t>
            </a:r>
            <a:r>
              <a:rPr dirty="0" err="1"/>
              <a:t>утилит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перехватить</a:t>
            </a:r>
            <a:r>
              <a:rPr dirty="0"/>
              <a:t> и </a:t>
            </a:r>
            <a:r>
              <a:rPr dirty="0" err="1"/>
              <a:t>проанализировать</a:t>
            </a:r>
            <a:r>
              <a:rPr dirty="0"/>
              <a:t> DHCP-</a:t>
            </a:r>
            <a:r>
              <a:rPr dirty="0" err="1"/>
              <a:t>трафик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сетевом</a:t>
            </a:r>
            <a:r>
              <a:rPr dirty="0"/>
              <a:t> </a:t>
            </a:r>
            <a:r>
              <a:rPr dirty="0" err="1"/>
              <a:t>интерфейсе</a:t>
            </a:r>
            <a:r>
              <a:rPr dirty="0"/>
              <a:t>?</a:t>
            </a:r>
          </a:p>
          <a:p>
            <a:pPr>
              <a:defRPr sz="3600"/>
            </a:pPr>
            <a:r>
              <a:rPr dirty="0"/>
              <a:t>5.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произойдет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в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физически</a:t>
            </a:r>
            <a:r>
              <a:rPr dirty="0"/>
              <a:t> </a:t>
            </a:r>
            <a:r>
              <a:rPr dirty="0" err="1"/>
              <a:t>окажутся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активных</a:t>
            </a:r>
            <a:r>
              <a:rPr dirty="0"/>
              <a:t> DHCP-</a:t>
            </a:r>
            <a:r>
              <a:rPr dirty="0" err="1"/>
              <a:t>сервера</a:t>
            </a:r>
            <a:r>
              <a:rPr dirty="0"/>
              <a:t> с </a:t>
            </a:r>
            <a:r>
              <a:rPr dirty="0" err="1"/>
              <a:t>разными</a:t>
            </a:r>
            <a:r>
              <a:rPr dirty="0"/>
              <a:t> </a:t>
            </a:r>
            <a:r>
              <a:rPr dirty="0" err="1"/>
              <a:t>пулами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47832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1547</Words>
  <Application>Microsoft Office PowerPoint</Application>
  <PresentationFormat>Широкоэкранный</PresentationFormat>
  <Paragraphs>108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2026-07-16T12:24:26Z</dcterms:modified>
  <cp:category/>
</cp:coreProperties>
</file>