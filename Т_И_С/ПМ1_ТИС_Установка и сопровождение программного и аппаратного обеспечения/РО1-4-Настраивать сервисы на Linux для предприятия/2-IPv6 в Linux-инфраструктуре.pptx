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312" r:id="rId8"/>
    <p:sldId id="313" r:id="rId9"/>
    <p:sldId id="263" r:id="rId10"/>
    <p:sldId id="264" r:id="rId11"/>
    <p:sldId id="265" r:id="rId12"/>
    <p:sldId id="302" r:id="rId13"/>
    <p:sldId id="303" r:id="rId14"/>
    <p:sldId id="304" r:id="rId15"/>
    <p:sldId id="305" r:id="rId16"/>
    <p:sldId id="301" r:id="rId17"/>
    <p:sldId id="266" r:id="rId18"/>
    <p:sldId id="314" r:id="rId19"/>
    <p:sldId id="267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274" r:id="rId31"/>
    <p:sldId id="275" r:id="rId32"/>
    <p:sldId id="276" r:id="rId33"/>
    <p:sldId id="306" r:id="rId34"/>
    <p:sldId id="307" r:id="rId35"/>
    <p:sldId id="308" r:id="rId36"/>
    <p:sldId id="309" r:id="rId37"/>
    <p:sldId id="310" r:id="rId38"/>
    <p:sldId id="311" r:id="rId39"/>
    <p:sldId id="340" r:id="rId40"/>
    <p:sldId id="341" r:id="rId41"/>
    <p:sldId id="342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281" r:id="rId51"/>
    <p:sldId id="351" r:id="rId52"/>
    <p:sldId id="352" r:id="rId53"/>
    <p:sldId id="353" r:id="rId54"/>
    <p:sldId id="354" r:id="rId55"/>
    <p:sldId id="355" r:id="rId56"/>
    <p:sldId id="356" r:id="rId57"/>
    <p:sldId id="357" r:id="rId58"/>
    <p:sldId id="358" r:id="rId59"/>
    <p:sldId id="359" r:id="rId60"/>
    <p:sldId id="360" r:id="rId61"/>
    <p:sldId id="361" r:id="rId62"/>
    <p:sldId id="289" r:id="rId63"/>
    <p:sldId id="290" r:id="rId64"/>
    <p:sldId id="291" r:id="rId65"/>
    <p:sldId id="292" r:id="rId66"/>
    <p:sldId id="293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19" r:id="rId75"/>
    <p:sldId id="316" r:id="rId76"/>
    <p:sldId id="317" r:id="rId77"/>
    <p:sldId id="318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310896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2. IPv6 в Linux-</a:t>
            </a:r>
            <a:r>
              <a:rPr dirty="0" err="1"/>
              <a:t>инфраструктуре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575187"/>
            <a:ext cx="10972800" cy="16724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IPv6 в современной инфраструктуре.</a:t>
            </a:r>
          </a:p>
          <a:p>
            <a:pPr>
              <a:defRPr sz="3600"/>
            </a:pPr>
            <a:r>
              <a:t>Объяснять IPv6-адрес, prefix, link-local и global/ULA адреса.</a:t>
            </a:r>
          </a:p>
          <a:p>
            <a:pPr>
              <a:defRPr sz="3600"/>
            </a:pPr>
            <a:r>
              <a:t>Проверять маршрутизацию, DNS AAAA и доступность сервиса по IPv6.</a:t>
            </a:r>
          </a:p>
          <a:p>
            <a:pPr>
              <a:defRPr sz="3600"/>
            </a:pPr>
            <a:r>
              <a:t>Распознавать типовые ошибки IPv6-настройки.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Зачем</a:t>
            </a:r>
            <a:r>
              <a:rPr dirty="0"/>
              <a:t> IPv6 </a:t>
            </a:r>
            <a:r>
              <a:rPr dirty="0" err="1"/>
              <a:t>нужен</a:t>
            </a:r>
            <a:r>
              <a:rPr dirty="0"/>
              <a:t> в </a:t>
            </a:r>
            <a:r>
              <a:rPr dirty="0" err="1"/>
              <a:t>современной</a:t>
            </a:r>
            <a:r>
              <a:rPr dirty="0"/>
              <a:t> </a:t>
            </a:r>
            <a:r>
              <a:rPr dirty="0" err="1"/>
              <a:t>инфраструктуре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Формат</a:t>
            </a:r>
            <a:r>
              <a:rPr dirty="0"/>
              <a:t> IPv6-адреса и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сокращенной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3. Prefix в IPv6 и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IPv4-маски.</a:t>
            </a:r>
          </a:p>
          <a:p>
            <a:pPr>
              <a:defRPr sz="3600"/>
            </a:pPr>
            <a:r>
              <a:rPr dirty="0"/>
              <a:t>4. Link-local, global unicast и unique local IPv6-адреса.</a:t>
            </a:r>
          </a:p>
          <a:p>
            <a:pPr>
              <a:defRPr sz="3600"/>
            </a:pPr>
            <a:r>
              <a:rPr dirty="0"/>
              <a:t>5. SLAAC, </a:t>
            </a:r>
            <a:r>
              <a:rPr dirty="0" err="1"/>
              <a:t>статическая</a:t>
            </a:r>
            <a:r>
              <a:rPr dirty="0"/>
              <a:t> IPv6-адресация и router advertisement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6. IPv6 gateway и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 Linux.</a:t>
            </a:r>
          </a:p>
          <a:p>
            <a:pPr>
              <a:defRPr sz="3600"/>
            </a:pPr>
            <a:r>
              <a:rPr dirty="0"/>
              <a:t>7. DNS AAAA-</a:t>
            </a:r>
            <a:r>
              <a:rPr dirty="0" err="1"/>
              <a:t>записи</a:t>
            </a:r>
            <a:r>
              <a:rPr dirty="0"/>
              <a:t> и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имен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IPv6.</a:t>
            </a:r>
          </a:p>
          <a:p>
            <a:pPr>
              <a:defRPr sz="3600"/>
            </a:pPr>
            <a:r>
              <a:rPr dirty="0"/>
              <a:t>8. </a:t>
            </a:r>
            <a:r>
              <a:rPr dirty="0" err="1"/>
              <a:t>Диагностика</a:t>
            </a:r>
            <a:r>
              <a:rPr dirty="0"/>
              <a:t> IPv6: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, </a:t>
            </a:r>
            <a:r>
              <a:rPr dirty="0" err="1"/>
              <a:t>ip</a:t>
            </a:r>
            <a:r>
              <a:rPr dirty="0"/>
              <a:t> -6 route, ping -6, curl -6, firewall.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Назначение IPv6 в современной сетевой инфраструктуре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indent="354013">
              <a:defRPr sz="3600"/>
            </a:pPr>
            <a:r>
              <a:rPr dirty="0"/>
              <a:t>IPv6 - Internet Protocol version 6, </a:t>
            </a:r>
            <a:r>
              <a:rPr dirty="0" err="1"/>
              <a:t>новая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протокола</a:t>
            </a:r>
            <a:r>
              <a:rPr dirty="0"/>
              <a:t> IP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 и </a:t>
            </a:r>
            <a:r>
              <a:rPr dirty="0" err="1"/>
              <a:t>маршрутизации</a:t>
            </a:r>
            <a:r>
              <a:rPr dirty="0"/>
              <a:t> </a:t>
            </a:r>
            <a:r>
              <a:rPr dirty="0" err="1"/>
              <a:t>пакетов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появления</a:t>
            </a:r>
            <a:r>
              <a:rPr dirty="0"/>
              <a:t> IPv6 - </a:t>
            </a:r>
            <a:r>
              <a:rPr dirty="0" err="1"/>
              <a:t>нехватка</a:t>
            </a:r>
            <a:r>
              <a:rPr dirty="0"/>
              <a:t> </a:t>
            </a:r>
            <a:r>
              <a:rPr dirty="0" err="1"/>
              <a:t>публичных</a:t>
            </a:r>
            <a:r>
              <a:rPr dirty="0"/>
              <a:t> IPv4-адресов и </a:t>
            </a:r>
            <a:r>
              <a:rPr dirty="0" err="1"/>
              <a:t>рост</a:t>
            </a:r>
            <a:r>
              <a:rPr dirty="0"/>
              <a:t> </a:t>
            </a:r>
            <a:r>
              <a:rPr dirty="0" err="1"/>
              <a:t>количества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IPv6 </a:t>
            </a:r>
            <a:r>
              <a:rPr dirty="0" err="1"/>
              <a:t>важен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теоретически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включен</a:t>
            </a:r>
            <a:r>
              <a:rPr dirty="0"/>
              <a:t> в ОС, </a:t>
            </a:r>
            <a:r>
              <a:rPr dirty="0" err="1"/>
              <a:t>облаках</a:t>
            </a:r>
            <a:r>
              <a:rPr dirty="0"/>
              <a:t>, </a:t>
            </a:r>
            <a:r>
              <a:rPr dirty="0" err="1"/>
              <a:t>провайдерах</a:t>
            </a:r>
            <a:r>
              <a:rPr dirty="0"/>
              <a:t>, </a:t>
            </a:r>
            <a:r>
              <a:rPr dirty="0" err="1"/>
              <a:t>мобильных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 и </a:t>
            </a:r>
            <a:r>
              <a:rPr dirty="0" err="1"/>
              <a:t>корпоративных</a:t>
            </a:r>
            <a:r>
              <a:rPr dirty="0"/>
              <a:t> </a:t>
            </a:r>
            <a:r>
              <a:rPr dirty="0" err="1"/>
              <a:t>сервисах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IPv6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контролировать</a:t>
            </a:r>
            <a:r>
              <a:rPr dirty="0"/>
              <a:t>, в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появиться</a:t>
            </a:r>
            <a:r>
              <a:rPr dirty="0"/>
              <a:t> </a:t>
            </a:r>
            <a:r>
              <a:rPr dirty="0" err="1"/>
              <a:t>второй</a:t>
            </a:r>
            <a:r>
              <a:rPr dirty="0"/>
              <a:t> </a:t>
            </a:r>
            <a:r>
              <a:rPr dirty="0" err="1"/>
              <a:t>неучтенный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IPv6 не заменяет всю логику сети, но меняет адресацию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Ethernet, VLAN, DNS, firewall и </a:t>
            </a:r>
            <a:r>
              <a:rPr dirty="0" err="1"/>
              <a:t>маршрутизация</a:t>
            </a:r>
            <a:r>
              <a:rPr dirty="0"/>
              <a:t> </a:t>
            </a:r>
            <a:r>
              <a:rPr dirty="0" err="1"/>
              <a:t>остаются</a:t>
            </a:r>
            <a:r>
              <a:rPr dirty="0"/>
              <a:t> </a:t>
            </a:r>
            <a:r>
              <a:rPr dirty="0" err="1"/>
              <a:t>важными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Меняется</a:t>
            </a:r>
            <a:r>
              <a:rPr dirty="0"/>
              <a:t> </a:t>
            </a:r>
            <a:r>
              <a:rPr dirty="0" err="1"/>
              <a:t>размер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: IPv6 </a:t>
            </a:r>
            <a:r>
              <a:rPr dirty="0" err="1"/>
              <a:t>использует</a:t>
            </a:r>
            <a:r>
              <a:rPr dirty="0"/>
              <a:t> 128 </a:t>
            </a:r>
            <a:r>
              <a:rPr dirty="0" err="1"/>
              <a:t>бит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32 </a:t>
            </a:r>
            <a:r>
              <a:rPr dirty="0" err="1"/>
              <a:t>бит</a:t>
            </a:r>
            <a:r>
              <a:rPr dirty="0"/>
              <a:t> в IPv4.</a:t>
            </a:r>
          </a:p>
          <a:p>
            <a:pPr indent="354013">
              <a:defRPr sz="3600"/>
            </a:pPr>
            <a:r>
              <a:rPr dirty="0"/>
              <a:t>В IPv6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привычную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маски</a:t>
            </a:r>
            <a:r>
              <a:rPr dirty="0"/>
              <a:t> 255.255.255.0.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с prefix, </a:t>
            </a:r>
            <a:r>
              <a:rPr dirty="0" err="1"/>
              <a:t>типами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и </a:t>
            </a:r>
            <a:r>
              <a:rPr dirty="0" err="1"/>
              <a:t>отдельной</a:t>
            </a:r>
            <a:r>
              <a:rPr dirty="0"/>
              <a:t> IPv6-таблицей </a:t>
            </a:r>
            <a:r>
              <a:rPr dirty="0" err="1"/>
              <a:t>маршрутов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Где IPv6 встречается в предприятии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У </a:t>
            </a:r>
            <a:r>
              <a:rPr dirty="0" err="1"/>
              <a:t>провайдера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выдан</a:t>
            </a:r>
            <a:r>
              <a:rPr dirty="0"/>
              <a:t> IPv6-prefix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Серверы</a:t>
            </a:r>
            <a:r>
              <a:rPr dirty="0"/>
              <a:t>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публиковаться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IPv4 и IPv6: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называется</a:t>
            </a:r>
            <a:r>
              <a:rPr dirty="0"/>
              <a:t> dual stack.</a:t>
            </a:r>
          </a:p>
          <a:p>
            <a:pPr indent="354013">
              <a:defRPr sz="3600"/>
            </a:pPr>
            <a:r>
              <a:rPr dirty="0" err="1"/>
              <a:t>Клиенты</a:t>
            </a:r>
            <a:r>
              <a:rPr dirty="0"/>
              <a:t> Windows и Linux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получают</a:t>
            </a:r>
            <a:r>
              <a:rPr dirty="0"/>
              <a:t> link-local IPv6-адрес </a:t>
            </a:r>
            <a:r>
              <a:rPr dirty="0" err="1"/>
              <a:t>автоматически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DNS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возвращать</a:t>
            </a:r>
            <a:r>
              <a:rPr dirty="0"/>
              <a:t> AAAA-</a:t>
            </a:r>
            <a:r>
              <a:rPr dirty="0" err="1"/>
              <a:t>запись</a:t>
            </a:r>
            <a:r>
              <a:rPr dirty="0"/>
              <a:t>, и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попробует</a:t>
            </a:r>
            <a:r>
              <a:rPr dirty="0"/>
              <a:t> </a:t>
            </a:r>
            <a:r>
              <a:rPr dirty="0" err="1"/>
              <a:t>подключиться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95470" y="182880"/>
            <a:ext cx="657058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системный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endParaRPr lang="en-US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отключать</a:t>
            </a:r>
            <a:r>
              <a:rPr dirty="0"/>
              <a:t>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5869" y="1463040"/>
            <a:ext cx="1114978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Отключение</a:t>
            </a:r>
            <a:r>
              <a:rPr dirty="0"/>
              <a:t> IPv6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сломать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рассчитывают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dual stack.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Некоторые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IPv6 loopback ::1 </a:t>
            </a:r>
            <a:r>
              <a:rPr dirty="0" err="1"/>
              <a:t>или</a:t>
            </a:r>
            <a:r>
              <a:rPr dirty="0"/>
              <a:t> link-local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логики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Правильный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-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IPv6 </a:t>
            </a:r>
            <a:r>
              <a:rPr dirty="0" err="1"/>
              <a:t>нужен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запрещен</a:t>
            </a:r>
            <a:r>
              <a:rPr dirty="0"/>
              <a:t> </a:t>
            </a:r>
            <a:r>
              <a:rPr dirty="0" err="1"/>
              <a:t>политикой</a:t>
            </a:r>
            <a:r>
              <a:rPr dirty="0"/>
              <a:t> 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фильтруется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учебной</a:t>
            </a:r>
            <a:r>
              <a:rPr dirty="0"/>
              <a:t> </a:t>
            </a:r>
            <a:r>
              <a:rPr dirty="0" err="1"/>
              <a:t>инфраструктуре</a:t>
            </a:r>
            <a:r>
              <a:rPr dirty="0"/>
              <a:t> IPv6 </a:t>
            </a:r>
            <a:r>
              <a:rPr dirty="0" err="1"/>
              <a:t>полезен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и </a:t>
            </a:r>
            <a:r>
              <a:rPr dirty="0" err="1"/>
              <a:t>диагностики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IPv6 и документация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документации</a:t>
            </a:r>
            <a:r>
              <a:rPr dirty="0"/>
              <a:t> </a:t>
            </a:r>
            <a:r>
              <a:rPr dirty="0" err="1"/>
              <a:t>фиксируют</a:t>
            </a:r>
            <a:r>
              <a:rPr dirty="0"/>
              <a:t> prefix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адрес</a:t>
            </a:r>
            <a:r>
              <a:rPr dirty="0"/>
              <a:t> gateway,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и DNS-</a:t>
            </a:r>
            <a:r>
              <a:rPr dirty="0" err="1"/>
              <a:t>имена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желательно</a:t>
            </a:r>
            <a:r>
              <a:rPr dirty="0"/>
              <a:t> </a:t>
            </a:r>
            <a:r>
              <a:rPr dirty="0" err="1"/>
              <a:t>назначать</a:t>
            </a:r>
            <a:r>
              <a:rPr dirty="0"/>
              <a:t> </a:t>
            </a:r>
            <a:r>
              <a:rPr dirty="0" err="1"/>
              <a:t>понятные</a:t>
            </a:r>
            <a:r>
              <a:rPr dirty="0"/>
              <a:t> </a:t>
            </a:r>
            <a:r>
              <a:rPr dirty="0" err="1"/>
              <a:t>постоянные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2001:db8:10:20::10/64.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SLAAC </a:t>
            </a:r>
            <a:r>
              <a:rPr dirty="0" err="1"/>
              <a:t>или</a:t>
            </a:r>
            <a:r>
              <a:rPr dirty="0"/>
              <a:t> DHCPv6 в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документировать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IPv4,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и </a:t>
            </a:r>
            <a:r>
              <a:rPr dirty="0" err="1"/>
              <a:t>по</a:t>
            </a:r>
            <a:r>
              <a:rPr dirty="0"/>
              <a:t> IPv6.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роль</a:t>
            </a:r>
            <a:r>
              <a:rPr dirty="0"/>
              <a:t> IPv6 в </a:t>
            </a:r>
            <a:r>
              <a:rPr dirty="0" err="1"/>
              <a:t>инфраструктуре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10DA04-39D2-6DD7-7071-6D64E3BE8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Формат IPv6-адреса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IPv6-адрес состоит из 128 бит и записывается в виде восьми групп шестнадцатеричных чисел.</a:t>
            </a:r>
          </a:p>
          <a:p>
            <a:pPr indent="354013">
              <a:defRPr sz="3600"/>
            </a:pPr>
            <a:r>
              <a:rPr lang="ru-RU" dirty="0"/>
              <a:t>Группы разделяются двоеточиями, например 2001:0db8:0010:0020:0000:0000:0000:0010.</a:t>
            </a:r>
          </a:p>
          <a:p>
            <a:pPr indent="354013">
              <a:defRPr sz="3600"/>
            </a:pPr>
            <a:r>
              <a:rPr lang="ru-RU" dirty="0"/>
              <a:t>Шестнадцатеричная запись использует цифры 0-9 и буквы a-f.</a:t>
            </a:r>
          </a:p>
          <a:p>
            <a:pPr indent="354013">
              <a:defRPr sz="3600"/>
            </a:pPr>
            <a:r>
              <a:rPr lang="ru-RU" dirty="0"/>
              <a:t>Администратор должен уметь читать адрес, не путая его с портом или MAC-адресом.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Три основные системы счисления системного администратора: </a:t>
            </a:r>
          </a:p>
          <a:p>
            <a:pPr>
              <a:defRPr sz="3600"/>
            </a:pP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двоичная (</a:t>
            </a:r>
            <a:r>
              <a:rPr lang="ru-RU" dirty="0" err="1"/>
              <a:t>Binary</a:t>
            </a:r>
            <a:r>
              <a:rPr lang="ru-RU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десятичная (</a:t>
            </a:r>
            <a:r>
              <a:rPr lang="ru-RU" dirty="0" err="1"/>
              <a:t>Decimal</a:t>
            </a:r>
            <a:r>
              <a:rPr lang="ru-RU" dirty="0"/>
              <a:t>)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шестнадцатеричная (</a:t>
            </a:r>
            <a:r>
              <a:rPr lang="ru-RU" dirty="0" err="1"/>
              <a:t>Hexadecimal</a:t>
            </a:r>
            <a:r>
              <a:rPr lang="ru-RU" dirty="0"/>
              <a:t>).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4DF0D-2188-0456-6423-7F962555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0A464B-E0C1-94CB-B5D4-953DB0BB4443}"/>
              </a:ext>
            </a:extLst>
          </p:cNvPr>
          <p:cNvSpPr txBox="1"/>
          <p:nvPr/>
        </p:nvSpPr>
        <p:spPr>
          <a:xfrm>
            <a:off x="2673250" y="218276"/>
            <a:ext cx="6540700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Десятичная система (</a:t>
            </a:r>
            <a:r>
              <a:rPr lang="ru-RU" dirty="0" err="1"/>
              <a:t>Decimal</a:t>
            </a:r>
            <a:r>
              <a:rPr lang="ru-RU" dirty="0"/>
              <a:t> / DEC)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1DA18-23B9-6A05-2AB1-9F74CD1EF673}"/>
              </a:ext>
            </a:extLst>
          </p:cNvPr>
          <p:cNvSpPr txBox="1"/>
          <p:nvPr/>
        </p:nvSpPr>
        <p:spPr>
          <a:xfrm>
            <a:off x="457200" y="914400"/>
            <a:ext cx="11488994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lang="ru-RU" dirty="0"/>
              <a:t>Это привычная нам повседневная система счисления. В сетевых технологиях она используется для удобства восприятия человеком (например, IPv4-адреса записываются именно в ней).</a:t>
            </a:r>
          </a:p>
          <a:p>
            <a:pPr>
              <a:defRPr sz="3600"/>
            </a:pPr>
            <a:r>
              <a:rPr lang="ru-RU" dirty="0"/>
              <a:t>	Основание: 10 (используются десять цифр: от 0 до 9).</a:t>
            </a:r>
          </a:p>
          <a:p>
            <a:pPr>
              <a:defRPr sz="3600"/>
            </a:pPr>
            <a:r>
              <a:rPr lang="ru-RU" dirty="0"/>
              <a:t>	Где применяется сисадмином: * Чтение и настройка IP-адресов в традиционном формате (например, 192.168.1.1).</a:t>
            </a:r>
          </a:p>
          <a:p>
            <a:pPr>
              <a:defRPr sz="3600"/>
            </a:pPr>
            <a:r>
              <a:rPr lang="ru-RU" dirty="0"/>
              <a:t>	Указание масок подсетей в CIDR-нотации (например, /24).</a:t>
            </a:r>
          </a:p>
          <a:p>
            <a:pPr>
              <a:defRPr sz="3600"/>
            </a:pPr>
            <a:r>
              <a:rPr lang="ru-RU" dirty="0"/>
              <a:t>	Суть: Каждая позиция цифры в числе — это степень десятки.</a:t>
            </a:r>
          </a:p>
          <a:p>
            <a:pPr>
              <a:defRPr sz="3600"/>
            </a:pPr>
            <a:r>
              <a:rPr lang="ru-RU" dirty="0"/>
              <a:t>	Пример: 254=2⋅10^2+5⋅10^1+4⋅10^0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3928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5584-650D-F174-95E5-8887DD4EF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327798-FA7B-5538-C8A8-12AB0F58F293}"/>
              </a:ext>
            </a:extLst>
          </p:cNvPr>
          <p:cNvSpPr txBox="1"/>
          <p:nvPr/>
        </p:nvSpPr>
        <p:spPr>
          <a:xfrm>
            <a:off x="2647095" y="218276"/>
            <a:ext cx="5885906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Двоичная система (</a:t>
            </a:r>
            <a:r>
              <a:rPr lang="ru-RU" dirty="0" err="1"/>
              <a:t>Binary</a:t>
            </a:r>
            <a:r>
              <a:rPr lang="ru-RU" dirty="0"/>
              <a:t> / BIN)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9CDFE-D692-EF63-8C94-C7194FBB8929}"/>
              </a:ext>
            </a:extLst>
          </p:cNvPr>
          <p:cNvSpPr txBox="1"/>
          <p:nvPr/>
        </p:nvSpPr>
        <p:spPr>
          <a:xfrm>
            <a:off x="457200" y="914400"/>
            <a:ext cx="11341510" cy="5725324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lang="ru-RU" dirty="0"/>
              <a:t>Язык, на котором «думает» сетевое оборудование и компьютеры. Для сисадмина двоичная система критически важна при работе с IP-сетями.</a:t>
            </a:r>
          </a:p>
          <a:p>
            <a:pPr indent="354013">
              <a:defRPr sz="3600"/>
            </a:pPr>
            <a:r>
              <a:rPr lang="ru-RU" dirty="0"/>
              <a:t>Основание: 2 (используются только две цифры: 0 и 1).</a:t>
            </a:r>
          </a:p>
          <a:p>
            <a:pPr indent="354013">
              <a:defRPr sz="3600"/>
            </a:pPr>
            <a:r>
              <a:rPr lang="ru-RU" dirty="0"/>
              <a:t>Где применяется сисадмином: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Расчет IP-подсетей: Понимание границ подсетей, определение адреса сети и широковещательного (</a:t>
            </a:r>
            <a:r>
              <a:rPr lang="ru-RU" dirty="0" err="1"/>
              <a:t>broadcast</a:t>
            </a:r>
            <a:r>
              <a:rPr lang="ru-RU" dirty="0"/>
              <a:t>) адреса.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Маски подсетей: Маска (например, 255.255.255.0) в двоичном виде представляет собой непрерывный ряд единиц, за которым следуют нули (11111111.11111111.11111111.00000000).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Списки контроля доступа (ACL): Работа с инверсными масками (</a:t>
            </a:r>
            <a:r>
              <a:rPr lang="ru-RU" dirty="0" err="1"/>
              <a:t>wildcard</a:t>
            </a:r>
            <a:r>
              <a:rPr lang="ru-RU" dirty="0"/>
              <a:t> </a:t>
            </a:r>
            <a:r>
              <a:rPr lang="ru-RU" dirty="0" err="1"/>
              <a:t>masks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dirty="0"/>
              <a:t>Базовые веса разрядов (для 1 байта / октета):</a:t>
            </a:r>
          </a:p>
          <a:p>
            <a:pPr indent="354013">
              <a:defRPr sz="3600"/>
            </a:pPr>
            <a:r>
              <a:rPr lang="ru-RU" dirty="0"/>
              <a:t>Чтобы быстро переводить числа в уме, достаточно помнить «веса» восьми двоичных разрядов:</a:t>
            </a:r>
          </a:p>
          <a:p>
            <a:pPr indent="354013">
              <a:defRPr sz="3600"/>
            </a:pPr>
            <a:r>
              <a:rPr lang="ru-RU" dirty="0"/>
              <a:t>Разряд (справа налево)	8-й	7-й	6-й	5-й	4-й	3-й	2-й	1-й</a:t>
            </a:r>
          </a:p>
          <a:p>
            <a:pPr indent="354013">
              <a:defRPr sz="3600"/>
            </a:pPr>
            <a:r>
              <a:rPr lang="ru-RU" dirty="0"/>
              <a:t>Вес (степень двойки)	128 (2^7)	64 (2^6)	32 (2^5)	16 (2^4)	8 (2^3)	4 (2^2)	2 (2^1)	1 (2^0)</a:t>
            </a:r>
          </a:p>
          <a:p>
            <a:pPr indent="354013">
              <a:defRPr sz="3600"/>
            </a:pPr>
            <a:r>
              <a:rPr lang="ru-RU" dirty="0"/>
              <a:t>Пример: Двоичное число 11000000 — это 128+64=192 в десятичной системе.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175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0A34-4F20-3290-A9DC-B8CFE841F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3B9ABE-0F05-3A13-8E5F-14D30F43D5F2}"/>
              </a:ext>
            </a:extLst>
          </p:cNvPr>
          <p:cNvSpPr txBox="1"/>
          <p:nvPr/>
        </p:nvSpPr>
        <p:spPr>
          <a:xfrm>
            <a:off x="1629104" y="192911"/>
            <a:ext cx="8933792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Шестнадцатеричная система (</a:t>
            </a:r>
            <a:r>
              <a:rPr lang="ru-RU" dirty="0" err="1"/>
              <a:t>Hexadecimal</a:t>
            </a:r>
            <a:r>
              <a:rPr lang="ru-RU" dirty="0"/>
              <a:t> / HEX)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67832-2452-0DDE-7107-E6B8459D67DF}"/>
              </a:ext>
            </a:extLst>
          </p:cNvPr>
          <p:cNvSpPr txBox="1"/>
          <p:nvPr/>
        </p:nvSpPr>
        <p:spPr>
          <a:xfrm>
            <a:off x="457199" y="914399"/>
            <a:ext cx="11474245" cy="5604387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 indent="354013">
              <a:defRPr sz="3600"/>
            </a:pPr>
            <a:r>
              <a:rPr lang="ru-RU" dirty="0"/>
              <a:t>Компактный способ записи больших двоичных чисел. Один символ HEX заменяет ровно четыре двоичных бита (полубайт, или </a:t>
            </a:r>
            <a:r>
              <a:rPr lang="ru-RU" dirty="0" err="1"/>
              <a:t>nibble</a:t>
            </a:r>
            <a:r>
              <a:rPr lang="ru-RU" dirty="0"/>
              <a:t>).</a:t>
            </a:r>
          </a:p>
          <a:p>
            <a:pPr indent="354013">
              <a:defRPr sz="3600"/>
            </a:pPr>
            <a:r>
              <a:rPr lang="ru-RU" dirty="0"/>
              <a:t>Основание: 16 (используются цифры от 0 до 9 и буквы от A до F).</a:t>
            </a:r>
          </a:p>
          <a:p>
            <a:pPr indent="354013">
              <a:defRPr sz="3600"/>
            </a:pPr>
            <a:r>
              <a:rPr lang="ru-RU" dirty="0"/>
              <a:t>A = 10, B = 11, C = 12, D = 13, E = 14, F = 15.</a:t>
            </a:r>
          </a:p>
          <a:p>
            <a:pPr>
              <a:defRPr sz="3600"/>
            </a:pPr>
            <a:r>
              <a:rPr lang="ru-RU" dirty="0"/>
              <a:t>Где применяется сисадмином: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MAC-адреса: Физические адреса сетевых карт (например, 00:1A:2B:3C:4D:5E).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IPv6-адреса: Новое поколение IP-адресов полностью записывается в HEX (например, 2001:db8::ff00:42:8329).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Анализ логов и дампов трафика (</a:t>
            </a:r>
            <a:r>
              <a:rPr lang="ru-RU" dirty="0" err="1"/>
              <a:t>Wireshark</a:t>
            </a:r>
            <a:r>
              <a:rPr lang="ru-RU" dirty="0"/>
              <a:t>): Просмотр содержимого сетевых пакетов в шестнадцатеричном виде.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Реестр Windows и права доступа: Работа со значениями ключей реестра, конфигурационные файлы Linux.</a:t>
            </a:r>
          </a:p>
          <a:p>
            <a:pPr indent="354013">
              <a:defRPr sz="3600"/>
            </a:pPr>
            <a:r>
              <a:rPr lang="ru-RU" dirty="0"/>
              <a:t>Связь с двоичной системой:</a:t>
            </a:r>
          </a:p>
          <a:p>
            <a:pPr indent="354013">
              <a:defRPr sz="3600"/>
            </a:pPr>
            <a:r>
              <a:rPr lang="ru-RU" dirty="0"/>
              <a:t>Любой HEX-символ легко переводится в 4 бита: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0 → 0000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9 → 1001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A → 1010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F → 1111</a:t>
            </a:r>
          </a:p>
        </p:txBody>
      </p:sp>
    </p:spTree>
    <p:extLst>
      <p:ext uri="{BB962C8B-B14F-4D97-AF65-F5344CB8AC3E}">
        <p14:creationId xmlns:p14="http://schemas.microsoft.com/office/powerpoint/2010/main" val="2019104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36BF-E000-BC03-0BFB-8014CBC28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82D334-9858-2393-FD85-77305DA5D821}"/>
              </a:ext>
            </a:extLst>
          </p:cNvPr>
          <p:cNvSpPr txBox="1"/>
          <p:nvPr/>
        </p:nvSpPr>
        <p:spPr>
          <a:xfrm>
            <a:off x="841517" y="192911"/>
            <a:ext cx="105089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Шпаргалка по соответствию систем (первые 16 значений)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2304B8-F625-A40B-A69E-1B11E29C58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24" t="13178" r="1248"/>
          <a:stretch>
            <a:fillRect/>
          </a:stretch>
        </p:blipFill>
        <p:spPr>
          <a:xfrm>
            <a:off x="204019" y="790061"/>
            <a:ext cx="11783961" cy="607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55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1A389-7519-7CC8-5194-57252041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C1BF31-38FF-B9BE-8A07-2AA63B522623}"/>
              </a:ext>
            </a:extLst>
          </p:cNvPr>
          <p:cNvSpPr txBox="1"/>
          <p:nvPr/>
        </p:nvSpPr>
        <p:spPr>
          <a:xfrm>
            <a:off x="2215343" y="182880"/>
            <a:ext cx="773083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Полная</a:t>
            </a:r>
            <a:r>
              <a:rPr dirty="0"/>
              <a:t> и </a:t>
            </a:r>
            <a:r>
              <a:rPr dirty="0" err="1"/>
              <a:t>сокращенная</a:t>
            </a:r>
            <a:r>
              <a:rPr dirty="0"/>
              <a:t> </a:t>
            </a:r>
            <a:r>
              <a:rPr dirty="0" err="1"/>
              <a:t>запись</a:t>
            </a:r>
            <a:r>
              <a:rPr lang="ru-RU" dirty="0"/>
              <a:t> </a:t>
            </a:r>
            <a:r>
              <a:rPr lang="en-US" dirty="0"/>
              <a:t>IPv6-</a:t>
            </a:r>
            <a:r>
              <a:rPr lang="ru-RU" dirty="0"/>
              <a:t>адреса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C6634-A844-88C3-3546-F65EFCCA184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вид</a:t>
            </a:r>
            <a:r>
              <a:rPr dirty="0"/>
              <a:t>: 2001:0db8:0000:0000:0000:0000:0000:0010.</a:t>
            </a:r>
          </a:p>
          <a:p>
            <a:pPr indent="354013">
              <a:defRPr sz="3600"/>
            </a:pPr>
            <a:r>
              <a:rPr dirty="0" err="1"/>
              <a:t>Ведущие</a:t>
            </a:r>
            <a:r>
              <a:rPr dirty="0"/>
              <a:t> </a:t>
            </a:r>
            <a:r>
              <a:rPr dirty="0" err="1"/>
              <a:t>нули</a:t>
            </a:r>
            <a:r>
              <a:rPr dirty="0"/>
              <a:t> в </a:t>
            </a:r>
            <a:r>
              <a:rPr dirty="0" err="1"/>
              <a:t>группе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убрать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Одна</a:t>
            </a:r>
            <a:r>
              <a:rPr dirty="0"/>
              <a:t> </a:t>
            </a:r>
            <a:r>
              <a:rPr dirty="0" err="1"/>
              <a:t>последовательность</a:t>
            </a:r>
            <a:r>
              <a:rPr dirty="0"/>
              <a:t> </a:t>
            </a:r>
            <a:r>
              <a:rPr dirty="0" err="1"/>
              <a:t>нулевых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заменена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::.</a:t>
            </a:r>
          </a:p>
          <a:p>
            <a:pPr indent="354013">
              <a:defRPr sz="3600"/>
            </a:pPr>
            <a:r>
              <a:rPr dirty="0" err="1"/>
              <a:t>Сокращенный</a:t>
            </a:r>
            <a:r>
              <a:rPr dirty="0"/>
              <a:t> </a:t>
            </a:r>
            <a:r>
              <a:rPr dirty="0" err="1"/>
              <a:t>вид</a:t>
            </a:r>
            <a:r>
              <a:rPr dirty="0"/>
              <a:t>: 2001:db8::10.</a:t>
            </a:r>
          </a:p>
          <a:p>
            <a:pPr indent="354013">
              <a:defRPr sz="3600"/>
            </a:pPr>
            <a:r>
              <a:rPr dirty="0" err="1"/>
              <a:t>Сокращение</a:t>
            </a:r>
            <a:r>
              <a:rPr dirty="0"/>
              <a:t> ::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раз</a:t>
            </a:r>
            <a:r>
              <a:rPr dirty="0"/>
              <a:t> в </a:t>
            </a:r>
            <a:r>
              <a:rPr dirty="0" err="1"/>
              <a:t>адресе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9692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Типовая ошибка чтения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произвольно</a:t>
            </a:r>
            <a:r>
              <a:rPr dirty="0"/>
              <a:t> </a:t>
            </a:r>
            <a:r>
              <a:rPr dirty="0" err="1"/>
              <a:t>убирать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групп</a:t>
            </a:r>
            <a:r>
              <a:rPr dirty="0"/>
              <a:t> </a:t>
            </a:r>
            <a:r>
              <a:rPr dirty="0" err="1"/>
              <a:t>нулей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::.</a:t>
            </a:r>
          </a:p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prefix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отчетах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писать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вместе</a:t>
            </a:r>
            <a:r>
              <a:rPr dirty="0"/>
              <a:t> с prefix, </a:t>
            </a:r>
            <a:r>
              <a:rPr dirty="0" err="1"/>
              <a:t>например</a:t>
            </a:r>
            <a:r>
              <a:rPr dirty="0"/>
              <a:t> 2001:db8:10::20/64.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зону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, </a:t>
            </a:r>
            <a:r>
              <a:rPr dirty="0" err="1"/>
              <a:t>ее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игнорировать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link-local </a:t>
            </a:r>
            <a:r>
              <a:rPr dirty="0" err="1"/>
              <a:t>проверки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IPv6-адресов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>
                <a:solidFill>
                  <a:srgbClr val="002060"/>
                </a:solidFill>
              </a:rPr>
              <a:t>ip</a:t>
            </a:r>
            <a:r>
              <a:rPr dirty="0">
                <a:solidFill>
                  <a:srgbClr val="002060"/>
                </a:solidFill>
              </a:rPr>
              <a:t> -6 </a:t>
            </a:r>
            <a:r>
              <a:rPr dirty="0" err="1">
                <a:solidFill>
                  <a:srgbClr val="002060"/>
                </a:solidFill>
              </a:rPr>
              <a:t>addr</a:t>
            </a:r>
            <a:r>
              <a:rPr dirty="0">
                <a:solidFill>
                  <a:srgbClr val="002060"/>
                </a:solidFill>
              </a:rPr>
              <a:t> show </a:t>
            </a:r>
            <a:r>
              <a:rPr dirty="0" err="1"/>
              <a:t>показывает</a:t>
            </a:r>
            <a:r>
              <a:rPr dirty="0"/>
              <a:t> IPv6-адреса </a:t>
            </a:r>
            <a:r>
              <a:rPr dirty="0" err="1"/>
              <a:t>интерфейсов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 ens33 </a:t>
            </a:r>
            <a:r>
              <a:rPr dirty="0" err="1"/>
              <a:t>выводит</a:t>
            </a:r>
            <a:r>
              <a:rPr dirty="0"/>
              <a:t> IPv6-параметры </a:t>
            </a:r>
            <a:r>
              <a:rPr dirty="0" err="1"/>
              <a:t>интерфейса</a:t>
            </a:r>
            <a:r>
              <a:rPr dirty="0"/>
              <a:t> ens33.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выводе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scope global, scope link и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DOWN,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структура</a:t>
            </a:r>
            <a:r>
              <a:rPr dirty="0"/>
              <a:t> IPv6-адреса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B27DDA-F353-93DE-6613-9D9C1F880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Prefix в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Prefix в IPv6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Запись</a:t>
            </a:r>
            <a:r>
              <a:rPr dirty="0"/>
              <a:t> /64 </a:t>
            </a:r>
            <a:r>
              <a:rPr dirty="0" err="1"/>
              <a:t>означает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первые</a:t>
            </a:r>
            <a:r>
              <a:rPr dirty="0"/>
              <a:t> 64 </a:t>
            </a:r>
            <a:r>
              <a:rPr dirty="0" err="1"/>
              <a:t>бита</a:t>
            </a:r>
            <a:r>
              <a:rPr dirty="0"/>
              <a:t> </a:t>
            </a:r>
            <a:r>
              <a:rPr dirty="0" err="1"/>
              <a:t>описывают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, а </a:t>
            </a:r>
            <a:r>
              <a:rPr dirty="0" err="1"/>
              <a:t>оставшиеся</a:t>
            </a:r>
            <a:r>
              <a:rPr dirty="0"/>
              <a:t> 64 </a:t>
            </a:r>
            <a:r>
              <a:rPr dirty="0" err="1"/>
              <a:t>бита</a:t>
            </a:r>
            <a:r>
              <a:rPr dirty="0"/>
              <a:t> -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пользовательских</a:t>
            </a:r>
            <a:r>
              <a:rPr dirty="0"/>
              <a:t> и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подсетях</a:t>
            </a:r>
            <a:r>
              <a:rPr dirty="0"/>
              <a:t> IPv6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всего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/64.</a:t>
            </a:r>
          </a:p>
          <a:p>
            <a:pPr indent="354013">
              <a:defRPr sz="3600"/>
            </a:pPr>
            <a:r>
              <a:rPr dirty="0"/>
              <a:t>Prefix в IPv6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, </a:t>
            </a:r>
            <a:r>
              <a:rPr dirty="0" err="1"/>
              <a:t>похожую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маску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в IPv4,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записывается</a:t>
            </a:r>
            <a:r>
              <a:rPr dirty="0"/>
              <a:t> </a:t>
            </a:r>
            <a:r>
              <a:rPr dirty="0" err="1"/>
              <a:t>иначе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Чем prefix отличается от IPv4-маски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IPv4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пишут</a:t>
            </a:r>
            <a:r>
              <a:rPr dirty="0"/>
              <a:t> 192.168.10.20/24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маску</a:t>
            </a:r>
            <a:r>
              <a:rPr dirty="0"/>
              <a:t> 255.255.255.0.</a:t>
            </a:r>
          </a:p>
          <a:p>
            <a:pPr indent="354013">
              <a:defRPr sz="3600"/>
            </a:pPr>
            <a:r>
              <a:rPr dirty="0"/>
              <a:t>В IPv6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длину</a:t>
            </a:r>
            <a:r>
              <a:rPr dirty="0"/>
              <a:t> prefix: 2001:db8:10:20::10/64.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переводит</a:t>
            </a:r>
            <a:r>
              <a:rPr dirty="0"/>
              <a:t> prefix в </a:t>
            </a:r>
            <a:r>
              <a:rPr dirty="0" err="1"/>
              <a:t>десятичную</a:t>
            </a:r>
            <a:r>
              <a:rPr dirty="0"/>
              <a:t> </a:t>
            </a:r>
            <a:r>
              <a:rPr dirty="0" err="1"/>
              <a:t>маску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Главное</a:t>
            </a:r>
            <a:r>
              <a:rPr dirty="0"/>
              <a:t> -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границу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и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/64 встречается так часто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SLAAC </a:t>
            </a:r>
            <a:r>
              <a:rPr dirty="0" err="1"/>
              <a:t>рассчитан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то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клиентская</a:t>
            </a:r>
            <a:r>
              <a:rPr dirty="0"/>
              <a:t> </a:t>
            </a:r>
            <a:r>
              <a:rPr dirty="0" err="1"/>
              <a:t>подсеть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prefix /64.</a:t>
            </a:r>
          </a:p>
          <a:p>
            <a:pPr indent="354013">
              <a:defRPr sz="3600"/>
            </a:pPr>
            <a:r>
              <a:rPr dirty="0" err="1"/>
              <a:t>Многие</a:t>
            </a:r>
            <a:r>
              <a:rPr dirty="0"/>
              <a:t> </a:t>
            </a:r>
            <a:r>
              <a:rPr dirty="0" err="1"/>
              <a:t>механизмы</a:t>
            </a:r>
            <a:r>
              <a:rPr dirty="0"/>
              <a:t> IPv6 </a:t>
            </a:r>
            <a:r>
              <a:rPr dirty="0" err="1"/>
              <a:t>ожидают</a:t>
            </a:r>
            <a:r>
              <a:rPr dirty="0"/>
              <a:t> 64-битный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Использование</a:t>
            </a:r>
            <a:r>
              <a:rPr dirty="0"/>
              <a:t> </a:t>
            </a:r>
            <a:r>
              <a:rPr dirty="0" err="1"/>
              <a:t>нестандартных</a:t>
            </a:r>
            <a:r>
              <a:rPr dirty="0"/>
              <a:t> prefix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клиентских</a:t>
            </a:r>
            <a:r>
              <a:rPr dirty="0"/>
              <a:t> </a:t>
            </a:r>
            <a:r>
              <a:rPr dirty="0" err="1"/>
              <a:t>сегментах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вызвать</a:t>
            </a:r>
            <a:r>
              <a:rPr dirty="0"/>
              <a:t> </a:t>
            </a:r>
            <a:r>
              <a:rPr dirty="0" err="1"/>
              <a:t>странные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point-to-point и </a:t>
            </a:r>
            <a:r>
              <a:rPr dirty="0" err="1"/>
              <a:t>специальных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 </a:t>
            </a:r>
            <a:r>
              <a:rPr dirty="0" err="1"/>
              <a:t>возможны</a:t>
            </a:r>
            <a:r>
              <a:rPr dirty="0"/>
              <a:t> </a:t>
            </a:r>
            <a:r>
              <a:rPr dirty="0" err="1"/>
              <a:t>другие</a:t>
            </a:r>
            <a:r>
              <a:rPr dirty="0"/>
              <a:t> prefix,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адресного плана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предприятия</a:t>
            </a:r>
            <a:r>
              <a:rPr dirty="0"/>
              <a:t>: 2001:db8:10:20::/64.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Gateway: 2001:db8:10:20::1/64.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DNS-</a:t>
            </a:r>
            <a:r>
              <a:rPr dirty="0" err="1"/>
              <a:t>сервер</a:t>
            </a:r>
            <a:r>
              <a:rPr dirty="0"/>
              <a:t>: 2001:db8:10:20::53/64.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: 2001:db8:10:20::80/64.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проверить принадлежность адреса к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Адрес</a:t>
            </a:r>
            <a:r>
              <a:rPr dirty="0"/>
              <a:t> 2001:db8:10:20::80/64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2001:db8:10:20::/64.</a:t>
            </a:r>
          </a:p>
          <a:p>
            <a:pPr indent="442913">
              <a:defRPr sz="3600"/>
            </a:pPr>
            <a:r>
              <a:rPr dirty="0" err="1"/>
              <a:t>Адрес</a:t>
            </a:r>
            <a:r>
              <a:rPr dirty="0"/>
              <a:t> 2001:db8:10:21::80/64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ошибке</a:t>
            </a:r>
            <a:r>
              <a:rPr dirty="0"/>
              <a:t> prefix </a:t>
            </a:r>
            <a:r>
              <a:rPr dirty="0" err="1"/>
              <a:t>сервер</a:t>
            </a:r>
            <a:r>
              <a:rPr dirty="0"/>
              <a:t> и gateway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оказаться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логических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/>
              <a:t>В Linux </a:t>
            </a:r>
            <a:r>
              <a:rPr dirty="0" err="1"/>
              <a:t>маршрут</a:t>
            </a:r>
            <a:r>
              <a:rPr dirty="0"/>
              <a:t> connected-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виден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route show.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Link-local, global unicast и unique local адреса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IPv6 у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типов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определяет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этот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scope </a:t>
            </a:r>
            <a:r>
              <a:rPr dirty="0" err="1"/>
              <a:t>адреса</a:t>
            </a:r>
            <a:r>
              <a:rPr dirty="0"/>
              <a:t>, </a:t>
            </a:r>
            <a:r>
              <a:rPr dirty="0" err="1"/>
              <a:t>иначе</a:t>
            </a:r>
            <a:r>
              <a:rPr dirty="0"/>
              <a:t>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неверной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link-local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 и global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Link-local 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Link-local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fe80:: и </a:t>
            </a:r>
            <a:r>
              <a:rPr dirty="0" err="1"/>
              <a:t>действует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в </a:t>
            </a:r>
            <a:r>
              <a:rPr dirty="0" err="1"/>
              <a:t>пределах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создается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и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соседства</a:t>
            </a:r>
            <a:r>
              <a:rPr dirty="0"/>
              <a:t>, router advertisement и </a:t>
            </a:r>
            <a:r>
              <a:rPr dirty="0" err="1"/>
              <a:t>локальных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: ping -6 fe80::1%ens33, </a:t>
            </a:r>
            <a:r>
              <a:rPr dirty="0" err="1"/>
              <a:t>где</a:t>
            </a:r>
            <a:r>
              <a:rPr dirty="0"/>
              <a:t> %ens33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Global unicast 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399"/>
            <a:ext cx="11297265" cy="56191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Global unicast - </a:t>
            </a:r>
            <a:r>
              <a:rPr dirty="0" err="1"/>
              <a:t>маршрутизируемый</a:t>
            </a:r>
            <a:r>
              <a:rPr dirty="0"/>
              <a:t> IPv6-адрес,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использоваться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/>
              <a:t>В </a:t>
            </a:r>
            <a:r>
              <a:rPr dirty="0" err="1"/>
              <a:t>учебных</a:t>
            </a:r>
            <a:r>
              <a:rPr dirty="0"/>
              <a:t> </a:t>
            </a:r>
            <a:r>
              <a:rPr dirty="0" err="1"/>
              <a:t>примерах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диапазон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 2001:db8::/32.</a:t>
            </a:r>
          </a:p>
          <a:p>
            <a:pPr indent="442913">
              <a:defRPr sz="3600"/>
            </a:pP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публикуют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global unicast 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web01 </a:t>
            </a:r>
            <a:r>
              <a:rPr dirty="0" err="1"/>
              <a:t>примером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2001:db8:10:20::80/64.</a:t>
            </a:r>
            <a:endParaRPr lang="en-US" dirty="0"/>
          </a:p>
          <a:p>
            <a:pPr indent="442913">
              <a:defRPr sz="3600"/>
            </a:pPr>
            <a:r>
              <a:rPr lang="ru-RU" dirty="0"/>
              <a:t>Для учебной документации часто применяют префикс </a:t>
            </a:r>
            <a:r>
              <a:rPr lang="ru-RU" b="1" dirty="0">
                <a:solidFill>
                  <a:srgbClr val="002060"/>
                </a:solidFill>
              </a:rPr>
              <a:t>2001:db8::/32, </a:t>
            </a:r>
            <a:r>
              <a:rPr lang="ru-RU" dirty="0"/>
              <a:t>зарезервированный для примеров.</a:t>
            </a:r>
          </a:p>
          <a:p>
            <a:pPr indent="442913"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Unique local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Unique Local Address, ULA - </a:t>
            </a:r>
            <a:r>
              <a:rPr dirty="0" err="1"/>
              <a:t>локальный</a:t>
            </a:r>
            <a:r>
              <a:rPr dirty="0"/>
              <a:t> IPv6-адрес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ULA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fc00::/7,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fd00::/8.</a:t>
            </a:r>
          </a:p>
          <a:p>
            <a:pPr indent="354013">
              <a:defRPr sz="3600"/>
            </a:pPr>
            <a:r>
              <a:rPr dirty="0"/>
              <a:t>ULA </a:t>
            </a:r>
            <a:r>
              <a:rPr dirty="0" err="1"/>
              <a:t>похож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назначению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private IPv4,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правилам</a:t>
            </a:r>
            <a:r>
              <a:rPr dirty="0"/>
              <a:t> IPv6.</a:t>
            </a:r>
          </a:p>
          <a:p>
            <a:pPr indent="354013">
              <a:defRPr sz="3600"/>
            </a:pPr>
            <a:r>
              <a:rPr dirty="0" err="1"/>
              <a:t>Такие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удобны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внутренних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доступны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интернета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читать scope в выводе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 </a:t>
            </a:r>
            <a:r>
              <a:rPr dirty="0" err="1"/>
              <a:t>показывает</a:t>
            </a:r>
            <a:r>
              <a:rPr dirty="0"/>
              <a:t> scope </a:t>
            </a:r>
            <a:r>
              <a:rPr dirty="0" err="1"/>
              <a:t>рядом</a:t>
            </a:r>
            <a:r>
              <a:rPr dirty="0"/>
              <a:t> с </a:t>
            </a:r>
            <a:r>
              <a:rPr dirty="0" err="1"/>
              <a:t>адресом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scope link </a:t>
            </a:r>
            <a:r>
              <a:rPr dirty="0" err="1"/>
              <a:t>означает</a:t>
            </a:r>
            <a:r>
              <a:rPr dirty="0"/>
              <a:t> link-local </a:t>
            </a:r>
            <a:r>
              <a:rPr dirty="0" err="1"/>
              <a:t>адрес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scope global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участвовать</a:t>
            </a:r>
            <a:r>
              <a:rPr dirty="0"/>
              <a:t> в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::1, </a:t>
            </a:r>
            <a:r>
              <a:rPr dirty="0" err="1"/>
              <a:t>оно</a:t>
            </a:r>
            <a:r>
              <a:rPr dirty="0"/>
              <a:t> </a:t>
            </a:r>
            <a:r>
              <a:rPr dirty="0" err="1"/>
              <a:t>доступно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самом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типы</a:t>
            </a:r>
            <a:r>
              <a:rPr dirty="0"/>
              <a:t> IPv6-адресов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78D29F-78B8-7BC2-5FAC-8F5F478D7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SLAAC, static IPv6 и router advertisement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IPv6-узел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настроен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SLAAC - Stateless Address Autoconfiguration, </a:t>
            </a:r>
            <a:r>
              <a:rPr dirty="0" err="1"/>
              <a:t>автоматическая</a:t>
            </a:r>
            <a:r>
              <a:rPr dirty="0"/>
              <a:t> </a:t>
            </a: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классического</a:t>
            </a:r>
            <a:r>
              <a:rPr dirty="0"/>
              <a:t> DHCP-</a:t>
            </a:r>
            <a:r>
              <a:rPr dirty="0" err="1"/>
              <a:t>пула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Router Advertisement </a:t>
            </a:r>
            <a:r>
              <a:rPr dirty="0" err="1"/>
              <a:t>сообщает</a:t>
            </a:r>
            <a:r>
              <a:rPr dirty="0"/>
              <a:t> </a:t>
            </a:r>
            <a:r>
              <a:rPr dirty="0" err="1"/>
              <a:t>узлам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префиксе</a:t>
            </a:r>
            <a:r>
              <a:rPr dirty="0"/>
              <a:t> и </a:t>
            </a:r>
            <a:r>
              <a:rPr dirty="0" err="1"/>
              <a:t>маршрутизаторе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SLAAC на базовом уровне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 о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формируется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префикса</a:t>
            </a:r>
            <a:r>
              <a:rPr dirty="0"/>
              <a:t> и </a:t>
            </a:r>
            <a:r>
              <a:rPr dirty="0" err="1"/>
              <a:t>идентификатора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SLAAC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предсказуемый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статический</a:t>
            </a:r>
            <a:r>
              <a:rPr dirty="0"/>
              <a:t> IPv6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закрепленную</a:t>
            </a:r>
            <a:r>
              <a:rPr dirty="0"/>
              <a:t> </a:t>
            </a:r>
            <a:r>
              <a:rPr dirty="0" err="1"/>
              <a:t>схему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BC805-A11B-2EB1-1038-7DF34B39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84917-CD73-A464-F30F-AA202BD8AAF5}"/>
              </a:ext>
            </a:extLst>
          </p:cNvPr>
          <p:cNvSpPr txBox="1"/>
          <p:nvPr/>
        </p:nvSpPr>
        <p:spPr>
          <a:xfrm>
            <a:off x="457199" y="914400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SLAAC — это протокол «безадресной» автонастройки, позволяющий IPv6-клиенту самостоятельно сгенерировать себе уникальный глобальный IP-адрес. </a:t>
            </a:r>
          </a:p>
          <a:p>
            <a:pPr indent="354013">
              <a:defRPr sz="3600"/>
            </a:pPr>
            <a:r>
              <a:rPr lang="ru-RU" dirty="0"/>
              <a:t>Ему не нужен DHCP-сервер (поэтому он </a:t>
            </a:r>
            <a:r>
              <a:rPr lang="ru-RU" dirty="0" err="1"/>
              <a:t>Stateless</a:t>
            </a:r>
            <a:r>
              <a:rPr lang="ru-RU" dirty="0"/>
              <a:t> — не хранит состояние выданных адресов).</a:t>
            </a:r>
          </a:p>
        </p:txBody>
      </p:sp>
    </p:spTree>
    <p:extLst>
      <p:ext uri="{BB962C8B-B14F-4D97-AF65-F5344CB8AC3E}">
        <p14:creationId xmlns:p14="http://schemas.microsoft.com/office/powerpoint/2010/main" val="13134935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AEFB3-6F6F-5613-935E-464545F44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A02C61-C090-C063-C8B8-08C39BFCD994}"/>
              </a:ext>
            </a:extLst>
          </p:cNvPr>
          <p:cNvSpPr txBox="1"/>
          <p:nvPr/>
        </p:nvSpPr>
        <p:spPr>
          <a:xfrm>
            <a:off x="3284578" y="182880"/>
            <a:ext cx="559236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работает SLAAC (в 3 шага):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15B4C-009A-9901-6488-5423A9E02803}"/>
              </a:ext>
            </a:extLst>
          </p:cNvPr>
          <p:cNvSpPr txBox="1"/>
          <p:nvPr/>
        </p:nvSpPr>
        <p:spPr>
          <a:xfrm>
            <a:off x="457200" y="914400"/>
            <a:ext cx="11208774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Запрос (RS - </a:t>
            </a:r>
            <a:r>
              <a:rPr lang="ru-RU" dirty="0" err="1"/>
              <a:t>Router</a:t>
            </a:r>
            <a:r>
              <a:rPr lang="ru-RU" dirty="0"/>
              <a:t> </a:t>
            </a:r>
            <a:r>
              <a:rPr lang="ru-RU" dirty="0" err="1"/>
              <a:t>Solicitation</a:t>
            </a:r>
            <a:r>
              <a:rPr lang="ru-RU" dirty="0"/>
              <a:t>): Клиент при подключении отправляет в сеть многоадресный запрос: «Эй, тут есть роутеры? Дайте мне параметры сети!»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Ответ (RA - </a:t>
            </a:r>
            <a:r>
              <a:rPr lang="ru-RU" dirty="0" err="1"/>
              <a:t>Router</a:t>
            </a:r>
            <a:r>
              <a:rPr lang="ru-RU" dirty="0"/>
              <a:t> </a:t>
            </a:r>
            <a:r>
              <a:rPr lang="ru-RU" dirty="0" err="1"/>
              <a:t>Advertisement</a:t>
            </a:r>
            <a:r>
              <a:rPr lang="ru-RU" dirty="0"/>
              <a:t>): Роутер периодически или в ответ на запрос присылает сообщение с префиксом локальной сети (обычно первые 64 бита, например, 2001:db8:acad:1::/64).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Генерация: Клиент берет этот 64-битный префикс и добавляет к нему свои 64 бита (Interface ID), чтобы получить полный 128-битный адрес IPv6.</a:t>
            </a:r>
          </a:p>
        </p:txBody>
      </p:sp>
    </p:spTree>
    <p:extLst>
      <p:ext uri="{BB962C8B-B14F-4D97-AF65-F5344CB8AC3E}">
        <p14:creationId xmlns:p14="http://schemas.microsoft.com/office/powerpoint/2010/main" val="4127142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CC81-7F9B-515B-C491-E2429717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F73FD5-37AC-11AF-D282-F8D007DEA46F}"/>
              </a:ext>
            </a:extLst>
          </p:cNvPr>
          <p:cNvSpPr txBox="1"/>
          <p:nvPr/>
        </p:nvSpPr>
        <p:spPr>
          <a:xfrm>
            <a:off x="2237745" y="218276"/>
            <a:ext cx="741170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Как клиент придумывает свои 64 бита?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DEFF1-0005-4F7E-4A89-42D208E8517D}"/>
              </a:ext>
            </a:extLst>
          </p:cNvPr>
          <p:cNvSpPr txBox="1"/>
          <p:nvPr/>
        </p:nvSpPr>
        <p:spPr>
          <a:xfrm>
            <a:off x="457200" y="1295494"/>
            <a:ext cx="10972800" cy="483098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Он может сгенерировать их случайно (для конфиденциальности) или использовать классический метод EUI-64, создаваемый на основе MAC-адреса.</a:t>
            </a:r>
          </a:p>
        </p:txBody>
      </p:sp>
    </p:spTree>
    <p:extLst>
      <p:ext uri="{BB962C8B-B14F-4D97-AF65-F5344CB8AC3E}">
        <p14:creationId xmlns:p14="http://schemas.microsoft.com/office/powerpoint/2010/main" val="35522371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357E-D02B-1554-173C-D125AEC53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552D4F-E10E-1401-DFF3-72D6A7345F49}"/>
              </a:ext>
            </a:extLst>
          </p:cNvPr>
          <p:cNvSpPr txBox="1"/>
          <p:nvPr/>
        </p:nvSpPr>
        <p:spPr>
          <a:xfrm>
            <a:off x="2352279" y="182880"/>
            <a:ext cx="625126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EUI-64 (</a:t>
            </a:r>
            <a:r>
              <a:rPr lang="ru-RU" dirty="0" err="1"/>
              <a:t>Extended</a:t>
            </a:r>
            <a:r>
              <a:rPr lang="ru-RU" dirty="0"/>
              <a:t> </a:t>
            </a:r>
            <a:r>
              <a:rPr lang="ru-RU" dirty="0" err="1"/>
              <a:t>Unique</a:t>
            </a:r>
            <a:r>
              <a:rPr lang="ru-RU" dirty="0"/>
              <a:t> </a:t>
            </a:r>
            <a:r>
              <a:rPr lang="ru-RU" dirty="0" err="1"/>
              <a:t>Identifier</a:t>
            </a:r>
            <a:r>
              <a:rPr lang="ru-RU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17C196-0A97-184E-42B6-D12DF73EE420}"/>
              </a:ext>
            </a:extLst>
          </p:cNvPr>
          <p:cNvSpPr txBox="1"/>
          <p:nvPr/>
        </p:nvSpPr>
        <p:spPr>
          <a:xfrm>
            <a:off x="457199" y="914399"/>
            <a:ext cx="11385755" cy="5619135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dirty="0"/>
              <a:t>EUI-64 — это алгоритм, преобразующий стандартный 48-битный физический MAC-адрес устройства в уникальный 64-битный идентификатор интерфейса (Interface ID) для IPv6.</a:t>
            </a:r>
          </a:p>
          <a:p>
            <a:pPr indent="354013">
              <a:defRPr sz="3600"/>
            </a:pPr>
            <a:r>
              <a:rPr lang="ru-RU" dirty="0"/>
              <a:t>Проблема: MAC-адрес — 48 бит, а для хвоста IPv6 нужно 64 бита. Не хватает 16 бит.</a:t>
            </a:r>
          </a:p>
          <a:p>
            <a:pPr indent="354013">
              <a:defRPr sz="3600"/>
            </a:pPr>
            <a:r>
              <a:rPr lang="ru-RU" dirty="0"/>
              <a:t>Алгоритм преобразования MAC в EUI-64</a:t>
            </a:r>
          </a:p>
          <a:p>
            <a:pPr indent="354013">
              <a:defRPr sz="3600"/>
            </a:pPr>
            <a:r>
              <a:rPr lang="ru-RU" dirty="0"/>
              <a:t>1.Разделение и вставка FFFE:</a:t>
            </a:r>
          </a:p>
          <a:p>
            <a:pPr indent="354013">
              <a:defRPr sz="3600"/>
            </a:pPr>
            <a:r>
              <a:rPr lang="ru-RU" dirty="0"/>
              <a:t>MAC-адрес делится ровно пополам (по 24 бита с каждой стороны). Прямо посередине вставляются 16 фиксированных бит: FF:FE (в шестнадцатеричной системе).</a:t>
            </a:r>
          </a:p>
          <a:p>
            <a:pPr indent="354013">
              <a:defRPr sz="3600"/>
            </a:pPr>
            <a:r>
              <a:rPr lang="ru-RU" dirty="0"/>
              <a:t>2.Инвертирование 7-го бита (U/L </a:t>
            </a:r>
            <a:r>
              <a:rPr lang="ru-RU" dirty="0" err="1"/>
              <a:t>bit</a:t>
            </a:r>
            <a:r>
              <a:rPr lang="ru-RU" dirty="0"/>
              <a:t>):</a:t>
            </a:r>
          </a:p>
          <a:p>
            <a:pPr indent="354013">
              <a:defRPr sz="3600"/>
            </a:pPr>
            <a:r>
              <a:rPr lang="ru-RU" dirty="0"/>
              <a:t>Берется самый первый байт получившегося адреса. В его двоичном представлении 7-й бит слева (Universal/Local </a:t>
            </a:r>
            <a:r>
              <a:rPr lang="ru-RU" dirty="0" err="1"/>
              <a:t>bit</a:t>
            </a:r>
            <a:r>
              <a:rPr lang="ru-RU" dirty="0"/>
              <a:t>) меняется на противоположный (из 0 делается 1, из 1 — 0).</a:t>
            </a:r>
          </a:p>
        </p:txBody>
      </p:sp>
    </p:spTree>
    <p:extLst>
      <p:ext uri="{BB962C8B-B14F-4D97-AF65-F5344CB8AC3E}">
        <p14:creationId xmlns:p14="http://schemas.microsoft.com/office/powerpoint/2010/main" val="378430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4563-479C-672C-B4B7-B1E95C51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A6E822-030E-8F24-CE73-A41A1BFC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" y="-56562"/>
            <a:ext cx="10589341" cy="679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3271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5FA11-B25D-CE33-57FD-3C46919A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ABD5D-3F43-706D-C782-EB07DCF5DB64}"/>
              </a:ext>
            </a:extLst>
          </p:cNvPr>
          <p:cNvSpPr txBox="1"/>
          <p:nvPr/>
        </p:nvSpPr>
        <p:spPr>
          <a:xfrm>
            <a:off x="3312797" y="182880"/>
            <a:ext cx="592880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Плюсы и минусы SLAAC + EUI-64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DCC23-3CDA-8647-E663-2D6E504894E1}"/>
              </a:ext>
            </a:extLst>
          </p:cNvPr>
          <p:cNvSpPr txBox="1"/>
          <p:nvPr/>
        </p:nvSpPr>
        <p:spPr>
          <a:xfrm>
            <a:off x="457199" y="914399"/>
            <a:ext cx="11385755" cy="5760721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defRPr sz="3600"/>
            </a:pPr>
            <a:r>
              <a:rPr lang="ru-RU" dirty="0"/>
              <a:t>Преимущества:	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Zero Configuration: Устройства работают "из коробки" без настройки серверов раздачи адресов.	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Отказоустойчивость: Если упадет DHCP, устройства все равно получат адреса от роутера.	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Недостатки: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Проблема приватности: Так как MAC-адрес устройства зашит в IP, перемещение пользователя по разным сетям легко отследить.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lang="ru-RU" dirty="0"/>
              <a:t>Безопасность: Злоумышленник, зная IPv6-адрес, может легко вычислить физический MAC-адрес сетевой карты.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dirty="0"/>
              <a:t>Решение проблемы безопасности: В современных ОС (Windows, </a:t>
            </a:r>
            <a:r>
              <a:rPr lang="ru-RU" dirty="0" err="1"/>
              <a:t>macOS</a:t>
            </a:r>
            <a:r>
              <a:rPr lang="ru-RU" dirty="0"/>
              <a:t>, современные дистрибутивы Linux) вместо EUI-64 по умолчанию часто используются </a:t>
            </a:r>
            <a:r>
              <a:rPr lang="ru-RU" dirty="0" err="1"/>
              <a:t>Privacy</a:t>
            </a:r>
            <a:r>
              <a:rPr lang="ru-RU" dirty="0"/>
              <a:t> </a:t>
            </a:r>
            <a:r>
              <a:rPr lang="ru-RU" dirty="0" err="1"/>
              <a:t>Extensions</a:t>
            </a:r>
            <a:r>
              <a:rPr lang="ru-RU" dirty="0"/>
              <a:t> (RFC 4941). Они заставляют SLAAC генерировать случайные временные 64-битные идентификаторы интерфейса, которые регулярно меняются.</a:t>
            </a:r>
          </a:p>
        </p:txBody>
      </p:sp>
    </p:spTree>
    <p:extLst>
      <p:ext uri="{BB962C8B-B14F-4D97-AF65-F5344CB8AC3E}">
        <p14:creationId xmlns:p14="http://schemas.microsoft.com/office/powerpoint/2010/main" val="4643770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SLAAC и DHCPv6: что они делят между собой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SLAAC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дать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и gateway,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организации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DHCPv6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выдавать</a:t>
            </a:r>
            <a:r>
              <a:rPr dirty="0"/>
              <a:t> </a:t>
            </a:r>
            <a:r>
              <a:rPr dirty="0" err="1"/>
              <a:t>дополнительные</a:t>
            </a:r>
            <a:r>
              <a:rPr dirty="0"/>
              <a:t> </a:t>
            </a:r>
            <a:r>
              <a:rPr dirty="0" err="1"/>
              <a:t>параметры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DNS, в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режима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некоторых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SLAAC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и DHCPv6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откуда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получил</a:t>
            </a:r>
            <a:r>
              <a:rPr dirty="0"/>
              <a:t> </a:t>
            </a: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параметр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Статическая IPv6-адресация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Статический</a:t>
            </a:r>
            <a:r>
              <a:rPr dirty="0"/>
              <a:t> IPv6-адрес </a:t>
            </a:r>
            <a:r>
              <a:rPr dirty="0" err="1"/>
              <a:t>назначают</a:t>
            </a:r>
            <a:r>
              <a:rPr dirty="0"/>
              <a:t> </a:t>
            </a:r>
            <a:r>
              <a:rPr dirty="0" err="1"/>
              <a:t>серверам</a:t>
            </a:r>
            <a:r>
              <a:rPr dirty="0"/>
              <a:t>, </a:t>
            </a:r>
            <a:r>
              <a:rPr dirty="0" err="1"/>
              <a:t>маршрутизаторам</a:t>
            </a:r>
            <a:r>
              <a:rPr dirty="0"/>
              <a:t>, DNS и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постоянным</a:t>
            </a:r>
            <a:r>
              <a:rPr dirty="0"/>
              <a:t> </a:t>
            </a:r>
            <a:r>
              <a:rPr dirty="0" err="1"/>
              <a:t>узлам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Причина</a:t>
            </a:r>
            <a:r>
              <a:rPr dirty="0"/>
              <a:t> </a:t>
            </a:r>
            <a:r>
              <a:rPr dirty="0" err="1"/>
              <a:t>простая</a:t>
            </a:r>
            <a:r>
              <a:rPr dirty="0"/>
              <a:t>: </a:t>
            </a:r>
            <a:r>
              <a:rPr dirty="0" err="1"/>
              <a:t>клиенты</a:t>
            </a:r>
            <a:r>
              <a:rPr dirty="0"/>
              <a:t> и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должны</a:t>
            </a:r>
            <a:r>
              <a:rPr dirty="0"/>
              <a:t> </a:t>
            </a:r>
            <a:r>
              <a:rPr dirty="0" err="1"/>
              <a:t>стабильно</a:t>
            </a:r>
            <a:r>
              <a:rPr dirty="0"/>
              <a:t> </a:t>
            </a:r>
            <a:r>
              <a:rPr dirty="0" err="1"/>
              <a:t>находить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: 2001:db8:10:20::10/64.</a:t>
            </a:r>
          </a:p>
          <a:p>
            <a:pPr indent="4429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и </a:t>
            </a:r>
            <a:r>
              <a:rPr dirty="0" err="1"/>
              <a:t>доступность</a:t>
            </a:r>
            <a:r>
              <a:rPr dirty="0"/>
              <a:t> gateway.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статической настройки через netplan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netplan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addresses: [2001:db8:10:20::10/64].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routes: to: default, via: 2001:db8:10:20::1.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указывают</a:t>
            </a:r>
            <a:r>
              <a:rPr dirty="0"/>
              <a:t> в nameservers, </a:t>
            </a:r>
            <a:r>
              <a:rPr dirty="0" err="1"/>
              <a:t>например</a:t>
            </a:r>
            <a:r>
              <a:rPr dirty="0"/>
              <a:t> 2001:db8:10:20::53.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Применение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netplan</a:t>
            </a:r>
            <a:r>
              <a:rPr dirty="0"/>
              <a:t> apply, а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проверяется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выбирать SLAAC, а когда static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SLAAC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обычных</a:t>
            </a:r>
            <a:r>
              <a:rPr dirty="0"/>
              <a:t>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станций</a:t>
            </a:r>
            <a:r>
              <a:rPr dirty="0"/>
              <a:t> и </a:t>
            </a:r>
            <a:r>
              <a:rPr dirty="0" err="1"/>
              <a:t>временных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Static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, gateway и </a:t>
            </a:r>
            <a:r>
              <a:rPr dirty="0" err="1"/>
              <a:t>инфраструктурных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web01 </a:t>
            </a:r>
            <a:r>
              <a:rPr dirty="0" err="1"/>
              <a:t>случайный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неудобен</a:t>
            </a:r>
            <a:r>
              <a:rPr dirty="0"/>
              <a:t>: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сложно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 в DNS и </a:t>
            </a:r>
            <a:r>
              <a:rPr dirty="0" err="1"/>
              <a:t>документации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клиентской</a:t>
            </a:r>
            <a:r>
              <a:rPr dirty="0"/>
              <a:t> </a:t>
            </a:r>
            <a:r>
              <a:rPr dirty="0" err="1"/>
              <a:t>машины</a:t>
            </a:r>
            <a:r>
              <a:rPr dirty="0"/>
              <a:t> SLAAC </a:t>
            </a:r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ручную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и </a:t>
            </a:r>
            <a:r>
              <a:rPr dirty="0" err="1"/>
              <a:t>риск</a:t>
            </a:r>
            <a:r>
              <a:rPr dirty="0"/>
              <a:t> </a:t>
            </a:r>
            <a:r>
              <a:rPr dirty="0" err="1"/>
              <a:t>ошибок</a:t>
            </a:r>
            <a:r>
              <a:rPr dirty="0"/>
              <a:t> </a:t>
            </a:r>
            <a:r>
              <a:rPr dirty="0" err="1"/>
              <a:t>ввода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SLAAC на клиенте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route show default.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Соседей</a:t>
            </a:r>
            <a:r>
              <a:rPr dirty="0"/>
              <a:t> IPv6 </a:t>
            </a:r>
            <a:r>
              <a:rPr dirty="0" err="1"/>
              <a:t>смотрят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neigh show.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fe80::,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RA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маршрутизаторе</a:t>
            </a:r>
            <a:r>
              <a:rPr dirty="0"/>
              <a:t> и </a:t>
            </a:r>
            <a:r>
              <a:rPr dirty="0" err="1"/>
              <a:t>подключение</a:t>
            </a:r>
            <a:r>
              <a:rPr dirty="0"/>
              <a:t> к </a:t>
            </a:r>
            <a:r>
              <a:rPr dirty="0" err="1"/>
              <a:t>нужной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SLAAC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отправляет</a:t>
            </a:r>
            <a:r>
              <a:rPr dirty="0"/>
              <a:t> RA,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prefix.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 prefix, и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Firewall </a:t>
            </a:r>
            <a:r>
              <a:rPr dirty="0" err="1"/>
              <a:t>блокирует</a:t>
            </a:r>
            <a:r>
              <a:rPr dirty="0"/>
              <a:t> ICMPv6,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ломаются</a:t>
            </a:r>
            <a:r>
              <a:rPr dirty="0"/>
              <a:t> </a:t>
            </a:r>
            <a:r>
              <a:rPr dirty="0" err="1"/>
              <a:t>соседство</a:t>
            </a:r>
            <a:r>
              <a:rPr dirty="0"/>
              <a:t> и </a:t>
            </a:r>
            <a:r>
              <a:rPr dirty="0" err="1"/>
              <a:t>автоконфигурация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ожидает</a:t>
            </a:r>
            <a:r>
              <a:rPr dirty="0"/>
              <a:t> lease-</a:t>
            </a:r>
            <a:r>
              <a:rPr dirty="0" err="1"/>
              <a:t>файл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в DHCPv4, </a:t>
            </a:r>
            <a:r>
              <a:rPr dirty="0" err="1"/>
              <a:t>но</a:t>
            </a:r>
            <a:r>
              <a:rPr dirty="0"/>
              <a:t> SLAAC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хранит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таким</a:t>
            </a:r>
            <a:r>
              <a:rPr dirty="0"/>
              <a:t> </a:t>
            </a:r>
            <a:r>
              <a:rPr dirty="0" err="1"/>
              <a:t>способом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IPv6 gateway и таблица маршрутизации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Gateway в IPv6 -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выходит</a:t>
            </a:r>
            <a:r>
              <a:rPr dirty="0"/>
              <a:t> в </a:t>
            </a:r>
            <a:r>
              <a:rPr dirty="0" err="1"/>
              <a:t>другие</a:t>
            </a:r>
            <a:r>
              <a:rPr dirty="0"/>
              <a:t> IPv6-сети.</a:t>
            </a:r>
          </a:p>
          <a:p>
            <a:pPr indent="354013">
              <a:defRPr sz="3600"/>
            </a:pPr>
            <a:r>
              <a:rPr dirty="0" err="1"/>
              <a:t>Без</a:t>
            </a:r>
            <a:r>
              <a:rPr dirty="0"/>
              <a:t> gateway 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общаться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с </a:t>
            </a:r>
            <a:r>
              <a:rPr dirty="0" err="1"/>
              <a:t>узлами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локального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в IPv6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неизвестных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Linux IPv6-маршруты </a:t>
            </a:r>
            <a:r>
              <a:rPr dirty="0" err="1"/>
              <a:t>смотрят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IPv4.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Connected route и default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Connected route </a:t>
            </a:r>
            <a:r>
              <a:rPr dirty="0" err="1"/>
              <a:t>появляется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интерфейсе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с prefix.</a:t>
            </a:r>
          </a:p>
          <a:p>
            <a:pPr indent="354013">
              <a:defRPr sz="3600"/>
            </a:pPr>
            <a:r>
              <a:rPr dirty="0"/>
              <a:t>Default route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</a:t>
            </a:r>
            <a:r>
              <a:rPr dirty="0" err="1"/>
              <a:t>отправлять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остальное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default route: default via 2001:db8:10:20::1 dev ens33.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default route </a:t>
            </a:r>
            <a:r>
              <a:rPr dirty="0" err="1"/>
              <a:t>отсутствует</a:t>
            </a:r>
            <a:r>
              <a:rPr dirty="0"/>
              <a:t>,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, а </a:t>
            </a:r>
            <a:r>
              <a:rPr dirty="0" err="1"/>
              <a:t>внешняя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маршрутов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route show </a:t>
            </a:r>
            <a:r>
              <a:rPr dirty="0" err="1"/>
              <a:t>выводит</a:t>
            </a:r>
            <a:r>
              <a:rPr dirty="0"/>
              <a:t> IPv6-таблицу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route show default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ip</a:t>
            </a:r>
            <a:r>
              <a:rPr dirty="0"/>
              <a:t> -6 route get 2001:db8:ffff::1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выберет</a:t>
            </a:r>
            <a:r>
              <a:rPr dirty="0"/>
              <a:t> </a:t>
            </a:r>
            <a:r>
              <a:rPr dirty="0" err="1"/>
              <a:t>ядро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Эта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полезна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уходит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туда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Gateway через link-local 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В IPv6 gateway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link-local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таком</a:t>
            </a:r>
            <a:r>
              <a:rPr dirty="0"/>
              <a:t> </a:t>
            </a:r>
            <a:r>
              <a:rPr dirty="0" err="1"/>
              <a:t>случае</a:t>
            </a:r>
            <a:r>
              <a:rPr dirty="0"/>
              <a:t> </a:t>
            </a:r>
            <a:r>
              <a:rPr dirty="0" err="1"/>
              <a:t>обязательно</a:t>
            </a:r>
            <a:r>
              <a:rPr dirty="0"/>
              <a:t> </a:t>
            </a:r>
            <a:r>
              <a:rPr dirty="0" err="1"/>
              <a:t>указывается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потому</a:t>
            </a:r>
            <a:r>
              <a:rPr dirty="0"/>
              <a:t> </a:t>
            </a:r>
            <a:r>
              <a:rPr dirty="0" err="1"/>
              <a:t>что</a:t>
            </a:r>
            <a:r>
              <a:rPr dirty="0"/>
              <a:t> link-local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уникальны</a:t>
            </a:r>
            <a:r>
              <a:rPr dirty="0"/>
              <a:t> </a:t>
            </a:r>
            <a:r>
              <a:rPr dirty="0" err="1"/>
              <a:t>глобально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: default via fe80::1 dev ens33.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,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поймет</a:t>
            </a:r>
            <a:r>
              <a:rPr dirty="0"/>
              <a:t>, в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сегменте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gateway.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маршрутизации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задан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default route </a:t>
            </a:r>
            <a:r>
              <a:rPr dirty="0" err="1"/>
              <a:t>отсутствует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</a:t>
            </a:r>
            <a:r>
              <a:rPr dirty="0" err="1"/>
              <a:t>находится</a:t>
            </a:r>
            <a:r>
              <a:rPr dirty="0"/>
              <a:t> в </a:t>
            </a:r>
            <a:r>
              <a:rPr dirty="0" err="1"/>
              <a:t>другой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нужного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блокирует</a:t>
            </a:r>
            <a:r>
              <a:rPr dirty="0"/>
              <a:t> ICMPv6,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ломается</a:t>
            </a:r>
            <a:r>
              <a:rPr dirty="0"/>
              <a:t> neighbor discovery.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curl -6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подключается</a:t>
            </a:r>
            <a:r>
              <a:rPr dirty="0"/>
              <a:t> </a:t>
            </a:r>
            <a:r>
              <a:rPr dirty="0" err="1"/>
              <a:t>из-за</a:t>
            </a:r>
            <a:r>
              <a:rPr dirty="0"/>
              <a:t> </a:t>
            </a:r>
            <a:r>
              <a:rPr dirty="0" err="1"/>
              <a:t>отсутствия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IPv6-маршрутизация и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02D1B0-8393-82D9-14A5-CAF415B1A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DNS AAAA-записи и проверка имен по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/>
              <a:t>AAAA-</a:t>
            </a:r>
            <a:r>
              <a:rPr dirty="0" err="1"/>
              <a:t>запись</a:t>
            </a:r>
            <a:r>
              <a:rPr dirty="0"/>
              <a:t> DNS </a:t>
            </a:r>
            <a:r>
              <a:rPr dirty="0" err="1"/>
              <a:t>связывает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 с IPv6-адресом.</a:t>
            </a:r>
          </a:p>
          <a:p>
            <a:pPr indent="442913"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IPv6 </a:t>
            </a:r>
            <a:r>
              <a:rPr dirty="0" err="1"/>
              <a:t>ту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логическую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A-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IPv4.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и A, и AAAA-</a:t>
            </a:r>
            <a:r>
              <a:rPr dirty="0" err="1"/>
              <a:t>запись</a:t>
            </a:r>
            <a:r>
              <a:rPr dirty="0"/>
              <a:t>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IPv6.</a:t>
            </a:r>
          </a:p>
          <a:p>
            <a:pPr indent="442913">
              <a:defRPr sz="3600"/>
            </a:pPr>
            <a:r>
              <a:rPr dirty="0" err="1"/>
              <a:t>Поэтому</a:t>
            </a:r>
            <a:r>
              <a:rPr dirty="0"/>
              <a:t> DNS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соответствовать</a:t>
            </a:r>
            <a:r>
              <a:rPr dirty="0"/>
              <a:t> </a:t>
            </a:r>
            <a:r>
              <a:rPr dirty="0" err="1"/>
              <a:t>реальной</a:t>
            </a:r>
            <a:r>
              <a:rPr dirty="0"/>
              <a:t> </a:t>
            </a:r>
            <a:r>
              <a:rPr dirty="0" err="1"/>
              <a:t>готовности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</a:t>
            </a:r>
            <a:r>
              <a:rPr dirty="0" err="1"/>
              <a:t>принимать</a:t>
            </a:r>
            <a:r>
              <a:rPr dirty="0"/>
              <a:t> IPv6-трафик.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AAAA-записи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Имя</a:t>
            </a:r>
            <a:r>
              <a:rPr dirty="0"/>
              <a:t> web01.company.local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2001:db8:10:20::80.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файле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BIND9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выглядит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web01 IN AAAA 2001:db8:10:20::80.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www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сделать</a:t>
            </a:r>
            <a:r>
              <a:rPr dirty="0"/>
              <a:t> CNAME </a:t>
            </a:r>
            <a:r>
              <a:rPr dirty="0" err="1"/>
              <a:t>на</a:t>
            </a:r>
            <a:r>
              <a:rPr dirty="0"/>
              <a:t> web01.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увеличить</a:t>
            </a:r>
            <a:r>
              <a:rPr dirty="0"/>
              <a:t> serial и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синтаксис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AAAA через dig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Команда</a:t>
            </a:r>
            <a:r>
              <a:rPr dirty="0"/>
              <a:t> dig AAAA web01.company.local </a:t>
            </a:r>
            <a:r>
              <a:rPr dirty="0" err="1"/>
              <a:t>запрашивает</a:t>
            </a:r>
            <a:r>
              <a:rPr dirty="0"/>
              <a:t> IPv6-адрес </a:t>
            </a:r>
            <a:r>
              <a:rPr dirty="0" err="1"/>
              <a:t>имени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с </a:t>
            </a:r>
            <a:r>
              <a:rPr dirty="0" err="1"/>
              <a:t>указанием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: dig @2001:db8:10:20::53 web01.company.local AAAA.</a:t>
            </a:r>
          </a:p>
          <a:p>
            <a:pPr indent="354013">
              <a:defRPr sz="3600"/>
            </a:pPr>
            <a:r>
              <a:rPr dirty="0"/>
              <a:t>В ANSWER SECTION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ожидаемый</a:t>
            </a:r>
            <a:r>
              <a:rPr dirty="0"/>
              <a:t> IPv6-адрес.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ответа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зону</a:t>
            </a:r>
            <a:r>
              <a:rPr dirty="0"/>
              <a:t> DNS, serial, </a:t>
            </a:r>
            <a:r>
              <a:rPr dirty="0" err="1"/>
              <a:t>службу</a:t>
            </a:r>
            <a:r>
              <a:rPr dirty="0"/>
              <a:t> named и firewall.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приложения по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DNS-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</a:t>
            </a:r>
            <a:r>
              <a:rPr dirty="0" err="1"/>
              <a:t>сам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: curl -6 http://web01.company.local </a:t>
            </a:r>
            <a:r>
              <a:rPr dirty="0" err="1"/>
              <a:t>обращается</a:t>
            </a:r>
            <a:r>
              <a:rPr dirty="0"/>
              <a:t> к web-</a:t>
            </a:r>
            <a:r>
              <a:rPr dirty="0" err="1"/>
              <a:t>серверу</a:t>
            </a:r>
            <a:r>
              <a:rPr dirty="0"/>
              <a:t> </a:t>
            </a:r>
            <a:r>
              <a:rPr dirty="0" err="1"/>
              <a:t>именно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dig </a:t>
            </a:r>
            <a:r>
              <a:rPr dirty="0" err="1"/>
              <a:t>работает</a:t>
            </a:r>
            <a:r>
              <a:rPr dirty="0"/>
              <a:t>, а curl </a:t>
            </a:r>
            <a:r>
              <a:rPr dirty="0" err="1"/>
              <a:t>нет</a:t>
            </a:r>
            <a:r>
              <a:rPr dirty="0"/>
              <a:t>, DNS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главный</a:t>
            </a:r>
            <a:r>
              <a:rPr dirty="0"/>
              <a:t> </a:t>
            </a:r>
            <a:r>
              <a:rPr dirty="0" err="1"/>
              <a:t>подозреваемый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Дальше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, firewall, </a:t>
            </a:r>
            <a:r>
              <a:rPr dirty="0" err="1"/>
              <a:t>порт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 web-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AAAA-записей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AAAA-</a:t>
            </a:r>
            <a:r>
              <a:rPr dirty="0" err="1"/>
              <a:t>записи</a:t>
            </a:r>
            <a:r>
              <a:rPr dirty="0"/>
              <a:t> </a:t>
            </a: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DNS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IPv6, </a:t>
            </a:r>
            <a:r>
              <a:rPr dirty="0" err="1"/>
              <a:t>но</a:t>
            </a:r>
            <a:r>
              <a:rPr dirty="0"/>
              <a:t> firewall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разрешает</a:t>
            </a:r>
            <a:r>
              <a:rPr dirty="0"/>
              <a:t> </a:t>
            </a:r>
            <a:r>
              <a:rPr dirty="0" err="1"/>
              <a:t>вход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Имя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IPv4, </a:t>
            </a:r>
            <a:r>
              <a:rPr dirty="0" err="1"/>
              <a:t>поэтому</a:t>
            </a:r>
            <a:r>
              <a:rPr dirty="0"/>
              <a:t> </a:t>
            </a: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замечает</a:t>
            </a:r>
            <a:r>
              <a:rPr dirty="0"/>
              <a:t> </a:t>
            </a:r>
            <a:r>
              <a:rPr dirty="0" err="1"/>
              <a:t>поломку</a:t>
            </a:r>
            <a:r>
              <a:rPr dirty="0"/>
              <a:t> IPv6.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Serial </a:t>
            </a:r>
            <a:r>
              <a:rPr dirty="0" err="1"/>
              <a:t>зоны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увеличен</a:t>
            </a:r>
            <a:r>
              <a:rPr dirty="0"/>
              <a:t>, и secondary DNS </a:t>
            </a:r>
            <a:r>
              <a:rPr dirty="0" err="1"/>
              <a:t>продолжает</a:t>
            </a:r>
            <a:r>
              <a:rPr dirty="0"/>
              <a:t> </a:t>
            </a:r>
            <a:r>
              <a:rPr dirty="0" err="1"/>
              <a:t>отдавать</a:t>
            </a:r>
            <a:r>
              <a:rPr dirty="0"/>
              <a:t> </a:t>
            </a:r>
            <a:r>
              <a:rPr dirty="0" err="1"/>
              <a:t>старый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Диагностика</a:t>
            </a:r>
            <a:r>
              <a:rPr dirty="0"/>
              <a:t> IPv6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идти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цепочке</a:t>
            </a:r>
            <a:r>
              <a:rPr dirty="0"/>
              <a:t>: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маршрут</a:t>
            </a:r>
            <a:r>
              <a:rPr dirty="0"/>
              <a:t>, DNS,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приложение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Нельзя</a:t>
            </a:r>
            <a:r>
              <a:rPr dirty="0"/>
              <a:t> </a:t>
            </a:r>
            <a:r>
              <a:rPr dirty="0" err="1"/>
              <a:t>начинать</a:t>
            </a:r>
            <a:r>
              <a:rPr dirty="0"/>
              <a:t> </a:t>
            </a:r>
            <a:r>
              <a:rPr dirty="0" err="1"/>
              <a:t>сразу</a:t>
            </a:r>
            <a:r>
              <a:rPr dirty="0"/>
              <a:t> с </a:t>
            </a:r>
            <a:r>
              <a:rPr dirty="0" err="1"/>
              <a:t>браузера</a:t>
            </a:r>
            <a:r>
              <a:rPr dirty="0"/>
              <a:t>: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скрывает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каком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возникла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Каждая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отвечать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диагностический</a:t>
            </a:r>
            <a:r>
              <a:rPr dirty="0"/>
              <a:t> </a:t>
            </a:r>
            <a:r>
              <a:rPr dirty="0" err="1"/>
              <a:t>вопрос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фиксировать</a:t>
            </a:r>
            <a:r>
              <a:rPr dirty="0"/>
              <a:t> в </a:t>
            </a:r>
            <a:r>
              <a:rPr dirty="0" err="1"/>
              <a:t>отчете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чек-листе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1: интерфейс и адрес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ip</a:t>
            </a:r>
            <a:r>
              <a:rPr dirty="0"/>
              <a:t> link show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включен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 ens33 </a:t>
            </a:r>
            <a:r>
              <a:rPr dirty="0" err="1"/>
              <a:t>показывает</a:t>
            </a:r>
            <a:r>
              <a:rPr dirty="0"/>
              <a:t> IPv6-адреса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минимум</a:t>
            </a:r>
            <a:r>
              <a:rPr dirty="0"/>
              <a:t> link-local </a:t>
            </a:r>
            <a:r>
              <a:rPr dirty="0" err="1"/>
              <a:t>адрес</a:t>
            </a:r>
            <a:r>
              <a:rPr dirty="0"/>
              <a:t> и,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маршрутизируемой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, global </a:t>
            </a:r>
            <a:r>
              <a:rPr dirty="0" err="1"/>
              <a:t>или</a:t>
            </a:r>
            <a:r>
              <a:rPr dirty="0"/>
              <a:t> ULA-</a:t>
            </a:r>
            <a:r>
              <a:rPr dirty="0" err="1"/>
              <a:t>адрес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отсутствует</a:t>
            </a:r>
            <a:r>
              <a:rPr dirty="0"/>
              <a:t>,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netplan</a:t>
            </a:r>
            <a:r>
              <a:rPr dirty="0"/>
              <a:t>, RA, </a:t>
            </a: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подключение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2: маршрут и 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ip</a:t>
            </a:r>
            <a:r>
              <a:rPr dirty="0"/>
              <a:t> -6 route show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IPv6-маршрутизации.</a:t>
            </a:r>
          </a:p>
          <a:p>
            <a:pPr indent="354013">
              <a:defRPr sz="3600"/>
            </a:pPr>
            <a:r>
              <a:rPr dirty="0" err="1"/>
              <a:t>ip</a:t>
            </a:r>
            <a:r>
              <a:rPr dirty="0"/>
              <a:t> -6 route show default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ping -6 2001:db8:10:20::1 </a:t>
            </a:r>
            <a:r>
              <a:rPr dirty="0" err="1"/>
              <a:t>проверяет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gateway </a:t>
            </a:r>
            <a:r>
              <a:rPr dirty="0" err="1"/>
              <a:t>по</a:t>
            </a:r>
            <a:r>
              <a:rPr dirty="0"/>
              <a:t> IPv6.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, </a:t>
            </a:r>
            <a:r>
              <a:rPr dirty="0" err="1"/>
              <a:t>дальнейшие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бессмысленны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3: DNS и имя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dig AAAA </a:t>
            </a:r>
            <a:r>
              <a:rPr dirty="0" err="1"/>
              <a:t>имя_сервера</a:t>
            </a:r>
            <a:r>
              <a:rPr dirty="0"/>
              <a:t> </a:t>
            </a:r>
            <a:r>
              <a:rPr dirty="0" err="1"/>
              <a:t>проверяет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IPv6-адрес </a:t>
            </a:r>
            <a:r>
              <a:rPr dirty="0" err="1"/>
              <a:t>возвращает</a:t>
            </a:r>
            <a:r>
              <a:rPr dirty="0"/>
              <a:t> DNS.</a:t>
            </a:r>
          </a:p>
          <a:p>
            <a:pPr indent="354013">
              <a:defRPr sz="3600"/>
            </a:pPr>
            <a:r>
              <a:rPr dirty="0" err="1"/>
              <a:t>resolvectl</a:t>
            </a:r>
            <a:r>
              <a:rPr dirty="0"/>
              <a:t> status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недоступен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временно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IPv4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адресу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отделять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к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известному</a:t>
            </a:r>
            <a:r>
              <a:rPr dirty="0"/>
              <a:t> </a:t>
            </a:r>
            <a:r>
              <a:rPr dirty="0" err="1"/>
              <a:t>адресу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Шаг 4: порт, firewall и приложение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ss -</a:t>
            </a:r>
            <a:r>
              <a:rPr dirty="0" err="1"/>
              <a:t>lntp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показывает</a:t>
            </a:r>
            <a:r>
              <a:rPr dirty="0"/>
              <a:t>,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нужный</a:t>
            </a:r>
            <a:r>
              <a:rPr dirty="0"/>
              <a:t> TCP-</a:t>
            </a:r>
            <a:r>
              <a:rPr dirty="0" err="1"/>
              <a:t>порт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curl -6 -v http://адрес_или_имя </a:t>
            </a:r>
            <a:r>
              <a:rPr dirty="0" err="1"/>
              <a:t>показывает</a:t>
            </a:r>
            <a:r>
              <a:rPr dirty="0"/>
              <a:t> </a:t>
            </a:r>
            <a:r>
              <a:rPr dirty="0" err="1"/>
              <a:t>попытку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IPv6.</a:t>
            </a:r>
          </a:p>
          <a:p>
            <a:pPr indent="354013">
              <a:defRPr sz="3600"/>
            </a:pPr>
            <a:r>
              <a:rPr dirty="0" err="1"/>
              <a:t>nft</a:t>
            </a:r>
            <a:r>
              <a:rPr dirty="0"/>
              <a:t> list ruleset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ufw</a:t>
            </a:r>
            <a:r>
              <a:rPr dirty="0"/>
              <a:t> status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firewall.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порт</a:t>
            </a:r>
            <a:r>
              <a:rPr dirty="0"/>
              <a:t> </a:t>
            </a:r>
            <a:r>
              <a:rPr dirty="0" err="1"/>
              <a:t>слушает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127.0.0.1 </a:t>
            </a:r>
            <a:r>
              <a:rPr dirty="0" err="1"/>
              <a:t>или</a:t>
            </a:r>
            <a:r>
              <a:rPr dirty="0"/>
              <a:t> ::1,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к </a:t>
            </a:r>
            <a:r>
              <a:rPr dirty="0" err="1"/>
              <a:t>нему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подключится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записывать в отчет по диагностике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IPv6-адрес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клиента</a:t>
            </a:r>
            <a:r>
              <a:rPr dirty="0"/>
              <a:t> с prefix.</a:t>
            </a:r>
          </a:p>
          <a:p>
            <a:pPr indent="354013">
              <a:defRPr sz="3600"/>
            </a:pPr>
            <a:r>
              <a:rPr dirty="0"/>
              <a:t>Default gateway и </a:t>
            </a:r>
            <a:r>
              <a:rPr dirty="0" err="1"/>
              <a:t>результат</a:t>
            </a:r>
            <a:r>
              <a:rPr dirty="0"/>
              <a:t> ping -6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него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AAAA-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 и </a:t>
            </a:r>
            <a:r>
              <a:rPr dirty="0" err="1"/>
              <a:t>результат</a:t>
            </a:r>
            <a:r>
              <a:rPr dirty="0"/>
              <a:t> dig.</a:t>
            </a:r>
          </a:p>
          <a:p>
            <a:pPr indent="354013">
              <a:defRPr sz="3600"/>
            </a:pPr>
            <a:r>
              <a:rPr dirty="0" err="1"/>
              <a:t>Результат</a:t>
            </a:r>
            <a:r>
              <a:rPr dirty="0"/>
              <a:t> curl -6 и </a:t>
            </a:r>
            <a:r>
              <a:rPr dirty="0" err="1"/>
              <a:t>вывод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порта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firewall.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: </a:t>
            </a:r>
            <a:r>
              <a:rPr dirty="0" err="1"/>
              <a:t>цепочка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EB063B-A3D4-76DE-7F78-4890D609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IPv6 изучается отдельно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IPv6 -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длинный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, а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логика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 и </a:t>
            </a:r>
            <a:r>
              <a:rPr dirty="0" err="1"/>
              <a:t>диагностики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IPv6 </a:t>
            </a:r>
            <a:r>
              <a:rPr dirty="0" err="1"/>
              <a:t>почти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prefix /64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пользовательской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У </a:t>
            </a:r>
            <a:r>
              <a:rPr dirty="0" err="1"/>
              <a:t>интерфейса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IPv6-адресов с </a:t>
            </a:r>
            <a:r>
              <a:rPr dirty="0" err="1"/>
              <a:t>разным</a:t>
            </a:r>
            <a:r>
              <a:rPr dirty="0"/>
              <a:t> </a:t>
            </a:r>
            <a:r>
              <a:rPr dirty="0" err="1"/>
              <a:t>назначением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, gateway, DNS-</a:t>
            </a:r>
            <a:r>
              <a:rPr dirty="0" err="1"/>
              <a:t>запись</a:t>
            </a:r>
            <a:r>
              <a:rPr dirty="0"/>
              <a:t> и </a:t>
            </a:r>
            <a:r>
              <a:rPr dirty="0" err="1"/>
              <a:t>маршрут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IPv6-адрес и prefix на практике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адреса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: 2001:db8:10:20::10/64.</a:t>
            </a:r>
          </a:p>
          <a:p>
            <a:pPr indent="354013">
              <a:defRPr sz="3600"/>
            </a:pPr>
            <a:r>
              <a:rPr dirty="0" err="1"/>
              <a:t>Часть</a:t>
            </a:r>
            <a:r>
              <a:rPr dirty="0"/>
              <a:t> 2001:db8:10:20::/64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Часть</a:t>
            </a:r>
            <a:r>
              <a:rPr dirty="0"/>
              <a:t> ::10 </a:t>
            </a:r>
            <a:r>
              <a:rPr dirty="0" err="1"/>
              <a:t>обозначает</a:t>
            </a:r>
            <a:r>
              <a:rPr dirty="0"/>
              <a:t> </a:t>
            </a:r>
            <a:r>
              <a:rPr dirty="0" err="1"/>
              <a:t>конкретный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 </a:t>
            </a:r>
            <a:r>
              <a:rPr dirty="0" err="1"/>
              <a:t>командой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Link-local адрес: зачем он нужен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08774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Link-local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fe80:: и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сегмента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и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соседства</a:t>
            </a:r>
            <a:r>
              <a:rPr dirty="0"/>
              <a:t>, router advertisement и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обращении</a:t>
            </a:r>
            <a:r>
              <a:rPr dirty="0"/>
              <a:t> к link-local </a:t>
            </a:r>
            <a:r>
              <a:rPr dirty="0" err="1"/>
              <a:t>адресу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указывают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: ping -6 fe80::1%ens33.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global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link-local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жива</a:t>
            </a:r>
            <a:r>
              <a:rPr dirty="0"/>
              <a:t> </a:t>
            </a:r>
            <a:r>
              <a:rPr dirty="0" err="1"/>
              <a:t>ли</a:t>
            </a:r>
            <a:r>
              <a:rPr dirty="0"/>
              <a:t>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Статическая IPv6-настройка в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Статический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, DNS, gateway и </a:t>
            </a:r>
            <a:r>
              <a:rPr dirty="0" err="1"/>
              <a:t>других</a:t>
            </a:r>
            <a:r>
              <a:rPr dirty="0"/>
              <a:t> </a:t>
            </a:r>
            <a:r>
              <a:rPr dirty="0" err="1"/>
              <a:t>постоянных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netplan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задают</a:t>
            </a:r>
            <a:r>
              <a:rPr dirty="0"/>
              <a:t> addresses, gateway6 </a:t>
            </a:r>
            <a:r>
              <a:rPr dirty="0" err="1"/>
              <a:t>или</a:t>
            </a:r>
            <a:r>
              <a:rPr dirty="0"/>
              <a:t> routes, nameservers.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изменения</a:t>
            </a:r>
            <a:r>
              <a:rPr dirty="0"/>
              <a:t> </a:t>
            </a:r>
            <a:r>
              <a:rPr dirty="0" err="1"/>
              <a:t>файла</a:t>
            </a:r>
            <a:r>
              <a:rPr dirty="0"/>
              <a:t> </a:t>
            </a:r>
            <a:r>
              <a:rPr dirty="0" err="1"/>
              <a:t>конфигурации</a:t>
            </a:r>
            <a:r>
              <a:rPr dirty="0"/>
              <a:t> </a:t>
            </a:r>
            <a:r>
              <a:rPr dirty="0" err="1"/>
              <a:t>применяют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netplan</a:t>
            </a:r>
            <a:r>
              <a:rPr dirty="0"/>
              <a:t> apply.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 и </a:t>
            </a:r>
            <a:r>
              <a:rPr dirty="0" err="1"/>
              <a:t>ip</a:t>
            </a:r>
            <a:r>
              <a:rPr dirty="0"/>
              <a:t> -6 route show.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фрагмента netplan для IPv6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6776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addresses: [2001:db8:10:20::10/64] </a:t>
            </a:r>
            <a:r>
              <a:rPr dirty="0" err="1"/>
              <a:t>задает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routes: default via 2001:db8:10:20::1 </a:t>
            </a:r>
            <a:r>
              <a:rPr dirty="0" err="1"/>
              <a:t>задает</a:t>
            </a:r>
            <a:r>
              <a:rPr dirty="0"/>
              <a:t> IPv6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nameservers: addresses: [2001:db8:10:20::53] </a:t>
            </a:r>
            <a:r>
              <a:rPr dirty="0" err="1"/>
              <a:t>задает</a:t>
            </a:r>
            <a:r>
              <a:rPr dirty="0"/>
              <a:t> DNS-</a:t>
            </a:r>
            <a:r>
              <a:rPr dirty="0" err="1"/>
              <a:t>сервер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gateway </a:t>
            </a:r>
            <a:r>
              <a:rPr dirty="0" err="1"/>
              <a:t>указан</a:t>
            </a:r>
            <a:r>
              <a:rPr dirty="0"/>
              <a:t> </a:t>
            </a:r>
            <a:r>
              <a:rPr dirty="0" err="1"/>
              <a:t>неверно</a:t>
            </a:r>
            <a:r>
              <a:rPr dirty="0"/>
              <a:t>,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а </a:t>
            </a:r>
            <a:r>
              <a:rPr dirty="0" err="1"/>
              <a:t>внешние</a:t>
            </a:r>
            <a:r>
              <a:rPr dirty="0"/>
              <a:t> IPv6-адреса </a:t>
            </a:r>
            <a:r>
              <a:rPr dirty="0" err="1"/>
              <a:t>нет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SLAAC и router advertisement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SLAAC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клиенту</a:t>
            </a:r>
            <a:r>
              <a:rPr dirty="0"/>
              <a:t> </a:t>
            </a:r>
            <a:r>
              <a:rPr dirty="0" err="1"/>
              <a:t>получить</a:t>
            </a:r>
            <a:r>
              <a:rPr dirty="0"/>
              <a:t> IPv6-адрес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объявления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Router Advertisement </a:t>
            </a:r>
            <a:r>
              <a:rPr dirty="0" err="1"/>
              <a:t>сообщает</a:t>
            </a:r>
            <a:r>
              <a:rPr dirty="0"/>
              <a:t> prefix, gateway и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параметров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SLAAC </a:t>
            </a:r>
            <a:r>
              <a:rPr dirty="0" err="1"/>
              <a:t>удобен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чаще</a:t>
            </a:r>
            <a:r>
              <a:rPr dirty="0"/>
              <a:t> </a:t>
            </a:r>
            <a:r>
              <a:rPr dirty="0" err="1"/>
              <a:t>выбирают</a:t>
            </a:r>
            <a:r>
              <a:rPr dirty="0"/>
              <a:t> </a:t>
            </a:r>
            <a:r>
              <a:rPr dirty="0" err="1"/>
              <a:t>статический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SLAAC: </a:t>
            </a:r>
            <a:r>
              <a:rPr dirty="0" err="1"/>
              <a:t>ip</a:t>
            </a:r>
            <a:r>
              <a:rPr dirty="0"/>
              <a:t> -6 route show default.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AAAA-запись и проверка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AAAA-</a:t>
            </a:r>
            <a:r>
              <a:rPr dirty="0" err="1"/>
              <a:t>запись</a:t>
            </a:r>
            <a:r>
              <a:rPr dirty="0"/>
              <a:t> </a:t>
            </a:r>
            <a:r>
              <a:rPr dirty="0" err="1"/>
              <a:t>связывает</a:t>
            </a:r>
            <a:r>
              <a:rPr dirty="0"/>
              <a:t> DNS-</a:t>
            </a:r>
            <a:r>
              <a:rPr dirty="0" err="1"/>
              <a:t>имя</a:t>
            </a:r>
            <a:r>
              <a:rPr dirty="0"/>
              <a:t> с IPv6-адресом.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: dig AAAA web01.company.local.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обращения</a:t>
            </a:r>
            <a:r>
              <a:rPr dirty="0"/>
              <a:t> к web-</a:t>
            </a:r>
            <a:r>
              <a:rPr dirty="0" err="1"/>
              <a:t>службе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IPv6: curl -6 http://web01.company.local.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dig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curl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работает</a:t>
            </a:r>
            <a:r>
              <a:rPr dirty="0"/>
              <a:t>,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, firewall и </a:t>
            </a:r>
            <a:r>
              <a:rPr dirty="0" err="1"/>
              <a:t>службу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для IPv6 не копирует IPv4 автоматически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IPv4-правила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защищают</a:t>
            </a:r>
            <a:r>
              <a:rPr dirty="0"/>
              <a:t> и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разрешают</a:t>
            </a:r>
            <a:r>
              <a:rPr dirty="0"/>
              <a:t> IPv6-трафик </a:t>
            </a:r>
            <a:r>
              <a:rPr dirty="0" err="1"/>
              <a:t>сами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отдельно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семейства</a:t>
            </a:r>
            <a:r>
              <a:rPr dirty="0"/>
              <a:t> </a:t>
            </a:r>
            <a:r>
              <a:rPr dirty="0" err="1"/>
              <a:t>inet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ip6.</a:t>
            </a:r>
          </a:p>
          <a:p>
            <a:pPr indent="354013">
              <a:defRPr sz="3600"/>
            </a:pPr>
            <a:r>
              <a:rPr dirty="0" err="1"/>
              <a:t>Пример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nftables</a:t>
            </a:r>
            <a:r>
              <a:rPr dirty="0"/>
              <a:t>: </a:t>
            </a:r>
            <a:r>
              <a:rPr dirty="0" err="1"/>
              <a:t>sudo</a:t>
            </a:r>
            <a:r>
              <a:rPr dirty="0"/>
              <a:t> </a:t>
            </a:r>
            <a:r>
              <a:rPr dirty="0" err="1"/>
              <a:t>nft</a:t>
            </a:r>
            <a:r>
              <a:rPr dirty="0"/>
              <a:t> list ruleset.</a:t>
            </a:r>
          </a:p>
          <a:p>
            <a:pPr indent="354013">
              <a:defRPr sz="3600"/>
            </a:pPr>
            <a:r>
              <a:rPr dirty="0" err="1"/>
              <a:t>Типичная</a:t>
            </a:r>
            <a:r>
              <a:rPr dirty="0"/>
              <a:t> </a:t>
            </a:r>
            <a:r>
              <a:rPr dirty="0" err="1"/>
              <a:t>ошибка</a:t>
            </a:r>
            <a:r>
              <a:rPr dirty="0"/>
              <a:t>: 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IPv4,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закрыт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IPv6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</a:t>
            </a:r>
            <a:r>
              <a:rPr dirty="0" err="1"/>
              <a:t>addr</a:t>
            </a:r>
            <a:r>
              <a:rPr dirty="0"/>
              <a:t> show.</a:t>
            </a:r>
          </a:p>
          <a:p>
            <a:pPr indent="354013">
              <a:defRPr sz="3600"/>
            </a:pPr>
            <a:r>
              <a:rPr dirty="0" err="1"/>
              <a:t>Затем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: </a:t>
            </a:r>
            <a:r>
              <a:rPr dirty="0" err="1"/>
              <a:t>ip</a:t>
            </a:r>
            <a:r>
              <a:rPr dirty="0"/>
              <a:t> -6 route show.</a:t>
            </a:r>
          </a:p>
          <a:p>
            <a:pPr indent="354013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этого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gateway: ping -6 </a:t>
            </a:r>
            <a:r>
              <a:rPr dirty="0" err="1"/>
              <a:t>адрес_gateway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последнем</a:t>
            </a:r>
            <a:r>
              <a:rPr dirty="0"/>
              <a:t> </a:t>
            </a:r>
            <a:r>
              <a:rPr dirty="0" err="1"/>
              <a:t>шаге</a:t>
            </a:r>
            <a:r>
              <a:rPr dirty="0"/>
              <a:t> </a:t>
            </a:r>
            <a:r>
              <a:rPr dirty="0" err="1"/>
              <a:t>проверяют</a:t>
            </a:r>
            <a:r>
              <a:rPr dirty="0"/>
              <a:t> DNS и </a:t>
            </a:r>
            <a:r>
              <a:rPr dirty="0" err="1"/>
              <a:t>приложение</a:t>
            </a:r>
            <a:r>
              <a:rPr dirty="0"/>
              <a:t>: dig AAAA и curl -6.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рассматривается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инфраструктуры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отдельная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Настройка</a:t>
            </a:r>
            <a:r>
              <a:rPr dirty="0"/>
              <a:t> </a:t>
            </a:r>
            <a:r>
              <a:rPr dirty="0" err="1"/>
              <a:t>считается</a:t>
            </a:r>
            <a:r>
              <a:rPr dirty="0"/>
              <a:t> </a:t>
            </a:r>
            <a:r>
              <a:rPr dirty="0" err="1"/>
              <a:t>завершенной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результата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Журналы</a:t>
            </a:r>
            <a:r>
              <a:rPr dirty="0"/>
              <a:t>,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и </a:t>
            </a:r>
            <a:r>
              <a:rPr dirty="0" err="1"/>
              <a:t>документация</a:t>
            </a:r>
            <a:r>
              <a:rPr dirty="0"/>
              <a:t> </a:t>
            </a:r>
            <a:r>
              <a:rPr dirty="0" err="1"/>
              <a:t>обязательны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отчета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последовательно</a:t>
            </a:r>
            <a:r>
              <a:rPr dirty="0"/>
              <a:t>: </a:t>
            </a:r>
            <a:r>
              <a:rPr dirty="0" err="1"/>
              <a:t>конфигурация</a:t>
            </a:r>
            <a:r>
              <a:rPr dirty="0"/>
              <a:t>,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порт</a:t>
            </a:r>
            <a:r>
              <a:rPr dirty="0"/>
              <a:t>, </a:t>
            </a:r>
            <a:r>
              <a:rPr dirty="0" err="1"/>
              <a:t>клиентская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IPv6-адрес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IPv4-адреса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структуре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prefix в IPv6-адресе?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link-local </a:t>
            </a:r>
            <a:r>
              <a:rPr dirty="0" err="1"/>
              <a:t>адреса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static IPv6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SLAAC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IPv6-адреса </a:t>
            </a:r>
            <a:r>
              <a:rPr dirty="0" err="1"/>
              <a:t>интерфейса</a:t>
            </a:r>
            <a:r>
              <a:rPr dirty="0"/>
              <a:t> в Linux?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IPv6?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DNS-</a:t>
            </a:r>
            <a:r>
              <a:rPr dirty="0" err="1"/>
              <a:t>запись</a:t>
            </a:r>
            <a:r>
              <a:rPr dirty="0"/>
              <a:t> AAAA?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проверить</a:t>
            </a:r>
            <a:r>
              <a:rPr dirty="0"/>
              <a:t> </a:t>
            </a:r>
            <a:r>
              <a:rPr dirty="0" err="1"/>
              <a:t>доступность</a:t>
            </a:r>
            <a:r>
              <a:rPr dirty="0"/>
              <a:t> web-</a:t>
            </a:r>
            <a:r>
              <a:rPr dirty="0" err="1"/>
              <a:t>сервиса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IPv6?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BBDEC-34EC-B40F-F324-E692EBC6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0C4A80-E7F5-E565-672D-6EC346671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" y="87384"/>
            <a:ext cx="12000271" cy="6578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8412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82E19-0DCF-5CA0-CDF3-26DD7488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187E320-7470-1FD4-E22F-A0A7CC808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75" y="234085"/>
            <a:ext cx="11911849" cy="572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750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9F8A8-9CE2-DBCE-7846-8768CAE84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8E024F-CCDE-E0AD-153C-DC26C8F40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793857"/>
            <a:ext cx="11569774" cy="528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96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D4EA1-93E9-911F-E876-2ED03CAA1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FA1DD3-E92F-C053-DDAD-0CE6E8FEB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" y="695147"/>
            <a:ext cx="11573012" cy="544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5605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EC72-848D-63BA-5F7E-51D4BE19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A792D3-D119-91A4-90B5-1EFB80FF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350481"/>
            <a:ext cx="11518489" cy="608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086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7A6C-9BDF-718E-A76C-07F36C89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10A586-1E4B-2FD0-B502-CBF8EB4F6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8" y="269753"/>
            <a:ext cx="11606980" cy="63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36333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EC94-79AE-0D4D-74BF-92ADBFBEA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776FE0C-17CF-76BB-67D3-7E75BF73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" y="403062"/>
            <a:ext cx="12000271" cy="615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014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B0B19-5D8D-DB5C-4194-BFECD629C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2DB7B7-DE61-0D37-82C7-B4568A55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202551"/>
            <a:ext cx="11415251" cy="63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428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808B-AC35-4C28-81CB-0BF4E03C0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68F820-6B81-C514-5389-79166A05C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4" y="663678"/>
            <a:ext cx="11716043" cy="55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659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C6944-FC7A-F6E6-A758-5B18D2146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25EBF7-32D4-6069-D917-FE4A4EDD2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6" y="440387"/>
            <a:ext cx="11695471" cy="593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12758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ABC2F-075C-9F55-BB03-E1F504FD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DAC202-E4D1-F403-D3F6-8938B7815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270284"/>
            <a:ext cx="11474245" cy="63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884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7084-D232-00D0-C528-9B70BEA07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3FCC720-0784-55FE-B4F5-AE781FE22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7" y="234282"/>
            <a:ext cx="11621728" cy="641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718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E5BC-87BD-B76A-7243-65A7E1AE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DB6381-97B0-DBE2-E1DA-3F15B2EC1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19" y="364198"/>
            <a:ext cx="11622997" cy="6125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6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4048</Words>
  <Application>Microsoft Office PowerPoint</Application>
  <PresentationFormat>Широкоэкранный</PresentationFormat>
  <Paragraphs>363</Paragraphs>
  <Slides>86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86</vt:i4>
      </vt:variant>
    </vt:vector>
  </HeadingPairs>
  <TitlesOfParts>
    <vt:vector size="8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2026-07-15T11:19:29Z</dcterms:modified>
  <cp:category/>
</cp:coreProperties>
</file>