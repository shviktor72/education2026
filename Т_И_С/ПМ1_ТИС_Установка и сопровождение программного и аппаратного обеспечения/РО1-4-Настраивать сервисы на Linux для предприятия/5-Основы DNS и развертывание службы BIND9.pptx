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88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5. </a:t>
            </a:r>
            <a:r>
              <a:rPr dirty="0" err="1"/>
              <a:t>Основы</a:t>
            </a:r>
            <a:r>
              <a:rPr dirty="0"/>
              <a:t> DNS и </a:t>
            </a:r>
            <a:r>
              <a:rPr dirty="0" err="1"/>
              <a:t>развертывание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BIND9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F5737A-5C09-2DAE-A603-7D931A92A8D5}"/>
              </a:ext>
            </a:extLst>
          </p:cNvPr>
          <p:cNvSpPr txBox="1"/>
          <p:nvPr/>
        </p:nvSpPr>
        <p:spPr>
          <a:xfrm>
            <a:off x="777240" y="442450"/>
            <a:ext cx="10972800" cy="19674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1.4. </a:t>
            </a:r>
            <a:r>
              <a:rPr sz="3200" b="1" dirty="0" err="1">
                <a:solidFill>
                  <a:srgbClr val="143764"/>
                </a:solidFill>
              </a:rPr>
              <a:t>Основные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сервисы</a:t>
            </a:r>
            <a:r>
              <a:rPr sz="3200" b="1" dirty="0">
                <a:solidFill>
                  <a:srgbClr val="143764"/>
                </a:solidFill>
              </a:rPr>
              <a:t> Linux </a:t>
            </a:r>
            <a:r>
              <a:rPr sz="3200" b="1" dirty="0" err="1">
                <a:solidFill>
                  <a:srgbClr val="143764"/>
                </a:solidFill>
              </a:rPr>
              <a:t>для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предприятия</a:t>
            </a:r>
            <a:endParaRPr sz="3200" b="1" dirty="0">
              <a:solidFill>
                <a:srgbClr val="1437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доменные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и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с IP-</a:t>
            </a:r>
            <a:r>
              <a:rPr dirty="0" err="1"/>
              <a:t>адресами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резолверов</a:t>
            </a:r>
            <a:r>
              <a:rPr dirty="0"/>
              <a:t>, </a:t>
            </a:r>
            <a:r>
              <a:rPr dirty="0" err="1"/>
              <a:t>рекурсивных</a:t>
            </a:r>
            <a:r>
              <a:rPr dirty="0"/>
              <a:t> и </a:t>
            </a:r>
            <a:r>
              <a:rPr dirty="0" err="1"/>
              <a:t>авторитетных</a:t>
            </a:r>
            <a:r>
              <a:rPr dirty="0"/>
              <a:t> DNS-</a:t>
            </a:r>
            <a:r>
              <a:rPr dirty="0" err="1"/>
              <a:t>серверов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Различать</a:t>
            </a:r>
            <a:r>
              <a:rPr dirty="0"/>
              <a:t> </a:t>
            </a:r>
            <a:r>
              <a:rPr dirty="0" err="1"/>
              <a:t>рекурсивные</a:t>
            </a:r>
            <a:r>
              <a:rPr dirty="0"/>
              <a:t> и </a:t>
            </a:r>
            <a:r>
              <a:rPr dirty="0" err="1"/>
              <a:t>итеративные</a:t>
            </a:r>
            <a:r>
              <a:rPr dirty="0"/>
              <a:t> DNS-</a:t>
            </a:r>
            <a:r>
              <a:rPr dirty="0" err="1"/>
              <a:t>запросы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ресурсные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DNS и </a:t>
            </a:r>
            <a:r>
              <a:rPr dirty="0" err="1"/>
              <a:t>фрагменты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зон</a:t>
            </a:r>
            <a:r>
              <a:rPr dirty="0"/>
              <a:t> BIND9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 BIND9 и DNS-</a:t>
            </a:r>
            <a:r>
              <a:rPr dirty="0" err="1"/>
              <a:t>ответы</a:t>
            </a:r>
            <a:r>
              <a:rPr dirty="0"/>
              <a:t> с </a:t>
            </a:r>
            <a:r>
              <a:rPr dirty="0" err="1"/>
              <a:t>помощью</a:t>
            </a:r>
            <a:r>
              <a:rPr dirty="0"/>
              <a:t> </a:t>
            </a:r>
            <a:r>
              <a:rPr dirty="0" err="1"/>
              <a:t>административных</a:t>
            </a:r>
            <a:r>
              <a:rPr dirty="0"/>
              <a:t> </a:t>
            </a:r>
            <a:r>
              <a:rPr dirty="0" err="1"/>
              <a:t>команд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Доменные имена и иерархическая структура доменов</a:t>
            </a:r>
          </a:p>
          <a:p>
            <a:pPr>
              <a:defRPr sz="3600"/>
            </a:pPr>
            <a:r>
              <a:t>2. Участники процесса: DNS Resolvers</a:t>
            </a:r>
          </a:p>
          <a:p>
            <a:pPr>
              <a:defRPr sz="3600"/>
            </a:pPr>
            <a:r>
              <a:t>3. Участники процесса: типы DNS-серверов</a:t>
            </a:r>
          </a:p>
          <a:p>
            <a:pPr>
              <a:defRPr sz="3600"/>
            </a:pPr>
            <a:r>
              <a:t>4. DNS-запросы: рекурсивные и итеративные</a:t>
            </a:r>
          </a:p>
          <a:p>
            <a:pPr>
              <a:defRPr sz="3600"/>
            </a:pPr>
            <a:r>
              <a:t>5. Типы ресурсных записей DNS</a:t>
            </a:r>
          </a:p>
          <a:p>
            <a:pPr>
              <a:defRPr sz="3600"/>
            </a:pPr>
            <a:r>
              <a:t>6. Архитектура и установка BIND9 в Linux</a:t>
            </a:r>
          </a:p>
          <a:p>
            <a:pPr>
              <a:defRPr sz="3600"/>
            </a:pPr>
            <a:r>
              <a:t>7. Объявление и конфигурация зон в BIND9</a:t>
            </a:r>
          </a:p>
          <a:p>
            <a:pPr>
              <a:defRPr sz="3600"/>
            </a:pPr>
            <a:r>
              <a:t>8. Проверка, запуск и диагностика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Доменные имена и иерархическая структура доменов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/>
              <a:t>IP-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сетевому</a:t>
            </a:r>
            <a:r>
              <a:rPr dirty="0"/>
              <a:t> </a:t>
            </a:r>
            <a:r>
              <a:rPr dirty="0" err="1"/>
              <a:t>уровню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доставить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конкретного</a:t>
            </a:r>
            <a:r>
              <a:rPr dirty="0"/>
              <a:t> </a:t>
            </a:r>
            <a:r>
              <a:rPr dirty="0" err="1"/>
              <a:t>узла</a:t>
            </a:r>
            <a:endParaRPr dirty="0"/>
          </a:p>
          <a:p>
            <a:pPr indent="354013">
              <a:defRPr sz="3600"/>
            </a:pPr>
            <a:r>
              <a:rPr dirty="0" err="1"/>
              <a:t>Доменное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человеку</a:t>
            </a:r>
            <a:r>
              <a:rPr dirty="0"/>
              <a:t> и </a:t>
            </a:r>
            <a:r>
              <a:rPr dirty="0" err="1"/>
              <a:t>приложению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обращаться</a:t>
            </a:r>
            <a:r>
              <a:rPr dirty="0"/>
              <a:t> к </a:t>
            </a:r>
            <a:r>
              <a:rPr dirty="0" err="1"/>
              <a:t>сервису</a:t>
            </a:r>
            <a:r>
              <a:rPr dirty="0"/>
              <a:t> </a:t>
            </a:r>
            <a:r>
              <a:rPr dirty="0" err="1"/>
              <a:t>понятным</a:t>
            </a:r>
            <a:r>
              <a:rPr dirty="0"/>
              <a:t> </a:t>
            </a:r>
            <a:r>
              <a:rPr dirty="0" err="1"/>
              <a:t>способом</a:t>
            </a:r>
            <a:endParaRPr dirty="0"/>
          </a:p>
          <a:p>
            <a:pPr indent="354013">
              <a:defRPr sz="3600"/>
            </a:pPr>
            <a:r>
              <a:rPr dirty="0"/>
              <a:t>DNS, Domain Name System,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доменных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: </a:t>
            </a:r>
            <a:r>
              <a:rPr dirty="0" err="1"/>
              <a:t>преобразует</a:t>
            </a:r>
            <a:r>
              <a:rPr dirty="0"/>
              <a:t> </a:t>
            </a:r>
            <a:r>
              <a:rPr dirty="0" err="1"/>
              <a:t>доменные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в IP-</a:t>
            </a:r>
            <a:r>
              <a:rPr dirty="0" err="1"/>
              <a:t>адреса</a:t>
            </a:r>
            <a:r>
              <a:rPr dirty="0"/>
              <a:t> и </a:t>
            </a:r>
            <a:r>
              <a:rPr dirty="0" err="1"/>
              <a:t>обратно</a:t>
            </a:r>
            <a:endParaRPr dirty="0"/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web01.company.test </a:t>
            </a:r>
            <a:r>
              <a:rPr dirty="0" err="1"/>
              <a:t>удобнее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в </a:t>
            </a:r>
            <a:r>
              <a:rPr dirty="0" err="1"/>
              <a:t>документации</a:t>
            </a:r>
            <a:r>
              <a:rPr dirty="0"/>
              <a:t> и </a:t>
            </a:r>
            <a:r>
              <a:rPr dirty="0" err="1"/>
              <a:t>настройках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192.168.10.20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DNS </a:t>
            </a:r>
            <a:r>
              <a:rPr dirty="0" err="1"/>
              <a:t>важен</a:t>
            </a:r>
            <a:r>
              <a:rPr dirty="0"/>
              <a:t> </a:t>
            </a:r>
            <a:r>
              <a:rPr dirty="0" err="1"/>
              <a:t>потому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web, </a:t>
            </a:r>
            <a:r>
              <a:rPr dirty="0" err="1"/>
              <a:t>почта</a:t>
            </a:r>
            <a:r>
              <a:rPr dirty="0"/>
              <a:t>, LDAP и </a:t>
            </a: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опираются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стабильные</a:t>
            </a:r>
            <a:r>
              <a:rPr dirty="0"/>
              <a:t> </a:t>
            </a:r>
            <a:r>
              <a:rPr dirty="0" err="1"/>
              <a:t>имена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Иерархия доменных имен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Корневой</a:t>
            </a:r>
            <a:r>
              <a:rPr dirty="0"/>
              <a:t> </a:t>
            </a:r>
            <a:r>
              <a:rPr dirty="0" err="1"/>
              <a:t>домен</a:t>
            </a:r>
            <a:r>
              <a:rPr dirty="0"/>
              <a:t> </a:t>
            </a:r>
            <a:r>
              <a:rPr dirty="0" err="1"/>
              <a:t>обозначается</a:t>
            </a:r>
            <a:r>
              <a:rPr dirty="0"/>
              <a:t> </a:t>
            </a:r>
            <a:r>
              <a:rPr dirty="0" err="1"/>
              <a:t>точкой</a:t>
            </a:r>
            <a:r>
              <a:rPr dirty="0"/>
              <a:t> и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верхнем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иерархии</a:t>
            </a:r>
            <a:r>
              <a:rPr dirty="0"/>
              <a:t> DNS</a:t>
            </a:r>
          </a:p>
          <a:p>
            <a:pPr indent="354013">
              <a:defRPr sz="3600"/>
            </a:pPr>
            <a:r>
              <a:rPr dirty="0"/>
              <a:t>TLD, Top-Level Domain, </a:t>
            </a:r>
            <a:r>
              <a:rPr dirty="0" err="1"/>
              <a:t>домен</a:t>
            </a:r>
            <a:r>
              <a:rPr dirty="0"/>
              <a:t> </a:t>
            </a:r>
            <a:r>
              <a:rPr dirty="0" err="1"/>
              <a:t>верхнего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: .com, .org, .</a:t>
            </a:r>
            <a:r>
              <a:rPr dirty="0" err="1"/>
              <a:t>kz</a:t>
            </a:r>
            <a:r>
              <a:rPr dirty="0"/>
              <a:t>, .test</a:t>
            </a:r>
          </a:p>
          <a:p>
            <a:pPr indent="354013">
              <a:defRPr sz="3600"/>
            </a:pPr>
            <a:r>
              <a:rPr dirty="0" err="1"/>
              <a:t>Домен</a:t>
            </a:r>
            <a:r>
              <a:rPr dirty="0"/>
              <a:t> </a:t>
            </a:r>
            <a:r>
              <a:rPr dirty="0" err="1"/>
              <a:t>второго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: example.com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учебная</a:t>
            </a:r>
            <a:r>
              <a:rPr dirty="0"/>
              <a:t> </a:t>
            </a:r>
            <a:r>
              <a:rPr dirty="0" err="1"/>
              <a:t>внутренняя</a:t>
            </a:r>
            <a:r>
              <a:rPr dirty="0"/>
              <a:t> </a:t>
            </a:r>
            <a:r>
              <a:rPr dirty="0" err="1"/>
              <a:t>зона</a:t>
            </a:r>
            <a:r>
              <a:rPr dirty="0"/>
              <a:t> </a:t>
            </a:r>
            <a:r>
              <a:rPr dirty="0" err="1"/>
              <a:t>company.test</a:t>
            </a:r>
            <a:endParaRPr dirty="0"/>
          </a:p>
          <a:p>
            <a:pPr indent="354013">
              <a:defRPr sz="3600"/>
            </a:pPr>
            <a:r>
              <a:rPr dirty="0" err="1"/>
              <a:t>Домен</a:t>
            </a:r>
            <a:r>
              <a:rPr dirty="0"/>
              <a:t> .test </a:t>
            </a:r>
            <a:r>
              <a:rPr dirty="0" err="1"/>
              <a:t>зарезервирован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тестирования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 в </a:t>
            </a:r>
            <a:r>
              <a:rPr dirty="0" err="1"/>
              <a:t>глобальной</a:t>
            </a:r>
            <a:r>
              <a:rPr dirty="0"/>
              <a:t> </a:t>
            </a:r>
            <a:r>
              <a:rPr dirty="0" err="1"/>
              <a:t>корневой</a:t>
            </a:r>
            <a:r>
              <a:rPr dirty="0"/>
              <a:t> </a:t>
            </a:r>
            <a:r>
              <a:rPr dirty="0" err="1"/>
              <a:t>зоне</a:t>
            </a:r>
            <a:endParaRPr dirty="0"/>
          </a:p>
          <a:p>
            <a:pPr indent="354013">
              <a:defRPr sz="3600"/>
            </a:pPr>
            <a:r>
              <a:rPr dirty="0" err="1"/>
              <a:t>Поддомен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 </a:t>
            </a:r>
            <a:r>
              <a:rPr dirty="0" err="1"/>
              <a:t>уточняет</a:t>
            </a:r>
            <a:r>
              <a:rPr dirty="0"/>
              <a:t> </a:t>
            </a:r>
            <a:r>
              <a:rPr dirty="0" err="1"/>
              <a:t>объект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домена</a:t>
            </a:r>
            <a:r>
              <a:rPr dirty="0"/>
              <a:t>: web01.company.test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иерархия</a:t>
            </a:r>
            <a:r>
              <a:rPr dirty="0"/>
              <a:t> </a:t>
            </a:r>
            <a:r>
              <a:rPr dirty="0" err="1"/>
              <a:t>доменных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39CD98-2E8D-CF60-7674-56CDB7DC9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FQDN и точка в конце имени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Полная</a:t>
            </a:r>
            <a:r>
              <a:rPr dirty="0"/>
              <a:t> </a:t>
            </a:r>
            <a:r>
              <a:rPr dirty="0" err="1"/>
              <a:t>форма</a:t>
            </a:r>
            <a:r>
              <a:rPr dirty="0"/>
              <a:t> FQDN </a:t>
            </a:r>
            <a:r>
              <a:rPr dirty="0" err="1"/>
              <a:t>технически</a:t>
            </a:r>
            <a:r>
              <a:rPr dirty="0"/>
              <a:t> </a:t>
            </a:r>
            <a:r>
              <a:rPr dirty="0" err="1"/>
              <a:t>заканчивается</a:t>
            </a:r>
            <a:r>
              <a:rPr dirty="0"/>
              <a:t> </a:t>
            </a:r>
            <a:r>
              <a:rPr dirty="0" err="1"/>
              <a:t>точкой</a:t>
            </a:r>
            <a:r>
              <a:rPr dirty="0"/>
              <a:t> </a:t>
            </a:r>
            <a:r>
              <a:rPr dirty="0" err="1"/>
              <a:t>корневого</a:t>
            </a:r>
            <a:r>
              <a:rPr dirty="0"/>
              <a:t> </a:t>
            </a:r>
            <a:r>
              <a:rPr dirty="0" err="1"/>
              <a:t>домена</a:t>
            </a:r>
            <a:r>
              <a:rPr dirty="0"/>
              <a:t>: web01.company.test.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пользовательских</a:t>
            </a:r>
            <a:r>
              <a:rPr dirty="0"/>
              <a:t> </a:t>
            </a:r>
            <a:r>
              <a:rPr dirty="0" err="1"/>
              <a:t>интерфейсах</a:t>
            </a:r>
            <a:r>
              <a:rPr dirty="0"/>
              <a:t> </a:t>
            </a:r>
            <a:r>
              <a:rPr dirty="0" err="1"/>
              <a:t>последнюю</a:t>
            </a:r>
            <a:r>
              <a:rPr dirty="0"/>
              <a:t> </a:t>
            </a:r>
            <a:r>
              <a:rPr dirty="0" err="1"/>
              <a:t>точку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скрывают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в </a:t>
            </a:r>
            <a:r>
              <a:rPr dirty="0" err="1"/>
              <a:t>файлах</a:t>
            </a:r>
            <a:r>
              <a:rPr dirty="0"/>
              <a:t> </a:t>
            </a:r>
            <a:r>
              <a:rPr dirty="0" err="1"/>
              <a:t>зон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важна</a:t>
            </a:r>
            <a:endParaRPr dirty="0"/>
          </a:p>
          <a:p>
            <a:pPr indent="354013">
              <a:defRPr sz="3600"/>
            </a:pPr>
            <a:r>
              <a:rPr dirty="0" err="1"/>
              <a:t>Имя</a:t>
            </a:r>
            <a:r>
              <a:rPr dirty="0"/>
              <a:t> web01.company.test. </a:t>
            </a:r>
            <a:r>
              <a:rPr dirty="0" err="1"/>
              <a:t>считается</a:t>
            </a:r>
            <a:r>
              <a:rPr dirty="0"/>
              <a:t> </a:t>
            </a:r>
            <a:r>
              <a:rPr dirty="0" err="1"/>
              <a:t>абсолютным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дополняется</a:t>
            </a:r>
            <a:r>
              <a:rPr dirty="0"/>
              <a:t> </a:t>
            </a:r>
            <a:r>
              <a:rPr dirty="0" err="1"/>
              <a:t>текущей</a:t>
            </a:r>
            <a:r>
              <a:rPr dirty="0"/>
              <a:t> </a:t>
            </a:r>
            <a:r>
              <a:rPr dirty="0" err="1"/>
              <a:t>зоной</a:t>
            </a:r>
            <a:endParaRPr dirty="0"/>
          </a:p>
          <a:p>
            <a:pPr indent="354013">
              <a:defRPr sz="3600"/>
            </a:pPr>
            <a:r>
              <a:rPr dirty="0" err="1"/>
              <a:t>Имя</a:t>
            </a:r>
            <a:r>
              <a:rPr dirty="0"/>
              <a:t> web01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точки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воспринято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относительное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company.test</a:t>
            </a:r>
            <a:endParaRPr dirty="0"/>
          </a:p>
          <a:p>
            <a:pPr indent="354013">
              <a:defRPr sz="3600"/>
            </a:pPr>
            <a:r>
              <a:rPr dirty="0" err="1"/>
              <a:t>Ошибка</a:t>
            </a:r>
            <a:r>
              <a:rPr dirty="0"/>
              <a:t> с </a:t>
            </a:r>
            <a:r>
              <a:rPr dirty="0" err="1"/>
              <a:t>точкой</a:t>
            </a:r>
            <a:r>
              <a:rPr dirty="0"/>
              <a:t> в </a:t>
            </a:r>
            <a:r>
              <a:rPr dirty="0" err="1"/>
              <a:t>конце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привести</a:t>
            </a:r>
            <a:r>
              <a:rPr dirty="0"/>
              <a:t> к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вида</a:t>
            </a:r>
            <a:r>
              <a:rPr dirty="0"/>
              <a:t> web01.company.test.company.test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Участники процесса: DNS Resolvers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открывает</a:t>
            </a:r>
            <a:r>
              <a:rPr dirty="0"/>
              <a:t> </a:t>
            </a:r>
            <a:r>
              <a:rPr dirty="0" err="1"/>
              <a:t>сайт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оно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DNS-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самостоятельно</a:t>
            </a:r>
            <a:endParaRPr dirty="0"/>
          </a:p>
          <a:p>
            <a:pPr indent="354013">
              <a:defRPr sz="3600"/>
            </a:pPr>
            <a:r>
              <a:rPr dirty="0"/>
              <a:t>Resolver, </a:t>
            </a:r>
            <a:r>
              <a:rPr dirty="0" err="1"/>
              <a:t>резолвер</a:t>
            </a:r>
            <a:r>
              <a:rPr dirty="0"/>
              <a:t>: </a:t>
            </a:r>
            <a:r>
              <a:rPr dirty="0" err="1"/>
              <a:t>компонент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приложению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 DNS-</a:t>
            </a:r>
            <a:r>
              <a:rPr dirty="0" err="1"/>
              <a:t>ответ</a:t>
            </a:r>
            <a:endParaRPr dirty="0"/>
          </a:p>
          <a:p>
            <a:pPr indent="354013">
              <a:defRPr sz="3600"/>
            </a:pPr>
            <a:r>
              <a:rPr dirty="0"/>
              <a:t>Stub Resolver,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резолвер</a:t>
            </a:r>
            <a:r>
              <a:rPr dirty="0"/>
              <a:t>: </a:t>
            </a:r>
            <a:r>
              <a:rPr dirty="0" err="1"/>
              <a:t>часть</a:t>
            </a:r>
            <a:r>
              <a:rPr dirty="0"/>
              <a:t> ОС </a:t>
            </a:r>
            <a:r>
              <a:rPr dirty="0" err="1"/>
              <a:t>клиента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приложения</a:t>
            </a:r>
            <a:endParaRPr dirty="0"/>
          </a:p>
          <a:p>
            <a:pPr indent="354013">
              <a:defRPr sz="3600"/>
            </a:pP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резолвер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и </a:t>
            </a:r>
            <a:r>
              <a:rPr dirty="0" err="1"/>
              <a:t>отправляет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указанному</a:t>
            </a:r>
            <a:r>
              <a:rPr dirty="0"/>
              <a:t> DNS-</a:t>
            </a:r>
            <a:r>
              <a:rPr dirty="0" err="1"/>
              <a:t>серверу</a:t>
            </a:r>
            <a:endParaRPr dirty="0"/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определить</a:t>
            </a:r>
            <a:r>
              <a:rPr dirty="0"/>
              <a:t>, </a:t>
            </a:r>
            <a:r>
              <a:rPr dirty="0" err="1"/>
              <a:t>какой</a:t>
            </a:r>
            <a:r>
              <a:rPr dirty="0"/>
              <a:t> DNS-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реально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клиент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Recursive Resolver как посредник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Recursive Resolver, </a:t>
            </a:r>
            <a:r>
              <a:rPr dirty="0" err="1"/>
              <a:t>рекурсивный</a:t>
            </a:r>
            <a:r>
              <a:rPr dirty="0"/>
              <a:t> </a:t>
            </a:r>
            <a:r>
              <a:rPr dirty="0" err="1"/>
              <a:t>резолвер</a:t>
            </a:r>
            <a:r>
              <a:rPr dirty="0"/>
              <a:t>: DNS-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обращаться</a:t>
            </a:r>
            <a:r>
              <a:rPr dirty="0"/>
              <a:t> к </a:t>
            </a:r>
            <a:r>
              <a:rPr dirty="0" err="1"/>
              <a:t>корневым</a:t>
            </a:r>
            <a:r>
              <a:rPr dirty="0"/>
              <a:t>, TLD и </a:t>
            </a:r>
            <a:r>
              <a:rPr dirty="0" err="1"/>
              <a:t>авторитетным</a:t>
            </a:r>
            <a:r>
              <a:rPr dirty="0"/>
              <a:t> DNS-</a:t>
            </a:r>
            <a:r>
              <a:rPr dirty="0" err="1"/>
              <a:t>серверам</a:t>
            </a:r>
            <a:endParaRPr dirty="0"/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кэширует</a:t>
            </a:r>
            <a:r>
              <a:rPr dirty="0"/>
              <a:t> </a:t>
            </a:r>
            <a:r>
              <a:rPr dirty="0" err="1"/>
              <a:t>ответы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TTL,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ускорить</a:t>
            </a:r>
            <a:r>
              <a:rPr dirty="0"/>
              <a:t> </a:t>
            </a:r>
            <a:r>
              <a:rPr dirty="0" err="1"/>
              <a:t>повторные</a:t>
            </a:r>
            <a:r>
              <a:rPr dirty="0"/>
              <a:t> </a:t>
            </a:r>
            <a:r>
              <a:rPr dirty="0" err="1"/>
              <a:t>запросы</a:t>
            </a:r>
            <a:endParaRPr dirty="0"/>
          </a:p>
          <a:p>
            <a:pPr indent="354013">
              <a:defRPr sz="3600"/>
            </a:pPr>
            <a:r>
              <a:rPr dirty="0"/>
              <a:t>DNS-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указан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получен</a:t>
            </a:r>
            <a:r>
              <a:rPr dirty="0"/>
              <a:t> </a:t>
            </a:r>
            <a:r>
              <a:rPr dirty="0" err="1"/>
              <a:t>клиентом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DHCP</a:t>
            </a:r>
          </a:p>
          <a:p>
            <a:pPr indent="354013">
              <a:defRPr sz="3600"/>
            </a:pPr>
            <a:r>
              <a:rPr dirty="0"/>
              <a:t>В Linux </a:t>
            </a:r>
            <a:r>
              <a:rPr dirty="0" err="1"/>
              <a:t>активные</a:t>
            </a:r>
            <a:r>
              <a:rPr dirty="0"/>
              <a:t> DNS-</a:t>
            </a:r>
            <a:r>
              <a:rPr dirty="0" err="1"/>
              <a:t>серверы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</a:t>
            </a:r>
            <a:r>
              <a:rPr dirty="0" err="1"/>
              <a:t>resolvectl</a:t>
            </a:r>
            <a:r>
              <a:rPr dirty="0"/>
              <a:t>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участники</a:t>
            </a:r>
            <a:r>
              <a:rPr dirty="0"/>
              <a:t> DNS-</a:t>
            </a:r>
            <a:r>
              <a:rPr dirty="0" err="1"/>
              <a:t>запроса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F8936A-E3F0-2DBD-714F-7AE9FAB80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DNS-настроек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 err="1"/>
              <a:t>resolvectl</a:t>
            </a:r>
            <a:r>
              <a:rPr dirty="0"/>
              <a:t> status </a:t>
            </a:r>
            <a:r>
              <a:rPr dirty="0" err="1"/>
              <a:t>показывает</a:t>
            </a:r>
            <a:r>
              <a:rPr dirty="0"/>
              <a:t> DNS-</a:t>
            </a:r>
            <a:r>
              <a:rPr dirty="0" err="1"/>
              <a:t>серверы</a:t>
            </a:r>
            <a:r>
              <a:rPr dirty="0"/>
              <a:t> и </a:t>
            </a:r>
            <a:r>
              <a:rPr dirty="0" err="1"/>
              <a:t>домены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в Linux</a:t>
            </a:r>
          </a:p>
          <a:p>
            <a:pPr indent="354013">
              <a:defRPr sz="3600"/>
            </a:pPr>
            <a:r>
              <a:rPr dirty="0"/>
              <a:t>cat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resolv.conf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resolver-</a:t>
            </a:r>
            <a:r>
              <a:rPr dirty="0" err="1"/>
              <a:t>настроек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всю</a:t>
            </a:r>
            <a:r>
              <a:rPr dirty="0"/>
              <a:t> </a:t>
            </a:r>
            <a:r>
              <a:rPr dirty="0" err="1"/>
              <a:t>фактическую</a:t>
            </a:r>
            <a:r>
              <a:rPr dirty="0"/>
              <a:t> </a:t>
            </a:r>
            <a:r>
              <a:rPr dirty="0" err="1"/>
              <a:t>конфигурацию</a:t>
            </a:r>
            <a:endParaRPr dirty="0"/>
          </a:p>
          <a:p>
            <a:pPr indent="354013">
              <a:defRPr sz="3600"/>
            </a:pPr>
            <a:r>
              <a:rPr dirty="0" err="1"/>
              <a:t>getent</a:t>
            </a:r>
            <a:r>
              <a:rPr dirty="0"/>
              <a:t> hosts web01.company.test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системное</a:t>
            </a:r>
            <a:r>
              <a:rPr dirty="0"/>
              <a:t> </a:t>
            </a:r>
            <a:r>
              <a:rPr dirty="0" err="1"/>
              <a:t>разрешение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настроенные</a:t>
            </a:r>
            <a:r>
              <a:rPr dirty="0"/>
              <a:t> </a:t>
            </a:r>
            <a:r>
              <a:rPr dirty="0" err="1"/>
              <a:t>источники</a:t>
            </a:r>
            <a:endParaRPr dirty="0"/>
          </a:p>
          <a:p>
            <a:pPr indent="354013">
              <a:defRPr sz="3600"/>
            </a:pPr>
            <a:r>
              <a:rPr dirty="0" err="1"/>
              <a:t>nslookup</a:t>
            </a:r>
            <a:r>
              <a:rPr dirty="0"/>
              <a:t> web01.company.test 192.168.10.10 </a:t>
            </a:r>
            <a:r>
              <a:rPr dirty="0" err="1"/>
              <a:t>явно</a:t>
            </a:r>
            <a:r>
              <a:rPr dirty="0"/>
              <a:t> </a:t>
            </a:r>
            <a:r>
              <a:rPr dirty="0" err="1"/>
              <a:t>спрашивает</a:t>
            </a:r>
            <a:r>
              <a:rPr dirty="0"/>
              <a:t> </a:t>
            </a:r>
            <a:r>
              <a:rPr dirty="0" err="1"/>
              <a:t>конкретный</a:t>
            </a:r>
            <a:r>
              <a:rPr dirty="0"/>
              <a:t> DNS-</a:t>
            </a:r>
            <a:r>
              <a:rPr dirty="0" err="1"/>
              <a:t>сервер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внешний</a:t>
            </a:r>
            <a:r>
              <a:rPr dirty="0"/>
              <a:t> DNS, </a:t>
            </a:r>
            <a:r>
              <a:rPr dirty="0" err="1"/>
              <a:t>внутренняя</a:t>
            </a:r>
            <a:r>
              <a:rPr dirty="0"/>
              <a:t> </a:t>
            </a:r>
            <a:r>
              <a:rPr dirty="0" err="1"/>
              <a:t>зона</a:t>
            </a:r>
            <a:r>
              <a:rPr dirty="0"/>
              <a:t> </a:t>
            </a:r>
            <a:r>
              <a:rPr dirty="0" err="1"/>
              <a:t>company.test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него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известна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Участники процесса: типы DNS-серверов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354013">
              <a:defRPr sz="3600"/>
            </a:pPr>
            <a:r>
              <a:rPr dirty="0"/>
              <a:t>DNS-</a:t>
            </a:r>
            <a:r>
              <a:rPr dirty="0" err="1"/>
              <a:t>серверы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сводить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к </a:t>
            </a:r>
            <a:r>
              <a:rPr dirty="0" err="1"/>
              <a:t>одному</a:t>
            </a:r>
            <a:r>
              <a:rPr dirty="0"/>
              <a:t> </a:t>
            </a:r>
            <a:r>
              <a:rPr dirty="0" err="1"/>
              <a:t>понятию</a:t>
            </a:r>
            <a:endParaRPr dirty="0"/>
          </a:p>
          <a:p>
            <a:pPr indent="354013">
              <a:defRPr sz="3600"/>
            </a:pPr>
            <a:r>
              <a:rPr dirty="0"/>
              <a:t>Recursive DNS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 </a:t>
            </a:r>
            <a:r>
              <a:rPr dirty="0" err="1"/>
              <a:t>готовым</a:t>
            </a:r>
            <a:r>
              <a:rPr dirty="0"/>
              <a:t> </a:t>
            </a:r>
            <a:r>
              <a:rPr dirty="0" err="1"/>
              <a:t>результатом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ошибкой</a:t>
            </a:r>
            <a:endParaRPr dirty="0"/>
          </a:p>
          <a:p>
            <a:pPr indent="354013">
              <a:defRPr sz="3600"/>
            </a:pPr>
            <a:r>
              <a:rPr dirty="0"/>
              <a:t>Authoritative DNS, </a:t>
            </a:r>
            <a:r>
              <a:rPr dirty="0" err="1"/>
              <a:t>авторитетный</a:t>
            </a:r>
            <a:r>
              <a:rPr dirty="0"/>
              <a:t> DNS: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зону</a:t>
            </a:r>
            <a:r>
              <a:rPr dirty="0"/>
              <a:t> и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истины</a:t>
            </a:r>
            <a:endParaRPr dirty="0"/>
          </a:p>
          <a:p>
            <a:pPr indent="354013">
              <a:defRPr sz="3600"/>
            </a:pPr>
            <a:r>
              <a:rPr dirty="0" err="1"/>
              <a:t>Один</a:t>
            </a:r>
            <a:r>
              <a:rPr dirty="0"/>
              <a:t> BIND9-сервер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настроен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авторитетный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резолвер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комбинированный</a:t>
            </a:r>
            <a:r>
              <a:rPr dirty="0"/>
              <a:t> </a:t>
            </a:r>
            <a:r>
              <a:rPr dirty="0" err="1"/>
              <a:t>сервер</a:t>
            </a: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работе</a:t>
            </a:r>
            <a:r>
              <a:rPr dirty="0"/>
              <a:t> dns01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авторитетным</a:t>
            </a:r>
            <a:r>
              <a:rPr dirty="0"/>
              <a:t> </a:t>
            </a:r>
            <a:r>
              <a:rPr dirty="0" err="1"/>
              <a:t>сервером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внутренней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company.test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Зона, Primary и Secondary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/>
              <a:t>DNS-</a:t>
            </a:r>
            <a:r>
              <a:rPr dirty="0" err="1"/>
              <a:t>зона</a:t>
            </a:r>
            <a:r>
              <a:rPr dirty="0"/>
              <a:t>: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пространства</a:t>
            </a:r>
            <a:r>
              <a:rPr dirty="0"/>
              <a:t> </a:t>
            </a:r>
            <a:r>
              <a:rPr dirty="0" err="1"/>
              <a:t>доменных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,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которую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конкретный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DNS-</a:t>
            </a:r>
            <a:r>
              <a:rPr dirty="0" err="1"/>
              <a:t>серверов</a:t>
            </a:r>
            <a:endParaRPr dirty="0"/>
          </a:p>
          <a:p>
            <a:pPr indent="354013">
              <a:defRPr sz="3600"/>
            </a:pPr>
            <a:r>
              <a:rPr dirty="0"/>
              <a:t>Primary DNS, </a:t>
            </a:r>
            <a:r>
              <a:rPr dirty="0" err="1"/>
              <a:t>основной</a:t>
            </a:r>
            <a:r>
              <a:rPr dirty="0"/>
              <a:t> DNS: 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хранится</a:t>
            </a:r>
            <a:r>
              <a:rPr dirty="0"/>
              <a:t> и </a:t>
            </a:r>
            <a:r>
              <a:rPr dirty="0" err="1"/>
              <a:t>редактируется</a:t>
            </a:r>
            <a:r>
              <a:rPr dirty="0"/>
              <a:t> </a:t>
            </a: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копия</a:t>
            </a:r>
            <a:r>
              <a:rPr dirty="0"/>
              <a:t> </a:t>
            </a:r>
            <a:r>
              <a:rPr dirty="0" err="1"/>
              <a:t>зоны</a:t>
            </a:r>
            <a:endParaRPr dirty="0"/>
          </a:p>
          <a:p>
            <a:pPr indent="354013">
              <a:defRPr sz="3600"/>
            </a:pPr>
            <a:r>
              <a:rPr dirty="0"/>
              <a:t>Secondary DNS, </a:t>
            </a:r>
            <a:r>
              <a:rPr dirty="0" err="1"/>
              <a:t>дополнительный</a:t>
            </a:r>
            <a:r>
              <a:rPr dirty="0"/>
              <a:t> DNS: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копию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с primary-</a:t>
            </a:r>
            <a:r>
              <a:rPr dirty="0" err="1"/>
              <a:t>сервера</a:t>
            </a:r>
            <a:endParaRPr dirty="0"/>
          </a:p>
          <a:p>
            <a:pPr indent="354013">
              <a:defRPr sz="3600"/>
            </a:pPr>
            <a:r>
              <a:rPr dirty="0"/>
              <a:t>Secondary DNS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отказоустойчивость</a:t>
            </a:r>
            <a:r>
              <a:rPr dirty="0"/>
              <a:t> и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отвечать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primary </a:t>
            </a:r>
            <a:r>
              <a:rPr dirty="0" err="1"/>
              <a:t>временно</a:t>
            </a:r>
            <a:r>
              <a:rPr dirty="0"/>
              <a:t> </a:t>
            </a:r>
            <a:r>
              <a:rPr dirty="0" err="1"/>
              <a:t>недоступен</a:t>
            </a:r>
            <a:endParaRPr dirty="0"/>
          </a:p>
          <a:p>
            <a:pPr indent="354013">
              <a:defRPr sz="3600"/>
            </a:pP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разрешена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доверенным</a:t>
            </a:r>
            <a:r>
              <a:rPr dirty="0"/>
              <a:t> secondary-</a:t>
            </a:r>
            <a:r>
              <a:rPr dirty="0" err="1"/>
              <a:t>серверам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рекурсивный</a:t>
            </a:r>
            <a:r>
              <a:rPr dirty="0"/>
              <a:t> и </a:t>
            </a:r>
            <a:r>
              <a:rPr dirty="0" err="1"/>
              <a:t>авторитетный</a:t>
            </a:r>
            <a:r>
              <a:rPr dirty="0"/>
              <a:t> DNS-</a:t>
            </a:r>
            <a:r>
              <a:rPr dirty="0" err="1"/>
              <a:t>сервер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28FCE7-8D65-6430-71D6-2CC33F4A6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DNS-запросы: рекурсивные и итеративные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DNS Query, DNS-</a:t>
            </a:r>
            <a:r>
              <a:rPr dirty="0" err="1"/>
              <a:t>запрос</a:t>
            </a:r>
            <a:r>
              <a:rPr dirty="0"/>
              <a:t>: </a:t>
            </a:r>
            <a:r>
              <a:rPr dirty="0" err="1"/>
              <a:t>вопрос</a:t>
            </a:r>
            <a:r>
              <a:rPr dirty="0"/>
              <a:t> о </a:t>
            </a:r>
            <a:r>
              <a:rPr dirty="0" err="1"/>
              <a:t>значении</a:t>
            </a:r>
            <a:r>
              <a:rPr dirty="0"/>
              <a:t> </a:t>
            </a:r>
            <a:r>
              <a:rPr dirty="0" err="1"/>
              <a:t>конкретной</a:t>
            </a:r>
            <a:r>
              <a:rPr dirty="0"/>
              <a:t> DNS-</a:t>
            </a:r>
            <a:r>
              <a:rPr dirty="0" err="1"/>
              <a:t>записи</a:t>
            </a:r>
            <a:endParaRPr dirty="0"/>
          </a:p>
          <a:p>
            <a:pPr indent="354013">
              <a:defRPr sz="3600"/>
            </a:pPr>
            <a:r>
              <a:rPr dirty="0" err="1"/>
              <a:t>Рекурсивный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: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просит</a:t>
            </a:r>
            <a:r>
              <a:rPr dirty="0"/>
              <a:t> resolver </a:t>
            </a:r>
            <a:r>
              <a:rPr dirty="0" err="1"/>
              <a:t>вернуть</a:t>
            </a:r>
            <a:r>
              <a:rPr dirty="0"/>
              <a:t> </a:t>
            </a:r>
            <a:r>
              <a:rPr dirty="0" err="1"/>
              <a:t>готовый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ошибку</a:t>
            </a:r>
            <a:endParaRPr dirty="0"/>
          </a:p>
          <a:p>
            <a:pPr indent="354013">
              <a:defRPr sz="3600"/>
            </a:pPr>
            <a:r>
              <a:rPr dirty="0" err="1"/>
              <a:t>Итеративный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: resolver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готовый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, а </a:t>
            </a:r>
            <a:r>
              <a:rPr dirty="0" err="1"/>
              <a:t>направление</a:t>
            </a:r>
            <a:r>
              <a:rPr dirty="0"/>
              <a:t> к </a:t>
            </a:r>
            <a:r>
              <a:rPr dirty="0" err="1"/>
              <a:t>следующему</a:t>
            </a:r>
            <a:r>
              <a:rPr dirty="0"/>
              <a:t> </a:t>
            </a:r>
            <a:r>
              <a:rPr dirty="0" err="1"/>
              <a:t>уровню</a:t>
            </a:r>
            <a:r>
              <a:rPr dirty="0"/>
              <a:t> DNS</a:t>
            </a:r>
          </a:p>
          <a:p>
            <a:pPr indent="354013">
              <a:defRPr sz="3600"/>
            </a:pPr>
            <a:r>
              <a:rPr dirty="0" err="1"/>
              <a:t>Публичные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</a:t>
            </a:r>
            <a:r>
              <a:rPr dirty="0" err="1"/>
              <a:t>разбираются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цепочку</a:t>
            </a:r>
            <a:r>
              <a:rPr dirty="0"/>
              <a:t>: </a:t>
            </a:r>
            <a:r>
              <a:rPr dirty="0" err="1"/>
              <a:t>корень</a:t>
            </a:r>
            <a:r>
              <a:rPr dirty="0"/>
              <a:t>, TLD и authoritative DNS</a:t>
            </a:r>
          </a:p>
          <a:p>
            <a:pPr indent="354013">
              <a:defRPr sz="3600"/>
            </a:pPr>
            <a:r>
              <a:rPr dirty="0" err="1"/>
              <a:t>Внутренние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разбираются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внутренний</a:t>
            </a:r>
            <a:r>
              <a:rPr dirty="0"/>
              <a:t> DNS-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знает</a:t>
            </a:r>
            <a:r>
              <a:rPr dirty="0"/>
              <a:t> </a:t>
            </a:r>
            <a:r>
              <a:rPr dirty="0" err="1"/>
              <a:t>эту</a:t>
            </a:r>
            <a:r>
              <a:rPr dirty="0"/>
              <a:t> </a:t>
            </a:r>
            <a:r>
              <a:rPr dirty="0" err="1"/>
              <a:t>зону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Публичное разрешение имени www.example.com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просит</a:t>
            </a:r>
            <a:r>
              <a:rPr dirty="0"/>
              <a:t> recursive resolver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www.example.com</a:t>
            </a:r>
          </a:p>
          <a:p>
            <a:pPr indent="354013">
              <a:defRPr sz="3600"/>
            </a:pPr>
            <a:r>
              <a:rPr dirty="0"/>
              <a:t>Resolver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кэш</a:t>
            </a:r>
            <a:r>
              <a:rPr dirty="0"/>
              <a:t> и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отсутствии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 </a:t>
            </a:r>
            <a:r>
              <a:rPr dirty="0" err="1"/>
              <a:t>обращается</a:t>
            </a:r>
            <a:r>
              <a:rPr dirty="0"/>
              <a:t> к </a:t>
            </a:r>
            <a:r>
              <a:rPr dirty="0" err="1"/>
              <a:t>корневым</a:t>
            </a:r>
            <a:r>
              <a:rPr dirty="0"/>
              <a:t> DNS-</a:t>
            </a:r>
            <a:r>
              <a:rPr dirty="0" err="1"/>
              <a:t>серверам</a:t>
            </a:r>
            <a:endParaRPr dirty="0"/>
          </a:p>
          <a:p>
            <a:pPr indent="354013">
              <a:defRPr sz="3600"/>
            </a:pPr>
            <a:r>
              <a:rPr dirty="0" err="1"/>
              <a:t>Корневые</a:t>
            </a:r>
            <a:r>
              <a:rPr dirty="0"/>
              <a:t> </a:t>
            </a:r>
            <a:r>
              <a:rPr dirty="0" err="1"/>
              <a:t>серверы</a:t>
            </a:r>
            <a:r>
              <a:rPr dirty="0"/>
              <a:t> </a:t>
            </a:r>
            <a:r>
              <a:rPr dirty="0" err="1"/>
              <a:t>направляют</a:t>
            </a:r>
            <a:r>
              <a:rPr dirty="0"/>
              <a:t> resolver к </a:t>
            </a:r>
            <a:r>
              <a:rPr dirty="0" err="1"/>
              <a:t>серверам</a:t>
            </a:r>
            <a:r>
              <a:rPr dirty="0"/>
              <a:t> </a:t>
            </a:r>
            <a:r>
              <a:rPr dirty="0" err="1"/>
              <a:t>домена</a:t>
            </a:r>
            <a:r>
              <a:rPr dirty="0"/>
              <a:t> </a:t>
            </a:r>
            <a:r>
              <a:rPr dirty="0" err="1"/>
              <a:t>верхнего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.com</a:t>
            </a:r>
          </a:p>
          <a:p>
            <a:pPr indent="354013">
              <a:defRPr sz="3600"/>
            </a:pPr>
            <a:r>
              <a:rPr dirty="0" err="1"/>
              <a:t>Серверы</a:t>
            </a:r>
            <a:r>
              <a:rPr dirty="0"/>
              <a:t> .com </a:t>
            </a:r>
            <a:r>
              <a:rPr dirty="0" err="1"/>
              <a:t>направляют</a:t>
            </a:r>
            <a:r>
              <a:rPr dirty="0"/>
              <a:t> resolver к authoritative DNS </a:t>
            </a:r>
            <a:r>
              <a:rPr dirty="0" err="1"/>
              <a:t>зоны</a:t>
            </a:r>
            <a:r>
              <a:rPr dirty="0"/>
              <a:t> example.com</a:t>
            </a:r>
          </a:p>
          <a:p>
            <a:pPr indent="354013">
              <a:defRPr sz="3600"/>
            </a:pPr>
            <a:r>
              <a:rPr dirty="0"/>
              <a:t>Authoritative DNS </a:t>
            </a:r>
            <a:r>
              <a:rPr dirty="0" err="1"/>
              <a:t>возвращает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, а resolver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 и </a:t>
            </a:r>
            <a:r>
              <a:rPr dirty="0" err="1"/>
              <a:t>кэширует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TTL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Внутреннее разрешение имени web01.company.test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Корневые</a:t>
            </a:r>
            <a:r>
              <a:rPr dirty="0"/>
              <a:t> и TLD-</a:t>
            </a:r>
            <a:r>
              <a:rPr dirty="0" err="1"/>
              <a:t>серверы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знают</a:t>
            </a:r>
            <a:r>
              <a:rPr dirty="0"/>
              <a:t> </a:t>
            </a:r>
            <a:r>
              <a:rPr dirty="0" err="1"/>
              <a:t>учебную</a:t>
            </a:r>
            <a:r>
              <a:rPr dirty="0"/>
              <a:t> </a:t>
            </a:r>
            <a:r>
              <a:rPr dirty="0" err="1"/>
              <a:t>внутреннюю</a:t>
            </a:r>
            <a:r>
              <a:rPr dirty="0"/>
              <a:t> </a:t>
            </a:r>
            <a:r>
              <a:rPr dirty="0" err="1"/>
              <a:t>зону</a:t>
            </a:r>
            <a:r>
              <a:rPr dirty="0"/>
              <a:t> </a:t>
            </a:r>
            <a:r>
              <a:rPr dirty="0" err="1"/>
              <a:t>company.test</a:t>
            </a:r>
            <a:endParaRPr dirty="0"/>
          </a:p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отправляет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внутренний</a:t>
            </a:r>
            <a:r>
              <a:rPr dirty="0"/>
              <a:t> DNS-</a:t>
            </a:r>
            <a:r>
              <a:rPr dirty="0" err="1"/>
              <a:t>сервер</a:t>
            </a:r>
            <a:r>
              <a:rPr dirty="0"/>
              <a:t> 192.168.10.10</a:t>
            </a:r>
          </a:p>
          <a:p>
            <a:pPr indent="354013">
              <a:defRPr sz="3600"/>
            </a:pPr>
            <a:r>
              <a:rPr dirty="0"/>
              <a:t>BIND9 </a:t>
            </a:r>
            <a:r>
              <a:rPr dirty="0" err="1"/>
              <a:t>на</a:t>
            </a:r>
            <a:r>
              <a:rPr dirty="0"/>
              <a:t> dns01 </a:t>
            </a:r>
            <a:r>
              <a:rPr dirty="0" err="1"/>
              <a:t>является</a:t>
            </a:r>
            <a:r>
              <a:rPr dirty="0"/>
              <a:t> authoritative DNS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company.test</a:t>
            </a:r>
            <a:endParaRPr dirty="0"/>
          </a:p>
          <a:p>
            <a:pPr indent="354013">
              <a:defRPr sz="3600"/>
            </a:pP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web01.company.test </a:t>
            </a:r>
            <a:r>
              <a:rPr dirty="0" err="1"/>
              <a:t>берется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прямой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db.company.test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BIND9 </a:t>
            </a:r>
            <a:r>
              <a:rPr dirty="0" err="1"/>
              <a:t>совмещает</a:t>
            </a:r>
            <a:r>
              <a:rPr dirty="0"/>
              <a:t> resolver и authoritative DNS,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отдельно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публичное</a:t>
            </a:r>
            <a:r>
              <a:rPr dirty="0"/>
              <a:t> и </a:t>
            </a:r>
            <a:r>
              <a:rPr dirty="0" err="1"/>
              <a:t>внутреннее</a:t>
            </a:r>
            <a:r>
              <a:rPr dirty="0"/>
              <a:t> </a:t>
            </a:r>
            <a:r>
              <a:rPr dirty="0" err="1"/>
              <a:t>разрешение</a:t>
            </a:r>
            <a:r>
              <a:rPr dirty="0"/>
              <a:t> DNS-</a:t>
            </a:r>
            <a:r>
              <a:rPr dirty="0" err="1"/>
              <a:t>имен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EF0C68-D77C-B952-C1EB-2AE800A3F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Кэш и TTL в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Cache, </a:t>
            </a:r>
            <a:r>
              <a:rPr dirty="0" err="1"/>
              <a:t>кэш</a:t>
            </a:r>
            <a:r>
              <a:rPr dirty="0"/>
              <a:t>: </a:t>
            </a:r>
            <a:r>
              <a:rPr dirty="0" err="1"/>
              <a:t>временное</a:t>
            </a:r>
            <a:r>
              <a:rPr dirty="0"/>
              <a:t> </a:t>
            </a:r>
            <a:r>
              <a:rPr dirty="0" err="1"/>
              <a:t>хранение</a:t>
            </a:r>
            <a:r>
              <a:rPr dirty="0"/>
              <a:t> DNS-</a:t>
            </a:r>
            <a:r>
              <a:rPr dirty="0" err="1"/>
              <a:t>ответов</a:t>
            </a:r>
            <a:r>
              <a:rPr dirty="0"/>
              <a:t> у </a:t>
            </a:r>
            <a:r>
              <a:rPr dirty="0" err="1"/>
              <a:t>клиента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resolver</a:t>
            </a:r>
          </a:p>
          <a:p>
            <a:pPr indent="354013">
              <a:defRPr sz="3600"/>
            </a:pPr>
            <a:r>
              <a:rPr dirty="0"/>
              <a:t>TTL, Time To Live,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жизни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в </a:t>
            </a:r>
            <a:r>
              <a:rPr dirty="0" err="1"/>
              <a:t>кэше</a:t>
            </a:r>
            <a:r>
              <a:rPr dirty="0"/>
              <a:t> DNS</a:t>
            </a:r>
          </a:p>
          <a:p>
            <a:pPr indent="354013">
              <a:defRPr sz="3600"/>
            </a:pPr>
            <a:r>
              <a:rPr dirty="0" err="1"/>
              <a:t>Большой</a:t>
            </a:r>
            <a:r>
              <a:rPr dirty="0"/>
              <a:t> TTL </a:t>
            </a:r>
            <a:r>
              <a:rPr dirty="0" err="1"/>
              <a:t>уменьшает</a:t>
            </a:r>
            <a:r>
              <a:rPr dirty="0"/>
              <a:t> </a:t>
            </a:r>
            <a:r>
              <a:rPr dirty="0" err="1"/>
              <a:t>нагрузку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DNS,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замедляет</a:t>
            </a:r>
            <a:r>
              <a:rPr dirty="0"/>
              <a:t> </a:t>
            </a:r>
            <a:r>
              <a:rPr dirty="0" err="1"/>
              <a:t>распространение</a:t>
            </a:r>
            <a:r>
              <a:rPr dirty="0"/>
              <a:t> </a:t>
            </a:r>
            <a:r>
              <a:rPr dirty="0" err="1"/>
              <a:t>изменений</a:t>
            </a:r>
            <a:endParaRPr dirty="0"/>
          </a:p>
          <a:p>
            <a:pPr indent="354013">
              <a:defRPr sz="3600"/>
            </a:pPr>
            <a:r>
              <a:rPr dirty="0" err="1"/>
              <a:t>Малый</a:t>
            </a:r>
            <a:r>
              <a:rPr dirty="0"/>
              <a:t> TTL </a:t>
            </a:r>
            <a:r>
              <a:rPr dirty="0" err="1"/>
              <a:t>ускоряет</a:t>
            </a:r>
            <a:r>
              <a:rPr dirty="0"/>
              <a:t>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увеличивает</a:t>
            </a:r>
            <a:r>
              <a:rPr dirty="0"/>
              <a:t>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запросов</a:t>
            </a:r>
            <a:endParaRPr dirty="0"/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переносом</a:t>
            </a:r>
            <a:r>
              <a:rPr dirty="0"/>
              <a:t> </a:t>
            </a:r>
            <a:r>
              <a:rPr dirty="0" err="1"/>
              <a:t>сервиса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 TTL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временно</a:t>
            </a:r>
            <a:r>
              <a:rPr dirty="0"/>
              <a:t> </a:t>
            </a:r>
            <a:r>
              <a:rPr dirty="0" err="1"/>
              <a:t>уменьшают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Типы ресурсных записей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RR, Resource Record, </a:t>
            </a:r>
            <a:r>
              <a:rPr dirty="0" err="1"/>
              <a:t>ресурсная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: </a:t>
            </a:r>
            <a:r>
              <a:rPr dirty="0" err="1"/>
              <a:t>отдельная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DNS-</a:t>
            </a:r>
            <a:r>
              <a:rPr dirty="0" err="1"/>
              <a:t>зоны</a:t>
            </a:r>
            <a:endParaRPr dirty="0"/>
          </a:p>
          <a:p>
            <a:pPr indent="354013">
              <a:defRPr sz="3600"/>
            </a:pP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, TTL, </a:t>
            </a:r>
            <a:r>
              <a:rPr dirty="0" err="1"/>
              <a:t>класс</a:t>
            </a:r>
            <a:r>
              <a:rPr dirty="0"/>
              <a:t>, </a:t>
            </a:r>
            <a:r>
              <a:rPr dirty="0" err="1"/>
              <a:t>тип</a:t>
            </a:r>
            <a:r>
              <a:rPr dirty="0"/>
              <a:t> и </a:t>
            </a:r>
            <a:r>
              <a:rPr dirty="0" err="1"/>
              <a:t>значение</a:t>
            </a:r>
            <a:endParaRPr dirty="0"/>
          </a:p>
          <a:p>
            <a:pPr indent="354013">
              <a:defRPr sz="3600"/>
            </a:pP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IN, Internet</a:t>
            </a:r>
          </a:p>
          <a:p>
            <a:pPr indent="354013">
              <a:defRPr sz="3600"/>
            </a:pP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: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псевдоним</a:t>
            </a:r>
            <a:r>
              <a:rPr dirty="0"/>
              <a:t>, </a:t>
            </a:r>
            <a:r>
              <a:rPr dirty="0" err="1"/>
              <a:t>почта</a:t>
            </a:r>
            <a:r>
              <a:rPr dirty="0"/>
              <a:t>,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обратное</a:t>
            </a:r>
            <a:r>
              <a:rPr dirty="0"/>
              <a:t> </a:t>
            </a:r>
            <a:r>
              <a:rPr dirty="0" err="1"/>
              <a:t>имя</a:t>
            </a:r>
            <a:endParaRPr dirty="0"/>
          </a:p>
          <a:p>
            <a:pPr indent="354013">
              <a:defRPr sz="3600"/>
            </a:pP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ресурсных</a:t>
            </a:r>
            <a:r>
              <a:rPr dirty="0"/>
              <a:t> </a:t>
            </a:r>
            <a:r>
              <a:rPr dirty="0" err="1"/>
              <a:t>записей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зон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копировать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 </a:t>
            </a:r>
            <a:r>
              <a:rPr dirty="0" err="1"/>
              <a:t>вслепую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типы</a:t>
            </a:r>
            <a:r>
              <a:rPr dirty="0"/>
              <a:t> </a:t>
            </a:r>
            <a:r>
              <a:rPr dirty="0" err="1"/>
              <a:t>ресурсных</a:t>
            </a:r>
            <a:r>
              <a:rPr dirty="0"/>
              <a:t> </a:t>
            </a:r>
            <a:r>
              <a:rPr dirty="0" err="1"/>
              <a:t>записей</a:t>
            </a:r>
            <a:r>
              <a:rPr dirty="0"/>
              <a:t>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3066EB-C90B-889E-D606-06D6B35AB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Адресные и обратные записи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A, Address, </a:t>
            </a:r>
            <a:r>
              <a:rPr dirty="0" err="1"/>
              <a:t>адресная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IPv4: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с IPv4-адресом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AAAA, IPv6 Address, </a:t>
            </a:r>
            <a:r>
              <a:rPr dirty="0" err="1"/>
              <a:t>адресная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IPv6: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с IPv6-адресом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PTR, Pointer, </a:t>
            </a:r>
            <a:r>
              <a:rPr dirty="0" err="1"/>
              <a:t>обратный</a:t>
            </a:r>
            <a:r>
              <a:rPr dirty="0"/>
              <a:t> </a:t>
            </a:r>
            <a:r>
              <a:rPr dirty="0" err="1"/>
              <a:t>указатель</a:t>
            </a:r>
            <a:r>
              <a:rPr dirty="0"/>
              <a:t>: </a:t>
            </a:r>
            <a:r>
              <a:rPr dirty="0" err="1"/>
              <a:t>связывает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 с </a:t>
            </a:r>
            <a:r>
              <a:rPr dirty="0" err="1"/>
              <a:t>доменным</a:t>
            </a:r>
            <a:r>
              <a:rPr dirty="0"/>
              <a:t> </a:t>
            </a:r>
            <a:r>
              <a:rPr dirty="0" err="1"/>
              <a:t>именем</a:t>
            </a:r>
            <a:endParaRPr dirty="0"/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A: web01 IN A 192.168.10.20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PTR: 20 IN PTR web01.company.test.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Служебные записи зоны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CNAME, Canonical Name, </a:t>
            </a:r>
            <a:r>
              <a:rPr dirty="0" err="1"/>
              <a:t>каноническое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: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псевдоним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другое</a:t>
            </a:r>
            <a:r>
              <a:rPr dirty="0"/>
              <a:t> </a:t>
            </a:r>
            <a:r>
              <a:rPr dirty="0" err="1"/>
              <a:t>имя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MX, Mail Exchanger, </a:t>
            </a:r>
            <a:r>
              <a:rPr dirty="0" err="1"/>
              <a:t>почтовый</a:t>
            </a:r>
            <a:r>
              <a:rPr dirty="0"/>
              <a:t> </a:t>
            </a:r>
            <a:r>
              <a:rPr dirty="0" err="1"/>
              <a:t>обменник</a:t>
            </a:r>
            <a:r>
              <a:rPr dirty="0"/>
              <a:t>: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почтовый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домена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NS, Name Server,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: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авторитетные</a:t>
            </a:r>
            <a:r>
              <a:rPr dirty="0"/>
              <a:t> DNS-</a:t>
            </a:r>
            <a:r>
              <a:rPr dirty="0" err="1"/>
              <a:t>серверы</a:t>
            </a:r>
            <a:r>
              <a:rPr dirty="0"/>
              <a:t> </a:t>
            </a:r>
            <a:r>
              <a:rPr dirty="0" err="1"/>
              <a:t>зоны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SOA, Start of Authority, </a:t>
            </a:r>
            <a:r>
              <a:rPr dirty="0" err="1"/>
              <a:t>начальная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: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заголовок</a:t>
            </a:r>
            <a:r>
              <a:rPr dirty="0"/>
              <a:t>, serial и </a:t>
            </a:r>
            <a:r>
              <a:rPr dirty="0" err="1"/>
              <a:t>таймеры</a:t>
            </a:r>
            <a:r>
              <a:rPr dirty="0"/>
              <a:t> </a:t>
            </a:r>
            <a:r>
              <a:rPr dirty="0" err="1"/>
              <a:t>зоны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Serial, Refresh, Retry и Expire в SOA </a:t>
            </a:r>
            <a:r>
              <a:rPr dirty="0" err="1"/>
              <a:t>управляют</a:t>
            </a:r>
            <a:r>
              <a:rPr dirty="0"/>
              <a:t> </a:t>
            </a:r>
            <a:r>
              <a:rPr dirty="0" err="1"/>
              <a:t>обновлением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secondary DNS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выглядит ресурсная запись в файле зоны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: web01 604800 IN A 192.168.10.20</a:t>
            </a:r>
          </a:p>
          <a:p>
            <a:pPr>
              <a:defRPr sz="3600"/>
            </a:pPr>
            <a:r>
              <a:rPr dirty="0"/>
              <a:t>web01 —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относительно</a:t>
            </a:r>
            <a:r>
              <a:rPr dirty="0"/>
              <a:t> </a:t>
            </a:r>
            <a:r>
              <a:rPr dirty="0" err="1"/>
              <a:t>текущей</a:t>
            </a:r>
            <a:r>
              <a:rPr dirty="0"/>
              <a:t> </a:t>
            </a:r>
            <a:r>
              <a:rPr dirty="0" err="1"/>
              <a:t>зоны</a:t>
            </a:r>
            <a:endParaRPr dirty="0"/>
          </a:p>
          <a:p>
            <a:pPr>
              <a:defRPr sz="3600"/>
            </a:pPr>
            <a:r>
              <a:rPr dirty="0"/>
              <a:t>604800 — TTL в </a:t>
            </a:r>
            <a:r>
              <a:rPr dirty="0" err="1"/>
              <a:t>секундах</a:t>
            </a:r>
            <a:endParaRPr dirty="0"/>
          </a:p>
          <a:p>
            <a:pPr>
              <a:defRPr sz="3600"/>
            </a:pPr>
            <a:r>
              <a:rPr dirty="0"/>
              <a:t>IN — </a:t>
            </a:r>
            <a:r>
              <a:rPr dirty="0" err="1"/>
              <a:t>класс</a:t>
            </a:r>
            <a:r>
              <a:rPr dirty="0"/>
              <a:t> Internet</a:t>
            </a:r>
          </a:p>
          <a:p>
            <a:pPr>
              <a:defRPr sz="3600"/>
            </a:pPr>
            <a:r>
              <a:rPr dirty="0"/>
              <a:t>A —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, а 192.168.10.20 —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записи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Архитектура и установка BIND9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BIND9, Berkeley Internet Name Domain, </a:t>
            </a:r>
            <a:r>
              <a:rPr dirty="0" err="1"/>
              <a:t>распространенная</a:t>
            </a:r>
            <a:r>
              <a:rPr dirty="0"/>
              <a:t> </a:t>
            </a:r>
            <a:r>
              <a:rPr dirty="0" err="1"/>
              <a:t>реализация</a:t>
            </a:r>
            <a:r>
              <a:rPr dirty="0"/>
              <a:t> DNS-</a:t>
            </a:r>
            <a:r>
              <a:rPr dirty="0" err="1"/>
              <a:t>сервера</a:t>
            </a:r>
            <a:endParaRPr dirty="0"/>
          </a:p>
          <a:p>
            <a:pPr indent="354013">
              <a:defRPr sz="3600"/>
            </a:pPr>
            <a:r>
              <a:rPr dirty="0"/>
              <a:t>named, name daemon, </a:t>
            </a:r>
            <a:r>
              <a:rPr dirty="0" err="1"/>
              <a:t>демон</a:t>
            </a:r>
            <a:r>
              <a:rPr dirty="0"/>
              <a:t> BIND9: </a:t>
            </a:r>
            <a:r>
              <a:rPr dirty="0" err="1"/>
              <a:t>процесс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обслуживает</a:t>
            </a:r>
            <a:r>
              <a:rPr dirty="0"/>
              <a:t> DNS-</a:t>
            </a:r>
            <a:r>
              <a:rPr dirty="0" err="1"/>
              <a:t>запросы</a:t>
            </a:r>
            <a:endParaRPr dirty="0"/>
          </a:p>
          <a:p>
            <a:pPr indent="354013">
              <a:defRPr sz="3600"/>
            </a:pPr>
            <a:r>
              <a:rPr dirty="0"/>
              <a:t>В Debian и Ubuntu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называется</a:t>
            </a:r>
            <a:r>
              <a:rPr dirty="0"/>
              <a:t> bind9</a:t>
            </a:r>
          </a:p>
          <a:p>
            <a:pPr indent="354013">
              <a:defRPr sz="3600"/>
            </a:pPr>
            <a:r>
              <a:rPr dirty="0" err="1"/>
              <a:t>Пакет</a:t>
            </a:r>
            <a:r>
              <a:rPr dirty="0"/>
              <a:t> bind9 </a:t>
            </a:r>
            <a:r>
              <a:rPr dirty="0" err="1"/>
              <a:t>устанавливает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, bind9-utils и </a:t>
            </a:r>
            <a:r>
              <a:rPr dirty="0" err="1"/>
              <a:t>dnsutils</a:t>
            </a:r>
            <a:r>
              <a:rPr dirty="0"/>
              <a:t> </a:t>
            </a:r>
            <a:r>
              <a:rPr dirty="0" err="1"/>
              <a:t>добавляют</a:t>
            </a:r>
            <a:r>
              <a:rPr dirty="0"/>
              <a:t> </a:t>
            </a:r>
            <a:r>
              <a:rPr dirty="0" err="1"/>
              <a:t>утилиты</a:t>
            </a:r>
            <a:r>
              <a:rPr dirty="0"/>
              <a:t> </a:t>
            </a:r>
            <a:r>
              <a:rPr dirty="0" err="1"/>
              <a:t>проверки</a:t>
            </a:r>
            <a:endParaRPr dirty="0"/>
          </a:p>
          <a:p>
            <a:pPr indent="354013">
              <a:defRPr sz="3600"/>
            </a:pPr>
            <a:r>
              <a:rPr dirty="0"/>
              <a:t>BIND9 </a:t>
            </a:r>
            <a:r>
              <a:rPr dirty="0" err="1"/>
              <a:t>настраивается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в </a:t>
            </a:r>
            <a:r>
              <a:rPr dirty="0" err="1"/>
              <a:t>каталоге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/bind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BIND9 и утилит 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sudo</a:t>
            </a:r>
            <a:r>
              <a:rPr dirty="0"/>
              <a:t> apt update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доступных</a:t>
            </a:r>
            <a:r>
              <a:rPr dirty="0"/>
              <a:t> </a:t>
            </a:r>
            <a:r>
              <a:rPr dirty="0" err="1"/>
              <a:t>пакетов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sudo</a:t>
            </a:r>
            <a:r>
              <a:rPr dirty="0"/>
              <a:t> apt install bind9 bind9-utils </a:t>
            </a:r>
            <a:r>
              <a:rPr dirty="0" err="1"/>
              <a:t>dnsutils</a:t>
            </a:r>
            <a:r>
              <a:rPr dirty="0"/>
              <a:t> -y </a:t>
            </a:r>
            <a:r>
              <a:rPr dirty="0" err="1"/>
              <a:t>устанавливает</a:t>
            </a:r>
            <a:r>
              <a:rPr dirty="0"/>
              <a:t> DNS-</a:t>
            </a:r>
            <a:r>
              <a:rPr dirty="0" err="1"/>
              <a:t>сервер</a:t>
            </a:r>
            <a:r>
              <a:rPr dirty="0"/>
              <a:t> и </a:t>
            </a:r>
            <a:r>
              <a:rPr dirty="0" err="1"/>
              <a:t>утилиты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bind9-utils </a:t>
            </a:r>
            <a:r>
              <a:rPr dirty="0" err="1"/>
              <a:t>добавляет</a:t>
            </a:r>
            <a:r>
              <a:rPr dirty="0"/>
              <a:t> named-</a:t>
            </a:r>
            <a:r>
              <a:rPr dirty="0" err="1"/>
              <a:t>checkconf</a:t>
            </a:r>
            <a:r>
              <a:rPr dirty="0"/>
              <a:t> и named-</a:t>
            </a:r>
            <a:r>
              <a:rPr dirty="0" err="1"/>
              <a:t>checkzone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конфигурации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dnsutils</a:t>
            </a:r>
            <a:r>
              <a:rPr dirty="0"/>
              <a:t> </a:t>
            </a:r>
            <a:r>
              <a:rPr dirty="0" err="1"/>
              <a:t>добавляет</a:t>
            </a:r>
            <a:r>
              <a:rPr dirty="0"/>
              <a:t> dig и </a:t>
            </a:r>
            <a:r>
              <a:rPr dirty="0" err="1"/>
              <a:t>nslookup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клиентской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DNS-</a:t>
            </a:r>
            <a:r>
              <a:rPr dirty="0" err="1"/>
              <a:t>ответов</a:t>
            </a:r>
            <a:endParaRPr dirty="0"/>
          </a:p>
          <a:p>
            <a:pPr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еще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обслуживает</a:t>
            </a:r>
            <a:r>
              <a:rPr dirty="0"/>
              <a:t> </a:t>
            </a:r>
            <a:r>
              <a:rPr dirty="0" err="1"/>
              <a:t>учебную</a:t>
            </a:r>
            <a:r>
              <a:rPr dirty="0"/>
              <a:t> </a:t>
            </a:r>
            <a:r>
              <a:rPr dirty="0" err="1"/>
              <a:t>зону</a:t>
            </a:r>
            <a:r>
              <a:rPr dirty="0"/>
              <a:t>: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объявить</a:t>
            </a:r>
            <a:r>
              <a:rPr dirty="0"/>
              <a:t> и </a:t>
            </a:r>
            <a:r>
              <a:rPr dirty="0" err="1"/>
              <a:t>заполнить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Структура файлов BIND9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3827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named.conf</a:t>
            </a:r>
            <a:r>
              <a:rPr dirty="0"/>
              <a:t> —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подключает</a:t>
            </a:r>
            <a:r>
              <a:rPr dirty="0"/>
              <a:t> </a:t>
            </a:r>
            <a:r>
              <a:rPr dirty="0" err="1"/>
              <a:t>остальные</a:t>
            </a:r>
            <a:r>
              <a:rPr dirty="0"/>
              <a:t> </a:t>
            </a:r>
            <a:r>
              <a:rPr dirty="0" err="1"/>
              <a:t>конфигурации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named.conf.options</a:t>
            </a:r>
            <a:r>
              <a:rPr dirty="0"/>
              <a:t> —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listen-on и recursion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named.conf.local</a:t>
            </a:r>
            <a:r>
              <a:rPr dirty="0"/>
              <a:t> — </a:t>
            </a:r>
            <a:r>
              <a:rPr dirty="0" err="1"/>
              <a:t>объявления</a:t>
            </a:r>
            <a:r>
              <a:rPr dirty="0"/>
              <a:t> </a:t>
            </a:r>
            <a:r>
              <a:rPr dirty="0" err="1"/>
              <a:t>локальных</a:t>
            </a:r>
            <a:r>
              <a:rPr dirty="0"/>
              <a:t> </a:t>
            </a:r>
            <a:r>
              <a:rPr dirty="0" err="1"/>
              <a:t>зон</a:t>
            </a:r>
            <a:r>
              <a:rPr dirty="0"/>
              <a:t> </a:t>
            </a:r>
            <a:r>
              <a:rPr dirty="0" err="1"/>
              <a:t>администратора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db.company.test</a:t>
            </a:r>
            <a:r>
              <a:rPr dirty="0"/>
              <a:t> —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прямой</a:t>
            </a:r>
            <a:r>
              <a:rPr dirty="0"/>
              <a:t> </a:t>
            </a:r>
            <a:r>
              <a:rPr dirty="0" err="1"/>
              <a:t>зоны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db.192.168.10 —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обратной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192.168.10.0/24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BIND9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B64773-9483-BF23-9E7E-1493588B7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Объявление и конфигурация зон в BIND9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Прямая</a:t>
            </a:r>
            <a:r>
              <a:rPr dirty="0"/>
              <a:t> </a:t>
            </a:r>
            <a:r>
              <a:rPr dirty="0" err="1"/>
              <a:t>зона</a:t>
            </a:r>
            <a:r>
              <a:rPr dirty="0"/>
              <a:t> </a:t>
            </a:r>
            <a:r>
              <a:rPr dirty="0" err="1"/>
              <a:t>company.test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разрешения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 в </a:t>
            </a:r>
            <a:r>
              <a:rPr dirty="0" err="1"/>
              <a:t>адреса</a:t>
            </a:r>
            <a:endParaRPr dirty="0"/>
          </a:p>
          <a:p>
            <a:pPr indent="354013">
              <a:defRPr sz="3600"/>
            </a:pPr>
            <a:r>
              <a:rPr dirty="0" err="1"/>
              <a:t>Обратная</a:t>
            </a:r>
            <a:r>
              <a:rPr dirty="0"/>
              <a:t> </a:t>
            </a:r>
            <a:r>
              <a:rPr dirty="0" err="1"/>
              <a:t>зона</a:t>
            </a:r>
            <a:r>
              <a:rPr dirty="0"/>
              <a:t> 10.168.192.in-addr.arpa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разрешения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в </a:t>
            </a:r>
            <a:r>
              <a:rPr dirty="0" err="1"/>
              <a:t>имена</a:t>
            </a:r>
            <a:endParaRPr dirty="0"/>
          </a:p>
          <a:p>
            <a:pPr indent="354013">
              <a:defRPr sz="3600"/>
            </a:pPr>
            <a:r>
              <a:rPr dirty="0" err="1"/>
              <a:t>Обе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объявляются</a:t>
            </a:r>
            <a:r>
              <a:rPr dirty="0"/>
              <a:t> в /</a:t>
            </a:r>
            <a:r>
              <a:rPr dirty="0" err="1"/>
              <a:t>etc</a:t>
            </a:r>
            <a:r>
              <a:rPr dirty="0"/>
              <a:t>/bind/</a:t>
            </a:r>
            <a:r>
              <a:rPr dirty="0" err="1"/>
              <a:t>named.conf.local</a:t>
            </a:r>
            <a:endParaRPr dirty="0"/>
          </a:p>
          <a:p>
            <a:pPr indent="354013">
              <a:defRPr sz="3600"/>
            </a:pPr>
            <a:r>
              <a:rPr dirty="0" err="1"/>
              <a:t>Сами</a:t>
            </a:r>
            <a:r>
              <a:rPr dirty="0"/>
              <a:t> DNS-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хранятся</a:t>
            </a:r>
            <a:r>
              <a:rPr dirty="0"/>
              <a:t> в </a:t>
            </a:r>
            <a:r>
              <a:rPr dirty="0" err="1"/>
              <a:t>отдельных</a:t>
            </a:r>
            <a:r>
              <a:rPr dirty="0"/>
              <a:t> </a:t>
            </a:r>
            <a:r>
              <a:rPr dirty="0" err="1"/>
              <a:t>файлах</a:t>
            </a:r>
            <a:r>
              <a:rPr dirty="0"/>
              <a:t> </a:t>
            </a:r>
            <a:r>
              <a:rPr dirty="0" err="1"/>
              <a:t>db.company.test</a:t>
            </a:r>
            <a:r>
              <a:rPr dirty="0"/>
              <a:t> и db.192.168.10</a:t>
            </a:r>
          </a:p>
          <a:p>
            <a:pPr indent="354013">
              <a:defRPr sz="3600"/>
            </a:pP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объявлением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и </a:t>
            </a:r>
            <a:r>
              <a:rPr dirty="0" err="1"/>
              <a:t>файлом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задается</a:t>
            </a:r>
            <a:r>
              <a:rPr dirty="0"/>
              <a:t> </a:t>
            </a:r>
            <a:r>
              <a:rPr dirty="0" err="1"/>
              <a:t>параметром</a:t>
            </a:r>
            <a:r>
              <a:rPr dirty="0"/>
              <a:t> file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прямая</a:t>
            </a:r>
            <a:r>
              <a:rPr dirty="0"/>
              <a:t> и </a:t>
            </a:r>
            <a:r>
              <a:rPr dirty="0" err="1"/>
              <a:t>обратная</a:t>
            </a:r>
            <a:r>
              <a:rPr dirty="0"/>
              <a:t> DNS-</a:t>
            </a:r>
            <a:r>
              <a:rPr dirty="0" err="1"/>
              <a:t>зона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824F88-031A-4A87-621E-ADEF38031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named.conf.local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399"/>
            <a:ext cx="11312013" cy="56191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zone "</a:t>
            </a:r>
            <a:r>
              <a:rPr dirty="0" err="1"/>
              <a:t>company.test</a:t>
            </a:r>
            <a:r>
              <a:rPr dirty="0"/>
              <a:t>" { type primary; file "/</a:t>
            </a:r>
            <a:r>
              <a:rPr dirty="0" err="1"/>
              <a:t>etc</a:t>
            </a:r>
            <a:r>
              <a:rPr dirty="0"/>
              <a:t>/bind/</a:t>
            </a:r>
            <a:r>
              <a:rPr dirty="0" err="1"/>
              <a:t>db.company.test</a:t>
            </a:r>
            <a:r>
              <a:rPr dirty="0"/>
              <a:t>"; };</a:t>
            </a:r>
          </a:p>
          <a:p>
            <a:pPr>
              <a:defRPr sz="3600"/>
            </a:pPr>
            <a:r>
              <a:rPr dirty="0"/>
              <a:t>zone "10.168.192.in-addr.arpa" { type primary; file "/</a:t>
            </a:r>
            <a:r>
              <a:rPr dirty="0" err="1"/>
              <a:t>etc</a:t>
            </a:r>
            <a:r>
              <a:rPr dirty="0"/>
              <a:t>/bind/db.192.168.10"; };</a:t>
            </a:r>
            <a:endParaRPr lang="ru-RU" dirty="0"/>
          </a:p>
          <a:p>
            <a:pPr>
              <a:defRPr sz="3600"/>
            </a:pP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zone </a:t>
            </a:r>
            <a:r>
              <a:rPr dirty="0" err="1"/>
              <a:t>объявляет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, </a:t>
            </a:r>
            <a:r>
              <a:rPr dirty="0" err="1"/>
              <a:t>которую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обслуживать</a:t>
            </a:r>
            <a:r>
              <a:rPr dirty="0"/>
              <a:t> BIND9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type primary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основную</a:t>
            </a:r>
            <a:r>
              <a:rPr dirty="0"/>
              <a:t> </a:t>
            </a:r>
            <a:r>
              <a:rPr dirty="0" err="1"/>
              <a:t>копию</a:t>
            </a:r>
            <a:r>
              <a:rPr dirty="0"/>
              <a:t> </a:t>
            </a:r>
            <a:r>
              <a:rPr dirty="0" err="1"/>
              <a:t>зоны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file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к </a:t>
            </a:r>
            <a:r>
              <a:rPr dirty="0" err="1"/>
              <a:t>файлу</a:t>
            </a:r>
            <a:r>
              <a:rPr dirty="0"/>
              <a:t> с DNS-</a:t>
            </a:r>
            <a:r>
              <a:rPr dirty="0" err="1"/>
              <a:t>записями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Фрагмент прямой зоны db.company.test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12013" cy="557489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dirty="0"/>
              <a:t>$TTL 604800 </a:t>
            </a:r>
            <a:r>
              <a:rPr dirty="0" err="1"/>
              <a:t>задает</a:t>
            </a:r>
            <a:r>
              <a:rPr dirty="0"/>
              <a:t> TTL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записей</a:t>
            </a:r>
            <a:r>
              <a:rPr dirty="0"/>
              <a:t> </a:t>
            </a:r>
            <a:r>
              <a:rPr dirty="0" err="1"/>
              <a:t>зоны</a:t>
            </a:r>
            <a:endParaRPr dirty="0"/>
          </a:p>
          <a:p>
            <a:pPr>
              <a:defRPr sz="3600"/>
            </a:pPr>
            <a:r>
              <a:rPr dirty="0"/>
              <a:t>@ IN SOA dns01.company.test. </a:t>
            </a:r>
            <a:r>
              <a:rPr dirty="0" err="1"/>
              <a:t>admin.company.test</a:t>
            </a:r>
            <a:r>
              <a:rPr dirty="0"/>
              <a:t>. (2026071601 604800 86400 2419200 604800)</a:t>
            </a:r>
          </a:p>
          <a:p>
            <a:pPr>
              <a:defRPr sz="3600"/>
            </a:pP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@ IN NS dns01.company.test.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авторитетный</a:t>
            </a:r>
            <a:r>
              <a:rPr dirty="0"/>
              <a:t> DNS-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зоны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dns01 IN A 192.168.10.10 и web01 IN A 192.168.10.20 </a:t>
            </a:r>
            <a:r>
              <a:rPr dirty="0" err="1"/>
              <a:t>связывают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с IPv4-адресами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Точка</a:t>
            </a:r>
            <a:r>
              <a:rPr dirty="0"/>
              <a:t> в </a:t>
            </a:r>
            <a:r>
              <a:rPr dirty="0" err="1"/>
              <a:t>конце</a:t>
            </a:r>
            <a:r>
              <a:rPr dirty="0"/>
              <a:t> dns01.company.test.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записано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FQDN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Фрагмент обратной зоны db.192.168.10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399"/>
            <a:ext cx="11326761" cy="5515897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Обратная</a:t>
            </a:r>
            <a:r>
              <a:rPr dirty="0"/>
              <a:t> </a:t>
            </a:r>
            <a:r>
              <a:rPr dirty="0" err="1"/>
              <a:t>зона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192.168.10.0/24 </a:t>
            </a:r>
            <a:r>
              <a:rPr dirty="0" err="1"/>
              <a:t>называется</a:t>
            </a:r>
            <a:r>
              <a:rPr dirty="0"/>
              <a:t> 10.168.192.in-addr.arpa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указывают</a:t>
            </a:r>
            <a:r>
              <a:rPr dirty="0"/>
              <a:t> </a:t>
            </a:r>
            <a:r>
              <a:rPr dirty="0" err="1"/>
              <a:t>последний</a:t>
            </a:r>
            <a:r>
              <a:rPr dirty="0"/>
              <a:t> </a:t>
            </a:r>
            <a:r>
              <a:rPr dirty="0" err="1"/>
              <a:t>октет</a:t>
            </a:r>
            <a:r>
              <a:rPr dirty="0"/>
              <a:t> IPv4-адреса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10 IN PTR dns01.company.test. </a:t>
            </a:r>
            <a:r>
              <a:rPr dirty="0" err="1"/>
              <a:t>связывает</a:t>
            </a:r>
            <a:r>
              <a:rPr dirty="0"/>
              <a:t> 192.168.10.10 с </a:t>
            </a:r>
            <a:r>
              <a:rPr dirty="0" err="1"/>
              <a:t>именем</a:t>
            </a:r>
            <a:r>
              <a:rPr dirty="0"/>
              <a:t> dns01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20 IN PTR web01.company.test. </a:t>
            </a:r>
            <a:r>
              <a:rPr dirty="0" err="1"/>
              <a:t>связывает</a:t>
            </a:r>
            <a:r>
              <a:rPr dirty="0"/>
              <a:t> 192.168.10.20 с </a:t>
            </a:r>
            <a:r>
              <a:rPr dirty="0" err="1"/>
              <a:t>именем</a:t>
            </a:r>
            <a:r>
              <a:rPr dirty="0"/>
              <a:t> web01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PTR-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журналам</a:t>
            </a:r>
            <a:r>
              <a:rPr dirty="0"/>
              <a:t>, </a:t>
            </a:r>
            <a:r>
              <a:rPr dirty="0" err="1"/>
              <a:t>почтовым</a:t>
            </a:r>
            <a:r>
              <a:rPr dirty="0"/>
              <a:t> </a:t>
            </a:r>
            <a:r>
              <a:rPr dirty="0" err="1"/>
              <a:t>системам</a:t>
            </a:r>
            <a:r>
              <a:rPr dirty="0"/>
              <a:t> и </a:t>
            </a:r>
            <a:r>
              <a:rPr dirty="0" err="1"/>
              <a:t>диагностике</a:t>
            </a:r>
            <a:r>
              <a:rPr dirty="0"/>
              <a:t> </a:t>
            </a:r>
            <a:r>
              <a:rPr dirty="0" err="1"/>
              <a:t>показывать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адресов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Serial и передача зоны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38271" cy="542740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Serial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увеличивать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изменении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зоны</a:t>
            </a:r>
            <a:endParaRPr dirty="0"/>
          </a:p>
          <a:p>
            <a:pPr indent="354013">
              <a:defRPr sz="3600"/>
            </a:pPr>
            <a:r>
              <a:rPr dirty="0" err="1"/>
              <a:t>Удобный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serial: YYYYMMDDNN, </a:t>
            </a:r>
            <a:r>
              <a:rPr dirty="0" err="1"/>
              <a:t>например</a:t>
            </a:r>
            <a:r>
              <a:rPr dirty="0"/>
              <a:t> 2026071601</a:t>
            </a:r>
          </a:p>
          <a:p>
            <a:pPr indent="354013">
              <a:defRPr sz="3600"/>
            </a:pPr>
            <a:r>
              <a:rPr dirty="0"/>
              <a:t>AXFR, Authoritative Transfer, </a:t>
            </a:r>
            <a:r>
              <a:rPr dirty="0" err="1"/>
              <a:t>полная</a:t>
            </a:r>
            <a:r>
              <a:rPr dirty="0"/>
              <a:t> </a:t>
            </a: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secondary DNS</a:t>
            </a:r>
          </a:p>
          <a:p>
            <a:pPr indent="354013">
              <a:defRPr sz="3600"/>
            </a:pPr>
            <a:r>
              <a:rPr dirty="0"/>
              <a:t>allow-transfer { 192.168.10.11; };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передачу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серверу</a:t>
            </a:r>
            <a:r>
              <a:rPr dirty="0"/>
              <a:t> dns02</a:t>
            </a:r>
          </a:p>
          <a:p>
            <a:pPr indent="354013">
              <a:defRPr sz="3600"/>
            </a:pPr>
            <a:r>
              <a:rPr dirty="0" err="1"/>
              <a:t>Открытый</a:t>
            </a:r>
            <a:r>
              <a:rPr dirty="0"/>
              <a:t> AXFR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раскрыть</a:t>
            </a:r>
            <a:r>
              <a:rPr dirty="0"/>
              <a:t> </a:t>
            </a:r>
            <a:r>
              <a:rPr dirty="0" err="1"/>
              <a:t>внутренние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и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Проверка, запуск и 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DNS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считать</a:t>
            </a:r>
            <a:r>
              <a:rPr dirty="0"/>
              <a:t> </a:t>
            </a:r>
            <a:r>
              <a:rPr dirty="0" err="1"/>
              <a:t>настроенным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редактирования</a:t>
            </a:r>
            <a:r>
              <a:rPr dirty="0"/>
              <a:t> </a:t>
            </a:r>
            <a:r>
              <a:rPr dirty="0" err="1"/>
              <a:t>файлов</a:t>
            </a:r>
            <a:endParaRPr dirty="0"/>
          </a:p>
          <a:p>
            <a:pPr indent="354013"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проверяется</a:t>
            </a:r>
            <a:r>
              <a:rPr dirty="0"/>
              <a:t> </a:t>
            </a:r>
            <a:r>
              <a:rPr dirty="0" err="1"/>
              <a:t>синтаксис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BIND9</a:t>
            </a:r>
          </a:p>
          <a:p>
            <a:pPr indent="354013"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проверяются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прямой</a:t>
            </a:r>
            <a:r>
              <a:rPr dirty="0"/>
              <a:t> и </a:t>
            </a:r>
            <a:r>
              <a:rPr dirty="0" err="1"/>
              <a:t>обратной</a:t>
            </a:r>
            <a:r>
              <a:rPr dirty="0"/>
              <a:t> </a:t>
            </a:r>
            <a:r>
              <a:rPr dirty="0" err="1"/>
              <a:t>зон</a:t>
            </a:r>
            <a:endParaRPr dirty="0"/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перечитывает</a:t>
            </a:r>
            <a:r>
              <a:rPr dirty="0"/>
              <a:t> </a:t>
            </a:r>
            <a:r>
              <a:rPr dirty="0" err="1"/>
              <a:t>конфигурацию</a:t>
            </a:r>
            <a:endParaRPr dirty="0"/>
          </a:p>
          <a:p>
            <a:pPr indent="354013">
              <a:defRPr sz="3600"/>
            </a:pP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клиентская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dig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DNS и BIND9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5292BF-C420-397F-EBFB-BAF2FC02B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Валидация конфигурации BIND9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38271" cy="557489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sudo</a:t>
            </a:r>
            <a:r>
              <a:rPr dirty="0"/>
              <a:t> named-</a:t>
            </a:r>
            <a:r>
              <a:rPr dirty="0" err="1"/>
              <a:t>checkconf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синтаксис</a:t>
            </a:r>
            <a:r>
              <a:rPr dirty="0"/>
              <a:t> </a:t>
            </a:r>
            <a:r>
              <a:rPr dirty="0" err="1"/>
              <a:t>основных</a:t>
            </a:r>
            <a:r>
              <a:rPr dirty="0"/>
              <a:t> </a:t>
            </a:r>
            <a:r>
              <a:rPr dirty="0" err="1"/>
              <a:t>конфигурационных</a:t>
            </a:r>
            <a:r>
              <a:rPr dirty="0"/>
              <a:t> </a:t>
            </a:r>
            <a:r>
              <a:rPr dirty="0" err="1"/>
              <a:t>файлов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sudo</a:t>
            </a:r>
            <a:r>
              <a:rPr dirty="0"/>
              <a:t> named-</a:t>
            </a:r>
            <a:r>
              <a:rPr dirty="0" err="1"/>
              <a:t>checkzone</a:t>
            </a:r>
            <a:r>
              <a:rPr dirty="0"/>
              <a:t> </a:t>
            </a:r>
            <a:r>
              <a:rPr dirty="0" err="1"/>
              <a:t>company.test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/bind/</a:t>
            </a:r>
            <a:r>
              <a:rPr dirty="0" err="1"/>
              <a:t>db.company.test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прямую</a:t>
            </a:r>
            <a:r>
              <a:rPr dirty="0"/>
              <a:t> </a:t>
            </a:r>
            <a:r>
              <a:rPr dirty="0" err="1"/>
              <a:t>зону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sudo</a:t>
            </a:r>
            <a:r>
              <a:rPr dirty="0"/>
              <a:t> named-</a:t>
            </a:r>
            <a:r>
              <a:rPr dirty="0" err="1"/>
              <a:t>checkzone</a:t>
            </a:r>
            <a:r>
              <a:rPr dirty="0"/>
              <a:t> 10.168.192.in-addr.arpa /</a:t>
            </a:r>
            <a:r>
              <a:rPr dirty="0" err="1"/>
              <a:t>etc</a:t>
            </a:r>
            <a:r>
              <a:rPr dirty="0"/>
              <a:t>/bind/db.192.168.10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обратную</a:t>
            </a:r>
            <a:r>
              <a:rPr dirty="0"/>
              <a:t> </a:t>
            </a:r>
            <a:r>
              <a:rPr dirty="0" err="1"/>
              <a:t>зону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endParaRPr dirty="0"/>
          </a:p>
          <a:p>
            <a:pPr indent="354013">
              <a:defRPr sz="3600"/>
            </a:pPr>
            <a:r>
              <a:rPr dirty="0" err="1"/>
              <a:t>Нормальный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loaded serial и OK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проходит</a:t>
            </a:r>
            <a:r>
              <a:rPr dirty="0"/>
              <a:t>,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перезапускать</a:t>
            </a:r>
            <a:r>
              <a:rPr dirty="0"/>
              <a:t> </a:t>
            </a:r>
            <a:r>
              <a:rPr dirty="0" err="1"/>
              <a:t>нельзя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Запуск службы и проверка 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82516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reload bind9 </a:t>
            </a:r>
            <a:r>
              <a:rPr dirty="0" err="1"/>
              <a:t>перечитывает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полного</a:t>
            </a:r>
            <a:r>
              <a:rPr dirty="0"/>
              <a:t> </a:t>
            </a:r>
            <a:r>
              <a:rPr dirty="0" err="1"/>
              <a:t>перезапуска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systemctl</a:t>
            </a:r>
            <a:r>
              <a:rPr dirty="0"/>
              <a:t> status bind9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запущена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DNS-</a:t>
            </a:r>
            <a:r>
              <a:rPr dirty="0" err="1"/>
              <a:t>служба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journalctl</a:t>
            </a:r>
            <a:r>
              <a:rPr dirty="0"/>
              <a:t> -u bind9 -n 50 --no-pager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последние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BIND9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sudo</a:t>
            </a:r>
            <a:r>
              <a:rPr dirty="0"/>
              <a:t> ss -</a:t>
            </a:r>
            <a:r>
              <a:rPr dirty="0" err="1"/>
              <a:t>lunpt</a:t>
            </a:r>
            <a:r>
              <a:rPr dirty="0"/>
              <a:t> | grep :53 </a:t>
            </a:r>
            <a:r>
              <a:rPr dirty="0" err="1"/>
              <a:t>проверяет</a:t>
            </a:r>
            <a:r>
              <a:rPr dirty="0"/>
              <a:t>,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DNS-</a:t>
            </a:r>
            <a:r>
              <a:rPr dirty="0" err="1"/>
              <a:t>порт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53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слушается</a:t>
            </a:r>
            <a:r>
              <a:rPr dirty="0"/>
              <a:t>,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сможет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 DNS-</a:t>
            </a:r>
            <a:r>
              <a:rPr dirty="0" err="1"/>
              <a:t>ответ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записей через dig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dig, Domain Information Groper, </a:t>
            </a:r>
            <a:r>
              <a:rPr dirty="0" err="1"/>
              <a:t>утилита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отправки</a:t>
            </a:r>
            <a:r>
              <a:rPr dirty="0"/>
              <a:t> DNS-</a:t>
            </a:r>
            <a:r>
              <a:rPr dirty="0" err="1"/>
              <a:t>запросов</a:t>
            </a:r>
            <a:r>
              <a:rPr dirty="0"/>
              <a:t> и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ответа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dig @192.168.10.10 web01.company.test A </a:t>
            </a:r>
            <a:r>
              <a:rPr dirty="0" err="1"/>
              <a:t>проверяет</a:t>
            </a:r>
            <a:r>
              <a:rPr dirty="0"/>
              <a:t> IPv4-адрес web01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dns01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dig @192.168.10.10 </a:t>
            </a:r>
            <a:r>
              <a:rPr dirty="0" err="1"/>
              <a:t>company.test</a:t>
            </a:r>
            <a:r>
              <a:rPr dirty="0"/>
              <a:t> SOA </a:t>
            </a:r>
            <a:r>
              <a:rPr dirty="0" err="1"/>
              <a:t>показывает</a:t>
            </a:r>
            <a:r>
              <a:rPr dirty="0"/>
              <a:t> SOA и serial </a:t>
            </a:r>
            <a:r>
              <a:rPr dirty="0" err="1"/>
              <a:t>зоны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dig @192.168.10.10 -x 192.168.10.20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обратное</a:t>
            </a:r>
            <a:r>
              <a:rPr dirty="0"/>
              <a:t> </a:t>
            </a:r>
            <a:r>
              <a:rPr dirty="0" err="1"/>
              <a:t>разрешение</a:t>
            </a:r>
            <a:r>
              <a:rPr dirty="0"/>
              <a:t> PTR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dig с </a:t>
            </a:r>
            <a:r>
              <a:rPr dirty="0" err="1"/>
              <a:t>указанием</a:t>
            </a:r>
            <a:r>
              <a:rPr dirty="0"/>
              <a:t> @192.168.10.10 </a:t>
            </a:r>
            <a:r>
              <a:rPr dirty="0" err="1"/>
              <a:t>работает</a:t>
            </a:r>
            <a:r>
              <a:rPr dirty="0"/>
              <a:t>, а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стороне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DNS и BIND9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запускается</a:t>
            </a:r>
            <a:r>
              <a:rPr dirty="0"/>
              <a:t>: </a:t>
            </a:r>
            <a:r>
              <a:rPr dirty="0" err="1"/>
              <a:t>проверить</a:t>
            </a:r>
            <a:r>
              <a:rPr dirty="0"/>
              <a:t> named-</a:t>
            </a:r>
            <a:r>
              <a:rPr dirty="0" err="1"/>
              <a:t>checkconf</a:t>
            </a:r>
            <a:r>
              <a:rPr dirty="0"/>
              <a:t> и </a:t>
            </a:r>
            <a:r>
              <a:rPr dirty="0" err="1"/>
              <a:t>journalctl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Зона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загружается</a:t>
            </a:r>
            <a:r>
              <a:rPr dirty="0"/>
              <a:t>: </a:t>
            </a:r>
            <a:r>
              <a:rPr dirty="0" err="1"/>
              <a:t>проверить</a:t>
            </a:r>
            <a:r>
              <a:rPr dirty="0"/>
              <a:t> SOA, NS, serial, </a:t>
            </a:r>
            <a:r>
              <a:rPr dirty="0" err="1"/>
              <a:t>точки</a:t>
            </a:r>
            <a:r>
              <a:rPr dirty="0"/>
              <a:t> и </a:t>
            </a:r>
            <a:r>
              <a:rPr dirty="0" err="1"/>
              <a:t>точки</a:t>
            </a:r>
            <a:r>
              <a:rPr dirty="0"/>
              <a:t> с </a:t>
            </a:r>
            <a:r>
              <a:rPr dirty="0" err="1"/>
              <a:t>запятой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разрешается</a:t>
            </a:r>
            <a:r>
              <a:rPr dirty="0"/>
              <a:t>: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A </a:t>
            </a:r>
            <a:r>
              <a:rPr dirty="0" err="1"/>
              <a:t>или</a:t>
            </a:r>
            <a:r>
              <a:rPr dirty="0"/>
              <a:t> CNAME и </a:t>
            </a:r>
            <a:r>
              <a:rPr dirty="0" err="1"/>
              <a:t>выполнить</a:t>
            </a:r>
            <a:r>
              <a:rPr dirty="0"/>
              <a:t> reload bind9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Обратный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: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reverse zone и PTR-</a:t>
            </a:r>
            <a:r>
              <a:rPr dirty="0" err="1"/>
              <a:t>записи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спрашивает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DNS: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resolvectl</a:t>
            </a:r>
            <a:r>
              <a:rPr dirty="0"/>
              <a:t> status, DHCP и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адаптера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иерархии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 и </a:t>
            </a:r>
            <a:r>
              <a:rPr dirty="0" err="1"/>
              <a:t>ролей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с </a:t>
            </a:r>
            <a:r>
              <a:rPr dirty="0" err="1"/>
              <a:t>конфигурационного</a:t>
            </a:r>
            <a:r>
              <a:rPr dirty="0"/>
              <a:t> </a:t>
            </a:r>
            <a:r>
              <a:rPr dirty="0" err="1"/>
              <a:t>файла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Resolver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, а authoritative DNS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достоверные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зоны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Файлы</a:t>
            </a:r>
            <a:r>
              <a:rPr dirty="0"/>
              <a:t> BIND9 </a:t>
            </a:r>
            <a:r>
              <a:rPr dirty="0" err="1"/>
              <a:t>связывают</a:t>
            </a:r>
            <a:r>
              <a:rPr dirty="0"/>
              <a:t> </a:t>
            </a:r>
            <a:r>
              <a:rPr dirty="0" err="1"/>
              <a:t>объявление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, </a:t>
            </a:r>
            <a:r>
              <a:rPr dirty="0" err="1"/>
              <a:t>ресурсные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и </a:t>
            </a:r>
            <a:r>
              <a:rPr dirty="0" err="1"/>
              <a:t>проверку</a:t>
            </a:r>
            <a:r>
              <a:rPr dirty="0"/>
              <a:t> </a:t>
            </a:r>
            <a:r>
              <a:rPr dirty="0" err="1"/>
              <a:t>конфигурации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Прямая</a:t>
            </a:r>
            <a:r>
              <a:rPr dirty="0"/>
              <a:t> </a:t>
            </a:r>
            <a:r>
              <a:rPr dirty="0" err="1"/>
              <a:t>зона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в </a:t>
            </a:r>
            <a:r>
              <a:rPr dirty="0" err="1"/>
              <a:t>адрес</a:t>
            </a:r>
            <a:r>
              <a:rPr dirty="0"/>
              <a:t>, а </a:t>
            </a:r>
            <a:r>
              <a:rPr dirty="0" err="1"/>
              <a:t>обратная</a:t>
            </a:r>
            <a:r>
              <a:rPr dirty="0"/>
              <a:t> </a:t>
            </a:r>
            <a:r>
              <a:rPr dirty="0" err="1"/>
              <a:t>зона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в </a:t>
            </a:r>
            <a:r>
              <a:rPr dirty="0" err="1"/>
              <a:t>имя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Работа</a:t>
            </a:r>
            <a:r>
              <a:rPr dirty="0"/>
              <a:t> DNS </a:t>
            </a:r>
            <a:r>
              <a:rPr dirty="0" err="1"/>
              <a:t>подтверждается</a:t>
            </a:r>
            <a:r>
              <a:rPr dirty="0"/>
              <a:t> </a:t>
            </a:r>
            <a:r>
              <a:rPr dirty="0" err="1"/>
              <a:t>цепочкой</a:t>
            </a:r>
            <a:r>
              <a:rPr dirty="0"/>
              <a:t>: </a:t>
            </a:r>
            <a:r>
              <a:rPr dirty="0" err="1"/>
              <a:t>checkconf</a:t>
            </a:r>
            <a:r>
              <a:rPr dirty="0"/>
              <a:t>, </a:t>
            </a:r>
            <a:r>
              <a:rPr dirty="0" err="1"/>
              <a:t>checkzone</a:t>
            </a:r>
            <a:r>
              <a:rPr dirty="0"/>
              <a:t>, reload, dig и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E4327-499E-65FE-16D1-DA7CC7C8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0C08FE-9BBF-CE8A-A3DE-976BE1F486C1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D63804-6EC7-EC97-6A73-0837273BD6BA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доменное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IP-</a:t>
            </a:r>
            <a:r>
              <a:rPr dirty="0" err="1"/>
              <a:t>адреса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2.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FQDN и </a:t>
            </a: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точка</a:t>
            </a:r>
            <a:r>
              <a:rPr dirty="0"/>
              <a:t> в </a:t>
            </a:r>
            <a:r>
              <a:rPr dirty="0" err="1"/>
              <a:t>конце</a:t>
            </a:r>
            <a:r>
              <a:rPr dirty="0"/>
              <a:t> </a:t>
            </a:r>
            <a:r>
              <a:rPr dirty="0" err="1"/>
              <a:t>полного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3. </a:t>
            </a:r>
            <a:r>
              <a:rPr dirty="0" err="1"/>
              <a:t>Чем</a:t>
            </a:r>
            <a:r>
              <a:rPr dirty="0"/>
              <a:t> stub resolver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recursive resolver?</a:t>
            </a:r>
          </a:p>
          <a:p>
            <a:pPr>
              <a:defRPr sz="3600"/>
            </a:pPr>
            <a:r>
              <a:rPr dirty="0"/>
              <a:t>4. </a:t>
            </a:r>
            <a:r>
              <a:rPr dirty="0" err="1"/>
              <a:t>Чем</a:t>
            </a:r>
            <a:r>
              <a:rPr dirty="0"/>
              <a:t> authoritative DNS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recursive DNS?</a:t>
            </a:r>
          </a:p>
          <a:p>
            <a:pPr>
              <a:defRPr sz="3600"/>
            </a:pPr>
            <a:r>
              <a:rPr dirty="0"/>
              <a:t>5.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A, AAAA, CNAME, PTR, MX, NS и SOA?</a:t>
            </a:r>
          </a:p>
          <a:p>
            <a:pPr>
              <a:defRPr sz="3600"/>
            </a:pPr>
            <a:r>
              <a:rPr dirty="0"/>
              <a:t>6. </a:t>
            </a:r>
            <a:r>
              <a:rPr dirty="0" err="1"/>
              <a:t>Почему</a:t>
            </a:r>
            <a:r>
              <a:rPr dirty="0"/>
              <a:t> serial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увеличивать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изменении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7.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прямую</a:t>
            </a:r>
            <a:r>
              <a:rPr dirty="0"/>
              <a:t> и </a:t>
            </a:r>
            <a:r>
              <a:rPr dirty="0" err="1"/>
              <a:t>обратную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BIND9?</a:t>
            </a:r>
          </a:p>
          <a:p>
            <a:pPr>
              <a:defRPr sz="3600"/>
            </a:pPr>
            <a:r>
              <a:rPr dirty="0"/>
              <a:t>8.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открывает</a:t>
            </a:r>
            <a:r>
              <a:rPr dirty="0"/>
              <a:t> web01.company.test?</a:t>
            </a:r>
          </a:p>
        </p:txBody>
      </p:sp>
    </p:spTree>
    <p:extLst>
      <p:ext uri="{BB962C8B-B14F-4D97-AF65-F5344CB8AC3E}">
        <p14:creationId xmlns:p14="http://schemas.microsoft.com/office/powerpoint/2010/main" val="10505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2231</Words>
  <Application>Microsoft Office PowerPoint</Application>
  <PresentationFormat>Широкоэкранный</PresentationFormat>
  <Paragraphs>217</Paragraphs>
  <Slides>42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2026-07-17T06:51:53Z</dcterms:modified>
  <cp:category/>
</cp:coreProperties>
</file>