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32630" y="3108960"/>
            <a:ext cx="10679718" cy="107721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Лекция</a:t>
            </a:r>
            <a:r>
              <a:rPr dirty="0"/>
              <a:t> 9. </a:t>
            </a:r>
            <a:endParaRPr lang="ru-RU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/>
              <a:t>Linux-router, </a:t>
            </a:r>
            <a:r>
              <a:rPr dirty="0" err="1"/>
              <a:t>nftables</a:t>
            </a:r>
            <a:r>
              <a:rPr dirty="0"/>
              <a:t>, NAT, port forwarding и </a:t>
            </a:r>
            <a:r>
              <a:rPr dirty="0" err="1"/>
              <a:t>WireGuard</a:t>
            </a:r>
            <a:r>
              <a:rPr dirty="0"/>
              <a:t> VPN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BFF61C-393F-40D4-0F4D-40F4F19EDC36}"/>
              </a:ext>
            </a:extLst>
          </p:cNvPr>
          <p:cNvSpPr txBox="1"/>
          <p:nvPr/>
        </p:nvSpPr>
        <p:spPr>
          <a:xfrm>
            <a:off x="786089" y="442450"/>
            <a:ext cx="10972800" cy="196743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3600"/>
            </a:pPr>
            <a:r>
              <a:rPr sz="3200" b="1" dirty="0">
                <a:solidFill>
                  <a:srgbClr val="143764"/>
                </a:solidFill>
              </a:rPr>
              <a:t>РО 1.4. </a:t>
            </a:r>
            <a:r>
              <a:rPr sz="3200" b="1" dirty="0" err="1">
                <a:solidFill>
                  <a:srgbClr val="143764"/>
                </a:solidFill>
              </a:rPr>
              <a:t>Основные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сервисы</a:t>
            </a:r>
            <a:r>
              <a:rPr sz="3200" b="1" dirty="0">
                <a:solidFill>
                  <a:srgbClr val="143764"/>
                </a:solidFill>
              </a:rPr>
              <a:t> Linux </a:t>
            </a:r>
            <a:r>
              <a:rPr sz="3200" b="1" dirty="0" err="1">
                <a:solidFill>
                  <a:srgbClr val="143764"/>
                </a:solidFill>
              </a:rPr>
              <a:t>для</a:t>
            </a:r>
            <a:r>
              <a:rPr sz="3200" b="1" dirty="0">
                <a:solidFill>
                  <a:srgbClr val="143764"/>
                </a:solidFill>
              </a:rPr>
              <a:t> </a:t>
            </a:r>
            <a:r>
              <a:rPr sz="3200" b="1" dirty="0" err="1">
                <a:solidFill>
                  <a:srgbClr val="143764"/>
                </a:solidFill>
              </a:rPr>
              <a:t>предприятия</a:t>
            </a:r>
            <a:endParaRPr sz="3200" b="1" dirty="0">
              <a:solidFill>
                <a:srgbClr val="14376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Понять, как Linux-сервер выполняет роль маршрутизатора между сетями</a:t>
            </a:r>
          </a:p>
          <a:p>
            <a:pPr>
              <a:defRPr sz="3600"/>
            </a:pPr>
            <a:r>
              <a:t>Объяснять назначение IP forwarding, таблицы маршрутизации и транзитного трафика</a:t>
            </a:r>
          </a:p>
          <a:p>
            <a:pPr>
              <a:defRPr sz="3600"/>
            </a:pPr>
            <a:r>
              <a:t>Настраивать базовые правила nftables, NAT masquerade и port forwarding</a:t>
            </a:r>
          </a:p>
          <a:p>
            <a:pPr>
              <a:defRPr sz="3600"/>
            </a:pPr>
            <a:r>
              <a:t>Различать SNAT, DNAT, policy drop и разрешающие правила firewall</a:t>
            </a:r>
          </a:p>
          <a:p>
            <a:pPr>
              <a:defRPr sz="3600"/>
            </a:pPr>
            <a:r>
              <a:t>Понимать назначение WireGuard VPN и выполнять базовую диагностику туннеля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Учебные вопросы: 1-4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1. Linux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маршрутизатор</a:t>
            </a:r>
            <a:r>
              <a:rPr dirty="0"/>
              <a:t> </a:t>
            </a:r>
            <a:r>
              <a:rPr dirty="0" err="1"/>
              <a:t>корпоративной</a:t>
            </a:r>
            <a:r>
              <a:rPr dirty="0"/>
              <a:t> </a:t>
            </a:r>
            <a:r>
              <a:rPr dirty="0" err="1"/>
              <a:t>сети</a:t>
            </a:r>
            <a:endParaRPr dirty="0"/>
          </a:p>
          <a:p>
            <a:pPr>
              <a:defRPr sz="3600"/>
            </a:pPr>
            <a:r>
              <a:rPr dirty="0"/>
              <a:t>2. </a:t>
            </a:r>
            <a:r>
              <a:rPr dirty="0" err="1"/>
              <a:t>Архитектура</a:t>
            </a:r>
            <a:r>
              <a:rPr dirty="0"/>
              <a:t> </a:t>
            </a:r>
            <a:r>
              <a:rPr dirty="0" err="1"/>
              <a:t>современного</a:t>
            </a:r>
            <a:r>
              <a:rPr dirty="0"/>
              <a:t> </a:t>
            </a:r>
            <a:r>
              <a:rPr dirty="0" err="1"/>
              <a:t>брандмауэра</a:t>
            </a:r>
            <a:r>
              <a:rPr dirty="0"/>
              <a:t> </a:t>
            </a:r>
            <a:r>
              <a:rPr dirty="0" err="1"/>
              <a:t>nftables</a:t>
            </a:r>
            <a:endParaRPr dirty="0"/>
          </a:p>
          <a:p>
            <a:pPr>
              <a:defRPr sz="3600"/>
            </a:pPr>
            <a:r>
              <a:rPr dirty="0"/>
              <a:t>3. </a:t>
            </a:r>
            <a:r>
              <a:rPr dirty="0" err="1"/>
              <a:t>Трансляция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адресов</a:t>
            </a:r>
            <a:r>
              <a:rPr dirty="0"/>
              <a:t> NAT и masquerading</a:t>
            </a:r>
          </a:p>
          <a:p>
            <a:pPr>
              <a:defRPr sz="3600"/>
            </a:pPr>
            <a:r>
              <a:rPr dirty="0"/>
              <a:t>4. </a:t>
            </a:r>
            <a:r>
              <a:rPr dirty="0" err="1"/>
              <a:t>Проброс</a:t>
            </a:r>
            <a:r>
              <a:rPr dirty="0"/>
              <a:t> </a:t>
            </a:r>
            <a:r>
              <a:rPr dirty="0" err="1"/>
              <a:t>портов</a:t>
            </a:r>
            <a:r>
              <a:rPr dirty="0"/>
              <a:t> Port Forwarding и DNAT</a:t>
            </a:r>
            <a:endParaRPr lang="ru-RU" dirty="0"/>
          </a:p>
          <a:p>
            <a:pPr>
              <a:defRPr sz="3600"/>
            </a:pPr>
            <a:r>
              <a:rPr lang="ru-RU" dirty="0"/>
              <a:t>5. Введение в VPN: объединение сетей и удаленный доступ</a:t>
            </a:r>
          </a:p>
          <a:p>
            <a:pPr>
              <a:defRPr sz="3600"/>
            </a:pPr>
            <a:r>
              <a:rPr lang="ru-RU" dirty="0"/>
              <a:t>6. </a:t>
            </a:r>
            <a:r>
              <a:rPr lang="ru-RU" dirty="0" err="1"/>
              <a:t>WireGuard</a:t>
            </a:r>
            <a:r>
              <a:rPr lang="ru-RU" dirty="0"/>
              <a:t> VPN: архитектура и преимущества</a:t>
            </a:r>
          </a:p>
          <a:p>
            <a:pPr>
              <a:defRPr sz="3600"/>
            </a:pPr>
            <a:r>
              <a:rPr lang="ru-RU" dirty="0"/>
              <a:t>7. Практика: настройка </a:t>
            </a:r>
            <a:r>
              <a:rPr lang="ru-RU" dirty="0" err="1"/>
              <a:t>WireGuard</a:t>
            </a:r>
            <a:r>
              <a:rPr lang="ru-RU" dirty="0"/>
              <a:t> туннеля маршрутизатор-клиент</a:t>
            </a:r>
          </a:p>
          <a:p>
            <a:pPr>
              <a:defRPr sz="3600"/>
            </a:pPr>
            <a:r>
              <a:rPr lang="ru-RU" dirty="0"/>
              <a:t>8. Диагностика, мониторинг и типичные ошибки</a:t>
            </a:r>
          </a:p>
          <a:p>
            <a:pPr>
              <a:defRPr sz="3600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Учебный сценарий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gw01.company.test </a:t>
            </a:r>
            <a:r>
              <a:rPr dirty="0" err="1"/>
              <a:t>работает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Linux-router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внешней</a:t>
            </a:r>
            <a:r>
              <a:rPr dirty="0"/>
              <a:t> и </a:t>
            </a:r>
            <a:r>
              <a:rPr dirty="0" err="1"/>
              <a:t>внутренней</a:t>
            </a:r>
            <a:r>
              <a:rPr dirty="0"/>
              <a:t> </a:t>
            </a:r>
            <a:r>
              <a:rPr dirty="0" err="1"/>
              <a:t>сетью</a:t>
            </a:r>
            <a:endParaRPr dirty="0"/>
          </a:p>
          <a:p>
            <a:pPr indent="354013">
              <a:defRPr sz="3600"/>
            </a:pPr>
            <a:r>
              <a:rPr dirty="0"/>
              <a:t>WAN (Wide Area Network) — </a:t>
            </a:r>
            <a:r>
              <a:rPr dirty="0" err="1"/>
              <a:t>внешняя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; </a:t>
            </a:r>
            <a:r>
              <a:rPr dirty="0" err="1"/>
              <a:t>интерфейс</a:t>
            </a:r>
            <a:r>
              <a:rPr dirty="0"/>
              <a:t> enp0s3 </a:t>
            </a:r>
            <a:r>
              <a:rPr dirty="0" err="1"/>
              <a:t>использует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203.0.113.10</a:t>
            </a:r>
          </a:p>
          <a:p>
            <a:pPr indent="354013">
              <a:defRPr sz="3600"/>
            </a:pPr>
            <a:r>
              <a:rPr dirty="0"/>
              <a:t>LAN (Local Area Network) — </a:t>
            </a:r>
            <a:r>
              <a:rPr dirty="0" err="1"/>
              <a:t>внутренняя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; enp0s8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192.168.10.1/24, а web01 — 192.168.10.20</a:t>
            </a:r>
          </a:p>
          <a:p>
            <a:pPr indent="354013">
              <a:defRPr sz="3600"/>
            </a:pPr>
            <a:r>
              <a:rPr dirty="0" err="1"/>
              <a:t>WireGuard-интерфейс</a:t>
            </a:r>
            <a:r>
              <a:rPr dirty="0"/>
              <a:t> wg0 </a:t>
            </a:r>
            <a:r>
              <a:rPr dirty="0" err="1"/>
              <a:t>использует</a:t>
            </a:r>
            <a:r>
              <a:rPr dirty="0"/>
              <a:t> VPN-</a:t>
            </a:r>
            <a:r>
              <a:rPr dirty="0" err="1"/>
              <a:t>сеть</a:t>
            </a:r>
            <a:r>
              <a:rPr dirty="0"/>
              <a:t> 10.8.0.0/24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удаленного</a:t>
            </a:r>
            <a:r>
              <a:rPr dirty="0"/>
              <a:t> </a:t>
            </a:r>
            <a:r>
              <a:rPr dirty="0" err="1"/>
              <a:t>клиента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1. Linux как маршрутизатор корпоративной сети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/>
              <a:t>Router, </a:t>
            </a:r>
            <a:r>
              <a:rPr dirty="0" err="1"/>
              <a:t>маршрутизатор</a:t>
            </a:r>
            <a:r>
              <a:rPr dirty="0"/>
              <a:t>, </a:t>
            </a:r>
            <a:r>
              <a:rPr dirty="0" err="1"/>
              <a:t>пересылает</a:t>
            </a:r>
            <a:r>
              <a:rPr dirty="0"/>
              <a:t> IP-</a:t>
            </a:r>
            <a:r>
              <a:rPr dirty="0" err="1"/>
              <a:t>пакеты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разными</a:t>
            </a:r>
            <a:r>
              <a:rPr dirty="0"/>
              <a:t> </a:t>
            </a:r>
            <a:r>
              <a:rPr dirty="0" err="1"/>
              <a:t>сетями</a:t>
            </a:r>
            <a:endParaRPr dirty="0"/>
          </a:p>
          <a:p>
            <a:pPr indent="354013">
              <a:defRPr sz="3600"/>
            </a:pPr>
            <a:r>
              <a:rPr dirty="0"/>
              <a:t>Linux-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роль</a:t>
            </a:r>
            <a:r>
              <a:rPr dirty="0"/>
              <a:t> </a:t>
            </a:r>
            <a:r>
              <a:rPr dirty="0" err="1"/>
              <a:t>маршрутизатора</a:t>
            </a:r>
            <a:r>
              <a:rPr dirty="0"/>
              <a:t>, </a:t>
            </a:r>
            <a:r>
              <a:rPr dirty="0" err="1"/>
              <a:t>если</a:t>
            </a:r>
            <a:r>
              <a:rPr dirty="0"/>
              <a:t> у </a:t>
            </a:r>
            <a:r>
              <a:rPr dirty="0" err="1"/>
              <a:t>него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сетевых</a:t>
            </a:r>
            <a:r>
              <a:rPr dirty="0"/>
              <a:t> </a:t>
            </a:r>
            <a:r>
              <a:rPr dirty="0" err="1"/>
              <a:t>интерфейсов</a:t>
            </a:r>
            <a:endParaRPr dirty="0"/>
          </a:p>
          <a:p>
            <a:pPr indent="354013">
              <a:defRPr sz="3600"/>
            </a:pPr>
            <a:r>
              <a:rPr dirty="0"/>
              <a:t>В </a:t>
            </a:r>
            <a:r>
              <a:rPr dirty="0" err="1"/>
              <a:t>учебном</a:t>
            </a:r>
            <a:r>
              <a:rPr dirty="0"/>
              <a:t> </a:t>
            </a:r>
            <a:r>
              <a:rPr dirty="0" err="1"/>
              <a:t>стенде</a:t>
            </a:r>
            <a:r>
              <a:rPr dirty="0"/>
              <a:t> enp0s3 </a:t>
            </a:r>
            <a:r>
              <a:rPr dirty="0" err="1"/>
              <a:t>смотрит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внешнюю</a:t>
            </a:r>
            <a:r>
              <a:rPr dirty="0"/>
              <a:t> </a:t>
            </a:r>
            <a:r>
              <a:rPr dirty="0" err="1"/>
              <a:t>сеть</a:t>
            </a:r>
            <a:r>
              <a:rPr dirty="0"/>
              <a:t>, а enp0s8 </a:t>
            </a:r>
            <a:r>
              <a:rPr dirty="0" err="1"/>
              <a:t>смотрит</a:t>
            </a:r>
            <a:r>
              <a:rPr dirty="0"/>
              <a:t> в LAN</a:t>
            </a:r>
          </a:p>
          <a:p>
            <a:pPr indent="354013">
              <a:defRPr sz="3600"/>
            </a:pPr>
            <a:r>
              <a:rPr dirty="0" err="1"/>
              <a:t>Маршрутизация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, </a:t>
            </a: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узлы</a:t>
            </a:r>
            <a:r>
              <a:rPr dirty="0"/>
              <a:t> LAN </a:t>
            </a:r>
            <a:r>
              <a:rPr dirty="0" err="1"/>
              <a:t>могли</a:t>
            </a:r>
            <a:r>
              <a:rPr dirty="0"/>
              <a:t> </a:t>
            </a:r>
            <a:r>
              <a:rPr dirty="0" err="1"/>
              <a:t>выходить</a:t>
            </a:r>
            <a:r>
              <a:rPr dirty="0"/>
              <a:t> </a:t>
            </a:r>
            <a:r>
              <a:rPr dirty="0" err="1"/>
              <a:t>наружу</a:t>
            </a:r>
            <a:r>
              <a:rPr dirty="0"/>
              <a:t> и </a:t>
            </a:r>
            <a:r>
              <a:rPr dirty="0" err="1"/>
              <a:t>получать</a:t>
            </a:r>
            <a:r>
              <a:rPr dirty="0"/>
              <a:t> </a:t>
            </a:r>
            <a:r>
              <a:rPr dirty="0" err="1"/>
              <a:t>ответы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Интерфейсы и сети gw01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rPr dirty="0"/>
              <a:t>enp0s3 — </a:t>
            </a:r>
            <a:r>
              <a:rPr dirty="0" err="1"/>
              <a:t>внешний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, </a:t>
            </a:r>
            <a:r>
              <a:rPr dirty="0" err="1"/>
              <a:t>через</a:t>
            </a:r>
            <a:r>
              <a:rPr dirty="0"/>
              <a:t> </a:t>
            </a:r>
            <a:r>
              <a:rPr dirty="0" err="1"/>
              <a:t>который</a:t>
            </a:r>
            <a:r>
              <a:rPr dirty="0"/>
              <a:t> gw01 </a:t>
            </a:r>
            <a:r>
              <a:rPr dirty="0" err="1"/>
              <a:t>выходит</a:t>
            </a:r>
            <a:r>
              <a:rPr dirty="0"/>
              <a:t> в </a:t>
            </a:r>
            <a:r>
              <a:rPr dirty="0" err="1"/>
              <a:t>сторону</a:t>
            </a:r>
            <a:r>
              <a:rPr dirty="0"/>
              <a:t> </a:t>
            </a:r>
            <a:r>
              <a:rPr dirty="0" err="1"/>
              <a:t>провайдера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учебного</a:t>
            </a:r>
            <a:r>
              <a:rPr dirty="0"/>
              <a:t> </a:t>
            </a:r>
            <a:r>
              <a:rPr dirty="0" err="1"/>
              <a:t>Интернета</a:t>
            </a:r>
            <a:endParaRPr dirty="0"/>
          </a:p>
          <a:p>
            <a:pPr>
              <a:defRPr sz="3600"/>
            </a:pPr>
            <a:r>
              <a:rPr dirty="0"/>
              <a:t>enp0s8 — </a:t>
            </a:r>
            <a:r>
              <a:rPr dirty="0" err="1"/>
              <a:t>внутренний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 192.168.10.0/24</a:t>
            </a:r>
          </a:p>
          <a:p>
            <a:pPr>
              <a:defRPr sz="3600"/>
            </a:pPr>
            <a:r>
              <a:rPr dirty="0" err="1"/>
              <a:t>Адрес</a:t>
            </a:r>
            <a:r>
              <a:rPr dirty="0"/>
              <a:t> 203.0.113.10 </a:t>
            </a:r>
            <a:r>
              <a:rPr dirty="0" err="1"/>
              <a:t>относится</a:t>
            </a:r>
            <a:r>
              <a:rPr dirty="0"/>
              <a:t> к </a:t>
            </a:r>
            <a:r>
              <a:rPr dirty="0" err="1"/>
              <a:t>документационному</a:t>
            </a:r>
            <a:r>
              <a:rPr dirty="0"/>
              <a:t> </a:t>
            </a:r>
            <a:r>
              <a:rPr dirty="0" err="1"/>
              <a:t>диапазону</a:t>
            </a:r>
            <a:r>
              <a:rPr dirty="0"/>
              <a:t> и </a:t>
            </a:r>
            <a:r>
              <a:rPr dirty="0" err="1"/>
              <a:t>используется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учебный</a:t>
            </a:r>
            <a:r>
              <a:rPr dirty="0"/>
              <a:t> </a:t>
            </a:r>
            <a:r>
              <a:rPr dirty="0" err="1"/>
              <a:t>внешний</a:t>
            </a:r>
            <a:r>
              <a:rPr dirty="0"/>
              <a:t> IP</a:t>
            </a:r>
          </a:p>
          <a:p>
            <a:pPr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 LAN </a:t>
            </a:r>
            <a:r>
              <a:rPr dirty="0" err="1"/>
              <a:t>шлюзом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умолчанию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192.168.10.1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Транзитный пакет и ip_forward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Транзитный пакет не предназначен самому gw01, а должен пройти через него в другую сеть</a:t>
            </a:r>
          </a:p>
          <a:p>
            <a:pPr>
              <a:defRPr sz="3600"/>
            </a:pPr>
            <a:r>
              <a:t>По умолчанию Linux часто не пересылает такие пакеты между интерфейсами</a:t>
            </a:r>
          </a:p>
          <a:p>
            <a:pPr>
              <a:defRPr sz="3600"/>
            </a:pPr>
            <a:r>
              <a:t>net.ipv4.ip_forward — параметр ядра, который разрешает IPv4-маршрутизацию</a:t>
            </a:r>
          </a:p>
          <a:p>
            <a:pPr>
              <a:defRPr sz="3600"/>
            </a:pPr>
            <a:r>
              <a:t>Команда sysctl net.ipv4.ip_forward показывает текущее значение параметра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Включение маршрутизации IPv4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sysctl -w net.ipv4.ip_forward=1 включает пересылку IPv4-пакетов до перезагрузки</a:t>
            </a:r>
          </a:p>
          <a:p>
            <a:pPr>
              <a:defRPr sz="3600"/>
            </a:pPr>
            <a:r>
              <a:t>Строка net.ipv4.ip_forward=1 в /etc/sysctl.d/99-router.conf делает настройку постоянной</a:t>
            </a:r>
          </a:p>
          <a:p>
            <a:pPr>
              <a:defRPr sz="3600"/>
            </a:pPr>
            <a:r>
              <a:t>sudo sysctl --system перечитывает системные sysctl-файлы</a:t>
            </a:r>
          </a:p>
          <a:p>
            <a:pPr>
              <a:defRPr sz="3600"/>
            </a:pPr>
            <a:r>
              <a:t>Если ip_forward равен 0, NAT и VPN могут подниматься, но транзитный трафик не пройдет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Таблица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Routing Table, таблица маршрутизации, определяет, через какой интерфейс отправлять пакет</a:t>
            </a:r>
          </a:p>
          <a:p>
            <a:pPr>
              <a:defRPr sz="3600"/>
            </a:pPr>
            <a:r>
              <a:t>Команда ip route показывает маршруты Linux-узла</a:t>
            </a:r>
          </a:p>
          <a:p>
            <a:pPr>
              <a:defRPr sz="3600"/>
            </a:pPr>
            <a:r>
              <a:t>Маршрут default указывает путь для сетей, которые не совпали с более точными маршрутами</a:t>
            </a:r>
          </a:p>
          <a:p>
            <a:pPr>
              <a:defRPr sz="3600"/>
            </a:pPr>
            <a:r>
              <a:t>На клиентах LAN default route должен указывать на 192.168.10.1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Путь пакета через Linux-router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Пакет от client01 приходит на внутренний интерфейс enp0s8</a:t>
            </a:r>
          </a:p>
          <a:p>
            <a:pPr>
              <a:defRPr sz="3600"/>
            </a:pPr>
            <a:r>
              <a:t>Ядро проверяет таблицу маршрутизации и выбирает исходящий интерфейс enp0s3</a:t>
            </a:r>
          </a:p>
          <a:p>
            <a:pPr>
              <a:defRPr sz="3600"/>
            </a:pPr>
            <a:r>
              <a:t>Firewall в цепочке forward решает, можно ли переслать этот пакет</a:t>
            </a:r>
          </a:p>
          <a:p>
            <a:pPr>
              <a:defRPr sz="3600"/>
            </a:pPr>
            <a:r>
              <a:t>NAT в postrouting может заменить адрес источника перед выходом во внешнюю сеть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прохождение пакета через Linux-router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EBCEF2-1A96-7EFB-1216-F437CC8D7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2. Архитектура современного брандмауэра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Firewall, брандмауэр, контролирует, какие пакеты разрешены или запрещены</a:t>
            </a:r>
          </a:p>
          <a:p>
            <a:pPr>
              <a:defRPr sz="3600"/>
            </a:pPr>
            <a:r>
              <a:t>nftables — современный фреймворк фильтрации пакетов в ядре Linux</a:t>
            </a:r>
          </a:p>
          <a:p>
            <a:pPr>
              <a:defRPr sz="3600"/>
            </a:pPr>
            <a:r>
              <a:t>nftables пришел на смену классическому iptables и объединяет IPv4, IPv6 и разные типы обработки</a:t>
            </a:r>
          </a:p>
          <a:p>
            <a:pPr>
              <a:defRPr sz="3600"/>
            </a:pPr>
            <a:r>
              <a:t>Администратор описывает таблицы, цепочки и правила, а ядро применяет их к пакетам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Family, table, chain и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Family, семейство, определяет область действия правил: ip, ip6 или inet</a:t>
            </a:r>
          </a:p>
          <a:p>
            <a:pPr>
              <a:defRPr sz="3600"/>
            </a:pPr>
            <a:r>
              <a:t>Table, таблица, является контейнером для цепочек</a:t>
            </a:r>
          </a:p>
          <a:p>
            <a:pPr>
              <a:defRPr sz="3600"/>
            </a:pPr>
            <a:r>
              <a:t>Chain, цепочка, содержит набор правил и может быть привязана к hook ядра</a:t>
            </a:r>
          </a:p>
          <a:p>
            <a:pPr>
              <a:defRPr sz="3600"/>
            </a:pPr>
            <a:r>
              <a:t>Rule, правило, описывает условие и действие: accept, drop, reject, masquerade или dnat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Hooks в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Hook, точка подключения, показывает, на каком этапе ядро передает пакет в цепочку</a:t>
            </a:r>
          </a:p>
          <a:p>
            <a:pPr>
              <a:defRPr sz="3600"/>
            </a:pPr>
            <a:r>
              <a:t>input обрабатывает пакеты, адресованные самому gw01</a:t>
            </a:r>
          </a:p>
          <a:p>
            <a:pPr>
              <a:defRPr sz="3600"/>
            </a:pPr>
            <a:r>
              <a:t>forward обрабатывает транзитные пакеты между интерфейсами</a:t>
            </a:r>
          </a:p>
          <a:p>
            <a:pPr>
              <a:defRPr sz="3600"/>
            </a:pPr>
            <a:r>
              <a:t>output обрабатывает пакеты, созданные самим gw01</a:t>
            </a:r>
          </a:p>
          <a:p>
            <a:pPr>
              <a:defRPr sz="3600"/>
            </a:pPr>
            <a:r>
              <a:t>prerouting и postrouting часто используются для NAT до и после выбора маршрута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Policy deny by default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Deny by default означает, что по умолчанию трафик запрещен, а нужное разрешается явно</a:t>
            </a:r>
          </a:p>
          <a:p>
            <a:pPr>
              <a:defRPr sz="3600"/>
            </a:pPr>
            <a:r>
              <a:t>Такой подход безопаснее, чем разрешить все и пытаться закрывать отдельные порты</a:t>
            </a:r>
          </a:p>
          <a:p>
            <a:pPr>
              <a:defRPr sz="3600"/>
            </a:pPr>
            <a:r>
              <a:t>Для маршрутизатора особенно важна цепочка forward, потому что через нее идет LAN, NAT и VPN</a:t>
            </a:r>
          </a:p>
          <a:p>
            <a:pPr>
              <a:defRPr sz="3600"/>
            </a:pPr>
            <a:r>
              <a:t>Перед включением policy drop нужно подготовить правила, чтобы не потерять удаленный доступ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Базовая filter-таблица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t>sudo nft add table inet filter создает таблицу фильтрации для IPv4 и IPv6</a:t>
            </a:r>
          </a:p>
          <a:p>
            <a:pPr>
              <a:defRPr sz="3600"/>
            </a:pPr>
            <a:r>
              <a:t>sudo nft add chain inet filter input '{ type filter hook input priority 0; policy drop; }' создает цепочку входа с запретом по умолчанию</a:t>
            </a:r>
          </a:p>
          <a:p>
            <a:pPr>
              <a:defRPr sz="3600"/>
            </a:pPr>
            <a:r>
              <a:t>sudo nft add chain inet filter forward '{ type filter hook forward priority 0; policy drop; }' создает цепочку транзитного трафика</a:t>
            </a:r>
          </a:p>
          <a:p>
            <a:pPr>
              <a:defRPr sz="3600"/>
            </a:pPr>
            <a:r>
              <a:t>sudo nft add rule inet filter input ct state established,related accept использует connection tracking и разрешает ответы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Разрешающие правила для gw01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t>sudo nft add rule inet filter input iifname "lo" accept разрешает локальный loopback-трафик</a:t>
            </a:r>
          </a:p>
          <a:p>
            <a:pPr>
              <a:defRPr sz="3600"/>
            </a:pPr>
            <a:r>
              <a:t>sudo nft add rule inet filter input iifname "enp0s8" tcp dport 22 accept разрешает SSH (Secure Shell) с LAN</a:t>
            </a:r>
          </a:p>
          <a:p>
            <a:pPr>
              <a:defRPr sz="3600"/>
            </a:pPr>
            <a:r>
              <a:t>sudo nft add rule inet filter input iifname "enp0s3" udp dport 51820 accept разрешает WireGuard снаружи</a:t>
            </a:r>
          </a:p>
          <a:p>
            <a:pPr>
              <a:defRPr sz="3600"/>
            </a:pPr>
            <a:r>
              <a:t>sudo nft add rule inet filter forward ct state established,related accept разрешает обратный транзитный трафик</a:t>
            </a:r>
          </a:p>
          <a:p>
            <a:pPr>
              <a:defRPr sz="3600"/>
            </a:pPr>
            <a:r>
              <a:t>sudo nft add rule inet filter forward iifname "enp0s8" oifname "enp0s3" accept разрешает LAN выходить наружу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nftables hooks input, forward 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C57F2F-02BC-A109-3834-D3E816D24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Просмотр и сохранение правил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nft list ruleset показывает весь активный набор правил nftables</a:t>
            </a:r>
          </a:p>
          <a:p>
            <a:pPr>
              <a:defRPr sz="3600"/>
            </a:pPr>
            <a:r>
              <a:t>sudo nft -f /etc/nftables.conf загружает правила из файла</a:t>
            </a:r>
          </a:p>
          <a:p>
            <a:pPr>
              <a:defRPr sz="3600"/>
            </a:pPr>
            <a:r>
              <a:t>sudo systemctl enable nftables включает загрузку правил при старте системы</a:t>
            </a:r>
          </a:p>
          <a:p>
            <a:pPr>
              <a:defRPr sz="3600"/>
            </a:pPr>
            <a:r>
              <a:t>Перед применением ruleset нужно иметь локальный доступ или резервную SSH-сессию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3. Трансляция сетевых адресов NAT и masquerading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NAT (Network Address Translation) — трансляция сетевых адресов в проходящих пакетах</a:t>
            </a:r>
          </a:p>
          <a:p>
            <a:pPr>
              <a:defRPr sz="3600"/>
            </a:pPr>
            <a:r>
              <a:t>NAT нужен, когда множество внутренних узлов используют один внешний адрес маршрутизатора</a:t>
            </a:r>
          </a:p>
          <a:p>
            <a:pPr>
              <a:defRPr sz="3600"/>
            </a:pPr>
            <a:r>
              <a:t>Внутренние адреса 192.168.10.0/24 не маршрутизируются в публичном Интернете</a:t>
            </a:r>
          </a:p>
          <a:p>
            <a:pPr>
              <a:defRPr sz="3600"/>
            </a:pPr>
            <a:r>
              <a:t>gw01 должен заменить адрес источника клиента на свой внешний адрес перед выходом наружу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SNAT и masquerade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SNAT (Source NAT) изменяет адрес источника в исходящем пакете</a:t>
            </a:r>
          </a:p>
          <a:p>
            <a:pPr>
              <a:defRPr sz="3600"/>
            </a:pPr>
            <a:r>
              <a:t>Masquerade — вариант SNAT, при котором внешний адрес берется с исходящего интерфейса</a:t>
            </a:r>
          </a:p>
          <a:p>
            <a:pPr>
              <a:defRPr sz="3600"/>
            </a:pPr>
            <a:r>
              <a:t>Masquerade удобен, если внешний адрес может меняться</a:t>
            </a:r>
          </a:p>
          <a:p>
            <a:pPr>
              <a:defRPr sz="3600"/>
            </a:pPr>
            <a:r>
              <a:t>Для LAN-клиента ответ из внешней сети возвращается на gw01, а затем обратно во внутреннюю сеть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Настройка masquerade в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sudo nft add table ip nat создает IPv4-таблицу NAT для учебного стенда</a:t>
            </a:r>
          </a:p>
          <a:p>
            <a:pPr>
              <a:defRPr sz="3600"/>
            </a:pPr>
            <a:r>
              <a:t>sudo nft add chain ip nat postrouting '{ type nat hook postrouting priority srcnat; policy accept; }' создает цепочку после маршрутизации</a:t>
            </a:r>
          </a:p>
          <a:p>
            <a:pPr>
              <a:defRPr sz="3600"/>
            </a:pPr>
            <a:r>
              <a:t>sudo nft add rule ip nat postrouting oifname "enp0s3" masquerade включает подмену источника на внешнем интерфейсе</a:t>
            </a:r>
          </a:p>
          <a:p>
            <a:pPr>
              <a:defRPr sz="3600"/>
            </a:pPr>
            <a:r>
              <a:t>postrouting используется потому, что исходящий интерфейс уже выбран таблицей маршрутизации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выхода LAN через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client01 команда ip route должна показывать default via 192.168.10.1</a:t>
            </a:r>
          </a:p>
          <a:p>
            <a:pPr>
              <a:defRPr sz="3600"/>
            </a:pPr>
            <a:r>
              <a:t>На gw01 команда sysctl net.ipv4.ip_forward должна вернуть значение 1</a:t>
            </a:r>
          </a:p>
          <a:p>
            <a:pPr>
              <a:defRPr sz="3600"/>
            </a:pPr>
            <a:r>
              <a:t>sudo nft list ruleset должен показывать правило masquerade в postrouting</a:t>
            </a:r>
          </a:p>
          <a:p>
            <a:pPr>
              <a:defRPr sz="3600"/>
            </a:pPr>
            <a:r>
              <a:t>ping внешнего адреса с client01 проверяет маршрутизацию и NAT без зависимости от DNS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NAT masquerade для выхода LAN наружу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4377170-4E9A-5A06-B595-860716BC8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ip_forward выключен, поэтому Linux не пересылает транзитные пакеты</a:t>
            </a:r>
          </a:p>
          <a:p>
            <a:pPr>
              <a:defRPr sz="3600"/>
            </a:pPr>
            <a:r>
              <a:t>В forward-цепочке policy drop, но нет разрешающего правила LAN-to-WAN</a:t>
            </a:r>
          </a:p>
          <a:p>
            <a:pPr>
              <a:defRPr sz="3600"/>
            </a:pPr>
            <a:r>
              <a:t>Masquerade указан не на том исходящем интерфейсе</a:t>
            </a:r>
          </a:p>
          <a:p>
            <a:pPr>
              <a:defRPr sz="3600"/>
            </a:pPr>
            <a:r>
              <a:t>У клиента LAN неверный gateway или маска сети</a:t>
            </a:r>
          </a:p>
          <a:p>
            <a:pPr>
              <a:defRPr sz="3600"/>
            </a:pPr>
            <a:r>
              <a:t>Проверка начинается с ip route, sysctl, nft list ruleset и ping по IP-адресу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4. Проброс портов Port Forwarding и DNAT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Port Forwarding, проброс портов, публикует внутреннюю службу через внешний адрес маршрутизатора</a:t>
            </a:r>
          </a:p>
          <a:p>
            <a:pPr>
              <a:defRPr sz="3600"/>
            </a:pPr>
            <a:r>
              <a:t>DNAT (Destination NAT) изменяет адрес или порт назначения во входящем пакете</a:t>
            </a:r>
          </a:p>
          <a:p>
            <a:pPr>
              <a:defRPr sz="3600"/>
            </a:pPr>
            <a:r>
              <a:t>В учебном примере внешний TCP (Transmission Control Protocol) порт 8080 на gw01 направляется на web01:80</a:t>
            </a:r>
          </a:p>
          <a:p>
            <a:pPr>
              <a:defRPr sz="3600"/>
            </a:pPr>
            <a:r>
              <a:t>Проброс портов требует не только DNAT, но и разрешения транзита в firewall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Когда используется DNAT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Внешний клиент подключается к 203.0.113.10:8080</a:t>
            </a:r>
          </a:p>
          <a:p>
            <a:pPr>
              <a:defRPr sz="3600"/>
            </a:pPr>
            <a:r>
              <a:t>gw01 получает пакет на внешнем интерфейсе enp0s3</a:t>
            </a:r>
          </a:p>
          <a:p>
            <a:pPr>
              <a:defRPr sz="3600"/>
            </a:pPr>
            <a:r>
              <a:t>DNAT меняет назначение пакета на 192.168.10.20:80</a:t>
            </a:r>
          </a:p>
          <a:p>
            <a:pPr>
              <a:defRPr sz="3600"/>
            </a:pPr>
            <a:r>
              <a:t>После этого пакет маршрутизируется во внутреннюю сеть к web01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Правило DNAT в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sudo nft add chain ip nat prerouting '{ type nat hook prerouting priority dstnat; policy accept; }' создает цепочку до маршрутизации</a:t>
            </a:r>
          </a:p>
          <a:p>
            <a:pPr>
              <a:defRPr sz="3600"/>
            </a:pPr>
            <a:r>
              <a:t>sudo nft add rule ip nat prerouting iifname "enp0s3" tcp dport 8080 dnat to 192.168.10.20:80 направляет входящий TCP 8080 на web01</a:t>
            </a:r>
          </a:p>
          <a:p>
            <a:pPr>
              <a:defRPr sz="3600"/>
            </a:pPr>
            <a:r>
              <a:t>prerouting используется потому, что адрес назначения нужно изменить до выбора маршрута</a:t>
            </a:r>
          </a:p>
          <a:p>
            <a:pPr>
              <a:defRPr sz="3600"/>
            </a:pPr>
            <a:r>
              <a:t>Правило DNAT не заменяет правила фильтрации в forward-цепочке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Разрешение forward для web01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nft add rule inet filter forward iifname "enp0s3" oifname "enp0s8" ip daddr 192.168.10.20 tcp dport 80 accept разрешает трафик к web01</a:t>
            </a:r>
          </a:p>
          <a:p>
            <a:pPr>
              <a:defRPr sz="3600"/>
            </a:pPr>
            <a:r>
              <a:t>Правило должно быть достаточно узким: конкретный интерфейс, адрес и порт</a:t>
            </a:r>
          </a:p>
          <a:p>
            <a:pPr>
              <a:defRPr sz="3600"/>
            </a:pPr>
            <a:r>
              <a:t>Ответный трафик обычно разрешается правилом ct state established,related accept</a:t>
            </a:r>
          </a:p>
          <a:p>
            <a:pPr>
              <a:defRPr sz="3600"/>
            </a:pPr>
            <a:r>
              <a:t>Если DNAT есть, но forward запрещен, внешний клиент не получит ответ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Port Forwarding 203.0.113.10:8080 на web01:80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51197E-6211-CBCB-2A2F-24D59B733A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Риски публикации внутреннего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Проброс порта делает внутреннюю службу доступной снаружи</a:t>
            </a:r>
          </a:p>
          <a:p>
            <a:pPr>
              <a:defRPr sz="3600"/>
            </a:pPr>
            <a:r>
              <a:t>Нужно публиковать только необходимый порт, а не весь сервер</a:t>
            </a:r>
          </a:p>
          <a:p>
            <a:pPr>
              <a:defRPr sz="3600"/>
            </a:pPr>
            <a:r>
              <a:t>Служба web01 должна быть обновлена и защищена собственными настройками</a:t>
            </a:r>
          </a:p>
          <a:p>
            <a:pPr>
              <a:defRPr sz="3600"/>
            </a:pPr>
            <a:r>
              <a:t>Логи доступа к опубликованной службе нужно отправлять на централизованный log-сервер</a:t>
            </a:r>
          </a:p>
          <a:p>
            <a:pPr>
              <a:defRPr sz="3600"/>
            </a:pPr>
            <a:r>
              <a:t>Для административных сервисов лучше использовать VPN, а не прямой port forwarding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Введение в VPN: объединение сетей и удаленный доступ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VPN (Virtual Private Network) — виртуальная частная сеть поверх другой сети, обычно Интернета</a:t>
            </a:r>
          </a:p>
          <a:p>
            <a:pPr>
              <a:defRPr sz="3600"/>
            </a:pPr>
            <a:r>
              <a:t>VPN создает защищенный туннель между узлами или сетями</a:t>
            </a:r>
          </a:p>
          <a:p>
            <a:pPr>
              <a:defRPr sz="3600"/>
            </a:pPr>
            <a:r>
              <a:t>Через туннель можно передавать корпоративный трафик так, будто клиент находится внутри сети</a:t>
            </a:r>
          </a:p>
          <a:p>
            <a:pPr>
              <a:defRPr sz="3600"/>
            </a:pPr>
            <a:r>
              <a:t>VPN не отменяет маршрутизацию и firewall: для туннеля тоже нужны адреса, маршруты и правила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Site-to-Site и Remote Access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Site-to-Site VPN объединяет две сети, например офис и филиал</a:t>
            </a:r>
          </a:p>
          <a:p>
            <a:pPr>
              <a:defRPr sz="3600"/>
            </a:pPr>
            <a:r>
              <a:t>Remote Access VPN подключает отдельного удаленного сотрудника к корпоративной сети</a:t>
            </a:r>
          </a:p>
          <a:p>
            <a:pPr>
              <a:defRPr sz="3600"/>
            </a:pPr>
            <a:r>
              <a:t>В Site-to-Site важны маршруты между подсетями обоих офисов</a:t>
            </a:r>
          </a:p>
          <a:p>
            <a:pPr>
              <a:defRPr sz="3600"/>
            </a:pPr>
            <a:r>
              <a:t>В Remote Access важны учет клиента, доступные внутренние сети и безопасность устройства пользователя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Поколения VPN-решений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IPsec — мощный стандарт для site-to-site VPN, но его настройка может быть сложной</a:t>
            </a:r>
          </a:p>
          <a:p>
            <a:pPr>
              <a:defRPr sz="3600"/>
            </a:pPr>
            <a:r>
              <a:t>OpenVPN — распространенное решение, работающее поверх TLS и пользовательского пространства</a:t>
            </a:r>
          </a:p>
          <a:p>
            <a:pPr>
              <a:defRPr sz="3600"/>
            </a:pPr>
            <a:r>
              <a:t>WireGuard — современный минималистичный VPN, встроенный в ядро Linux</a:t>
            </a:r>
          </a:p>
          <a:p>
            <a:pPr>
              <a:defRPr sz="3600"/>
            </a:pPr>
            <a:r>
              <a:t>Выбор VPN зависит от совместимости, безопасности, скорости и требований организации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Адреса и маршруты в VPN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/>
              <a:t>VPN-</a:t>
            </a:r>
            <a:r>
              <a:rPr dirty="0" err="1"/>
              <a:t>интерфейс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собственный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wg0 = 10.8.0.1/24</a:t>
            </a:r>
          </a:p>
          <a:p>
            <a:pPr>
              <a:defRPr sz="3600"/>
            </a:pPr>
            <a:r>
              <a:rPr dirty="0" err="1"/>
              <a:t>Удаленный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получает</a:t>
            </a:r>
            <a:r>
              <a:rPr dirty="0"/>
              <a:t> </a:t>
            </a:r>
            <a:r>
              <a:rPr dirty="0" err="1"/>
              <a:t>адрес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туннеля</a:t>
            </a:r>
            <a:r>
              <a:rPr dirty="0"/>
              <a:t>, </a:t>
            </a:r>
            <a:r>
              <a:rPr dirty="0" err="1"/>
              <a:t>например</a:t>
            </a:r>
            <a:r>
              <a:rPr dirty="0"/>
              <a:t> 10.8.0.2/32</a:t>
            </a:r>
          </a:p>
          <a:p>
            <a:pPr>
              <a:defRPr sz="3600"/>
            </a:pPr>
            <a:r>
              <a:rPr dirty="0" err="1"/>
              <a:t>Чтобы</a:t>
            </a:r>
            <a:r>
              <a:rPr dirty="0"/>
              <a:t> </a:t>
            </a:r>
            <a:r>
              <a:rPr dirty="0" err="1"/>
              <a:t>клиент</a:t>
            </a:r>
            <a:r>
              <a:rPr dirty="0"/>
              <a:t> </a:t>
            </a:r>
            <a:r>
              <a:rPr dirty="0" err="1"/>
              <a:t>видел</a:t>
            </a:r>
            <a:r>
              <a:rPr dirty="0"/>
              <a:t> LAN 192.168.10.0/24, </a:t>
            </a:r>
            <a:r>
              <a:rPr dirty="0" err="1"/>
              <a:t>нужны</a:t>
            </a:r>
            <a:r>
              <a:rPr dirty="0"/>
              <a:t> </a:t>
            </a:r>
            <a:r>
              <a:rPr dirty="0" err="1"/>
              <a:t>маршруты</a:t>
            </a:r>
            <a:r>
              <a:rPr dirty="0"/>
              <a:t> и </a:t>
            </a:r>
            <a:r>
              <a:rPr dirty="0" err="1"/>
              <a:t>разрешающие</a:t>
            </a:r>
            <a:r>
              <a:rPr dirty="0"/>
              <a:t> firewall-</a:t>
            </a:r>
            <a:r>
              <a:rPr dirty="0" err="1"/>
              <a:t>правила</a:t>
            </a:r>
            <a:endParaRPr dirty="0"/>
          </a:p>
          <a:p>
            <a:pPr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маршрут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одной</a:t>
            </a:r>
            <a:r>
              <a:rPr dirty="0"/>
              <a:t> </a:t>
            </a:r>
            <a:r>
              <a:rPr dirty="0" err="1"/>
              <a:t>стороне</a:t>
            </a:r>
            <a:r>
              <a:rPr dirty="0"/>
              <a:t>, </a:t>
            </a:r>
            <a:r>
              <a:rPr dirty="0" err="1"/>
              <a:t>связь</a:t>
            </a:r>
            <a:r>
              <a:rPr dirty="0"/>
              <a:t> </a:t>
            </a:r>
            <a:r>
              <a:rPr dirty="0" err="1"/>
              <a:t>будет</a:t>
            </a:r>
            <a:r>
              <a:rPr dirty="0"/>
              <a:t> </a:t>
            </a:r>
            <a:r>
              <a:rPr dirty="0" err="1"/>
              <a:t>односторонней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полностью</a:t>
            </a:r>
            <a:r>
              <a:rPr dirty="0"/>
              <a:t> </a:t>
            </a:r>
            <a:r>
              <a:rPr dirty="0" err="1"/>
              <a:t>неработоспособной</a:t>
            </a:r>
            <a:endParaRPr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Remote Access VPN к корпоративной 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391DE-D5D6-B926-7F41-F6F754940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6. WireGuard VPN: архитектура и преимущества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WireGuard — современный VPN-протокол и реализация для Linux и других систем</a:t>
            </a:r>
          </a:p>
          <a:p>
            <a:pPr>
              <a:defRPr sz="3600"/>
            </a:pPr>
            <a:r>
              <a:t>WireGuard использует криптографические ключи вместо сложной инфраструктуры сертификатов</a:t>
            </a:r>
          </a:p>
          <a:p>
            <a:pPr>
              <a:defRPr sz="3600"/>
            </a:pPr>
            <a:r>
              <a:t>Он работает быстро, имеет небольшой код и хорошо подходит для серверов и мобильных клиентов</a:t>
            </a:r>
          </a:p>
          <a:p>
            <a:pPr>
              <a:defRPr sz="3600"/>
            </a:pPr>
            <a:r>
              <a:t>WireGuard использует UDP (User Datagram Protocol) и по умолчанию слушает порт 51820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Пиры и ключи WireGuard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Peer, пир, — участник WireGuard-туннеля: сервер или клиент</a:t>
            </a:r>
          </a:p>
          <a:p>
            <a:pPr>
              <a:defRPr sz="3600"/>
            </a:pPr>
            <a:r>
              <a:t>Каждый пир имеет private key и public key</a:t>
            </a:r>
          </a:p>
          <a:p>
            <a:pPr>
              <a:defRPr sz="3600"/>
            </a:pPr>
            <a:r>
              <a:t>Private key, закрытый ключ, хранится только на своем узле</a:t>
            </a:r>
          </a:p>
          <a:p>
            <a:pPr>
              <a:defRPr sz="3600"/>
            </a:pPr>
            <a:r>
              <a:t>Public key, открытый ключ, передается другой стороне и указывается в конфигурации peer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Cryptokey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Cryptokey Routing — подход WireGuard, который связывает маршруты с открытыми ключами пиров</a:t>
            </a:r>
          </a:p>
          <a:p>
            <a:pPr>
              <a:defRPr sz="3600"/>
            </a:pPr>
            <a:r>
              <a:t>AllowedIPs определяет, какие адреса считаются принадлежащими конкретному peer</a:t>
            </a:r>
          </a:p>
          <a:p>
            <a:pPr>
              <a:defRPr sz="3600"/>
            </a:pPr>
            <a:r>
              <a:t>На сервере AllowedIPs = 10.8.0.2/32 означает адрес конкретного удаленного клиента</a:t>
            </a:r>
          </a:p>
          <a:p>
            <a:pPr>
              <a:defRPr sz="3600"/>
            </a:pPr>
            <a:r>
              <a:t>На клиенте AllowedIPs может включать 192.168.10.0/24, если клиент должен ходить в корпоративную LAN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WireGuard и firewall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внешнем интерфейсе gw01 нужно разрешить UDP 51820</a:t>
            </a:r>
          </a:p>
          <a:p>
            <a:pPr>
              <a:defRPr sz="3600"/>
            </a:pPr>
            <a:r>
              <a:t>В forward-цепочке нужно разрешить трафик между wg0 и LAN</a:t>
            </a:r>
          </a:p>
          <a:p>
            <a:pPr>
              <a:defRPr sz="3600"/>
            </a:pPr>
            <a:r>
              <a:t>Если VPN-клиент должен выходить в Интернет через gw01, может понадобиться NAT для сети 10.8.0.0/24</a:t>
            </a:r>
          </a:p>
          <a:p>
            <a:pPr>
              <a:defRPr sz="3600"/>
            </a:pPr>
            <a:r>
              <a:t>WireGuard поднимает туннель, но не отменяет обычные правила маршрутизации и фильтрации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WireGuard peers, ключи и AllowedIPs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B6B7653-F5F2-6DF3-7FD5-42141B8A0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7. Практика: настройка WireGuard туннеля маршрутизатор-клиент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В учебном стенде gw01 будет WireGuard-сервером, а удаленный ноутбук будет клиентом</a:t>
            </a:r>
          </a:p>
          <a:p>
            <a:pPr>
              <a:defRPr sz="3600"/>
            </a:pPr>
            <a:r>
              <a:t>Сервер получает адрес 10.8.0.1/24 на интерфейсе wg0</a:t>
            </a:r>
          </a:p>
          <a:p>
            <a:pPr>
              <a:defRPr sz="3600"/>
            </a:pPr>
            <a:r>
              <a:t>Клиент получает адрес 10.8.0.2/32 внутри туннеля</a:t>
            </a:r>
          </a:p>
          <a:p>
            <a:pPr>
              <a:defRPr sz="3600"/>
            </a:pPr>
            <a:r>
              <a:t>Клиенту разрешается доступ к внутренней сети 192.168.10.0/24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Установка WireGuard и генерация ключей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apt install wireguard -y устанавливает WireGuard и утилиты wg, wg-quick</a:t>
            </a:r>
          </a:p>
          <a:p>
            <a:pPr>
              <a:defRPr sz="3600"/>
            </a:pPr>
            <a:r>
              <a:t>umask 077 ограничивает права на создаваемые файлы ключей</a:t>
            </a:r>
          </a:p>
          <a:p>
            <a:pPr>
              <a:defRPr sz="3600"/>
            </a:pPr>
            <a:r>
              <a:t>wg genkey | tee server_private.key | wg pubkey &gt; server_public.key создает пару ключей сервера</a:t>
            </a:r>
          </a:p>
          <a:p>
            <a:pPr>
              <a:defRPr sz="3600"/>
            </a:pPr>
            <a:r>
              <a:t>Такую же пару ключей нужно создать для клиента и обменяться только открытыми ключами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Секция Interface сервера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[Interface] начинает настройки локального WireGuard-интерфейса</a:t>
            </a:r>
          </a:p>
          <a:p>
            <a:pPr>
              <a:defRPr sz="3600"/>
            </a:pPr>
            <a:r>
              <a:t>PrivateKey = &lt;закрытый_ключ_сервера&gt; указывает private key gw01</a:t>
            </a:r>
          </a:p>
          <a:p>
            <a:pPr>
              <a:defRPr sz="3600"/>
            </a:pPr>
            <a:r>
              <a:t>Address = 10.8.0.1/24 назначает адрес серверу внутри VPN</a:t>
            </a:r>
          </a:p>
          <a:p>
            <a:pPr>
              <a:defRPr sz="3600"/>
            </a:pPr>
            <a:r>
              <a:t>ListenPort = 51820 задает UDP-порт приема WireGuard-подключений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Секция Peer для клиента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[Peer] описывает удаленного клиента в конфигурации сервера</a:t>
            </a:r>
          </a:p>
          <a:p>
            <a:pPr>
              <a:defRPr sz="3600"/>
            </a:pPr>
            <a:r>
              <a:t>PublicKey = &lt;открытый_ключ_клиента&gt; указывает public key клиента</a:t>
            </a:r>
          </a:p>
          <a:p>
            <a:pPr>
              <a:defRPr sz="3600"/>
            </a:pPr>
            <a:r>
              <a:t>AllowedIPs = 10.8.0.2/32 закрепляет VPN-адрес клиента за его ключом</a:t>
            </a:r>
          </a:p>
          <a:p>
            <a:pPr>
              <a:defRPr sz="3600"/>
            </a:pPr>
            <a:r>
              <a:t>Если указать слишком широкие AllowedIPs, маршруты могут начать уходить не тому peer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Запуск и автозапуск wg0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wg-quick up wg0 поднимает интерфейс wg0 по файлу /etc/wireguard/wg0.conf</a:t>
            </a:r>
          </a:p>
          <a:p>
            <a:pPr>
              <a:defRPr sz="3600"/>
            </a:pPr>
            <a:r>
              <a:t>sudo wg показывает состояние WireGuard, public key, endpoint и latest handshake</a:t>
            </a:r>
          </a:p>
          <a:p>
            <a:pPr>
              <a:defRPr sz="3600"/>
            </a:pPr>
            <a:r>
              <a:t>sudo systemctl enable wg-quick@wg0 включает автозапуск туннеля при загрузке</a:t>
            </a:r>
          </a:p>
          <a:p>
            <a:pPr>
              <a:defRPr sz="3600"/>
            </a:pPr>
            <a:r>
              <a:t>sudo wg-quick down wg0 корректно останавливает интерфейс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Маршрутизация VPN-клиента в 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На gw01 должен быть включен net.ipv4.ip_forward=1</a:t>
            </a:r>
          </a:p>
          <a:p>
            <a:pPr>
              <a:defRPr sz="3600"/>
            </a:pPr>
            <a:r>
              <a:t>В nftables нужно разрешить forward между wg0 и enp0s8</a:t>
            </a:r>
          </a:p>
          <a:p>
            <a:pPr>
              <a:defRPr sz="3600"/>
            </a:pPr>
            <a:r>
              <a:t>Правило sudo nft add rule inet filter forward iifname "wg0" oifname "enp0s8" accept разрешает клиенту идти в LAN</a:t>
            </a:r>
          </a:p>
          <a:p>
            <a:pPr>
              <a:defRPr sz="3600"/>
            </a:pPr>
            <a:r>
              <a:t>Правило established,related разрешает обратные ответы из LAN в VPN-туннель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WireGuard remote client через gw01 в 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1A7513-3525-A175-4551-4F04B96D71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Защита файлов WireGuard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Файл /etc/wireguard/wg0.conf содержит закрытый ключ сервера и должен быть защищен</a:t>
            </a:r>
          </a:p>
          <a:p>
            <a:pPr>
              <a:defRPr sz="3600"/>
            </a:pPr>
            <a:r>
              <a:t>sudo chmod 600 /etc/wireguard/wg0.conf разрешает чтение и запись только владельцу</a:t>
            </a:r>
          </a:p>
          <a:p>
            <a:pPr>
              <a:defRPr sz="3600"/>
            </a:pPr>
            <a:r>
              <a:t>Закрытые ключи нельзя отправлять в чат, вставлять в отчеты или хранить в общей папке</a:t>
            </a:r>
          </a:p>
          <a:p>
            <a:pPr>
              <a:defRPr sz="3600"/>
            </a:pPr>
            <a:r>
              <a:t>При утечке private key нужно заменить ключи и обновить конфигурации peer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8. Диагностика, мониторинг и типичные ошибки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Диагностика начинается с проверки маршрутизации, затем firewall, затем NAT и VPN</a:t>
            </a:r>
          </a:p>
          <a:p>
            <a:pPr>
              <a:defRPr sz="3600"/>
            </a:pPr>
            <a:r>
              <a:t>Нужно отдельно проверять контрольный канал WireGuard и полезный трафик через туннель</a:t>
            </a:r>
          </a:p>
          <a:p>
            <a:pPr>
              <a:defRPr sz="3600"/>
            </a:pPr>
            <a:r>
              <a:t>Проблема может быть на сервере, клиенте, firewall, AllowedIPs или маршрутах</a:t>
            </a:r>
          </a:p>
          <a:p>
            <a:pPr>
              <a:defRPr sz="3600"/>
            </a:pPr>
            <a:r>
              <a:t>Для проверки лучше идти по уровням, а не сразу переписывать всю конфигурацию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Linux-router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ip addr показывает адреса интерфейсов gw01</a:t>
            </a:r>
          </a:p>
          <a:p>
            <a:pPr>
              <a:defRPr sz="3600"/>
            </a:pPr>
            <a:r>
              <a:t>ip route показывает маршруты и default route</a:t>
            </a:r>
          </a:p>
          <a:p>
            <a:pPr>
              <a:defRPr sz="3600"/>
            </a:pPr>
            <a:r>
              <a:t>sysctl net.ipv4.ip_forward проверяет, включена ли пересылка IPv4</a:t>
            </a:r>
          </a:p>
          <a:p>
            <a:pPr>
              <a:defRPr sz="3600"/>
            </a:pPr>
            <a:r>
              <a:t>ping 192.168.10.1 с клиента LAN проверяет доступность внутреннего интерфейса маршрутизатора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nftables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nft list ruleset показывает активные таблицы, цепочки и правила</a:t>
            </a:r>
          </a:p>
          <a:p>
            <a:pPr>
              <a:defRPr sz="3600"/>
            </a:pPr>
            <a:r>
              <a:t>Нужно проверить наличие filter-цепочки forward и правил established,related</a:t>
            </a:r>
          </a:p>
          <a:p>
            <a:pPr>
              <a:defRPr sz="3600"/>
            </a:pPr>
            <a:r>
              <a:t>Для NAT проверяют postrouting masquerade и prerouting dnat</a:t>
            </a:r>
          </a:p>
          <a:p>
            <a:pPr>
              <a:defRPr sz="3600"/>
            </a:pPr>
            <a:r>
              <a:t>Если policy drop включена, отсутствие одного accept-правила полностью блокирует нужный поток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Проверка WireGuard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sudo wg показывает peer, endpoint, latest handshake и счетчики transfer</a:t>
            </a:r>
          </a:p>
          <a:p>
            <a:pPr>
              <a:defRPr sz="3600"/>
            </a:pPr>
            <a:r>
              <a:t>latest handshake появляется только после успешного обмена пакетами между пирами</a:t>
            </a:r>
          </a:p>
          <a:p>
            <a:pPr>
              <a:defRPr sz="3600"/>
            </a:pPr>
            <a:r>
              <a:t>ping 10.8.0.1 с клиента проверяет доступность VPN-интерфейса сервера</a:t>
            </a:r>
          </a:p>
          <a:p>
            <a:pPr>
              <a:defRPr sz="3600"/>
            </a:pPr>
            <a:r>
              <a:t>ping 192.168.10.20 с клиента проверяет маршрутизацию из VPN в LAN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Типовые ошибки WireGuard и маршрутизации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ip_forward выключен: туннель поднят, но LAN за сервером недоступна</a:t>
            </a:r>
          </a:p>
          <a:p>
            <a:pPr>
              <a:defRPr sz="3600"/>
            </a:pPr>
            <a:r>
              <a:t>AllowedIPs указаны неверно, поэтому маршрут уходит не в тот peer или не создается</a:t>
            </a:r>
          </a:p>
          <a:p>
            <a:pPr>
              <a:defRPr sz="3600"/>
            </a:pPr>
            <a:r>
              <a:t>UDP 51820 заблокирован firewall на внешнем интерфейсе</a:t>
            </a:r>
          </a:p>
          <a:p>
            <a:pPr>
              <a:defRPr sz="3600"/>
            </a:pPr>
            <a:r>
              <a:t>Private key и public key перепутаны при переносе в конфигурации</a:t>
            </a:r>
          </a:p>
          <a:p>
            <a:pPr>
              <a:defRPr sz="3600"/>
            </a:pPr>
            <a:r>
              <a:t>Forward-цепочка nftables запрещает трафик между wg0 и enp0s8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Схема: диагностика Linux-router, NAT и WireGuard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endParaRPr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4349B6-765F-C811-99A8-2134B1BCD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3600"/>
            </a:pPr>
            <a:r>
              <a:t>Linux может быть маршрутизатором, если включен ip_forward, настроены маршруты и правила forward</a:t>
            </a:r>
          </a:p>
          <a:p>
            <a:pPr>
              <a:defRPr sz="3600"/>
            </a:pPr>
            <a:r>
              <a:t>nftables управляет входящим, исходящим и транзитным трафиком через таблицы, цепочки и правила</a:t>
            </a:r>
          </a:p>
          <a:p>
            <a:pPr>
              <a:defRPr sz="3600"/>
            </a:pPr>
            <a:r>
              <a:t>Masquerade публикует внутреннюю сеть наружу, а DNAT публикует внутренний сервер через внешний порт</a:t>
            </a:r>
          </a:p>
          <a:p>
            <a:pPr>
              <a:defRPr sz="3600"/>
            </a:pPr>
            <a:r>
              <a:t>WireGuard строит быстрый VPN на ключах, AllowedIPs и UDP-порту 51820</a:t>
            </a:r>
          </a:p>
          <a:p>
            <a:pPr>
              <a:defRPr sz="3600"/>
            </a:pPr>
            <a:r>
              <a:t>Диагностика начинается с ip route, sysctl, nft list ruleset, wg и проверочных ping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Какая переменная ядра включает пересылку IPv4-пакетов между интерфейсами?</a:t>
            </a:r>
          </a:p>
          <a:p>
            <a:pPr>
              <a:defRPr sz="3600"/>
            </a:pPr>
            <a:r>
              <a:t>Чем nftables отличается от классического iptables на уровне архитектуры?</a:t>
            </a:r>
          </a:p>
          <a:p>
            <a:pPr>
              <a:defRPr sz="3600"/>
            </a:pPr>
            <a:r>
              <a:t>Что такое deny by default и почему этот подход важен для маршрутизатора?</a:t>
            </a:r>
          </a:p>
          <a:p>
            <a:pPr>
              <a:defRPr sz="3600"/>
            </a:pPr>
            <a:r>
              <a:t>Чем masquerade отличается от обычного SNAT?</a:t>
            </a:r>
          </a:p>
          <a:p>
            <a:pPr>
              <a:defRPr sz="3600"/>
            </a:pPr>
            <a:r>
              <a:t>На каком hook выполняется DNAT для port forwarding?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вопросы: VPN и диагностика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3600"/>
            </a:pPr>
            <a:r>
              <a:t>Какие задачи решают Site-to-Site VPN и Remote Access VPN?</a:t>
            </a:r>
          </a:p>
          <a:p>
            <a:pPr>
              <a:defRPr sz="3600"/>
            </a:pPr>
            <a:r>
              <a:t>На каком транспортном протоколе и порту по умолчанию работает WireGuard?</a:t>
            </a:r>
          </a:p>
          <a:p>
            <a:pPr>
              <a:defRPr sz="3600"/>
            </a:pPr>
            <a:r>
              <a:t>Что означает Cryptokey Routing и как с ним связан AllowedIPs?</a:t>
            </a:r>
          </a:p>
          <a:p>
            <a:pPr>
              <a:defRPr sz="3600"/>
            </a:pPr>
            <a:r>
              <a:t>Какая команда показывает состояние WireGuard-туннеля?</a:t>
            </a:r>
          </a:p>
          <a:p>
            <a:pPr>
              <a:defRPr sz="3600"/>
            </a:pPr>
            <a:r>
              <a:t>Что проверить, если WireGuard-туннель поднят, но клиент не видит LAN?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2787</Words>
  <Application>Microsoft Office PowerPoint</Application>
  <PresentationFormat>Широкоэкранный</PresentationFormat>
  <Paragraphs>269</Paragraphs>
  <Slides>58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1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5</cp:revision>
  <dcterms:created xsi:type="dcterms:W3CDTF">2013-01-27T09:14:16Z</dcterms:created>
  <dcterms:modified xsi:type="dcterms:W3CDTF">2026-07-17T15:46:48Z</dcterms:modified>
  <cp:category/>
</cp:coreProperties>
</file>