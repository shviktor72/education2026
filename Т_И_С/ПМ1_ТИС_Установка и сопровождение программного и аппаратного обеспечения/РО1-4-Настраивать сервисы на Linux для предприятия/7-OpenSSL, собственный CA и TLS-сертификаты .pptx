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15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725501"/>
            <a:ext cx="12187375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7.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OpenSSL, </a:t>
            </a:r>
            <a:r>
              <a:rPr dirty="0" err="1"/>
              <a:t>собственный</a:t>
            </a:r>
            <a:r>
              <a:rPr dirty="0"/>
              <a:t> CA и TLS-</a:t>
            </a:r>
            <a:r>
              <a:rPr dirty="0" err="1"/>
              <a:t>сертификаты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служб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A0011F-2C42-9910-8AE2-EC66FC90C810}"/>
              </a:ext>
            </a:extLst>
          </p:cNvPr>
          <p:cNvSpPr txBox="1"/>
          <p:nvPr/>
        </p:nvSpPr>
        <p:spPr>
          <a:xfrm>
            <a:off x="1219200" y="442450"/>
            <a:ext cx="10972800" cy="19674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sz="3200" b="1" dirty="0">
                <a:solidFill>
                  <a:srgbClr val="143764"/>
                </a:solidFill>
              </a:rPr>
              <a:t>РО 1.4. </a:t>
            </a:r>
            <a:r>
              <a:rPr sz="3200" b="1" dirty="0" err="1">
                <a:solidFill>
                  <a:srgbClr val="143764"/>
                </a:solidFill>
              </a:rPr>
              <a:t>Основные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сервисы</a:t>
            </a:r>
            <a:r>
              <a:rPr sz="3200" b="1" dirty="0">
                <a:solidFill>
                  <a:srgbClr val="143764"/>
                </a:solidFill>
              </a:rPr>
              <a:t> Linux </a:t>
            </a:r>
            <a:r>
              <a:rPr sz="3200" b="1" dirty="0" err="1">
                <a:solidFill>
                  <a:srgbClr val="143764"/>
                </a:solidFill>
              </a:rPr>
              <a:t>для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предприятия</a:t>
            </a:r>
            <a:endParaRPr sz="3200" b="1" dirty="0">
              <a:solidFill>
                <a:srgbClr val="14376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угрозы</a:t>
            </a:r>
            <a:r>
              <a:rPr dirty="0"/>
              <a:t> </a:t>
            </a:r>
            <a:r>
              <a:rPr dirty="0" err="1"/>
              <a:t>возникают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передаче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шифрования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TLS, </a:t>
            </a:r>
            <a:r>
              <a:rPr dirty="0" err="1"/>
              <a:t>цифрового</a:t>
            </a:r>
            <a:r>
              <a:rPr dirty="0"/>
              <a:t> </a:t>
            </a:r>
            <a:r>
              <a:rPr dirty="0" err="1"/>
              <a:t>сертификата</a:t>
            </a:r>
            <a:r>
              <a:rPr dirty="0"/>
              <a:t>, </a:t>
            </a:r>
            <a:r>
              <a:rPr dirty="0" err="1"/>
              <a:t>закрытого</a:t>
            </a:r>
            <a:r>
              <a:rPr dirty="0"/>
              <a:t> </a:t>
            </a:r>
            <a:r>
              <a:rPr dirty="0" err="1"/>
              <a:t>ключа</a:t>
            </a:r>
            <a:r>
              <a:rPr dirty="0"/>
              <a:t>, CSR и CA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Различать</a:t>
            </a:r>
            <a:r>
              <a:rPr dirty="0"/>
              <a:t> Root CA, subordinate CA, </a:t>
            </a:r>
            <a:r>
              <a:rPr dirty="0" err="1"/>
              <a:t>серверный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и </a:t>
            </a:r>
            <a:r>
              <a:rPr dirty="0" err="1"/>
              <a:t>цепочку</a:t>
            </a:r>
            <a:r>
              <a:rPr dirty="0"/>
              <a:t> </a:t>
            </a:r>
            <a:r>
              <a:rPr dirty="0" err="1"/>
              <a:t>доверия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выпуска</a:t>
            </a:r>
            <a:r>
              <a:rPr dirty="0"/>
              <a:t> </a:t>
            </a:r>
            <a:r>
              <a:rPr dirty="0" err="1"/>
              <a:t>сертификата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OpenSSL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локально</a:t>
            </a:r>
            <a:r>
              <a:rPr dirty="0"/>
              <a:t>,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и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типовым</a:t>
            </a:r>
            <a:r>
              <a:rPr dirty="0"/>
              <a:t> </a:t>
            </a:r>
            <a:r>
              <a:rPr dirty="0" err="1"/>
              <a:t>ошибкам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в </a:t>
            </a:r>
            <a:r>
              <a:rPr dirty="0" err="1"/>
              <a:t>сети</a:t>
            </a:r>
            <a:r>
              <a:rPr dirty="0"/>
              <a:t> и </a:t>
            </a:r>
            <a:r>
              <a:rPr dirty="0" err="1"/>
              <a:t>основы</a:t>
            </a:r>
            <a:r>
              <a:rPr dirty="0"/>
              <a:t> </a:t>
            </a:r>
            <a:r>
              <a:rPr dirty="0" err="1"/>
              <a:t>криптографии</a:t>
            </a:r>
            <a:endParaRPr dirty="0"/>
          </a:p>
          <a:p>
            <a:pPr>
              <a:defRPr sz="3600"/>
            </a:pPr>
            <a:r>
              <a:rPr dirty="0"/>
              <a:t>2. </a:t>
            </a:r>
            <a:r>
              <a:rPr dirty="0" err="1"/>
              <a:t>Инфраструктура</a:t>
            </a:r>
            <a:r>
              <a:rPr dirty="0"/>
              <a:t> </a:t>
            </a:r>
            <a:r>
              <a:rPr dirty="0" err="1"/>
              <a:t>открытых</a:t>
            </a:r>
            <a:r>
              <a:rPr dirty="0"/>
              <a:t> </a:t>
            </a:r>
            <a:r>
              <a:rPr dirty="0" err="1"/>
              <a:t>ключей</a:t>
            </a:r>
            <a:r>
              <a:rPr dirty="0"/>
              <a:t> PKI и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удостоверяющего</a:t>
            </a:r>
            <a:r>
              <a:rPr dirty="0"/>
              <a:t> </a:t>
            </a:r>
            <a:r>
              <a:rPr dirty="0" err="1"/>
              <a:t>центра</a:t>
            </a:r>
            <a:r>
              <a:rPr dirty="0"/>
              <a:t> CA</a:t>
            </a:r>
          </a:p>
          <a:p>
            <a:pPr>
              <a:defRPr sz="3600"/>
            </a:pPr>
            <a:r>
              <a:rPr dirty="0"/>
              <a:t>3. </a:t>
            </a: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TLS-</a:t>
            </a:r>
            <a:r>
              <a:rPr dirty="0" err="1"/>
              <a:t>сертификата</a:t>
            </a:r>
            <a:r>
              <a:rPr dirty="0"/>
              <a:t> и </a:t>
            </a:r>
            <a:r>
              <a:rPr dirty="0" err="1"/>
              <a:t>процесс</a:t>
            </a:r>
            <a:r>
              <a:rPr dirty="0"/>
              <a:t> DERA</a:t>
            </a:r>
          </a:p>
          <a:p>
            <a:pPr>
              <a:defRPr sz="3600"/>
            </a:pPr>
            <a:r>
              <a:rPr dirty="0"/>
              <a:t>4. </a:t>
            </a:r>
            <a:r>
              <a:rPr dirty="0" err="1"/>
              <a:t>Инструмент</a:t>
            </a:r>
            <a:r>
              <a:rPr dirty="0"/>
              <a:t> OpenSSL в Linux</a:t>
            </a:r>
            <a:endParaRPr lang="ru-RU" dirty="0"/>
          </a:p>
          <a:p>
            <a:pPr>
              <a:defRPr sz="3600"/>
            </a:pPr>
            <a:r>
              <a:rPr lang="ru-RU" dirty="0"/>
              <a:t>5. Практика: создание собственного CA предприятия</a:t>
            </a:r>
          </a:p>
          <a:p>
            <a:pPr>
              <a:defRPr sz="3600"/>
            </a:pPr>
            <a:r>
              <a:rPr lang="ru-RU" dirty="0"/>
              <a:t>6. Практика: выпуск TLS-сертификата для веб-сервера</a:t>
            </a:r>
          </a:p>
          <a:p>
            <a:pPr>
              <a:defRPr sz="3600"/>
            </a:pPr>
            <a:r>
              <a:rPr lang="ru-RU" dirty="0"/>
              <a:t>7. Публикация и настройка TLS в серверных службах</a:t>
            </a:r>
          </a:p>
          <a:p>
            <a:pPr>
              <a:defRPr sz="3600"/>
            </a:pPr>
            <a:r>
              <a:rPr lang="ru-RU" dirty="0"/>
              <a:t>8. Диагностика, проверка и типовые ошибки</a:t>
            </a:r>
          </a:p>
          <a:p>
            <a:pPr>
              <a:defRPr sz="36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Внутренняя</a:t>
            </a:r>
            <a:r>
              <a:rPr dirty="0"/>
              <a:t> </a:t>
            </a:r>
            <a:r>
              <a:rPr dirty="0" err="1"/>
              <a:t>учебная</a:t>
            </a:r>
            <a:r>
              <a:rPr dirty="0"/>
              <a:t> </a:t>
            </a:r>
            <a:r>
              <a:rPr dirty="0" err="1"/>
              <a:t>зона</a:t>
            </a:r>
            <a:r>
              <a:rPr dirty="0"/>
              <a:t> </a:t>
            </a:r>
            <a:r>
              <a:rPr dirty="0" err="1"/>
              <a:t>организации</a:t>
            </a:r>
            <a:r>
              <a:rPr dirty="0"/>
              <a:t>: </a:t>
            </a:r>
            <a:r>
              <a:rPr dirty="0" err="1"/>
              <a:t>company.test</a:t>
            </a:r>
            <a:endParaRPr dirty="0"/>
          </a:p>
          <a:p>
            <a:pPr indent="354013">
              <a:defRPr sz="3600"/>
            </a:pPr>
            <a:r>
              <a:rPr dirty="0"/>
              <a:t>CA-</a:t>
            </a:r>
            <a:r>
              <a:rPr dirty="0" err="1"/>
              <a:t>сервер</a:t>
            </a:r>
            <a:r>
              <a:rPr dirty="0"/>
              <a:t> ca01.company.test </a:t>
            </a:r>
            <a:r>
              <a:rPr dirty="0" err="1"/>
              <a:t>выпускает</a:t>
            </a:r>
            <a:r>
              <a:rPr dirty="0"/>
              <a:t> </a:t>
            </a:r>
            <a:r>
              <a:rPr dirty="0" err="1"/>
              <a:t>сертификаты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внутренних</a:t>
            </a:r>
            <a:r>
              <a:rPr dirty="0"/>
              <a:t> </a:t>
            </a:r>
            <a:r>
              <a:rPr dirty="0" err="1"/>
              <a:t>служб</a:t>
            </a:r>
            <a:endParaRPr dirty="0"/>
          </a:p>
          <a:p>
            <a:pPr indent="354013">
              <a:defRPr sz="3600"/>
            </a:pPr>
            <a:r>
              <a:rPr dirty="0" err="1"/>
              <a:t>Веб-сервер</a:t>
            </a:r>
            <a:r>
              <a:rPr dirty="0"/>
              <a:t> web01.company.test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192.168.10.20 и </a:t>
            </a:r>
            <a:r>
              <a:rPr dirty="0" err="1"/>
              <a:t>обслуживает</a:t>
            </a:r>
            <a:r>
              <a:rPr dirty="0"/>
              <a:t> HTTPS</a:t>
            </a:r>
          </a:p>
          <a:p>
            <a:pPr indent="354013">
              <a:defRPr sz="3600"/>
            </a:pPr>
            <a:r>
              <a:rPr dirty="0" err="1"/>
              <a:t>Клиент</a:t>
            </a:r>
            <a:r>
              <a:rPr dirty="0"/>
              <a:t> client01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доверять</a:t>
            </a:r>
            <a:r>
              <a:rPr dirty="0"/>
              <a:t> </a:t>
            </a:r>
            <a:r>
              <a:rPr dirty="0" err="1"/>
              <a:t>корневому</a:t>
            </a:r>
            <a:r>
              <a:rPr dirty="0"/>
              <a:t> </a:t>
            </a:r>
            <a:r>
              <a:rPr dirty="0" err="1"/>
              <a:t>сертификату</a:t>
            </a:r>
            <a:r>
              <a:rPr dirty="0"/>
              <a:t> </a:t>
            </a:r>
            <a:r>
              <a:rPr dirty="0" err="1"/>
              <a:t>компании</a:t>
            </a:r>
            <a:r>
              <a:rPr dirty="0"/>
              <a:t> и </a:t>
            </a:r>
            <a:r>
              <a:rPr dirty="0" err="1"/>
              <a:t>открывать</a:t>
            </a:r>
            <a:r>
              <a:rPr dirty="0"/>
              <a:t> web01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доверия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Проблема безопасности данных в сети и основы криптографии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логины</a:t>
            </a:r>
            <a:r>
              <a:rPr dirty="0"/>
              <a:t>, </a:t>
            </a:r>
            <a:r>
              <a:rPr dirty="0" err="1"/>
              <a:t>пароли</a:t>
            </a:r>
            <a:r>
              <a:rPr dirty="0"/>
              <a:t> и </a:t>
            </a:r>
            <a:r>
              <a:rPr dirty="0" err="1"/>
              <a:t>письма</a:t>
            </a:r>
            <a:r>
              <a:rPr dirty="0"/>
              <a:t> </a:t>
            </a:r>
            <a:r>
              <a:rPr dirty="0" err="1"/>
              <a:t>открытым</a:t>
            </a:r>
            <a:r>
              <a:rPr dirty="0"/>
              <a:t> </a:t>
            </a:r>
            <a:r>
              <a:rPr dirty="0" err="1"/>
              <a:t>текстом</a:t>
            </a:r>
            <a:r>
              <a:rPr dirty="0"/>
              <a:t>,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перехватить</a:t>
            </a:r>
            <a:r>
              <a:rPr dirty="0"/>
              <a:t> в </a:t>
            </a:r>
            <a:r>
              <a:rPr dirty="0" err="1"/>
              <a:t>сети</a:t>
            </a:r>
            <a:endParaRPr dirty="0"/>
          </a:p>
          <a:p>
            <a:pPr indent="354013">
              <a:defRPr sz="3600"/>
            </a:pPr>
            <a:r>
              <a:rPr dirty="0"/>
              <a:t>HTTP, LDAP, SMTP и IMAP </a:t>
            </a:r>
            <a:r>
              <a:rPr dirty="0" err="1"/>
              <a:t>без</a:t>
            </a:r>
            <a:r>
              <a:rPr dirty="0"/>
              <a:t> TLS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защищают</a:t>
            </a:r>
            <a:r>
              <a:rPr dirty="0"/>
              <a:t> </a:t>
            </a:r>
            <a:r>
              <a:rPr dirty="0" err="1"/>
              <a:t>веб</a:t>
            </a:r>
            <a:r>
              <a:rPr dirty="0"/>
              <a:t>, </a:t>
            </a:r>
            <a:r>
              <a:rPr dirty="0" err="1"/>
              <a:t>каталог</a:t>
            </a:r>
            <a:r>
              <a:rPr dirty="0"/>
              <a:t>, </a:t>
            </a:r>
            <a:r>
              <a:rPr dirty="0" err="1"/>
              <a:t>отправку</a:t>
            </a:r>
            <a:r>
              <a:rPr dirty="0"/>
              <a:t> и </a:t>
            </a:r>
            <a:r>
              <a:rPr dirty="0" err="1"/>
              <a:t>получение</a:t>
            </a:r>
            <a:r>
              <a:rPr dirty="0"/>
              <a:t> </a:t>
            </a:r>
            <a:r>
              <a:rPr dirty="0" err="1"/>
              <a:t>почты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просмотра</a:t>
            </a:r>
            <a:endParaRPr dirty="0"/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защищать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публичные</a:t>
            </a:r>
            <a:r>
              <a:rPr dirty="0"/>
              <a:t> </a:t>
            </a:r>
            <a:r>
              <a:rPr dirty="0" err="1"/>
              <a:t>сайты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внутренние</a:t>
            </a:r>
            <a:r>
              <a:rPr dirty="0"/>
              <a:t> </a:t>
            </a:r>
            <a:r>
              <a:rPr dirty="0" err="1"/>
              <a:t>сервисы</a:t>
            </a:r>
            <a:r>
              <a:rPr dirty="0"/>
              <a:t> </a:t>
            </a:r>
            <a:r>
              <a:rPr dirty="0" err="1"/>
              <a:t>предприятия</a:t>
            </a:r>
            <a:endParaRPr dirty="0"/>
          </a:p>
          <a:p>
            <a:pPr indent="354013">
              <a:defRPr sz="3600"/>
            </a:pPr>
            <a:r>
              <a:rPr dirty="0"/>
              <a:t>TLS (Transport Layer Security) —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защиты</a:t>
            </a:r>
            <a:r>
              <a:rPr dirty="0"/>
              <a:t> </a:t>
            </a:r>
            <a:r>
              <a:rPr dirty="0" err="1"/>
              <a:t>соединения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обеспечивает</a:t>
            </a:r>
            <a:r>
              <a:rPr dirty="0"/>
              <a:t> </a:t>
            </a:r>
            <a:r>
              <a:rPr dirty="0" err="1"/>
              <a:t>шифрование</a:t>
            </a:r>
            <a:r>
              <a:rPr dirty="0"/>
              <a:t> и </a:t>
            </a:r>
            <a:r>
              <a:rPr dirty="0" err="1"/>
              <a:t>проверку</a:t>
            </a:r>
            <a:r>
              <a:rPr dirty="0"/>
              <a:t> </a:t>
            </a:r>
            <a:r>
              <a:rPr dirty="0" err="1"/>
              <a:t>подлинности</a:t>
            </a:r>
            <a:r>
              <a:rPr dirty="0"/>
              <a:t> </a:t>
            </a:r>
            <a:r>
              <a:rPr dirty="0" err="1"/>
              <a:t>сервера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именно защищает TLS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Конфиденциальность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посторонний</a:t>
            </a:r>
            <a:r>
              <a:rPr dirty="0"/>
              <a:t> </a:t>
            </a:r>
            <a:r>
              <a:rPr dirty="0" err="1"/>
              <a:t>наблюдатель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прочитать</a:t>
            </a:r>
            <a:r>
              <a:rPr dirty="0"/>
              <a:t> </a:t>
            </a:r>
            <a:r>
              <a:rPr dirty="0" err="1"/>
              <a:t>передаваемые</a:t>
            </a:r>
            <a:r>
              <a:rPr dirty="0"/>
              <a:t> </a:t>
            </a:r>
            <a:r>
              <a:rPr dirty="0" err="1"/>
              <a:t>данные</a:t>
            </a:r>
            <a:endParaRPr dirty="0"/>
          </a:p>
          <a:p>
            <a:pPr indent="354013">
              <a:defRPr sz="3600"/>
            </a:pPr>
            <a:r>
              <a:rPr dirty="0" err="1"/>
              <a:t>Целостность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и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обнаружат</a:t>
            </a:r>
            <a:r>
              <a:rPr dirty="0"/>
              <a:t> </a:t>
            </a: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в </a:t>
            </a:r>
            <a:r>
              <a:rPr dirty="0" err="1"/>
              <a:t>пути</a:t>
            </a:r>
            <a:endParaRPr dirty="0"/>
          </a:p>
          <a:p>
            <a:pPr indent="354013">
              <a:defRPr sz="3600"/>
            </a:pPr>
            <a:r>
              <a:rPr dirty="0" err="1"/>
              <a:t>Подлинность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понимает</a:t>
            </a:r>
            <a:r>
              <a:rPr dirty="0"/>
              <a:t>, с </a:t>
            </a:r>
            <a:r>
              <a:rPr dirty="0" err="1"/>
              <a:t>каким</a:t>
            </a:r>
            <a:r>
              <a:rPr dirty="0"/>
              <a:t> </a:t>
            </a:r>
            <a:r>
              <a:rPr dirty="0" err="1"/>
              <a:t>сервером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установил</a:t>
            </a:r>
            <a:r>
              <a:rPr dirty="0"/>
              <a:t> </a:t>
            </a:r>
            <a:r>
              <a:rPr dirty="0" err="1"/>
              <a:t>соединение</a:t>
            </a:r>
            <a:endParaRPr dirty="0"/>
          </a:p>
          <a:p>
            <a:pPr indent="354013">
              <a:defRPr sz="3600"/>
            </a:pPr>
            <a:r>
              <a:rPr dirty="0"/>
              <a:t>TLS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исправляет</a:t>
            </a:r>
            <a:r>
              <a:rPr dirty="0"/>
              <a:t> </a:t>
            </a:r>
            <a:r>
              <a:rPr dirty="0" err="1"/>
              <a:t>слабые</a:t>
            </a:r>
            <a:r>
              <a:rPr dirty="0"/>
              <a:t> </a:t>
            </a:r>
            <a:r>
              <a:rPr dirty="0" err="1"/>
              <a:t>пароли</a:t>
            </a:r>
            <a:r>
              <a:rPr dirty="0"/>
              <a:t> и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защищает</a:t>
            </a:r>
            <a:r>
              <a:rPr dirty="0"/>
              <a:t> </a:t>
            </a:r>
            <a:r>
              <a:rPr dirty="0" err="1"/>
              <a:t>канал</a:t>
            </a:r>
            <a:r>
              <a:rPr dirty="0"/>
              <a:t> </a:t>
            </a:r>
            <a:r>
              <a:rPr dirty="0" err="1"/>
              <a:t>передачи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Симметричное шифрование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Симметричное</a:t>
            </a:r>
            <a:r>
              <a:rPr dirty="0"/>
              <a:t> </a:t>
            </a:r>
            <a:r>
              <a:rPr dirty="0" err="1"/>
              <a:t>шифрование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шифрования</a:t>
            </a:r>
            <a:r>
              <a:rPr dirty="0"/>
              <a:t> и </a:t>
            </a:r>
            <a:r>
              <a:rPr dirty="0" err="1"/>
              <a:t>расшифрования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 indent="354013">
              <a:defRPr sz="3600"/>
            </a:pP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подход</a:t>
            </a:r>
            <a:r>
              <a:rPr dirty="0"/>
              <a:t> </a:t>
            </a:r>
            <a:r>
              <a:rPr dirty="0" err="1"/>
              <a:t>быстрый</a:t>
            </a:r>
            <a:r>
              <a:rPr dirty="0"/>
              <a:t> и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передачи</a:t>
            </a:r>
            <a:r>
              <a:rPr dirty="0"/>
              <a:t> </a:t>
            </a:r>
            <a:r>
              <a:rPr dirty="0" err="1"/>
              <a:t>больших</a:t>
            </a:r>
            <a:r>
              <a:rPr dirty="0"/>
              <a:t> </a:t>
            </a:r>
            <a:r>
              <a:rPr dirty="0" err="1"/>
              <a:t>объемов</a:t>
            </a:r>
            <a:r>
              <a:rPr dirty="0"/>
              <a:t> </a:t>
            </a:r>
            <a:r>
              <a:rPr dirty="0" err="1"/>
              <a:t>трафика</a:t>
            </a:r>
            <a:endParaRPr dirty="0"/>
          </a:p>
          <a:p>
            <a:pPr indent="354013">
              <a:defRPr sz="3600"/>
            </a:pP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проблема</a:t>
            </a:r>
            <a:r>
              <a:rPr dirty="0"/>
              <a:t>: </a:t>
            </a:r>
            <a:r>
              <a:rPr dirty="0" err="1"/>
              <a:t>клиент</a:t>
            </a:r>
            <a:r>
              <a:rPr dirty="0"/>
              <a:t> и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безопасно</a:t>
            </a:r>
            <a:r>
              <a:rPr dirty="0"/>
              <a:t> </a:t>
            </a:r>
            <a:r>
              <a:rPr dirty="0" err="1"/>
              <a:t>договориться</a:t>
            </a:r>
            <a:r>
              <a:rPr dirty="0"/>
              <a:t> 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общем</a:t>
            </a:r>
            <a:r>
              <a:rPr dirty="0"/>
              <a:t> </a:t>
            </a:r>
            <a:r>
              <a:rPr dirty="0" err="1"/>
              <a:t>ключе</a:t>
            </a:r>
            <a:endParaRPr dirty="0"/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перехвачен</a:t>
            </a:r>
            <a:r>
              <a:rPr dirty="0"/>
              <a:t>, </a:t>
            </a:r>
            <a:r>
              <a:rPr dirty="0" err="1"/>
              <a:t>защищенность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соединения</a:t>
            </a:r>
            <a:r>
              <a:rPr dirty="0"/>
              <a:t> </a:t>
            </a:r>
            <a:r>
              <a:rPr dirty="0" err="1"/>
              <a:t>теряется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Асимметричное шифрование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Асимметричное</a:t>
            </a:r>
            <a:r>
              <a:rPr dirty="0"/>
              <a:t> </a:t>
            </a:r>
            <a:r>
              <a:rPr dirty="0" err="1"/>
              <a:t>шифрование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пару</a:t>
            </a:r>
            <a:r>
              <a:rPr dirty="0"/>
              <a:t> </a:t>
            </a:r>
            <a:r>
              <a:rPr dirty="0" err="1"/>
              <a:t>ключей</a:t>
            </a:r>
            <a:r>
              <a:rPr dirty="0"/>
              <a:t>: public key и private key</a:t>
            </a:r>
          </a:p>
          <a:p>
            <a:pPr indent="354013">
              <a:defRPr sz="3600"/>
            </a:pPr>
            <a:r>
              <a:rPr dirty="0"/>
              <a:t>Public key, </a:t>
            </a:r>
            <a:r>
              <a:rPr dirty="0" err="1"/>
              <a:t>открытый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,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передавать</a:t>
            </a:r>
            <a:r>
              <a:rPr dirty="0"/>
              <a:t> </a:t>
            </a:r>
            <a:r>
              <a:rPr dirty="0" err="1"/>
              <a:t>клиентам</a:t>
            </a:r>
            <a:r>
              <a:rPr dirty="0"/>
              <a:t> и </a:t>
            </a:r>
            <a:r>
              <a:rPr dirty="0" err="1"/>
              <a:t>включать</a:t>
            </a:r>
            <a:r>
              <a:rPr dirty="0"/>
              <a:t> в </a:t>
            </a:r>
            <a:r>
              <a:rPr dirty="0" err="1"/>
              <a:t>сертификат</a:t>
            </a:r>
            <a:endParaRPr dirty="0"/>
          </a:p>
          <a:p>
            <a:pPr indent="354013">
              <a:defRPr sz="3600"/>
            </a:pPr>
            <a:r>
              <a:rPr dirty="0"/>
              <a:t>Private key,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, </a:t>
            </a:r>
            <a:r>
              <a:rPr dirty="0" err="1"/>
              <a:t>хранится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у </a:t>
            </a:r>
            <a:r>
              <a:rPr dirty="0" err="1"/>
              <a:t>владельца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CA</a:t>
            </a:r>
          </a:p>
          <a:p>
            <a:pPr indent="354013">
              <a:defRPr sz="3600"/>
            </a:pP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отправлять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, </a:t>
            </a:r>
            <a:r>
              <a:rPr dirty="0" err="1"/>
              <a:t>копировать</a:t>
            </a:r>
            <a:r>
              <a:rPr dirty="0"/>
              <a:t> в </a:t>
            </a:r>
            <a:r>
              <a:rPr dirty="0" err="1"/>
              <a:t>отчеты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размещать</a:t>
            </a:r>
            <a:r>
              <a:rPr dirty="0"/>
              <a:t> в </a:t>
            </a:r>
            <a:r>
              <a:rPr dirty="0" err="1"/>
              <a:t>общих</a:t>
            </a:r>
            <a:r>
              <a:rPr dirty="0"/>
              <a:t> </a:t>
            </a:r>
            <a:r>
              <a:rPr dirty="0" err="1"/>
              <a:t>папках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Цифровая подпись и хэш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Hash, </a:t>
            </a:r>
            <a:r>
              <a:rPr dirty="0" err="1"/>
              <a:t>хэш</a:t>
            </a:r>
            <a:r>
              <a:rPr dirty="0"/>
              <a:t>,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коротким</a:t>
            </a:r>
            <a:r>
              <a:rPr dirty="0"/>
              <a:t> </a:t>
            </a:r>
            <a:r>
              <a:rPr dirty="0" err="1"/>
              <a:t>цифровым</a:t>
            </a:r>
            <a:r>
              <a:rPr dirty="0"/>
              <a:t> </a:t>
            </a:r>
            <a:r>
              <a:rPr dirty="0" err="1"/>
              <a:t>отпечатком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меняется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изменении</a:t>
            </a:r>
            <a:r>
              <a:rPr dirty="0"/>
              <a:t> </a:t>
            </a:r>
            <a:r>
              <a:rPr dirty="0" err="1"/>
              <a:t>исходного</a:t>
            </a:r>
            <a:r>
              <a:rPr dirty="0"/>
              <a:t> </a:t>
            </a:r>
            <a:r>
              <a:rPr dirty="0" err="1"/>
              <a:t>текста</a:t>
            </a:r>
            <a:endParaRPr dirty="0"/>
          </a:p>
          <a:p>
            <a:pPr indent="354013">
              <a:defRPr sz="3600"/>
            </a:pPr>
            <a:r>
              <a:rPr dirty="0"/>
              <a:t>Digital Signature, </a:t>
            </a:r>
            <a:r>
              <a:rPr dirty="0" err="1"/>
              <a:t>цифровая</a:t>
            </a:r>
            <a:r>
              <a:rPr dirty="0"/>
              <a:t> </a:t>
            </a:r>
            <a:r>
              <a:rPr dirty="0" err="1"/>
              <a:t>подпись</a:t>
            </a:r>
            <a:r>
              <a:rPr dirty="0"/>
              <a:t>, </a:t>
            </a:r>
            <a:r>
              <a:rPr dirty="0" err="1"/>
              <a:t>подтверждает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подписаны</a:t>
            </a:r>
            <a:r>
              <a:rPr dirty="0"/>
              <a:t> </a:t>
            </a:r>
            <a:r>
              <a:rPr dirty="0" err="1"/>
              <a:t>владельцем</a:t>
            </a:r>
            <a:r>
              <a:rPr dirty="0"/>
              <a:t> </a:t>
            </a:r>
            <a:r>
              <a:rPr dirty="0" err="1"/>
              <a:t>закрытого</a:t>
            </a:r>
            <a:r>
              <a:rPr dirty="0"/>
              <a:t> </a:t>
            </a:r>
            <a:r>
              <a:rPr dirty="0" err="1"/>
              <a:t>ключа</a:t>
            </a:r>
            <a:endParaRPr dirty="0"/>
          </a:p>
          <a:p>
            <a:pPr indent="354013">
              <a:defRPr sz="3600"/>
            </a:pPr>
            <a:r>
              <a:rPr dirty="0"/>
              <a:t>CA </a:t>
            </a:r>
            <a:r>
              <a:rPr dirty="0" err="1"/>
              <a:t>подписывает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своим</a:t>
            </a:r>
            <a:r>
              <a:rPr dirty="0"/>
              <a:t> </a:t>
            </a:r>
            <a:r>
              <a:rPr dirty="0" err="1"/>
              <a:t>закрытым</a:t>
            </a:r>
            <a:r>
              <a:rPr dirty="0"/>
              <a:t> </a:t>
            </a:r>
            <a:r>
              <a:rPr dirty="0" err="1"/>
              <a:t>ключом</a:t>
            </a:r>
            <a:r>
              <a:rPr dirty="0"/>
              <a:t>, а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подпись</a:t>
            </a:r>
            <a:r>
              <a:rPr dirty="0"/>
              <a:t> </a:t>
            </a:r>
            <a:r>
              <a:rPr dirty="0" err="1"/>
              <a:t>открытым</a:t>
            </a:r>
            <a:r>
              <a:rPr dirty="0"/>
              <a:t> </a:t>
            </a:r>
            <a:r>
              <a:rPr dirty="0" err="1"/>
              <a:t>ключом</a:t>
            </a:r>
            <a:r>
              <a:rPr dirty="0"/>
              <a:t> CA</a:t>
            </a:r>
          </a:p>
          <a:p>
            <a:pPr indent="354013">
              <a:defRPr sz="3600"/>
            </a:pPr>
            <a:r>
              <a:rPr dirty="0" err="1"/>
              <a:t>Подпись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скрывает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, а </a:t>
            </a:r>
            <a:r>
              <a:rPr dirty="0" err="1"/>
              <a:t>подтверждает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и </a:t>
            </a:r>
            <a:r>
              <a:rPr dirty="0" err="1"/>
              <a:t>целостность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lang="ru-RU" dirty="0"/>
              <a:t>шифрование, подпись и доверие в TLS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F459FF-0642-A0E4-31F6-8079524E72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14953" y="182880"/>
            <a:ext cx="753161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2. </a:t>
            </a:r>
            <a:r>
              <a:rPr dirty="0" err="1"/>
              <a:t>Инфраструктура</a:t>
            </a:r>
            <a:r>
              <a:rPr dirty="0"/>
              <a:t> </a:t>
            </a:r>
            <a:r>
              <a:rPr dirty="0" err="1"/>
              <a:t>открытых</a:t>
            </a:r>
            <a:r>
              <a:rPr dirty="0"/>
              <a:t> </a:t>
            </a:r>
            <a:r>
              <a:rPr dirty="0" err="1"/>
              <a:t>ключей</a:t>
            </a:r>
            <a:r>
              <a:rPr dirty="0"/>
              <a:t> PKI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и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удостоверяющего</a:t>
            </a:r>
            <a:r>
              <a:rPr dirty="0"/>
              <a:t> </a:t>
            </a:r>
            <a:r>
              <a:rPr dirty="0" err="1"/>
              <a:t>центра</a:t>
            </a:r>
            <a:r>
              <a:rPr dirty="0"/>
              <a:t>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60098"/>
            <a:ext cx="11415252" cy="5415022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/>
              <a:t>PKI (Public Key Infrastructure) — </a:t>
            </a:r>
            <a:r>
              <a:rPr dirty="0" err="1"/>
              <a:t>инфраструктура</a:t>
            </a:r>
            <a:r>
              <a:rPr dirty="0"/>
              <a:t> </a:t>
            </a:r>
            <a:r>
              <a:rPr dirty="0" err="1"/>
              <a:t>открытых</a:t>
            </a:r>
            <a:r>
              <a:rPr dirty="0"/>
              <a:t> </a:t>
            </a:r>
            <a:r>
              <a:rPr dirty="0" err="1"/>
              <a:t>ключей</a:t>
            </a:r>
            <a:r>
              <a:rPr dirty="0"/>
              <a:t>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сертификатами</a:t>
            </a:r>
            <a:r>
              <a:rPr dirty="0"/>
              <a:t> и </a:t>
            </a:r>
            <a:r>
              <a:rPr dirty="0" err="1"/>
              <a:t>доверием</a:t>
            </a:r>
            <a:endParaRPr dirty="0"/>
          </a:p>
          <a:p>
            <a:pPr indent="354013">
              <a:defRPr sz="3600"/>
            </a:pPr>
            <a:r>
              <a:rPr dirty="0" err="1"/>
              <a:t>Без</a:t>
            </a:r>
            <a:r>
              <a:rPr dirty="0"/>
              <a:t> PKI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открытый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знает</a:t>
            </a:r>
            <a:r>
              <a:rPr dirty="0"/>
              <a:t>,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этому</a:t>
            </a:r>
            <a:r>
              <a:rPr dirty="0"/>
              <a:t> </a:t>
            </a:r>
            <a:r>
              <a:rPr dirty="0" err="1"/>
              <a:t>ключу</a:t>
            </a:r>
            <a:r>
              <a:rPr dirty="0"/>
              <a:t> </a:t>
            </a:r>
            <a:r>
              <a:rPr dirty="0" err="1"/>
              <a:t>доверять</a:t>
            </a:r>
            <a:endParaRPr dirty="0"/>
          </a:p>
          <a:p>
            <a:pPr indent="354013">
              <a:defRPr sz="3600"/>
            </a:pPr>
            <a:r>
              <a:rPr dirty="0"/>
              <a:t>MitM (Man in the Middle) — </a:t>
            </a:r>
            <a:r>
              <a:rPr dirty="0" err="1"/>
              <a:t>атака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 </a:t>
            </a:r>
            <a:r>
              <a:rPr dirty="0" err="1"/>
              <a:t>посередине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злоумышленник</a:t>
            </a:r>
            <a:r>
              <a:rPr dirty="0"/>
              <a:t> </a:t>
            </a:r>
            <a:r>
              <a:rPr dirty="0" err="1"/>
              <a:t>подменяет</a:t>
            </a:r>
            <a:r>
              <a:rPr dirty="0"/>
              <a:t> </a:t>
            </a:r>
            <a:r>
              <a:rPr dirty="0" err="1"/>
              <a:t>соединение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клиентом</a:t>
            </a:r>
            <a:r>
              <a:rPr dirty="0"/>
              <a:t> и </a:t>
            </a:r>
            <a:r>
              <a:rPr dirty="0" err="1"/>
              <a:t>сервером</a:t>
            </a:r>
            <a:endParaRPr dirty="0"/>
          </a:p>
          <a:p>
            <a:pPr indent="354013">
              <a:defRPr sz="3600"/>
            </a:pPr>
            <a:r>
              <a:rPr dirty="0"/>
              <a:t>CA </a:t>
            </a:r>
            <a:r>
              <a:rPr dirty="0" err="1"/>
              <a:t>решает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 </a:t>
            </a:r>
            <a:r>
              <a:rPr dirty="0" err="1"/>
              <a:t>доверия</a:t>
            </a:r>
            <a:r>
              <a:rPr dirty="0"/>
              <a:t>: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действительно</a:t>
            </a:r>
            <a:r>
              <a:rPr dirty="0"/>
              <a:t> </a:t>
            </a:r>
            <a:r>
              <a:rPr dirty="0" err="1"/>
              <a:t>принадлежит</a:t>
            </a:r>
            <a:r>
              <a:rPr dirty="0"/>
              <a:t> </a:t>
            </a:r>
            <a:r>
              <a:rPr dirty="0" err="1"/>
              <a:t>нужному</a:t>
            </a:r>
            <a:r>
              <a:rPr dirty="0"/>
              <a:t> </a:t>
            </a:r>
            <a:r>
              <a:rPr dirty="0" err="1"/>
              <a:t>владельцу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X.509-сертификат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X.509 — </a:t>
            </a:r>
            <a:r>
              <a:rPr dirty="0" err="1"/>
              <a:t>распространенный</a:t>
            </a:r>
            <a:r>
              <a:rPr dirty="0"/>
              <a:t> </a:t>
            </a:r>
            <a:r>
              <a:rPr dirty="0" err="1"/>
              <a:t>стандарт</a:t>
            </a:r>
            <a:r>
              <a:rPr dirty="0"/>
              <a:t> </a:t>
            </a:r>
            <a:r>
              <a:rPr dirty="0" err="1"/>
              <a:t>цифровых</a:t>
            </a:r>
            <a:r>
              <a:rPr dirty="0"/>
              <a:t> </a:t>
            </a:r>
            <a:r>
              <a:rPr dirty="0" err="1"/>
              <a:t>сертификатов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TLS и </a:t>
            </a:r>
            <a:r>
              <a:rPr dirty="0" err="1"/>
              <a:t>других</a:t>
            </a:r>
            <a:r>
              <a:rPr dirty="0"/>
              <a:t> PKI-</a:t>
            </a:r>
            <a:r>
              <a:rPr dirty="0" err="1"/>
              <a:t>сценариев</a:t>
            </a:r>
            <a:endParaRPr dirty="0"/>
          </a:p>
          <a:p>
            <a:pPr indent="354013">
              <a:defRPr sz="3600"/>
            </a:pPr>
            <a:r>
              <a:rPr dirty="0"/>
              <a:t>Certificate, </a:t>
            </a:r>
            <a:r>
              <a:rPr dirty="0" err="1"/>
              <a:t>сертификат</a:t>
            </a:r>
            <a:r>
              <a:rPr dirty="0"/>
              <a:t>,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 с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открытым</a:t>
            </a:r>
            <a:r>
              <a:rPr dirty="0"/>
              <a:t> </a:t>
            </a:r>
            <a:r>
              <a:rPr dirty="0" err="1"/>
              <a:t>ключом</a:t>
            </a:r>
            <a:r>
              <a:rPr dirty="0"/>
              <a:t> и </a:t>
            </a:r>
            <a:r>
              <a:rPr dirty="0" err="1"/>
              <a:t>данными</a:t>
            </a:r>
            <a:r>
              <a:rPr dirty="0"/>
              <a:t> </a:t>
            </a:r>
            <a:r>
              <a:rPr dirty="0" err="1"/>
              <a:t>издателя</a:t>
            </a:r>
            <a:endParaRPr dirty="0"/>
          </a:p>
          <a:p>
            <a:pPr indent="354013">
              <a:defRPr sz="3600"/>
            </a:pP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, </a:t>
            </a:r>
            <a:r>
              <a:rPr dirty="0" err="1"/>
              <a:t>серийный</a:t>
            </a:r>
            <a:r>
              <a:rPr dirty="0"/>
              <a:t> </a:t>
            </a:r>
            <a:r>
              <a:rPr dirty="0" err="1"/>
              <a:t>номер</a:t>
            </a:r>
            <a:r>
              <a:rPr dirty="0"/>
              <a:t>, </a:t>
            </a:r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подписи</a:t>
            </a:r>
            <a:r>
              <a:rPr dirty="0"/>
              <a:t> и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ключа</a:t>
            </a:r>
            <a:endParaRPr dirty="0"/>
          </a:p>
          <a:p>
            <a:pPr indent="354013">
              <a:defRPr sz="3600"/>
            </a:pP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содержать</a:t>
            </a:r>
            <a:r>
              <a:rPr dirty="0"/>
              <a:t>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SAN и имена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/>
              <a:t>SAN (Subject Alternative Name) — </a:t>
            </a:r>
            <a:r>
              <a:rPr dirty="0" err="1"/>
              <a:t>расширение</a:t>
            </a:r>
            <a:r>
              <a:rPr dirty="0"/>
              <a:t> </a:t>
            </a:r>
            <a:r>
              <a:rPr dirty="0" err="1"/>
              <a:t>сертификата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списком</a:t>
            </a:r>
            <a:r>
              <a:rPr dirty="0"/>
              <a:t> DNS-</a:t>
            </a:r>
            <a:r>
              <a:rPr dirty="0" err="1"/>
              <a:t>имен</a:t>
            </a:r>
            <a:r>
              <a:rPr dirty="0"/>
              <a:t> и IP-</a:t>
            </a:r>
            <a:r>
              <a:rPr dirty="0" err="1"/>
              <a:t>адресов</a:t>
            </a:r>
            <a:r>
              <a:rPr dirty="0"/>
              <a:t> </a:t>
            </a:r>
            <a:r>
              <a:rPr dirty="0" err="1"/>
              <a:t>сервера</a:t>
            </a:r>
            <a:endParaRPr dirty="0"/>
          </a:p>
          <a:p>
            <a:pPr indent="354013">
              <a:defRPr sz="3600"/>
            </a:pPr>
            <a:r>
              <a:rPr dirty="0"/>
              <a:t>Common Name, </a:t>
            </a:r>
            <a:r>
              <a:rPr dirty="0" err="1"/>
              <a:t>общее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субъекта</a:t>
            </a:r>
            <a:r>
              <a:rPr dirty="0"/>
              <a:t> </a:t>
            </a:r>
            <a:r>
              <a:rPr dirty="0" err="1"/>
              <a:t>сертификата</a:t>
            </a:r>
            <a:r>
              <a:rPr dirty="0"/>
              <a:t>,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достаточным</a:t>
            </a:r>
            <a:r>
              <a:rPr dirty="0"/>
              <a:t> </a:t>
            </a:r>
            <a:r>
              <a:rPr dirty="0" err="1"/>
              <a:t>способом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имени</a:t>
            </a:r>
            <a:endParaRPr dirty="0"/>
          </a:p>
          <a:p>
            <a:pPr indent="354013">
              <a:defRPr sz="3600"/>
            </a:pPr>
            <a:r>
              <a:rPr dirty="0" err="1"/>
              <a:t>Современные</a:t>
            </a:r>
            <a:r>
              <a:rPr dirty="0"/>
              <a:t> </a:t>
            </a:r>
            <a:r>
              <a:rPr dirty="0" err="1"/>
              <a:t>браузеры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SAN,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Common Name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web01.company.test в SAN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указать</a:t>
            </a:r>
            <a:r>
              <a:rPr dirty="0"/>
              <a:t> DNS:web01.company.test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заходит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IP-</a:t>
            </a:r>
            <a:r>
              <a:rPr dirty="0" err="1"/>
              <a:t>адресу</a:t>
            </a:r>
            <a:r>
              <a:rPr dirty="0"/>
              <a:t> 192.168.10.20, IP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указан</a:t>
            </a:r>
            <a:r>
              <a:rPr dirty="0"/>
              <a:t> в SAN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Certificate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/>
              <a:t>CA (Certificate Authority) — </a:t>
            </a:r>
            <a:r>
              <a:rPr dirty="0" err="1"/>
              <a:t>удостоверяющий</a:t>
            </a:r>
            <a:r>
              <a:rPr dirty="0"/>
              <a:t> </a:t>
            </a:r>
            <a:r>
              <a:rPr dirty="0" err="1"/>
              <a:t>центр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выпускает</a:t>
            </a:r>
            <a:r>
              <a:rPr dirty="0"/>
              <a:t> и </a:t>
            </a:r>
            <a:r>
              <a:rPr dirty="0" err="1"/>
              <a:t>подписывает</a:t>
            </a:r>
            <a:r>
              <a:rPr dirty="0"/>
              <a:t> </a:t>
            </a:r>
            <a:r>
              <a:rPr dirty="0" err="1"/>
              <a:t>сертификаты</a:t>
            </a:r>
            <a:endParaRPr dirty="0"/>
          </a:p>
          <a:p>
            <a:pPr indent="442913">
              <a:defRPr sz="3600"/>
            </a:pPr>
            <a:r>
              <a:rPr dirty="0"/>
              <a:t>CA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, </a:t>
            </a:r>
            <a:r>
              <a:rPr dirty="0" err="1"/>
              <a:t>подписывает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и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самым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открытый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с </a:t>
            </a:r>
            <a:r>
              <a:rPr dirty="0" err="1"/>
              <a:t>владельцем</a:t>
            </a:r>
            <a:endParaRPr dirty="0"/>
          </a:p>
          <a:p>
            <a:pPr indent="442913">
              <a:defRPr sz="3600"/>
            </a:pPr>
            <a:r>
              <a:rPr dirty="0"/>
              <a:t>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собственный</a:t>
            </a:r>
            <a:r>
              <a:rPr dirty="0"/>
              <a:t> CA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защищать</a:t>
            </a:r>
            <a:r>
              <a:rPr dirty="0"/>
              <a:t> </a:t>
            </a:r>
            <a:r>
              <a:rPr dirty="0" err="1"/>
              <a:t>внутренние</a:t>
            </a:r>
            <a:r>
              <a:rPr dirty="0"/>
              <a:t> </a:t>
            </a:r>
            <a:r>
              <a:rPr dirty="0" err="1"/>
              <a:t>веб</a:t>
            </a:r>
            <a:r>
              <a:rPr dirty="0"/>
              <a:t>, </a:t>
            </a:r>
            <a:r>
              <a:rPr dirty="0" err="1"/>
              <a:t>почтовые</a:t>
            </a:r>
            <a:r>
              <a:rPr dirty="0"/>
              <a:t> и LDAP-</a:t>
            </a:r>
            <a:r>
              <a:rPr dirty="0" err="1"/>
              <a:t>службы</a:t>
            </a:r>
            <a:endParaRPr dirty="0"/>
          </a:p>
          <a:p>
            <a:pPr indent="442913">
              <a:defRPr sz="3600"/>
            </a:pPr>
            <a:r>
              <a:rPr dirty="0" err="1"/>
              <a:t>Доверие</a:t>
            </a:r>
            <a:r>
              <a:rPr dirty="0"/>
              <a:t> к </a:t>
            </a:r>
            <a:r>
              <a:rPr dirty="0" err="1"/>
              <a:t>сертификатам</a:t>
            </a:r>
            <a:r>
              <a:rPr dirty="0"/>
              <a:t> </a:t>
            </a:r>
            <a:r>
              <a:rPr dirty="0" err="1"/>
              <a:t>внутреннего</a:t>
            </a:r>
            <a:r>
              <a:rPr dirty="0"/>
              <a:t> CA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корневого</a:t>
            </a:r>
            <a:r>
              <a:rPr dirty="0"/>
              <a:t> </a:t>
            </a:r>
            <a:r>
              <a:rPr dirty="0" err="1"/>
              <a:t>сертификата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клиенты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Root CA и subordinate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/>
              <a:t>Root CA, </a:t>
            </a:r>
            <a:r>
              <a:rPr dirty="0" err="1"/>
              <a:t>корневой</a:t>
            </a:r>
            <a:r>
              <a:rPr dirty="0"/>
              <a:t> </a:t>
            </a:r>
            <a:r>
              <a:rPr dirty="0" err="1"/>
              <a:t>удостоверяющий</a:t>
            </a:r>
            <a:r>
              <a:rPr dirty="0"/>
              <a:t> </a:t>
            </a:r>
            <a:r>
              <a:rPr dirty="0" err="1"/>
              <a:t>центр</a:t>
            </a:r>
            <a:r>
              <a:rPr dirty="0"/>
              <a:t>,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верхней</a:t>
            </a:r>
            <a:r>
              <a:rPr dirty="0"/>
              <a:t> </a:t>
            </a:r>
            <a:r>
              <a:rPr dirty="0" err="1"/>
              <a:t>точкой</a:t>
            </a:r>
            <a:r>
              <a:rPr dirty="0"/>
              <a:t> </a:t>
            </a:r>
            <a:r>
              <a:rPr dirty="0" err="1"/>
              <a:t>доверия</a:t>
            </a:r>
            <a:r>
              <a:rPr dirty="0"/>
              <a:t> в PKI</a:t>
            </a:r>
          </a:p>
          <a:p>
            <a:pPr indent="354013">
              <a:defRPr sz="3600"/>
            </a:pP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Root CA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храниться</a:t>
            </a:r>
            <a:r>
              <a:rPr dirty="0"/>
              <a:t> </a:t>
            </a:r>
            <a:r>
              <a:rPr dirty="0" err="1"/>
              <a:t>особенно</a:t>
            </a:r>
            <a:r>
              <a:rPr dirty="0"/>
              <a:t> </a:t>
            </a:r>
            <a:r>
              <a:rPr dirty="0" err="1"/>
              <a:t>строго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компрометация</a:t>
            </a:r>
            <a:r>
              <a:rPr dirty="0"/>
              <a:t> </a:t>
            </a:r>
            <a:r>
              <a:rPr dirty="0" err="1"/>
              <a:t>ломает</a:t>
            </a:r>
            <a:r>
              <a:rPr dirty="0"/>
              <a:t> </a:t>
            </a:r>
            <a:r>
              <a:rPr dirty="0" err="1"/>
              <a:t>всю</a:t>
            </a:r>
            <a:r>
              <a:rPr dirty="0"/>
              <a:t> </a:t>
            </a:r>
            <a:r>
              <a:rPr dirty="0" err="1"/>
              <a:t>цепочку</a:t>
            </a:r>
            <a:r>
              <a:rPr dirty="0"/>
              <a:t> </a:t>
            </a:r>
            <a:r>
              <a:rPr dirty="0" err="1"/>
              <a:t>доверия</a:t>
            </a:r>
            <a:endParaRPr dirty="0"/>
          </a:p>
          <a:p>
            <a:pPr indent="354013">
              <a:defRPr sz="3600"/>
            </a:pPr>
            <a:r>
              <a:rPr dirty="0"/>
              <a:t>Subordinate CA, </a:t>
            </a:r>
            <a:r>
              <a:rPr dirty="0" err="1"/>
              <a:t>подчиненный</a:t>
            </a:r>
            <a:r>
              <a:rPr dirty="0"/>
              <a:t> </a:t>
            </a:r>
            <a:r>
              <a:rPr dirty="0" err="1"/>
              <a:t>удостоверяющий</a:t>
            </a:r>
            <a:r>
              <a:rPr dirty="0"/>
              <a:t> </a:t>
            </a:r>
            <a:r>
              <a:rPr dirty="0" err="1"/>
              <a:t>центр</a:t>
            </a:r>
            <a:r>
              <a:rPr dirty="0"/>
              <a:t>,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Root CA и </a:t>
            </a:r>
            <a:r>
              <a:rPr dirty="0" err="1"/>
              <a:t>выпускает</a:t>
            </a:r>
            <a:r>
              <a:rPr dirty="0"/>
              <a:t> </a:t>
            </a:r>
            <a:r>
              <a:rPr dirty="0" err="1"/>
              <a:t>серверные</a:t>
            </a:r>
            <a:r>
              <a:rPr dirty="0"/>
              <a:t> </a:t>
            </a:r>
            <a:r>
              <a:rPr dirty="0" err="1"/>
              <a:t>сертификаты</a:t>
            </a:r>
            <a:endParaRPr dirty="0"/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лаборатории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начать</a:t>
            </a:r>
            <a:r>
              <a:rPr dirty="0"/>
              <a:t> с Root CA, </a:t>
            </a:r>
            <a:r>
              <a:rPr dirty="0" err="1"/>
              <a:t>но</a:t>
            </a:r>
            <a:r>
              <a:rPr dirty="0"/>
              <a:t> в </a:t>
            </a:r>
            <a:r>
              <a:rPr dirty="0" err="1"/>
              <a:t>крупных</a:t>
            </a:r>
            <a:r>
              <a:rPr dirty="0"/>
              <a:t> </a:t>
            </a:r>
            <a:r>
              <a:rPr dirty="0" err="1"/>
              <a:t>системах</a:t>
            </a:r>
            <a:r>
              <a:rPr dirty="0"/>
              <a:t> </a:t>
            </a:r>
            <a:r>
              <a:rPr dirty="0" err="1"/>
              <a:t>выпуск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делегируют</a:t>
            </a:r>
            <a:r>
              <a:rPr dirty="0"/>
              <a:t> subordinate CA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Цепочка доверия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Chain of Trust, </a:t>
            </a:r>
            <a:r>
              <a:rPr dirty="0" err="1"/>
              <a:t>цепочка</a:t>
            </a:r>
            <a:r>
              <a:rPr dirty="0"/>
              <a:t> </a:t>
            </a:r>
            <a:r>
              <a:rPr dirty="0" err="1"/>
              <a:t>доверия</a:t>
            </a:r>
            <a:r>
              <a:rPr dirty="0"/>
              <a:t>,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серверный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с </a:t>
            </a:r>
            <a:r>
              <a:rPr dirty="0" err="1"/>
              <a:t>доверенным</a:t>
            </a:r>
            <a:r>
              <a:rPr dirty="0"/>
              <a:t> </a:t>
            </a:r>
            <a:r>
              <a:rPr dirty="0" err="1"/>
              <a:t>корневым</a:t>
            </a:r>
            <a:r>
              <a:rPr dirty="0"/>
              <a:t> </a:t>
            </a:r>
            <a:r>
              <a:rPr dirty="0" err="1"/>
              <a:t>сертификатом</a:t>
            </a:r>
            <a:endParaRPr dirty="0"/>
          </a:p>
          <a:p>
            <a:pPr indent="354013"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подпись</a:t>
            </a:r>
            <a:r>
              <a:rPr dirty="0"/>
              <a:t> </a:t>
            </a:r>
            <a:r>
              <a:rPr dirty="0" err="1"/>
              <a:t>серверного</a:t>
            </a:r>
            <a:r>
              <a:rPr dirty="0"/>
              <a:t> </a:t>
            </a:r>
            <a:r>
              <a:rPr dirty="0" err="1"/>
              <a:t>сертификата</a:t>
            </a:r>
            <a:r>
              <a:rPr dirty="0"/>
              <a:t> и </a:t>
            </a:r>
            <a:r>
              <a:rPr dirty="0" err="1"/>
              <a:t>подписи</a:t>
            </a:r>
            <a:r>
              <a:rPr dirty="0"/>
              <a:t> </a:t>
            </a:r>
            <a:r>
              <a:rPr dirty="0" err="1"/>
              <a:t>промежуточных</a:t>
            </a:r>
            <a:r>
              <a:rPr dirty="0"/>
              <a:t> </a:t>
            </a:r>
            <a:r>
              <a:rPr dirty="0" err="1"/>
              <a:t>сертификатов</a:t>
            </a:r>
            <a:endParaRPr dirty="0"/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корневой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CA </a:t>
            </a:r>
            <a:r>
              <a:rPr dirty="0" err="1"/>
              <a:t>есть</a:t>
            </a:r>
            <a:r>
              <a:rPr dirty="0"/>
              <a:t> в </a:t>
            </a:r>
            <a:r>
              <a:rPr dirty="0" err="1"/>
              <a:t>доверенном</a:t>
            </a:r>
            <a:r>
              <a:rPr dirty="0"/>
              <a:t> </a:t>
            </a:r>
            <a:r>
              <a:rPr dirty="0" err="1"/>
              <a:t>хранилище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, </a:t>
            </a:r>
            <a:r>
              <a:rPr dirty="0" err="1"/>
              <a:t>цепочка</a:t>
            </a:r>
            <a:r>
              <a:rPr dirty="0"/>
              <a:t> </a:t>
            </a:r>
            <a:r>
              <a:rPr dirty="0" err="1"/>
              <a:t>считается</a:t>
            </a:r>
            <a:r>
              <a:rPr dirty="0"/>
              <a:t> </a:t>
            </a:r>
            <a:r>
              <a:rPr dirty="0" err="1"/>
              <a:t>доверенной</a:t>
            </a:r>
            <a:endParaRPr dirty="0"/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корневого</a:t>
            </a:r>
            <a:r>
              <a:rPr dirty="0"/>
              <a:t> CA </a:t>
            </a:r>
            <a:r>
              <a:rPr dirty="0" err="1"/>
              <a:t>нет</a:t>
            </a:r>
            <a:r>
              <a:rPr dirty="0"/>
              <a:t>, </a:t>
            </a:r>
            <a:r>
              <a:rPr dirty="0" err="1"/>
              <a:t>браузер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утилита</a:t>
            </a:r>
            <a:r>
              <a:rPr dirty="0"/>
              <a:t> </a:t>
            </a:r>
            <a:r>
              <a:rPr dirty="0" err="1"/>
              <a:t>покажет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 </a:t>
            </a:r>
            <a:r>
              <a:rPr dirty="0" err="1"/>
              <a:t>неизвестного</a:t>
            </a:r>
            <a:r>
              <a:rPr dirty="0"/>
              <a:t> </a:t>
            </a:r>
            <a:r>
              <a:rPr dirty="0" err="1"/>
              <a:t>издателя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Root CA, subordinate CA и </a:t>
            </a:r>
            <a:r>
              <a:rPr dirty="0" err="1"/>
              <a:t>серверный</a:t>
            </a:r>
            <a:r>
              <a:rPr dirty="0"/>
              <a:t> </a:t>
            </a:r>
            <a:r>
              <a:rPr dirty="0" err="1"/>
              <a:t>сертификат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693E4A-1717-0AA7-7637-985DDAF92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Доверенное хранилище клиентов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/>
              <a:t>Trust Store, </a:t>
            </a:r>
            <a:r>
              <a:rPr dirty="0" err="1"/>
              <a:t>доверенное</a:t>
            </a:r>
            <a:r>
              <a:rPr dirty="0"/>
              <a:t> </a:t>
            </a:r>
            <a:r>
              <a:rPr dirty="0" err="1"/>
              <a:t>хранилище</a:t>
            </a:r>
            <a:r>
              <a:rPr dirty="0"/>
              <a:t>,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корневые</a:t>
            </a:r>
            <a:r>
              <a:rPr dirty="0"/>
              <a:t> </a:t>
            </a:r>
            <a:r>
              <a:rPr dirty="0" err="1"/>
              <a:t>сертификаты</a:t>
            </a:r>
            <a:r>
              <a:rPr dirty="0"/>
              <a:t> CA, </a:t>
            </a:r>
            <a:r>
              <a:rPr dirty="0" err="1"/>
              <a:t>которым</a:t>
            </a:r>
            <a:r>
              <a:rPr dirty="0"/>
              <a:t> </a:t>
            </a:r>
            <a:r>
              <a:rPr dirty="0" err="1"/>
              <a:t>доверяет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браузер</a:t>
            </a:r>
            <a:endParaRPr dirty="0"/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Linux-</a:t>
            </a:r>
            <a:r>
              <a:rPr dirty="0" err="1"/>
              <a:t>клиенте</a:t>
            </a:r>
            <a:r>
              <a:rPr dirty="0"/>
              <a:t> CA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добавляют</a:t>
            </a:r>
            <a:r>
              <a:rPr dirty="0"/>
              <a:t> в /</a:t>
            </a:r>
            <a:r>
              <a:rPr dirty="0" err="1"/>
              <a:t>usr</a:t>
            </a:r>
            <a:r>
              <a:rPr dirty="0"/>
              <a:t>/local/share/ca-certificates и </a:t>
            </a:r>
            <a:r>
              <a:rPr dirty="0" err="1"/>
              <a:t>запускают</a:t>
            </a:r>
            <a:r>
              <a:rPr dirty="0"/>
              <a:t> update-ca-certificates</a:t>
            </a:r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Windows и в </a:t>
            </a:r>
            <a:r>
              <a:rPr dirty="0" err="1"/>
              <a:t>некоторых</a:t>
            </a:r>
            <a:r>
              <a:rPr dirty="0"/>
              <a:t> </a:t>
            </a:r>
            <a:r>
              <a:rPr dirty="0" err="1"/>
              <a:t>браузерах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хранилища</a:t>
            </a:r>
            <a:r>
              <a:rPr dirty="0"/>
              <a:t> </a:t>
            </a:r>
            <a:r>
              <a:rPr dirty="0" err="1"/>
              <a:t>доверенных</a:t>
            </a:r>
            <a:r>
              <a:rPr dirty="0"/>
              <a:t> </a:t>
            </a:r>
            <a:r>
              <a:rPr dirty="0" err="1"/>
              <a:t>корневых</a:t>
            </a:r>
            <a:r>
              <a:rPr dirty="0"/>
              <a:t> </a:t>
            </a:r>
            <a:r>
              <a:rPr dirty="0" err="1"/>
              <a:t>центров</a:t>
            </a:r>
            <a:endParaRPr dirty="0"/>
          </a:p>
          <a:p>
            <a:pPr indent="354013">
              <a:defRPr sz="3600"/>
            </a:pPr>
            <a:r>
              <a:rPr dirty="0" err="1"/>
              <a:t>Один</a:t>
            </a:r>
            <a:r>
              <a:rPr dirty="0"/>
              <a:t> и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доверенным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клиенте</a:t>
            </a:r>
            <a:r>
              <a:rPr dirty="0"/>
              <a:t> и </a:t>
            </a:r>
            <a:r>
              <a:rPr dirty="0" err="1"/>
              <a:t>недоверенным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другом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Жизненный цикл TLS-сертификата и процесс DERA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indent="354013">
              <a:defRPr sz="3600"/>
            </a:pPr>
            <a:r>
              <a:rPr dirty="0"/>
              <a:t>TLS-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: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проходит</a:t>
            </a:r>
            <a:r>
              <a:rPr dirty="0"/>
              <a:t> </a:t>
            </a:r>
            <a:r>
              <a:rPr dirty="0" err="1"/>
              <a:t>последовательность</a:t>
            </a:r>
            <a:r>
              <a:rPr dirty="0"/>
              <a:t> </a:t>
            </a:r>
            <a:r>
              <a:rPr dirty="0" err="1"/>
              <a:t>подготовки</a:t>
            </a:r>
            <a:r>
              <a:rPr dirty="0"/>
              <a:t> </a:t>
            </a:r>
            <a:r>
              <a:rPr dirty="0" err="1"/>
              <a:t>ключа</a:t>
            </a:r>
            <a:r>
              <a:rPr dirty="0"/>
              <a:t>, </a:t>
            </a:r>
            <a:r>
              <a:rPr dirty="0" err="1"/>
              <a:t>запроса</a:t>
            </a:r>
            <a:r>
              <a:rPr dirty="0"/>
              <a:t>, </a:t>
            </a:r>
            <a:r>
              <a:rPr dirty="0" err="1"/>
              <a:t>подписи</a:t>
            </a:r>
            <a:r>
              <a:rPr dirty="0"/>
              <a:t> и </a:t>
            </a:r>
            <a:r>
              <a:rPr dirty="0" err="1"/>
              <a:t>установки</a:t>
            </a:r>
            <a:endParaRPr dirty="0"/>
          </a:p>
          <a:p>
            <a:pPr indent="354013">
              <a:defRPr sz="3600"/>
            </a:pPr>
            <a:r>
              <a:rPr dirty="0"/>
              <a:t>DERA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учебная</a:t>
            </a:r>
            <a:r>
              <a:rPr dirty="0"/>
              <a:t> </a:t>
            </a:r>
            <a:r>
              <a:rPr dirty="0" err="1"/>
              <a:t>памятка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официальный</a:t>
            </a:r>
            <a:r>
              <a:rPr dirty="0"/>
              <a:t> </a:t>
            </a:r>
            <a:r>
              <a:rPr dirty="0" err="1"/>
              <a:t>отраслевой</a:t>
            </a:r>
            <a:r>
              <a:rPr dirty="0"/>
              <a:t> </a:t>
            </a:r>
            <a:r>
              <a:rPr dirty="0" err="1"/>
              <a:t>стандарт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 — private key: </a:t>
            </a:r>
            <a:r>
              <a:rPr dirty="0" err="1"/>
              <a:t>сгенерировать</a:t>
            </a:r>
            <a:r>
              <a:rPr dirty="0"/>
              <a:t>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сервера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E — CSR: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подпись</a:t>
            </a:r>
            <a:r>
              <a:rPr dirty="0"/>
              <a:t> </a:t>
            </a:r>
            <a:r>
              <a:rPr dirty="0" err="1"/>
              <a:t>сертификата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 — CA signing: </a:t>
            </a:r>
            <a:r>
              <a:rPr dirty="0" err="1"/>
              <a:t>подписать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удостоверяющим</a:t>
            </a:r>
            <a:r>
              <a:rPr dirty="0"/>
              <a:t> </a:t>
            </a:r>
            <a:r>
              <a:rPr dirty="0" err="1"/>
              <a:t>центром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 — installation: </a:t>
            </a:r>
            <a:r>
              <a:rPr dirty="0" err="1"/>
              <a:t>установить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и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D: закрытый ключ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web01.key </a:t>
            </a:r>
            <a:r>
              <a:rPr dirty="0" err="1"/>
              <a:t>создается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в </a:t>
            </a:r>
            <a:r>
              <a:rPr dirty="0" err="1"/>
              <a:t>защищенной</a:t>
            </a:r>
            <a:r>
              <a:rPr dirty="0"/>
              <a:t> </a:t>
            </a:r>
            <a:r>
              <a:rPr dirty="0" err="1"/>
              <a:t>рабочей</a:t>
            </a:r>
            <a:r>
              <a:rPr dirty="0"/>
              <a:t> </a:t>
            </a:r>
            <a:r>
              <a:rPr dirty="0" err="1"/>
              <a:t>среде</a:t>
            </a:r>
            <a:r>
              <a:rPr dirty="0"/>
              <a:t> </a:t>
            </a:r>
            <a:r>
              <a:rPr dirty="0" err="1"/>
              <a:t>администратора</a:t>
            </a:r>
            <a:endParaRPr dirty="0"/>
          </a:p>
          <a:p>
            <a:pPr indent="354013">
              <a:defRPr sz="3600"/>
            </a:pP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Nginx </a:t>
            </a:r>
            <a:r>
              <a:rPr dirty="0" err="1"/>
              <a:t>или</a:t>
            </a:r>
            <a:r>
              <a:rPr dirty="0"/>
              <a:t> Apache </a:t>
            </a:r>
            <a:r>
              <a:rPr dirty="0" err="1"/>
              <a:t>для</a:t>
            </a:r>
            <a:r>
              <a:rPr dirty="0"/>
              <a:t> TLS-</a:t>
            </a:r>
            <a:r>
              <a:rPr dirty="0" err="1"/>
              <a:t>рукопожатия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автоматического</a:t>
            </a:r>
            <a:r>
              <a:rPr dirty="0"/>
              <a:t> </a:t>
            </a:r>
            <a:r>
              <a:rPr dirty="0" err="1"/>
              <a:t>старта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серверный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делают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парольной</a:t>
            </a:r>
            <a:r>
              <a:rPr dirty="0"/>
              <a:t> </a:t>
            </a:r>
            <a:r>
              <a:rPr dirty="0" err="1"/>
              <a:t>фразы</a:t>
            </a:r>
            <a:endParaRPr dirty="0"/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web01.key </a:t>
            </a:r>
            <a:r>
              <a:rPr dirty="0" err="1"/>
              <a:t>утечет</a:t>
            </a:r>
            <a:r>
              <a:rPr dirty="0"/>
              <a:t>, 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перевыпустить</a:t>
            </a:r>
            <a:r>
              <a:rPr dirty="0"/>
              <a:t>, а </a:t>
            </a:r>
            <a:r>
              <a:rPr dirty="0" err="1"/>
              <a:t>старый</a:t>
            </a:r>
            <a:r>
              <a:rPr dirty="0"/>
              <a:t> </a:t>
            </a:r>
            <a:r>
              <a:rPr dirty="0" err="1"/>
              <a:t>отозвать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заменить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E: запрос CSR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CSR (Certificate Signing Request) —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подпись</a:t>
            </a:r>
            <a:r>
              <a:rPr dirty="0"/>
              <a:t> </a:t>
            </a:r>
            <a:r>
              <a:rPr dirty="0" err="1"/>
              <a:t>сертификата</a:t>
            </a:r>
            <a:endParaRPr dirty="0"/>
          </a:p>
          <a:p>
            <a:pPr indent="354013">
              <a:defRPr sz="3600"/>
            </a:pPr>
            <a:r>
              <a:rPr dirty="0"/>
              <a:t>CSR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открытый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и </a:t>
            </a:r>
            <a:r>
              <a:rPr dirty="0" err="1"/>
              <a:t>сведения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CA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включить</a:t>
            </a:r>
            <a:r>
              <a:rPr dirty="0"/>
              <a:t> в </a:t>
            </a:r>
            <a:r>
              <a:rPr dirty="0" err="1"/>
              <a:t>сертификат</a:t>
            </a:r>
            <a:endParaRPr dirty="0"/>
          </a:p>
          <a:p>
            <a:pPr indent="354013">
              <a:defRPr sz="3600"/>
            </a:pPr>
            <a:r>
              <a:rPr dirty="0"/>
              <a:t>CSR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передавать</a:t>
            </a:r>
            <a:r>
              <a:rPr dirty="0"/>
              <a:t> CA,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endParaRPr dirty="0"/>
          </a:p>
          <a:p>
            <a:pPr indent="354013">
              <a:defRPr sz="3600"/>
            </a:pPr>
            <a:r>
              <a:rPr dirty="0"/>
              <a:t>В CSR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отдельном</a:t>
            </a:r>
            <a:r>
              <a:rPr dirty="0"/>
              <a:t> </a:t>
            </a:r>
            <a:r>
              <a:rPr dirty="0" err="1"/>
              <a:t>файле</a:t>
            </a:r>
            <a:r>
              <a:rPr dirty="0"/>
              <a:t> </a:t>
            </a:r>
            <a:r>
              <a:rPr dirty="0" err="1"/>
              <a:t>расширений</a:t>
            </a:r>
            <a:r>
              <a:rPr dirty="0"/>
              <a:t> </a:t>
            </a:r>
            <a:r>
              <a:rPr dirty="0" err="1"/>
              <a:t>обязательно</a:t>
            </a:r>
            <a:r>
              <a:rPr dirty="0"/>
              <a:t> </a:t>
            </a:r>
            <a:r>
              <a:rPr dirty="0" err="1"/>
              <a:t>задают</a:t>
            </a:r>
            <a:r>
              <a:rPr dirty="0"/>
              <a:t> SAN </a:t>
            </a:r>
            <a:r>
              <a:rPr dirty="0" err="1"/>
              <a:t>для</a:t>
            </a:r>
            <a:r>
              <a:rPr dirty="0"/>
              <a:t> DNS-</a:t>
            </a:r>
            <a:r>
              <a:rPr dirty="0" err="1"/>
              <a:t>имен</a:t>
            </a:r>
            <a:r>
              <a:rPr dirty="0"/>
              <a:t> и IP-</a:t>
            </a:r>
            <a:r>
              <a:rPr dirty="0" err="1"/>
              <a:t>адресов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R: подписание запроса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CA </a:t>
            </a:r>
            <a:r>
              <a:rPr dirty="0" err="1"/>
              <a:t>проверяет</a:t>
            </a:r>
            <a:r>
              <a:rPr dirty="0"/>
              <a:t> CSR и </a:t>
            </a:r>
            <a:r>
              <a:rPr dirty="0" err="1"/>
              <a:t>выпускает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web01.crt</a:t>
            </a:r>
          </a:p>
          <a:p>
            <a:pPr indent="354013">
              <a:defRPr sz="3600"/>
            </a:pP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подписывается</a:t>
            </a:r>
            <a:r>
              <a:rPr dirty="0"/>
              <a:t> </a:t>
            </a:r>
            <a:r>
              <a:rPr dirty="0" err="1"/>
              <a:t>закрытым</a:t>
            </a:r>
            <a:r>
              <a:rPr dirty="0"/>
              <a:t> </a:t>
            </a:r>
            <a:r>
              <a:rPr dirty="0" err="1"/>
              <a:t>ключом</a:t>
            </a:r>
            <a:r>
              <a:rPr dirty="0"/>
              <a:t> CA, </a:t>
            </a:r>
            <a:r>
              <a:rPr dirty="0" err="1"/>
              <a:t>например</a:t>
            </a:r>
            <a:r>
              <a:rPr dirty="0"/>
              <a:t> </a:t>
            </a:r>
            <a:r>
              <a:rPr dirty="0" err="1"/>
              <a:t>ca.key</a:t>
            </a:r>
            <a:endParaRPr dirty="0"/>
          </a:p>
          <a:p>
            <a:pPr indent="354013">
              <a:defRPr sz="3600"/>
            </a:pPr>
            <a:r>
              <a:rPr dirty="0" err="1"/>
              <a:t>Серийный</a:t>
            </a:r>
            <a:r>
              <a:rPr dirty="0"/>
              <a:t> </a:t>
            </a:r>
            <a:r>
              <a:rPr dirty="0" err="1"/>
              <a:t>номер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различать</a:t>
            </a:r>
            <a:r>
              <a:rPr dirty="0"/>
              <a:t> </a:t>
            </a:r>
            <a:r>
              <a:rPr dirty="0" err="1"/>
              <a:t>выпущенные</a:t>
            </a:r>
            <a:r>
              <a:rPr dirty="0"/>
              <a:t> </a:t>
            </a:r>
            <a:r>
              <a:rPr dirty="0" err="1"/>
              <a:t>сертификаты</a:t>
            </a:r>
            <a:r>
              <a:rPr dirty="0"/>
              <a:t> и </a:t>
            </a:r>
            <a:r>
              <a:rPr dirty="0" err="1"/>
              <a:t>вести</a:t>
            </a:r>
            <a:r>
              <a:rPr dirty="0"/>
              <a:t> </a:t>
            </a:r>
            <a:r>
              <a:rPr dirty="0" err="1"/>
              <a:t>учет</a:t>
            </a:r>
            <a:endParaRPr dirty="0"/>
          </a:p>
          <a:p>
            <a:pPr indent="354013">
              <a:defRPr sz="3600"/>
            </a:pP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серверного</a:t>
            </a:r>
            <a:r>
              <a:rPr dirty="0"/>
              <a:t> </a:t>
            </a:r>
            <a:r>
              <a:rPr dirty="0" err="1"/>
              <a:t>сертификата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короче</a:t>
            </a:r>
            <a:r>
              <a:rPr dirty="0"/>
              <a:t> </a:t>
            </a:r>
            <a:r>
              <a:rPr dirty="0" err="1"/>
              <a:t>срока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корневого</a:t>
            </a:r>
            <a:r>
              <a:rPr dirty="0"/>
              <a:t> CA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A: установка и 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Сертификат</a:t>
            </a:r>
            <a:r>
              <a:rPr dirty="0"/>
              <a:t> web01.crt и </a:t>
            </a:r>
            <a:r>
              <a:rPr dirty="0" err="1"/>
              <a:t>ключ</a:t>
            </a:r>
            <a:r>
              <a:rPr dirty="0"/>
              <a:t> web01.key </a:t>
            </a:r>
            <a:r>
              <a:rPr dirty="0" err="1"/>
              <a:t>устанавливают</a:t>
            </a:r>
            <a:r>
              <a:rPr dirty="0"/>
              <a:t> в </a:t>
            </a:r>
            <a:r>
              <a:rPr dirty="0" err="1"/>
              <a:t>конфигурацию</a:t>
            </a:r>
            <a:r>
              <a:rPr dirty="0"/>
              <a:t> </a:t>
            </a:r>
            <a:r>
              <a:rPr dirty="0" err="1"/>
              <a:t>веб-сервера</a:t>
            </a:r>
            <a:endParaRPr dirty="0"/>
          </a:p>
          <a:p>
            <a:pPr indent="354013"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доверять</a:t>
            </a:r>
            <a:r>
              <a:rPr dirty="0"/>
              <a:t> CA,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подписал</a:t>
            </a:r>
            <a:r>
              <a:rPr dirty="0"/>
              <a:t> web01.crt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совпадение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, SAN, </a:t>
            </a:r>
            <a:r>
              <a:rPr dirty="0" err="1"/>
              <a:t>срока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и </a:t>
            </a:r>
            <a:r>
              <a:rPr dirty="0" err="1"/>
              <a:t>цепочки</a:t>
            </a:r>
            <a:r>
              <a:rPr dirty="0"/>
              <a:t> </a:t>
            </a:r>
            <a:r>
              <a:rPr dirty="0" err="1"/>
              <a:t>доверия</a:t>
            </a:r>
            <a:endParaRPr dirty="0"/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HTTPS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открываться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предупреждения</a:t>
            </a:r>
            <a:r>
              <a:rPr dirty="0"/>
              <a:t> о </a:t>
            </a:r>
            <a:r>
              <a:rPr dirty="0" err="1"/>
              <a:t>недоверенном</a:t>
            </a:r>
            <a:r>
              <a:rPr dirty="0"/>
              <a:t> </a:t>
            </a:r>
            <a:r>
              <a:rPr dirty="0" err="1"/>
              <a:t>сертификате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сертификата</a:t>
            </a:r>
            <a:r>
              <a:rPr dirty="0"/>
              <a:t> DERA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03B4E3-DA0B-9FC0-9C4F-162314DE0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Карта файлов сертификата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ca.key</a:t>
            </a:r>
            <a:r>
              <a:rPr dirty="0"/>
              <a:t> —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корневого</a:t>
            </a:r>
            <a:r>
              <a:rPr dirty="0"/>
              <a:t> CA; </a:t>
            </a:r>
            <a:r>
              <a:rPr dirty="0" err="1"/>
              <a:t>самый</a:t>
            </a:r>
            <a:r>
              <a:rPr dirty="0"/>
              <a:t> </a:t>
            </a:r>
            <a:r>
              <a:rPr dirty="0" err="1"/>
              <a:t>чувствительный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учебной</a:t>
            </a:r>
            <a:r>
              <a:rPr dirty="0"/>
              <a:t> PKI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ca.crt — </a:t>
            </a:r>
            <a:r>
              <a:rPr dirty="0" err="1"/>
              <a:t>корневой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CA,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устанавливается</a:t>
            </a:r>
            <a:r>
              <a:rPr dirty="0"/>
              <a:t> </a:t>
            </a:r>
            <a:r>
              <a:rPr dirty="0" err="1"/>
              <a:t>клиентам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доверенный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web01.key —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веб-сервера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хранится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web01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web01.csr —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подпись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CA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выпуска</a:t>
            </a:r>
            <a:r>
              <a:rPr dirty="0"/>
              <a:t> </a:t>
            </a:r>
            <a:r>
              <a:rPr dirty="0" err="1"/>
              <a:t>сертификата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web01.crt — 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веб-сервера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публикуется</a:t>
            </a:r>
            <a:r>
              <a:rPr dirty="0"/>
              <a:t> в </a:t>
            </a:r>
            <a:r>
              <a:rPr dirty="0" err="1"/>
              <a:t>настройке</a:t>
            </a:r>
            <a:r>
              <a:rPr dirty="0"/>
              <a:t> HTTPS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Инструмент OpenSSL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OpenSSL —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криптографических</a:t>
            </a:r>
            <a:r>
              <a:rPr dirty="0"/>
              <a:t> </a:t>
            </a:r>
            <a:r>
              <a:rPr dirty="0" err="1"/>
              <a:t>библиотек</a:t>
            </a:r>
            <a:r>
              <a:rPr dirty="0"/>
              <a:t> и </a:t>
            </a:r>
            <a:r>
              <a:rPr dirty="0" err="1"/>
              <a:t>консольная</a:t>
            </a:r>
            <a:r>
              <a:rPr dirty="0"/>
              <a:t> </a:t>
            </a:r>
            <a:r>
              <a:rPr dirty="0" err="1"/>
              <a:t>утилита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с </a:t>
            </a:r>
            <a:r>
              <a:rPr dirty="0" err="1"/>
              <a:t>ключами</a:t>
            </a:r>
            <a:r>
              <a:rPr dirty="0"/>
              <a:t> и </a:t>
            </a:r>
            <a:r>
              <a:rPr dirty="0" err="1"/>
              <a:t>сертификатами</a:t>
            </a:r>
            <a:endParaRPr dirty="0"/>
          </a:p>
          <a:p>
            <a:pPr indent="354013">
              <a:defRPr sz="3600"/>
            </a:pPr>
            <a:r>
              <a:rPr dirty="0"/>
              <a:t>В Linux OpenSSL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генерации</a:t>
            </a:r>
            <a:r>
              <a:rPr dirty="0"/>
              <a:t> </a:t>
            </a:r>
            <a:r>
              <a:rPr dirty="0" err="1"/>
              <a:t>ключей</a:t>
            </a:r>
            <a:r>
              <a:rPr dirty="0"/>
              <a:t>, CSR, </a:t>
            </a:r>
            <a:r>
              <a:rPr dirty="0" err="1"/>
              <a:t>сертификатов</a:t>
            </a:r>
            <a:r>
              <a:rPr dirty="0"/>
              <a:t> и </a:t>
            </a:r>
            <a:r>
              <a:rPr dirty="0" err="1"/>
              <a:t>диагностики</a:t>
            </a:r>
            <a:r>
              <a:rPr dirty="0"/>
              <a:t> TLS</a:t>
            </a:r>
          </a:p>
          <a:p>
            <a:pPr indent="354013">
              <a:defRPr sz="3600"/>
            </a:pPr>
            <a:r>
              <a:rPr dirty="0" err="1"/>
              <a:t>Утилита</a:t>
            </a:r>
            <a:r>
              <a:rPr dirty="0"/>
              <a:t> </a:t>
            </a:r>
            <a:r>
              <a:rPr dirty="0" err="1"/>
              <a:t>openssl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подкоманд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</a:t>
            </a:r>
            <a:r>
              <a:rPr dirty="0" err="1"/>
              <a:t>genrsa</a:t>
            </a:r>
            <a:r>
              <a:rPr dirty="0"/>
              <a:t>, req, x509 и </a:t>
            </a:r>
            <a:r>
              <a:rPr dirty="0" err="1"/>
              <a:t>s_client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Команды</a:t>
            </a:r>
            <a:r>
              <a:rPr dirty="0"/>
              <a:t> OpenSSL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внимательно</a:t>
            </a:r>
            <a:r>
              <a:rPr dirty="0"/>
              <a:t>: </a:t>
            </a:r>
            <a:r>
              <a:rPr dirty="0" err="1"/>
              <a:t>ошибка</a:t>
            </a:r>
            <a:r>
              <a:rPr dirty="0"/>
              <a:t> в </a:t>
            </a:r>
            <a:r>
              <a:rPr dirty="0" err="1"/>
              <a:t>имени</a:t>
            </a:r>
            <a:r>
              <a:rPr dirty="0"/>
              <a:t>, SAN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сроке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попадет</a:t>
            </a:r>
            <a:r>
              <a:rPr dirty="0"/>
              <a:t> в </a:t>
            </a:r>
            <a:r>
              <a:rPr dirty="0" err="1"/>
              <a:t>сертификат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openssl genrsa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RSA (Rivest-Shamir-Adleman) — </a:t>
            </a:r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асимметричной</a:t>
            </a:r>
            <a:r>
              <a:rPr dirty="0"/>
              <a:t> </a:t>
            </a:r>
            <a:r>
              <a:rPr dirty="0" err="1"/>
              <a:t>криптографии</a:t>
            </a:r>
            <a:r>
              <a:rPr dirty="0"/>
              <a:t>, </a:t>
            </a:r>
            <a:r>
              <a:rPr dirty="0" err="1"/>
              <a:t>используемый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ключей</a:t>
            </a:r>
            <a:r>
              <a:rPr dirty="0"/>
              <a:t> и </a:t>
            </a:r>
            <a:r>
              <a:rPr dirty="0" err="1"/>
              <a:t>подписей</a:t>
            </a:r>
            <a:endParaRPr dirty="0"/>
          </a:p>
          <a:p>
            <a:pPr indent="354013">
              <a:defRPr sz="3600"/>
            </a:pPr>
            <a:r>
              <a:rPr dirty="0" err="1"/>
              <a:t>openssl</a:t>
            </a:r>
            <a:r>
              <a:rPr dirty="0"/>
              <a:t> </a:t>
            </a:r>
            <a:r>
              <a:rPr dirty="0" err="1"/>
              <a:t>genrsa</a:t>
            </a:r>
            <a:r>
              <a:rPr dirty="0"/>
              <a:t> </a:t>
            </a:r>
            <a:r>
              <a:rPr dirty="0" err="1"/>
              <a:t>генерирует</a:t>
            </a:r>
            <a:r>
              <a:rPr dirty="0"/>
              <a:t> RSA-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endParaRPr dirty="0"/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openssl</a:t>
            </a:r>
            <a:r>
              <a:rPr dirty="0"/>
              <a:t> </a:t>
            </a:r>
            <a:r>
              <a:rPr dirty="0" err="1"/>
              <a:t>genrsa</a:t>
            </a:r>
            <a:r>
              <a:rPr dirty="0"/>
              <a:t> -out web01.key 2048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веб-сервера</a:t>
            </a:r>
            <a:r>
              <a:rPr dirty="0"/>
              <a:t> </a:t>
            </a:r>
            <a:r>
              <a:rPr dirty="0" err="1"/>
              <a:t>длиной</a:t>
            </a:r>
            <a:r>
              <a:rPr dirty="0"/>
              <a:t> 2048 </a:t>
            </a:r>
            <a:r>
              <a:rPr dirty="0" err="1"/>
              <a:t>бит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CA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длинный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4096 </a:t>
            </a:r>
            <a:r>
              <a:rPr dirty="0" err="1"/>
              <a:t>бит</a:t>
            </a:r>
            <a:endParaRPr dirty="0"/>
          </a:p>
          <a:p>
            <a:pPr indent="354013">
              <a:defRPr sz="3600"/>
            </a:pP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—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ключа</a:t>
            </a:r>
            <a:r>
              <a:rPr dirty="0"/>
              <a:t>;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защитить</a:t>
            </a:r>
            <a:r>
              <a:rPr dirty="0"/>
              <a:t> </a:t>
            </a:r>
            <a:r>
              <a:rPr dirty="0" err="1"/>
              <a:t>правами</a:t>
            </a:r>
            <a:r>
              <a:rPr dirty="0"/>
              <a:t> </a:t>
            </a:r>
            <a:r>
              <a:rPr dirty="0" err="1"/>
              <a:t>доступа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openssl req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openssl</a:t>
            </a:r>
            <a:r>
              <a:rPr dirty="0"/>
              <a:t> req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CSR и </a:t>
            </a:r>
            <a:r>
              <a:rPr dirty="0" err="1"/>
              <a:t>самоподписанных</a:t>
            </a:r>
            <a:r>
              <a:rPr dirty="0"/>
              <a:t> </a:t>
            </a:r>
            <a:r>
              <a:rPr dirty="0" err="1"/>
              <a:t>сертификатов</a:t>
            </a:r>
            <a:endParaRPr dirty="0"/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openssl</a:t>
            </a:r>
            <a:r>
              <a:rPr dirty="0"/>
              <a:t> req -new -key web01.key -out web01.csr -subj /CN=web01.company.test</a:t>
            </a:r>
          </a:p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-new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новый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, -key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, -out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CSR</a:t>
            </a:r>
          </a:p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-subj </a:t>
            </a:r>
            <a:r>
              <a:rPr dirty="0" err="1"/>
              <a:t>задает</a:t>
            </a:r>
            <a:r>
              <a:rPr dirty="0"/>
              <a:t> subject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интерактивного</a:t>
            </a:r>
            <a:r>
              <a:rPr dirty="0"/>
              <a:t> </a:t>
            </a:r>
            <a:r>
              <a:rPr dirty="0" err="1"/>
              <a:t>ввода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SAN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задавать</a:t>
            </a:r>
            <a:r>
              <a:rPr dirty="0"/>
              <a:t> </a:t>
            </a:r>
            <a:r>
              <a:rPr dirty="0" err="1"/>
              <a:t>отдельно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openssl x509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openssl</a:t>
            </a:r>
            <a:r>
              <a:rPr dirty="0"/>
              <a:t> x509 </a:t>
            </a:r>
            <a:r>
              <a:rPr dirty="0" err="1"/>
              <a:t>просматривает</a:t>
            </a:r>
            <a:r>
              <a:rPr dirty="0"/>
              <a:t>, </a:t>
            </a:r>
            <a:r>
              <a:rPr dirty="0" err="1"/>
              <a:t>проверяет</a:t>
            </a:r>
            <a:r>
              <a:rPr dirty="0"/>
              <a:t> и </a:t>
            </a:r>
            <a:r>
              <a:rPr dirty="0" err="1"/>
              <a:t>выпускает</a:t>
            </a:r>
            <a:r>
              <a:rPr dirty="0"/>
              <a:t> X.509-сертификаты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openssl</a:t>
            </a:r>
            <a:r>
              <a:rPr dirty="0"/>
              <a:t> x509 -in web01.crt -text -</a:t>
            </a:r>
            <a:r>
              <a:rPr dirty="0" err="1"/>
              <a:t>noout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содержимое</a:t>
            </a:r>
            <a:r>
              <a:rPr dirty="0"/>
              <a:t> </a:t>
            </a:r>
            <a:r>
              <a:rPr dirty="0" err="1"/>
              <a:t>сертификата</a:t>
            </a:r>
            <a:endParaRPr dirty="0"/>
          </a:p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-text </a:t>
            </a:r>
            <a:r>
              <a:rPr dirty="0" err="1"/>
              <a:t>выводит</a:t>
            </a:r>
            <a:r>
              <a:rPr dirty="0"/>
              <a:t> </a:t>
            </a:r>
            <a:r>
              <a:rPr dirty="0" err="1"/>
              <a:t>поля</a:t>
            </a:r>
            <a:r>
              <a:rPr dirty="0"/>
              <a:t> </a:t>
            </a:r>
            <a:r>
              <a:rPr dirty="0" err="1"/>
              <a:t>сертификата</a:t>
            </a:r>
            <a:r>
              <a:rPr dirty="0"/>
              <a:t>, а -</a:t>
            </a:r>
            <a:r>
              <a:rPr dirty="0" err="1"/>
              <a:t>noout</a:t>
            </a:r>
            <a:r>
              <a:rPr dirty="0"/>
              <a:t> </a:t>
            </a:r>
            <a:r>
              <a:rPr dirty="0" err="1"/>
              <a:t>скрывает</a:t>
            </a:r>
            <a:r>
              <a:rPr dirty="0"/>
              <a:t> PEM-</a:t>
            </a:r>
            <a:r>
              <a:rPr dirty="0" err="1"/>
              <a:t>блок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подписания</a:t>
            </a:r>
            <a:r>
              <a:rPr dirty="0"/>
              <a:t> CSR </a:t>
            </a:r>
            <a:r>
              <a:rPr dirty="0" err="1"/>
              <a:t>команда</a:t>
            </a:r>
            <a:r>
              <a:rPr dirty="0"/>
              <a:t> x509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-req, -CA, -</a:t>
            </a:r>
            <a:r>
              <a:rPr dirty="0" err="1"/>
              <a:t>CAkey</a:t>
            </a:r>
            <a:r>
              <a:rPr dirty="0"/>
              <a:t> и -</a:t>
            </a:r>
            <a:r>
              <a:rPr dirty="0" err="1"/>
              <a:t>extfile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Форматы файлов сертификатов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indent="354013">
              <a:defRPr sz="3600"/>
            </a:pPr>
            <a:r>
              <a:rPr dirty="0"/>
              <a:t>PEM (Privacy Enhanced Mail) — </a:t>
            </a:r>
            <a:r>
              <a:rPr dirty="0" err="1"/>
              <a:t>текстовый</a:t>
            </a:r>
            <a:r>
              <a:rPr dirty="0"/>
              <a:t> </a:t>
            </a:r>
            <a:r>
              <a:rPr dirty="0" err="1"/>
              <a:t>формат</a:t>
            </a:r>
            <a:r>
              <a:rPr dirty="0"/>
              <a:t> с </a:t>
            </a:r>
            <a:r>
              <a:rPr dirty="0" err="1"/>
              <a:t>блоками</a:t>
            </a:r>
            <a:r>
              <a:rPr dirty="0"/>
              <a:t> BEGIN и END, </a:t>
            </a:r>
            <a:r>
              <a:rPr dirty="0" err="1"/>
              <a:t>удобный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Linux-</a:t>
            </a:r>
            <a:r>
              <a:rPr dirty="0" err="1"/>
              <a:t>служб</a:t>
            </a:r>
            <a:endParaRPr dirty="0"/>
          </a:p>
          <a:p>
            <a:pPr indent="354013">
              <a:defRPr sz="3600"/>
            </a:pPr>
            <a:r>
              <a:rPr dirty="0"/>
              <a:t>.key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в PEM-</a:t>
            </a:r>
            <a:r>
              <a:rPr dirty="0" err="1"/>
              <a:t>формате</a:t>
            </a:r>
            <a:endParaRPr dirty="0"/>
          </a:p>
          <a:p>
            <a:pPr indent="354013">
              <a:defRPr sz="3600"/>
            </a:pPr>
            <a:r>
              <a:rPr dirty="0"/>
              <a:t>.</a:t>
            </a:r>
            <a:r>
              <a:rPr dirty="0" err="1"/>
              <a:t>csr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подпись</a:t>
            </a:r>
            <a:r>
              <a:rPr dirty="0"/>
              <a:t> </a:t>
            </a:r>
            <a:r>
              <a:rPr dirty="0" err="1"/>
              <a:t>сертификата</a:t>
            </a:r>
            <a:endParaRPr dirty="0"/>
          </a:p>
          <a:p>
            <a:pPr indent="354013">
              <a:defRPr sz="3600"/>
            </a:pPr>
            <a:r>
              <a:rPr dirty="0"/>
              <a:t>.</a:t>
            </a:r>
            <a:r>
              <a:rPr dirty="0" err="1"/>
              <a:t>crt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.</a:t>
            </a:r>
            <a:r>
              <a:rPr dirty="0" err="1"/>
              <a:t>pem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в </a:t>
            </a:r>
            <a:r>
              <a:rPr dirty="0" err="1"/>
              <a:t>текстовом</a:t>
            </a:r>
            <a:r>
              <a:rPr dirty="0"/>
              <a:t> PEM-</a:t>
            </a:r>
            <a:r>
              <a:rPr dirty="0" err="1"/>
              <a:t>формате</a:t>
            </a:r>
            <a:endParaRPr dirty="0"/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dirty="0"/>
              <a:t>DER (Distinguished Encoding Rules) — </a:t>
            </a:r>
            <a:r>
              <a:rPr dirty="0" err="1"/>
              <a:t>бинарный</a:t>
            </a:r>
            <a:r>
              <a:rPr dirty="0"/>
              <a:t> 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сертификата</a:t>
            </a:r>
            <a:endParaRPr dirty="0"/>
          </a:p>
          <a:p>
            <a:pPr indent="354013">
              <a:defRPr sz="3600"/>
            </a:pPr>
            <a:r>
              <a:rPr dirty="0"/>
              <a:t>.p12 </a:t>
            </a:r>
            <a:r>
              <a:rPr dirty="0" err="1"/>
              <a:t>или</a:t>
            </a:r>
            <a:r>
              <a:rPr dirty="0"/>
              <a:t> .</a:t>
            </a:r>
            <a:r>
              <a:rPr dirty="0" err="1"/>
              <a:t>pfx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PKCS#12-контейнер с </a:t>
            </a:r>
            <a:r>
              <a:rPr dirty="0" err="1"/>
              <a:t>сертификатом</a:t>
            </a:r>
            <a:r>
              <a:rPr dirty="0"/>
              <a:t> и </a:t>
            </a:r>
            <a:r>
              <a:rPr dirty="0" err="1"/>
              <a:t>закрытым</a:t>
            </a:r>
            <a:r>
              <a:rPr dirty="0"/>
              <a:t> </a:t>
            </a:r>
            <a:r>
              <a:rPr dirty="0" err="1"/>
              <a:t>ключом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Практика: создание собственного CA предприятия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Собственный</a:t>
            </a:r>
            <a:r>
              <a:rPr dirty="0"/>
              <a:t> CA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внутренних</a:t>
            </a:r>
            <a:r>
              <a:rPr dirty="0"/>
              <a:t> </a:t>
            </a:r>
            <a:r>
              <a:rPr dirty="0" err="1"/>
              <a:t>сервисов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получать</a:t>
            </a:r>
            <a:r>
              <a:rPr dirty="0"/>
              <a:t> </a:t>
            </a:r>
            <a:r>
              <a:rPr dirty="0" err="1"/>
              <a:t>публичные</a:t>
            </a:r>
            <a:r>
              <a:rPr dirty="0"/>
              <a:t> </a:t>
            </a:r>
            <a:r>
              <a:rPr dirty="0" err="1"/>
              <a:t>сертификаты</a:t>
            </a:r>
            <a:endParaRPr dirty="0"/>
          </a:p>
          <a:p>
            <a:pPr indent="354013">
              <a:defRPr sz="3600"/>
            </a:pPr>
            <a:r>
              <a:rPr dirty="0"/>
              <a:t>CA </a:t>
            </a:r>
            <a:r>
              <a:rPr dirty="0" err="1"/>
              <a:t>создают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отдельном</a:t>
            </a:r>
            <a:r>
              <a:rPr dirty="0"/>
              <a:t> </a:t>
            </a:r>
            <a:r>
              <a:rPr dirty="0" err="1"/>
              <a:t>защищенном</a:t>
            </a:r>
            <a:r>
              <a:rPr dirty="0"/>
              <a:t> </a:t>
            </a:r>
            <a:r>
              <a:rPr dirty="0" err="1"/>
              <a:t>узле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в </a:t>
            </a:r>
            <a:r>
              <a:rPr dirty="0" err="1"/>
              <a:t>отдельной</a:t>
            </a:r>
            <a:r>
              <a:rPr dirty="0"/>
              <a:t> </a:t>
            </a:r>
            <a:r>
              <a:rPr dirty="0" err="1"/>
              <a:t>защищенной</a:t>
            </a:r>
            <a:r>
              <a:rPr dirty="0"/>
              <a:t> </a:t>
            </a:r>
            <a:r>
              <a:rPr dirty="0" err="1"/>
              <a:t>директории</a:t>
            </a:r>
            <a:endParaRPr dirty="0"/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учебном</a:t>
            </a:r>
            <a:r>
              <a:rPr dirty="0"/>
              <a:t> </a:t>
            </a:r>
            <a:r>
              <a:rPr dirty="0" err="1"/>
              <a:t>сценарии</a:t>
            </a:r>
            <a:r>
              <a:rPr dirty="0"/>
              <a:t> CA </a:t>
            </a:r>
            <a:r>
              <a:rPr dirty="0" err="1"/>
              <a:t>размещается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ca01.company.test в </a:t>
            </a:r>
            <a:r>
              <a:rPr dirty="0" err="1"/>
              <a:t>каталоге</a:t>
            </a:r>
            <a:r>
              <a:rPr dirty="0"/>
              <a:t> /root/ca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началом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сделать</a:t>
            </a:r>
            <a:r>
              <a:rPr dirty="0"/>
              <a:t> </a:t>
            </a:r>
            <a:r>
              <a:rPr dirty="0" err="1"/>
              <a:t>снимок</a:t>
            </a:r>
            <a:r>
              <a:rPr dirty="0"/>
              <a:t> ВМ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учебные</a:t>
            </a:r>
            <a:r>
              <a:rPr dirty="0"/>
              <a:t> </a:t>
            </a:r>
            <a:r>
              <a:rPr dirty="0" err="1"/>
              <a:t>ключи</a:t>
            </a:r>
            <a:r>
              <a:rPr dirty="0"/>
              <a:t> в </a:t>
            </a:r>
            <a:r>
              <a:rPr dirty="0" err="1"/>
              <a:t>реальной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Структура каталогов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mkdir</a:t>
            </a:r>
            <a:r>
              <a:rPr dirty="0"/>
              <a:t> -p /root/ca/private /root/ca/certs /root/ca/</a:t>
            </a:r>
            <a:r>
              <a:rPr dirty="0" err="1"/>
              <a:t>csr</a:t>
            </a:r>
            <a:r>
              <a:rPr dirty="0"/>
              <a:t>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каталоги</a:t>
            </a:r>
            <a:r>
              <a:rPr dirty="0"/>
              <a:t> CA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Каталог</a:t>
            </a:r>
            <a:r>
              <a:rPr dirty="0"/>
              <a:t> private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CA и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администратору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Каталог</a:t>
            </a:r>
            <a:r>
              <a:rPr dirty="0"/>
              <a:t> certs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выпущенные</a:t>
            </a:r>
            <a:r>
              <a:rPr dirty="0"/>
              <a:t> </a:t>
            </a:r>
            <a:r>
              <a:rPr dirty="0" err="1"/>
              <a:t>сертификаты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csr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запросы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подпись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приходят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серверов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Генерация закрытого ключа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openssl</a:t>
            </a:r>
            <a:r>
              <a:rPr dirty="0"/>
              <a:t> </a:t>
            </a:r>
            <a:r>
              <a:rPr dirty="0" err="1"/>
              <a:t>genrsa</a:t>
            </a:r>
            <a:r>
              <a:rPr dirty="0"/>
              <a:t> -aes256 -out /root/ca/private/</a:t>
            </a:r>
            <a:r>
              <a:rPr dirty="0" err="1"/>
              <a:t>ca.key</a:t>
            </a:r>
            <a:r>
              <a:rPr dirty="0"/>
              <a:t> 4096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CA с </a:t>
            </a:r>
            <a:r>
              <a:rPr dirty="0" err="1"/>
              <a:t>парольной</a:t>
            </a:r>
            <a:r>
              <a:rPr dirty="0"/>
              <a:t> </a:t>
            </a:r>
            <a:r>
              <a:rPr dirty="0" err="1"/>
              <a:t>фразой</a:t>
            </a:r>
            <a:endParaRPr dirty="0"/>
          </a:p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-aes256 </a:t>
            </a:r>
            <a:r>
              <a:rPr dirty="0" err="1"/>
              <a:t>шифрует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 и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 </a:t>
            </a:r>
            <a:r>
              <a:rPr dirty="0" err="1"/>
              <a:t>ключа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кражи</a:t>
            </a:r>
            <a:r>
              <a:rPr dirty="0"/>
              <a:t> </a:t>
            </a:r>
            <a:r>
              <a:rPr dirty="0" err="1"/>
              <a:t>файла</a:t>
            </a:r>
            <a:r>
              <a:rPr lang="ru-RU" dirty="0"/>
              <a:t> </a:t>
            </a:r>
            <a:r>
              <a:rPr lang="ru-RU" dirty="0" err="1"/>
              <a:t>chmod</a:t>
            </a:r>
            <a:r>
              <a:rPr lang="ru-RU" dirty="0"/>
              <a:t> 400 /</a:t>
            </a:r>
            <a:r>
              <a:rPr lang="ru-RU" dirty="0" err="1"/>
              <a:t>root</a:t>
            </a:r>
            <a:r>
              <a:rPr lang="ru-RU" dirty="0"/>
              <a:t>/</a:t>
            </a:r>
            <a:r>
              <a:rPr lang="ru-RU" dirty="0" err="1"/>
              <a:t>ca</a:t>
            </a:r>
            <a:r>
              <a:rPr lang="ru-RU" dirty="0"/>
              <a:t>/</a:t>
            </a:r>
            <a:r>
              <a:rPr lang="ru-RU" dirty="0" err="1"/>
              <a:t>private</a:t>
            </a:r>
            <a:r>
              <a:rPr lang="ru-RU" dirty="0"/>
              <a:t>/</a:t>
            </a:r>
            <a:r>
              <a:rPr lang="ru-RU" dirty="0" err="1"/>
              <a:t>ca.key</a:t>
            </a:r>
            <a:r>
              <a:rPr lang="ru-RU" dirty="0"/>
              <a:t> оставляет доступ к ключу только владельцу</a:t>
            </a:r>
          </a:p>
          <a:p>
            <a:pPr indent="354013">
              <a:defRPr sz="3600"/>
            </a:pPr>
            <a:r>
              <a:rPr dirty="0" err="1"/>
              <a:t>Потеря</a:t>
            </a:r>
            <a:r>
              <a:rPr dirty="0"/>
              <a:t> </a:t>
            </a:r>
            <a:r>
              <a:rPr dirty="0" err="1"/>
              <a:t>ca.key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невозможность</a:t>
            </a:r>
            <a:r>
              <a:rPr dirty="0"/>
              <a:t> </a:t>
            </a:r>
            <a:r>
              <a:rPr dirty="0" err="1"/>
              <a:t>нормально</a:t>
            </a:r>
            <a:r>
              <a:rPr dirty="0"/>
              <a:t> </a:t>
            </a:r>
            <a:r>
              <a:rPr dirty="0" err="1"/>
              <a:t>выпускать</a:t>
            </a:r>
            <a:r>
              <a:rPr dirty="0"/>
              <a:t> и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сертификаты</a:t>
            </a:r>
            <a:r>
              <a:rPr dirty="0"/>
              <a:t> </a:t>
            </a:r>
            <a:r>
              <a:rPr dirty="0" err="1"/>
              <a:t>этой</a:t>
            </a:r>
            <a:r>
              <a:rPr dirty="0"/>
              <a:t> PKI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корневого сертификата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openssl</a:t>
            </a:r>
            <a:r>
              <a:rPr dirty="0"/>
              <a:t> req -x509 -new -key /root/ca/private/</a:t>
            </a:r>
            <a:r>
              <a:rPr dirty="0" err="1"/>
              <a:t>ca.key</a:t>
            </a:r>
            <a:r>
              <a:rPr dirty="0"/>
              <a:t> -sha256 -days 3650 -out /root/ca/certs/ca.crt -subj /CN=Company Test Root CA </a:t>
            </a:r>
            <a:r>
              <a:rPr dirty="0" err="1"/>
              <a:t>выпускает</a:t>
            </a:r>
            <a:r>
              <a:rPr dirty="0"/>
              <a:t> </a:t>
            </a:r>
            <a:r>
              <a:rPr dirty="0" err="1"/>
              <a:t>корневой</a:t>
            </a:r>
            <a:r>
              <a:rPr dirty="0"/>
              <a:t> </a:t>
            </a:r>
            <a:r>
              <a:rPr dirty="0" err="1"/>
              <a:t>сертификат</a:t>
            </a:r>
            <a:endParaRPr dirty="0"/>
          </a:p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-x509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самоподписанный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обычный</a:t>
            </a:r>
            <a:r>
              <a:rPr dirty="0"/>
              <a:t> CSR</a:t>
            </a:r>
          </a:p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-days 3650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около</a:t>
            </a:r>
            <a:r>
              <a:rPr dirty="0"/>
              <a:t> 10 </a:t>
            </a:r>
            <a:r>
              <a:rPr dirty="0" err="1"/>
              <a:t>лет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учебного</a:t>
            </a:r>
            <a:r>
              <a:rPr dirty="0"/>
              <a:t> </a:t>
            </a:r>
            <a:r>
              <a:rPr dirty="0" err="1"/>
              <a:t>корневого</a:t>
            </a:r>
            <a:r>
              <a:rPr dirty="0"/>
              <a:t> CA</a:t>
            </a:r>
          </a:p>
          <a:p>
            <a:pPr indent="354013">
              <a:defRPr sz="3600"/>
            </a:pPr>
            <a:r>
              <a:rPr dirty="0" err="1"/>
              <a:t>Файл</a:t>
            </a:r>
            <a:r>
              <a:rPr dirty="0"/>
              <a:t> ca.crt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распространять</a:t>
            </a:r>
            <a:r>
              <a:rPr dirty="0"/>
              <a:t> </a:t>
            </a:r>
            <a:r>
              <a:rPr dirty="0" err="1"/>
              <a:t>клиентам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ca.key</a:t>
            </a:r>
            <a:r>
              <a:rPr dirty="0"/>
              <a:t> </a:t>
            </a:r>
            <a:r>
              <a:rPr dirty="0" err="1"/>
              <a:t>остается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CA-</a:t>
            </a:r>
            <a:r>
              <a:rPr dirty="0" err="1"/>
              <a:t>сервере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openssl.cnf для автоматизации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openssl.cnf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заранее</a:t>
            </a:r>
            <a:r>
              <a:rPr dirty="0"/>
              <a:t> </a:t>
            </a:r>
            <a:r>
              <a:rPr dirty="0" err="1"/>
              <a:t>описать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выпуска</a:t>
            </a:r>
            <a:r>
              <a:rPr dirty="0"/>
              <a:t> </a:t>
            </a:r>
            <a:r>
              <a:rPr dirty="0" err="1"/>
              <a:t>сертификатов</a:t>
            </a:r>
            <a:r>
              <a:rPr dirty="0"/>
              <a:t> и </a:t>
            </a:r>
            <a:r>
              <a:rPr dirty="0" err="1"/>
              <a:t>расширения</a:t>
            </a:r>
            <a:endParaRPr dirty="0"/>
          </a:p>
          <a:p>
            <a:pPr indent="442913">
              <a:defRPr sz="3600"/>
            </a:pPr>
            <a:r>
              <a:rPr dirty="0"/>
              <a:t>В </a:t>
            </a:r>
            <a:r>
              <a:rPr dirty="0" err="1"/>
              <a:t>конфигурации</a:t>
            </a:r>
            <a:r>
              <a:rPr dirty="0"/>
              <a:t>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задавать</a:t>
            </a:r>
            <a:r>
              <a:rPr dirty="0"/>
              <a:t> </a:t>
            </a:r>
            <a:r>
              <a:rPr dirty="0" err="1"/>
              <a:t>keyUsage</a:t>
            </a:r>
            <a:r>
              <a:rPr dirty="0"/>
              <a:t>, </a:t>
            </a:r>
            <a:r>
              <a:rPr dirty="0" err="1"/>
              <a:t>extendedKeyUsage</a:t>
            </a:r>
            <a:r>
              <a:rPr dirty="0"/>
              <a:t> и </a:t>
            </a:r>
            <a:r>
              <a:rPr dirty="0" err="1"/>
              <a:t>subjectAltName</a:t>
            </a:r>
            <a:endParaRPr dirty="0"/>
          </a:p>
          <a:p>
            <a:pPr indent="442913">
              <a:defRPr sz="3600"/>
            </a:pPr>
            <a:r>
              <a:rPr dirty="0" err="1"/>
              <a:t>Автоматизация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забыть</a:t>
            </a:r>
            <a:r>
              <a:rPr dirty="0"/>
              <a:t> SAN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выпустить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с </a:t>
            </a:r>
            <a:r>
              <a:rPr dirty="0" err="1"/>
              <a:t>неправильным</a:t>
            </a:r>
            <a:r>
              <a:rPr dirty="0"/>
              <a:t> </a:t>
            </a:r>
            <a:r>
              <a:rPr dirty="0" err="1"/>
              <a:t>назначением</a:t>
            </a:r>
            <a:endParaRPr dirty="0"/>
          </a:p>
          <a:p>
            <a:pPr indent="442913">
              <a:defRPr sz="3600"/>
            </a:pP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автоматизации</a:t>
            </a:r>
            <a:r>
              <a:rPr dirty="0"/>
              <a:t>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итоговый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openssl</a:t>
            </a:r>
            <a:r>
              <a:rPr dirty="0"/>
              <a:t> x509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защищенная</a:t>
            </a:r>
            <a:r>
              <a:rPr dirty="0"/>
              <a:t> </a:t>
            </a: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собственного</a:t>
            </a:r>
            <a:r>
              <a:rPr dirty="0"/>
              <a:t>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F4FD6D-9505-FE1C-7BE2-547FCDBE2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Практика: выпуск TLS-сертификата для веб-сервера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Веб-сервер</a:t>
            </a:r>
            <a:r>
              <a:rPr dirty="0"/>
              <a:t> web01.company.test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получить</a:t>
            </a:r>
            <a:r>
              <a:rPr dirty="0"/>
              <a:t> </a:t>
            </a:r>
            <a:r>
              <a:rPr dirty="0" err="1"/>
              <a:t>собственный</a:t>
            </a:r>
            <a:r>
              <a:rPr dirty="0"/>
              <a:t>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и </a:t>
            </a:r>
            <a:r>
              <a:rPr dirty="0" err="1"/>
              <a:t>сертификат</a:t>
            </a:r>
            <a:endParaRPr dirty="0"/>
          </a:p>
          <a:p>
            <a:pPr indent="354013">
              <a:defRPr sz="3600"/>
            </a:pP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создается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ключа</a:t>
            </a:r>
            <a:r>
              <a:rPr dirty="0"/>
              <a:t> CA</a:t>
            </a:r>
          </a:p>
          <a:p>
            <a:pPr indent="354013">
              <a:defRPr sz="3600"/>
            </a:pPr>
            <a:r>
              <a:rPr dirty="0"/>
              <a:t>CSR </a:t>
            </a:r>
            <a:r>
              <a:rPr dirty="0" err="1"/>
              <a:t>передается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CA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подписи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секретных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 indent="354013">
              <a:defRPr sz="3600"/>
            </a:pPr>
            <a:r>
              <a:rPr dirty="0"/>
              <a:t>CA </a:t>
            </a:r>
            <a:r>
              <a:rPr dirty="0" err="1"/>
              <a:t>выпускает</a:t>
            </a:r>
            <a:r>
              <a:rPr dirty="0"/>
              <a:t> web01.crt,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устанавливается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веб-сервер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Генерация ключа web01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openssl</a:t>
            </a:r>
            <a:r>
              <a:rPr dirty="0"/>
              <a:t> </a:t>
            </a:r>
            <a:r>
              <a:rPr dirty="0" err="1"/>
              <a:t>genrsa</a:t>
            </a:r>
            <a:r>
              <a:rPr dirty="0"/>
              <a:t> -out web01.key 2048 </a:t>
            </a:r>
            <a:r>
              <a:rPr dirty="0" err="1"/>
              <a:t>создает</a:t>
            </a:r>
            <a:r>
              <a:rPr dirty="0"/>
              <a:t> RSA-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веб-сервера</a:t>
            </a:r>
            <a:endParaRPr dirty="0"/>
          </a:p>
          <a:p>
            <a:pPr indent="354013">
              <a:defRPr sz="3600"/>
            </a:pP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парольной</a:t>
            </a:r>
            <a:r>
              <a:rPr dirty="0"/>
              <a:t> </a:t>
            </a:r>
            <a:r>
              <a:rPr dirty="0" err="1"/>
              <a:t>фразы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Nginx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запускаться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перезагрузки</a:t>
            </a:r>
            <a:endParaRPr dirty="0"/>
          </a:p>
          <a:p>
            <a:pPr indent="354013">
              <a:defRPr sz="3600"/>
            </a:pP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защищать</a:t>
            </a:r>
            <a:r>
              <a:rPr dirty="0"/>
              <a:t> </a:t>
            </a:r>
            <a:r>
              <a:rPr dirty="0" err="1"/>
              <a:t>правами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и </a:t>
            </a:r>
            <a:r>
              <a:rPr dirty="0" err="1"/>
              <a:t>доступом</a:t>
            </a:r>
            <a:r>
              <a:rPr dirty="0"/>
              <a:t> к </a:t>
            </a:r>
            <a:r>
              <a:rPr dirty="0" err="1"/>
              <a:t>серверу</a:t>
            </a:r>
            <a:endParaRPr dirty="0"/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создан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web01,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передавать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защищенному</a:t>
            </a:r>
            <a:r>
              <a:rPr dirty="0"/>
              <a:t> </a:t>
            </a:r>
            <a:r>
              <a:rPr dirty="0" err="1"/>
              <a:t>каналу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Файл расширений 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Файл</a:t>
            </a:r>
            <a:r>
              <a:rPr dirty="0"/>
              <a:t> web01.ext </a:t>
            </a:r>
            <a:r>
              <a:rPr dirty="0" err="1"/>
              <a:t>нужен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добавить</a:t>
            </a:r>
            <a:r>
              <a:rPr dirty="0"/>
              <a:t> в </a:t>
            </a:r>
            <a:r>
              <a:rPr dirty="0" err="1"/>
              <a:t>сертификат</a:t>
            </a:r>
            <a:r>
              <a:rPr dirty="0"/>
              <a:t> DNS-</a:t>
            </a:r>
            <a:r>
              <a:rPr dirty="0" err="1"/>
              <a:t>имя</a:t>
            </a:r>
            <a:r>
              <a:rPr dirty="0"/>
              <a:t> и IP-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сервера</a:t>
            </a:r>
            <a:endParaRPr dirty="0"/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: </a:t>
            </a:r>
            <a:r>
              <a:rPr dirty="0" err="1"/>
              <a:t>subjectAltName</a:t>
            </a:r>
            <a:r>
              <a:rPr dirty="0"/>
              <a:t> = DNS:web01.company.test, IP:192.168.10.20</a:t>
            </a:r>
          </a:p>
          <a:p>
            <a:pPr indent="442913">
              <a:defRPr sz="3600"/>
            </a:pPr>
            <a:r>
              <a:rPr dirty="0" err="1"/>
              <a:t>Если</a:t>
            </a:r>
            <a:r>
              <a:rPr dirty="0"/>
              <a:t> SAN </a:t>
            </a:r>
            <a:r>
              <a:rPr dirty="0" err="1"/>
              <a:t>отсутствует</a:t>
            </a:r>
            <a:r>
              <a:rPr dirty="0"/>
              <a:t>, </a:t>
            </a:r>
            <a:r>
              <a:rPr dirty="0" err="1"/>
              <a:t>браузер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отвергнуть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совпадающем</a:t>
            </a:r>
            <a:r>
              <a:rPr dirty="0"/>
              <a:t> Common Name</a:t>
            </a:r>
          </a:p>
          <a:p>
            <a:pPr indent="442913">
              <a:defRPr sz="3600"/>
            </a:pPr>
            <a:r>
              <a:rPr dirty="0"/>
              <a:t>SAN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соответствовать</a:t>
            </a:r>
            <a:r>
              <a:rPr dirty="0"/>
              <a:t> </a:t>
            </a:r>
            <a:r>
              <a:rPr dirty="0" err="1"/>
              <a:t>тому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адресу</a:t>
            </a:r>
            <a:r>
              <a:rPr dirty="0"/>
              <a:t>,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которому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реально</a:t>
            </a:r>
            <a:r>
              <a:rPr dirty="0"/>
              <a:t> </a:t>
            </a:r>
            <a:r>
              <a:rPr dirty="0" err="1"/>
              <a:t>подключается</a:t>
            </a:r>
            <a:r>
              <a:rPr dirty="0"/>
              <a:t> к </a:t>
            </a:r>
            <a:r>
              <a:rPr dirty="0" err="1"/>
              <a:t>серверу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CSR для web01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openssl</a:t>
            </a:r>
            <a:r>
              <a:rPr dirty="0"/>
              <a:t> req -new -key web01.key -out web01.csr -subj /CN=web01.company.test </a:t>
            </a:r>
            <a:r>
              <a:rPr dirty="0" err="1"/>
              <a:t>создает</a:t>
            </a:r>
            <a:r>
              <a:rPr dirty="0"/>
              <a:t> CSR</a:t>
            </a:r>
          </a:p>
          <a:p>
            <a:pPr indent="354013">
              <a:defRPr sz="3600"/>
            </a:pPr>
            <a:r>
              <a:rPr dirty="0"/>
              <a:t>CSR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открытый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с </a:t>
            </a:r>
            <a:r>
              <a:rPr dirty="0" err="1"/>
              <a:t>именем</a:t>
            </a:r>
            <a:r>
              <a:rPr dirty="0"/>
              <a:t> web01.company.test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web01.csr </a:t>
            </a:r>
            <a:r>
              <a:rPr dirty="0" err="1"/>
              <a:t>на</a:t>
            </a:r>
            <a:r>
              <a:rPr dirty="0"/>
              <a:t> CA-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подписи</a:t>
            </a:r>
            <a:endParaRPr dirty="0"/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CSR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CN и </a:t>
            </a:r>
            <a:r>
              <a:rPr dirty="0" err="1"/>
              <a:t>публичный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соответствуют</a:t>
            </a:r>
            <a:r>
              <a:rPr dirty="0"/>
              <a:t> </a:t>
            </a:r>
            <a:r>
              <a:rPr dirty="0" err="1"/>
              <a:t>ожидаемому</a:t>
            </a:r>
            <a:r>
              <a:rPr dirty="0"/>
              <a:t> </a:t>
            </a:r>
            <a:r>
              <a:rPr dirty="0" err="1"/>
              <a:t>серверу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Подписание CSR на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openssl</a:t>
            </a:r>
            <a:r>
              <a:rPr dirty="0"/>
              <a:t> x509 -req -in web01.csr -CA ca.crt -</a:t>
            </a:r>
            <a:r>
              <a:rPr dirty="0" err="1"/>
              <a:t>CAkey</a:t>
            </a:r>
            <a:r>
              <a:rPr dirty="0"/>
              <a:t> </a:t>
            </a:r>
            <a:r>
              <a:rPr dirty="0" err="1"/>
              <a:t>ca.key</a:t>
            </a:r>
            <a:r>
              <a:rPr dirty="0"/>
              <a:t> -</a:t>
            </a:r>
            <a:r>
              <a:rPr dirty="0" err="1"/>
              <a:t>CAcreateserial</a:t>
            </a:r>
            <a:r>
              <a:rPr dirty="0"/>
              <a:t> -out web01.crt -days 365 -sha256 -</a:t>
            </a:r>
            <a:r>
              <a:rPr dirty="0" err="1"/>
              <a:t>extfile</a:t>
            </a:r>
            <a:r>
              <a:rPr dirty="0"/>
              <a:t> web01.ext </a:t>
            </a:r>
            <a:r>
              <a:rPr dirty="0" err="1"/>
              <a:t>подписывает</a:t>
            </a:r>
            <a:r>
              <a:rPr dirty="0"/>
              <a:t> </a:t>
            </a:r>
            <a:r>
              <a:rPr dirty="0" err="1"/>
              <a:t>запрос</a:t>
            </a:r>
            <a:endParaRPr dirty="0"/>
          </a:p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-CA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CA, а -</a:t>
            </a:r>
            <a:r>
              <a:rPr dirty="0" err="1"/>
              <a:t>CAkey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CA</a:t>
            </a:r>
          </a:p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-</a:t>
            </a:r>
            <a:r>
              <a:rPr dirty="0" err="1"/>
              <a:t>CAcreateserial</a:t>
            </a:r>
            <a:r>
              <a:rPr dirty="0"/>
              <a:t>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с </a:t>
            </a:r>
            <a:r>
              <a:rPr dirty="0" err="1"/>
              <a:t>серийным</a:t>
            </a:r>
            <a:r>
              <a:rPr dirty="0"/>
              <a:t> </a:t>
            </a:r>
            <a:r>
              <a:rPr dirty="0" err="1"/>
              <a:t>номером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еще</a:t>
            </a:r>
            <a:r>
              <a:rPr dirty="0"/>
              <a:t> </a:t>
            </a:r>
            <a:r>
              <a:rPr dirty="0" err="1"/>
              <a:t>нет</a:t>
            </a:r>
            <a:endParaRPr dirty="0"/>
          </a:p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-</a:t>
            </a:r>
            <a:r>
              <a:rPr dirty="0" err="1"/>
              <a:t>extfile</a:t>
            </a:r>
            <a:r>
              <a:rPr dirty="0"/>
              <a:t> </a:t>
            </a:r>
            <a:r>
              <a:rPr dirty="0" err="1"/>
              <a:t>добавляет</a:t>
            </a:r>
            <a:r>
              <a:rPr dirty="0"/>
              <a:t> SAN и </a:t>
            </a:r>
            <a:r>
              <a:rPr dirty="0" err="1"/>
              <a:t>другие</a:t>
            </a:r>
            <a:r>
              <a:rPr dirty="0"/>
              <a:t> </a:t>
            </a:r>
            <a:r>
              <a:rPr dirty="0" err="1"/>
              <a:t>расширения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web01.ext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выпущенного сертификата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openssl</a:t>
            </a:r>
            <a:r>
              <a:rPr dirty="0"/>
              <a:t> x509 -in web01.crt -text -</a:t>
            </a:r>
            <a:r>
              <a:rPr dirty="0" err="1"/>
              <a:t>noout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поля</a:t>
            </a:r>
            <a:r>
              <a:rPr dirty="0"/>
              <a:t> </a:t>
            </a:r>
            <a:r>
              <a:rPr dirty="0" err="1"/>
              <a:t>сертификата</a:t>
            </a:r>
            <a:endParaRPr dirty="0"/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выводе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Issuer, Subject, Validity и X509v3 Subject Alternative Name</a:t>
            </a:r>
            <a:r>
              <a:rPr lang="ru-RU" dirty="0"/>
              <a:t> </a:t>
            </a:r>
            <a:endParaRPr dirty="0"/>
          </a:p>
          <a:p>
            <a:pPr indent="354013">
              <a:defRPr sz="3600"/>
            </a:pPr>
            <a:r>
              <a:rPr dirty="0" err="1"/>
              <a:t>openssl</a:t>
            </a:r>
            <a:r>
              <a:rPr dirty="0"/>
              <a:t> verify -</a:t>
            </a:r>
            <a:r>
              <a:rPr dirty="0" err="1"/>
              <a:t>CAfile</a:t>
            </a:r>
            <a:r>
              <a:rPr dirty="0"/>
              <a:t> ca.crt web01.crt </a:t>
            </a:r>
            <a:r>
              <a:rPr dirty="0" err="1"/>
              <a:t>проверяет</a:t>
            </a:r>
            <a:r>
              <a:rPr dirty="0"/>
              <a:t>, </a:t>
            </a:r>
            <a:r>
              <a:rPr dirty="0" err="1"/>
              <a:t>доверяет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заданному</a:t>
            </a:r>
            <a:r>
              <a:rPr dirty="0"/>
              <a:t> CA</a:t>
            </a:r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verify: web01.crt: OK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1430" y="182880"/>
            <a:ext cx="91586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выпуск</a:t>
            </a:r>
            <a:r>
              <a:rPr dirty="0"/>
              <a:t> </a:t>
            </a:r>
            <a:r>
              <a:rPr dirty="0" err="1"/>
              <a:t>сертификата</a:t>
            </a:r>
            <a:r>
              <a:rPr dirty="0"/>
              <a:t> web</a:t>
            </a:r>
            <a:r>
              <a:rPr lang="ru-RU" dirty="0"/>
              <a:t>-сервера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07862B-28FD-9598-E83C-6064AA4574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Публикация и настройка TLS в серверных службах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выпуска</a:t>
            </a:r>
            <a:r>
              <a:rPr dirty="0"/>
              <a:t> </a:t>
            </a:r>
            <a:r>
              <a:rPr dirty="0" err="1"/>
              <a:t>сертификата</a:t>
            </a:r>
            <a:r>
              <a:rPr dirty="0"/>
              <a:t> </a:t>
            </a:r>
            <a:r>
              <a:rPr dirty="0" err="1"/>
              <a:t>серверная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знать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к </a:t>
            </a:r>
            <a:r>
              <a:rPr dirty="0" err="1"/>
              <a:t>сертификату</a:t>
            </a:r>
            <a:r>
              <a:rPr dirty="0"/>
              <a:t> и </a:t>
            </a:r>
            <a:r>
              <a:rPr dirty="0" err="1"/>
              <a:t>закрытому</a:t>
            </a:r>
            <a:r>
              <a:rPr dirty="0"/>
              <a:t> </a:t>
            </a:r>
            <a:r>
              <a:rPr dirty="0" err="1"/>
              <a:t>ключу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Nginx 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размещают</a:t>
            </a:r>
            <a:r>
              <a:rPr dirty="0"/>
              <a:t> в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ssl</a:t>
            </a:r>
            <a:r>
              <a:rPr dirty="0"/>
              <a:t>/certs, а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в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ssl</a:t>
            </a:r>
            <a:r>
              <a:rPr dirty="0"/>
              <a:t>/private</a:t>
            </a:r>
          </a:p>
          <a:p>
            <a:pPr indent="354013">
              <a:defRPr sz="3600"/>
            </a:pP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обычные</a:t>
            </a:r>
            <a:r>
              <a:rPr dirty="0"/>
              <a:t> </a:t>
            </a:r>
            <a:r>
              <a:rPr dirty="0" err="1"/>
              <a:t>пользователи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к </a:t>
            </a:r>
            <a:r>
              <a:rPr dirty="0" err="1"/>
              <a:t>нему</a:t>
            </a:r>
            <a:r>
              <a:rPr dirty="0"/>
              <a:t> </a:t>
            </a:r>
            <a:r>
              <a:rPr dirty="0" err="1"/>
              <a:t>доступ</a:t>
            </a:r>
            <a:endParaRPr dirty="0"/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синтаксис</a:t>
            </a:r>
            <a:r>
              <a:rPr dirty="0"/>
              <a:t> и </a:t>
            </a:r>
            <a:r>
              <a:rPr dirty="0" err="1"/>
              <a:t>перезагрузить</a:t>
            </a:r>
            <a:r>
              <a:rPr dirty="0"/>
              <a:t> </a:t>
            </a:r>
            <a:r>
              <a:rPr dirty="0" err="1"/>
              <a:t>службу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Фрагмент настройки Nginx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listen 443 </a:t>
            </a:r>
            <a:r>
              <a:rPr dirty="0" err="1"/>
              <a:t>ssl</a:t>
            </a:r>
            <a:r>
              <a:rPr dirty="0"/>
              <a:t> </a:t>
            </a:r>
            <a:r>
              <a:rPr dirty="0" err="1"/>
              <a:t>включает</a:t>
            </a:r>
            <a:r>
              <a:rPr dirty="0"/>
              <a:t> HTTPS-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виртуального</a:t>
            </a:r>
            <a:r>
              <a:rPr dirty="0"/>
              <a:t> </a:t>
            </a:r>
            <a:r>
              <a:rPr dirty="0" err="1"/>
              <a:t>сервера</a:t>
            </a:r>
            <a:endParaRPr dirty="0"/>
          </a:p>
          <a:p>
            <a:pPr indent="354013">
              <a:defRPr sz="3600"/>
            </a:pPr>
            <a:r>
              <a:rPr dirty="0" err="1"/>
              <a:t>server_name</a:t>
            </a:r>
            <a:r>
              <a:rPr dirty="0"/>
              <a:t> web01.company.test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совпадать</a:t>
            </a:r>
            <a:r>
              <a:rPr dirty="0"/>
              <a:t> с DNS-</a:t>
            </a:r>
            <a:r>
              <a:rPr dirty="0" err="1"/>
              <a:t>именем</a:t>
            </a:r>
            <a:r>
              <a:rPr dirty="0"/>
              <a:t> в SAN </a:t>
            </a:r>
            <a:r>
              <a:rPr dirty="0" err="1"/>
              <a:t>сертификата</a:t>
            </a:r>
            <a:endParaRPr dirty="0"/>
          </a:p>
          <a:p>
            <a:pPr indent="354013">
              <a:defRPr sz="3600"/>
            </a:pPr>
            <a:r>
              <a:rPr dirty="0" err="1"/>
              <a:t>ssl_certificate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ssl</a:t>
            </a:r>
            <a:r>
              <a:rPr dirty="0"/>
              <a:t>/certs/web01.crt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серверный</a:t>
            </a:r>
            <a:r>
              <a:rPr dirty="0"/>
              <a:t> </a:t>
            </a:r>
            <a:r>
              <a:rPr dirty="0" err="1"/>
              <a:t>сертификат</a:t>
            </a:r>
            <a:endParaRPr dirty="0"/>
          </a:p>
          <a:p>
            <a:pPr indent="354013">
              <a:defRPr sz="3600"/>
            </a:pPr>
            <a:r>
              <a:rPr dirty="0" err="1"/>
              <a:t>ssl_certificate_key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ssl</a:t>
            </a:r>
            <a:r>
              <a:rPr dirty="0"/>
              <a:t>/private/web01.key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сервера</a:t>
            </a:r>
            <a:endParaRPr dirty="0"/>
          </a:p>
          <a:p>
            <a:pPr indent="354013">
              <a:defRPr sz="3600"/>
            </a:pPr>
            <a:r>
              <a:rPr dirty="0" err="1"/>
              <a:t>ssl_protocols</a:t>
            </a:r>
            <a:r>
              <a:rPr dirty="0"/>
              <a:t> TLSv1.2 TLSv1.3 </a:t>
            </a:r>
            <a:r>
              <a:rPr dirty="0" err="1"/>
              <a:t>ограничивает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современными</a:t>
            </a:r>
            <a:r>
              <a:rPr dirty="0"/>
              <a:t> </a:t>
            </a:r>
            <a:r>
              <a:rPr dirty="0" err="1"/>
              <a:t>версиями</a:t>
            </a:r>
            <a:r>
              <a:rPr dirty="0"/>
              <a:t> TLS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Права доступа к закрытому ключу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chown</a:t>
            </a:r>
            <a:r>
              <a:rPr dirty="0"/>
              <a:t> </a:t>
            </a:r>
            <a:r>
              <a:rPr dirty="0" err="1"/>
              <a:t>root:root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ssl</a:t>
            </a:r>
            <a:r>
              <a:rPr dirty="0"/>
              <a:t>/private/web01.key </a:t>
            </a:r>
            <a:r>
              <a:rPr dirty="0" err="1"/>
              <a:t>назначает</a:t>
            </a:r>
            <a:r>
              <a:rPr dirty="0"/>
              <a:t> </a:t>
            </a:r>
            <a:r>
              <a:rPr dirty="0" err="1"/>
              <a:t>владельцем</a:t>
            </a:r>
            <a:r>
              <a:rPr dirty="0"/>
              <a:t> </a:t>
            </a:r>
            <a:r>
              <a:rPr dirty="0" err="1"/>
              <a:t>ключа</a:t>
            </a:r>
            <a:r>
              <a:rPr dirty="0"/>
              <a:t> root</a:t>
            </a:r>
          </a:p>
          <a:p>
            <a:pPr indent="354013">
              <a:defRPr sz="3600"/>
            </a:pP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chmod</a:t>
            </a:r>
            <a:r>
              <a:rPr dirty="0"/>
              <a:t> 600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ssl</a:t>
            </a:r>
            <a:r>
              <a:rPr dirty="0"/>
              <a:t>/private/web01.key </a:t>
            </a:r>
            <a:r>
              <a:rPr dirty="0" err="1"/>
              <a:t>разрешает</a:t>
            </a:r>
            <a:r>
              <a:rPr dirty="0"/>
              <a:t> </a:t>
            </a:r>
            <a:r>
              <a:rPr dirty="0" err="1"/>
              <a:t>чтение</a:t>
            </a:r>
            <a:r>
              <a:rPr dirty="0"/>
              <a:t> и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владельцу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некоторых</a:t>
            </a:r>
            <a:r>
              <a:rPr dirty="0"/>
              <a:t> </a:t>
            </a:r>
            <a:r>
              <a:rPr dirty="0" err="1"/>
              <a:t>схем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 </a:t>
            </a:r>
            <a:r>
              <a:rPr dirty="0" err="1"/>
              <a:t>ssl</a:t>
            </a:r>
            <a:r>
              <a:rPr dirty="0"/>
              <a:t>-cert и </a:t>
            </a:r>
            <a:r>
              <a:rPr dirty="0" err="1"/>
              <a:t>режим</a:t>
            </a:r>
            <a:r>
              <a:rPr dirty="0"/>
              <a:t> 640,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требуется</a:t>
            </a:r>
            <a:r>
              <a:rPr dirty="0"/>
              <a:t> </a:t>
            </a:r>
            <a:r>
              <a:rPr dirty="0" err="1"/>
              <a:t>службе</a:t>
            </a:r>
            <a:endParaRPr dirty="0"/>
          </a:p>
          <a:p>
            <a:pPr indent="354013">
              <a:defRPr sz="3600"/>
            </a:pPr>
            <a:r>
              <a:rPr dirty="0" err="1"/>
              <a:t>Ошибка</a:t>
            </a:r>
            <a:r>
              <a:rPr dirty="0"/>
              <a:t> Permission denied в </a:t>
            </a:r>
            <a:r>
              <a:rPr dirty="0" err="1"/>
              <a:t>логах</a:t>
            </a:r>
            <a:r>
              <a:rPr dirty="0"/>
              <a:t> Nginx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прочитать</a:t>
            </a:r>
            <a:r>
              <a:rPr dirty="0"/>
              <a:t> </a:t>
            </a:r>
            <a:r>
              <a:rPr dirty="0" err="1"/>
              <a:t>ключ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и перезагрузка Nginx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sudo</a:t>
            </a:r>
            <a:r>
              <a:rPr dirty="0"/>
              <a:t> nginx -t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синтаксис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 Nginx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перезагрузки</a:t>
            </a:r>
            <a:endParaRPr dirty="0"/>
          </a:p>
          <a:p>
            <a:pPr indent="354013">
              <a:defRPr sz="3600"/>
            </a:pP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reload nginx </a:t>
            </a:r>
            <a:r>
              <a:rPr dirty="0" err="1"/>
              <a:t>применяет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полной</a:t>
            </a:r>
            <a:r>
              <a:rPr dirty="0"/>
              <a:t> </a:t>
            </a:r>
            <a:r>
              <a:rPr dirty="0" err="1"/>
              <a:t>остановки</a:t>
            </a:r>
            <a:r>
              <a:rPr dirty="0"/>
              <a:t> </a:t>
            </a:r>
            <a:r>
              <a:rPr dirty="0" err="1"/>
              <a:t>службы</a:t>
            </a:r>
            <a:endParaRPr dirty="0"/>
          </a:p>
          <a:p>
            <a:pPr indent="354013">
              <a:defRPr sz="3600"/>
            </a:pPr>
            <a:r>
              <a:rPr dirty="0" err="1"/>
              <a:t>sudo</a:t>
            </a:r>
            <a:r>
              <a:rPr dirty="0"/>
              <a:t> ss -</a:t>
            </a:r>
            <a:r>
              <a:rPr dirty="0" err="1"/>
              <a:t>tulpen</a:t>
            </a:r>
            <a:r>
              <a:rPr dirty="0"/>
              <a:t> | grep ':443' </a:t>
            </a:r>
            <a:r>
              <a:rPr dirty="0" err="1"/>
              <a:t>проверяет</a:t>
            </a:r>
            <a:r>
              <a:rPr dirty="0"/>
              <a:t>,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HTTPS-</a:t>
            </a:r>
            <a:r>
              <a:rPr dirty="0" err="1"/>
              <a:t>порт</a:t>
            </a:r>
            <a:endParaRPr dirty="0"/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443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слушается</a:t>
            </a:r>
            <a:r>
              <a:rPr dirty="0"/>
              <a:t>,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физически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сможет</a:t>
            </a:r>
            <a:r>
              <a:rPr dirty="0"/>
              <a:t> </a:t>
            </a:r>
            <a:r>
              <a:rPr dirty="0" err="1"/>
              <a:t>установить</a:t>
            </a:r>
            <a:r>
              <a:rPr dirty="0"/>
              <a:t> TLS-</a:t>
            </a:r>
            <a:r>
              <a:rPr dirty="0" err="1"/>
              <a:t>соединение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Импорт CA на Linux-клиенте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 err="1"/>
              <a:t>sudo</a:t>
            </a:r>
            <a:r>
              <a:rPr dirty="0"/>
              <a:t> cp ca.crt /</a:t>
            </a:r>
            <a:r>
              <a:rPr dirty="0" err="1"/>
              <a:t>usr</a:t>
            </a:r>
            <a:r>
              <a:rPr dirty="0"/>
              <a:t>/local/share/ca-certificates/company-test-root-ca.crt </a:t>
            </a:r>
            <a:r>
              <a:rPr dirty="0" err="1"/>
              <a:t>копирует</a:t>
            </a:r>
            <a:r>
              <a:rPr dirty="0"/>
              <a:t> CA в </a:t>
            </a:r>
            <a:r>
              <a:rPr dirty="0" err="1"/>
              <a:t>системный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доверия</a:t>
            </a:r>
            <a:endParaRPr dirty="0"/>
          </a:p>
          <a:p>
            <a:pPr indent="354013">
              <a:defRPr sz="3600"/>
            </a:pPr>
            <a:r>
              <a:rPr dirty="0" err="1"/>
              <a:t>sudo</a:t>
            </a:r>
            <a:r>
              <a:rPr dirty="0"/>
              <a:t> update-ca-certificates </a:t>
            </a:r>
            <a:r>
              <a:rPr dirty="0" err="1"/>
              <a:t>обновляет</a:t>
            </a:r>
            <a:r>
              <a:rPr dirty="0"/>
              <a:t> </a:t>
            </a:r>
            <a:r>
              <a:rPr dirty="0" err="1"/>
              <a:t>доверенное</a:t>
            </a:r>
            <a:r>
              <a:rPr dirty="0"/>
              <a:t> </a:t>
            </a:r>
            <a:r>
              <a:rPr dirty="0" err="1"/>
              <a:t>хранилище</a:t>
            </a:r>
            <a:r>
              <a:rPr dirty="0"/>
              <a:t> </a:t>
            </a:r>
            <a:r>
              <a:rPr dirty="0" err="1"/>
              <a:t>сертификатов</a:t>
            </a:r>
            <a:r>
              <a:rPr dirty="0"/>
              <a:t> Linux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импорта</a:t>
            </a:r>
            <a:r>
              <a:rPr dirty="0"/>
              <a:t> </a:t>
            </a:r>
            <a:r>
              <a:rPr dirty="0" err="1"/>
              <a:t>клиентские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смогут</a:t>
            </a:r>
            <a:r>
              <a:rPr dirty="0"/>
              <a:t> </a:t>
            </a:r>
            <a:r>
              <a:rPr dirty="0" err="1"/>
              <a:t>доверять</a:t>
            </a:r>
            <a:r>
              <a:rPr dirty="0"/>
              <a:t> </a:t>
            </a:r>
            <a:r>
              <a:rPr dirty="0" err="1"/>
              <a:t>сертификатам</a:t>
            </a:r>
            <a:r>
              <a:rPr dirty="0"/>
              <a:t>, </a:t>
            </a:r>
            <a:r>
              <a:rPr dirty="0" err="1"/>
              <a:t>подписанным</a:t>
            </a:r>
            <a:r>
              <a:rPr dirty="0"/>
              <a:t> Company Test Root CA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собственное</a:t>
            </a:r>
            <a:r>
              <a:rPr dirty="0"/>
              <a:t> </a:t>
            </a:r>
            <a:r>
              <a:rPr dirty="0" err="1"/>
              <a:t>хранилище</a:t>
            </a:r>
            <a:r>
              <a:rPr dirty="0"/>
              <a:t> </a:t>
            </a:r>
            <a:r>
              <a:rPr dirty="0" err="1"/>
              <a:t>сертификатов</a:t>
            </a:r>
            <a:r>
              <a:rPr dirty="0"/>
              <a:t>, </a:t>
            </a:r>
            <a:r>
              <a:rPr dirty="0" err="1"/>
              <a:t>системного</a:t>
            </a:r>
            <a:r>
              <a:rPr dirty="0"/>
              <a:t> </a:t>
            </a:r>
            <a:r>
              <a:rPr dirty="0" err="1"/>
              <a:t>импорта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недостаточно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80D32-F3E8-D262-8707-0388A036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7CCFC1-9A00-5083-BD74-DEF48EA80298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публикация</a:t>
            </a:r>
            <a:r>
              <a:rPr dirty="0"/>
              <a:t> HTTPS-</a:t>
            </a:r>
            <a:r>
              <a:rPr dirty="0" err="1"/>
              <a:t>сервиса</a:t>
            </a:r>
            <a:r>
              <a:rPr dirty="0"/>
              <a:t> и </a:t>
            </a:r>
            <a:r>
              <a:rPr dirty="0" err="1"/>
              <a:t>доверие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9D947-E129-1FB9-9B33-CAAB2DE36142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D734FF0-996D-59D1-D2F3-3C0E5ADA1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936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публикация</a:t>
            </a:r>
            <a:r>
              <a:rPr dirty="0"/>
              <a:t> HTTPS-</a:t>
            </a:r>
            <a:r>
              <a:rPr dirty="0" err="1"/>
              <a:t>сервиса</a:t>
            </a:r>
            <a:r>
              <a:rPr dirty="0"/>
              <a:t> и </a:t>
            </a:r>
            <a:r>
              <a:rPr dirty="0" err="1"/>
              <a:t>доверие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DD0828-6622-7FC3-B721-E775CF8D20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Диагностика, проверка и типовые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Диагностика</a:t>
            </a:r>
            <a:r>
              <a:rPr dirty="0"/>
              <a:t> TLS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переходит</a:t>
            </a:r>
            <a:r>
              <a:rPr dirty="0"/>
              <a:t> к </a:t>
            </a:r>
            <a:r>
              <a:rPr dirty="0" err="1"/>
              <a:t>проверке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и </a:t>
            </a:r>
            <a:r>
              <a:rPr dirty="0" err="1"/>
              <a:t>клиента</a:t>
            </a:r>
            <a:endParaRPr dirty="0"/>
          </a:p>
          <a:p>
            <a:pPr indent="354013"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, SAN,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и </a:t>
            </a:r>
            <a:r>
              <a:rPr dirty="0" err="1"/>
              <a:t>соответствие</a:t>
            </a:r>
            <a:r>
              <a:rPr dirty="0"/>
              <a:t> </a:t>
            </a:r>
            <a:r>
              <a:rPr dirty="0" err="1"/>
              <a:t>закрытого</a:t>
            </a:r>
            <a:r>
              <a:rPr dirty="0"/>
              <a:t> </a:t>
            </a:r>
            <a:r>
              <a:rPr dirty="0" err="1"/>
              <a:t>ключа</a:t>
            </a:r>
            <a:endParaRPr dirty="0"/>
          </a:p>
          <a:p>
            <a:pPr indent="354013"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конфигурацию</a:t>
            </a:r>
            <a:r>
              <a:rPr dirty="0"/>
              <a:t> Nginx и </a:t>
            </a:r>
            <a:r>
              <a:rPr dirty="0" err="1"/>
              <a:t>доступность</a:t>
            </a:r>
            <a:r>
              <a:rPr dirty="0"/>
              <a:t> TCP-порта 443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цепочку</a:t>
            </a:r>
            <a:r>
              <a:rPr dirty="0"/>
              <a:t> </a:t>
            </a:r>
            <a:r>
              <a:rPr dirty="0" err="1"/>
              <a:t>доверия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стороны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Локальная проверка сертификата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openssl</a:t>
            </a:r>
            <a:r>
              <a:rPr dirty="0"/>
              <a:t> x509 -in web01.crt -text -</a:t>
            </a:r>
            <a:r>
              <a:rPr dirty="0" err="1"/>
              <a:t>noout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полное</a:t>
            </a:r>
            <a:r>
              <a:rPr dirty="0"/>
              <a:t> </a:t>
            </a:r>
            <a:r>
              <a:rPr dirty="0" err="1"/>
              <a:t>содержимое</a:t>
            </a:r>
            <a:r>
              <a:rPr dirty="0"/>
              <a:t> </a:t>
            </a:r>
            <a:r>
              <a:rPr dirty="0" err="1"/>
              <a:t>сертификата</a:t>
            </a:r>
            <a:endParaRPr dirty="0"/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разделе</a:t>
            </a:r>
            <a:r>
              <a:rPr dirty="0"/>
              <a:t> Subject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увидеть</a:t>
            </a:r>
            <a:r>
              <a:rPr dirty="0"/>
              <a:t> CN=web01.company.test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разделе</a:t>
            </a:r>
            <a:r>
              <a:rPr dirty="0"/>
              <a:t> X509v3 Subject Alternative Name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увидеть</a:t>
            </a:r>
            <a:r>
              <a:rPr dirty="0"/>
              <a:t> DNS:web01.company.test и IP Address:192.168.10.20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разделе</a:t>
            </a:r>
            <a:r>
              <a:rPr dirty="0"/>
              <a:t> Validity </a:t>
            </a:r>
            <a:r>
              <a:rPr dirty="0" err="1"/>
              <a:t>проверяют</a:t>
            </a:r>
            <a:r>
              <a:rPr dirty="0"/>
              <a:t> Not Before и Not After,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исключить</a:t>
            </a:r>
            <a:r>
              <a:rPr dirty="0"/>
              <a:t> </a:t>
            </a:r>
            <a:r>
              <a:rPr dirty="0" err="1"/>
              <a:t>истекший</a:t>
            </a:r>
            <a:r>
              <a:rPr dirty="0"/>
              <a:t> </a:t>
            </a:r>
            <a:r>
              <a:rPr dirty="0" err="1"/>
              <a:t>сертификат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Сетевое тестирование TLS-порта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indent="354013">
              <a:defRPr sz="3600"/>
            </a:pPr>
            <a:r>
              <a:rPr dirty="0" err="1"/>
              <a:t>openssl</a:t>
            </a:r>
            <a:r>
              <a:rPr dirty="0"/>
              <a:t> </a:t>
            </a:r>
            <a:r>
              <a:rPr dirty="0" err="1"/>
              <a:t>s_client</a:t>
            </a:r>
            <a:r>
              <a:rPr dirty="0"/>
              <a:t> -connect web01.company.test:443 -</a:t>
            </a:r>
            <a:r>
              <a:rPr dirty="0" err="1"/>
              <a:t>CAfile</a:t>
            </a:r>
            <a:r>
              <a:rPr dirty="0"/>
              <a:t> ca.crt -</a:t>
            </a:r>
            <a:r>
              <a:rPr dirty="0" err="1"/>
              <a:t>servername</a:t>
            </a:r>
            <a:r>
              <a:rPr dirty="0"/>
              <a:t> web01.company.test </a:t>
            </a:r>
            <a:r>
              <a:rPr dirty="0" err="1"/>
              <a:t>проверяет</a:t>
            </a:r>
            <a:r>
              <a:rPr dirty="0"/>
              <a:t> TLS-</a:t>
            </a:r>
            <a:r>
              <a:rPr dirty="0" err="1"/>
              <a:t>соединение</a:t>
            </a:r>
            <a:endParaRPr dirty="0"/>
          </a:p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-connect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и </a:t>
            </a:r>
            <a:r>
              <a:rPr dirty="0" err="1"/>
              <a:t>порт</a:t>
            </a:r>
            <a:r>
              <a:rPr dirty="0"/>
              <a:t>, к </a:t>
            </a:r>
            <a:r>
              <a:rPr dirty="0" err="1"/>
              <a:t>которым</a:t>
            </a:r>
            <a:r>
              <a:rPr dirty="0"/>
              <a:t> </a:t>
            </a:r>
            <a:r>
              <a:rPr dirty="0" err="1"/>
              <a:t>подключается</a:t>
            </a:r>
            <a:r>
              <a:rPr dirty="0"/>
              <a:t> </a:t>
            </a:r>
            <a:r>
              <a:rPr dirty="0" err="1"/>
              <a:t>клиент</a:t>
            </a:r>
            <a:endParaRPr dirty="0"/>
          </a:p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-</a:t>
            </a:r>
            <a:r>
              <a:rPr dirty="0" err="1"/>
              <a:t>CAfile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корневой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CA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доверия</a:t>
            </a:r>
            <a:endParaRPr dirty="0"/>
          </a:p>
          <a:p>
            <a:pPr indent="354013">
              <a:defRPr sz="3600"/>
            </a:pPr>
            <a:r>
              <a:rPr dirty="0"/>
              <a:t>SNI (Server Name Indication)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TLS-</a:t>
            </a:r>
            <a:r>
              <a:rPr dirty="0" err="1"/>
              <a:t>подключения</a:t>
            </a:r>
            <a:endParaRPr dirty="0"/>
          </a:p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-</a:t>
            </a:r>
            <a:r>
              <a:rPr dirty="0" err="1"/>
              <a:t>servername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SNI-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выбрал</a:t>
            </a:r>
            <a:r>
              <a:rPr dirty="0"/>
              <a:t> </a:t>
            </a:r>
            <a:r>
              <a:rPr dirty="0" err="1"/>
              <a:t>правильный</a:t>
            </a:r>
            <a:r>
              <a:rPr dirty="0"/>
              <a:t>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хост</a:t>
            </a:r>
            <a:endParaRPr dirty="0"/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успешный</a:t>
            </a:r>
            <a:r>
              <a:rPr dirty="0"/>
              <a:t> </a:t>
            </a:r>
            <a:r>
              <a:rPr dirty="0" err="1"/>
              <a:t>признак</a:t>
            </a:r>
            <a:r>
              <a:rPr dirty="0"/>
              <a:t>: Verify return code: 0 (ok)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через curl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curl --</a:t>
            </a:r>
            <a:r>
              <a:rPr dirty="0" err="1"/>
              <a:t>cacert</a:t>
            </a:r>
            <a:r>
              <a:rPr dirty="0"/>
              <a:t> ca.crt https://web01.company.test </a:t>
            </a:r>
            <a:r>
              <a:rPr dirty="0" err="1"/>
              <a:t>проверяет</a:t>
            </a:r>
            <a:r>
              <a:rPr dirty="0"/>
              <a:t> HTTPS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клиент</a:t>
            </a:r>
            <a:endParaRPr dirty="0"/>
          </a:p>
          <a:p>
            <a:pPr indent="354013">
              <a:defRPr sz="3600"/>
            </a:pPr>
            <a:r>
              <a:rPr dirty="0" err="1"/>
              <a:t>Параметр</a:t>
            </a:r>
            <a:r>
              <a:rPr dirty="0"/>
              <a:t> --</a:t>
            </a:r>
            <a:r>
              <a:rPr dirty="0" err="1"/>
              <a:t>cacert</a:t>
            </a:r>
            <a:r>
              <a:rPr dirty="0"/>
              <a:t> </a:t>
            </a:r>
            <a:r>
              <a:rPr dirty="0" err="1"/>
              <a:t>явно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доверенный</a:t>
            </a:r>
            <a:r>
              <a:rPr dirty="0"/>
              <a:t> CA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этой</a:t>
            </a:r>
            <a:r>
              <a:rPr dirty="0"/>
              <a:t> </a:t>
            </a:r>
            <a:r>
              <a:rPr dirty="0" err="1"/>
              <a:t>проверки</a:t>
            </a:r>
            <a:endParaRPr dirty="0"/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с --</a:t>
            </a:r>
            <a:r>
              <a:rPr dirty="0" err="1"/>
              <a:t>cacert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него</a:t>
            </a:r>
            <a:r>
              <a:rPr dirty="0"/>
              <a:t>, CA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импортирован</a:t>
            </a:r>
            <a:r>
              <a:rPr dirty="0"/>
              <a:t> в </a:t>
            </a:r>
            <a:r>
              <a:rPr dirty="0" err="1"/>
              <a:t>доверенное</a:t>
            </a:r>
            <a:r>
              <a:rPr dirty="0"/>
              <a:t> </a:t>
            </a:r>
            <a:r>
              <a:rPr dirty="0" err="1"/>
              <a:t>хранилище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связана</a:t>
            </a:r>
            <a:r>
              <a:rPr dirty="0"/>
              <a:t> с </a:t>
            </a:r>
            <a:r>
              <a:rPr dirty="0" err="1"/>
              <a:t>именем</a:t>
            </a:r>
            <a:r>
              <a:rPr dirty="0"/>
              <a:t>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SAN и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обращения</a:t>
            </a:r>
            <a:r>
              <a:rPr dirty="0"/>
              <a:t> к </a:t>
            </a:r>
            <a:r>
              <a:rPr dirty="0" err="1"/>
              <a:t>серверу</a:t>
            </a:r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Ошибки имени и доверия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ERR_CERT_COMMON_NAME_INVALID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в </a:t>
            </a:r>
            <a:r>
              <a:rPr dirty="0" err="1"/>
              <a:t>адресной</a:t>
            </a:r>
            <a:r>
              <a:rPr dirty="0"/>
              <a:t> </a:t>
            </a:r>
            <a:r>
              <a:rPr dirty="0" err="1"/>
              <a:t>строке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найдено</a:t>
            </a:r>
            <a:r>
              <a:rPr dirty="0"/>
              <a:t> в SAN </a:t>
            </a:r>
            <a:r>
              <a:rPr dirty="0" err="1"/>
              <a:t>сертификата</a:t>
            </a:r>
            <a:endParaRPr dirty="0"/>
          </a:p>
          <a:p>
            <a:pPr indent="354013">
              <a:defRPr sz="3600"/>
            </a:pPr>
            <a:r>
              <a:rPr dirty="0"/>
              <a:t>SEC_ERROR_UNKNOWN_ISSUER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доверяет</a:t>
            </a:r>
            <a:r>
              <a:rPr dirty="0"/>
              <a:t> CA,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подписал</a:t>
            </a:r>
            <a:r>
              <a:rPr dirty="0"/>
              <a:t> </a:t>
            </a:r>
            <a:r>
              <a:rPr dirty="0" err="1"/>
              <a:t>сертификат</a:t>
            </a:r>
            <a:endParaRPr dirty="0"/>
          </a:p>
          <a:p>
            <a:pPr indent="354013">
              <a:defRPr sz="3600"/>
            </a:pPr>
            <a:r>
              <a:rPr dirty="0"/>
              <a:t>Self-signed certificate in certificate chain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неполную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недоверенную</a:t>
            </a:r>
            <a:r>
              <a:rPr dirty="0"/>
              <a:t> </a:t>
            </a:r>
            <a:r>
              <a:rPr dirty="0" err="1"/>
              <a:t>цепочку</a:t>
            </a:r>
            <a:endParaRPr dirty="0"/>
          </a:p>
          <a:p>
            <a:pPr indent="354013">
              <a:defRPr sz="3600"/>
            </a:pPr>
            <a:r>
              <a:rPr dirty="0" err="1"/>
              <a:t>Правильное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dirty="0"/>
              <a:t>: </a:t>
            </a:r>
            <a:r>
              <a:rPr dirty="0" err="1"/>
              <a:t>проверить</a:t>
            </a:r>
            <a:r>
              <a:rPr dirty="0"/>
              <a:t> SAN, </a:t>
            </a:r>
            <a:r>
              <a:rPr dirty="0" err="1"/>
              <a:t>импорт</a:t>
            </a:r>
            <a:r>
              <a:rPr dirty="0"/>
              <a:t> CA и </a:t>
            </a:r>
            <a:r>
              <a:rPr dirty="0" err="1"/>
              <a:t>цепочку</a:t>
            </a:r>
            <a:r>
              <a:rPr dirty="0"/>
              <a:t> </a:t>
            </a:r>
            <a:r>
              <a:rPr dirty="0" err="1"/>
              <a:t>сертификатов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Ошибки срока действия и прав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Expired certificate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текущая</a:t>
            </a:r>
            <a:r>
              <a:rPr dirty="0"/>
              <a:t> </a:t>
            </a:r>
            <a:r>
              <a:rPr dirty="0" err="1"/>
              <a:t>дата</a:t>
            </a:r>
            <a:r>
              <a:rPr dirty="0"/>
              <a:t> </a:t>
            </a:r>
            <a:r>
              <a:rPr dirty="0" err="1"/>
              <a:t>вышла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пределы</a:t>
            </a:r>
            <a:r>
              <a:rPr dirty="0"/>
              <a:t> Not After</a:t>
            </a:r>
          </a:p>
          <a:p>
            <a:pPr indent="354013">
              <a:defRPr sz="3600"/>
            </a:pPr>
            <a:r>
              <a:rPr dirty="0"/>
              <a:t>Certificate is not yet valid </a:t>
            </a:r>
            <a:r>
              <a:rPr dirty="0" err="1"/>
              <a:t>появляется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системное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настроено</a:t>
            </a:r>
            <a:r>
              <a:rPr dirty="0"/>
              <a:t> </a:t>
            </a:r>
            <a:r>
              <a:rPr dirty="0" err="1"/>
              <a:t>неверно</a:t>
            </a:r>
            <a:endParaRPr dirty="0"/>
          </a:p>
          <a:p>
            <a:pPr indent="354013">
              <a:defRPr sz="3600"/>
            </a:pPr>
            <a:r>
              <a:rPr dirty="0"/>
              <a:t>Permission denied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старте</a:t>
            </a:r>
            <a:r>
              <a:rPr dirty="0"/>
              <a:t> Nginx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связан</a:t>
            </a:r>
            <a:r>
              <a:rPr dirty="0"/>
              <a:t> с </a:t>
            </a:r>
            <a:r>
              <a:rPr dirty="0" err="1"/>
              <a:t>правами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ssl</a:t>
            </a:r>
            <a:r>
              <a:rPr dirty="0"/>
              <a:t>/private/web01.key</a:t>
            </a:r>
          </a:p>
          <a:p>
            <a:pPr indent="354013">
              <a:defRPr sz="3600"/>
            </a:pPr>
            <a:r>
              <a:rPr dirty="0"/>
              <a:t>Key values mismatch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и </a:t>
            </a:r>
            <a:r>
              <a:rPr dirty="0" err="1"/>
              <a:t>закрытый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образуют</a:t>
            </a:r>
            <a:r>
              <a:rPr dirty="0"/>
              <a:t> </a:t>
            </a:r>
            <a:r>
              <a:rPr dirty="0" err="1"/>
              <a:t>пару</a:t>
            </a:r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диагностика</a:t>
            </a:r>
            <a:r>
              <a:rPr dirty="0"/>
              <a:t> TLS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уровням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9DA9D1-9B06-200D-4C22-7EA9876E44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TLS </a:t>
            </a:r>
            <a:r>
              <a:rPr dirty="0" err="1"/>
              <a:t>защищает</a:t>
            </a:r>
            <a:r>
              <a:rPr dirty="0"/>
              <a:t> </a:t>
            </a:r>
            <a:r>
              <a:rPr dirty="0" err="1"/>
              <a:t>канал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 и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подлинность</a:t>
            </a:r>
            <a:r>
              <a:rPr dirty="0"/>
              <a:t> </a:t>
            </a:r>
            <a:r>
              <a:rPr dirty="0" err="1"/>
              <a:t>сервера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PKI </a:t>
            </a:r>
            <a:r>
              <a:rPr dirty="0" err="1"/>
              <a:t>строится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доверии</a:t>
            </a:r>
            <a:r>
              <a:rPr dirty="0"/>
              <a:t> к CA, </a:t>
            </a:r>
            <a:r>
              <a:rPr dirty="0" err="1"/>
              <a:t>цепочке</a:t>
            </a:r>
            <a:r>
              <a:rPr dirty="0"/>
              <a:t> </a:t>
            </a:r>
            <a:r>
              <a:rPr dirty="0" err="1"/>
              <a:t>сертификатов</a:t>
            </a:r>
            <a:r>
              <a:rPr dirty="0"/>
              <a:t> и </a:t>
            </a:r>
            <a:r>
              <a:rPr dirty="0" err="1"/>
              <a:t>защите</a:t>
            </a:r>
            <a:r>
              <a:rPr dirty="0"/>
              <a:t> </a:t>
            </a:r>
            <a:r>
              <a:rPr dirty="0" err="1"/>
              <a:t>закрытых</a:t>
            </a:r>
            <a:r>
              <a:rPr dirty="0"/>
              <a:t> </a:t>
            </a:r>
            <a:r>
              <a:rPr dirty="0" err="1"/>
              <a:t>ключей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CSR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секретом</a:t>
            </a:r>
            <a:r>
              <a:rPr dirty="0"/>
              <a:t>, а </a:t>
            </a:r>
            <a:r>
              <a:rPr dirty="0" err="1"/>
              <a:t>закрытые</a:t>
            </a:r>
            <a:r>
              <a:rPr dirty="0"/>
              <a:t> </a:t>
            </a:r>
            <a:r>
              <a:rPr dirty="0" err="1"/>
              <a:t>ключи</a:t>
            </a:r>
            <a:r>
              <a:rPr dirty="0"/>
              <a:t> CA и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храниться</a:t>
            </a:r>
            <a:r>
              <a:rPr dirty="0"/>
              <a:t> </a:t>
            </a:r>
            <a:r>
              <a:rPr dirty="0" err="1"/>
              <a:t>строго</a:t>
            </a:r>
            <a:r>
              <a:rPr dirty="0"/>
              <a:t> </a:t>
            </a:r>
            <a:r>
              <a:rPr dirty="0" err="1"/>
              <a:t>защищенно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Современный</a:t>
            </a:r>
            <a:r>
              <a:rPr dirty="0"/>
              <a:t> </a:t>
            </a:r>
            <a:r>
              <a:rPr dirty="0" err="1"/>
              <a:t>серверный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содержать</a:t>
            </a:r>
            <a:r>
              <a:rPr dirty="0"/>
              <a:t> </a:t>
            </a:r>
            <a:r>
              <a:rPr dirty="0" err="1"/>
              <a:t>корректный</a:t>
            </a:r>
            <a:r>
              <a:rPr dirty="0"/>
              <a:t> SAN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Проверка</a:t>
            </a:r>
            <a:r>
              <a:rPr dirty="0"/>
              <a:t> TLS </a:t>
            </a: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, SAN, </a:t>
            </a:r>
            <a:r>
              <a:rPr dirty="0" err="1"/>
              <a:t>цепочку</a:t>
            </a:r>
            <a:r>
              <a:rPr dirty="0"/>
              <a:t> </a:t>
            </a:r>
            <a:r>
              <a:rPr dirty="0" err="1"/>
              <a:t>доверия</a:t>
            </a:r>
            <a:r>
              <a:rPr dirty="0"/>
              <a:t>,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ключ</a:t>
            </a:r>
            <a:r>
              <a:rPr dirty="0"/>
              <a:t> и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службы</a:t>
            </a:r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943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HTTP, LDAP, SMTP и IMAP </a:t>
            </a:r>
            <a:r>
              <a:rPr dirty="0" err="1"/>
              <a:t>без</a:t>
            </a:r>
            <a:r>
              <a:rPr dirty="0"/>
              <a:t> TLS </a:t>
            </a:r>
            <a:r>
              <a:rPr dirty="0" err="1"/>
              <a:t>опасны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предприятия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симметричное</a:t>
            </a:r>
            <a:r>
              <a:rPr dirty="0"/>
              <a:t> </a:t>
            </a:r>
            <a:r>
              <a:rPr dirty="0" err="1"/>
              <a:t>шифрование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асимметричного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Зачем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цифровой</a:t>
            </a:r>
            <a:r>
              <a:rPr dirty="0"/>
              <a:t> </a:t>
            </a:r>
            <a:r>
              <a:rPr dirty="0" err="1"/>
              <a:t>сертификат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у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пара</a:t>
            </a:r>
            <a:r>
              <a:rPr dirty="0"/>
              <a:t> </a:t>
            </a:r>
            <a:r>
              <a:rPr dirty="0" err="1"/>
              <a:t>ключей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Какую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CA в </a:t>
            </a:r>
            <a:r>
              <a:rPr dirty="0" err="1"/>
              <a:t>цепочке</a:t>
            </a:r>
            <a:r>
              <a:rPr dirty="0"/>
              <a:t> </a:t>
            </a:r>
            <a:r>
              <a:rPr dirty="0" err="1"/>
              <a:t>доверия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CSR и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передавать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CA?</a:t>
            </a:r>
            <a:endParaRPr lang="ru-RU" dirty="0"/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Почему современные браузеры требуют SAN в сертификате?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Какие файлы нельзя публиковать или передавать клиентам?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Что проверить при ошибке ERR_CERT_COMMON_NAME_INVALID?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lang="ru-RU" dirty="0"/>
              <a:t>Как команда </a:t>
            </a:r>
            <a:r>
              <a:rPr lang="ru-RU" dirty="0" err="1"/>
              <a:t>openssl</a:t>
            </a:r>
            <a:r>
              <a:rPr lang="ru-RU" dirty="0"/>
              <a:t> </a:t>
            </a:r>
            <a:r>
              <a:rPr lang="ru-RU" dirty="0" err="1"/>
              <a:t>s_client</a:t>
            </a:r>
            <a:r>
              <a:rPr lang="ru-RU" dirty="0"/>
              <a:t> помогает проверить HTTPS-сервис?</a:t>
            </a:r>
          </a:p>
          <a:p>
            <a:pPr indent="354013">
              <a:defRPr sz="36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3239</Words>
  <Application>Microsoft Office PowerPoint</Application>
  <PresentationFormat>Широкоэкранный</PresentationFormat>
  <Paragraphs>283</Paragraphs>
  <Slides>59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2026-07-17T11:35:10Z</dcterms:modified>
  <cp:category/>
</cp:coreProperties>
</file>