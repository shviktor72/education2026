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9560" y="2536722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Лекция</a:t>
            </a:r>
            <a:r>
              <a:rPr dirty="0"/>
              <a:t> 6. LDAP-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предприятия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1C2097-6A65-9194-6B7E-80596FFAE461}"/>
              </a:ext>
            </a:extLst>
          </p:cNvPr>
          <p:cNvSpPr txBox="1"/>
          <p:nvPr/>
        </p:nvSpPr>
        <p:spPr>
          <a:xfrm>
            <a:off x="777240" y="569287"/>
            <a:ext cx="10972800" cy="196743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sz="3200" b="1" dirty="0">
                <a:solidFill>
                  <a:srgbClr val="143764"/>
                </a:solidFill>
              </a:rPr>
              <a:t>РО 1.4. </a:t>
            </a:r>
            <a:r>
              <a:rPr sz="3200" b="1" dirty="0" err="1">
                <a:solidFill>
                  <a:srgbClr val="143764"/>
                </a:solidFill>
              </a:rPr>
              <a:t>Основные</a:t>
            </a:r>
            <a:r>
              <a:rPr sz="3200" b="1" dirty="0">
                <a:solidFill>
                  <a:srgbClr val="143764"/>
                </a:solidFill>
              </a:rPr>
              <a:t> </a:t>
            </a:r>
            <a:r>
              <a:rPr sz="3200" b="1" dirty="0" err="1">
                <a:solidFill>
                  <a:srgbClr val="143764"/>
                </a:solidFill>
              </a:rPr>
              <a:t>сервисы</a:t>
            </a:r>
            <a:r>
              <a:rPr sz="3200" b="1" dirty="0">
                <a:solidFill>
                  <a:srgbClr val="143764"/>
                </a:solidFill>
              </a:rPr>
              <a:t> Linux </a:t>
            </a:r>
            <a:r>
              <a:rPr sz="3200" b="1" dirty="0" err="1">
                <a:solidFill>
                  <a:srgbClr val="143764"/>
                </a:solidFill>
              </a:rPr>
              <a:t>для</a:t>
            </a:r>
            <a:r>
              <a:rPr sz="3200" b="1" dirty="0">
                <a:solidFill>
                  <a:srgbClr val="143764"/>
                </a:solidFill>
              </a:rPr>
              <a:t> </a:t>
            </a:r>
            <a:r>
              <a:rPr sz="3200" b="1" dirty="0" err="1">
                <a:solidFill>
                  <a:srgbClr val="143764"/>
                </a:solidFill>
              </a:rPr>
              <a:t>предприятия</a:t>
            </a:r>
            <a:endParaRPr sz="3200" b="1" dirty="0">
              <a:solidFill>
                <a:srgbClr val="14376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Понять, зачем предприятию нужна централизованная служба каталогов</a:t>
            </a:r>
          </a:p>
          <a:p>
            <a:pPr>
              <a:defRPr sz="3600"/>
            </a:pPr>
            <a:r>
              <a:t>Объяснять LDAP-модель через DIT, DN, RDN, DC, OU, CN, UID, objectClass и атрибуты</a:t>
            </a:r>
          </a:p>
          <a:p>
            <a:pPr>
              <a:defRPr sz="3600"/>
            </a:pPr>
            <a:r>
              <a:t>Различать поиск записи, bind-аутентификацию и авторизацию пользователя</a:t>
            </a:r>
          </a:p>
          <a:p>
            <a:pPr>
              <a:defRPr sz="3600"/>
            </a:pPr>
            <a:r>
              <a:t>Читать базовые LDIF-записи пользователей и групп</a:t>
            </a:r>
          </a:p>
          <a:p>
            <a:pPr>
              <a:defRPr sz="3600"/>
            </a:pPr>
            <a:r>
              <a:t>Определять роль OpenLDAP, SSSD, NSS и PAM в Linux-инфраструктуре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Проблема управления учетными записями на предприятии</a:t>
            </a:r>
          </a:p>
          <a:p>
            <a:pPr>
              <a:defRPr sz="3600"/>
            </a:pPr>
            <a:r>
              <a:t>2. Что такое LDAP? Базовые понятия и отличие от СУБД</a:t>
            </a:r>
          </a:p>
          <a:p>
            <a:pPr>
              <a:defRPr sz="3600"/>
            </a:pPr>
            <a:r>
              <a:t>3. Информационная модель LDAP: дерево каталога DIT</a:t>
            </a:r>
          </a:p>
          <a:p>
            <a:pPr>
              <a:defRPr sz="3600"/>
            </a:pPr>
            <a:r>
              <a:t>4. Процесс аутентификации в LDAP: LDAP Bind</a:t>
            </a:r>
          </a:p>
          <a:p>
            <a:pPr>
              <a:defRPr sz="3600"/>
            </a:pPr>
            <a:r>
              <a:t>5. Архитектура и установка OpenLDAP в Linux</a:t>
            </a:r>
          </a:p>
          <a:p>
            <a:pPr>
              <a:defRPr sz="3600"/>
            </a:pPr>
            <a:r>
              <a:t>6. Формат LDIF и управление данными</a:t>
            </a:r>
          </a:p>
          <a:p>
            <a:pPr>
              <a:defRPr sz="3600"/>
            </a:pPr>
            <a:r>
              <a:t>7. Интеграция Linux-клиентов с LDAP-каталогом</a:t>
            </a:r>
          </a:p>
          <a:p>
            <a:pPr>
              <a:defRPr sz="3600"/>
            </a:pPr>
            <a:r>
              <a:t>8. Диагностика, аудит и типовые ошибки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организации используется учебный домен company.test и LDAP-база dc=company,dc=test</a:t>
            </a:r>
          </a:p>
          <a:p>
            <a:pPr>
              <a:defRPr sz="3600"/>
            </a:pPr>
            <a:r>
              <a:t>Сервер ldap01.company.test имеет адрес 192.168.10.60 и обслуживает каталог OpenLDAP</a:t>
            </a:r>
          </a:p>
          <a:p>
            <a:pPr>
              <a:defRPr sz="3600"/>
            </a:pPr>
            <a:r>
              <a:t>Клиент client01.company.test должен находить пользователей LDAP и выполнять вход через SSSD</a:t>
            </a:r>
          </a:p>
          <a:p>
            <a:pPr>
              <a:defRPr sz="3600"/>
            </a:pPr>
            <a:r>
              <a:t>В каталоге будут OU users и groups, пользователь uid=i.ivanov и группа cn=admins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Проблема управления учетными записями на предприятии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одном Linux-сервере пользователей можно хранить локально в /etc/passwd и /etc/shadow</a:t>
            </a:r>
          </a:p>
          <a:p>
            <a:pPr>
              <a:defRPr sz="3600"/>
            </a:pPr>
            <a:r>
              <a:t>В сети из 100+ серверов ручное создание одинаковых учетных записей приводит к ошибкам и расхождениям</a:t>
            </a:r>
          </a:p>
          <a:p>
            <a:pPr>
              <a:defRPr sz="3600"/>
            </a:pPr>
            <a:r>
              <a:t>Увольнение сотрудника становится опасной процедурой, если его учетная запись остается на части серверов</a:t>
            </a:r>
          </a:p>
          <a:p>
            <a:pPr>
              <a:defRPr sz="3600"/>
            </a:pPr>
            <a:r>
              <a:t>Администратору нужен единый источник данных о пользователях, группах и служебных учетных записях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Локальная база пользователей и ее ограничения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/etc/passwd хранит основные сведения о локальных пользователях: логин, UID, GID, home и shell</a:t>
            </a:r>
          </a:p>
          <a:p>
            <a:pPr>
              <a:defRPr sz="3600"/>
            </a:pPr>
            <a:r>
              <a:t>/etc/shadow хранит хэши паролей локальных пользователей и параметры их срока действия</a:t>
            </a:r>
          </a:p>
          <a:p>
            <a:pPr>
              <a:defRPr sz="3600"/>
            </a:pPr>
            <a:r>
              <a:t>Эти файлы относятся к конкретному серверу и не синхронизируются автоматически с другими узлами</a:t>
            </a:r>
          </a:p>
          <a:p>
            <a:pPr>
              <a:defRPr sz="3600"/>
            </a:pPr>
            <a:r>
              <a:t>Копирование локальных файлов между серверами опасно: можно повредить UID, пароли и системные учетные записи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Служба каталогов и единый источник правды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Directory Service, служба каталогов, хранит структурированные записи об объектах инфраструктуры</a:t>
            </a:r>
          </a:p>
          <a:p>
            <a:pPr>
              <a:defRPr sz="3600"/>
            </a:pPr>
            <a:r>
              <a:t>Single Source of Truth, единый источник правды, означает, что учетные данные редактируются в одном месте</a:t>
            </a:r>
          </a:p>
          <a:p>
            <a:pPr>
              <a:defRPr sz="3600"/>
            </a:pPr>
            <a:r>
              <a:t>Authentication, аутентификация, проверяет личность пользователя по паролю, ключу или другому фактору</a:t>
            </a:r>
          </a:p>
          <a:p>
            <a:pPr>
              <a:defRPr sz="3600"/>
            </a:pPr>
            <a:r>
              <a:t>Authorization, авторизация, определяет, какие действия разрешены уже проверенному пользователю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централизованное</a:t>
            </a:r>
            <a:r>
              <a:rPr dirty="0"/>
              <a:t>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учетными</a:t>
            </a:r>
            <a:r>
              <a:rPr dirty="0"/>
              <a:t> </a:t>
            </a:r>
            <a:r>
              <a:rPr dirty="0" err="1"/>
              <a:t>записями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85E506-22A9-33DD-2CAC-1B0E45FC4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Что такое LDAP? Базовые понятия и отличие от СУБД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LDAP (Lightweight Directory Access Protocol) — облегченный протокол доступа к службам каталогов</a:t>
            </a:r>
          </a:p>
          <a:p>
            <a:pPr>
              <a:defRPr sz="3600"/>
            </a:pPr>
            <a:r>
              <a:t>LDAP описывает операции поиска, чтения, добавления, изменения и удаления записей в каталоге</a:t>
            </a:r>
          </a:p>
          <a:p>
            <a:pPr>
              <a:defRPr sz="3600"/>
            </a:pPr>
            <a:r>
              <a:t>LDAP-каталог обычно оптимизирован под частое чтение и сравнительно редкое изменение записей</a:t>
            </a:r>
          </a:p>
          <a:p>
            <a:pPr>
              <a:defRPr sz="3600"/>
            </a:pPr>
            <a:r>
              <a:t>Для учетных записей это удобно: службы чаще проверяют пользователей, чем массово изменяют структуру каталога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LDAP не заменяют обычной СУБД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СУБД, система управления базами данных, например PostgreSQL или MySQL, хорошо подходит для сложных таблиц и транзакций</a:t>
            </a:r>
          </a:p>
          <a:p>
            <a:pPr>
              <a:defRPr sz="3600"/>
            </a:pPr>
            <a:r>
              <a:t>LDAP лучше подходит для иерархического справочника: пользователи, группы, подразделения и атрибуты</a:t>
            </a:r>
          </a:p>
          <a:p>
            <a:pPr>
              <a:defRPr sz="3600"/>
            </a:pPr>
            <a:r>
              <a:t>В LDAP запись имеет набор атрибутов, а не строку в связанной таблице с множеством JOIN-запросов</a:t>
            </a:r>
          </a:p>
          <a:p>
            <a:pPr>
              <a:defRPr sz="3600"/>
            </a:pPr>
            <a:r>
              <a:t>Каталог проектируют так, чтобы клиент быстро находил запись по DN, логину, группе или другому атрибуту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Порты и операции LDAP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Обычный LDAP использует TCP-порт 389; TCP обеспечивает надежную доставку запросов и ответов</a:t>
            </a:r>
          </a:p>
          <a:p>
            <a:pPr>
              <a:defRPr sz="3600"/>
            </a:pPr>
            <a:r>
              <a:t>LDAPS (LDAP over TLS) — LDAP поверх TLS-шифрования, обычно использует TCP-порт 636</a:t>
            </a:r>
          </a:p>
          <a:p>
            <a:pPr>
              <a:defRPr sz="3600"/>
            </a:pPr>
            <a:r>
              <a:t>Search ищет записи по базе и фильтру, например пользователя с uid=i.ivanov</a:t>
            </a:r>
          </a:p>
          <a:p>
            <a:pPr>
              <a:defRPr sz="3600"/>
            </a:pPr>
            <a:r>
              <a:t>Bind подключает клиента к каталогу от имени конкретной записи и проверяет учетные данные</a:t>
            </a:r>
          </a:p>
          <a:p>
            <a:pPr>
              <a:defRPr sz="3600"/>
            </a:pPr>
            <a:r>
              <a:t>Add, Modify и Delete изменяют данные каталога и требуют прав администратора или делегированных прав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Информационная модель LDAP: дерево каталога 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DIT (Directory Information Tree) — дерево информации каталога LDAP</a:t>
            </a:r>
          </a:p>
          <a:p>
            <a:pPr>
              <a:defRPr sz="3600"/>
            </a:pPr>
            <a:r>
              <a:t>DIT строится иерархически: сверху находится база каталога, ниже контейнеры и конкретные записи</a:t>
            </a:r>
          </a:p>
          <a:p>
            <a:pPr>
              <a:defRPr sz="3600"/>
            </a:pPr>
            <a:r>
              <a:t>Для учебной организации база каталога соответствует домену company.test: dc=company,dc=test</a:t>
            </a:r>
          </a:p>
          <a:p>
            <a:pPr>
              <a:defRPr sz="3600"/>
            </a:pPr>
            <a:r>
              <a:t>Иерархия помогает ограничивать поиск нужной веткой и логически разделять пользователей, группы и службы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DC, OU, CN и UID в дереве LDAP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DC (Domain Component) — компонент доменного имени: company.test записывается как dc=company,dc=test</a:t>
            </a:r>
          </a:p>
          <a:p>
            <a:pPr>
              <a:defRPr sz="3600"/>
            </a:pPr>
            <a:r>
              <a:t>OU (Organizational Unit) — организационная единица или контейнер, например ou=users и ou=groups</a:t>
            </a:r>
          </a:p>
          <a:p>
            <a:pPr>
              <a:defRPr sz="3600"/>
            </a:pPr>
            <a:r>
              <a:t>CN (Common Name) — общее имя объекта, часто применяется для групп, ролей и административных записей</a:t>
            </a:r>
          </a:p>
          <a:p>
            <a:pPr>
              <a:defRPr sz="3600"/>
            </a:pPr>
            <a:r>
              <a:t>UID (User ID) — идентификатор пользователя, который обычно соответствует логину Linux-пользователя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DN и RDN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DN (Distinguished Name) — уникальный полный путь к объекту в LDAP-дереве</a:t>
            </a:r>
          </a:p>
          <a:p>
            <a:pPr>
              <a:defRPr sz="3600"/>
            </a:pPr>
            <a:r>
              <a:t>RDN (Relative Distinguished Name) — относительное имя объекта на текущем уровне дерева</a:t>
            </a:r>
          </a:p>
          <a:p>
            <a:pPr>
              <a:defRPr sz="3600"/>
            </a:pPr>
            <a:r>
              <a:t>В DN uid=i.ivanov,ou=users,dc=company,dc=test часть uid=i.ivanov является RDN пользователя</a:t>
            </a:r>
          </a:p>
          <a:p>
            <a:pPr>
              <a:defRPr sz="3600"/>
            </a:pPr>
            <a:r>
              <a:t>Полный DN похож на абсолютный путь к файлу: он показывает не только имя, но и место объекта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читать DN пользователя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uid=i.ivanov указывает конкретную запись пользователя</a:t>
            </a:r>
          </a:p>
          <a:p>
            <a:pPr>
              <a:defRPr sz="3600"/>
            </a:pPr>
            <a:r>
              <a:t>ou=users показывает, что пользователь расположен в контейнере пользователей</a:t>
            </a:r>
          </a:p>
          <a:p>
            <a:pPr>
              <a:defRPr sz="3600"/>
            </a:pPr>
            <a:r>
              <a:t>dc=company,dc=test показывает базу каталога, связанную с доменом company.test</a:t>
            </a:r>
          </a:p>
          <a:p>
            <a:pPr>
              <a:defRPr sz="3600"/>
            </a:pPr>
            <a:r>
              <a:t>Если в команде ошибиться хотя бы в одной части DN, LDAP может вернуть No such object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Схемы данных, objectClass и атрибуты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Schema, схема данных, описывает допустимые классы объектов и атрибуты LDAP-записей</a:t>
            </a:r>
          </a:p>
          <a:p>
            <a:pPr>
              <a:defRPr sz="3600"/>
            </a:pPr>
            <a:r>
              <a:t>ObjectClass, класс объекта, определяет, какие атрибуты запись должна или может содержать</a:t>
            </a:r>
          </a:p>
          <a:p>
            <a:pPr>
              <a:defRPr sz="3600"/>
            </a:pPr>
            <a:r>
              <a:t>Attribute, атрибут, хранит конкретное свойство записи: uid, cn, sn, mail, uidNumber или loginShell</a:t>
            </a:r>
          </a:p>
          <a:p>
            <a:pPr>
              <a:defRPr sz="3600"/>
            </a:pPr>
            <a:r>
              <a:t>Одна запись может иметь несколько objectClass, если ей нужны разные наборы атрибутов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ObjectClass для пользователя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inetOrgPerson описывает человека и добавляет атрибуты cn, sn, givenName и mail</a:t>
            </a:r>
          </a:p>
          <a:p>
            <a:pPr>
              <a:defRPr sz="3600"/>
            </a:pPr>
            <a:r>
              <a:t>posixAccount делает запись пригодной для Linux-входа через UID, GID, homeDirectory и loginShell</a:t>
            </a:r>
          </a:p>
          <a:p>
            <a:pPr>
              <a:defRPr sz="3600"/>
            </a:pPr>
            <a:r>
              <a:t>shadowAccount добавляет атрибуты, связанные со сроком действия пароля и учетной записи</a:t>
            </a:r>
          </a:p>
          <a:p>
            <a:pPr>
              <a:defRPr sz="3600"/>
            </a:pPr>
            <a:r>
              <a:t>Без posixAccount Linux-клиент может найти человека в каталоге, но не сможет использовать его как системного пользователя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DIT, DN, RDN и </a:t>
            </a:r>
            <a:r>
              <a:rPr dirty="0" err="1"/>
              <a:t>атрибуты</a:t>
            </a:r>
            <a:r>
              <a:rPr dirty="0"/>
              <a:t> </a:t>
            </a:r>
            <a:r>
              <a:rPr dirty="0" err="1"/>
              <a:t>пользователя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CD39C4-1E42-BAA1-1602-6DA296782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Процесс аутентификации в LDAP: LDAP Bind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LDAP Bind — операция подключения к каталогу от имени конкретной записи</a:t>
            </a:r>
          </a:p>
          <a:p>
            <a:pPr>
              <a:defRPr sz="3600"/>
            </a:pPr>
            <a:r>
              <a:t>Bind нужен, чтобы сервер понял, кто обращается к каталогу и какие права у этого клиента</a:t>
            </a:r>
          </a:p>
          <a:p>
            <a:pPr>
              <a:defRPr sz="3600"/>
            </a:pPr>
            <a:r>
              <a:t>Для проверки пароля пользователь или приложение выполняет bind с DN и паролем</a:t>
            </a:r>
          </a:p>
          <a:p>
            <a:pPr>
              <a:defRPr sz="3600"/>
            </a:pPr>
            <a:r>
              <a:t>Успешный bind подтверждает учетные данные, но не решает автоматически вопрос прав доступа к файлам или сервисам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Виды bind-аутентификации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Anonymous Bind — анонимное подключение без имени и пароля; в рабочих системах его часто ограничивают</a:t>
            </a:r>
          </a:p>
          <a:p>
            <a:pPr>
              <a:defRPr sz="3600"/>
            </a:pPr>
            <a:r>
              <a:t>Simple Bind — проверка по DN и паролю, безопасная только при использовании TLS-шифрования</a:t>
            </a:r>
          </a:p>
          <a:p>
            <a:pPr>
              <a:defRPr sz="3600"/>
            </a:pPr>
            <a:r>
              <a:t>SASL (Simple Authentication and Security Layer) — слой механизмов аутентификации, например через Kerberos</a:t>
            </a:r>
          </a:p>
          <a:p>
            <a:pPr>
              <a:defRPr sz="3600"/>
            </a:pPr>
            <a:r>
              <a:t>Kerberos — протокол сетевой аутентификации по билетам; его подробная настройка выходит за рамки этой лекции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Сценарий двойного запроса Search + Bind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Пользователь обычно вводит короткий логин i.ivanov, а LDAP bind требует полный DN</a:t>
            </a:r>
          </a:p>
          <a:p>
            <a:pPr>
              <a:defRPr sz="3600"/>
            </a:pPr>
            <a:r>
              <a:t>Приложение сначала выполняет Search и ищет запись с фильтром (uid=i.ivanov)</a:t>
            </a:r>
          </a:p>
          <a:p>
            <a:pPr>
              <a:defRPr sz="3600"/>
            </a:pPr>
            <a:r>
              <a:t>После нахождения DN приложение выполняет Bind от имени uid=i.ivanov,ou=users,dc=company,dc=test</a:t>
            </a:r>
          </a:p>
          <a:p>
            <a:pPr>
              <a:defRPr sz="3600"/>
            </a:pPr>
            <a:r>
              <a:t>Если пароль верен, приложение считает пользователя аутентифицированным и переходит к проверке прав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bind через ldapwhoami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ldapwhoami показывает, кем LDAP-сервер считает подключившегося клиента</a:t>
            </a:r>
          </a:p>
          <a:p>
            <a:pPr>
              <a:defRPr sz="3600"/>
            </a:pPr>
            <a:r>
              <a:t>Пример: ldapwhoami -x -H ldap://127.0.0.1 -D uid=i.ivanov,ou=users,dc=company,dc=test -W</a:t>
            </a:r>
          </a:p>
          <a:p>
            <a:pPr>
              <a:defRPr sz="3600"/>
            </a:pPr>
            <a:r>
              <a:t>Параметр -D задает DN пользователя, а -W запрашивает пароль интерактивно</a:t>
            </a:r>
          </a:p>
          <a:p>
            <a:pPr>
              <a:defRPr sz="3600"/>
            </a:pPr>
            <a:r>
              <a:t>Успешный результат выглядит как dn:uid=i.ivanov,ou=users,dc=company,dc=test</a:t>
            </a:r>
          </a:p>
          <a:p>
            <a:pPr>
              <a:defRPr sz="3600"/>
            </a:pPr>
            <a:r>
              <a:t>Ошибка Invalid credentials (49) обычно означает неверный DN или пароль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поиск</a:t>
            </a:r>
            <a:r>
              <a:rPr dirty="0"/>
              <a:t> DN и bind-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пароля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3B51443-BCCC-DB03-9CF0-873BACF0F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Архитектура и установка OpenLDAP в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OpenLDAP — открытая реализация LDAP-сервера и набора клиентских утилит</a:t>
            </a:r>
          </a:p>
          <a:p>
            <a:pPr>
              <a:defRPr sz="3600"/>
            </a:pPr>
            <a:r>
              <a:t>slapd (Standalone LDAP Daemon) — серверный демон OpenLDAP, который обслуживает LDAP-запросы</a:t>
            </a:r>
          </a:p>
          <a:p>
            <a:pPr>
              <a:defRPr sz="3600"/>
            </a:pPr>
            <a:r>
              <a:t>В учебном стенде slapd работает на сервере ldap01.company.test</a:t>
            </a:r>
          </a:p>
          <a:p>
            <a:pPr>
              <a:defRPr sz="3600"/>
            </a:pPr>
            <a:r>
              <a:t>Клиенты обращаются к серверу по адресу ldap://192.168.10.60 или имени ldap01.company.test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Установка OpenLDAP и утилит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sudo apt update обновляет локальный список пакетов перед установкой</a:t>
            </a:r>
          </a:p>
          <a:p>
            <a:pPr>
              <a:defRPr sz="3600"/>
            </a:pPr>
            <a:r>
              <a:t>sudo apt install slapd ldap-utils -y устанавливает сервер OpenLDAP и консольные LDAP-утилиты</a:t>
            </a:r>
          </a:p>
          <a:p>
            <a:pPr>
              <a:defRPr sz="3600"/>
            </a:pPr>
            <a:r>
              <a:t>ldap-utils добавляет ldapsearch, ldapadd, ldapmodify, ldapdelete и ldapwhoami</a:t>
            </a:r>
          </a:p>
          <a:p>
            <a:pPr>
              <a:defRPr sz="3600"/>
            </a:pPr>
            <a:r>
              <a:t>После установки нужно проверить службу и выполнить первичную настройку базы каталога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RTC и cn=config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RTC (Real Time Configuration) — современная модель настройки OpenLDAP через дерево cn=config</a:t>
            </a:r>
          </a:p>
          <a:p>
            <a:pPr>
              <a:defRPr sz="3600"/>
            </a:pPr>
            <a:r>
              <a:t>cn=config хранит конфигурацию как LDAP-записи, а не как один старый плоский файл slapd.conf</a:t>
            </a:r>
          </a:p>
          <a:p>
            <a:pPr>
              <a:defRPr sz="3600"/>
            </a:pPr>
            <a:r>
              <a:t>Изменения в cn=config можно применять через LDAP-операции без полного перезапуска службы</a:t>
            </a:r>
          </a:p>
          <a:p>
            <a:pPr>
              <a:defRPr sz="3600"/>
            </a:pPr>
            <a:r>
              <a:t>Для начинающего администратора важно понимать: данные каталога и конфигурация slapd являются разными деревьями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службы slapd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systemctl status slapd показывает, запущена ли служба OpenLDAP</a:t>
            </a:r>
          </a:p>
          <a:p>
            <a:pPr>
              <a:defRPr sz="3600"/>
            </a:pPr>
            <a:r>
              <a:t>sudo ss -tulpen | grep ':389' проверяет, слушает ли сервер TCP-порт 389</a:t>
            </a:r>
          </a:p>
          <a:p>
            <a:pPr>
              <a:defRPr sz="3600"/>
            </a:pPr>
            <a:r>
              <a:t>journalctl -u slapd -n 50 --no-pager показывает последние сообщения службы</a:t>
            </a:r>
          </a:p>
          <a:p>
            <a:pPr>
              <a:defRPr sz="3600"/>
            </a:pPr>
            <a:r>
              <a:t>Если slapd не слушает порт 389, клиентские LDAP-запросы не смогут получить ответ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Формат LDIF и управление данными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LDIF (LDAP Data Interchange Format) — текстовый формат импорта, экспорта и изменения LDAP-записей</a:t>
            </a:r>
          </a:p>
          <a:p>
            <a:pPr>
              <a:defRPr sz="3600"/>
            </a:pPr>
            <a:r>
              <a:t>LDIF-файл описывает DN записи, классы objectClass и набор атрибутов</a:t>
            </a:r>
          </a:p>
          <a:p>
            <a:pPr>
              <a:defRPr sz="3600"/>
            </a:pPr>
            <a:r>
              <a:t>Пустая строка отделяет одну запись от другой</a:t>
            </a:r>
          </a:p>
          <a:p>
            <a:pPr>
              <a:defRPr sz="3600"/>
            </a:pPr>
            <a:r>
              <a:t>LDIF удобно хранить в репозитории учебного стенда и повторно применять на сервере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Фрагмент LDIF пользователя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dn: uid=i.ivanov,ou=users,dc=company,dc=test задает полный путь к пользователю</a:t>
            </a:r>
          </a:p>
          <a:p>
            <a:pPr>
              <a:defRPr sz="3600"/>
            </a:pPr>
            <a:r>
              <a:t>objectClass: inetOrgPerson добавляет атрибуты человека: cn, sn, givenName и mail</a:t>
            </a:r>
          </a:p>
          <a:p>
            <a:pPr>
              <a:defRPr sz="3600"/>
            </a:pPr>
            <a:r>
              <a:t>objectClass: posixAccount добавляет Linux-атрибуты uidNumber, gidNumber, homeDirectory и loginShell</a:t>
            </a:r>
          </a:p>
          <a:p>
            <a:pPr>
              <a:defRPr sz="3600"/>
            </a:pPr>
            <a:r>
              <a:t>userPassword: {SSHA}... хранит хэш пароля, а не открытый текст пароля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Пароль пользователя и slappasswd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slappasswd создает хэш пароля, который можно вставить в атрибут userPassword</a:t>
            </a:r>
          </a:p>
          <a:p>
            <a:pPr>
              <a:defRPr sz="3600"/>
            </a:pPr>
            <a:r>
              <a:t>Пример: slappasswd запускает интерактивный ввод пароля и возвращает строку вида {SSHA}...</a:t>
            </a:r>
          </a:p>
          <a:p>
            <a:pPr>
              <a:defRPr sz="3600"/>
            </a:pPr>
            <a:r>
              <a:t>SSHA (Salted SHA) — хэш с солью, который не хранит исходный пароль в открытом виде</a:t>
            </a:r>
          </a:p>
          <a:p>
            <a:pPr>
              <a:defRPr sz="3600"/>
            </a:pPr>
            <a:r>
              <a:t>В учебных LDIF-файлах вместо реального хэша можно временно писать {SSHA}PASTE_HASH_HERE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Добавление и изменение записей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ldapadd добавляет новые записи из LDIF-файла в каталог</a:t>
            </a:r>
          </a:p>
          <a:p>
            <a:pPr>
              <a:defRPr sz="3600"/>
            </a:pPr>
            <a:r>
              <a:t>Пример: ldapadd -x -D cn=admin,dc=company,dc=test -W -f users.ldif</a:t>
            </a:r>
          </a:p>
          <a:p>
            <a:pPr>
              <a:defRPr sz="3600"/>
            </a:pPr>
            <a:r>
              <a:t>ldapmodify изменяет существующие записи через LDIF с операциями add, replace или delete</a:t>
            </a:r>
          </a:p>
          <a:p>
            <a:pPr>
              <a:defRPr sz="3600"/>
            </a:pPr>
            <a:r>
              <a:t>Пример: ldapmodify -x -D cn=admin,dc=company,dc=test -W -f change-mail.ldif</a:t>
            </a:r>
          </a:p>
          <a:p>
            <a:pPr>
              <a:defRPr sz="3600"/>
            </a:pPr>
            <a:r>
              <a:t>Если запись уже существует, ldapadd вернет ошибку Already exists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Поиск данных через ldapsearch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ldapsearch извлекает записи из каталога и помогает проверить, видит ли сервер нужные данные</a:t>
            </a:r>
          </a:p>
          <a:p>
            <a:pPr>
              <a:defRPr sz="3600"/>
            </a:pPr>
            <a:r>
              <a:t>Пример: ldapsearch -x -LLL -b dc=company,dc=test '(uid=i.ivanov)' dn cn mail</a:t>
            </a:r>
          </a:p>
          <a:p>
            <a:pPr>
              <a:defRPr sz="3600"/>
            </a:pPr>
            <a:r>
              <a:t>Параметр -b задает base DN, фильтр (uid=i.ivanov) ограничивает результат одной учетной записью</a:t>
            </a:r>
          </a:p>
          <a:p>
            <a:pPr>
              <a:defRPr sz="3600"/>
            </a:pPr>
            <a:r>
              <a:t>Атрибуты dn cn mail в конце команды уменьшают вывод и оставляют только нужные поля</a:t>
            </a:r>
          </a:p>
          <a:p>
            <a:pPr>
              <a:defRPr sz="3600"/>
            </a:pPr>
            <a:r>
              <a:t>Если вывод пустой, сначала проверяют base DN, фильтр и наличие записи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жизненный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 в LDAP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ECD729A-BB36-1DCD-B430-FD7B5E461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Интеграция Linux-клиентов с LDAP-каталогом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Linux-клиент должен не только проверить пароль, но и понять, кто такой пользователь для системы</a:t>
            </a:r>
          </a:p>
          <a:p>
            <a:pPr>
              <a:defRPr sz="3600"/>
            </a:pPr>
            <a:r>
              <a:t>Для входа нужны UID, GID, домашний каталог, shell и группы пользователя</a:t>
            </a:r>
          </a:p>
          <a:p>
            <a:pPr>
              <a:defRPr sz="3600"/>
            </a:pPr>
            <a:r>
              <a:t>LDAP хранит эти данные, а Linux должен научиться получать их из каталога</a:t>
            </a:r>
          </a:p>
          <a:p>
            <a:pPr>
              <a:defRPr sz="3600"/>
            </a:pPr>
            <a:r>
              <a:t>Современный стек интеграции обычно строится на SSSD, NSS и PAM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NSS: где Linux ищет пользователей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NSS (Name Service Switch) — механизм выбора источников системной информации в Linux</a:t>
            </a:r>
          </a:p>
          <a:p>
            <a:pPr>
              <a:defRPr sz="3600"/>
            </a:pPr>
            <a:r>
              <a:t>/etc/nsswitch.conf определяет, где искать passwd, group, hosts и другие базы</a:t>
            </a:r>
          </a:p>
          <a:p>
            <a:pPr>
              <a:defRPr sz="3600"/>
            </a:pPr>
            <a:r>
              <a:t>Для LDAP-входа строка passwd может использовать источники files и sss</a:t>
            </a:r>
          </a:p>
          <a:p>
            <a:pPr>
              <a:defRPr sz="3600"/>
            </a:pPr>
            <a:r>
              <a:t>Источник files означает локальные файлы, а sss означает обращение к SSSD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PAM: как Linux проверяет пароль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PAM (Pluggable Authentication Modules) — модульная система аутентификации Linux</a:t>
            </a:r>
          </a:p>
          <a:p>
            <a:pPr>
              <a:defRPr sz="3600"/>
            </a:pPr>
            <a:r>
              <a:t>PAM подключается к login, sshd, sudo и другим программам входа</a:t>
            </a:r>
          </a:p>
          <a:p>
            <a:pPr>
              <a:defRPr sz="3600"/>
            </a:pPr>
            <a:r>
              <a:t>Через PAM система проверяет пароль, применяет ограничения и открывает пользовательскую сессию</a:t>
            </a:r>
          </a:p>
          <a:p>
            <a:pPr>
              <a:defRPr sz="3600"/>
            </a:pPr>
            <a:r>
              <a:t>При интеграции с LDAP PAM обычно обращается не напрямую к LDAP, а к SSSD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SSSD как посредник между Linux и LDAP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SSSD (System Security Services Daemon) — служба, которая подключает Linux-клиента к внешним каталогам</a:t>
            </a:r>
          </a:p>
          <a:p>
            <a:pPr>
              <a:defRPr sz="3600"/>
            </a:pPr>
            <a:r>
              <a:t>SSSD общается с LDAP, кэширует пользователей и группы, а также передает данные NSS и PAM</a:t>
            </a:r>
          </a:p>
          <a:p>
            <a:pPr>
              <a:defRPr sz="3600"/>
            </a:pPr>
            <a:r>
              <a:t>Кэш SSSD помогает входить пользователю, если каталог временно недоступен и политика это разрешает</a:t>
            </a:r>
          </a:p>
          <a:p>
            <a:pPr>
              <a:defRPr sz="3600"/>
            </a:pPr>
            <a:r>
              <a:t>/etc/sssd/sssd.conf хранит адрес LDAP-сервера, search base и параметры безопасности клиента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вход</a:t>
            </a:r>
            <a:r>
              <a:rPr dirty="0"/>
              <a:t> Linux-</a:t>
            </a:r>
            <a:r>
              <a:rPr dirty="0" err="1"/>
              <a:t>пользователя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SSSD, NSS и PAM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8F79F75-CCFD-A808-2E2B-0C4D121D1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8. Диагностика, аудит и типовые ошибки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Диагностика LDAP начинается с разделения проблем сервера, сети, поиска записи и проверки пароля</a:t>
            </a:r>
          </a:p>
          <a:p>
            <a:pPr>
              <a:defRPr sz="3600"/>
            </a:pPr>
            <a:r>
              <a:t>slapcat выводит содержимое базы OpenLDAP напрямую на сервере и помогает проверить, есть ли запись в базе</a:t>
            </a:r>
          </a:p>
          <a:p>
            <a:pPr>
              <a:defRPr sz="3600"/>
            </a:pPr>
            <a:r>
              <a:t>Пример: slapcat | grep 'uid: i.ivanov' быстро показывает, присутствует ли пользователь в дампе базы</a:t>
            </a:r>
          </a:p>
          <a:p>
            <a:pPr>
              <a:defRPr sz="3600"/>
            </a:pPr>
            <a:r>
              <a:t>ldapsearch проверяет запрос так, как его видит LDAP-клиент через сетевой интерфейс службы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LDAP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Invalid credentials (49) обычно означает неверный пароль или неверный Bind DN</a:t>
            </a:r>
          </a:p>
          <a:p>
            <a:pPr>
              <a:defRPr sz="3600"/>
            </a:pPr>
            <a:r>
              <a:t>No such object чаще всего связан с неправильным base DN или отсутствующей OU</a:t>
            </a:r>
          </a:p>
          <a:p>
            <a:pPr>
              <a:defRPr sz="3600"/>
            </a:pPr>
            <a:r>
              <a:t>Size limit exceeded означает, что запрос вернул больше записей, чем разрешает лимит сервера</a:t>
            </a:r>
          </a:p>
          <a:p>
            <a:pPr>
              <a:defRPr sz="3600"/>
            </a:pPr>
            <a:r>
              <a:t>Конфликт UID/GID приводит к неправильным владельцам файлов или проблемам доступа на Linux-клиенте</a:t>
            </a:r>
          </a:p>
          <a:p>
            <a:pPr>
              <a:defRPr sz="3600"/>
            </a:pPr>
            <a:r>
              <a:t>Ошибки LDAPS часто связаны с тем, что клиент не доверяет корневому CA сервера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LDAP-каталог централизует учетные записи, группы и атрибуты пользователей предприятия</a:t>
            </a:r>
          </a:p>
          <a:p>
            <a:pPr>
              <a:defRPr sz="3600"/>
            </a:pPr>
            <a:r>
              <a:t>DIT, DN и RDN позволяют однозначно расположить запись внутри дерева каталога</a:t>
            </a:r>
          </a:p>
          <a:p>
            <a:pPr>
              <a:defRPr sz="3600"/>
            </a:pPr>
            <a:r>
              <a:t>ObjectClass и атрибуты определяют, какие данные может хранить пользователь или группа</a:t>
            </a:r>
          </a:p>
          <a:p>
            <a:pPr>
              <a:defRPr sz="3600"/>
            </a:pPr>
            <a:r>
              <a:t>Bind проверяет учетные данные, а Search помогает найти DN и нужные атрибуты</a:t>
            </a:r>
          </a:p>
          <a:p>
            <a:pPr>
              <a:defRPr sz="3600"/>
            </a:pPr>
            <a:r>
              <a:t>Интеграция Linux-клиентов с LDAP строится через SSSD, NSS и PAM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локальные учетные записи плохо подходят для сети из большого числа серверов?</a:t>
            </a:r>
          </a:p>
          <a:p>
            <a:pPr>
              <a:defRPr sz="3600"/>
            </a:pPr>
            <a:r>
              <a:t>Чем служба каталогов LDAP отличается от реляционной СУБД?</a:t>
            </a:r>
          </a:p>
          <a:p>
            <a:pPr>
              <a:defRPr sz="3600"/>
            </a:pPr>
            <a:r>
              <a:t>Расшифруйте DN, RDN, OU, CN, DC и приведите пример DN пользователя</a:t>
            </a:r>
          </a:p>
          <a:p>
            <a:pPr>
              <a:defRPr sz="3600"/>
            </a:pPr>
            <a:r>
              <a:t>Зачем пользователю Linux в LDAP нужен objectClass posixAccount?</a:t>
            </a:r>
          </a:p>
          <a:p>
            <a:pPr>
              <a:defRPr sz="3600"/>
            </a:pPr>
            <a:r>
              <a:t>Как работает сценарий Search + Bind при входе пользователя?</a:t>
            </a:r>
          </a:p>
          <a:p>
            <a:pPr>
              <a:defRPr sz="3600"/>
            </a:pPr>
            <a:r>
              <a:t>Для чего используется LDIF и какие команды применяют LDIF-файлы?</a:t>
            </a:r>
          </a:p>
          <a:p>
            <a:pPr>
              <a:defRPr sz="3600"/>
            </a:pPr>
            <a:r>
              <a:t>Какую роль выполняют SSSD, NSS и PAM на Linux-клиенте?</a:t>
            </a:r>
          </a:p>
          <a:p>
            <a:pPr>
              <a:defRPr sz="3600"/>
            </a:pPr>
            <a:r>
              <a:t>Что проверить при ошибке Invalid credentials (49)?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2494</Words>
  <Application>Microsoft Office PowerPoint</Application>
  <PresentationFormat>Широкоэкранный</PresentationFormat>
  <Paragraphs>202</Paragraphs>
  <Slides>42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2026-07-17T10:44:04Z</dcterms:modified>
  <cp:category/>
</cp:coreProperties>
</file>