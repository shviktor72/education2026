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91" r:id="rId6"/>
    <p:sldId id="294" r:id="rId7"/>
    <p:sldId id="295" r:id="rId8"/>
    <p:sldId id="296" r:id="rId9"/>
    <p:sldId id="297" r:id="rId10"/>
    <p:sldId id="298" r:id="rId11"/>
    <p:sldId id="299" r:id="rId12"/>
    <p:sldId id="292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307" r:id="rId21"/>
    <p:sldId id="293" r:id="rId22"/>
    <p:sldId id="308" r:id="rId23"/>
    <p:sldId id="309" r:id="rId24"/>
    <p:sldId id="310" r:id="rId25"/>
    <p:sldId id="311" r:id="rId26"/>
    <p:sldId id="312" r:id="rId27"/>
    <p:sldId id="313" r:id="rId28"/>
    <p:sldId id="314" r:id="rId29"/>
    <p:sldId id="315" r:id="rId30"/>
    <p:sldId id="316" r:id="rId31"/>
    <p:sldId id="289" r:id="rId32"/>
    <p:sldId id="317" r:id="rId33"/>
    <p:sldId id="319" r:id="rId34"/>
    <p:sldId id="320" r:id="rId35"/>
    <p:sldId id="321" r:id="rId36"/>
    <p:sldId id="322" r:id="rId37"/>
    <p:sldId id="323" r:id="rId38"/>
    <p:sldId id="324" r:id="rId39"/>
    <p:sldId id="325" r:id="rId40"/>
    <p:sldId id="288" r:id="rId41"/>
    <p:sldId id="326" r:id="rId42"/>
    <p:sldId id="329" r:id="rId43"/>
    <p:sldId id="330" r:id="rId44"/>
    <p:sldId id="331" r:id="rId45"/>
    <p:sldId id="332" r:id="rId46"/>
    <p:sldId id="333" r:id="rId47"/>
    <p:sldId id="327" r:id="rId48"/>
    <p:sldId id="334" r:id="rId49"/>
    <p:sldId id="328" r:id="rId50"/>
    <p:sldId id="335" r:id="rId51"/>
    <p:sldId id="336" r:id="rId52"/>
    <p:sldId id="337" r:id="rId53"/>
    <p:sldId id="338" r:id="rId54"/>
    <p:sldId id="339" r:id="rId55"/>
    <p:sldId id="340" r:id="rId56"/>
    <p:sldId id="341" r:id="rId57"/>
    <p:sldId id="342" r:id="rId58"/>
    <p:sldId id="343" r:id="rId59"/>
    <p:sldId id="344" r:id="rId60"/>
    <p:sldId id="318" r:id="rId61"/>
    <p:sldId id="345" r:id="rId62"/>
    <p:sldId id="346" r:id="rId63"/>
    <p:sldId id="347" r:id="rId64"/>
    <p:sldId id="350" r:id="rId65"/>
    <p:sldId id="351" r:id="rId66"/>
    <p:sldId id="352" r:id="rId67"/>
    <p:sldId id="353" r:id="rId68"/>
    <p:sldId id="354" r:id="rId69"/>
    <p:sldId id="355" r:id="rId70"/>
    <p:sldId id="348" r:id="rId71"/>
    <p:sldId id="357" r:id="rId72"/>
    <p:sldId id="359" r:id="rId73"/>
    <p:sldId id="358" r:id="rId74"/>
    <p:sldId id="360" r:id="rId75"/>
    <p:sldId id="361" r:id="rId76"/>
    <p:sldId id="362" r:id="rId77"/>
    <p:sldId id="365" r:id="rId78"/>
    <p:sldId id="368" r:id="rId79"/>
    <p:sldId id="366" r:id="rId80"/>
    <p:sldId id="369" r:id="rId81"/>
    <p:sldId id="370" r:id="rId82"/>
    <p:sldId id="371" r:id="rId83"/>
    <p:sldId id="363" r:id="rId84"/>
    <p:sldId id="349" r:id="rId85"/>
    <p:sldId id="364" r:id="rId86"/>
    <p:sldId id="372" r:id="rId87"/>
    <p:sldId id="373" r:id="rId88"/>
    <p:sldId id="374" r:id="rId89"/>
    <p:sldId id="375" r:id="rId90"/>
    <p:sldId id="376" r:id="rId91"/>
    <p:sldId id="377" r:id="rId92"/>
    <p:sldId id="378" r:id="rId93"/>
    <p:sldId id="379" r:id="rId94"/>
    <p:sldId id="380" r:id="rId95"/>
    <p:sldId id="367" r:id="rId96"/>
    <p:sldId id="381" r:id="rId9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9142" y="920299"/>
            <a:ext cx="1084899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 err="1"/>
              <a:t>Лекция</a:t>
            </a:r>
            <a:r>
              <a:rPr dirty="0"/>
              <a:t> 1. </a:t>
            </a:r>
            <a:r>
              <a:rPr lang="ru-RU" dirty="0"/>
              <a:t>Установка и первичная настройка Windows 10/11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Цель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dirty="0" err="1"/>
              <a:t>Понять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Редакции Windows 10/11: Home, Pro, Enterprise и ограничения редакций.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Требования к установке: UEFI, GPT, Secure Boot и TPM.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Чистая установка Windows с ISO-образа.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Локальная и Microsoft </a:t>
            </a:r>
            <a:r>
              <a:rPr lang="ru-RU" dirty="0" err="1"/>
              <a:t>Account</a:t>
            </a:r>
            <a:r>
              <a:rPr lang="ru-RU" dirty="0"/>
              <a:t>, создание административной и обычной учётной записи.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Драйверы устройств и Device Manager.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Настройка имени компьютера, времени, языка, сети и обновлений.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Установка базового программного обеспечения.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Создание контрольной точки или резервной копии учебной ВМ.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Проверка готовности рабочего места.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62451" y="182880"/>
            <a:ext cx="403661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/>
              <a:t>1. </a:t>
            </a:r>
            <a:r>
              <a:rPr lang="ru-RU" sz="3200" b="1" dirty="0"/>
              <a:t>Редакции Windows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57607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Версия и редакция Windows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10 и Windows 11 — версии операционной системы.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Home, Pro и Enterprise — редакции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Версия определяет поколение системы и срок поддержки.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Редакция определяет доступные функции администрирования.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Внешне редакции похожи, но имеют разные возможности.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Выбор зависит от назначения рабочего компьютера.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EDBA3-EE00-DF59-DDA3-34C9115A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944E00-BBAE-A729-0ADC-3ED236298BC3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Windows 10 и Windows 11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11 используется как основная система для новых компьютеров.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Поддержка обычных редакций Windows 10 завершилась 14 октября 2025 года.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10 продолжает работать, но без стандартных обновлений безопасности.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Она может использоваться на старом оборудовании и учебных стендах.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нового рабочего места предпочтительна Windows 11.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Перед установкой проверяют совместимость оборудования.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0144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BE5EC-3D79-CD1C-A911-19BCDE180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BBB4C9-406F-C31C-C615-8F031877DB04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Windows Home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Home предназначена для домашнего использования.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Поддерживает основные программы и пользовательские функции.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Может работать в рабочей группе.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присоединяется к локальному домену Active Directory.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подходит для полноценного централизованного управления.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рабочего места организации Home обычно недостаточно.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2538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1FFE2-47E6-A60B-7593-B4739FA8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1A855E-A742-6F90-4BC7-4A14C0382D71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Windows Pro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Pro предназначена для профессиональных рабочих мест.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Поддерживает присоединение к домену Active Directory.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Позволяет применять доменные и локальные групповые политики.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Поддерживает </a:t>
            </a:r>
            <a:r>
              <a:rPr lang="ru-RU" dirty="0" err="1"/>
              <a:t>BitLocker</a:t>
            </a:r>
            <a:r>
              <a:rPr lang="ru-RU" dirty="0"/>
              <a:t>, Hyper-V и входящие RDP-подключения.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Подходит для рабочих компьютеров организации.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учебного доменного стенда рекомендуется Windows 11 Pro.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76405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AF46-7CA6-72B1-ECAC-BDC3DEDD3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C7ED26-62CA-D4DD-1183-7E462AA7AEB8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Windows Enterprise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Enterprise основана на возможностях редакции Pro.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Предназначена для крупных организаций.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Поддерживает расширенные функции управления и безопасности.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Обычно используется с корпоративными лицензиями.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Требует централизованной инфраструктуры управления.</a:t>
            </a:r>
          </a:p>
        </p:txBody>
      </p:sp>
    </p:spTree>
    <p:extLst>
      <p:ext uri="{BB962C8B-B14F-4D97-AF65-F5344CB8AC3E}">
        <p14:creationId xmlns:p14="http://schemas.microsoft.com/office/powerpoint/2010/main" val="1675371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7228C-12E9-B950-4F1A-BCBA3E044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FE66D3-05AD-9CB9-7BB2-5DAE3C8E7415}"/>
              </a:ext>
            </a:extLst>
          </p:cNvPr>
          <p:cNvSpPr txBox="1"/>
          <p:nvPr/>
        </p:nvSpPr>
        <p:spPr>
          <a:xfrm>
            <a:off x="457199" y="427703"/>
            <a:ext cx="11223523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Выбор редакции Windows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Домашний компьютер — Windows Home.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Рабочее место организации — Windows Pro.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Корпоративный парк устройств — Windows Enterprise.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доменного клиента требуется Pro или Enterprise.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Перед установкой проверяют лицензию и нужные функции.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Выбранную редакцию фиксируют в паспорте компьютера.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6105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C097B-52DF-D7B1-CFDA-1EB2A904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E095E1-AF05-E925-E187-CD77E6A1F57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en-US" dirty="0"/>
              <a:t>Home, Pro и Enterprise: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редакции</a:t>
            </a:r>
            <a:r>
              <a:rPr lang="en-US" dirty="0"/>
              <a:t> Windows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140099-2C9E-7C93-E962-D9EF14433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BD042-07B7-36F2-00F0-5369EC58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4DC448-A9D3-9F97-1E31-996F8B1E190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Проверка установленной редакции:</a:t>
            </a: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Главный вывод:</a:t>
            </a:r>
          </a:p>
          <a:p>
            <a:pPr>
              <a:defRPr sz="3600"/>
            </a:pPr>
            <a:r>
              <a:rPr lang="ru-RU" dirty="0"/>
              <a:t>Для обычного рабочего места организации и учебного доменного стенда используется </a:t>
            </a:r>
            <a:r>
              <a:rPr lang="ru-RU" b="1" dirty="0"/>
              <a:t>Windows 11 Pro</a:t>
            </a:r>
            <a:r>
              <a:rPr lang="ru-RU" dirty="0"/>
              <a:t>.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A7B6A9-4209-AA29-665D-4A3D1C76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8363"/>
            <a:ext cx="11142577" cy="188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94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88EB3-90FF-782C-7845-72B5484D1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CECF1-D5C3-9657-8633-D06D9B9787C8}"/>
              </a:ext>
            </a:extLst>
          </p:cNvPr>
          <p:cNvSpPr txBox="1"/>
          <p:nvPr/>
        </p:nvSpPr>
        <p:spPr>
          <a:xfrm>
            <a:off x="959454" y="182880"/>
            <a:ext cx="1024261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2</a:t>
            </a:r>
            <a:r>
              <a:rPr dirty="0"/>
              <a:t>. </a:t>
            </a:r>
            <a:r>
              <a:rPr lang="ru-RU" dirty="0"/>
              <a:t>Требования к установке: UEFI, GPT, Secure Boot и TPM.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F02511-9A55-37E5-B556-A670B3EBD20B}"/>
              </a:ext>
            </a:extLst>
          </p:cNvPr>
          <p:cNvSpPr txBox="1"/>
          <p:nvPr/>
        </p:nvSpPr>
        <p:spPr>
          <a:xfrm>
            <a:off x="457199" y="914400"/>
            <a:ext cx="11238271" cy="521208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Что проверяют перед установкой?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Совместимость процессора с выбранной версией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Объём оперативной памяти и свободное место на диске.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Режим загрузки: UEFI или Legacy BIOS.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Тип разметки системного диска: GPT или MBR.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Поддержку Secure Boot и TPM.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Наличие драйверов для оборудования.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Для Windows 11 требуется совместимый 64-разрядный процессор, не менее 4 ГБ RAM и накопитель от 64 ГБ.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6688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D74EF-4D68-BC32-84DA-9D3AA5394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E99D42-6B51-C47A-2565-788E3A276763}"/>
              </a:ext>
            </a:extLst>
          </p:cNvPr>
          <p:cNvSpPr txBox="1"/>
          <p:nvPr/>
        </p:nvSpPr>
        <p:spPr>
          <a:xfrm>
            <a:off x="457199" y="427703"/>
            <a:ext cx="11253019" cy="6032091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3600"/>
            </a:pPr>
            <a:r>
              <a:rPr lang="ru-RU" b="1" dirty="0"/>
              <a:t>BIOS и UEFI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BIOS и UEFI запускаются раньше операционной системы.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Они проверяют оборудование и выбирают загрузочное устройство.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Legacy BIOS — устаревший режим совместимости.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UEFI — современный режим загрузки компьютера.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UEFI поддерживает Secure Boot и загрузку с GPT-диска.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Windows 11 требуется UEFI.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Для Windows 11 системная прошивка должна поддерживать UEFI и Secure Boot.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5108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53F4-A40A-C362-A2A4-7BCDCF1AD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12C40B-AB76-CDBD-F25F-FE1767960F03}"/>
              </a:ext>
            </a:extLst>
          </p:cNvPr>
          <p:cNvSpPr txBox="1"/>
          <p:nvPr/>
        </p:nvSpPr>
        <p:spPr>
          <a:xfrm>
            <a:off x="457199" y="427703"/>
            <a:ext cx="11326761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GPT и MBR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MBR — старый способ разметки диска.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GPT — современная таблица разделов.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GPT поддерживает большие диски и больше разделов.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 установке в режиме UEFI системный диск обычно использует GPT.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Legacy BIOS обычно связан с загрузкой с MBR.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новой установки Windows 11 рекомендуется UEFI + GPT.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Важно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UEFI → GPT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Legacy BIOS → MBR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Переключение режима загрузки без подготовки диска может привести к ошибке запуска Windows.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16416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E561-29EB-3770-67F4-97CA3A5AF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4F9FB8-9A39-8CC3-B45F-FFBF26FEC1AB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Secure Boot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Secure Boot — функция безопасности UEFI.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Она проверяет цифровую подпись загрузочных компонентов.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Неподписанный или изменённый загрузчик может быть заблокирован.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Secure Boot помогает защищаться от загрузочных вредоносных программ.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Windows 11 компьютер должен поддерживать Secure Boot.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Настройка выполняется в UEFI компьютера или виртуальной машины.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Secure Boot разрешает запуск доверенных подписанных компонентов на этапе загрузки.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8263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1E8F7-89D0-CDFA-F67C-FFC9F1181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031410-93DF-BCA1-F744-5AA0463D49C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>
              <a:defRPr sz="3600"/>
            </a:pPr>
            <a:r>
              <a:rPr lang="ru-RU" b="1" dirty="0"/>
              <a:t>TPM 2.0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TPM — доверенный платформенный модуль.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Он может быть отдельным чипом или функцией прошивки.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TPM защищает криптографические ключи и данные безопасности.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Используется </a:t>
            </a:r>
            <a:r>
              <a:rPr lang="ru-RU" dirty="0" err="1"/>
              <a:t>BitLocker</a:t>
            </a:r>
            <a:r>
              <a:rPr lang="ru-RU" dirty="0"/>
              <a:t>, Windows Hello и другими функциями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Windows 11 требуется TPM версии 2.0.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виртуальной машине используется виртуальный TPM — </a:t>
            </a:r>
            <a:r>
              <a:rPr lang="ru-RU" dirty="0" err="1"/>
              <a:t>vTPM</a:t>
            </a:r>
            <a:r>
              <a:rPr lang="ru-RU" dirty="0"/>
              <a:t>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Требование TPM 2.0 распространяется и на поддерживаемые установки Windows 11 в виртуальных машинах.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6916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C841D-7AC8-7AEE-48F1-CC9C8F9D9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6BF14B-15C3-46F0-E208-33EDDE441CC9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Как проверить готовность компьютера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Проверка режима загрузки: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Win</a:t>
            </a:r>
            <a:r>
              <a:rPr lang="ru-RU" dirty="0"/>
              <a:t> + R </a:t>
            </a:r>
            <a:r>
              <a:rPr lang="en-US" dirty="0"/>
              <a:t>=&gt;</a:t>
            </a:r>
            <a:r>
              <a:rPr lang="ru-RU" dirty="0"/>
              <a:t> msinfo32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 окне «Сведения о системе»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Режим BIOS: UEFI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Состояние безопасной загрузки: Вкл.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Проверка TPM: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Win</a:t>
            </a:r>
            <a:r>
              <a:rPr lang="ru-RU" dirty="0"/>
              <a:t> + R </a:t>
            </a:r>
            <a:r>
              <a:rPr lang="en-US" dirty="0"/>
              <a:t>=&gt;</a:t>
            </a:r>
            <a:r>
              <a:rPr lang="ru-RU" dirty="0"/>
              <a:t> </a:t>
            </a:r>
            <a:r>
              <a:rPr lang="ru-RU" dirty="0" err="1"/>
              <a:t>tpm.msc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Проверка диска:</a:t>
            </a:r>
          </a:p>
          <a:p>
            <a:pPr>
              <a:defRPr sz="3600"/>
            </a:pPr>
            <a:r>
              <a:rPr lang="ru-RU" dirty="0"/>
              <a:t>Управление дисками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Свойства диска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Тома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Стиль раздела: GPT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67621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8ADC0-4057-1F6F-979C-F46375ED2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328E00-D3FD-FCA3-9DE2-917B9939A04F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Требования учебной виртуальной машины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Тип ОС: Windows 11 64-bit.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Прошивка виртуальной машины: UEFI.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Системный диск: GPT.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Оперативная память: минимум 4 ГБ.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Процессоры: не менее двух виртуальных ядер.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Secure Boot и </a:t>
            </a:r>
            <a:r>
              <a:rPr lang="ru-RU" dirty="0" err="1"/>
              <a:t>vTPM</a:t>
            </a:r>
            <a:r>
              <a:rPr lang="ru-RU" dirty="0"/>
              <a:t> включаются при поддержке гипервизора.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Для комфортной учебной работы лучше выделить: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2–4 </a:t>
            </a:r>
            <a:r>
              <a:rPr lang="ru-RU" dirty="0" err="1"/>
              <a:t>vCPU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8 ГБ RAM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80–100 ГБ диска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9137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2F2E-16A7-5161-4591-E2D4D2AE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D310FF-17A9-0D2D-C73C-29B5E2C30BC5}"/>
              </a:ext>
            </a:extLst>
          </p:cNvPr>
          <p:cNvSpPr txBox="1"/>
          <p:nvPr/>
        </p:nvSpPr>
        <p:spPr>
          <a:xfrm>
            <a:off x="457200" y="427703"/>
            <a:ext cx="11194026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Типовые ошибки установки</a:t>
            </a:r>
            <a:r>
              <a:rPr lang="en-US" b="1" dirty="0"/>
              <a:t>:</a:t>
            </a:r>
            <a:endParaRPr lang="ru-RU" b="1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ВМ запущена в Legacy BIOS вместо UEFI.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Secure Boot или TPM отключены.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ВМ не имеет виртуального TPM.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Диск размечен как MBR при установке в режиме UEFI.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Выбрана неправильная архитектура ISO-образа.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Оборудование не соответствует требованиям Windows 11.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Нельзя устранять ошибку случайным переключением параметров. Сначала проверяют:</a:t>
            </a:r>
          </a:p>
          <a:p>
            <a:pPr>
              <a:defRPr sz="3600"/>
            </a:pPr>
            <a:r>
              <a:rPr lang="ru-RU" dirty="0"/>
              <a:t>UEFI </a:t>
            </a:r>
            <a:r>
              <a:rPr lang="en-US" dirty="0"/>
              <a:t>=&gt;</a:t>
            </a:r>
            <a:r>
              <a:rPr lang="ru-RU" dirty="0"/>
              <a:t> Secure Boot </a:t>
            </a:r>
            <a:r>
              <a:rPr lang="en-US" dirty="0"/>
              <a:t>=&gt;</a:t>
            </a:r>
            <a:r>
              <a:rPr lang="ru-RU" dirty="0"/>
              <a:t> TPM </a:t>
            </a:r>
            <a:r>
              <a:rPr lang="en-US" dirty="0"/>
              <a:t>=&gt;</a:t>
            </a:r>
            <a:r>
              <a:rPr lang="ru-RU" dirty="0"/>
              <a:t> GPT </a:t>
            </a:r>
            <a:r>
              <a:rPr lang="en-US" dirty="0"/>
              <a:t>=&gt;</a:t>
            </a:r>
            <a:r>
              <a:rPr lang="ru-RU" dirty="0"/>
              <a:t> CPU/RAM/Disk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1506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61FB-D397-9E6D-5730-0C907D2D9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978C78-B6B5-F312-57D9-B93418689EF4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Цепочка требований </a:t>
            </a:r>
            <a:r>
              <a:rPr lang="en-US" dirty="0"/>
              <a:t>Windows 11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7F9CE10-AAD3-F5AD-F447-45BAA885A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199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055B-42AA-818D-1FB2-4DE191FC4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6A3100-07CA-388D-6F59-9C4CD9E067C8}"/>
              </a:ext>
            </a:extLst>
          </p:cNvPr>
          <p:cNvSpPr txBox="1"/>
          <p:nvPr/>
        </p:nvSpPr>
        <p:spPr>
          <a:xfrm>
            <a:off x="2197357" y="182880"/>
            <a:ext cx="776680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3</a:t>
            </a:r>
            <a:r>
              <a:rPr dirty="0"/>
              <a:t>. </a:t>
            </a:r>
            <a:r>
              <a:rPr lang="ru-RU" dirty="0"/>
              <a:t>Чистая установка Windows с ISO-образа.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B52D5-2C99-74E0-85A1-78464BAA4C56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3600"/>
            </a:pPr>
            <a:r>
              <a:rPr lang="ru-RU" b="1" dirty="0"/>
              <a:t>Что такое чистая установка?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устанавливается на пустой или очищенный раздел.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Старая система и приложения не сохраняются.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Настройки пользователя приходится выполнять заново.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Нужные данные заранее копируют на другой носитель.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учебной работе используется отдельная виртуальная машина.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Чистая установка подходит для нового компьютера или полного </a:t>
            </a:r>
            <a:r>
              <a:rPr lang="ru-RU" dirty="0" err="1"/>
              <a:t>переустановления</a:t>
            </a:r>
            <a:r>
              <a:rPr lang="ru-RU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426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6AD89-1BC9-9085-F19F-C4A6DC264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9CBFCC-9F53-9985-8D3D-1421E5F1DF13}"/>
              </a:ext>
            </a:extLst>
          </p:cNvPr>
          <p:cNvSpPr txBox="1"/>
          <p:nvPr/>
        </p:nvSpPr>
        <p:spPr>
          <a:xfrm>
            <a:off x="457199" y="427703"/>
            <a:ext cx="11238271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Что подготовить до установки: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Официальный ISO-образ Windows 10 или Windows 11.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Лицензию для нужной редакции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Совместимый компьютер или виртуальную машину.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менее 4 ГБ RAM и диск от 64 ГБ для Windows 11.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UEFI, Secure Boot и TPM 2.0.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Резервную копию важных пользовательских данных.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6290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C275D-5A45-9873-3875-3BE8BB0B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CAEE78B-18DB-50B6-9D3F-F87291324003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Подключение ISO-образа</a:t>
            </a:r>
          </a:p>
          <a:p>
            <a:pPr>
              <a:defRPr sz="3600"/>
            </a:pPr>
            <a:r>
              <a:rPr lang="ru-RU" dirty="0"/>
              <a:t>В виртуальной машине: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Создать новую ВМ.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Windows 10/11 64-bit.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Подключить ISO к виртуальному DVD-приводу.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Включить UEFI, Secure Boot и TPM при необходимости.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Установить загрузку с виртуального DVD.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Запустить виртуальную машину.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На физическом компьютере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ISO записывают на загрузочный USB-накопитель с помощью официального средства создания установочного носителя.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06672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5F851-0C61-F456-23F3-1015E47D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C5A8EC-CD42-A0CA-EC02-EF7A28ABC489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Запуск установщика Windows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Загрузить компьютер с ISO или USB-накопителя.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язык, формат времени и раскладку клавиатуры.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Нажать «Установить».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Ввести ключ продукта или пропустить этот шаг.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редакцию, соответствующую лицензии.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Принять условия лицензии.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Важно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Установка неправильной редакции может привести к проблеме активации.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72082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1914-6A9C-76B9-171C-ADBF44770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34E526-B28D-FA10-E47F-A435EC5B8901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Выбор типа установки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Установщик предлагает два основных варианта: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«Обновление» сохраняет часть данных и приложений.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«Выборочная» выполняет чистую установку.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лабораторной работы выбирают «Выборочная».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Затем выбирают системный диск или незанятое пространство.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автоматически создаёт необходимые служебные разделы.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Перед удалением разделов обязательно проверяют выбранный диск.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Предупреждение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Удаление раздела уничтожает находящиеся на нём данные.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2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27815-924D-2980-07D6-FE963BFA4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97CBCA-A509-1D6A-2C39-EED4BC1C2A47}"/>
              </a:ext>
            </a:extLst>
          </p:cNvPr>
          <p:cNvSpPr txBox="1"/>
          <p:nvPr/>
        </p:nvSpPr>
        <p:spPr>
          <a:xfrm>
            <a:off x="457200" y="427703"/>
            <a:ext cx="1134151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Разделы системного диска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 установке Windows в режиме UEFI обычно создаются: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EFI System </a:t>
            </a:r>
            <a:r>
              <a:rPr lang="ru-RU" dirty="0" err="1"/>
              <a:t>Partition</a:t>
            </a:r>
            <a:r>
              <a:rPr lang="ru-RU" dirty="0"/>
              <a:t> — хранит загрузочные файлы.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Microsoft </a:t>
            </a:r>
            <a:r>
              <a:rPr lang="ru-RU" dirty="0" err="1"/>
              <a:t>Reserved</a:t>
            </a:r>
            <a:r>
              <a:rPr lang="ru-RU" dirty="0"/>
              <a:t> </a:t>
            </a:r>
            <a:r>
              <a:rPr lang="ru-RU" dirty="0" err="1"/>
              <a:t>Partition</a:t>
            </a:r>
            <a:r>
              <a:rPr lang="ru-RU" dirty="0"/>
              <a:t> — служебный раздел.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Основной раздел — содержит Windows и программы.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Recovery </a:t>
            </a:r>
            <a:r>
              <a:rPr lang="ru-RU" dirty="0" err="1"/>
              <a:t>Partition</a:t>
            </a:r>
            <a:r>
              <a:rPr lang="ru-RU" dirty="0"/>
              <a:t> — используется для восстановления.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Системный диск получает разметку GPT.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Служебным разделам обычно не назначаются буквы.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Junior-сисадмину не требуется создавать эти разделы вручную при обычной установке.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02722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3D712-EA38-5C6A-8D75-0C8856585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87D509-F1C6-4C3F-1886-D5D37582A42A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Копирование файлов и перезагрузка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Установщик копирует и подготавливает файлы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Компьютер несколько раз перезагружается.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первой перезагрузки установка продолжается с диска.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нужно повторно запускать установку с ISO.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ВМ ISO можно отключить после копирования файлов.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Затем запускается первоначальная настройка Windows — OOBE.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OOBE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Регион → раскладка → сеть → учётная запись → параметры системы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3583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57DE-A9C3-CE7F-17BF-D3C5E9E0E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7AD4B9-0763-E244-A91F-C4210A7FBEB1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3600"/>
            </a:pPr>
            <a:r>
              <a:rPr lang="ru-RU" b="1" dirty="0"/>
              <a:t>Типовые ошибки установки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Компьютер снова загружается с ISO и начинает установку заново.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Выбрана редакция, не соответствующая лицензии.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Удалён раздел не того диска.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Установщик не видит накопитель из-за отсутствующего драйвера.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11 сообщает об отсутствии TPM или Secure Boot.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ISO повреждён или скачан из ненадёжного источника.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Диагностика начинается с проверки: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ISO → настройки ВМ/UEFI → диск → редакция → требования Windows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1417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35AF-D52F-7C47-A3CF-F6050DC4A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E0D5F2-322B-C23C-4F75-BB42EC21E6AD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Результат этапа установки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завершения основного этапа: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загружается с системного диска.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Открывается мастер первоначальной настройки OOBE.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Установщик больше не запускается с ISO.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Созданы системные и служебные разделы.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Установлена выбранная редакция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Следующим этапом создаётся пользовательская учётная запись.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689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85520-30D4-7286-1CBD-6405C5C58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CF94E6-39F0-9B39-9A22-A07D88577DBE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Диагностика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079A34C-E53F-8AD1-7BB5-B560EA857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521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39064" y="182880"/>
            <a:ext cx="102833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4. Локальная и Microsoft </a:t>
            </a:r>
            <a:r>
              <a:rPr lang="ru-RU" dirty="0" err="1"/>
              <a:t>Account</a:t>
            </a:r>
            <a:r>
              <a:rPr lang="ru-RU" dirty="0"/>
              <a:t>. Типы учётных записей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199" y="914400"/>
            <a:ext cx="11238271" cy="539791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3600"/>
            </a:pPr>
            <a:r>
              <a:rPr lang="ru-RU" b="1" dirty="0"/>
              <a:t>Для чего нужна учётная запись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Учётная запись определяет, кто работает за компьютером.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 каждого пользователя отдельный профиль и настройки.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профиле хранятся документы, рабочий стол и параметры программ.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Один компьютер может иметь несколько пользователей.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Учётные записи отличаются способом входа и уровнем прав.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Пароль администратора нельзя передавать обычным пользователям.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AF3AC-2789-AA5E-4E90-4510C398C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60E63E9-6AA6-2CF1-5362-CBE0CF7FFC4D}"/>
              </a:ext>
            </a:extLst>
          </p:cNvPr>
          <p:cNvSpPr txBox="1"/>
          <p:nvPr/>
        </p:nvSpPr>
        <p:spPr>
          <a:xfrm>
            <a:off x="457199" y="427703"/>
            <a:ext cx="11253019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Локальная учётная запись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Существует только на одном компьютере.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требует постоянного подключения к интернету.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Имеет локальное имя пользователя и пароль.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Настройки не синхронизируются между устройствами.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Подходит для учебной ВМ и автономного компьютера.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Управляется непосредственно на данном компьютере.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455094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6B19F-07DD-BA0D-C7E4-CBE5BCE65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4449C8-0BF3-3CBA-A358-14F068DBC9C1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Учётная запись Microsoft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Связана с адресом электронной почты Microsoft.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Используется для входа в Windows и сервисы Microsoft.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Может синхронизировать часть настроек между устройствами.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Связывается с Microsoft Store и </a:t>
            </a:r>
            <a:r>
              <a:rPr lang="ru-RU" dirty="0" err="1"/>
              <a:t>OneDrive</a:t>
            </a:r>
            <a:r>
              <a:rPr lang="ru-RU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первоначального подключения требуется интернет.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 необходимости её можно заменить локальной учётной записью.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Microsoft рекомендует Microsoft </a:t>
            </a:r>
            <a:r>
              <a:rPr lang="ru-RU" dirty="0" err="1"/>
              <a:t>Account</a:t>
            </a:r>
            <a:r>
              <a:rPr lang="ru-RU" dirty="0"/>
              <a:t> для персонального использования Windows, но система также поддерживает локальные учётные записи.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11861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CB3EF-82F1-2888-E992-45E31E89F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E168F5-9999-1EA1-31A6-4927A94C8955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Администратор и обычный пользователь</a:t>
            </a:r>
          </a:p>
          <a:p>
            <a:pPr>
              <a:defRPr sz="3600"/>
            </a:pPr>
            <a:r>
              <a:rPr lang="ru-RU" b="1" dirty="0"/>
              <a:t>Администратор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устанавливает программы и драйверы;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изменяет системные настройки;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создаёт других пользователей;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подтверждает административные действия через UAC.</a:t>
            </a:r>
          </a:p>
          <a:p>
            <a:pPr>
              <a:defRPr sz="3600"/>
            </a:pPr>
            <a:r>
              <a:rPr lang="ru-RU" b="1" dirty="0"/>
              <a:t>Обычный пользователь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запускает установленные программы;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работает со своими файлами;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может свободно изменять систему.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5776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AD71F-43E1-EBA4-A299-CC8CC462F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8FC748-8002-2C61-4C83-6C260667B6AF}"/>
              </a:ext>
            </a:extLst>
          </p:cNvPr>
          <p:cNvSpPr txBox="1"/>
          <p:nvPr/>
        </p:nvSpPr>
        <p:spPr>
          <a:xfrm>
            <a:off x="457199" y="427703"/>
            <a:ext cx="11179277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Безопасная модель учётных записей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 компьютере должна быть хотя бы одна административная учётная запись.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ежедневной работы лучше использовать обычного пользователя.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Административные права применяются только при необходимости.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Количество локальных администраторов следует ограничивать.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Встроенная учётная запись </a:t>
            </a:r>
            <a:r>
              <a:rPr lang="ru-RU" dirty="0" err="1"/>
              <a:t>Administrator</a:t>
            </a:r>
            <a:r>
              <a:rPr lang="ru-RU" dirty="0"/>
              <a:t> обычно отключена.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Нельзя давать всем пользователям права администратора.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Microsoft рекомендует ограничивать число администраторов и использовать стандартную учётную запись для повседневной работы.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18159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65DE3-EF68-17DD-C2D9-BE8C2FEA4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083B6D-F99A-4112-C784-149F4808238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3600"/>
            </a:pPr>
            <a:r>
              <a:rPr lang="ru-RU" b="1" dirty="0"/>
              <a:t>Создание обычного пользователя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 в Windows 11:</a:t>
            </a:r>
          </a:p>
          <a:p>
            <a:pPr>
              <a:defRPr sz="3600"/>
            </a:pPr>
            <a:r>
              <a:rPr lang="ru-RU" dirty="0"/>
              <a:t>Параметры</a:t>
            </a:r>
          </a:p>
          <a:p>
            <a:pPr>
              <a:defRPr sz="3600"/>
            </a:pPr>
            <a:r>
              <a:rPr lang="ru-RU" dirty="0"/>
              <a:t>→ Учётные записи</a:t>
            </a:r>
          </a:p>
          <a:p>
            <a:pPr>
              <a:defRPr sz="3600"/>
            </a:pPr>
            <a:r>
              <a:rPr lang="ru-RU" dirty="0"/>
              <a:t>→ Другие пользователи</a:t>
            </a:r>
          </a:p>
          <a:p>
            <a:pPr>
              <a:defRPr sz="3600"/>
            </a:pPr>
            <a:r>
              <a:rPr lang="ru-RU" dirty="0"/>
              <a:t>→ Добавить учётную запись</a:t>
            </a:r>
          </a:p>
          <a:p>
            <a:pPr>
              <a:defRPr sz="3600"/>
            </a:pP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Можно добавить Microsoft </a:t>
            </a:r>
            <a:r>
              <a:rPr lang="ru-RU" dirty="0" err="1"/>
              <a:t>Account</a:t>
            </a:r>
            <a:r>
              <a:rPr lang="ru-RU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Можно создать локального пользователя.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Новая учётная запись обычно создаётся как стандартная.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Пользователю задают понятное имя.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создания обязательно проверяют вход.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8137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D3038-BA27-2039-8DC1-0C0F25E73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F30C76-D184-EB86-A3B8-31697676AB08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Изменение типа учётной записи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/>
              <a:t>Параметры</a:t>
            </a:r>
          </a:p>
          <a:p>
            <a:pPr>
              <a:defRPr sz="3600"/>
            </a:pPr>
            <a:r>
              <a:rPr lang="ru-RU" dirty="0"/>
              <a:t>→ Учётные записи</a:t>
            </a:r>
          </a:p>
          <a:p>
            <a:pPr>
              <a:defRPr sz="3600"/>
            </a:pPr>
            <a:r>
              <a:rPr lang="ru-RU" dirty="0"/>
              <a:t>→ Другие пользователи</a:t>
            </a:r>
          </a:p>
          <a:p>
            <a:pPr>
              <a:defRPr sz="3600"/>
            </a:pPr>
            <a:r>
              <a:rPr lang="ru-RU" dirty="0"/>
              <a:t>→ Учётная запись</a:t>
            </a:r>
          </a:p>
          <a:p>
            <a:pPr>
              <a:defRPr sz="3600"/>
            </a:pPr>
            <a:r>
              <a:rPr lang="ru-RU" dirty="0"/>
              <a:t>→ Изменить тип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Возможные типы: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Стандартный пользователь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Администратор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Перед понижением прав нужно убедиться, что на компьютере остаётся другой администратор.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7446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4F19C-8EB6-B0EE-A123-3187097B8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83EE76-7753-9BDB-52AD-4E6488CA1476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учётных записей</a:t>
            </a:r>
          </a:p>
          <a:p>
            <a:pPr>
              <a:defRPr sz="3600"/>
            </a:pPr>
            <a:r>
              <a:rPr lang="ru-RU" dirty="0"/>
              <a:t>Открыть список локальных пользователей:</a:t>
            </a:r>
          </a:p>
          <a:p>
            <a:pPr>
              <a:defRPr sz="3600"/>
            </a:pPr>
            <a:r>
              <a:rPr lang="ru-RU" b="1" dirty="0">
                <a:solidFill>
                  <a:srgbClr val="002060"/>
                </a:solidFill>
              </a:rPr>
              <a:t>Get-</a:t>
            </a:r>
            <a:r>
              <a:rPr lang="ru-RU" b="1" dirty="0" err="1">
                <a:solidFill>
                  <a:srgbClr val="002060"/>
                </a:solidFill>
              </a:rPr>
              <a:t>LocalUser</a:t>
            </a:r>
            <a:endParaRPr lang="ru-RU" b="1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Проверить локальных администраторов:</a:t>
            </a:r>
          </a:p>
          <a:p>
            <a:pPr>
              <a:defRPr sz="3600"/>
            </a:pPr>
            <a:r>
              <a:rPr lang="ru-RU" sz="3600" b="1" dirty="0">
                <a:solidFill>
                  <a:srgbClr val="002060"/>
                </a:solidFill>
              </a:rPr>
              <a:t>Get-</a:t>
            </a:r>
            <a:r>
              <a:rPr lang="ru-RU" sz="3600" b="1" dirty="0" err="1">
                <a:solidFill>
                  <a:srgbClr val="002060"/>
                </a:solidFill>
              </a:rPr>
              <a:t>LocalGroupMember</a:t>
            </a:r>
            <a:r>
              <a:rPr lang="ru-RU" sz="3600" b="1" dirty="0">
                <a:solidFill>
                  <a:srgbClr val="002060"/>
                </a:solidFill>
              </a:rPr>
              <a:t> </a:t>
            </a:r>
            <a:r>
              <a:rPr lang="ru-RU" sz="3600" b="1" dirty="0" err="1">
                <a:solidFill>
                  <a:srgbClr val="002060"/>
                </a:solidFill>
              </a:rPr>
              <a:t>Administrators</a:t>
            </a:r>
            <a:endParaRPr lang="ru-RU" sz="3600" b="1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Узнать текущего пользователя:</a:t>
            </a:r>
          </a:p>
          <a:p>
            <a:pPr>
              <a:defRPr sz="3600"/>
            </a:pPr>
            <a:r>
              <a:rPr lang="ru-RU" sz="3600" b="1" dirty="0" err="1">
                <a:solidFill>
                  <a:srgbClr val="002060"/>
                </a:solidFill>
              </a:rPr>
              <a:t>whoami</a:t>
            </a:r>
            <a:endParaRPr lang="ru-RU" sz="3600" b="1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Проверка считается успешной, если обычный пользователь входит в систему, а административное действие запрашивает подтверждение.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7262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6DA2B-C4E0-7C8A-5ECA-F367680DE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57F293-2E2A-5A69-E0EA-7ABA86308AA0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Диагностика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33C9DF-C104-5960-0BD7-D3E72C2D8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2396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27296" y="182880"/>
            <a:ext cx="750692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5.</a:t>
            </a:r>
            <a:r>
              <a:rPr lang="en-US" dirty="0"/>
              <a:t> </a:t>
            </a:r>
            <a:r>
              <a:rPr lang="ru-RU" dirty="0"/>
              <a:t>Драйверы устройств и Device Manager.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3600"/>
            </a:pPr>
            <a:r>
              <a:rPr lang="ru-RU" b="1" dirty="0"/>
              <a:t>Что такое драйвер?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Драйвер связывает Windows с устройством.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Без драйвера оборудование может не работать.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Драйверы нужны для видеокарты, сети, звука и других устройств.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Часть драйверов Windows устанавливает автоматически.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некоторых устройств требуется драйвер производителя.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Неподходящий драйвер может вызвать ошибки системы.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CF37-B80C-F92A-F31E-EC0AA6C7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BFE40D-57C0-7204-EC14-B3B3E102C224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Откуда устанавливаются драйверы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 встроенного набора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Через Windows Update.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 сайта производителя компьютера.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 сайта производителя устройства.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 корпоративного хранилища драйверов.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следует использовать неизвестные сайты и сборники драйверов.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Приоритет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Производитель компьютера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производитель устройства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Update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4895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C4F0B-404E-25DE-BC78-D8B33244D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D54D56-348E-DFF8-3F1D-8D92EB0068D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Device Manager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Device Manager — средство управления оборудованием Windows.</a:t>
            </a:r>
          </a:p>
          <a:p>
            <a:pPr>
              <a:defRPr sz="3600"/>
            </a:pPr>
            <a:r>
              <a:rPr lang="ru-RU" dirty="0"/>
              <a:t>Он позволяет: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просматривать установленные устройства;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находить устройства с ошибками;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проверять версию драйвера;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обновлять и удалять драйвер;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включать и отключать устройство;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просматривать </a:t>
            </a:r>
            <a:r>
              <a:rPr lang="ru-RU" dirty="0" err="1"/>
              <a:t>Hardware</a:t>
            </a:r>
            <a:r>
              <a:rPr lang="ru-RU" dirty="0"/>
              <a:t> ID.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Запуск:</a:t>
            </a:r>
          </a:p>
          <a:p>
            <a:pPr>
              <a:defRPr sz="3600"/>
            </a:pPr>
            <a:r>
              <a:rPr lang="ru-RU" dirty="0" err="1"/>
              <a:t>Win</a:t>
            </a:r>
            <a:r>
              <a:rPr lang="ru-RU" dirty="0"/>
              <a:t> + X → Диспетчер устройств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или:</a:t>
            </a:r>
          </a:p>
          <a:p>
            <a:pPr>
              <a:defRPr sz="3600"/>
            </a:pPr>
            <a:r>
              <a:rPr lang="ru-RU" dirty="0" err="1"/>
              <a:t>devmgmt.msc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0989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C1048-C9C4-34F6-1961-02562E2B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16D876-1CB7-4204-F0E5-FC9074141996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Состояние устройств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Нормальное устройство отображается без предупреждений.</a:t>
            </a:r>
          </a:p>
          <a:p>
            <a:pPr>
              <a:defRPr sz="3600"/>
            </a:pPr>
            <a:r>
              <a:rPr lang="ru-RU" dirty="0"/>
              <a:t>Основные признаки проблемы: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жёлтый значок — ошибка устройства или драйвера;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стрелка вниз — устройство отключено;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неизвестное устройство — драйвер не найден;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устройство отсутствует — не обнаружено системой;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ошибка может сопровождаться цифровым кодом;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описание ошибки открывается в свойствах устройства.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38930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D4E8A-5098-27CB-100D-2D9BF4FF8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F73638-AA04-CDCA-181B-73DDF9B80E7A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Установка и обновление драйвера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Сначала определяют модель устройства.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Затем скачивают подходящий драйвер.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Проверяют версию Windows и архитектуру x64.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Создают точку восстановления или </a:t>
            </a:r>
            <a:r>
              <a:rPr lang="ru-RU" dirty="0" err="1"/>
              <a:t>Snapshot</a:t>
            </a:r>
            <a:r>
              <a:rPr lang="ru-RU" dirty="0"/>
              <a:t> ВМ.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Устанавливают драйвер и перезагружают систему.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загрузки проверяют состояние устройства.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Важно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Нельзя обновлять все драйверы без причины.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0547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308AF-63CC-70EC-F9F1-6FE9E31D0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9187F8-EEA0-B419-7A3A-503D712135F0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Откат и удаление драйвера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Если устройство перестало работать после обновления: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открыть свойства устройства;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перейти на вкладку «Драйвер»;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«Откатить»;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перезагрузить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работу устройства;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зафиксировать результат.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Удаление драйвера используют, если откат недоступен или установка повреждена.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37569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A4163-05F9-AD8F-7318-138A91A01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5052A18-F96A-FE05-40D7-B63D9CF4298C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 err="1"/>
              <a:t>Hardware</a:t>
            </a:r>
            <a:r>
              <a:rPr lang="ru-RU" b="1" dirty="0"/>
              <a:t> ID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 err="1"/>
              <a:t>Hardware</a:t>
            </a:r>
            <a:r>
              <a:rPr lang="ru-RU" dirty="0"/>
              <a:t> ID помогает определить неизвестное устройство.</a:t>
            </a:r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Свойства устройства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Сведения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ИД оборудования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Пример:</a:t>
            </a:r>
          </a:p>
          <a:p>
            <a:pPr>
              <a:defRPr sz="3600"/>
            </a:pPr>
            <a:r>
              <a:rPr lang="ru-RU" dirty="0"/>
              <a:t>PCI\VEN_8086&amp;DEV_15F3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VEN обозначает производителя.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DEV обозначает модель устройства.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 этим данным находят подходящий драйвер.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Драйвер скачивают только из доверенного источника.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8404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5268-FA06-D73A-0595-0B6EA0C53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5AEA8B-BC5D-7239-5568-98AB335B114D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после установки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установки драйвера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исчез ли предупреждающий значок;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определяется ли устройство;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работает ли сеть, звук или видео;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нет ли ошибок в Event </a:t>
            </a:r>
            <a:r>
              <a:rPr lang="ru-RU" dirty="0" err="1"/>
              <a:t>Viewer</a:t>
            </a:r>
            <a:r>
              <a:rPr lang="ru-RU" dirty="0"/>
              <a:t>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сохранилась ли работа после перезагрузки;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соответствует ли версия драйвера ожидаемой.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Главный принцип:</a:t>
            </a:r>
          </a:p>
          <a:p>
            <a:pPr>
              <a:defRPr sz="3600"/>
            </a:pPr>
            <a:r>
              <a:rPr lang="ru-RU" dirty="0"/>
              <a:t>→ Установить драйвер</a:t>
            </a:r>
          </a:p>
          <a:p>
            <a:pPr>
              <a:defRPr sz="3600"/>
            </a:pPr>
            <a:r>
              <a:rPr lang="ru-RU" dirty="0"/>
              <a:t>→ перезагрузить</a:t>
            </a:r>
          </a:p>
          <a:p>
            <a:pPr>
              <a:defRPr sz="3600"/>
            </a:pPr>
            <a:r>
              <a:rPr lang="ru-RU" dirty="0"/>
              <a:t>→ проверить устройство</a:t>
            </a:r>
          </a:p>
          <a:p>
            <a:pPr>
              <a:defRPr sz="3600"/>
            </a:pPr>
            <a:r>
              <a:rPr lang="ru-RU" dirty="0"/>
              <a:t>→ проверить журнал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618248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0C26-46AB-6A41-8FDE-AE51D40EA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566246-AC31-E149-FB2E-7CD1B3902669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Диагностика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5D04643-6738-016B-688E-BA9D2570F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7854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75F39-0BF4-AC6E-5851-100FD1161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B07BF-7499-F44B-F1EB-8D1644B5608F}"/>
              </a:ext>
            </a:extLst>
          </p:cNvPr>
          <p:cNvSpPr txBox="1"/>
          <p:nvPr/>
        </p:nvSpPr>
        <p:spPr>
          <a:xfrm>
            <a:off x="2063666" y="182880"/>
            <a:ext cx="8034187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6. Настройка имени компьютера, времени, </a:t>
            </a:r>
          </a:p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языка, сети и обновлений.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753FB4-3C16-589F-9918-4E4841E0FE9A}"/>
              </a:ext>
            </a:extLst>
          </p:cNvPr>
          <p:cNvSpPr txBox="1"/>
          <p:nvPr/>
        </p:nvSpPr>
        <p:spPr>
          <a:xfrm>
            <a:off x="457200" y="1260098"/>
            <a:ext cx="10972800" cy="52144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Зачем нужна первичная настройка.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установки Windows ещё не готова к работе.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Компьютеру назначают понятное имя.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Проверяют дату, время и часовой пояс.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Настраивают язык и раскладки клавиатуры.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Проверяют сеть и доступ в интернет.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Устанавливают обновления Windows.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97087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9149B-A665-E41D-4A02-F4D17F761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5DA593-2E5F-9F1D-DA50-4F21422FE62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Имя компьютера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Имя отличает компьютер от других устройств сети.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Оно должно быть коротким и понятным.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организации используют единый стандарт имён.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следует использовать имя сотрудника как единственный признак.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переименования требуется перезагрузка.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Имя фиксируют в паспорте рабочего места.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Пример: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ALM-IT-WS01</a:t>
            </a:r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16948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95E6-E481-7952-64A1-048A30E1F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77F8AB-A6E2-47EB-F936-7BD9A75F48DE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Изменение имени компьютера</a:t>
            </a:r>
          </a:p>
          <a:p>
            <a:pPr>
              <a:defRPr sz="3600"/>
            </a:pPr>
            <a:r>
              <a:rPr lang="ru-RU" dirty="0"/>
              <a:t>Путь в Windows 11:</a:t>
            </a:r>
          </a:p>
          <a:p>
            <a:pPr>
              <a:defRPr sz="3600"/>
            </a:pPr>
            <a:r>
              <a:rPr lang="ru-RU" dirty="0"/>
              <a:t>→ Параметры</a:t>
            </a:r>
          </a:p>
          <a:p>
            <a:pPr>
              <a:defRPr sz="3600"/>
            </a:pPr>
            <a:r>
              <a:rPr lang="ru-RU" dirty="0"/>
              <a:t>→ Система</a:t>
            </a:r>
          </a:p>
          <a:p>
            <a:pPr>
              <a:defRPr sz="3600"/>
            </a:pPr>
            <a:r>
              <a:rPr lang="ru-RU" dirty="0"/>
              <a:t>→ О системе</a:t>
            </a:r>
          </a:p>
          <a:p>
            <a:pPr>
              <a:defRPr sz="3600"/>
            </a:pPr>
            <a:r>
              <a:rPr lang="ru-RU" dirty="0"/>
              <a:t>→ Переименовать этот компьютер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 err="1"/>
              <a:t>PowerShell</a:t>
            </a:r>
            <a:r>
              <a:rPr lang="ru-RU" dirty="0"/>
              <a:t>:</a:t>
            </a:r>
          </a:p>
          <a:p>
            <a:pPr>
              <a:defRPr sz="3600"/>
            </a:pPr>
            <a:r>
              <a:rPr lang="ru-RU" dirty="0" err="1">
                <a:solidFill>
                  <a:srgbClr val="002060"/>
                </a:solidFill>
              </a:rPr>
              <a:t>Rename</a:t>
            </a:r>
            <a:r>
              <a:rPr lang="ru-RU" dirty="0">
                <a:solidFill>
                  <a:srgbClr val="002060"/>
                </a:solidFill>
              </a:rPr>
              <a:t>-Computer -</a:t>
            </a:r>
            <a:r>
              <a:rPr lang="ru-RU" dirty="0" err="1">
                <a:solidFill>
                  <a:srgbClr val="002060"/>
                </a:solidFill>
              </a:rPr>
              <a:t>NewName</a:t>
            </a:r>
            <a:r>
              <a:rPr lang="ru-RU" dirty="0">
                <a:solidFill>
                  <a:srgbClr val="002060"/>
                </a:solidFill>
              </a:rPr>
              <a:t> "ALM-IT-WS01" -</a:t>
            </a:r>
            <a:r>
              <a:rPr lang="ru-RU" dirty="0" err="1">
                <a:solidFill>
                  <a:srgbClr val="002060"/>
                </a:solidFill>
              </a:rPr>
              <a:t>Restart</a:t>
            </a:r>
            <a:endParaRPr lang="ru-RU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Команду запускают от имени администратора.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Новое имя проверяют после перезагрузки.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Два компьютера не должны иметь одинаковое имя.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1890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68034-A48F-F1D3-4C39-9B4130139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AEE626-2A5F-89F7-BA81-B801ABEA6555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Дата, время и часовой пояс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Неверное время вызывает ошибки входа и сертификатов.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Обычно включают автоматическую установку времени.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Часовой пояс задают по месту использования компьютера.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Алматы используется часовой пояс UTC+5.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настройки проверяют синхронизацию.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домене время будет синхронизироваться с доменной инфраструктурой.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/>
              <a:t>→ Параметры</a:t>
            </a:r>
          </a:p>
          <a:p>
            <a:pPr>
              <a:defRPr sz="3600"/>
            </a:pPr>
            <a:r>
              <a:rPr lang="ru-RU" dirty="0"/>
              <a:t>→ Время и язык</a:t>
            </a:r>
          </a:p>
          <a:p>
            <a:pPr>
              <a:defRPr sz="3600"/>
            </a:pPr>
            <a:r>
              <a:rPr lang="ru-RU" dirty="0"/>
              <a:t>→ Дата и время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Windows использует службу времени W32Time и протокол NTP для синхронизации часов.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77848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5B19-7ECA-28B3-66EF-1934002BD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8AFCA6-06BB-9B53-CAD6-CE048AAA1BA6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Язык и раскладка клавиатуры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Язык интерфейса и раскладка — разные параметры.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Обычно добавляют русский и английский языки ввода.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Ненужные раскладки лучше удалить.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Проверяют формат даты, времени и региона.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добавления языка может измениться раскладка.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Переключение проверяют в текстовом редакторе.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/>
              <a:t>→ Параметры</a:t>
            </a:r>
          </a:p>
          <a:p>
            <a:pPr>
              <a:defRPr sz="3600"/>
            </a:pPr>
            <a:r>
              <a:rPr lang="ru-RU" dirty="0"/>
              <a:t>→ Время и язык</a:t>
            </a:r>
          </a:p>
          <a:p>
            <a:pPr>
              <a:defRPr sz="3600"/>
            </a:pPr>
            <a:r>
              <a:rPr lang="ru-RU" dirty="0"/>
              <a:t>→ Язык и регион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 изменении языка интерфейса Windows раскладка клавиатуры также может измениться.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77419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05A3E-C377-0362-5020-72ACCC9B7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E02D38-949C-81B9-94BF-DB26F11C762C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Настройка сети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Проверяют состояние сетевого адаптера.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обычного клиента адрес чаще выдаёт DHCP.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Клиент должен получить IP, маску, </a:t>
            </a:r>
            <a:r>
              <a:rPr lang="ru-RU" dirty="0" err="1"/>
              <a:t>gateway</a:t>
            </a:r>
            <a:r>
              <a:rPr lang="ru-RU" dirty="0"/>
              <a:t> и DNS.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Сетевой профиль выбирают осознанно.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Public используется в </a:t>
            </a:r>
            <a:r>
              <a:rPr lang="ru-RU" dirty="0" err="1"/>
              <a:t>недоверенной</a:t>
            </a:r>
            <a:r>
              <a:rPr lang="ru-RU" dirty="0"/>
              <a:t> сети.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Private — в доверенной локальной сети.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b="1" dirty="0" err="1">
                <a:solidFill>
                  <a:srgbClr val="002060"/>
                </a:solidFill>
              </a:rPr>
              <a:t>ipconfig</a:t>
            </a:r>
            <a:r>
              <a:rPr lang="ru-RU" b="1" dirty="0">
                <a:solidFill>
                  <a:srgbClr val="002060"/>
                </a:solidFill>
              </a:rPr>
              <a:t> /</a:t>
            </a:r>
            <a:r>
              <a:rPr lang="ru-RU" b="1" dirty="0" err="1">
                <a:solidFill>
                  <a:srgbClr val="002060"/>
                </a:solidFill>
              </a:rPr>
              <a:t>all</a:t>
            </a:r>
            <a:endParaRPr lang="ru-RU" b="1" dirty="0">
              <a:solidFill>
                <a:srgbClr val="00206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b="1" dirty="0">
                <a:solidFill>
                  <a:srgbClr val="002060"/>
                </a:solidFill>
              </a:rPr>
              <a:t>Get-</a:t>
            </a:r>
            <a:r>
              <a:rPr lang="ru-RU" b="1" dirty="0" err="1">
                <a:solidFill>
                  <a:srgbClr val="002060"/>
                </a:solidFill>
              </a:rPr>
              <a:t>NetIPConfiguration</a:t>
            </a:r>
            <a:endParaRPr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80922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25615-25B7-BFF0-5E51-01E96B978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93872B-12DD-52A1-6B07-4EDED8EF4EFD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сетевого подключения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Проверки выполняют последовательно:</a:t>
            </a:r>
          </a:p>
          <a:p>
            <a:pPr>
              <a:defRPr sz="3600"/>
            </a:pPr>
            <a:r>
              <a:rPr lang="ru-RU" dirty="0"/>
              <a:t>Адаптер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en-US" dirty="0"/>
              <a:t>IP-</a:t>
            </a:r>
            <a:r>
              <a:rPr lang="ru-RU" dirty="0"/>
              <a:t>адрес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en-US" dirty="0"/>
              <a:t>Gateway</a:t>
            </a:r>
          </a:p>
          <a:p>
            <a:pPr>
              <a:defRPr sz="3600"/>
            </a:pPr>
            <a:r>
              <a:rPr lang="en-US" dirty="0"/>
              <a:t>→ DNS</a:t>
            </a:r>
          </a:p>
          <a:p>
            <a:pPr>
              <a:defRPr sz="3600"/>
            </a:pPr>
            <a:r>
              <a:rPr lang="en-US" dirty="0"/>
              <a:t>→ </a:t>
            </a:r>
            <a:r>
              <a:rPr lang="ru-RU" dirty="0"/>
              <a:t>интернет или нужный сервис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Команды: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ping 127.0.0.1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ping &lt;</a:t>
            </a:r>
            <a:r>
              <a:rPr lang="ru-RU" b="1" dirty="0">
                <a:solidFill>
                  <a:srgbClr val="002060"/>
                </a:solidFill>
              </a:rPr>
              <a:t>адрес-шлюза&gt;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ping 8.8.8.8</a:t>
            </a:r>
            <a:endParaRPr lang="ru-RU" b="1" dirty="0">
              <a:solidFill>
                <a:srgbClr val="00206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 err="1">
                <a:solidFill>
                  <a:srgbClr val="002060"/>
                </a:solidFill>
              </a:rPr>
              <a:t>nslookup</a:t>
            </a:r>
            <a:r>
              <a:rPr lang="en-US" b="1" dirty="0">
                <a:solidFill>
                  <a:srgbClr val="002060"/>
                </a:solidFill>
              </a:rPr>
              <a:t> microsoft.com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Test-</a:t>
            </a:r>
            <a:r>
              <a:rPr lang="en-US" b="1" dirty="0" err="1">
                <a:solidFill>
                  <a:srgbClr val="002060"/>
                </a:solidFill>
              </a:rPr>
              <a:t>NetConnection</a:t>
            </a:r>
            <a:r>
              <a:rPr lang="en-US" b="1" dirty="0">
                <a:solidFill>
                  <a:srgbClr val="002060"/>
                </a:solidFill>
              </a:rPr>
              <a:t> microsoft.com -Port 443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Успешный </a:t>
            </a:r>
            <a:r>
              <a:rPr lang="en-US" dirty="0"/>
              <a:t>ping </a:t>
            </a:r>
            <a:r>
              <a:rPr lang="ru-RU" dirty="0"/>
              <a:t>не гарантирует доступность конкретного приложения.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695730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696E-089F-A293-D860-894B3E4AE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E25A66-4DAE-C9CB-DC86-AE0DD3ABFBE6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Windows Update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 исправляют ошибки и уязвимости.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Сначала проверяют сеть, время и свободное место.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Затем запускают поиск обновлений.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Устанавливают доступные обновления.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Выполняют требуемую перезагрузку.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загрузки повторно проверяют обновления.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/>
              <a:t>Параметры</a:t>
            </a:r>
          </a:p>
          <a:p>
            <a:pPr>
              <a:defRPr sz="3600"/>
            </a:pPr>
            <a:r>
              <a:rPr lang="ru-RU" dirty="0"/>
              <a:t>→ Центр обновления Windows</a:t>
            </a:r>
          </a:p>
          <a:p>
            <a:pPr>
              <a:defRPr sz="3600"/>
            </a:pPr>
            <a:r>
              <a:rPr lang="ru-RU" dirty="0"/>
              <a:t>→ Проверить наличие обновлений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Windows Update является основным механизмом получения исправлений безопасности и стабильности Windows 11.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04047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2BE41-29C8-0AB9-F0B7-B29171D5B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FD30A4-C2B4-FCF8-30B3-56E820F34415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3600"/>
            </a:pPr>
            <a:r>
              <a:rPr lang="ru-RU" b="1" dirty="0"/>
              <a:t>Активные часы и перезагрузка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 могут требовать перезагрузку.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Активные часы показывают период работы пользователя.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это время Windows старается не перезапускать компьютер.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Перезагрузку лучше выполнять до передачи ПК пользователю.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перезагрузки проверяют состояние системы.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Незавершённое обновление нельзя считать установленным.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Активные часы настраиваются в параметрах Windows Update.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9416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53FCF-DFF8-CBD2-DFE9-497E015E1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1318A5-D5EA-65E2-7007-3DB05745956E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Проверка результата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Рабочее место готово, если: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установлено правильное имя;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дата, время и часовой пояс верны;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добавлены нужные языки;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компьютер получает сетевые параметры;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DNS и нужные сервисы доступны;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 установлены;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перезагрузки ошибок нет.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524521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A8C-C9B0-AA76-6AA8-9FBC4424D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2070DE-065D-511B-FE82-9F4BDAADFEFD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Диагностика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346FBBA-53D2-0A42-4B3E-0F97FC654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8450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2ECA2-576B-C8F7-CB78-11A7C7671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2C1B06-1F99-FFD2-CBF0-CB62073B47AB}"/>
              </a:ext>
            </a:extLst>
          </p:cNvPr>
          <p:cNvSpPr txBox="1"/>
          <p:nvPr/>
        </p:nvSpPr>
        <p:spPr>
          <a:xfrm>
            <a:off x="1428172" y="182880"/>
            <a:ext cx="930517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7. Установка базового программного обеспечения.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17623-309B-553D-1D70-793B334B6303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Что устанавливают на рабочий компьютер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Базовый набор зависит от задач пользователя.</a:t>
            </a:r>
          </a:p>
          <a:p>
            <a:pPr>
              <a:defRPr sz="3600"/>
            </a:pPr>
            <a:r>
              <a:rPr lang="ru-RU" dirty="0"/>
              <a:t>Обычно устанавливают:</a:t>
            </a:r>
          </a:p>
          <a:p>
            <a:pPr>
              <a:defRPr sz="3600"/>
            </a:pP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браузер;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офисные приложения;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архиватор;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PDF-программу;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корпоративные приложения;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средства удалённой поддержки.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Нельзя устанавливать программы без служебной необходимости.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7802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78954-95D6-4216-7A4E-812CCEB8B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9D01C1-D729-0BCD-3D25-2B110A94D0C0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Требования перед установкой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Перед установкой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назначение компьютера;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требования пользователя;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версию и архитектуру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системные требования программы;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свободное место на диске;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наличие лицензии.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Программа должна быть совместима с Windows 10/11 x64.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963485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5500-DBBB-CAC6-4B8B-F353FAE5E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31AB5B-2DC7-7D28-59DE-E5817A14148E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Надёжные источники программ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Программы получают: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 официального сайта разработчика;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 Microsoft Store;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 корпоративного хранилища;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через утверждённый пакетный менеджер;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 установочного носителя организации.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 следует использовать случайные сайты, сборники и модифицированные установщики.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964834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495F8-0046-77F6-F29E-0A0D93AB7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72530C-2691-1E06-B0F0-98BA2731E6EC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Типы установочных файлов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Часто используются: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.</a:t>
            </a:r>
            <a:r>
              <a:rPr lang="ru-RU" dirty="0" err="1"/>
              <a:t>exe</a:t>
            </a:r>
            <a:r>
              <a:rPr lang="ru-RU" dirty="0"/>
              <a:t> — установщик производителя;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.</a:t>
            </a:r>
            <a:r>
              <a:rPr lang="ru-RU" dirty="0" err="1"/>
              <a:t>msi</a:t>
            </a:r>
            <a:r>
              <a:rPr lang="ru-RU" dirty="0"/>
              <a:t> — пакет Windows </a:t>
            </a:r>
            <a:r>
              <a:rPr lang="ru-RU" dirty="0" err="1"/>
              <a:t>Installer</a:t>
            </a:r>
            <a:r>
              <a:rPr lang="ru-RU" dirty="0"/>
              <a:t>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.</a:t>
            </a:r>
            <a:r>
              <a:rPr lang="ru-RU" dirty="0" err="1"/>
              <a:t>msix</a:t>
            </a:r>
            <a:r>
              <a:rPr lang="ru-RU" dirty="0"/>
              <a:t> — современный пакет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Microsoft Store — установка через магазин;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Portable — приложение без стандартной установки.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Portable-программы также должны быть разрешены организацией.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925277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8CB73-EDA0-9B6D-A112-2626F3F5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80BF0D-C8B0-F1BA-E39C-32834AC23696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Процесс установки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Обычная последовательность: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Скачать установщик.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источник и имя файла.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Запустить установку.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нужные компоненты.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устанавливать лишние дополнения.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запуск программы.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Административные права используют только при необходимости.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4032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E1F98-B75C-67CD-D938-75C236E5E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67F045-D726-9580-1EF3-92035DBDF6E3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Установка через </a:t>
            </a:r>
            <a:r>
              <a:rPr lang="ru-RU" b="1" dirty="0" err="1"/>
              <a:t>WinGet</a:t>
            </a:r>
            <a:endParaRPr lang="ru-RU" b="1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 err="1"/>
              <a:t>WinGet</a:t>
            </a:r>
            <a:r>
              <a:rPr lang="ru-RU" dirty="0"/>
              <a:t> позволяет искать и устанавливать программы из командной строки.</a:t>
            </a:r>
          </a:p>
          <a:p>
            <a:pPr>
              <a:defRPr sz="3600"/>
            </a:pPr>
            <a:r>
              <a:rPr lang="ru-RU" dirty="0"/>
              <a:t>Поиск: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>
                <a:solidFill>
                  <a:srgbClr val="002060"/>
                </a:solidFill>
              </a:rPr>
              <a:t>winget</a:t>
            </a:r>
            <a:r>
              <a:rPr lang="ru-RU" dirty="0">
                <a:solidFill>
                  <a:srgbClr val="002060"/>
                </a:solidFill>
              </a:rPr>
              <a:t> </a:t>
            </a:r>
            <a:r>
              <a:rPr lang="ru-RU" dirty="0" err="1">
                <a:solidFill>
                  <a:srgbClr val="002060"/>
                </a:solidFill>
              </a:rPr>
              <a:t>search</a:t>
            </a:r>
            <a:r>
              <a:rPr lang="ru-RU" dirty="0">
                <a:solidFill>
                  <a:srgbClr val="002060"/>
                </a:solidFill>
              </a:rPr>
              <a:t> 7zip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Установка: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>
                <a:solidFill>
                  <a:srgbClr val="002060"/>
                </a:solidFill>
              </a:rPr>
              <a:t>winget</a:t>
            </a:r>
            <a:r>
              <a:rPr lang="ru-RU" dirty="0">
                <a:solidFill>
                  <a:srgbClr val="002060"/>
                </a:solidFill>
              </a:rPr>
              <a:t> </a:t>
            </a:r>
            <a:r>
              <a:rPr lang="ru-RU" dirty="0" err="1">
                <a:solidFill>
                  <a:srgbClr val="002060"/>
                </a:solidFill>
              </a:rPr>
              <a:t>install</a:t>
            </a:r>
            <a:r>
              <a:rPr lang="ru-RU" dirty="0">
                <a:solidFill>
                  <a:srgbClr val="002060"/>
                </a:solidFill>
              </a:rPr>
              <a:t> --</a:t>
            </a:r>
            <a:r>
              <a:rPr lang="ru-RU" dirty="0" err="1">
                <a:solidFill>
                  <a:srgbClr val="002060"/>
                </a:solidFill>
              </a:rPr>
              <a:t>id</a:t>
            </a:r>
            <a:r>
              <a:rPr lang="ru-RU" dirty="0">
                <a:solidFill>
                  <a:srgbClr val="002060"/>
                </a:solidFill>
              </a:rPr>
              <a:t> 7zip.7zip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Просмотр установленных пакетов: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>
                <a:solidFill>
                  <a:srgbClr val="002060"/>
                </a:solidFill>
              </a:rPr>
              <a:t>winget</a:t>
            </a:r>
            <a:r>
              <a:rPr lang="ru-RU" dirty="0">
                <a:solidFill>
                  <a:srgbClr val="002060"/>
                </a:solidFill>
              </a:rPr>
              <a:t> </a:t>
            </a:r>
            <a:r>
              <a:rPr lang="ru-RU" dirty="0" err="1">
                <a:solidFill>
                  <a:srgbClr val="002060"/>
                </a:solidFill>
              </a:rPr>
              <a:t>list</a:t>
            </a:r>
            <a:endParaRPr lang="ru-RU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Перед выполнением проверяют точный идентификатор пакета.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816942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C67BE-E70A-47D6-A0DB-57150D073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37FE61-A6D7-3BE7-54BD-BB068D4E3C1A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Настройка после установки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установки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запускается ли программа;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созданы ли нужные ярлыки;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установлены ли обновления;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работает ли открытие файлов;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нет ли лишней автозагрузки;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доступна ли программа обычному пользователю.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 каждое приложение должно запускаться вместе с Windows.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844258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ECFB7-CD1F-C9A5-B77F-1B386C679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E4F4C2-6228-4E3E-A854-B59AC414BF69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Удаление программы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Удалять программу следует штатным способом:</a:t>
            </a:r>
          </a:p>
          <a:p>
            <a:pPr>
              <a:defRPr sz="3600"/>
            </a:pPr>
            <a:r>
              <a:rPr lang="ru-RU" dirty="0"/>
              <a:t>Параметры</a:t>
            </a:r>
          </a:p>
          <a:p>
            <a:pPr>
              <a:defRPr sz="3600"/>
            </a:pPr>
            <a:r>
              <a:rPr lang="ru-RU" dirty="0"/>
              <a:t>→ Приложения</a:t>
            </a:r>
          </a:p>
          <a:p>
            <a:pPr>
              <a:defRPr sz="3600"/>
            </a:pPr>
            <a:r>
              <a:rPr lang="ru-RU" dirty="0"/>
              <a:t>→ Установленные приложения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Также можно использовать: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b="1" dirty="0" err="1">
                <a:solidFill>
                  <a:srgbClr val="002060"/>
                </a:solidFill>
              </a:rPr>
              <a:t>winget</a:t>
            </a:r>
            <a:r>
              <a:rPr lang="ru-RU" b="1" dirty="0">
                <a:solidFill>
                  <a:srgbClr val="002060"/>
                </a:solidFill>
              </a:rPr>
              <a:t> </a:t>
            </a:r>
            <a:r>
              <a:rPr lang="ru-RU" b="1" dirty="0" err="1">
                <a:solidFill>
                  <a:srgbClr val="002060"/>
                </a:solidFill>
              </a:rPr>
              <a:t>uninstall</a:t>
            </a:r>
            <a:r>
              <a:rPr lang="ru-RU" b="1" dirty="0">
                <a:solidFill>
                  <a:srgbClr val="002060"/>
                </a:solidFill>
              </a:rPr>
              <a:t> --</a:t>
            </a:r>
            <a:r>
              <a:rPr lang="ru-RU" b="1" dirty="0" err="1">
                <a:solidFill>
                  <a:srgbClr val="002060"/>
                </a:solidFill>
              </a:rPr>
              <a:t>id</a:t>
            </a:r>
            <a:r>
              <a:rPr lang="ru-RU" b="1" dirty="0">
                <a:solidFill>
                  <a:srgbClr val="002060"/>
                </a:solidFill>
              </a:rPr>
              <a:t> 7zip.7zip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удаления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исчезла ли программа;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осталось ли ошибок;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требуется ли перезагрузка;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используются ли оставшиеся данные пользователем.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683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F1BDB-B0FB-B79E-27F3-7ABB25B02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D3A2D2-0A90-9FA9-3FE6-98415394719E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готовности ПО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Рабочее место готово, если: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установлен только утверждённый набор программ;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приложения запускаются без ошибок;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программы обновлены;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лицензии активны;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обычный пользователь может работать;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лишние приложения и автозагрузка отсутствуют.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Установленный набор фиксируют в паспорте рабочего места.</a:t>
            </a:r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321615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8131A-5559-5D4E-135E-467D80DA1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828AF6-9A12-A631-E331-136B497C8B1C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Диагностика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110F98-2D38-BE73-FC9C-99436E6F5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5982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D0169-6E48-3570-924A-FC82AEAD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A88FD-716F-E87D-D8D4-59E1651A2F97}"/>
              </a:ext>
            </a:extLst>
          </p:cNvPr>
          <p:cNvSpPr txBox="1"/>
          <p:nvPr/>
        </p:nvSpPr>
        <p:spPr>
          <a:xfrm>
            <a:off x="2091655" y="182880"/>
            <a:ext cx="797821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sz="3200" b="1" dirty="0"/>
              <a:t>8. Средства восстановления Windows: </a:t>
            </a:r>
          </a:p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sz="3200" b="1" dirty="0"/>
              <a:t>точка восстановления, сброс и среда </a:t>
            </a:r>
            <a:r>
              <a:rPr lang="ru-RU" sz="3200" b="1" dirty="0" err="1"/>
              <a:t>WinRE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C23B2-9367-AC2E-ECE5-EFF1292224DA}"/>
              </a:ext>
            </a:extLst>
          </p:cNvPr>
          <p:cNvSpPr txBox="1"/>
          <p:nvPr/>
        </p:nvSpPr>
        <p:spPr>
          <a:xfrm>
            <a:off x="457199" y="1548580"/>
            <a:ext cx="11253019" cy="4577899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Зачем нужны средства восстановления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Изменение драйвера или программы может вызвать сбой.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Обновление может нарушить загрузку Windows.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Системные файлы могут быть повреждены.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содержит встроенные средства восстановления.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Способ восстановления выбирают по типу неисправности.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Перед действиями сохраняют важные данные пользователя.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54237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7CF3D-DBD0-203E-E65C-B4E1370CD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F87C02-0F0E-AFF4-C301-BC57F7A8F637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Основные средства восстановления</a:t>
            </a:r>
          </a:p>
          <a:p>
            <a:pPr>
              <a:defRPr sz="3600"/>
            </a:pPr>
            <a:r>
              <a:rPr lang="ru-RU" dirty="0"/>
              <a:t>Windows предоставляет: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точку восстановления системы;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удаление проблемного обновления;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восстановление запуска;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безопасный режим;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сброс компьютера;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среду восстановления Windows — </a:t>
            </a:r>
            <a:r>
              <a:rPr lang="ru-RU" dirty="0" err="1"/>
              <a:t>WinRE</a:t>
            </a:r>
            <a:r>
              <a:rPr lang="ru-RU" dirty="0"/>
              <a:t>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Начинают с наименее разрушительного способа.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102337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3C112-A00B-C89C-2390-D60A84D3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F5CBF9-13A4-AF58-7B5C-FB0FA572A5E4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3600"/>
            </a:pPr>
            <a:r>
              <a:rPr lang="ru-RU" b="1" dirty="0"/>
              <a:t>Точка восстановления системы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Сохраняет состояние системных файлов и реестра.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Может создаваться перед установкой программ и драйверов.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является резервной копией личных файлов.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Позволяет отменить недавние системные изменения.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Требует включённой защиты системы.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Создаётся отдельно для выбранного системного диска.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Важно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Точка восстановления ≠ резервная копия файлов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98292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D9A9-4EFA-D1AC-CEBF-2D67CE9B2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421B30-B5C9-9CE6-7204-8F2D21A8F2A0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Точка восстановления ≠ резервная копия файлов</a:t>
            </a:r>
          </a:p>
          <a:p>
            <a:pPr>
              <a:defRPr sz="3600"/>
            </a:pP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281618-C611-D095-6CCB-C4CE5756C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11372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70E22-D25B-3F2E-D8F3-0993B2467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1173C4-5631-1645-4B9C-FB41E0198F20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Создание точки восстановления</a:t>
            </a:r>
          </a:p>
          <a:p>
            <a:pPr algn="ctr">
              <a:defRPr sz="3600"/>
            </a:pPr>
            <a:endParaRPr lang="ru-RU" b="1" dirty="0"/>
          </a:p>
          <a:p>
            <a:pPr>
              <a:defRPr sz="3600"/>
            </a:pPr>
            <a:r>
              <a:rPr lang="ru-RU" dirty="0"/>
              <a:t>Запуск:</a:t>
            </a:r>
          </a:p>
          <a:p>
            <a:pPr>
              <a:defRPr sz="3600"/>
            </a:pPr>
            <a:r>
              <a:rPr lang="ru-RU" dirty="0" err="1"/>
              <a:t>Win</a:t>
            </a:r>
            <a:r>
              <a:rPr lang="ru-RU" dirty="0"/>
              <a:t> + R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sysdm.cpl</a:t>
            </a:r>
            <a:endParaRPr lang="ru-RU" dirty="0"/>
          </a:p>
          <a:p>
            <a:pPr>
              <a:defRPr sz="3600"/>
            </a:pPr>
            <a:r>
              <a:rPr lang="ru-RU" dirty="0"/>
              <a:t>→ Защита системы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Последовательность: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системный диск.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Включить защиту системы.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Нажать «Создать».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Указать понятное имя.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Дождаться завершения.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наличие точки.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2042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89840-E28B-442B-F610-FF7AA6628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A651CA-A32B-1257-84D2-9DD50315B690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Восстановление из контрольной точки</a:t>
            </a:r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/>
              <a:t>Защита системы</a:t>
            </a:r>
          </a:p>
          <a:p>
            <a:pPr>
              <a:defRPr sz="3600"/>
            </a:pPr>
            <a:r>
              <a:rPr lang="ru-RU" dirty="0"/>
              <a:t>→ Восстановить</a:t>
            </a:r>
          </a:p>
          <a:p>
            <a:pPr>
              <a:defRPr sz="3600"/>
            </a:pPr>
            <a:r>
              <a:rPr lang="ru-RU" dirty="0"/>
              <a:t>→ Выбрать точку</a:t>
            </a:r>
          </a:p>
          <a:p>
            <a:pPr>
              <a:defRPr sz="3600"/>
            </a:pP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показывает доступные точки восстановления.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Можно проверить затрагиваемые программы и драйверы.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подтверждения компьютер перезагрузится.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Системные изменения будут отменены.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Личные файлы обычно не удаляются.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загрузки проверяют исходную неисправность.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33115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7BF4-0749-9664-3AAB-49373C3F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7CEFB8-1E58-BAEE-934D-0E11EC766461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Среда восстановления Windows — </a:t>
            </a:r>
            <a:r>
              <a:rPr lang="ru-RU" b="1" dirty="0" err="1"/>
              <a:t>WinRE</a:t>
            </a:r>
            <a:endParaRPr lang="ru-RU" b="1" dirty="0"/>
          </a:p>
          <a:p>
            <a:pPr>
              <a:defRPr sz="3600"/>
            </a:pPr>
            <a:r>
              <a:rPr lang="ru-RU" dirty="0" err="1"/>
              <a:t>WinRE</a:t>
            </a:r>
            <a:r>
              <a:rPr lang="ru-RU" dirty="0"/>
              <a:t> запускается, если Windows не загружается нормально.</a:t>
            </a:r>
          </a:p>
          <a:p>
            <a:pPr>
              <a:defRPr sz="3600"/>
            </a:pPr>
            <a:r>
              <a:rPr lang="ru-RU" dirty="0"/>
              <a:t>Также её можно открыть:</a:t>
            </a:r>
          </a:p>
          <a:p>
            <a:pPr>
              <a:defRPr sz="3600"/>
            </a:pPr>
            <a:r>
              <a:rPr lang="ru-RU" dirty="0"/>
              <a:t>Параметры</a:t>
            </a:r>
          </a:p>
          <a:p>
            <a:pPr>
              <a:defRPr sz="3600"/>
            </a:pPr>
            <a:r>
              <a:rPr lang="ru-RU" dirty="0"/>
              <a:t>→ Система</a:t>
            </a:r>
          </a:p>
          <a:p>
            <a:pPr>
              <a:defRPr sz="3600"/>
            </a:pPr>
            <a:r>
              <a:rPr lang="ru-RU" dirty="0"/>
              <a:t>→ Восстановление</a:t>
            </a:r>
          </a:p>
          <a:p>
            <a:pPr>
              <a:defRPr sz="3600"/>
            </a:pPr>
            <a:r>
              <a:rPr lang="ru-RU" dirty="0"/>
              <a:t>→ Расширенный запуск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Основные инструменты: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восстановление при загрузке;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параметры 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удаление обновлений;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восстановление системы;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командная строка;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сброс компьютера.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53533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C23AF-F67F-FA71-30EA-B62ABCEF7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311097-F49C-E8E4-6DA7-F5D7A2F8C3D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Безопасный режим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запускается с минимальным набором драйверов.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Используется для поиска проблем после установки ПО.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Помогает удалить ошибочный драйвер или приложение.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Сеть может быть отключена в обычном безопасном режиме.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Безопасный режим не исправляет проблему автоматически.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изменения выполняют обычную перезагрузку.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 err="1"/>
              <a:t>WinRE</a:t>
            </a:r>
            <a:endParaRPr lang="ru-RU" dirty="0"/>
          </a:p>
          <a:p>
            <a:pPr>
              <a:defRPr sz="3600"/>
            </a:pPr>
            <a:r>
              <a:rPr lang="ru-RU" dirty="0"/>
              <a:t>→ Параметры загрузки</a:t>
            </a:r>
          </a:p>
          <a:p>
            <a:pPr>
              <a:defRPr sz="3600"/>
            </a:pPr>
            <a:r>
              <a:rPr lang="ru-RU" dirty="0"/>
              <a:t>→ Перезагрузить</a:t>
            </a:r>
          </a:p>
          <a:p>
            <a:pPr>
              <a:defRPr sz="3600"/>
            </a:pPr>
            <a:r>
              <a:rPr lang="ru-RU" dirty="0"/>
              <a:t>→ Безопасный режим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02779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66D17-CE03-8925-BF31-7E88C89B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B02D7F-35B2-CA97-4B90-F2F697E28E6F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Восстановление при загрузке</a:t>
            </a:r>
          </a:p>
          <a:p>
            <a:pPr>
              <a:defRPr sz="3600"/>
            </a:pPr>
            <a:r>
              <a:rPr lang="ru-RU" dirty="0"/>
              <a:t>Используется, если Windows не может нормально запуститься.</a:t>
            </a:r>
          </a:p>
          <a:p>
            <a:pPr>
              <a:defRPr sz="3600"/>
            </a:pPr>
            <a:r>
              <a:rPr lang="ru-RU" dirty="0"/>
              <a:t>Средство проверяет: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загрузочные файлы;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системные параметры 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некоторые повреждения системы;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типовые ошибки запуска.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 err="1"/>
              <a:t>WinRE</a:t>
            </a:r>
            <a:endParaRPr lang="ru-RU" dirty="0"/>
          </a:p>
          <a:p>
            <a:pPr>
              <a:defRPr sz="3600"/>
            </a:pPr>
            <a:r>
              <a:rPr lang="ru-RU" dirty="0"/>
              <a:t>→ Поиск и устранение неисправностей</a:t>
            </a:r>
          </a:p>
          <a:p>
            <a:pPr>
              <a:defRPr sz="3600"/>
            </a:pPr>
            <a:r>
              <a:rPr lang="ru-RU" dirty="0"/>
              <a:t>→ Дополнительные параметры</a:t>
            </a:r>
          </a:p>
          <a:p>
            <a:pPr>
              <a:defRPr sz="3600"/>
            </a:pPr>
            <a:r>
              <a:rPr lang="ru-RU" dirty="0"/>
              <a:t>→ Восстановление при загрузке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Средство не устраняет все возможные неисправности.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54843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8FEF3-49D0-2241-2515-34F5A6A86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A1CAAC-37FB-1BCA-95DF-FC568D9C894F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Удаление проблемного обновления</a:t>
            </a:r>
          </a:p>
          <a:p>
            <a:pPr>
              <a:defRPr sz="3600"/>
            </a:pPr>
            <a:r>
              <a:rPr lang="ru-RU" dirty="0"/>
              <a:t>Если сбой появился после обновления, можно удалить: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последнее качественное обновление;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последнее функциональное обновление.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Путь:</a:t>
            </a:r>
          </a:p>
          <a:p>
            <a:pPr>
              <a:defRPr sz="3600"/>
            </a:pPr>
            <a:r>
              <a:rPr lang="ru-RU" dirty="0" err="1"/>
              <a:t>WinRE</a:t>
            </a:r>
            <a:endParaRPr lang="ru-RU" dirty="0"/>
          </a:p>
          <a:p>
            <a:pPr>
              <a:defRPr sz="3600"/>
            </a:pPr>
            <a:r>
              <a:rPr lang="ru-RU" dirty="0"/>
              <a:t>→ Дополнительные параметры</a:t>
            </a:r>
          </a:p>
          <a:p>
            <a:pPr>
              <a:defRPr sz="3600"/>
            </a:pPr>
            <a:r>
              <a:rPr lang="ru-RU" dirty="0"/>
              <a:t>→ Удалить обновления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Перед удалением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когда появилась ошибка;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какое обновление установлено;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есть ли связь между обновлением и сбоем.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Обновления не удаляют без подтверждённой причины.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524375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FC8E6-C88B-9B02-1086-8A98DA80E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0696F2-FBFB-1B60-F0F6-C306070492F7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dirty="0"/>
              <a:t> </a:t>
            </a:r>
            <a:r>
              <a:rPr lang="ru-RU" b="1" dirty="0"/>
              <a:t>Сброс компьютера</a:t>
            </a:r>
          </a:p>
          <a:p>
            <a:pPr>
              <a:defRPr sz="3600"/>
            </a:pPr>
            <a:r>
              <a:rPr lang="ru-RU" dirty="0"/>
              <a:t>Сброс переустанавливает Windows.</a:t>
            </a:r>
          </a:p>
          <a:p>
            <a:pPr>
              <a:defRPr sz="3600"/>
            </a:pPr>
            <a:r>
              <a:rPr lang="ru-RU" dirty="0"/>
              <a:t>Доступны варианты: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Сохранить мои файлы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Удалить всё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Также выбирают источник установки: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Загрузка из облака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Локальная переустановка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 сбросе приложения и часть настроек удаляются.</a:t>
            </a:r>
          </a:p>
          <a:p>
            <a:pPr>
              <a:defRPr sz="3600"/>
            </a:pPr>
            <a:r>
              <a:rPr lang="ru-RU" dirty="0"/>
              <a:t>Перед запуском нужна резервная копия данных.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562147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65AC8-1EFD-67FD-0DF2-AF451AFC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21A8E9-5F11-492F-EFD9-A9291F601BD2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Как выбрать средство восстановления</a:t>
            </a:r>
          </a:p>
          <a:p>
            <a:pPr>
              <a:defRPr sz="3600"/>
            </a:pPr>
            <a:r>
              <a:rPr lang="ru-RU" b="1" dirty="0"/>
              <a:t>Windows загружается, но появилась ошибка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Удалить программу или драйвер</a:t>
            </a:r>
          </a:p>
          <a:p>
            <a:pPr indent="530225">
              <a:defRPr sz="3600"/>
            </a:pPr>
            <a:r>
              <a:rPr lang="ru-RU" dirty="0"/>
              <a:t>→ точка восстановления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Windows не загружается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WinRE</a:t>
            </a:r>
            <a:endParaRPr lang="ru-RU" dirty="0"/>
          </a:p>
          <a:p>
            <a:pPr indent="530225">
              <a:defRPr sz="3600"/>
            </a:pPr>
            <a:r>
              <a:rPr lang="ru-RU" dirty="0"/>
              <a:t>→ восстановление при загрузке</a:t>
            </a:r>
          </a:p>
          <a:p>
            <a:pPr indent="530225">
              <a:defRPr sz="3600"/>
            </a:pPr>
            <a:r>
              <a:rPr lang="ru-RU" dirty="0"/>
              <a:t>→ безопасный режим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Ошибка после обновления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Удалить последнее обновление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Другие способы не помогли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Сброс компьютера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005739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6C57-3EA0-C221-2924-2EAA6E08E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E73199-2721-79D3-BE9A-7456E87DC293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Безопасная последовательность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Зафиксировать симптом.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Сохранить важные файлы.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Определить недавнее изменение.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наименее разрушительное средство.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Выполнить восстановление.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Перезагрузить компьютер.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устранение неисправности.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Задокументировать результат.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882414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BA4-6396-837E-1B46-C78EA1F1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FA18D9-73A5-C502-ECE9-E0613C7B59B8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Диагностика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AF86986-E523-D01F-DFA8-613C6323E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8910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4FAC-4FE4-8AD7-9173-46F8B7659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27026B-BC39-481A-FA62-6438B860C898}"/>
              </a:ext>
            </a:extLst>
          </p:cNvPr>
          <p:cNvSpPr txBox="1"/>
          <p:nvPr/>
        </p:nvSpPr>
        <p:spPr>
          <a:xfrm>
            <a:off x="2471407" y="182880"/>
            <a:ext cx="721870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9. Проверка готовности рабочего места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3C116-B8B0-4F56-9470-55079385C185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>
              <a:defRPr sz="3600"/>
            </a:pPr>
            <a:r>
              <a:rPr lang="ru-RU" dirty="0"/>
              <a:t>Что означает «рабочее место готово»?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установлена и нормально загружается.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Оборудование определяется без ошибок.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Созданы нужные учётные записи.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Настроены имя, время, язык и сеть.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Установлены обновления и рабочие программы.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Результаты проверки задокументированы.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Рабочий стол без ошибок ещё не означает, что компьютер готов.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140850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630D0-E0E2-565C-DB13-86E2D68D4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97A000-2939-C2A7-24B4-A91680EE708F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системы</a:t>
            </a:r>
          </a:p>
          <a:p>
            <a:pPr>
              <a:defRPr sz="3600"/>
            </a:pPr>
            <a:r>
              <a:rPr lang="ru-RU" dirty="0"/>
              <a:t>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версию и редакцию </a:t>
            </a:r>
            <a:r>
              <a:rPr lang="en-US" dirty="0"/>
              <a:t>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состояние активации;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имя компьютера;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дату и время;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часовой пояс;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отсутствие ожидающей перезагрузки.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Команды:</a:t>
            </a:r>
          </a:p>
          <a:p>
            <a:pPr>
              <a:defRPr sz="3600"/>
            </a:pPr>
            <a:r>
              <a:rPr lang="en-US" b="1" dirty="0" err="1">
                <a:solidFill>
                  <a:srgbClr val="002060"/>
                </a:solidFill>
              </a:rPr>
              <a:t>winver</a:t>
            </a:r>
            <a:endParaRPr lang="en-US" b="1" dirty="0">
              <a:solidFill>
                <a:srgbClr val="002060"/>
              </a:solidFill>
            </a:endParaRPr>
          </a:p>
          <a:p>
            <a:pPr>
              <a:defRPr sz="3600"/>
            </a:pPr>
            <a:r>
              <a:rPr lang="en-US" b="1" dirty="0">
                <a:solidFill>
                  <a:srgbClr val="002060"/>
                </a:solidFill>
              </a:rPr>
              <a:t>hostname</a:t>
            </a:r>
          </a:p>
          <a:p>
            <a:pPr>
              <a:defRPr sz="3600"/>
            </a:pPr>
            <a:r>
              <a:rPr lang="en-US" b="1" dirty="0">
                <a:solidFill>
                  <a:srgbClr val="002060"/>
                </a:solidFill>
              </a:rPr>
              <a:t>Get-</a:t>
            </a:r>
            <a:r>
              <a:rPr lang="en-US" b="1" dirty="0" err="1">
                <a:solidFill>
                  <a:srgbClr val="002060"/>
                </a:solidFill>
              </a:rPr>
              <a:t>ComputerInfo</a:t>
            </a:r>
            <a:r>
              <a:rPr lang="en-US" b="1" dirty="0">
                <a:solidFill>
                  <a:srgbClr val="002060"/>
                </a:solidFill>
              </a:rPr>
              <a:t> |</a:t>
            </a:r>
          </a:p>
          <a:p>
            <a:pPr>
              <a:defRPr sz="3600"/>
            </a:pPr>
            <a:r>
              <a:rPr lang="en-US" b="1" dirty="0">
                <a:solidFill>
                  <a:srgbClr val="002060"/>
                </a:solidFill>
              </a:rPr>
              <a:t>    Select-Object </a:t>
            </a:r>
            <a:r>
              <a:rPr lang="en-US" b="1" dirty="0" err="1">
                <a:solidFill>
                  <a:srgbClr val="002060"/>
                </a:solidFill>
              </a:rPr>
              <a:t>WindowsProductName</a:t>
            </a:r>
            <a:r>
              <a:rPr lang="en-US" b="1" dirty="0">
                <a:solidFill>
                  <a:srgbClr val="002060"/>
                </a:solidFill>
              </a:rPr>
              <a:t>,</a:t>
            </a:r>
          </a:p>
          <a:p>
            <a:pPr>
              <a:defRPr sz="3600"/>
            </a:pPr>
            <a:r>
              <a:rPr lang="en-US" b="1" dirty="0">
                <a:solidFill>
                  <a:srgbClr val="002060"/>
                </a:solidFill>
              </a:rPr>
              <a:t>                  </a:t>
            </a:r>
            <a:r>
              <a:rPr lang="en-US" b="1" dirty="0" err="1">
                <a:solidFill>
                  <a:srgbClr val="002060"/>
                </a:solidFill>
              </a:rPr>
              <a:t>WindowsVersion</a:t>
            </a:r>
            <a:r>
              <a:rPr lang="en-US" b="1" dirty="0">
                <a:solidFill>
                  <a:srgbClr val="002060"/>
                </a:solidFill>
              </a:rPr>
              <a:t>,</a:t>
            </a:r>
          </a:p>
          <a:p>
            <a:pPr>
              <a:defRPr sz="3600"/>
            </a:pPr>
            <a:r>
              <a:rPr lang="en-US" b="1" dirty="0">
                <a:solidFill>
                  <a:srgbClr val="002060"/>
                </a:solidFill>
              </a:rPr>
              <a:t>                  </a:t>
            </a:r>
            <a:r>
              <a:rPr lang="en-US" b="1" dirty="0" err="1">
                <a:solidFill>
                  <a:srgbClr val="002060"/>
                </a:solidFill>
              </a:rPr>
              <a:t>OsBuildNumber</a:t>
            </a:r>
            <a:endParaRPr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50069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BE5E8-71C1-60A9-D9EE-FF5F52DC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996F2A-DF0D-9D61-ECFA-2BB088B3E5CC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оборудования</a:t>
            </a:r>
            <a:endParaRPr lang="en-US" b="1" dirty="0"/>
          </a:p>
          <a:p>
            <a:pPr algn="ctr">
              <a:defRPr sz="3600"/>
            </a:pPr>
            <a:endParaRPr lang="ru-RU" b="1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 Device Manager нет неизвестных устройств.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Сетевой адаптер работает.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Звук и видео определяются.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Диски отображаются в системе.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Клавиатура и мышь работают.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Нет жёлтых предупреждающих значков.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Запуск:</a:t>
            </a:r>
          </a:p>
          <a:p>
            <a:pPr>
              <a:defRPr sz="3600"/>
            </a:pPr>
            <a:r>
              <a:rPr lang="ru-RU" b="1" dirty="0" err="1">
                <a:solidFill>
                  <a:srgbClr val="002060"/>
                </a:solidFill>
              </a:rPr>
              <a:t>devmgmt.msc</a:t>
            </a:r>
            <a:endParaRPr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866153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62FA0-B90F-FC11-BA9C-529131DA9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0E66C7-1BAD-B708-C836-1E03178167E8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учётных записей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 компьютере есть административная учётная запись.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работы создан обычный пользователь.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Обычный пользователь не входит в </a:t>
            </a:r>
            <a:r>
              <a:rPr lang="ru-RU" dirty="0" err="1"/>
              <a:t>Administrators</a:t>
            </a:r>
            <a:r>
              <a:rPr lang="ru-RU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Вход под обеими учётными записями проверен.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Административные действия вызывают запрос UAC.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Неиспользуемые учётные записи отключены или удалены.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Проверка:</a:t>
            </a:r>
          </a:p>
          <a:p>
            <a:pPr>
              <a:defRPr sz="3600"/>
            </a:pPr>
            <a:r>
              <a:rPr lang="ru-RU" b="1" dirty="0">
                <a:solidFill>
                  <a:srgbClr val="002060"/>
                </a:solidFill>
              </a:rPr>
              <a:t>Get-</a:t>
            </a:r>
            <a:r>
              <a:rPr lang="ru-RU" b="1" dirty="0" err="1">
                <a:solidFill>
                  <a:srgbClr val="002060"/>
                </a:solidFill>
              </a:rPr>
              <a:t>LocalUser</a:t>
            </a:r>
            <a:endParaRPr lang="ru-RU" b="1" dirty="0">
              <a:solidFill>
                <a:srgbClr val="002060"/>
              </a:solidFill>
            </a:endParaRPr>
          </a:p>
          <a:p>
            <a:pPr>
              <a:defRPr sz="3600"/>
            </a:pPr>
            <a:r>
              <a:rPr lang="ru-RU" b="1" dirty="0">
                <a:solidFill>
                  <a:srgbClr val="002060"/>
                </a:solidFill>
              </a:rPr>
              <a:t>Get-</a:t>
            </a:r>
            <a:r>
              <a:rPr lang="ru-RU" b="1" dirty="0" err="1">
                <a:solidFill>
                  <a:srgbClr val="002060"/>
                </a:solidFill>
              </a:rPr>
              <a:t>LocalGroupMember</a:t>
            </a:r>
            <a:r>
              <a:rPr lang="ru-RU" b="1" dirty="0">
                <a:solidFill>
                  <a:srgbClr val="002060"/>
                </a:solidFill>
              </a:rPr>
              <a:t> </a:t>
            </a:r>
            <a:r>
              <a:rPr lang="ru-RU" b="1" dirty="0" err="1">
                <a:solidFill>
                  <a:srgbClr val="002060"/>
                </a:solidFill>
              </a:rPr>
              <a:t>Administrators</a:t>
            </a:r>
            <a:endParaRPr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850694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3B6F0-5A32-0086-7A3E-E09904055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718B9F-66B8-A095-E8BB-CD3FA76BC37B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сети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Сетевой адаптер включён.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Получен корректный </a:t>
            </a:r>
            <a:r>
              <a:rPr lang="en-US" dirty="0"/>
              <a:t>IP-</a:t>
            </a:r>
            <a:r>
              <a:rPr lang="ru-RU" dirty="0"/>
              <a:t>адрес.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Указаны шлюз и </a:t>
            </a:r>
            <a:r>
              <a:rPr lang="en-US" dirty="0"/>
              <a:t>DNS-</a:t>
            </a:r>
            <a:r>
              <a:rPr lang="ru-RU" dirty="0"/>
              <a:t>сервер.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Разрешаются </a:t>
            </a:r>
            <a:r>
              <a:rPr lang="en-US" dirty="0"/>
              <a:t>DNS-</a:t>
            </a:r>
            <a:r>
              <a:rPr lang="ru-RU" dirty="0"/>
              <a:t>имена.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Доступны необходимые сайты и сервисы.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Выбран правильный сетевой профиль.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Команды: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ipconfig /all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 err="1">
                <a:solidFill>
                  <a:srgbClr val="002060"/>
                </a:solidFill>
              </a:rPr>
              <a:t>nslookup</a:t>
            </a:r>
            <a:r>
              <a:rPr lang="en-US" b="1" dirty="0">
                <a:solidFill>
                  <a:srgbClr val="002060"/>
                </a:solidFill>
              </a:rPr>
              <a:t> microsoft.com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Test-</a:t>
            </a:r>
            <a:r>
              <a:rPr lang="en-US" b="1" dirty="0" err="1">
                <a:solidFill>
                  <a:srgbClr val="002060"/>
                </a:solidFill>
              </a:rPr>
              <a:t>NetConnection</a:t>
            </a:r>
            <a:r>
              <a:rPr lang="en-US" b="1" dirty="0">
                <a:solidFill>
                  <a:srgbClr val="002060"/>
                </a:solidFill>
              </a:rPr>
              <a:t> microsoft.com -Port 443</a:t>
            </a:r>
            <a:endParaRPr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710789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118CA-24CF-7598-A018-DF6FA9025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3EFC73-0030-F4FF-AA1C-141C2F3F9896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обновлений и программ</a:t>
            </a:r>
            <a:endParaRPr lang="en-US" b="1" dirty="0"/>
          </a:p>
          <a:p>
            <a:pPr algn="ctr">
              <a:defRPr sz="3600"/>
            </a:pPr>
            <a:endParaRPr lang="ru-RU" b="1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Update не показывает критичных обновлений.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Выполнена требуемая перезагрузка.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Установлены только разрешённые программы.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Все необходимые приложения запускаются.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Нет лишних программ в автозагрузке.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Лицензируемое ПО активировано.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Проверять программу нужно под обычным пользователем.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9517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14211-B7E4-C1EB-2F66-DA293A389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0E884E-27E5-9474-95EA-3A1FD4F0AA29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безопасности и восстановления</a:t>
            </a:r>
            <a:endParaRPr lang="en-US" b="1" dirty="0"/>
          </a:p>
          <a:p>
            <a:pPr algn="ctr">
              <a:defRPr sz="3600"/>
            </a:pPr>
            <a:endParaRPr lang="ru-RU" b="1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Microsoft Defender работает.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Firewall включён.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системы создана точка восстановления.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Проверен доступ к </a:t>
            </a:r>
            <a:r>
              <a:rPr lang="ru-RU" dirty="0" err="1"/>
              <a:t>WinRE</a:t>
            </a:r>
            <a:r>
              <a:rPr lang="ru-RU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Важные данные имеют резервную копию.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Пароли и ключи не записаны в открытом виде.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 err="1"/>
              <a:t>PowerShell</a:t>
            </a:r>
            <a:r>
              <a:rPr lang="ru-RU" dirty="0"/>
              <a:t>:</a:t>
            </a:r>
          </a:p>
          <a:p>
            <a:pPr>
              <a:defRPr sz="3600"/>
            </a:pPr>
            <a:r>
              <a:rPr lang="ru-RU" b="1" dirty="0">
                <a:solidFill>
                  <a:srgbClr val="002060"/>
                </a:solidFill>
              </a:rPr>
              <a:t>Get-</a:t>
            </a:r>
            <a:r>
              <a:rPr lang="ru-RU" b="1" dirty="0" err="1">
                <a:solidFill>
                  <a:srgbClr val="002060"/>
                </a:solidFill>
              </a:rPr>
              <a:t>MpComputerStatus</a:t>
            </a:r>
            <a:endParaRPr lang="ru-RU" b="1" dirty="0">
              <a:solidFill>
                <a:srgbClr val="002060"/>
              </a:solidFill>
            </a:endParaRPr>
          </a:p>
          <a:p>
            <a:pPr>
              <a:defRPr sz="3600"/>
            </a:pPr>
            <a:r>
              <a:rPr lang="ru-RU" b="1" dirty="0">
                <a:solidFill>
                  <a:srgbClr val="002060"/>
                </a:solidFill>
              </a:rPr>
              <a:t>Get-</a:t>
            </a:r>
            <a:r>
              <a:rPr lang="ru-RU" b="1" dirty="0" err="1">
                <a:solidFill>
                  <a:srgbClr val="002060"/>
                </a:solidFill>
              </a:rPr>
              <a:t>NetFirewallProfile</a:t>
            </a:r>
            <a:endParaRPr lang="ru-RU" b="1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Точка восстановления не заменяет резервную копию файлов.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489354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0C5C7-BBD1-CB91-5A79-5FB1185E9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A8820E-1DAC-1D79-8F14-AB8518BF33EA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после перезагрузки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перезагрузки повторно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загружается без ошибок;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пользователь может войти;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сеть подключается;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программы запускаются;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 завершены;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новые ошибки не появились.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Некоторые проблемы видны только после повторной загрузки.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210390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A1C99-691C-7103-85E0-090FB2E70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FEEE7F-7F65-B48A-6F58-CC86FCA99090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Паспорт рабочего места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 паспорт записывают: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имя и назначение компьютера;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версию и редакцию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пользователя и подразделение;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характеристики оборудования;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сетевые параметры;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установленные программы;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выполненные настройки;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дату и результат проверки.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Пароли в паспорт не записывают.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929791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D9CAA-E2AE-7537-559E-CDF6B6B98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322F50-158C-324F-A9AC-69ED94A54A9C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Итоговый чек-лист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Рабочее место можно передавать пользователю, если: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Система       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Оборудование  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Учётные записи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Сеть и DNS    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    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Программы     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Безопасность  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Восстановление   — OK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Документация     — OK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 обнаружении ошибки передача компьютера откладывается.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893992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C5033-1D0E-47F7-13C3-C74893E15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7AC579-85BC-06E3-546A-F9A0890022A6}"/>
              </a:ext>
            </a:extLst>
          </p:cNvPr>
          <p:cNvSpPr txBox="1"/>
          <p:nvPr/>
        </p:nvSpPr>
        <p:spPr>
          <a:xfrm>
            <a:off x="457200" y="427703"/>
            <a:ext cx="10972800" cy="60320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Диагностика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983E9C5-1CE8-F6B6-3D83-DE0183413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21879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00E55-FCCD-65C6-4A6F-4C10EA8F2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777212-9E95-16CC-FFE2-FDD4CF8BD5F9}"/>
              </a:ext>
            </a:extLst>
          </p:cNvPr>
          <p:cNvSpPr txBox="1"/>
          <p:nvPr/>
        </p:nvSpPr>
        <p:spPr>
          <a:xfrm>
            <a:off x="4117106" y="203528"/>
            <a:ext cx="365298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sz="3200" b="1" dirty="0"/>
              <a:t>Основные выводы:</a:t>
            </a:r>
          </a:p>
          <a:p>
            <a:pPr algn="ctr">
              <a:defRPr sz="3200" b="1">
                <a:solidFill>
                  <a:srgbClr val="143764"/>
                </a:solidFill>
              </a:defRPr>
            </a:pP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0C427D-F00D-1BFB-64C4-C0F59FFCA3C9}"/>
              </a:ext>
            </a:extLst>
          </p:cNvPr>
          <p:cNvSpPr txBox="1"/>
          <p:nvPr/>
        </p:nvSpPr>
        <p:spPr>
          <a:xfrm>
            <a:off x="457200" y="914400"/>
            <a:ext cx="10972800" cy="5545394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рабочего места организации обычно используется Windows 11 Pro.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Перед установкой проверяют UEFI, GPT, Secure Boot, TPM 2.0 и ресурсы компьютера.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Чистую установку выполняют с официального ISO после сохранения важных данных.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ежедневной работы используют обычную учётную запись, а права администратора — только для настройки.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Драйверы и программы устанавливают только из доверенных источников.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установки настраивают имя компьютера, время, язык, сеть и обновления.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Точка восстановления отменяет системные изменения, но не сохраняет файлы пользователя.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Готовность рабочего места подтверждают после перезагрузки и повторной проверки.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7655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1C9D9-6AC2-F4ED-C3A0-7BFDD381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4B2BCA-9E84-7465-BDE9-B23B9F70E033}"/>
              </a:ext>
            </a:extLst>
          </p:cNvPr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349212-ACD6-6A11-F27F-629C8AD462D0}"/>
              </a:ext>
            </a:extLst>
          </p:cNvPr>
          <p:cNvSpPr txBox="1"/>
          <p:nvPr/>
        </p:nvSpPr>
        <p:spPr>
          <a:xfrm>
            <a:off x="457200" y="914399"/>
            <a:ext cx="11120284" cy="5604387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Чем редакции Windows Home, Pro и Enterprise отличаются друг от друга?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Для чего Windows 11 нужны UEFI, Secure Boot и TPM 2.0?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Что называется чистой установкой Windows?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Чем локальная учётная запись отличается от Microsoft </a:t>
            </a:r>
            <a:r>
              <a:rPr lang="ru-RU" dirty="0" err="1"/>
              <a:t>Account</a:t>
            </a:r>
            <a:r>
              <a:rPr lang="ru-RU" dirty="0"/>
              <a:t>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Почему для ежедневной работы не рекомендуется использовать администратора?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Как определить устройство, для которого не установлен драйвер?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Какие настройки выполняют сразу после установки Windows?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Чем точка восстановления отличается от резервной копии файлов?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Какие средства восстановления доступны в </a:t>
            </a:r>
            <a:r>
              <a:rPr lang="ru-RU" dirty="0" err="1"/>
              <a:t>WinRE</a:t>
            </a:r>
            <a:r>
              <a:rPr lang="ru-RU" dirty="0"/>
              <a:t>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Какие проверки выполняют перед передачей компьютера пользователю?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6486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897</TotalTime>
  <Words>4446</Words>
  <Application>Microsoft Office PowerPoint</Application>
  <PresentationFormat>Широкоэкранный</PresentationFormat>
  <Paragraphs>945</Paragraphs>
  <Slides>96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96</vt:i4>
      </vt:variant>
    </vt:vector>
  </HeadingPairs>
  <TitlesOfParts>
    <vt:vector size="9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user</cp:lastModifiedBy>
  <cp:revision>10</cp:revision>
  <dcterms:created xsi:type="dcterms:W3CDTF">2013-01-27T09:14:16Z</dcterms:created>
  <dcterms:modified xsi:type="dcterms:W3CDTF">2026-08-01T05:19:24Z</dcterms:modified>
  <cp:category/>
</cp:coreProperties>
</file>