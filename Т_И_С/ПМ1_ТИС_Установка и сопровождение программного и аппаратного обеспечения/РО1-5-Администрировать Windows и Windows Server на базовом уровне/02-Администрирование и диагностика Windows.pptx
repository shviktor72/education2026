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9" r:id="rId3"/>
    <p:sldId id="291" r:id="rId4"/>
    <p:sldId id="290" r:id="rId5"/>
    <p:sldId id="292" r:id="rId6"/>
    <p:sldId id="293" r:id="rId7"/>
    <p:sldId id="294" r:id="rId8"/>
    <p:sldId id="296" r:id="rId9"/>
    <p:sldId id="297" r:id="rId10"/>
    <p:sldId id="298" r:id="rId11"/>
    <p:sldId id="299" r:id="rId12"/>
    <p:sldId id="300" r:id="rId13"/>
    <p:sldId id="295" r:id="rId14"/>
    <p:sldId id="301" r:id="rId15"/>
    <p:sldId id="303" r:id="rId16"/>
    <p:sldId id="304" r:id="rId17"/>
    <p:sldId id="305" r:id="rId18"/>
    <p:sldId id="306" r:id="rId19"/>
    <p:sldId id="307" r:id="rId20"/>
    <p:sldId id="308" r:id="rId21"/>
    <p:sldId id="309" r:id="rId22"/>
    <p:sldId id="310" r:id="rId23"/>
    <p:sldId id="311" r:id="rId24"/>
    <p:sldId id="312" r:id="rId25"/>
    <p:sldId id="313" r:id="rId26"/>
    <p:sldId id="314" r:id="rId27"/>
    <p:sldId id="302" r:id="rId28"/>
    <p:sldId id="315" r:id="rId29"/>
    <p:sldId id="316" r:id="rId30"/>
    <p:sldId id="317" r:id="rId31"/>
    <p:sldId id="319" r:id="rId32"/>
    <p:sldId id="320" r:id="rId33"/>
    <p:sldId id="321" r:id="rId34"/>
    <p:sldId id="322" r:id="rId35"/>
    <p:sldId id="318" r:id="rId36"/>
    <p:sldId id="323" r:id="rId37"/>
    <p:sldId id="324" r:id="rId38"/>
    <p:sldId id="325" r:id="rId39"/>
    <p:sldId id="326" r:id="rId40"/>
    <p:sldId id="288" r:id="rId41"/>
    <p:sldId id="327" r:id="rId42"/>
    <p:sldId id="329" r:id="rId43"/>
    <p:sldId id="330" r:id="rId44"/>
    <p:sldId id="331" r:id="rId45"/>
    <p:sldId id="332" r:id="rId46"/>
    <p:sldId id="333" r:id="rId47"/>
    <p:sldId id="334" r:id="rId48"/>
    <p:sldId id="335" r:id="rId49"/>
    <p:sldId id="336" r:id="rId50"/>
    <p:sldId id="337" r:id="rId51"/>
    <p:sldId id="338" r:id="rId52"/>
    <p:sldId id="339" r:id="rId53"/>
    <p:sldId id="340" r:id="rId54"/>
    <p:sldId id="341" r:id="rId55"/>
    <p:sldId id="328" r:id="rId56"/>
    <p:sldId id="342" r:id="rId57"/>
    <p:sldId id="345" r:id="rId58"/>
    <p:sldId id="346" r:id="rId59"/>
    <p:sldId id="347" r:id="rId60"/>
    <p:sldId id="343" r:id="rId61"/>
    <p:sldId id="348" r:id="rId62"/>
    <p:sldId id="349" r:id="rId63"/>
    <p:sldId id="354" r:id="rId64"/>
    <p:sldId id="344" r:id="rId65"/>
    <p:sldId id="350" r:id="rId66"/>
    <p:sldId id="355" r:id="rId67"/>
    <p:sldId id="356" r:id="rId68"/>
    <p:sldId id="357" r:id="rId69"/>
    <p:sldId id="358" r:id="rId70"/>
    <p:sldId id="359" r:id="rId71"/>
    <p:sldId id="361" r:id="rId72"/>
    <p:sldId id="360" r:id="rId73"/>
    <p:sldId id="353" r:id="rId74"/>
    <p:sldId id="351" r:id="rId75"/>
    <p:sldId id="362" r:id="rId76"/>
    <p:sldId id="363" r:id="rId77"/>
    <p:sldId id="364" r:id="rId78"/>
    <p:sldId id="352" r:id="rId79"/>
    <p:sldId id="289" r:id="rId8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65" d="100"/>
          <a:sy n="65" d="100"/>
        </p:scale>
        <p:origin x="834" y="60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84" Type="http://schemas.openxmlformats.org/officeDocument/2006/relationships/tableStyles" Target="tableStyles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74" Type="http://schemas.openxmlformats.org/officeDocument/2006/relationships/slide" Target="slides/slide73.xml"/><Relationship Id="rId79" Type="http://schemas.openxmlformats.org/officeDocument/2006/relationships/slide" Target="slides/slide78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82" Type="http://schemas.openxmlformats.org/officeDocument/2006/relationships/viewProps" Target="viewProps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slide" Target="slides/slide7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80" Type="http://schemas.openxmlformats.org/officeDocument/2006/relationships/slide" Target="slides/slide79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83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8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2113" y="920299"/>
            <a:ext cx="11623055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dirty="0" err="1"/>
              <a:t>Лекция</a:t>
            </a:r>
            <a:r>
              <a:rPr dirty="0"/>
              <a:t> </a:t>
            </a:r>
            <a:r>
              <a:rPr lang="ru-RU" dirty="0"/>
              <a:t>2</a:t>
            </a:r>
            <a:r>
              <a:rPr dirty="0"/>
              <a:t>. </a:t>
            </a:r>
            <a:r>
              <a:rPr lang="ru-RU" dirty="0"/>
              <a:t>Администрирование и диагностика Windows 10/11</a:t>
            </a: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Учебные 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Методика диагностики </a:t>
            </a:r>
            <a:r>
              <a:rPr lang="en-US" dirty="0"/>
              <a:t>Windows.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en-US" dirty="0"/>
              <a:t>Task Manager, Resource Monitor, Event Viewer </a:t>
            </a:r>
            <a:r>
              <a:rPr lang="ru-RU" dirty="0"/>
              <a:t>и </a:t>
            </a:r>
            <a:r>
              <a:rPr lang="en-US" dirty="0"/>
              <a:t>Reliability Monitor.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Процессы, службы и автозагрузка.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en-US" dirty="0"/>
              <a:t>CPU, RAM, </a:t>
            </a:r>
            <a:r>
              <a:rPr lang="ru-RU" dirty="0"/>
              <a:t>диск и производительность.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Сеть, </a:t>
            </a:r>
            <a:r>
              <a:rPr lang="en-US" dirty="0"/>
              <a:t>DNS, </a:t>
            </a:r>
            <a:r>
              <a:rPr lang="ru-RU" dirty="0"/>
              <a:t>маршруты и </a:t>
            </a:r>
            <a:r>
              <a:rPr lang="en-US" dirty="0"/>
              <a:t>TCP-</a:t>
            </a:r>
            <a:r>
              <a:rPr lang="ru-RU" dirty="0"/>
              <a:t>порты.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en-US" dirty="0"/>
              <a:t>Windows Update </a:t>
            </a:r>
            <a:r>
              <a:rPr lang="ru-RU" dirty="0"/>
              <a:t>и пользовательские профили.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Системные команды, восстановление и итоговый диагностический сценарий.</a:t>
            </a: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F00AA-7A97-F892-B384-A7D562FA9F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81B540D-51EA-C5A4-D32A-2AAD8434D15B}"/>
              </a:ext>
            </a:extLst>
          </p:cNvPr>
          <p:cNvSpPr txBox="1"/>
          <p:nvPr/>
        </p:nvSpPr>
        <p:spPr>
          <a:xfrm>
            <a:off x="2862186" y="182880"/>
            <a:ext cx="643714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lang="ru-RU" dirty="0"/>
              <a:t>1. Методика диагностики </a:t>
            </a:r>
            <a:r>
              <a:rPr lang="en-US" dirty="0"/>
              <a:t>Windows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8DDD0CC-E316-C1FD-1DE0-D5690651F978}"/>
              </a:ext>
            </a:extLst>
          </p:cNvPr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 fontScale="92500"/>
          </a:bodyPr>
          <a:lstStyle/>
          <a:p>
            <a:pPr algn="ctr">
              <a:defRPr sz="3600"/>
            </a:pPr>
            <a:r>
              <a:rPr lang="ru-RU" b="1" dirty="0"/>
              <a:t>Что такое диагностика?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Диагностика — поиск подтверждённой причины неисправности.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Начинают с описания наблюдаемого симптома.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Затем определяют возможную область проблемы.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Для каждой предполагаемой причины формируют гипотезу.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Гипотезу проверяют командой, журналом или тестом.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Исправление выполняют только после подтверждения причины.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925412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D36CB-29F8-0836-F660-48CAB9A599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F86C149-11CB-7658-9AFF-ABFAA07829B8}"/>
              </a:ext>
            </a:extLst>
          </p:cNvPr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Симптом и причина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Симптом — то, что видит пользователь: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Windows медленно загружается;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программа не запускается;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отсутствует доступ к сети;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компьютер перезагружается;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пользователь не может войти.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Причина — конкретная неисправность, вызвавшая симптом.</a:t>
            </a:r>
          </a:p>
          <a:p>
            <a:pPr>
              <a:defRPr sz="3600"/>
            </a:pPr>
            <a:r>
              <a:rPr lang="ru-RU" dirty="0"/>
              <a:t>Пример: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Симптом: сайт не открывается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Причина: клиент использует неверный DNS-сервер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440461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FBB2EE1-B437-F0CC-2B18-D1DF1FDDA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043AA0-FB8D-4F19-47BB-3C6DB8F28F02}"/>
              </a:ext>
            </a:extLst>
          </p:cNvPr>
          <p:cNvSpPr txBox="1"/>
          <p:nvPr/>
        </p:nvSpPr>
        <p:spPr>
          <a:xfrm>
            <a:off x="457200" y="560439"/>
            <a:ext cx="10972800" cy="5566041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dirty="0"/>
              <a:t>Уточнение симптома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Перед проверками нужно выяснить: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когда появилась проблема;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что изменилось перед её появлением;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ошибка постоянная или периодическая;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проблема у одного или нескольких пользователей;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работает ли система после перезагрузки;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какое сообщение об ошибке отображается.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Формулировка «компьютер не работает» недостаточна.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08104942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3712412-1483-BFBD-FB17-D8301BFF7F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9431B96-4BEE-28A1-4F64-07ABCC03FD25}"/>
              </a:ext>
            </a:extLst>
          </p:cNvPr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>
              <a:defRPr sz="3600"/>
            </a:pPr>
            <a:r>
              <a:rPr lang="ru-RU" b="1" dirty="0"/>
              <a:t>Определение области проблемы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Неисправность может относиться к: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оборудованию и драйверам;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загрузке Windows;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учётной записи и профилю;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процессу, службе или программе;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CPU, памяти или диску;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сети, DNS или удалённому сервису;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обновлениям и системным файлам.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Сначала определяют область, затем выбирают инструмент.</a:t>
            </a:r>
          </a:p>
          <a:p>
            <a:pPr>
              <a:defRPr sz="3600"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3265946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0D073A-6A75-5B0F-A120-AE505C7EFD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23ADE32-EA37-27C6-5AF4-3A58ACA9ECA2}"/>
              </a:ext>
            </a:extLst>
          </p:cNvPr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/>
              <a:t>Гипотеза и проверка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Гипотеза — предполагаемая причина, которую можно проверить.</a:t>
            </a:r>
          </a:p>
          <a:p>
            <a:pPr>
              <a:defRPr sz="3600"/>
            </a:pPr>
            <a:r>
              <a:rPr lang="ru-RU" dirty="0"/>
              <a:t>Пример</a:t>
            </a:r>
          </a:p>
          <a:p>
            <a:pPr>
              <a:defRPr sz="3600"/>
            </a:pPr>
            <a:r>
              <a:rPr lang="ru-RU" dirty="0"/>
              <a:t>Гипотеза:</a:t>
            </a:r>
          </a:p>
          <a:p>
            <a:pPr>
              <a:defRPr sz="3600"/>
            </a:pPr>
            <a:r>
              <a:rPr lang="ru-RU" dirty="0"/>
              <a:t>Сайт не открывается из-за ошибки DNS.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Проверки:</a:t>
            </a:r>
          </a:p>
          <a:p>
            <a:pPr>
              <a:defRPr sz="3600"/>
            </a:pPr>
            <a:r>
              <a:rPr lang="ru-RU" dirty="0" err="1"/>
              <a:t>ipconfig</a:t>
            </a:r>
            <a:r>
              <a:rPr lang="ru-RU" dirty="0"/>
              <a:t> /</a:t>
            </a:r>
            <a:r>
              <a:rPr lang="ru-RU" dirty="0" err="1"/>
              <a:t>all</a:t>
            </a:r>
            <a:endParaRPr lang="ru-RU" dirty="0"/>
          </a:p>
          <a:p>
            <a:pPr>
              <a:defRPr sz="3600"/>
            </a:pPr>
            <a:r>
              <a:rPr lang="ru-RU" dirty="0" err="1"/>
              <a:t>nslookup</a:t>
            </a:r>
            <a:r>
              <a:rPr lang="ru-RU" dirty="0"/>
              <a:t> example.com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Хорошая гипотеза заранее определяет ожидаемый результат проверки.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5787150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563E9D-45D6-D083-5EEC-DB20BE644D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5E02E92-D917-0934-8E50-D586E7F54A85}"/>
              </a:ext>
            </a:extLst>
          </p:cNvPr>
          <p:cNvSpPr txBox="1"/>
          <p:nvPr/>
        </p:nvSpPr>
        <p:spPr>
          <a:xfrm>
            <a:off x="457200" y="294968"/>
            <a:ext cx="10972800" cy="5831512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Диагностическая последовательность</a:t>
            </a:r>
          </a:p>
          <a:p>
            <a:pPr>
              <a:defRPr sz="3600"/>
            </a:pPr>
            <a:r>
              <a:rPr lang="ru-RU" dirty="0"/>
              <a:t>Симптом</a:t>
            </a:r>
          </a:p>
          <a:p>
            <a:pPr>
              <a:defRPr sz="3600"/>
            </a:pPr>
            <a:r>
              <a:rPr lang="ru-RU" dirty="0"/>
              <a:t>→ уточнение</a:t>
            </a:r>
          </a:p>
          <a:p>
            <a:pPr>
              <a:defRPr sz="3600"/>
            </a:pPr>
            <a:r>
              <a:rPr lang="ru-RU" dirty="0"/>
              <a:t>→ область проблемы</a:t>
            </a:r>
          </a:p>
          <a:p>
            <a:pPr>
              <a:defRPr sz="3600"/>
            </a:pPr>
            <a:r>
              <a:rPr lang="ru-RU" dirty="0"/>
              <a:t>→ гипотеза</a:t>
            </a:r>
          </a:p>
          <a:p>
            <a:pPr>
              <a:defRPr sz="3600"/>
            </a:pPr>
            <a:r>
              <a:rPr lang="ru-RU" dirty="0"/>
              <a:t>→ проверка</a:t>
            </a:r>
          </a:p>
          <a:p>
            <a:pPr>
              <a:defRPr sz="3600"/>
            </a:pPr>
            <a:r>
              <a:rPr lang="ru-RU" dirty="0"/>
              <a:t>→ подтверждённая причина</a:t>
            </a:r>
          </a:p>
          <a:p>
            <a:pPr>
              <a:defRPr sz="3600"/>
            </a:pPr>
            <a:r>
              <a:rPr lang="ru-RU" dirty="0"/>
              <a:t>→ минимальное исправление</a:t>
            </a:r>
          </a:p>
          <a:p>
            <a:pPr>
              <a:defRPr sz="3600"/>
            </a:pPr>
            <a:r>
              <a:rPr lang="ru-RU" dirty="0"/>
              <a:t>→ повторный тест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Если проверка не подтвердила гипотезу: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 выполнять случайное исправление;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сформировать следующую гипотезу;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продолжить сбор данных;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 менять сразу несколько параметров.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8883445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CFC45-ADBE-11E9-3B54-DC77DF2BA5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2DAAC29-E429-B767-F825-FE9D3FC4D687}"/>
              </a:ext>
            </a:extLst>
          </p:cNvPr>
          <p:cNvSpPr txBox="1"/>
          <p:nvPr/>
        </p:nvSpPr>
        <p:spPr>
          <a:xfrm>
            <a:off x="457200" y="486697"/>
            <a:ext cx="10972800" cy="5639783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b="1" dirty="0"/>
              <a:t>Безопасное исправление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Исправление должно: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устранять подтверждённую причину;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затрагивать минимум настроек;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иметь понятный ожидаемый результат;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 возможности иметь способ отката;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 удалять журналы и другие доказательства;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сопровождаться повторной проверкой.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Перезагрузка не считается универсальным способом диагностики.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070136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AD68C8-668F-0C19-E5B9-AC9AFC7EFD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26B7836-6FF0-A56E-FFBC-8EF31A693C3D}"/>
              </a:ext>
            </a:extLst>
          </p:cNvPr>
          <p:cNvSpPr txBox="1"/>
          <p:nvPr/>
        </p:nvSpPr>
        <p:spPr>
          <a:xfrm>
            <a:off x="457200" y="530942"/>
            <a:ext cx="10972800" cy="5595538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b="1" dirty="0"/>
              <a:t>Проверка результата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После исправления нужно: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повторить исходное действие пользователя;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проверить, исчез ли симптом;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убедиться, что другие функции работают;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выполнить перезагрузку, если она требуется;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повторно проверить систему;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зафиксировать причину и выполненное действие.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Исчезновение ошибки без объяснения причины не завершает диагностику.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4294595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EB6730-B22F-4A07-F429-5007B9CC6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63CEAF4-4B66-2F4D-B432-6320BE7C08EF}"/>
              </a:ext>
            </a:extLst>
          </p:cNvPr>
          <p:cNvSpPr txBox="1"/>
          <p:nvPr/>
        </p:nvSpPr>
        <p:spPr>
          <a:xfrm>
            <a:off x="457200" y="516194"/>
            <a:ext cx="10972800" cy="5610286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/>
              <a:t>Карточка неисправности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В отчёте фиксируют: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Симптом: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Область проблемы: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Недавние изменения: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Гипотеза: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Способ проверки: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Результат проверки: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Причина: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Исправление: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Повторный тест: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Такая запись позволяет другому специалисту проверить ход диагностики.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3401269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E4176C-D83D-844B-DA4C-C27B3F1D9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24EA0E3-8897-C9C5-7467-59A04B6F7E9D}"/>
              </a:ext>
            </a:extLst>
          </p:cNvPr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rPr lang="ru-RU" dirty="0"/>
              <a:t>Гипотеза</a:t>
            </a:r>
            <a:endParaRPr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75CECF86-E5E8-7B79-E7B4-57F98AA16D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43508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16827-D9C7-4AA0-9063-BDC73A0B5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6511C71C-621F-CB02-8350-2B93512041BB}"/>
              </a:ext>
            </a:extLst>
          </p:cNvPr>
          <p:cNvSpPr txBox="1"/>
          <p:nvPr/>
        </p:nvSpPr>
        <p:spPr>
          <a:xfrm>
            <a:off x="-50918" y="182880"/>
            <a:ext cx="12263357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lang="en-US" dirty="0"/>
              <a:t>2. Task Manager, Resource Monitor, Event Viewer и Reliability Monitor.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C611FAFD-DA36-0793-FCD1-BA5C6BFDA6F5}"/>
              </a:ext>
            </a:extLst>
          </p:cNvPr>
          <p:cNvSpPr txBox="1"/>
          <p:nvPr/>
        </p:nvSpPr>
        <p:spPr>
          <a:xfrm>
            <a:off x="457200" y="914400"/>
            <a:ext cx="10972800" cy="5760720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Зачем нужны встроенные инструменты диагностики?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Windows содержит несколько встроенных средств диагностики:</a:t>
            </a:r>
          </a:p>
          <a:p>
            <a:pPr>
              <a:defRPr sz="3600"/>
            </a:pPr>
            <a:endParaRPr lang="ru-RU" dirty="0"/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Task Manager — быстрая оценка процессов и нагрузки;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Resource Monitor — подробный анализ ресурсов;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Event </a:t>
            </a:r>
            <a:r>
              <a:rPr lang="ru-RU" dirty="0" err="1"/>
              <a:t>Viewer</a:t>
            </a:r>
            <a:r>
              <a:rPr lang="ru-RU" dirty="0"/>
              <a:t> — просмотр системных событий;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Reliability</a:t>
            </a:r>
            <a:r>
              <a:rPr lang="ru-RU" dirty="0"/>
              <a:t> Monitor — история сбоев и изменений;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каждый инструмент отвечает на свой диагностический вопрос;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данные нескольких инструментов дополняют друг друга.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Главная задача — не просто увидеть ошибку, а связать её с симптомом.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5808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A53E2B-DD56-9CE6-B63F-47E489C2B7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0CAA83F-52C2-808E-C81C-27FC2FE18B8B}"/>
              </a:ext>
            </a:extLst>
          </p:cNvPr>
          <p:cNvSpPr txBox="1"/>
          <p:nvPr/>
        </p:nvSpPr>
        <p:spPr>
          <a:xfrm>
            <a:off x="457200" y="457201"/>
            <a:ext cx="10972800" cy="5669280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/>
              <a:t>Task Manager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Task Manager используют для быстрой проверки: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загрузки CPU;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использования оперативной памяти;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активности диска;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сетевой нагрузки;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работающих приложений и процессов;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программ в автозагрузке.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Запуск:</a:t>
            </a:r>
          </a:p>
          <a:p>
            <a:pPr>
              <a:defRPr sz="3600"/>
            </a:pPr>
            <a:r>
              <a:rPr lang="ru-RU" dirty="0"/>
              <a:t>Ctrl + Shift + </a:t>
            </a:r>
            <a:r>
              <a:rPr lang="ru-RU" dirty="0" err="1"/>
              <a:t>Esc</a:t>
            </a:r>
            <a:endParaRPr lang="ru-RU" dirty="0"/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или:</a:t>
            </a:r>
          </a:p>
          <a:p>
            <a:pPr>
              <a:defRPr sz="3600"/>
            </a:pPr>
            <a:r>
              <a:rPr lang="ru-RU" dirty="0" err="1"/>
              <a:t>taskmgr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652661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76287F-2DCC-C1C6-194E-A22A7EB38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44742C-2E91-EB17-3671-99A4E26443C0}"/>
              </a:ext>
            </a:extLst>
          </p:cNvPr>
          <p:cNvSpPr txBox="1"/>
          <p:nvPr/>
        </p:nvSpPr>
        <p:spPr>
          <a:xfrm>
            <a:off x="457200" y="575187"/>
            <a:ext cx="10972800" cy="5551293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Основные вкладки Task Manager</a:t>
            </a:r>
          </a:p>
          <a:p>
            <a:pPr>
              <a:defRPr sz="3600"/>
            </a:pPr>
            <a:r>
              <a:rPr lang="ru-RU" b="1" dirty="0" err="1"/>
              <a:t>Processes</a:t>
            </a:r>
            <a:endParaRPr lang="ru-RU" b="1" dirty="0"/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показывает приложения и фоновые процессы;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позволяет сортировать по CPU, RAM, Disk и Network;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помогает найти процесс с высокой нагрузкой;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позволяет завершить зависшее приложение.</a:t>
            </a:r>
          </a:p>
          <a:p>
            <a:pPr>
              <a:defRPr sz="3600"/>
            </a:pPr>
            <a:r>
              <a:rPr lang="ru-RU" b="1" dirty="0"/>
              <a:t>Performance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отображает общую нагрузку на систему;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показывает CPU, RAM, диски и сеть;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помогает определить перегруженный ресурс.</a:t>
            </a:r>
          </a:p>
          <a:p>
            <a:pPr>
              <a:defRPr sz="3600"/>
            </a:pPr>
            <a:r>
              <a:rPr lang="ru-RU" b="1" dirty="0" err="1"/>
              <a:t>Startup</a:t>
            </a:r>
            <a:r>
              <a:rPr lang="ru-RU" b="1" dirty="0"/>
              <a:t> </a:t>
            </a:r>
            <a:r>
              <a:rPr lang="ru-RU" b="1" dirty="0" err="1"/>
              <a:t>apps</a:t>
            </a:r>
            <a:endParaRPr lang="ru-RU" b="1" dirty="0"/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показывает программы автозагрузки;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отображает их влияние на запуск Windows;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позволяет отключить необязательные элементы.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2565181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C9CBC8-403A-83CD-6015-9497FB08F1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1A2DACB-7C98-4B6E-269B-722FEAD61794}"/>
              </a:ext>
            </a:extLst>
          </p:cNvPr>
          <p:cNvSpPr txBox="1"/>
          <p:nvPr/>
        </p:nvSpPr>
        <p:spPr>
          <a:xfrm>
            <a:off x="457200" y="634181"/>
            <a:ext cx="10972800" cy="5810864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/>
              <a:t>Как анализировать нагрузку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Высокое значение само по себе не всегда означает неисправность.</a:t>
            </a:r>
          </a:p>
          <a:p>
            <a:pPr>
              <a:defRPr sz="3600"/>
            </a:pPr>
            <a:r>
              <a:rPr lang="ru-RU" dirty="0"/>
              <a:t>Проверяют: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какой процесс создаёт нагрузку;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постоянная она или кратковременная;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совпадает ли нагрузка с жалобой пользователя;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выполняется ли обновление или сканирование;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хватает ли свободной памяти;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 перегружен ли диск.</a:t>
            </a:r>
          </a:p>
          <a:p>
            <a:pPr>
              <a:defRPr sz="3600"/>
            </a:pPr>
            <a:r>
              <a:rPr lang="ru-RU" dirty="0"/>
              <a:t>Пример: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Симптом: компьютер работает медленно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Наблюдение: диск постоянно загружен на 100 %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Следующий шаг: определить процесс и открыть Resource Monitor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07021705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B8833D-C4A2-D655-D04A-A502F9C7C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7893594-442C-0DCB-FAC6-C075D16E0684}"/>
              </a:ext>
            </a:extLst>
          </p:cNvPr>
          <p:cNvSpPr txBox="1"/>
          <p:nvPr/>
        </p:nvSpPr>
        <p:spPr>
          <a:xfrm>
            <a:off x="457200" y="383459"/>
            <a:ext cx="10972800" cy="5743022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en-US" b="1" dirty="0"/>
              <a:t>Resource Monitor</a:t>
            </a:r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en-US" dirty="0"/>
              <a:t>Resource Monitor </a:t>
            </a:r>
            <a:r>
              <a:rPr lang="ru-RU" dirty="0"/>
              <a:t>даёт более подробную информацию, чем </a:t>
            </a:r>
            <a:r>
              <a:rPr lang="en-US" dirty="0"/>
              <a:t>Task Manager.</a:t>
            </a:r>
          </a:p>
          <a:p>
            <a:pPr>
              <a:defRPr sz="3600"/>
            </a:pPr>
            <a:r>
              <a:rPr lang="ru-RU" dirty="0"/>
              <a:t>Запуск:</a:t>
            </a:r>
          </a:p>
          <a:p>
            <a:pPr>
              <a:defRPr sz="3600"/>
            </a:pPr>
            <a:r>
              <a:rPr lang="en-US" dirty="0" err="1">
                <a:solidFill>
                  <a:srgbClr val="002060"/>
                </a:solidFill>
              </a:rPr>
              <a:t>resmon</a:t>
            </a:r>
            <a:endParaRPr lang="en-US" dirty="0">
              <a:solidFill>
                <a:srgbClr val="002060"/>
              </a:solidFill>
            </a:endParaRPr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ru-RU" dirty="0"/>
              <a:t>Основные разделы: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/>
              <a:t>CPU;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/>
              <a:t>Memory;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/>
              <a:t>Disk;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/>
              <a:t>Network.</a:t>
            </a:r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ru-RU" dirty="0"/>
              <a:t>Используется, когда </a:t>
            </a:r>
            <a:r>
              <a:rPr lang="en-US" dirty="0"/>
              <a:t>Task Manager </a:t>
            </a:r>
            <a:r>
              <a:rPr lang="ru-RU" dirty="0"/>
              <a:t>показал проблему, но её причина ещё не ясна.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363653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2DD370-4A04-79E6-FB70-B0420A8F5B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533BF32-DEF4-8078-4830-FBFC38ABC33D}"/>
              </a:ext>
            </a:extLst>
          </p:cNvPr>
          <p:cNvSpPr txBox="1"/>
          <p:nvPr/>
        </p:nvSpPr>
        <p:spPr>
          <a:xfrm>
            <a:off x="457200" y="235975"/>
            <a:ext cx="10972800" cy="622382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>
              <a:defRPr sz="3600"/>
            </a:pPr>
            <a:r>
              <a:rPr lang="ru-RU" b="1" dirty="0"/>
              <a:t>Что показывает Resource Monitor</a:t>
            </a:r>
          </a:p>
          <a:p>
            <a:pPr>
              <a:defRPr sz="3600"/>
            </a:pPr>
            <a:r>
              <a:rPr lang="ru-RU" b="1" dirty="0"/>
              <a:t>CPU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процессы с высокой загрузкой;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связанные службы;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использование процессора.</a:t>
            </a:r>
          </a:p>
          <a:p>
            <a:pPr>
              <a:defRPr sz="3600"/>
            </a:pPr>
            <a:r>
              <a:rPr lang="ru-RU" b="1" dirty="0"/>
              <a:t>Memory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используемая и доступная память;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процессы с большим потреблением;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hard</a:t>
            </a:r>
            <a:r>
              <a:rPr lang="ru-RU" dirty="0"/>
              <a:t> </a:t>
            </a:r>
            <a:r>
              <a:rPr lang="ru-RU" dirty="0" err="1"/>
              <a:t>faults</a:t>
            </a:r>
            <a:r>
              <a:rPr lang="ru-RU" dirty="0"/>
              <a:t>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распределение физической памяти.</a:t>
            </a:r>
          </a:p>
          <a:p>
            <a:pPr>
              <a:defRPr sz="3600"/>
            </a:pPr>
            <a:r>
              <a:rPr lang="ru-RU" b="1" dirty="0"/>
              <a:t>Disk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читающие и записывающие процессы;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файлы, к которым идёт обращение;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скорость чтения и записи;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длина очереди диска.</a:t>
            </a:r>
          </a:p>
          <a:p>
            <a:pPr>
              <a:defRPr sz="3600"/>
            </a:pPr>
            <a:r>
              <a:rPr lang="ru-RU" b="1" dirty="0"/>
              <a:t>Network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процессы с сетевой активностью;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текущие подключения;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прослушиваемые TCP-порты;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сетевые адреса.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3801132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2002BAC-8A38-C231-C812-F56C26CFF9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703279E-F64F-7128-0596-E8D72E6AA9B3}"/>
              </a:ext>
            </a:extLst>
          </p:cNvPr>
          <p:cNvSpPr txBox="1"/>
          <p:nvPr/>
        </p:nvSpPr>
        <p:spPr>
          <a:xfrm>
            <a:off x="457200" y="634181"/>
            <a:ext cx="10972800" cy="5492299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>
              <a:defRPr sz="3600"/>
            </a:pPr>
            <a:r>
              <a:rPr lang="en-US" b="1" dirty="0"/>
              <a:t>Event Viewer</a:t>
            </a:r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en-US" dirty="0"/>
              <a:t>Event Viewer </a:t>
            </a:r>
            <a:r>
              <a:rPr lang="ru-RU" dirty="0"/>
              <a:t>хранит события </a:t>
            </a:r>
            <a:r>
              <a:rPr lang="en-US" dirty="0"/>
              <a:t>Windows, </a:t>
            </a:r>
            <a:r>
              <a:rPr lang="ru-RU" dirty="0"/>
              <a:t>служб и приложений.</a:t>
            </a:r>
          </a:p>
          <a:p>
            <a:pPr>
              <a:defRPr sz="3600"/>
            </a:pPr>
            <a:r>
              <a:rPr lang="ru-RU" dirty="0"/>
              <a:t>Запуск:</a:t>
            </a:r>
          </a:p>
          <a:p>
            <a:pPr>
              <a:defRPr sz="3600"/>
            </a:pPr>
            <a:r>
              <a:rPr lang="en-US" b="1" dirty="0" err="1">
                <a:solidFill>
                  <a:srgbClr val="002060"/>
                </a:solidFill>
              </a:rPr>
              <a:t>eventvwr.msc</a:t>
            </a:r>
            <a:endParaRPr lang="en-US" b="1" dirty="0">
              <a:solidFill>
                <a:srgbClr val="002060"/>
              </a:solidFill>
            </a:endParaRPr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ru-RU" dirty="0"/>
              <a:t>Основные журналы: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/>
              <a:t>Application;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/>
              <a:t>System;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/>
              <a:t>Security;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/>
              <a:t>Setup;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/>
              <a:t>Forwarded Events.</a:t>
            </a:r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ru-RU" dirty="0"/>
              <a:t>Для начальной диагностики чаще всего используют: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/>
              <a:t>Windows Logs → System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/>
              <a:t>Windows Logs → Application</a:t>
            </a:r>
          </a:p>
          <a:p>
            <a:pPr>
              <a:defRPr sz="3600"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399953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FF707F-B834-7FAC-4679-2C692ABBA9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6E4A62F-A92C-DD35-69E5-81FC71DEE5DA}"/>
              </a:ext>
            </a:extLst>
          </p:cNvPr>
          <p:cNvSpPr txBox="1"/>
          <p:nvPr/>
        </p:nvSpPr>
        <p:spPr>
          <a:xfrm>
            <a:off x="457199" y="427703"/>
            <a:ext cx="11179277" cy="601734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>
              <a:defRPr sz="3600"/>
            </a:pPr>
            <a:r>
              <a:rPr lang="ru-RU" b="1" dirty="0"/>
              <a:t>Как читать события?</a:t>
            </a:r>
          </a:p>
          <a:p>
            <a:pPr>
              <a:defRPr sz="3600"/>
            </a:pPr>
            <a:r>
              <a:rPr lang="ru-RU" b="1" dirty="0"/>
              <a:t>Событие содержит: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уровень;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дату и время;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источник;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Event ID;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описание;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дополнительные сведения.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Основные уровни: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Information — штатное событие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Warning</a:t>
            </a:r>
            <a:r>
              <a:rPr lang="ru-RU" dirty="0"/>
              <a:t>     — возможная проблема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Error</a:t>
            </a:r>
            <a:r>
              <a:rPr lang="ru-RU" dirty="0"/>
              <a:t>       — зарегистрированный сбой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Critical</a:t>
            </a:r>
            <a:r>
              <a:rPr lang="ru-RU" dirty="0"/>
              <a:t>    — серьёзная ошибка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Важно: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 каждая ошибка является причиной проблемы;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время события должно совпадать со временем симптома;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сначала проверяют источник и Event ID;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затем сопоставляют событие с другими данными.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3032796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AB4535-4A52-DCCC-C5F6-5BD54580A6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9B5BD57-B116-AFF4-D8EB-2A1BAE270577}"/>
              </a:ext>
            </a:extLst>
          </p:cNvPr>
          <p:cNvSpPr txBox="1"/>
          <p:nvPr/>
        </p:nvSpPr>
        <p:spPr>
          <a:xfrm>
            <a:off x="457200" y="324465"/>
            <a:ext cx="10972800" cy="5802015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Фильтрация событий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Чтобы не просматривать весь журнал: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выбрать нужный журнал;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нажать «Filter Current </a:t>
            </a:r>
            <a:r>
              <a:rPr lang="ru-RU" dirty="0" err="1"/>
              <a:t>Log</a:t>
            </a:r>
            <a:r>
              <a:rPr lang="ru-RU" dirty="0"/>
              <a:t>»;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указать уровень;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ограничить период времени;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при необходимости указать Event ID;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проверить события рядом с моментом сбоя.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Пример:</a:t>
            </a:r>
          </a:p>
          <a:p>
            <a:pPr>
              <a:defRPr sz="3600"/>
            </a:pPr>
            <a:r>
              <a:rPr lang="ru-RU" dirty="0"/>
              <a:t>Симптом появился в 10:15</a:t>
            </a:r>
          </a:p>
          <a:p>
            <a:pPr>
              <a:defRPr sz="3600"/>
            </a:pPr>
            <a:r>
              <a:rPr lang="ru-RU" dirty="0"/>
              <a:t>→ фильтр событий с 10:00 до 10:30</a:t>
            </a:r>
          </a:p>
          <a:p>
            <a:pPr>
              <a:defRPr sz="3600"/>
            </a:pPr>
            <a:r>
              <a:rPr lang="ru-RU" dirty="0"/>
              <a:t>→ просмотр </a:t>
            </a:r>
            <a:r>
              <a:rPr lang="ru-RU" dirty="0" err="1"/>
              <a:t>Error</a:t>
            </a:r>
            <a:r>
              <a:rPr lang="ru-RU" dirty="0"/>
              <a:t> и </a:t>
            </a:r>
            <a:r>
              <a:rPr lang="ru-RU" dirty="0" err="1"/>
              <a:t>Critical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572628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72A0F1F-0118-FD70-F0CB-ABC45D39DB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1329D27-898C-13A9-8B0E-635DF46C97B1}"/>
              </a:ext>
            </a:extLst>
          </p:cNvPr>
          <p:cNvSpPr txBox="1"/>
          <p:nvPr/>
        </p:nvSpPr>
        <p:spPr>
          <a:xfrm>
            <a:off x="457200" y="634181"/>
            <a:ext cx="10972800" cy="5492299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 err="1"/>
              <a:t>Reliability</a:t>
            </a:r>
            <a:r>
              <a:rPr lang="ru-RU" b="1" dirty="0"/>
              <a:t> Monitor</a:t>
            </a:r>
          </a:p>
          <a:p>
            <a:pPr>
              <a:defRPr sz="3600"/>
            </a:pPr>
            <a:r>
              <a:rPr lang="ru-RU" dirty="0" err="1"/>
              <a:t>Reliability</a:t>
            </a:r>
            <a:r>
              <a:rPr lang="ru-RU" dirty="0"/>
              <a:t> Monitor показывает историю стабильности Windows.</a:t>
            </a:r>
          </a:p>
          <a:p>
            <a:pPr>
              <a:defRPr sz="3600"/>
            </a:pPr>
            <a:r>
              <a:rPr lang="ru-RU" dirty="0"/>
              <a:t>Запуск:</a:t>
            </a:r>
          </a:p>
          <a:p>
            <a:pPr>
              <a:defRPr sz="3600"/>
            </a:pPr>
            <a:r>
              <a:rPr lang="ru-RU" b="1" dirty="0" err="1">
                <a:solidFill>
                  <a:srgbClr val="002060"/>
                </a:solidFill>
              </a:rPr>
              <a:t>perfmon</a:t>
            </a:r>
            <a:r>
              <a:rPr lang="ru-RU" b="1" dirty="0">
                <a:solidFill>
                  <a:srgbClr val="002060"/>
                </a:solidFill>
              </a:rPr>
              <a:t> /</a:t>
            </a:r>
            <a:r>
              <a:rPr lang="ru-RU" b="1" dirty="0" err="1">
                <a:solidFill>
                  <a:srgbClr val="002060"/>
                </a:solidFill>
              </a:rPr>
              <a:t>rel</a:t>
            </a:r>
            <a:endParaRPr lang="ru-RU" b="1" dirty="0">
              <a:solidFill>
                <a:srgbClr val="002060"/>
              </a:solidFill>
            </a:endParaRP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Он отображает: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сбои приложений;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сбои Windows;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ошибки оборудования;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установки программ;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обновления Windows;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изменения драйверов.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Информация представлена по дням и помогает увидеть, после какого изменения появилась проблема.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6493397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470931-7D74-D51B-A150-02F2A1052D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6F74FD0-7070-026F-FD47-79F7A7C4F5DB}"/>
              </a:ext>
            </a:extLst>
          </p:cNvPr>
          <p:cNvSpPr txBox="1"/>
          <p:nvPr/>
        </p:nvSpPr>
        <p:spPr>
          <a:xfrm>
            <a:off x="457200" y="634181"/>
            <a:ext cx="10972800" cy="5492299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Индекс стабильности</a:t>
            </a:r>
          </a:p>
          <a:p>
            <a:pPr>
              <a:defRPr sz="3600"/>
            </a:pPr>
            <a:r>
              <a:rPr lang="ru-RU" dirty="0" err="1"/>
              <a:t>Reliability</a:t>
            </a:r>
            <a:r>
              <a:rPr lang="ru-RU" dirty="0"/>
              <a:t> Monitor использует шкалу стабильности: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1 — система часто испытывает сбои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10 — система работает стабильно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Снижение индекса может быть связано с: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аварийным завершением программ;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ошибками Windows;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неудачным обновлением;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проблемным драйвером;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аппаратной ошибкой.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Индекс используется как ориентир, а не как окончательный диагноз.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2715866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B6E44B-06D1-2805-1185-A254193B12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9A2D96-70F7-01E1-A934-1757CCF61A89}"/>
              </a:ext>
            </a:extLst>
          </p:cNvPr>
          <p:cNvSpPr txBox="1"/>
          <p:nvPr/>
        </p:nvSpPr>
        <p:spPr>
          <a:xfrm>
            <a:off x="457200" y="634181"/>
            <a:ext cx="10972800" cy="5492299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/>
              <a:t>Как выбрать инструмент</a:t>
            </a:r>
          </a:p>
          <a:p>
            <a:pPr>
              <a:defRPr sz="3600"/>
            </a:pPr>
            <a:r>
              <a:rPr lang="ru-RU" dirty="0"/>
              <a:t>Нужно быстро увидеть нагрузку</a:t>
            </a:r>
          </a:p>
          <a:p>
            <a:pPr>
              <a:defRPr sz="3600"/>
            </a:pPr>
            <a:r>
              <a:rPr lang="ru-RU" dirty="0"/>
              <a:t>→ Task Manager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Нужно подробно изучить CPU, RAM, Disk или Network</a:t>
            </a:r>
          </a:p>
          <a:p>
            <a:pPr>
              <a:defRPr sz="3600"/>
            </a:pPr>
            <a:r>
              <a:rPr lang="ru-RU" dirty="0"/>
              <a:t>→ Resource Monitor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Нужно найти зарегистрированную ошибку</a:t>
            </a:r>
          </a:p>
          <a:p>
            <a:pPr>
              <a:defRPr sz="3600"/>
            </a:pPr>
            <a:r>
              <a:rPr lang="ru-RU" dirty="0"/>
              <a:t>→ Event </a:t>
            </a:r>
            <a:r>
              <a:rPr lang="ru-RU" dirty="0" err="1"/>
              <a:t>Viewer</a:t>
            </a:r>
            <a:endParaRPr lang="ru-RU" dirty="0"/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Нужно понять, после какого изменения начались сбои</a:t>
            </a:r>
          </a:p>
          <a:p>
            <a:pPr>
              <a:defRPr sz="3600"/>
            </a:pPr>
            <a:r>
              <a:rPr lang="ru-RU" dirty="0"/>
              <a:t>→ </a:t>
            </a:r>
            <a:r>
              <a:rPr lang="ru-RU" dirty="0" err="1"/>
              <a:t>Reliability</a:t>
            </a:r>
            <a:r>
              <a:rPr lang="ru-RU" dirty="0"/>
              <a:t> Monitor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Инструменты применяются последовательно, а не изолированно.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74749135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0CF441-078A-E112-4E4B-00C83D9A63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EE91DEB-7AAA-7C12-4904-5C81D5289905}"/>
              </a:ext>
            </a:extLst>
          </p:cNvPr>
          <p:cNvSpPr txBox="1"/>
          <p:nvPr/>
        </p:nvSpPr>
        <p:spPr>
          <a:xfrm>
            <a:off x="457200" y="427703"/>
            <a:ext cx="10972800" cy="5698777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>
              <a:defRPr sz="3600"/>
            </a:pPr>
            <a:r>
              <a:rPr lang="ru-RU" b="1" dirty="0"/>
              <a:t>Пример комплексной диагностики</a:t>
            </a:r>
          </a:p>
          <a:p>
            <a:pPr>
              <a:defRPr sz="3600"/>
            </a:pPr>
            <a:r>
              <a:rPr lang="ru-RU" b="1" dirty="0"/>
              <a:t>Симптом</a:t>
            </a:r>
          </a:p>
          <a:p>
            <a:pPr>
              <a:defRPr sz="3600"/>
            </a:pPr>
            <a:r>
              <a:rPr lang="ru-RU" dirty="0"/>
              <a:t>Компьютер начал медленно работать после обновления</a:t>
            </a:r>
          </a:p>
          <a:p>
            <a:pPr>
              <a:defRPr sz="3600"/>
            </a:pPr>
            <a:endParaRPr lang="ru-RU" b="1" dirty="0"/>
          </a:p>
          <a:p>
            <a:pPr>
              <a:defRPr sz="3600"/>
            </a:pPr>
            <a:r>
              <a:rPr lang="ru-RU" b="1" dirty="0"/>
              <a:t>Последовательность</a:t>
            </a:r>
          </a:p>
          <a:p>
            <a:pPr>
              <a:defRPr sz="3600"/>
            </a:pPr>
            <a:r>
              <a:rPr lang="ru-RU" dirty="0"/>
              <a:t>Task Manager</a:t>
            </a:r>
          </a:p>
          <a:p>
            <a:pPr>
              <a:defRPr sz="3600"/>
            </a:pPr>
            <a:r>
              <a:rPr lang="ru-RU" dirty="0"/>
              <a:t>→ определить перегруженный ресурс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Resource Monitor</a:t>
            </a:r>
          </a:p>
          <a:p>
            <a:pPr>
              <a:defRPr sz="3600"/>
            </a:pPr>
            <a:r>
              <a:rPr lang="ru-RU" dirty="0"/>
              <a:t>→ найти процесс и активные файлы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 err="1"/>
              <a:t>Reliability</a:t>
            </a:r>
            <a:r>
              <a:rPr lang="ru-RU" dirty="0"/>
              <a:t> Monitor</a:t>
            </a:r>
          </a:p>
          <a:p>
            <a:pPr>
              <a:defRPr sz="3600"/>
            </a:pPr>
            <a:r>
              <a:rPr lang="ru-RU" dirty="0"/>
              <a:t>→ проверить дату обновления и начало сбоев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Event </a:t>
            </a:r>
            <a:r>
              <a:rPr lang="ru-RU" dirty="0" err="1"/>
              <a:t>Viewer</a:t>
            </a:r>
            <a:endParaRPr lang="ru-RU" dirty="0"/>
          </a:p>
          <a:p>
            <a:pPr>
              <a:defRPr sz="3600"/>
            </a:pPr>
            <a:r>
              <a:rPr lang="ru-RU" dirty="0"/>
              <a:t>→ найти ошибки в тот же период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После этого формируется подтверждаемая гипотеза.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510555279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2978BA-3480-45E0-C9D5-EA76F4729D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211E1BA-411E-4BEE-D5CE-D8560777F725}"/>
              </a:ext>
            </a:extLst>
          </p:cNvPr>
          <p:cNvSpPr txBox="1"/>
          <p:nvPr/>
        </p:nvSpPr>
        <p:spPr>
          <a:xfrm>
            <a:off x="457200" y="634181"/>
            <a:ext cx="10972800" cy="54922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rPr lang="ru-RU" dirty="0"/>
              <a:t>Гипотеза</a:t>
            </a:r>
            <a:endParaRPr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B64D6A7-2E58-18E2-F665-97561F06CCA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58402923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611B34-AB43-DD6D-931B-CD3349FE38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E93BAB3-8318-A762-FF48-F53726D70484}"/>
              </a:ext>
            </a:extLst>
          </p:cNvPr>
          <p:cNvSpPr txBox="1"/>
          <p:nvPr/>
        </p:nvSpPr>
        <p:spPr>
          <a:xfrm>
            <a:off x="2696372" y="182880"/>
            <a:ext cx="6768776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lang="ru-RU" dirty="0"/>
              <a:t>3. Процессы, службы и автозагрузка.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FDA304-5225-FFEF-EC48-6768E06C846B}"/>
              </a:ext>
            </a:extLst>
          </p:cNvPr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Процесс, служба и автозагрузка</a:t>
            </a:r>
          </a:p>
          <a:p>
            <a:pPr>
              <a:defRPr sz="3600"/>
            </a:pPr>
            <a:r>
              <a:rPr lang="ru-RU" b="1" dirty="0"/>
              <a:t>Процесс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запущенный экземпляр программы;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использует CPU, память, диск и сеть;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имеет имя и PID;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может работать в фоне.</a:t>
            </a:r>
          </a:p>
          <a:p>
            <a:pPr>
              <a:defRPr sz="3600"/>
            </a:pPr>
            <a:r>
              <a:rPr lang="ru-RU" b="1" dirty="0"/>
              <a:t>Служба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фоновый компонент Windows или приложения;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обычно запускается без участия пользователя;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может стартовать вместе с системой.</a:t>
            </a:r>
          </a:p>
          <a:p>
            <a:pPr>
              <a:defRPr sz="3600"/>
            </a:pPr>
            <a:r>
              <a:rPr lang="ru-RU" b="1" dirty="0"/>
              <a:t>Автозагрузка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программы, запускаемые при входе пользователя;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влияет на скорость загрузки и входа в систему.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6047481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F9743-7A2C-05D4-9FC1-9116C528AD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83CF7DE-E00E-C431-B4A9-14CDA2C8749D}"/>
              </a:ext>
            </a:extLst>
          </p:cNvPr>
          <p:cNvSpPr txBox="1"/>
          <p:nvPr/>
        </p:nvSpPr>
        <p:spPr>
          <a:xfrm>
            <a:off x="457200" y="368710"/>
            <a:ext cx="11282516" cy="6179573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/>
              <a:t>Что такое процесс</a:t>
            </a:r>
          </a:p>
          <a:p>
            <a:pPr>
              <a:defRPr sz="3600"/>
            </a:pPr>
            <a:r>
              <a:rPr lang="ru-RU" dirty="0"/>
              <a:t>Процесс создаётся при запуске программы или системного компонента.</a:t>
            </a:r>
          </a:p>
          <a:p>
            <a:pPr>
              <a:defRPr sz="3600"/>
            </a:pPr>
            <a:r>
              <a:rPr lang="ru-RU" b="1" dirty="0"/>
              <a:t>Примеры: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explorer.exe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notepad.exe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msedge.exe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powershell.exe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У процесса есть: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имя;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PID;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владелец;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потребление ресурсов;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состояние;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связанные файлы и подключения.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Одна программа может создавать несколько процессов.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0444438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B42C4C-F9A9-41FC-E0AC-9417D5DAD6C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342E335-346C-B1C7-57D7-09291C2E01E4}"/>
              </a:ext>
            </a:extLst>
          </p:cNvPr>
          <p:cNvSpPr txBox="1"/>
          <p:nvPr/>
        </p:nvSpPr>
        <p:spPr>
          <a:xfrm>
            <a:off x="457200" y="339213"/>
            <a:ext cx="10972800" cy="6253316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/>
              <a:t>Управление процессами</a:t>
            </a:r>
          </a:p>
          <a:p>
            <a:pPr>
              <a:defRPr sz="3600"/>
            </a:pPr>
            <a:r>
              <a:rPr lang="ru-RU" b="1" dirty="0"/>
              <a:t>Основные действия: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просмотр запущенных процессов;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сортировка по CPU, RAM, Disk и Network;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определение PID;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завершение зависшего процесса;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просмотр расположения файла;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анализ владельца процесса.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Команды: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b="1" dirty="0" err="1">
                <a:solidFill>
                  <a:srgbClr val="002060"/>
                </a:solidFill>
              </a:rPr>
              <a:t>tasklist</a:t>
            </a:r>
            <a:endParaRPr lang="ru-RU" b="1" dirty="0">
              <a:solidFill>
                <a:srgbClr val="002060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b="1" dirty="0">
                <a:solidFill>
                  <a:srgbClr val="002060"/>
                </a:solidFill>
              </a:rPr>
              <a:t>Get-Process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endParaRPr lang="ru-RU" b="1" dirty="0">
              <a:solidFill>
                <a:srgbClr val="002060"/>
              </a:solidFill>
            </a:endParaRPr>
          </a:p>
          <a:p>
            <a:pPr>
              <a:defRPr sz="3600"/>
            </a:pPr>
            <a:r>
              <a:rPr lang="ru-RU" b="1" dirty="0"/>
              <a:t>Завершение процесса: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b="1" dirty="0" err="1">
                <a:solidFill>
                  <a:srgbClr val="002060"/>
                </a:solidFill>
              </a:rPr>
              <a:t>taskkill</a:t>
            </a:r>
            <a:r>
              <a:rPr lang="ru-RU" b="1" dirty="0">
                <a:solidFill>
                  <a:srgbClr val="002060"/>
                </a:solidFill>
              </a:rPr>
              <a:t> /PID 2456 /F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b="1" dirty="0">
                <a:solidFill>
                  <a:srgbClr val="002060"/>
                </a:solidFill>
              </a:rPr>
              <a:t>Stop-Process -</a:t>
            </a:r>
            <a:r>
              <a:rPr lang="ru-RU" b="1" dirty="0" err="1">
                <a:solidFill>
                  <a:srgbClr val="002060"/>
                </a:solidFill>
              </a:rPr>
              <a:t>Id</a:t>
            </a:r>
            <a:r>
              <a:rPr lang="ru-RU" b="1" dirty="0">
                <a:solidFill>
                  <a:srgbClr val="002060"/>
                </a:solidFill>
              </a:rPr>
              <a:t> 2456 -Force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Принудительное завершение используют только при необходимости.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354974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CD637D-56E9-208C-DA43-8D4D6AB33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8367B72-AAF3-B6B2-1822-85C6242FF8D1}"/>
              </a:ext>
            </a:extLst>
          </p:cNvPr>
          <p:cNvSpPr txBox="1"/>
          <p:nvPr/>
        </p:nvSpPr>
        <p:spPr>
          <a:xfrm>
            <a:off x="457200" y="235975"/>
            <a:ext cx="10972800" cy="6268064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/>
              <a:t>Опасность случайного завершения</a:t>
            </a:r>
          </a:p>
          <a:p>
            <a:pPr algn="ctr">
              <a:defRPr sz="3600"/>
            </a:pPr>
            <a:endParaRPr lang="ru-RU" b="1" dirty="0"/>
          </a:p>
          <a:p>
            <a:pPr>
              <a:defRPr sz="3600"/>
            </a:pPr>
            <a:r>
              <a:rPr lang="ru-RU" b="1" dirty="0"/>
              <a:t>Нельзя завершать процесс только потому, что он: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имеет незнакомое имя;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использует много памяти;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работает в фоне;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временно загружает CPU;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создаёт несколько дочерних процессов.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Перед завершением проверяют:</a:t>
            </a:r>
          </a:p>
          <a:p>
            <a:pPr>
              <a:defRPr sz="3600"/>
            </a:pPr>
            <a:r>
              <a:rPr lang="ru-RU" dirty="0"/>
              <a:t>→ Имя процесса</a:t>
            </a:r>
          </a:p>
          <a:p>
            <a:pPr>
              <a:defRPr sz="3600"/>
            </a:pPr>
            <a:r>
              <a:rPr lang="ru-RU" dirty="0"/>
              <a:t>→ владелец</a:t>
            </a:r>
          </a:p>
          <a:p>
            <a:pPr>
              <a:defRPr sz="3600"/>
            </a:pPr>
            <a:r>
              <a:rPr lang="ru-RU" dirty="0"/>
              <a:t>→ путь к файлу</a:t>
            </a:r>
          </a:p>
          <a:p>
            <a:pPr>
              <a:defRPr sz="3600"/>
            </a:pPr>
            <a:r>
              <a:rPr lang="ru-RU" dirty="0"/>
              <a:t>→ назначение</a:t>
            </a:r>
          </a:p>
          <a:p>
            <a:pPr>
              <a:defRPr sz="3600"/>
            </a:pPr>
            <a:r>
              <a:rPr lang="ru-RU" dirty="0"/>
              <a:t>→ связь с симптомом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Завершение системного процесса может вызвать сбой или перезагрузку Windows.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4900478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A821CE8-3F2D-F7F0-17D3-0ACC89AF02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54026A2-0710-6B38-BBDE-2C0197B309CD}"/>
              </a:ext>
            </a:extLst>
          </p:cNvPr>
          <p:cNvSpPr txBox="1"/>
          <p:nvPr/>
        </p:nvSpPr>
        <p:spPr>
          <a:xfrm>
            <a:off x="457200" y="383459"/>
            <a:ext cx="10972800" cy="5743022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/>
              <a:t>Что такое служба Windows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Служба работает в фоне и обычно не имеет собственного окна.</a:t>
            </a:r>
          </a:p>
          <a:p>
            <a:pPr>
              <a:defRPr sz="3600"/>
            </a:pPr>
            <a:r>
              <a:rPr lang="ru-RU" b="1" dirty="0"/>
              <a:t>Службы обеспечивают: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сетевые подключения;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печать;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обновления;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журналирование;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защиту системы;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работу приложений и драйверов.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Запуск оснастки:</a:t>
            </a:r>
          </a:p>
          <a:p>
            <a:pPr>
              <a:defRPr sz="3600"/>
            </a:pPr>
            <a:r>
              <a:rPr lang="ru-RU" b="1" dirty="0" err="1"/>
              <a:t>services.msc</a:t>
            </a:r>
            <a:endParaRPr lang="ru-RU" b="1" dirty="0"/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 err="1"/>
              <a:t>PowerShell</a:t>
            </a:r>
            <a:r>
              <a:rPr lang="ru-RU" dirty="0"/>
              <a:t>:</a:t>
            </a:r>
          </a:p>
          <a:p>
            <a:pPr>
              <a:defRPr sz="3600"/>
            </a:pPr>
            <a:r>
              <a:rPr lang="ru-RU" b="1" dirty="0">
                <a:solidFill>
                  <a:srgbClr val="002060"/>
                </a:solidFill>
              </a:rPr>
              <a:t>Get-Service</a:t>
            </a:r>
            <a:endParaRPr b="1"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9315779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6BDB2A-342A-CA53-9190-8DC2D98AF1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918D11C-6CFC-ADE1-9D26-D001ACFD0DEC}"/>
              </a:ext>
            </a:extLst>
          </p:cNvPr>
          <p:cNvSpPr txBox="1"/>
          <p:nvPr/>
        </p:nvSpPr>
        <p:spPr>
          <a:xfrm>
            <a:off x="457200" y="353961"/>
            <a:ext cx="10972800" cy="6135329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/>
              <a:t>Состояние и тип запуска службы</a:t>
            </a:r>
          </a:p>
          <a:p>
            <a:pPr>
              <a:defRPr sz="3600"/>
            </a:pPr>
            <a:r>
              <a:rPr lang="ru-RU" b="1" dirty="0"/>
              <a:t>Основные состояния: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Running</a:t>
            </a:r>
            <a:r>
              <a:rPr lang="ru-RU" dirty="0"/>
              <a:t> — служба работает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Stopped</a:t>
            </a:r>
            <a:r>
              <a:rPr lang="ru-RU" dirty="0"/>
              <a:t> — служба остановлена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Paused</a:t>
            </a:r>
            <a:r>
              <a:rPr lang="ru-RU" dirty="0"/>
              <a:t>  — работа приостановлена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Типы запуска: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Automatic</a:t>
            </a:r>
            <a:endParaRPr lang="ru-RU" dirty="0"/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Automatic</a:t>
            </a:r>
            <a:r>
              <a:rPr lang="ru-RU" dirty="0"/>
              <a:t> (</a:t>
            </a:r>
            <a:r>
              <a:rPr lang="ru-RU" dirty="0" err="1"/>
              <a:t>Delayed</a:t>
            </a:r>
            <a:r>
              <a:rPr lang="ru-RU" dirty="0"/>
              <a:t> Start)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Manual</a:t>
            </a:r>
            <a:endParaRPr lang="ru-RU" dirty="0"/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Disabled</a:t>
            </a:r>
            <a:endParaRPr lang="ru-RU" dirty="0"/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Важно: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Stopped</a:t>
            </a:r>
            <a:r>
              <a:rPr lang="ru-RU" dirty="0"/>
              <a:t> не всегда означает ошибку;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служба с типом </a:t>
            </a:r>
            <a:r>
              <a:rPr lang="ru-RU" dirty="0" err="1"/>
              <a:t>Manual</a:t>
            </a:r>
            <a:r>
              <a:rPr lang="ru-RU" dirty="0"/>
              <a:t> запускается по требованию;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отключение системной службы может нарушить работу Windows;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сначала выясняют назначение службы.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95307561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45F5B6-D66C-6E15-9924-CE46637112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238A9E1-4F69-3E53-CA35-8EBC24AFAB16}"/>
              </a:ext>
            </a:extLst>
          </p:cNvPr>
          <p:cNvSpPr txBox="1"/>
          <p:nvPr/>
        </p:nvSpPr>
        <p:spPr>
          <a:xfrm>
            <a:off x="457200" y="265471"/>
            <a:ext cx="10972800" cy="623856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>
              <a:defRPr sz="3600"/>
            </a:pPr>
            <a:r>
              <a:rPr lang="ru-RU" b="1" dirty="0"/>
              <a:t>Управление службами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Основные действия: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/>
              <a:t>Get-Service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/>
              <a:t>Start-Service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/>
              <a:t>Stop-Service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/>
              <a:t>Restart-Service</a:t>
            </a:r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ru-RU" b="1" dirty="0"/>
              <a:t>Пример: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b="1" dirty="0">
                <a:solidFill>
                  <a:srgbClr val="002060"/>
                </a:solidFill>
              </a:rPr>
              <a:t>Get-Service -Name Spooler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b="1" dirty="0">
                <a:solidFill>
                  <a:srgbClr val="002060"/>
                </a:solidFill>
              </a:rPr>
              <a:t>Restart-Service -Name Spooler</a:t>
            </a:r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ru-RU" b="1" dirty="0"/>
              <a:t>Изменение типа запуска: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>
                <a:solidFill>
                  <a:srgbClr val="002060"/>
                </a:solidFill>
              </a:rPr>
              <a:t>Set-Service -Name Spooler -</a:t>
            </a:r>
            <a:r>
              <a:rPr lang="en-US" dirty="0" err="1">
                <a:solidFill>
                  <a:srgbClr val="002060"/>
                </a:solidFill>
              </a:rPr>
              <a:t>StartupType</a:t>
            </a:r>
            <a:r>
              <a:rPr lang="en-US" dirty="0">
                <a:solidFill>
                  <a:srgbClr val="002060"/>
                </a:solidFill>
              </a:rPr>
              <a:t> Automatic</a:t>
            </a:r>
          </a:p>
          <a:p>
            <a:pPr>
              <a:defRPr sz="3600"/>
            </a:pPr>
            <a:endParaRPr lang="en-US" dirty="0">
              <a:solidFill>
                <a:srgbClr val="002060"/>
              </a:solidFill>
            </a:endParaRPr>
          </a:p>
          <a:p>
            <a:pPr>
              <a:defRPr sz="3600"/>
            </a:pPr>
            <a:r>
              <a:rPr lang="ru-RU" b="1" dirty="0"/>
              <a:t>Перед остановкой службы проверяют: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зависит ли от неё другая служба;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использует ли её пользователь;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требуется ли перезапуск;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можно ли безопасно отменить изменение.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3850314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5F771-CA61-287A-EED9-4D3D2913C75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AAFCB6E-D108-EE98-0479-61010E28D912}"/>
              </a:ext>
            </a:extLst>
          </p:cNvPr>
          <p:cNvSpPr txBox="1"/>
          <p:nvPr/>
        </p:nvSpPr>
        <p:spPr>
          <a:xfrm>
            <a:off x="457200" y="398207"/>
            <a:ext cx="10972800" cy="6105832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>
              <a:defRPr sz="3600"/>
            </a:pPr>
            <a:r>
              <a:rPr lang="ru-RU" b="1" dirty="0"/>
              <a:t>Автозагрузка Windows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Автозагрузка содержит программы, запускаемые после входа пользователя.</a:t>
            </a:r>
          </a:p>
          <a:p>
            <a:pPr>
              <a:defRPr sz="3600"/>
            </a:pPr>
            <a:r>
              <a:rPr lang="ru-RU" b="1" dirty="0"/>
              <a:t>Примеры: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мессенджеры;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облачные клиенты;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утилиты производителей;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средства обновления;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панели управления оборудованием.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Просмотр:</a:t>
            </a:r>
          </a:p>
          <a:p>
            <a:pPr>
              <a:defRPr sz="3600"/>
            </a:pPr>
            <a:r>
              <a:rPr lang="ru-RU" dirty="0"/>
              <a:t>→ Task Manager</a:t>
            </a:r>
          </a:p>
          <a:p>
            <a:pPr>
              <a:defRPr sz="3600"/>
            </a:pPr>
            <a:r>
              <a:rPr lang="ru-RU" dirty="0"/>
              <a:t>→ </a:t>
            </a:r>
            <a:r>
              <a:rPr lang="ru-RU" dirty="0" err="1"/>
              <a:t>Startup</a:t>
            </a:r>
            <a:r>
              <a:rPr lang="ru-RU" dirty="0"/>
              <a:t> </a:t>
            </a:r>
            <a:r>
              <a:rPr lang="ru-RU" dirty="0" err="1"/>
              <a:t>apps</a:t>
            </a:r>
            <a:endParaRPr lang="ru-RU" dirty="0"/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Также можно использовать:</a:t>
            </a:r>
          </a:p>
          <a:p>
            <a:pPr>
              <a:defRPr sz="3600"/>
            </a:pPr>
            <a:r>
              <a:rPr lang="ru-RU" dirty="0" err="1">
                <a:solidFill>
                  <a:srgbClr val="002060"/>
                </a:solidFill>
              </a:rPr>
              <a:t>shell:startup</a:t>
            </a:r>
            <a:endParaRPr lang="ru-RU" dirty="0">
              <a:solidFill>
                <a:srgbClr val="002060"/>
              </a:solidFill>
            </a:endParaRP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Не каждый элемент автозагрузки является необходимым.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140134948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8A82EA-7323-218B-791C-05E0F53717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D0D3804-AFF6-5CE9-73E1-53F471C40A17}"/>
              </a:ext>
            </a:extLst>
          </p:cNvPr>
          <p:cNvSpPr txBox="1"/>
          <p:nvPr/>
        </p:nvSpPr>
        <p:spPr>
          <a:xfrm>
            <a:off x="457200" y="309716"/>
            <a:ext cx="10972800" cy="6253315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>
              <a:defRPr sz="3600"/>
            </a:pPr>
            <a:r>
              <a:rPr lang="ru-RU" b="1" dirty="0"/>
              <a:t>Анализ автозагрузки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При проверке учитывают: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издателя программы;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назначение;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влияние на запуск;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необходимость постоянной работы;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наличие цифровой подписи;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последствия отключения.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Обычно можно отключить: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необязательные мессенджеры;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программы быстрого запуска;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рекламные помощники;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ненужные обновляющие агенты.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Не отключают без проверки: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средства защиты;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драйверные компоненты;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корпоративные агенты;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программы резервного копирования.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5963045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0D4975-E51A-C7DD-A2D4-4AB6DB969B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CEF59050-01AF-BE30-BDE5-23BCEE7C7DAD}"/>
              </a:ext>
            </a:extLst>
          </p:cNvPr>
          <p:cNvSpPr txBox="1"/>
          <p:nvPr/>
        </p:nvSpPr>
        <p:spPr>
          <a:xfrm>
            <a:off x="457200" y="634181"/>
            <a:ext cx="10972800" cy="5722374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/>
              <a:t>Диагностический сценарий</a:t>
            </a:r>
          </a:p>
          <a:p>
            <a:pPr>
              <a:defRPr sz="3600"/>
            </a:pPr>
            <a:r>
              <a:rPr lang="ru-RU" b="1" dirty="0"/>
              <a:t>Симптом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Windows долго загружается,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после входа система работает медленно</a:t>
            </a:r>
          </a:p>
          <a:p>
            <a:pPr>
              <a:defRPr sz="3600"/>
            </a:pPr>
            <a:endParaRPr lang="ru-RU" b="1" dirty="0"/>
          </a:p>
          <a:p>
            <a:pPr>
              <a:defRPr sz="3600"/>
            </a:pPr>
            <a:r>
              <a:rPr lang="ru-RU" b="1" dirty="0"/>
              <a:t>Проверка</a:t>
            </a:r>
          </a:p>
          <a:p>
            <a:pPr>
              <a:defRPr sz="3600"/>
            </a:pPr>
            <a:r>
              <a:rPr lang="ru-RU" dirty="0"/>
              <a:t>Task Manager</a:t>
            </a:r>
          </a:p>
          <a:p>
            <a:pPr>
              <a:defRPr sz="3600"/>
            </a:pPr>
            <a:r>
              <a:rPr lang="ru-RU" dirty="0"/>
              <a:t>→ </a:t>
            </a:r>
            <a:r>
              <a:rPr lang="ru-RU" dirty="0" err="1"/>
              <a:t>Startup</a:t>
            </a:r>
            <a:r>
              <a:rPr lang="ru-RU" dirty="0"/>
              <a:t> </a:t>
            </a:r>
            <a:r>
              <a:rPr lang="ru-RU" dirty="0" err="1"/>
              <a:t>apps</a:t>
            </a:r>
            <a:endParaRPr lang="ru-RU" dirty="0"/>
          </a:p>
          <a:p>
            <a:pPr>
              <a:defRPr sz="3600"/>
            </a:pPr>
            <a:r>
              <a:rPr lang="ru-RU" dirty="0"/>
              <a:t>→ определить программы с высоким влиянием</a:t>
            </a:r>
          </a:p>
          <a:p>
            <a:pPr>
              <a:defRPr sz="3600"/>
            </a:pPr>
            <a:r>
              <a:rPr lang="ru-RU" dirty="0"/>
              <a:t>→ проверить процессы</a:t>
            </a:r>
          </a:p>
          <a:p>
            <a:pPr>
              <a:defRPr sz="3600"/>
            </a:pPr>
            <a:r>
              <a:rPr lang="ru-RU" dirty="0"/>
              <a:t>→ отключить один необязательный элемент</a:t>
            </a:r>
          </a:p>
          <a:p>
            <a:pPr>
              <a:defRPr sz="3600"/>
            </a:pPr>
            <a:r>
              <a:rPr lang="ru-RU" dirty="0"/>
              <a:t>→ перезагрузить</a:t>
            </a:r>
          </a:p>
          <a:p>
            <a:pPr>
              <a:defRPr sz="3600"/>
            </a:pPr>
            <a:r>
              <a:rPr lang="ru-RU" dirty="0"/>
              <a:t>→ повторно измерить время запуска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Изменяют только один параметр за один цикл проверки.</a:t>
            </a:r>
          </a:p>
          <a:p>
            <a:pPr>
              <a:defRPr sz="3600"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2649603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4264EA-71DB-69B9-E185-DC855EF6AE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0F0A8B5-FEAB-A8FE-775A-676BB4416E70}"/>
              </a:ext>
            </a:extLst>
          </p:cNvPr>
          <p:cNvSpPr txBox="1"/>
          <p:nvPr/>
        </p:nvSpPr>
        <p:spPr>
          <a:xfrm>
            <a:off x="457200" y="634181"/>
            <a:ext cx="10972800" cy="54922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 algn="ctr">
              <a:defRPr sz="3600"/>
            </a:pPr>
            <a:r>
              <a:rPr lang="ru-RU" b="1" dirty="0"/>
              <a:t>Процессы и службы: различия</a:t>
            </a:r>
            <a:endParaRPr b="1"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3BA8F46C-1685-D3A0-54E5-7BBFA5CECBA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9719" y="1826649"/>
            <a:ext cx="11411338" cy="32047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9727443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2140F9-02E4-7E7D-0ADB-39062A90E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52F0C3E-6313-3CC9-4E82-9A9BA932AB9A}"/>
              </a:ext>
            </a:extLst>
          </p:cNvPr>
          <p:cNvSpPr txBox="1"/>
          <p:nvPr/>
        </p:nvSpPr>
        <p:spPr>
          <a:xfrm>
            <a:off x="457200" y="634181"/>
            <a:ext cx="10972800" cy="5492299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Безопасная последовательность</a:t>
            </a:r>
          </a:p>
          <a:p>
            <a:pPr>
              <a:defRPr sz="3600"/>
            </a:pPr>
            <a:r>
              <a:rPr lang="ru-RU" dirty="0"/>
              <a:t>Найти симптом</a:t>
            </a:r>
          </a:p>
          <a:p>
            <a:pPr>
              <a:defRPr sz="3600"/>
            </a:pPr>
            <a:r>
              <a:rPr lang="ru-RU" dirty="0"/>
              <a:t>→ определить процесс или службу</a:t>
            </a:r>
          </a:p>
          <a:p>
            <a:pPr>
              <a:defRPr sz="3600"/>
            </a:pPr>
            <a:r>
              <a:rPr lang="ru-RU" dirty="0"/>
              <a:t>→ проверить назначение</a:t>
            </a:r>
          </a:p>
          <a:p>
            <a:pPr>
              <a:defRPr sz="3600"/>
            </a:pPr>
            <a:r>
              <a:rPr lang="ru-RU" dirty="0"/>
              <a:t>→ проверить владельца и путь</a:t>
            </a:r>
          </a:p>
          <a:p>
            <a:pPr>
              <a:defRPr sz="3600"/>
            </a:pPr>
            <a:r>
              <a:rPr lang="ru-RU" dirty="0"/>
              <a:t>→ изменить один параметр</a:t>
            </a:r>
          </a:p>
          <a:p>
            <a:pPr>
              <a:defRPr sz="3600"/>
            </a:pPr>
            <a:r>
              <a:rPr lang="ru-RU" dirty="0"/>
              <a:t>→ выполнить повторный тест</a:t>
            </a:r>
          </a:p>
          <a:p>
            <a:pPr>
              <a:defRPr sz="3600"/>
            </a:pPr>
            <a:r>
              <a:rPr lang="ru-RU" dirty="0"/>
              <a:t>→ зафиксировать результат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Не следует: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отключать неизвестные службы массово;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завершать системные процессы без проверки;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очищать всю автозагрузку одновременно;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использовать случайные программы-оптимизаторы.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287131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CA93BF-D20E-7121-755D-679F834E43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11563CD-27A1-9BF3-F16C-50D1BB3D5CBC}"/>
              </a:ext>
            </a:extLst>
          </p:cNvPr>
          <p:cNvSpPr txBox="1"/>
          <p:nvPr/>
        </p:nvSpPr>
        <p:spPr>
          <a:xfrm>
            <a:off x="457200" y="634181"/>
            <a:ext cx="10972800" cy="54922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rPr lang="ru-RU" dirty="0"/>
              <a:t>Гипотеза</a:t>
            </a:r>
            <a:endParaRPr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C91B0398-EECF-6A51-9C5C-D26F589B9F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5350156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279270" y="182880"/>
            <a:ext cx="7602980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lang="ru-RU" dirty="0"/>
              <a:t>4. CPU, RAM, диск и производительность.</a:t>
            </a:r>
            <a:endParaRPr dirty="0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>
              <a:defRPr sz="3600"/>
            </a:pPr>
            <a:r>
              <a:rPr lang="ru-RU" b="1" dirty="0"/>
              <a:t>Что влияет на производительность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Скорость работы Windows зависит от: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загрузки процессора;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доступной оперативной памяти;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производительности диска;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количества фоновых процессов;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свободного места на системном диске;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характера выполняемой задачи.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Медленная работа компьютера — это симптом, а не готовый диагноз.</a:t>
            </a:r>
            <a:endParaRPr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AD4032-6124-E083-1AD1-F0E0998346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D2CF547-40B3-60F6-000F-BD2487E79087}"/>
              </a:ext>
            </a:extLst>
          </p:cNvPr>
          <p:cNvSpPr txBox="1"/>
          <p:nvPr/>
        </p:nvSpPr>
        <p:spPr>
          <a:xfrm>
            <a:off x="457200" y="206477"/>
            <a:ext cx="10972800" cy="5920003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Поиск узкого места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Узкое место — ресурс, ограничивающий работу системы.</a:t>
            </a:r>
          </a:p>
          <a:p>
            <a:pPr>
              <a:defRPr sz="3600"/>
            </a:pPr>
            <a:r>
              <a:rPr lang="ru-RU" dirty="0"/>
              <a:t>Основные варианты: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CPU  — процессор не успевает выполнять задачи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RAM  — системе не хватает оперативной памяти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Disk — накопитель не успевает читать и записывать данные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Диагностическая последовательность:</a:t>
            </a:r>
          </a:p>
          <a:p>
            <a:pPr>
              <a:defRPr sz="3600"/>
            </a:pPr>
            <a:r>
              <a:rPr lang="ru-RU" dirty="0"/>
              <a:t>→ Симптом</a:t>
            </a:r>
          </a:p>
          <a:p>
            <a:pPr>
              <a:defRPr sz="3600"/>
            </a:pPr>
            <a:r>
              <a:rPr lang="ru-RU" dirty="0"/>
              <a:t>→ определить перегруженный ресурс</a:t>
            </a:r>
          </a:p>
          <a:p>
            <a:pPr>
              <a:defRPr sz="3600"/>
            </a:pPr>
            <a:r>
              <a:rPr lang="ru-RU" dirty="0"/>
              <a:t>→ найти процесс</a:t>
            </a:r>
          </a:p>
          <a:p>
            <a:pPr>
              <a:defRPr sz="3600"/>
            </a:pPr>
            <a:r>
              <a:rPr lang="ru-RU" dirty="0"/>
              <a:t>→ установить причину</a:t>
            </a:r>
          </a:p>
          <a:p>
            <a:pPr>
              <a:defRPr sz="3600"/>
            </a:pPr>
            <a:r>
              <a:rPr lang="ru-RU" dirty="0"/>
              <a:t>→ выполнить минимальное исправление</a:t>
            </a:r>
          </a:p>
          <a:p>
            <a:pPr>
              <a:defRPr sz="3600"/>
            </a:pPr>
            <a:r>
              <a:rPr lang="ru-RU" dirty="0"/>
              <a:t>→ повторить тест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0393372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4465F3-E633-9D93-3829-52445616C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301AF0D-2F51-A9ED-1615-BEFC3ECB991E}"/>
              </a:ext>
            </a:extLst>
          </p:cNvPr>
          <p:cNvSpPr txBox="1"/>
          <p:nvPr/>
        </p:nvSpPr>
        <p:spPr>
          <a:xfrm>
            <a:off x="457200" y="250723"/>
            <a:ext cx="10972800" cy="6297561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>
              <a:defRPr sz="3600"/>
            </a:pPr>
            <a:r>
              <a:rPr lang="ru-RU" b="1" dirty="0"/>
              <a:t>Диагностика </a:t>
            </a:r>
            <a:r>
              <a:rPr lang="en-US" b="1" dirty="0"/>
              <a:t>CPU</a:t>
            </a:r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ru-RU" dirty="0"/>
              <a:t>Высокая загрузка </a:t>
            </a:r>
            <a:r>
              <a:rPr lang="en-US" dirty="0"/>
              <a:t>CPU </a:t>
            </a:r>
            <a:r>
              <a:rPr lang="ru-RU" dirty="0"/>
              <a:t>может быть вызвана: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ресурсоёмкой программой;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зависшим процессом;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установкой обновлений;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антивирусным сканированием;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большим количеством фоновых задач;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вредоносным или ошибочно работающим ПО.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Проверка:</a:t>
            </a:r>
          </a:p>
          <a:p>
            <a:pPr>
              <a:defRPr sz="3600"/>
            </a:pPr>
            <a:r>
              <a:rPr lang="en-US" dirty="0"/>
              <a:t>→ Task Manager</a:t>
            </a:r>
          </a:p>
          <a:p>
            <a:pPr>
              <a:defRPr sz="3600"/>
            </a:pPr>
            <a:r>
              <a:rPr lang="en-US" dirty="0"/>
              <a:t>→ Processes</a:t>
            </a:r>
          </a:p>
          <a:p>
            <a:pPr>
              <a:defRPr sz="3600"/>
            </a:pPr>
            <a:r>
              <a:rPr lang="en-US" dirty="0"/>
              <a:t>→ </a:t>
            </a:r>
            <a:r>
              <a:rPr lang="ru-RU" dirty="0"/>
              <a:t>сортировка по </a:t>
            </a:r>
            <a:r>
              <a:rPr lang="en-US" dirty="0"/>
              <a:t>CPU</a:t>
            </a:r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en-US" dirty="0"/>
              <a:t>PowerShell:</a:t>
            </a:r>
          </a:p>
          <a:p>
            <a:pPr>
              <a:defRPr sz="3600"/>
            </a:pPr>
            <a:r>
              <a:rPr lang="en-US" dirty="0">
                <a:solidFill>
                  <a:srgbClr val="002060"/>
                </a:solidFill>
              </a:rPr>
              <a:t>Get-Process |</a:t>
            </a:r>
          </a:p>
          <a:p>
            <a:pPr>
              <a:defRPr sz="3600"/>
            </a:pPr>
            <a:r>
              <a:rPr lang="en-US" dirty="0">
                <a:solidFill>
                  <a:srgbClr val="002060"/>
                </a:solidFill>
              </a:rPr>
              <a:t>    Sort-Object CPU -Descending |</a:t>
            </a:r>
          </a:p>
          <a:p>
            <a:pPr>
              <a:defRPr sz="3600"/>
            </a:pPr>
            <a:r>
              <a:rPr lang="en-US" dirty="0">
                <a:solidFill>
                  <a:srgbClr val="002060"/>
                </a:solidFill>
              </a:rPr>
              <a:t>    Select-Object -First 10 Name, Id, CPU</a:t>
            </a:r>
            <a:endParaRPr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00689565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B77BDDB-151E-423D-457D-6983558229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63D7F0D-678A-0AAC-CF4C-E93E2DEB96C1}"/>
              </a:ext>
            </a:extLst>
          </p:cNvPr>
          <p:cNvSpPr txBox="1"/>
          <p:nvPr/>
        </p:nvSpPr>
        <p:spPr>
          <a:xfrm>
            <a:off x="457200" y="634181"/>
            <a:ext cx="10972800" cy="5492299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>
              <a:defRPr sz="3600"/>
            </a:pPr>
            <a:r>
              <a:rPr lang="ru-RU" b="1" dirty="0"/>
              <a:t>Как оценивать загрузку CPU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При анализе проверяют: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постоянная нагрузка или кратковременная;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какой процесс её создаёт;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соответствует ли нагрузка выполняемой задаче;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используются ли все логические процессоры;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меняется ли нагрузка после закрытия приложения;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совпадает ли нагрузка с жалобой пользователя.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Кратковременная загрузка CPU до 100% не всегда означает неисправность.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4253819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0B9EB8A-210B-776B-1629-D1086AB848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5E58295-C485-6F2B-50DF-16E116D7F0AB}"/>
              </a:ext>
            </a:extLst>
          </p:cNvPr>
          <p:cNvSpPr txBox="1"/>
          <p:nvPr/>
        </p:nvSpPr>
        <p:spPr>
          <a:xfrm>
            <a:off x="457200" y="634181"/>
            <a:ext cx="10972800" cy="5943600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>
              <a:defRPr sz="3600"/>
            </a:pPr>
            <a:r>
              <a:rPr lang="ru-RU" b="1" dirty="0"/>
              <a:t>Диагностика RAM</a:t>
            </a:r>
          </a:p>
          <a:p>
            <a:pPr>
              <a:defRPr sz="3600"/>
            </a:pPr>
            <a:r>
              <a:rPr lang="ru-RU" b="1" dirty="0"/>
              <a:t>Оперативная память используется: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Windows;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запущенными программами;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файловым кэшем;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драйверами;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виртуальными машинами;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фоновыми службами.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Проверка:</a:t>
            </a:r>
          </a:p>
          <a:p>
            <a:pPr>
              <a:defRPr sz="3600"/>
            </a:pPr>
            <a:r>
              <a:rPr lang="ru-RU" dirty="0"/>
              <a:t>→ Task Manager</a:t>
            </a:r>
          </a:p>
          <a:p>
            <a:pPr>
              <a:defRPr sz="3600"/>
            </a:pPr>
            <a:r>
              <a:rPr lang="ru-RU" dirty="0"/>
              <a:t>→ Performance</a:t>
            </a:r>
          </a:p>
          <a:p>
            <a:pPr>
              <a:defRPr sz="3600"/>
            </a:pPr>
            <a:r>
              <a:rPr lang="ru-RU" dirty="0"/>
              <a:t>→ Memory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Обращают внимание на: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общий объём;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используемую память;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доступную память;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committed</a:t>
            </a:r>
            <a:r>
              <a:rPr lang="ru-RU" dirty="0"/>
              <a:t> </a:t>
            </a:r>
            <a:r>
              <a:rPr lang="ru-RU" dirty="0" err="1"/>
              <a:t>memory</a:t>
            </a:r>
            <a:r>
              <a:rPr lang="ru-RU" dirty="0"/>
              <a:t>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процессы с высоким потреблением.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75757597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BD3E3F-392D-08D6-6528-74063110A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0E0CDE2-2FF0-120C-641C-2183044839AE}"/>
              </a:ext>
            </a:extLst>
          </p:cNvPr>
          <p:cNvSpPr txBox="1"/>
          <p:nvPr/>
        </p:nvSpPr>
        <p:spPr>
          <a:xfrm>
            <a:off x="457200" y="294968"/>
            <a:ext cx="10972800" cy="6253315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/>
              <a:t>Нехватка оперативной памяти</a:t>
            </a:r>
          </a:p>
          <a:p>
            <a:pPr>
              <a:defRPr sz="3600"/>
            </a:pPr>
            <a:endParaRPr lang="ru-RU" b="1" dirty="0"/>
          </a:p>
          <a:p>
            <a:pPr>
              <a:defRPr sz="3600"/>
            </a:pPr>
            <a:r>
              <a:rPr lang="ru-RU" b="1" dirty="0"/>
              <a:t>Признаки нехватки RAM: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задержки при переключении между программами;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активная работа диска без явной причины;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медленное открытие окон;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зависание нескольких приложений;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частое использование файла подкачки;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сообщения о недостатке памяти.</a:t>
            </a:r>
          </a:p>
          <a:p>
            <a:pPr>
              <a:defRPr sz="3600"/>
            </a:pPr>
            <a:endParaRPr lang="ru-RU" b="1" dirty="0"/>
          </a:p>
          <a:p>
            <a:pPr>
              <a:defRPr sz="3600"/>
            </a:pPr>
            <a:r>
              <a:rPr lang="ru-RU" b="1" dirty="0"/>
              <a:t>В Resource Monitor проверяют:</a:t>
            </a:r>
          </a:p>
          <a:p>
            <a:pPr>
              <a:defRPr sz="3600"/>
            </a:pPr>
            <a:r>
              <a:rPr lang="ru-RU" dirty="0"/>
              <a:t>→ Memory</a:t>
            </a:r>
          </a:p>
          <a:p>
            <a:pPr>
              <a:defRPr sz="3600"/>
            </a:pPr>
            <a:r>
              <a:rPr lang="ru-RU" dirty="0"/>
              <a:t>→ </a:t>
            </a:r>
            <a:r>
              <a:rPr lang="ru-RU" dirty="0" err="1"/>
              <a:t>Available</a:t>
            </a:r>
            <a:endParaRPr lang="ru-RU" dirty="0"/>
          </a:p>
          <a:p>
            <a:pPr>
              <a:defRPr sz="3600"/>
            </a:pPr>
            <a:r>
              <a:rPr lang="ru-RU" dirty="0"/>
              <a:t>→ </a:t>
            </a:r>
            <a:r>
              <a:rPr lang="ru-RU" dirty="0" err="1"/>
              <a:t>Commit</a:t>
            </a:r>
            <a:endParaRPr lang="ru-RU" dirty="0"/>
          </a:p>
          <a:p>
            <a:pPr>
              <a:defRPr sz="3600"/>
            </a:pPr>
            <a:r>
              <a:rPr lang="ru-RU" dirty="0"/>
              <a:t>→ Hard </a:t>
            </a:r>
            <a:r>
              <a:rPr lang="ru-RU" dirty="0" err="1"/>
              <a:t>Faults</a:t>
            </a:r>
            <a:r>
              <a:rPr lang="ru-RU" dirty="0"/>
              <a:t>/</a:t>
            </a:r>
            <a:r>
              <a:rPr lang="ru-RU" dirty="0" err="1"/>
              <a:t>sec</a:t>
            </a:r>
            <a:endParaRPr lang="ru-RU" dirty="0"/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Hard </a:t>
            </a:r>
            <a:r>
              <a:rPr lang="ru-RU" dirty="0" err="1"/>
              <a:t>Faults</a:t>
            </a:r>
            <a:r>
              <a:rPr lang="ru-RU" dirty="0"/>
              <a:t>/</a:t>
            </a:r>
            <a:r>
              <a:rPr lang="ru-RU" dirty="0" err="1"/>
              <a:t>sec</a:t>
            </a:r>
            <a:r>
              <a:rPr lang="ru-RU" dirty="0"/>
              <a:t> означает обращение за данными к диску, а не аппаратную ошибку памяти.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24477238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BF0287C-DA87-3752-7715-83C051E566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1330496-26F7-FF09-D795-0A776E78B748}"/>
              </a:ext>
            </a:extLst>
          </p:cNvPr>
          <p:cNvSpPr txBox="1"/>
          <p:nvPr/>
        </p:nvSpPr>
        <p:spPr>
          <a:xfrm>
            <a:off x="457200" y="442452"/>
            <a:ext cx="10972800" cy="6046837"/>
          </a:xfrm>
          <a:prstGeom prst="rect">
            <a:avLst/>
          </a:prstGeom>
          <a:noFill/>
        </p:spPr>
        <p:txBody>
          <a:bodyPr wrap="square">
            <a:normAutofit fontScale="85000" lnSpcReduction="10000"/>
          </a:bodyPr>
          <a:lstStyle/>
          <a:p>
            <a:pPr algn="ctr">
              <a:defRPr sz="3600"/>
            </a:pPr>
            <a:r>
              <a:rPr lang="ru-RU" b="1" dirty="0"/>
              <a:t>Файл подкачки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Файл подкачки дополняет оперативную память дисковым пространством.</a:t>
            </a:r>
          </a:p>
          <a:p>
            <a:pPr>
              <a:defRPr sz="3600"/>
            </a:pPr>
            <a:r>
              <a:rPr lang="ru-RU" dirty="0"/>
              <a:t>Обычно он расположен в:</a:t>
            </a:r>
          </a:p>
          <a:p>
            <a:pPr>
              <a:defRPr sz="3600"/>
            </a:pPr>
            <a:r>
              <a:rPr lang="ru-RU" dirty="0"/>
              <a:t>C:\pagefile.sys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Важно: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файл подкачки работает медленнее RAM;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высокая активность подкачки может замедлить систему;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его наличие не заменяет достаточный объём памяти;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Windows обычно управляет его размером автоматически;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отключать файл подкачки без причины не следует;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изменение требует проверки после перезагрузки.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83452396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4A439-2D84-0745-BEEA-BBCB723F40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53CB06F-E9B3-5D46-07A0-803F4CF79163}"/>
              </a:ext>
            </a:extLst>
          </p:cNvPr>
          <p:cNvSpPr txBox="1"/>
          <p:nvPr/>
        </p:nvSpPr>
        <p:spPr>
          <a:xfrm>
            <a:off x="457200" y="398206"/>
            <a:ext cx="10972800" cy="6017341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>
              <a:defRPr sz="3600"/>
            </a:pPr>
            <a:r>
              <a:rPr lang="ru-RU" b="1" dirty="0"/>
              <a:t>Диагностика диска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Высокая активность диска может быть вызвана: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запуском программ;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обновлениями Windows;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антивирусной проверкой;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индексированием файлов;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нехваткой RAM и подкачкой;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копированием больших файлов;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ошибками накопителя.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Проверка:</a:t>
            </a:r>
          </a:p>
          <a:p>
            <a:pPr>
              <a:defRPr sz="3600"/>
            </a:pPr>
            <a:r>
              <a:rPr lang="ru-RU" dirty="0"/>
              <a:t>→ Task Manager</a:t>
            </a:r>
          </a:p>
          <a:p>
            <a:pPr>
              <a:defRPr sz="3600"/>
            </a:pPr>
            <a:r>
              <a:rPr lang="ru-RU" dirty="0"/>
              <a:t>→ Performance</a:t>
            </a:r>
          </a:p>
          <a:p>
            <a:pPr>
              <a:defRPr sz="3600"/>
            </a:pPr>
            <a:r>
              <a:rPr lang="ru-RU" dirty="0"/>
              <a:t>→ Disk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Подробный анализ:</a:t>
            </a:r>
          </a:p>
          <a:p>
            <a:pPr>
              <a:defRPr sz="3600"/>
            </a:pPr>
            <a:r>
              <a:rPr lang="ru-RU" dirty="0"/>
              <a:t>Resource Monitor</a:t>
            </a:r>
          </a:p>
          <a:p>
            <a:pPr>
              <a:defRPr sz="3600"/>
            </a:pPr>
            <a:r>
              <a:rPr lang="ru-RU" dirty="0"/>
              <a:t>→ Disk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17559128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F558AF-5EA8-3FB3-39E8-3021F6892C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88E6369-11BE-14FD-EA68-AE1789D2BE58}"/>
              </a:ext>
            </a:extLst>
          </p:cNvPr>
          <p:cNvSpPr txBox="1"/>
          <p:nvPr/>
        </p:nvSpPr>
        <p:spPr>
          <a:xfrm>
            <a:off x="457200" y="634181"/>
            <a:ext cx="10972800" cy="5492299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Показатели работы диска</a:t>
            </a:r>
          </a:p>
          <a:p>
            <a:pPr>
              <a:defRPr sz="3600"/>
            </a:pPr>
            <a:endParaRPr lang="ru-RU" b="1" dirty="0"/>
          </a:p>
          <a:p>
            <a:pPr>
              <a:defRPr sz="3600"/>
            </a:pPr>
            <a:r>
              <a:rPr lang="ru-RU" b="1" dirty="0"/>
              <a:t>При диагностике проверяют: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Active Time;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скорость чтения;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скорость записи;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Response Time;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процессы с дисковой активностью;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файлы, к которым идёт обращение;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свободное место на разделе.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Высокое значение Active Time при небольшой скорости может указывать на задержки накопителя или множество мелких операций.</a:t>
            </a:r>
          </a:p>
          <a:p>
            <a:pPr>
              <a:defRPr sz="3600"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210125694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63E74A-13F2-C4C6-EE8B-341939AAC1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1EE5F62-3E35-0C38-81F1-9476BA45828F}"/>
              </a:ext>
            </a:extLst>
          </p:cNvPr>
          <p:cNvSpPr txBox="1"/>
          <p:nvPr/>
        </p:nvSpPr>
        <p:spPr>
          <a:xfrm>
            <a:off x="457200" y="294469"/>
            <a:ext cx="11244020" cy="6369802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>
              <a:defRPr sz="3600"/>
            </a:pPr>
            <a:r>
              <a:rPr lang="ru-RU" b="1" dirty="0"/>
              <a:t>Свободное место</a:t>
            </a:r>
          </a:p>
          <a:p>
            <a:pPr>
              <a:defRPr sz="3600"/>
            </a:pPr>
            <a:r>
              <a:rPr lang="ru-RU" b="1" dirty="0"/>
              <a:t>Нехватка места на системном диске может нарушить: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установку обновлений;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работу временных файлов;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создание файла подкачки;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загрузку пользовательского профиля;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сохранение журналов;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работу приложений.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en-US" b="1" dirty="0"/>
              <a:t>PowerShell:</a:t>
            </a:r>
          </a:p>
          <a:p>
            <a:pPr>
              <a:defRPr sz="3600"/>
            </a:pPr>
            <a:r>
              <a:rPr lang="en-US" dirty="0">
                <a:solidFill>
                  <a:srgbClr val="002060"/>
                </a:solidFill>
              </a:rPr>
              <a:t>Get-Volume |</a:t>
            </a:r>
          </a:p>
          <a:p>
            <a:pPr>
              <a:defRPr sz="3600"/>
            </a:pPr>
            <a:r>
              <a:rPr lang="en-US" dirty="0">
                <a:solidFill>
                  <a:srgbClr val="002060"/>
                </a:solidFill>
              </a:rPr>
              <a:t>    Select-Object </a:t>
            </a:r>
            <a:r>
              <a:rPr lang="en-US" dirty="0" err="1">
                <a:solidFill>
                  <a:srgbClr val="002060"/>
                </a:solidFill>
              </a:rPr>
              <a:t>DriveLetter</a:t>
            </a:r>
            <a:r>
              <a:rPr lang="en-US" dirty="0">
                <a:solidFill>
                  <a:srgbClr val="002060"/>
                </a:solidFill>
              </a:rPr>
              <a:t>,</a:t>
            </a:r>
          </a:p>
          <a:p>
            <a:pPr>
              <a:defRPr sz="3600"/>
            </a:pPr>
            <a:r>
              <a:rPr lang="en-US" dirty="0">
                <a:solidFill>
                  <a:srgbClr val="002060"/>
                </a:solidFill>
              </a:rPr>
              <a:t>                  </a:t>
            </a:r>
            <a:r>
              <a:rPr lang="en-US" dirty="0" err="1">
                <a:solidFill>
                  <a:srgbClr val="002060"/>
                </a:solidFill>
              </a:rPr>
              <a:t>FileSystemLabel</a:t>
            </a:r>
            <a:r>
              <a:rPr lang="en-US" dirty="0">
                <a:solidFill>
                  <a:srgbClr val="002060"/>
                </a:solidFill>
              </a:rPr>
              <a:t>,</a:t>
            </a:r>
          </a:p>
          <a:p>
            <a:pPr>
              <a:defRPr sz="3600"/>
            </a:pPr>
            <a:r>
              <a:rPr lang="en-US" dirty="0">
                <a:solidFill>
                  <a:srgbClr val="002060"/>
                </a:solidFill>
              </a:rPr>
              <a:t>                  Size,</a:t>
            </a:r>
          </a:p>
          <a:p>
            <a:pPr>
              <a:defRPr sz="3600"/>
            </a:pPr>
            <a:r>
              <a:rPr lang="en-US" dirty="0">
                <a:solidFill>
                  <a:srgbClr val="002060"/>
                </a:solidFill>
              </a:rPr>
              <a:t>                  </a:t>
            </a:r>
            <a:r>
              <a:rPr lang="en-US" dirty="0" err="1">
                <a:solidFill>
                  <a:srgbClr val="002060"/>
                </a:solidFill>
              </a:rPr>
              <a:t>SizeRemaining</a:t>
            </a:r>
            <a:endParaRPr lang="en-US" dirty="0">
              <a:solidFill>
                <a:srgbClr val="002060"/>
              </a:solidFill>
            </a:endParaRPr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ru-RU" b="1" dirty="0"/>
              <a:t>Краткая проверка диска </a:t>
            </a:r>
            <a:r>
              <a:rPr lang="en-US" b="1" dirty="0"/>
              <a:t>C:</a:t>
            </a:r>
          </a:p>
          <a:p>
            <a:pPr>
              <a:defRPr sz="3600"/>
            </a:pPr>
            <a:r>
              <a:rPr lang="en-US" dirty="0">
                <a:solidFill>
                  <a:srgbClr val="002060"/>
                </a:solidFill>
              </a:rPr>
              <a:t>Get-Volume -</a:t>
            </a:r>
            <a:r>
              <a:rPr lang="en-US" dirty="0" err="1">
                <a:solidFill>
                  <a:srgbClr val="002060"/>
                </a:solidFill>
              </a:rPr>
              <a:t>DriveLetter</a:t>
            </a:r>
            <a:r>
              <a:rPr lang="en-US" dirty="0">
                <a:solidFill>
                  <a:srgbClr val="002060"/>
                </a:solidFill>
              </a:rPr>
              <a:t> C |</a:t>
            </a:r>
          </a:p>
          <a:p>
            <a:pPr>
              <a:defRPr sz="3600"/>
            </a:pPr>
            <a:r>
              <a:rPr lang="en-US" dirty="0">
                <a:solidFill>
                  <a:srgbClr val="002060"/>
                </a:solidFill>
              </a:rPr>
              <a:t>    Select-Object </a:t>
            </a:r>
            <a:r>
              <a:rPr lang="en-US" dirty="0" err="1">
                <a:solidFill>
                  <a:srgbClr val="002060"/>
                </a:solidFill>
              </a:rPr>
              <a:t>DriveLetter</a:t>
            </a:r>
            <a:r>
              <a:rPr lang="en-US" dirty="0">
                <a:solidFill>
                  <a:srgbClr val="002060"/>
                </a:solidFill>
              </a:rPr>
              <a:t>,</a:t>
            </a:r>
          </a:p>
          <a:p>
            <a:pPr>
              <a:defRPr sz="3600"/>
            </a:pPr>
            <a:r>
              <a:rPr lang="en-US" dirty="0">
                <a:solidFill>
                  <a:srgbClr val="002060"/>
                </a:solidFill>
              </a:rPr>
              <a:t>        @{Name='FreeGB'; Expression={</a:t>
            </a:r>
          </a:p>
          <a:p>
            <a:pPr>
              <a:defRPr sz="3600"/>
            </a:pPr>
            <a:r>
              <a:rPr lang="en-US" dirty="0">
                <a:solidFill>
                  <a:srgbClr val="002060"/>
                </a:solidFill>
              </a:rPr>
              <a:t>            [math]::Round($_.</a:t>
            </a:r>
            <a:r>
              <a:rPr lang="en-US" dirty="0" err="1">
                <a:solidFill>
                  <a:srgbClr val="002060"/>
                </a:solidFill>
              </a:rPr>
              <a:t>SizeRemaining</a:t>
            </a:r>
            <a:r>
              <a:rPr lang="en-US" dirty="0">
                <a:solidFill>
                  <a:srgbClr val="002060"/>
                </a:solidFill>
              </a:rPr>
              <a:t> / 1GB, 2)</a:t>
            </a:r>
          </a:p>
          <a:p>
            <a:pPr>
              <a:defRPr sz="3600"/>
            </a:pPr>
            <a:r>
              <a:rPr lang="en-US" dirty="0">
                <a:solidFill>
                  <a:srgbClr val="002060"/>
                </a:solidFill>
              </a:rPr>
              <a:t>        }}</a:t>
            </a:r>
            <a:endParaRPr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4219100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0E5A19-6DD6-FF07-46D6-77D000E873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15F8A27-5AEC-658E-5C09-19014FE8601E}"/>
              </a:ext>
            </a:extLst>
          </p:cNvPr>
          <p:cNvSpPr txBox="1"/>
          <p:nvPr/>
        </p:nvSpPr>
        <p:spPr>
          <a:xfrm>
            <a:off x="457200" y="250723"/>
            <a:ext cx="10972800" cy="6253316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/>
              <a:t>Проверка состояния диска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Базовая проверка файловой системы:</a:t>
            </a:r>
          </a:p>
          <a:p>
            <a:pPr>
              <a:defRPr sz="3600"/>
            </a:pPr>
            <a:r>
              <a:rPr lang="en-US" dirty="0" err="1"/>
              <a:t>chkdsk</a:t>
            </a:r>
            <a:r>
              <a:rPr lang="en-US" dirty="0"/>
              <a:t> C: /scan</a:t>
            </a:r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ru-RU" b="1" dirty="0"/>
              <a:t>Просмотр физических дисков:</a:t>
            </a:r>
          </a:p>
          <a:p>
            <a:pPr>
              <a:defRPr sz="3600"/>
            </a:pPr>
            <a:r>
              <a:rPr lang="en-US" dirty="0"/>
              <a:t>Get-PhysicalDisk |</a:t>
            </a:r>
          </a:p>
          <a:p>
            <a:pPr>
              <a:defRPr sz="3600"/>
            </a:pPr>
            <a:r>
              <a:rPr lang="en-US" dirty="0"/>
              <a:t>    Select-Object </a:t>
            </a:r>
            <a:r>
              <a:rPr lang="en-US" dirty="0" err="1"/>
              <a:t>FriendlyName</a:t>
            </a:r>
            <a:r>
              <a:rPr lang="en-US" dirty="0"/>
              <a:t>,</a:t>
            </a:r>
          </a:p>
          <a:p>
            <a:pPr>
              <a:defRPr sz="3600"/>
            </a:pPr>
            <a:r>
              <a:rPr lang="en-US" dirty="0"/>
              <a:t>                  MediaType,</a:t>
            </a:r>
          </a:p>
          <a:p>
            <a:pPr>
              <a:defRPr sz="3600"/>
            </a:pPr>
            <a:r>
              <a:rPr lang="en-US" dirty="0"/>
              <a:t>                  </a:t>
            </a:r>
            <a:r>
              <a:rPr lang="en-US" dirty="0" err="1"/>
              <a:t>HealthStatus</a:t>
            </a:r>
            <a:r>
              <a:rPr lang="en-US" dirty="0"/>
              <a:t>,</a:t>
            </a:r>
          </a:p>
          <a:p>
            <a:pPr>
              <a:defRPr sz="3600"/>
            </a:pPr>
            <a:r>
              <a:rPr lang="en-US" dirty="0"/>
              <a:t>                  </a:t>
            </a:r>
            <a:r>
              <a:rPr lang="en-US" dirty="0" err="1"/>
              <a:t>OperationalStatus</a:t>
            </a:r>
            <a:endParaRPr lang="en-US" dirty="0"/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ru-RU" b="1" dirty="0"/>
              <a:t>Важно: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 err="1"/>
              <a:t>chkdsk</a:t>
            </a:r>
            <a:r>
              <a:rPr lang="en-US" dirty="0"/>
              <a:t> /scan </a:t>
            </a:r>
            <a:r>
              <a:rPr lang="ru-RU" dirty="0"/>
              <a:t>выполняет проверку без немедленного исправления;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 err="1"/>
              <a:t>chkdsk</a:t>
            </a:r>
            <a:r>
              <a:rPr lang="en-US" dirty="0"/>
              <a:t> /f </a:t>
            </a:r>
            <a:r>
              <a:rPr lang="ru-RU" dirty="0"/>
              <a:t>изменяет файловую систему;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исправление системного диска может потребовать перезагрузки;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перед изменяющими операциями сохраняют важные данные.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62132499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02DAD6-0ADC-7860-5228-C085CFFD5B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E5BD801-958F-4D24-96CB-280B637F3FF5}"/>
              </a:ext>
            </a:extLst>
          </p:cNvPr>
          <p:cNvSpPr txBox="1"/>
          <p:nvPr/>
        </p:nvSpPr>
        <p:spPr>
          <a:xfrm>
            <a:off x="457200" y="634181"/>
            <a:ext cx="10972800" cy="5855109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>
              <a:defRPr sz="3600"/>
            </a:pPr>
            <a:r>
              <a:rPr lang="ru-RU" b="1" dirty="0"/>
              <a:t>CPU, RAM или диск?</a:t>
            </a:r>
          </a:p>
          <a:p>
            <a:pPr>
              <a:defRPr sz="3600"/>
            </a:pPr>
            <a:r>
              <a:rPr lang="ru-RU" b="1" dirty="0"/>
              <a:t>Высокая загрузка CPU</a:t>
            </a:r>
          </a:p>
          <a:p>
            <a:pPr>
              <a:defRPr sz="3600"/>
            </a:pPr>
            <a:r>
              <a:rPr lang="ru-RU" dirty="0"/>
              <a:t>→ Найти процесс</a:t>
            </a:r>
          </a:p>
          <a:p>
            <a:pPr>
              <a:defRPr sz="3600"/>
            </a:pPr>
            <a:r>
              <a:rPr lang="ru-RU" dirty="0"/>
              <a:t>→ проверить выполняемую задачу</a:t>
            </a:r>
          </a:p>
          <a:p>
            <a:pPr>
              <a:defRPr sz="3600"/>
            </a:pPr>
            <a:r>
              <a:rPr lang="ru-RU" dirty="0"/>
              <a:t>→ изучить службу или приложение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Мало доступной RAM</a:t>
            </a:r>
          </a:p>
          <a:p>
            <a:pPr>
              <a:defRPr sz="3600"/>
            </a:pPr>
            <a:r>
              <a:rPr lang="ru-RU" dirty="0"/>
              <a:t>→ Найти потребителя памяти</a:t>
            </a:r>
          </a:p>
          <a:p>
            <a:pPr>
              <a:defRPr sz="3600"/>
            </a:pPr>
            <a:r>
              <a:rPr lang="ru-RU" dirty="0"/>
              <a:t>→ проверить автозагрузку</a:t>
            </a:r>
          </a:p>
          <a:p>
            <a:pPr>
              <a:defRPr sz="3600"/>
            </a:pPr>
            <a:r>
              <a:rPr lang="ru-RU" dirty="0"/>
              <a:t>→ оценить файл подкачки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Диск загружен на 100%</a:t>
            </a:r>
          </a:p>
          <a:p>
            <a:pPr>
              <a:defRPr sz="3600"/>
            </a:pPr>
            <a:r>
              <a:rPr lang="ru-RU" dirty="0"/>
              <a:t>→ Найти процесс и файл</a:t>
            </a:r>
          </a:p>
          <a:p>
            <a:pPr>
              <a:defRPr sz="3600"/>
            </a:pPr>
            <a:r>
              <a:rPr lang="ru-RU" dirty="0"/>
              <a:t>→ проверить свободное место</a:t>
            </a:r>
          </a:p>
          <a:p>
            <a:pPr>
              <a:defRPr sz="3600"/>
            </a:pPr>
            <a:r>
              <a:rPr lang="ru-RU" dirty="0"/>
              <a:t>→ проверить подкачку и состояние диска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Нельзя делать вывод только по одному процентному показателю.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20459884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4516E6-8942-DC05-95BF-670F55CD4E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1CE10B37-4E9E-D2BE-EBA4-B3D3FA0560AB}"/>
              </a:ext>
            </a:extLst>
          </p:cNvPr>
          <p:cNvSpPr txBox="1"/>
          <p:nvPr/>
        </p:nvSpPr>
        <p:spPr>
          <a:xfrm>
            <a:off x="457200" y="634181"/>
            <a:ext cx="10972800" cy="5899354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>
              <a:defRPr sz="3600"/>
            </a:pPr>
            <a:r>
              <a:rPr lang="ru-RU" b="1" dirty="0"/>
              <a:t>Пример диагностики</a:t>
            </a:r>
          </a:p>
          <a:p>
            <a:pPr>
              <a:defRPr sz="3600"/>
            </a:pPr>
            <a:r>
              <a:rPr lang="ru-RU" b="1" dirty="0"/>
              <a:t>Симптом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Компьютер периодически зависает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при переключении между программами</a:t>
            </a:r>
          </a:p>
          <a:p>
            <a:pPr>
              <a:defRPr sz="3600"/>
            </a:pPr>
            <a:r>
              <a:rPr lang="ru-RU" b="1" dirty="0"/>
              <a:t>Наблюдения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CPU: 25%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RAM: 95%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Disk: 100%</a:t>
            </a:r>
          </a:p>
          <a:p>
            <a:pPr>
              <a:defRPr sz="3600"/>
            </a:pPr>
            <a:r>
              <a:rPr lang="ru-RU" b="1" dirty="0"/>
              <a:t>Гипотеза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Недостаток RAM вызывает активное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использование файла подкачки</a:t>
            </a:r>
          </a:p>
          <a:p>
            <a:pPr>
              <a:defRPr sz="3600"/>
            </a:pPr>
            <a:r>
              <a:rPr lang="ru-RU" b="1" dirty="0"/>
              <a:t>Проверка</a:t>
            </a:r>
          </a:p>
          <a:p>
            <a:pPr>
              <a:defRPr sz="3600"/>
            </a:pPr>
            <a:r>
              <a:rPr lang="ru-RU" dirty="0"/>
              <a:t>→ Resource Monitor</a:t>
            </a:r>
          </a:p>
          <a:p>
            <a:pPr>
              <a:defRPr sz="3600"/>
            </a:pPr>
            <a:r>
              <a:rPr lang="ru-RU" dirty="0"/>
              <a:t>→ Memory</a:t>
            </a:r>
          </a:p>
          <a:p>
            <a:pPr>
              <a:defRPr sz="3600"/>
            </a:pPr>
            <a:r>
              <a:rPr lang="ru-RU" dirty="0"/>
              <a:t>→ Hard </a:t>
            </a:r>
            <a:r>
              <a:rPr lang="ru-RU" dirty="0" err="1"/>
              <a:t>Faults</a:t>
            </a:r>
            <a:r>
              <a:rPr lang="ru-RU" dirty="0"/>
              <a:t>/</a:t>
            </a:r>
            <a:r>
              <a:rPr lang="ru-RU" dirty="0" err="1"/>
              <a:t>sec</a:t>
            </a:r>
            <a:endParaRPr lang="ru-RU" dirty="0"/>
          </a:p>
          <a:p>
            <a:pPr>
              <a:defRPr sz="3600"/>
            </a:pPr>
            <a:r>
              <a:rPr lang="ru-RU" dirty="0"/>
              <a:t>→ Disk</a:t>
            </a:r>
          </a:p>
          <a:p>
            <a:pPr>
              <a:defRPr sz="3600"/>
            </a:pPr>
            <a:r>
              <a:rPr lang="ru-RU" dirty="0"/>
              <a:t>→ обращения к pagefile.sys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После подтверждения устраняют причину, а не просто завершают случайный процесс.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88477566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3601A7-FB2D-0890-43E6-8F9D1561FC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07D2465-1F37-FC61-8020-EFED00D761C5}"/>
              </a:ext>
            </a:extLst>
          </p:cNvPr>
          <p:cNvSpPr txBox="1"/>
          <p:nvPr/>
        </p:nvSpPr>
        <p:spPr>
          <a:xfrm>
            <a:off x="457200" y="309717"/>
            <a:ext cx="10972800" cy="6105832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/>
              <a:t>Безопасная оптимизация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Допустимые действия: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закрыть ненужную ресурсоёмкую программу;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отключить необязательную автозагрузку;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освободить место на диске;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обновить проблемное приложение;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проверить систему на вредоносное ПО;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увеличить ресурсы ВМ при подтверждённой нехватке.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Не следует: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использовать случайные «ускорители Windows»;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отключать системные службы массово;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удалять неизвестные файлы;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отключать Defender и файл подкачки;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одновременно менять несколько параметров.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35422767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825007-35D4-A4ED-C9FB-4F748CEED0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FD2F79A-B036-9223-BF0E-49B3208E9707}"/>
              </a:ext>
            </a:extLst>
          </p:cNvPr>
          <p:cNvSpPr txBox="1"/>
          <p:nvPr/>
        </p:nvSpPr>
        <p:spPr>
          <a:xfrm>
            <a:off x="457200" y="634181"/>
            <a:ext cx="10972800" cy="54922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rPr lang="ru-RU" dirty="0"/>
              <a:t>Гипотеза</a:t>
            </a:r>
            <a:endParaRPr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52F72FAF-FA9E-4C76-1F1F-679F2D29EA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17531712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61C690-A963-AB6C-8D63-9216B43E4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421310B5-2CC7-A548-A686-97C90CAEC6A0}"/>
              </a:ext>
            </a:extLst>
          </p:cNvPr>
          <p:cNvSpPr txBox="1"/>
          <p:nvPr/>
        </p:nvSpPr>
        <p:spPr>
          <a:xfrm>
            <a:off x="2688581" y="182880"/>
            <a:ext cx="6784358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lang="ru-RU" dirty="0"/>
              <a:t>5. Сеть, DNS, маршруты и TCP-порты.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8A50CD7-E548-799C-7499-52BCFDCFCFC8}"/>
              </a:ext>
            </a:extLst>
          </p:cNvPr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Диагностика сети по уровням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Проверку выполняют последовательно:</a:t>
            </a:r>
          </a:p>
          <a:p>
            <a:pPr>
              <a:defRPr sz="3600"/>
            </a:pPr>
            <a:r>
              <a:rPr lang="ru-RU" dirty="0"/>
              <a:t>→ Сетевой адаптер</a:t>
            </a:r>
          </a:p>
          <a:p>
            <a:pPr>
              <a:defRPr sz="3600"/>
            </a:pPr>
            <a:r>
              <a:rPr lang="ru-RU" dirty="0"/>
              <a:t>→ IP-параметры</a:t>
            </a:r>
          </a:p>
          <a:p>
            <a:pPr>
              <a:defRPr sz="3600"/>
            </a:pPr>
            <a:r>
              <a:rPr lang="ru-RU" dirty="0"/>
              <a:t>→ шлюз</a:t>
            </a:r>
          </a:p>
          <a:p>
            <a:pPr>
              <a:defRPr sz="3600"/>
            </a:pPr>
            <a:r>
              <a:rPr lang="ru-RU" dirty="0"/>
              <a:t>→ DNS</a:t>
            </a:r>
          </a:p>
          <a:p>
            <a:pPr>
              <a:defRPr sz="3600"/>
            </a:pPr>
            <a:r>
              <a:rPr lang="ru-RU" dirty="0"/>
              <a:t>→ маршрут</a:t>
            </a:r>
          </a:p>
          <a:p>
            <a:pPr>
              <a:defRPr sz="3600"/>
            </a:pPr>
            <a:r>
              <a:rPr lang="ru-RU" dirty="0"/>
              <a:t>→ TCP-порт</a:t>
            </a:r>
          </a:p>
          <a:p>
            <a:pPr>
              <a:defRPr sz="3600"/>
            </a:pPr>
            <a:r>
              <a:rPr lang="ru-RU" dirty="0"/>
              <a:t>→ приложение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Нельзя начинать диагностику с переустановки драйвера или сброса всех сетевых настроек.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080797669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C97640-CE20-FF4D-B473-30462ECD48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C481751-DAEF-C9C5-A169-CA450D812746}"/>
              </a:ext>
            </a:extLst>
          </p:cNvPr>
          <p:cNvSpPr txBox="1"/>
          <p:nvPr/>
        </p:nvSpPr>
        <p:spPr>
          <a:xfrm>
            <a:off x="457200" y="309717"/>
            <a:ext cx="10972800" cy="6061586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/>
              <a:t>Проверка адаптера и IP-параметров</a:t>
            </a:r>
          </a:p>
          <a:p>
            <a:pPr>
              <a:defRPr sz="3600"/>
            </a:pPr>
            <a:endParaRPr lang="ru-RU" b="1" dirty="0"/>
          </a:p>
          <a:p>
            <a:pPr>
              <a:defRPr sz="3600"/>
            </a:pPr>
            <a:r>
              <a:rPr lang="ru-RU" b="1" dirty="0"/>
              <a:t>Проверяют: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включён ли сетевой адаптер;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получен ли IPv4-адрес;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указаны ли шлюз и DNS;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нет ли адреса 169.254.x.x;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выбран ли правильный сетевой интерфейс.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Команды: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>
                <a:solidFill>
                  <a:srgbClr val="002060"/>
                </a:solidFill>
              </a:rPr>
              <a:t>ipconfig</a:t>
            </a:r>
            <a:r>
              <a:rPr lang="ru-RU" dirty="0">
                <a:solidFill>
                  <a:srgbClr val="002060"/>
                </a:solidFill>
              </a:rPr>
              <a:t> /</a:t>
            </a:r>
            <a:r>
              <a:rPr lang="ru-RU" dirty="0" err="1">
                <a:solidFill>
                  <a:srgbClr val="002060"/>
                </a:solidFill>
              </a:rPr>
              <a:t>all</a:t>
            </a:r>
            <a:endParaRPr lang="ru-RU" dirty="0">
              <a:solidFill>
                <a:srgbClr val="002060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>
                <a:solidFill>
                  <a:srgbClr val="002060"/>
                </a:solidFill>
              </a:rPr>
              <a:t>Get-</a:t>
            </a:r>
            <a:r>
              <a:rPr lang="ru-RU" dirty="0" err="1">
                <a:solidFill>
                  <a:srgbClr val="002060"/>
                </a:solidFill>
              </a:rPr>
              <a:t>NetAdapter</a:t>
            </a:r>
            <a:endParaRPr lang="ru-RU" dirty="0">
              <a:solidFill>
                <a:srgbClr val="002060"/>
              </a:solidFill>
            </a:endParaRP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>
                <a:solidFill>
                  <a:srgbClr val="002060"/>
                </a:solidFill>
              </a:rPr>
              <a:t>Get-</a:t>
            </a:r>
            <a:r>
              <a:rPr lang="ru-RU" dirty="0" err="1">
                <a:solidFill>
                  <a:srgbClr val="002060"/>
                </a:solidFill>
              </a:rPr>
              <a:t>NetIPConfiguration</a:t>
            </a:r>
            <a:endParaRPr lang="ru-RU" dirty="0">
              <a:solidFill>
                <a:srgbClr val="002060"/>
              </a:solidFill>
            </a:endParaRP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Адрес 169.254.x.x обычно означает, что клиент не получил настройки от DHCP.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9546777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9CF217-4F15-7587-0707-2D21CF449C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51B43B7-DEA9-D9FC-29BE-C1634107603F}"/>
              </a:ext>
            </a:extLst>
          </p:cNvPr>
          <p:cNvSpPr txBox="1"/>
          <p:nvPr/>
        </p:nvSpPr>
        <p:spPr>
          <a:xfrm>
            <a:off x="457200" y="634181"/>
            <a:ext cx="10972800" cy="5492299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/>
              <a:t>Проверка доступности шлюза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Сначала проверяют локальный стек: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>
                <a:solidFill>
                  <a:srgbClr val="002060"/>
                </a:solidFill>
              </a:rPr>
              <a:t>ping</a:t>
            </a:r>
            <a:r>
              <a:rPr lang="ru-RU" dirty="0">
                <a:solidFill>
                  <a:srgbClr val="002060"/>
                </a:solidFill>
              </a:rPr>
              <a:t> 127.0.0.1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Затем собственный адрес и шлюз: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>
                <a:solidFill>
                  <a:srgbClr val="002060"/>
                </a:solidFill>
              </a:rPr>
              <a:t>ping</a:t>
            </a:r>
            <a:r>
              <a:rPr lang="ru-RU" dirty="0">
                <a:solidFill>
                  <a:srgbClr val="002060"/>
                </a:solidFill>
              </a:rPr>
              <a:t> &lt;</a:t>
            </a:r>
            <a:r>
              <a:rPr lang="ru-RU" dirty="0" err="1">
                <a:solidFill>
                  <a:srgbClr val="002060"/>
                </a:solidFill>
              </a:rPr>
              <a:t>собственный_IP</a:t>
            </a:r>
            <a:r>
              <a:rPr lang="ru-RU" dirty="0">
                <a:solidFill>
                  <a:srgbClr val="002060"/>
                </a:solidFill>
              </a:rPr>
              <a:t>&gt;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>
                <a:solidFill>
                  <a:srgbClr val="002060"/>
                </a:solidFill>
              </a:rPr>
              <a:t>ping</a:t>
            </a:r>
            <a:r>
              <a:rPr lang="ru-RU" dirty="0">
                <a:solidFill>
                  <a:srgbClr val="002060"/>
                </a:solidFill>
              </a:rPr>
              <a:t> &lt;</a:t>
            </a:r>
            <a:r>
              <a:rPr lang="ru-RU" dirty="0" err="1">
                <a:solidFill>
                  <a:srgbClr val="002060"/>
                </a:solidFill>
              </a:rPr>
              <a:t>адрес_шлюза</a:t>
            </a:r>
            <a:r>
              <a:rPr lang="ru-RU" dirty="0">
                <a:solidFill>
                  <a:srgbClr val="002060"/>
                </a:solidFill>
              </a:rPr>
              <a:t>&gt;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Если шлюз недоступен, возможны: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>
                <a:solidFill>
                  <a:srgbClr val="002060"/>
                </a:solidFill>
              </a:rPr>
              <a:t>отключённый адаптер;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>
                <a:solidFill>
                  <a:srgbClr val="002060"/>
                </a:solidFill>
              </a:rPr>
              <a:t>неправильный IP-адрес;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>
                <a:solidFill>
                  <a:srgbClr val="002060"/>
                </a:solidFill>
              </a:rPr>
              <a:t>неверная маска;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>
                <a:solidFill>
                  <a:srgbClr val="002060"/>
                </a:solidFill>
              </a:rPr>
              <a:t>проблема виртуальной сети;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>
                <a:solidFill>
                  <a:srgbClr val="002060"/>
                </a:solidFill>
              </a:rPr>
              <a:t>недоступность маршрутизатора.</a:t>
            </a:r>
            <a:endParaRPr dirty="0">
              <a:solidFill>
                <a:srgbClr val="00206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29152409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8FD2FB7-D907-5D2E-8CD6-AD14630537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6510FED-8D8E-C5E4-301F-84A8855241A1}"/>
              </a:ext>
            </a:extLst>
          </p:cNvPr>
          <p:cNvSpPr txBox="1"/>
          <p:nvPr/>
        </p:nvSpPr>
        <p:spPr>
          <a:xfrm>
            <a:off x="457200" y="634181"/>
            <a:ext cx="10972800" cy="5492299"/>
          </a:xfrm>
          <a:prstGeom prst="rect">
            <a:avLst/>
          </a:prstGeom>
          <a:noFill/>
        </p:spPr>
        <p:txBody>
          <a:bodyPr wrap="square">
            <a:normAutofit fontScale="92500" lnSpcReduction="20000"/>
          </a:bodyPr>
          <a:lstStyle/>
          <a:p>
            <a:pPr algn="ctr">
              <a:defRPr sz="3600"/>
            </a:pPr>
            <a:r>
              <a:rPr lang="ru-RU" b="1" dirty="0"/>
              <a:t>Диагностика </a:t>
            </a:r>
            <a:r>
              <a:rPr lang="en-US" b="1" dirty="0"/>
              <a:t>DNS</a:t>
            </a:r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en-US" dirty="0"/>
              <a:t>DNS </a:t>
            </a:r>
            <a:r>
              <a:rPr lang="ru-RU" dirty="0"/>
              <a:t>преобразует имя узла в </a:t>
            </a:r>
            <a:r>
              <a:rPr lang="en-US" dirty="0"/>
              <a:t>IP-</a:t>
            </a:r>
            <a:r>
              <a:rPr lang="ru-RU" dirty="0"/>
              <a:t>адрес.</a:t>
            </a:r>
          </a:p>
          <a:p>
            <a:pPr>
              <a:defRPr sz="3600"/>
            </a:pPr>
            <a:r>
              <a:rPr lang="ru-RU" b="1" dirty="0"/>
              <a:t>Проверка: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 err="1"/>
              <a:t>nslookup</a:t>
            </a:r>
            <a:r>
              <a:rPr lang="en-US" dirty="0"/>
              <a:t> example.com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/>
              <a:t>Resolve-</a:t>
            </a:r>
            <a:r>
              <a:rPr lang="en-US" dirty="0" err="1"/>
              <a:t>DnsName</a:t>
            </a:r>
            <a:r>
              <a:rPr lang="en-US" dirty="0"/>
              <a:t> example.com</a:t>
            </a:r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ru-RU" dirty="0"/>
              <a:t>Диагностический признак:</a:t>
            </a:r>
          </a:p>
          <a:p>
            <a:pPr>
              <a:defRPr sz="3600"/>
            </a:pPr>
            <a:r>
              <a:rPr lang="ru-RU" dirty="0"/>
              <a:t>→ </a:t>
            </a:r>
            <a:r>
              <a:rPr lang="en-US" dirty="0"/>
              <a:t>IP-</a:t>
            </a:r>
            <a:r>
              <a:rPr lang="ru-RU" dirty="0"/>
              <a:t>адрес доступен, имя не открывается</a:t>
            </a:r>
          </a:p>
          <a:p>
            <a:pPr>
              <a:defRPr sz="3600"/>
            </a:pPr>
            <a:r>
              <a:rPr lang="ru-RU" dirty="0"/>
              <a:t>→ вероятна проблема </a:t>
            </a:r>
            <a:r>
              <a:rPr lang="en-US" dirty="0"/>
              <a:t>DNS</a:t>
            </a:r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ru-RU" dirty="0"/>
              <a:t>Проверяют адрес </a:t>
            </a:r>
            <a:r>
              <a:rPr lang="en-US" dirty="0"/>
              <a:t>DNS-</a:t>
            </a:r>
            <a:r>
              <a:rPr lang="ru-RU" dirty="0"/>
              <a:t>сервера и результат разрешения имени.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46946505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E652B90-2BFA-3191-99EE-A8F461F79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33CCD9D-B65E-5916-5CF7-40E00D04D4CC}"/>
              </a:ext>
            </a:extLst>
          </p:cNvPr>
          <p:cNvSpPr txBox="1"/>
          <p:nvPr/>
        </p:nvSpPr>
        <p:spPr>
          <a:xfrm>
            <a:off x="457200" y="634181"/>
            <a:ext cx="10972800" cy="5751871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>
              <a:defRPr sz="3600"/>
            </a:pPr>
            <a:r>
              <a:rPr lang="ru-RU" b="1" dirty="0"/>
              <a:t>Маршрут до узла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Таблица маршрутизации показывает, куда Windows отправляет пакеты.</a:t>
            </a:r>
          </a:p>
          <a:p>
            <a:pPr>
              <a:defRPr sz="3600"/>
            </a:pPr>
            <a:r>
              <a:rPr lang="ru-RU" b="1" dirty="0"/>
              <a:t>Команды: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route</a:t>
            </a:r>
            <a:r>
              <a:rPr lang="ru-RU" dirty="0"/>
              <a:t> </a:t>
            </a:r>
            <a:r>
              <a:rPr lang="ru-RU" dirty="0" err="1"/>
              <a:t>print</a:t>
            </a:r>
            <a:endParaRPr lang="ru-RU" dirty="0"/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Get-</a:t>
            </a:r>
            <a:r>
              <a:rPr lang="ru-RU" dirty="0" err="1"/>
              <a:t>NetRoute</a:t>
            </a:r>
            <a:endParaRPr lang="ru-RU" dirty="0"/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Путь до удалённого узла: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tracert</a:t>
            </a:r>
            <a:r>
              <a:rPr lang="ru-RU" dirty="0"/>
              <a:t> example.com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Проверяют: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наличие маршрута по умолчанию;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правильный шлюз;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интерфейс маршрута;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на каком участке прекращаются ответы.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Отсутствие ответа в </a:t>
            </a:r>
            <a:r>
              <a:rPr lang="ru-RU" dirty="0" err="1"/>
              <a:t>tracert</a:t>
            </a:r>
            <a:r>
              <a:rPr lang="ru-RU" dirty="0"/>
              <a:t> не всегда означает неисправность: некоторые узлы блокируют ICMP.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470704329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125DBA-9088-34DA-C23A-0EA0DFFFE08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DADC0045-52B9-DDFC-0984-37804483B05B}"/>
              </a:ext>
            </a:extLst>
          </p:cNvPr>
          <p:cNvSpPr txBox="1"/>
          <p:nvPr/>
        </p:nvSpPr>
        <p:spPr>
          <a:xfrm>
            <a:off x="457200" y="634181"/>
            <a:ext cx="10972800" cy="5825613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algn="ctr">
              <a:defRPr sz="3600"/>
            </a:pPr>
            <a:r>
              <a:rPr lang="ru-RU" b="1" dirty="0"/>
              <a:t>Проверка </a:t>
            </a:r>
            <a:r>
              <a:rPr lang="en-US" b="1" dirty="0"/>
              <a:t>TCP-</a:t>
            </a:r>
            <a:r>
              <a:rPr lang="ru-RU" b="1" dirty="0"/>
              <a:t>порта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Доступность узла не гарантирует работу нужной службы.</a:t>
            </a:r>
          </a:p>
          <a:p>
            <a:pPr>
              <a:defRPr sz="3600"/>
            </a:pPr>
            <a:r>
              <a:rPr lang="ru-RU" b="1" dirty="0"/>
              <a:t>Пример проверки </a:t>
            </a:r>
            <a:r>
              <a:rPr lang="en-US" b="1" dirty="0"/>
              <a:t>HTTPS: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/>
              <a:t>Test-</a:t>
            </a:r>
            <a:r>
              <a:rPr lang="en-US" dirty="0" err="1"/>
              <a:t>NetConnection</a:t>
            </a:r>
            <a:r>
              <a:rPr lang="en-US" dirty="0"/>
              <a:t> example.com -Port 443</a:t>
            </a:r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ru-RU" b="1" dirty="0"/>
              <a:t>Важный результат: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 err="1"/>
              <a:t>TcpTestSucceeded</a:t>
            </a:r>
            <a:r>
              <a:rPr lang="en-US" dirty="0"/>
              <a:t> : True</a:t>
            </a:r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ru-RU" b="1" dirty="0"/>
              <a:t>Примеры портов: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53  — </a:t>
            </a:r>
            <a:r>
              <a:rPr lang="en-US" dirty="0"/>
              <a:t>DNS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/>
              <a:t>80  — HTTP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/>
              <a:t>443 — HTTPS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/>
              <a:t>3389 — RDP</a:t>
            </a:r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ru-RU" dirty="0"/>
              <a:t>Проверять нужно порт конкретного сервиса.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27135502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E8F8A46-14EE-F143-3217-7E526C137C3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ABE9742-9EBE-8052-3CF8-C0F7AF892147}"/>
              </a:ext>
            </a:extLst>
          </p:cNvPr>
          <p:cNvSpPr txBox="1"/>
          <p:nvPr/>
        </p:nvSpPr>
        <p:spPr>
          <a:xfrm>
            <a:off x="457200" y="368710"/>
            <a:ext cx="10972800" cy="6091083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>
              <a:defRPr sz="3600"/>
            </a:pPr>
            <a:r>
              <a:rPr lang="ru-RU" b="1" dirty="0"/>
              <a:t>Соединения и прослушиваемые порты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Просмотр сетевых соединений: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netstat</a:t>
            </a:r>
            <a:r>
              <a:rPr lang="ru-RU" dirty="0"/>
              <a:t> -</a:t>
            </a:r>
            <a:r>
              <a:rPr lang="ru-RU" dirty="0" err="1"/>
              <a:t>ano</a:t>
            </a:r>
            <a:endParaRPr lang="ru-RU" dirty="0"/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Параметры: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-a — все соединения и порты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-n — адреса и порты числами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-o — PID процесса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Определение процесса по PID: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tasklist</a:t>
            </a:r>
            <a:r>
              <a:rPr lang="ru-RU" dirty="0"/>
              <a:t> /FI "PID </a:t>
            </a:r>
            <a:r>
              <a:rPr lang="ru-RU" dirty="0" err="1"/>
              <a:t>eq</a:t>
            </a:r>
            <a:r>
              <a:rPr lang="ru-RU" dirty="0"/>
              <a:t> 2456"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 err="1"/>
              <a:t>PowerShell</a:t>
            </a:r>
            <a:r>
              <a:rPr lang="ru-RU" b="1" dirty="0"/>
              <a:t>:</a:t>
            </a:r>
            <a:endParaRPr lang="ru-RU" dirty="0"/>
          </a:p>
          <a:p>
            <a:pPr>
              <a:defRPr sz="3600"/>
            </a:pPr>
            <a:r>
              <a:rPr lang="ru-RU" dirty="0"/>
              <a:t>Get-</a:t>
            </a:r>
            <a:r>
              <a:rPr lang="ru-RU" dirty="0" err="1"/>
              <a:t>NetTCPConnection</a:t>
            </a:r>
            <a:endParaRPr lang="ru-RU" dirty="0"/>
          </a:p>
          <a:p>
            <a:pPr>
              <a:defRPr sz="3600"/>
            </a:pPr>
            <a:r>
              <a:rPr lang="ru-RU" dirty="0"/>
              <a:t>Get-Process -</a:t>
            </a:r>
            <a:r>
              <a:rPr lang="ru-RU" dirty="0" err="1"/>
              <a:t>Id</a:t>
            </a:r>
            <a:r>
              <a:rPr lang="ru-RU" dirty="0"/>
              <a:t> 2456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Это позволяет связать TCP-порт с конкретным процессом.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12999296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2298C20-EE07-CE58-54BB-4B06116B9B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4717810-8BE6-E778-43B1-0B2C4C3BDA88}"/>
              </a:ext>
            </a:extLst>
          </p:cNvPr>
          <p:cNvSpPr txBox="1"/>
          <p:nvPr/>
        </p:nvSpPr>
        <p:spPr>
          <a:xfrm>
            <a:off x="457200" y="634181"/>
            <a:ext cx="10972800" cy="5958348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Итоговый диагностический сценарий</a:t>
            </a:r>
          </a:p>
          <a:p>
            <a:pPr>
              <a:defRPr sz="3600"/>
            </a:pPr>
            <a:r>
              <a:rPr lang="ru-RU" b="1" dirty="0"/>
              <a:t>Симптом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Приложение не подключается к серверу</a:t>
            </a:r>
          </a:p>
          <a:p>
            <a:pPr>
              <a:defRPr sz="3600"/>
            </a:pPr>
            <a:r>
              <a:rPr lang="ru-RU" b="1" dirty="0"/>
              <a:t>Проверка</a:t>
            </a:r>
          </a:p>
          <a:p>
            <a:pPr>
              <a:defRPr sz="3600"/>
            </a:pPr>
            <a:r>
              <a:rPr lang="en-US" dirty="0"/>
              <a:t>→ Get-</a:t>
            </a:r>
            <a:r>
              <a:rPr lang="en-US" dirty="0" err="1"/>
              <a:t>NetAdapter</a:t>
            </a:r>
            <a:endParaRPr lang="en-US" dirty="0"/>
          </a:p>
          <a:p>
            <a:pPr>
              <a:defRPr sz="3600"/>
            </a:pPr>
            <a:r>
              <a:rPr lang="en-US" dirty="0"/>
              <a:t>→ ipconfig /all</a:t>
            </a:r>
          </a:p>
          <a:p>
            <a:pPr>
              <a:defRPr sz="3600"/>
            </a:pPr>
            <a:r>
              <a:rPr lang="en-US" dirty="0"/>
              <a:t>→ ping </a:t>
            </a:r>
            <a:r>
              <a:rPr lang="ru-RU" dirty="0"/>
              <a:t>шлюза</a:t>
            </a:r>
          </a:p>
          <a:p>
            <a:pPr>
              <a:defRPr sz="3600"/>
            </a:pPr>
            <a:r>
              <a:rPr lang="ru-RU" dirty="0"/>
              <a:t>→ </a:t>
            </a:r>
            <a:r>
              <a:rPr lang="en-US" dirty="0"/>
              <a:t>Resolve-</a:t>
            </a:r>
            <a:r>
              <a:rPr lang="en-US" dirty="0" err="1"/>
              <a:t>DnsName</a:t>
            </a:r>
            <a:endParaRPr lang="en-US" dirty="0"/>
          </a:p>
          <a:p>
            <a:pPr>
              <a:defRPr sz="3600"/>
            </a:pPr>
            <a:r>
              <a:rPr lang="en-US" dirty="0"/>
              <a:t>→ </a:t>
            </a:r>
            <a:r>
              <a:rPr lang="en-US" dirty="0" err="1"/>
              <a:t>tracert</a:t>
            </a:r>
            <a:endParaRPr lang="en-US" dirty="0"/>
          </a:p>
          <a:p>
            <a:pPr>
              <a:defRPr sz="3600"/>
            </a:pPr>
            <a:r>
              <a:rPr lang="en-US" dirty="0"/>
              <a:t>→ Test-</a:t>
            </a:r>
            <a:r>
              <a:rPr lang="en-US" dirty="0" err="1"/>
              <a:t>NetConnection</a:t>
            </a:r>
            <a:r>
              <a:rPr lang="en-US" dirty="0"/>
              <a:t> -Port</a:t>
            </a:r>
          </a:p>
          <a:p>
            <a:pPr>
              <a:defRPr sz="3600"/>
            </a:pPr>
            <a:r>
              <a:rPr lang="en-US" dirty="0"/>
              <a:t>→ netstat -</a:t>
            </a:r>
            <a:r>
              <a:rPr lang="en-US" dirty="0" err="1"/>
              <a:t>ano</a:t>
            </a:r>
            <a:endParaRPr lang="en-US" dirty="0"/>
          </a:p>
          <a:p>
            <a:pPr>
              <a:defRPr sz="3600"/>
            </a:pPr>
            <a:r>
              <a:rPr lang="ru-RU" b="1" dirty="0"/>
              <a:t>Вывод</a:t>
            </a:r>
          </a:p>
          <a:p>
            <a:pPr>
              <a:defRPr sz="3600"/>
            </a:pPr>
            <a:r>
              <a:rPr lang="ru-RU" dirty="0"/>
              <a:t>→ Узел доступен, но </a:t>
            </a:r>
            <a:r>
              <a:rPr lang="en-US" dirty="0"/>
              <a:t>TCP-</a:t>
            </a:r>
            <a:r>
              <a:rPr lang="ru-RU" dirty="0"/>
              <a:t>порт закрыт</a:t>
            </a:r>
          </a:p>
          <a:p>
            <a:pPr>
              <a:defRPr sz="3600"/>
            </a:pPr>
            <a:r>
              <a:rPr lang="ru-RU" dirty="0"/>
              <a:t>→ проблема относится к службе, межсетевому экрану или серверу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301083232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C5F683-798F-373E-2F03-E4BD3E69BB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F7BCC38-4DA9-7F47-EE8F-B562AFBDB67F}"/>
              </a:ext>
            </a:extLst>
          </p:cNvPr>
          <p:cNvSpPr txBox="1"/>
          <p:nvPr/>
        </p:nvSpPr>
        <p:spPr>
          <a:xfrm>
            <a:off x="457200" y="634181"/>
            <a:ext cx="10972800" cy="54922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rPr lang="ru-RU" dirty="0"/>
              <a:t>Гипотеза</a:t>
            </a:r>
            <a:endParaRPr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7F072EC-0A54-A972-FD67-87CFAF7D9FE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89965422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7CA5F-C7EB-B760-35A4-E3BADE0F30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30150D62-1C05-C8D9-EB29-D9F58FA95BA9}"/>
              </a:ext>
            </a:extLst>
          </p:cNvPr>
          <p:cNvSpPr txBox="1"/>
          <p:nvPr/>
        </p:nvSpPr>
        <p:spPr>
          <a:xfrm>
            <a:off x="1575873" y="182880"/>
            <a:ext cx="9009774" cy="584775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lang="ru-RU" dirty="0"/>
              <a:t>6. Windows Update и пользовательские профили.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3AF87E1-3BC1-95D7-6F6D-3CD18274AB41}"/>
              </a:ext>
            </a:extLst>
          </p:cNvPr>
          <p:cNvSpPr txBox="1"/>
          <p:nvPr/>
        </p:nvSpPr>
        <p:spPr>
          <a:xfrm>
            <a:off x="457200" y="914400"/>
            <a:ext cx="10972800" cy="5212080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Определение области проблемы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Типовые симптомы: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обновление не устанавливается;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после обновления появилась ошибка;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пользователь не может войти;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загружается временный профиль;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пропали настройки рабочего стола;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проблема возникает только у одного пользователя.</a:t>
            </a:r>
          </a:p>
          <a:p>
            <a:pPr>
              <a:defRPr sz="3600"/>
            </a:pPr>
            <a:endParaRPr lang="ru-RU" b="1" dirty="0"/>
          </a:p>
          <a:p>
            <a:pPr>
              <a:defRPr sz="3600"/>
            </a:pPr>
            <a:r>
              <a:rPr lang="ru-RU" b="1" dirty="0"/>
              <a:t>Главный вопрос: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Проблема затрагивает всю систему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или только одного пользователя?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946558774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862FE9-FDA5-DE17-B3E2-BDDCF5D0D2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E8F77E3-7B9E-BEE5-5C06-31800E296CF6}"/>
              </a:ext>
            </a:extLst>
          </p:cNvPr>
          <p:cNvSpPr txBox="1"/>
          <p:nvPr/>
        </p:nvSpPr>
        <p:spPr>
          <a:xfrm>
            <a:off x="457200" y="368711"/>
            <a:ext cx="10972800" cy="5757770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>
              <a:defRPr sz="3600"/>
            </a:pPr>
            <a:r>
              <a:rPr lang="ru-RU" b="1" dirty="0"/>
              <a:t>Диагностика Windows Update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Перед исправлением проверяют: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код ошибки;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название и дату обновления;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свободное место на диске;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подключение к сети;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необходимость перезагрузки;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историю обновлений.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Последовательность:</a:t>
            </a:r>
          </a:p>
          <a:p>
            <a:pPr>
              <a:defRPr sz="3600"/>
            </a:pPr>
            <a:r>
              <a:rPr lang="ru-RU" dirty="0"/>
              <a:t>→ Код ошибки</a:t>
            </a:r>
          </a:p>
          <a:p>
            <a:pPr>
              <a:defRPr sz="3600"/>
            </a:pPr>
            <a:r>
              <a:rPr lang="ru-RU" dirty="0"/>
              <a:t>→ место и сеть</a:t>
            </a:r>
          </a:p>
          <a:p>
            <a:pPr>
              <a:defRPr sz="3600"/>
            </a:pPr>
            <a:r>
              <a:rPr lang="ru-RU" dirty="0"/>
              <a:t>→ перезагрузка</a:t>
            </a:r>
          </a:p>
          <a:p>
            <a:pPr>
              <a:defRPr sz="3600"/>
            </a:pPr>
            <a:r>
              <a:rPr lang="ru-RU" dirty="0"/>
              <a:t>→ повторная установка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Не следует сразу сбрасывать компоненты Windows Update.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58315439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690B3-A316-91BB-A33B-E3F68C163F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18A1048-D66E-D2BD-F8EA-98FD1953BB6E}"/>
              </a:ext>
            </a:extLst>
          </p:cNvPr>
          <p:cNvSpPr txBox="1"/>
          <p:nvPr/>
        </p:nvSpPr>
        <p:spPr>
          <a:xfrm>
            <a:off x="457200" y="634181"/>
            <a:ext cx="10972800" cy="5492299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>
              <a:defRPr sz="3600"/>
            </a:pPr>
            <a:r>
              <a:rPr lang="ru-RU" b="1" dirty="0"/>
              <a:t>Службы, журналы и системные файлы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Проверка служб:</a:t>
            </a:r>
          </a:p>
          <a:p>
            <a:pPr>
              <a:defRPr sz="3600"/>
            </a:pPr>
            <a:r>
              <a:rPr lang="en-US" dirty="0"/>
              <a:t>Get-Service </a:t>
            </a:r>
            <a:r>
              <a:rPr lang="en-US" dirty="0" err="1"/>
              <a:t>wuauserv</a:t>
            </a:r>
            <a:r>
              <a:rPr lang="en-US" dirty="0"/>
              <a:t>, bits, </a:t>
            </a:r>
            <a:r>
              <a:rPr lang="en-US" dirty="0" err="1"/>
              <a:t>cryptsvc</a:t>
            </a:r>
            <a:endParaRPr lang="en-US" dirty="0"/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ru-RU" b="1" dirty="0"/>
              <a:t>Основные компоненты:</a:t>
            </a:r>
          </a:p>
          <a:p>
            <a:pPr>
              <a:defRPr sz="3600"/>
            </a:pPr>
            <a:r>
              <a:rPr lang="en-US" dirty="0" err="1"/>
              <a:t>wuauserv</a:t>
            </a:r>
            <a:r>
              <a:rPr lang="en-US" dirty="0"/>
              <a:t> — Windows Update</a:t>
            </a:r>
          </a:p>
          <a:p>
            <a:pPr>
              <a:defRPr sz="3600"/>
            </a:pPr>
            <a:r>
              <a:rPr lang="en-US" dirty="0"/>
              <a:t>BITS     — </a:t>
            </a:r>
            <a:r>
              <a:rPr lang="ru-RU" dirty="0"/>
              <a:t>загрузка файлов</a:t>
            </a:r>
          </a:p>
          <a:p>
            <a:pPr>
              <a:defRPr sz="3600"/>
            </a:pPr>
            <a:r>
              <a:rPr lang="en-US" dirty="0" err="1"/>
              <a:t>cryptsvc</a:t>
            </a:r>
            <a:r>
              <a:rPr lang="en-US" dirty="0"/>
              <a:t> — </a:t>
            </a:r>
            <a:r>
              <a:rPr lang="ru-RU" dirty="0"/>
              <a:t>проверка подписей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Системные проверки:</a:t>
            </a:r>
          </a:p>
          <a:p>
            <a:pPr>
              <a:defRPr sz="3600"/>
            </a:pPr>
            <a:r>
              <a:rPr lang="en-US" dirty="0" err="1"/>
              <a:t>sfc</a:t>
            </a:r>
            <a:r>
              <a:rPr lang="en-US" dirty="0"/>
              <a:t> /</a:t>
            </a:r>
            <a:r>
              <a:rPr lang="en-US" dirty="0" err="1"/>
              <a:t>scannow</a:t>
            </a:r>
            <a:endParaRPr lang="en-US" dirty="0"/>
          </a:p>
          <a:p>
            <a:pPr>
              <a:defRPr sz="3600"/>
            </a:pPr>
            <a:r>
              <a:rPr lang="en-US" dirty="0"/>
              <a:t>DISM /Online /Cleanup-Image /</a:t>
            </a:r>
            <a:r>
              <a:rPr lang="en-US" dirty="0" err="1"/>
              <a:t>ScanHealth</a:t>
            </a:r>
            <a:endParaRPr lang="en-US" dirty="0"/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ru-RU" b="1" dirty="0"/>
              <a:t>Восстановление выполняют только при подтверждённом повреждении:</a:t>
            </a:r>
          </a:p>
          <a:p>
            <a:pPr>
              <a:defRPr sz="3600"/>
            </a:pPr>
            <a:r>
              <a:rPr lang="en-US" dirty="0"/>
              <a:t>DISM /Online /Cleanup-Image /</a:t>
            </a:r>
            <a:r>
              <a:rPr lang="en-US" dirty="0" err="1"/>
              <a:t>RestoreHealth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10480048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817448-E94F-3D04-31B2-6D1302A0B0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6B316B1-F8DC-E1A3-6870-E41E2A3EB96E}"/>
              </a:ext>
            </a:extLst>
          </p:cNvPr>
          <p:cNvSpPr txBox="1"/>
          <p:nvPr/>
        </p:nvSpPr>
        <p:spPr>
          <a:xfrm>
            <a:off x="457200" y="634181"/>
            <a:ext cx="10972800" cy="5492299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Ошибка после обновления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Если проблема появилась после установки обновления: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проверить дату установки;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открыть </a:t>
            </a:r>
            <a:r>
              <a:rPr lang="ru-RU" dirty="0" err="1"/>
              <a:t>Reliability</a:t>
            </a:r>
            <a:r>
              <a:rPr lang="ru-RU" dirty="0"/>
              <a:t> Monitor;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найти связанные события;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определить затронутую функцию;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подтвердить связь обновления со сбоем;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при необходимости удалить последнее обновление.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Важно:</a:t>
            </a:r>
          </a:p>
          <a:p>
            <a:pPr>
              <a:defRPr sz="3600"/>
            </a:pPr>
            <a:r>
              <a:rPr lang="ru-RU" dirty="0"/>
              <a:t>Сбой появился после обновления</a:t>
            </a:r>
          </a:p>
          <a:p>
            <a:pPr>
              <a:defRPr sz="3600"/>
            </a:pPr>
            <a:r>
              <a:rPr lang="ru-RU" dirty="0"/>
              <a:t>≠</a:t>
            </a:r>
          </a:p>
          <a:p>
            <a:pPr>
              <a:defRPr sz="3600"/>
            </a:pPr>
            <a:r>
              <a:rPr lang="ru-RU" dirty="0"/>
              <a:t>обновление точно является причиной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694696639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C6B455D-A745-2BE8-5C83-404CE9CF8D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1D3F153-ABBD-1E23-2202-0C8582B3707A}"/>
              </a:ext>
            </a:extLst>
          </p:cNvPr>
          <p:cNvSpPr txBox="1"/>
          <p:nvPr/>
        </p:nvSpPr>
        <p:spPr>
          <a:xfrm>
            <a:off x="457200" y="368711"/>
            <a:ext cx="10972800" cy="6091084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>
              <a:defRPr sz="3600"/>
            </a:pPr>
            <a:r>
              <a:rPr lang="ru-RU" b="1" dirty="0"/>
              <a:t>Пользовательский профиль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Профиль хранит: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рабочий стол;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документы и загрузки;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настройки Windows;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параметры приложений;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пользовательские данные;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содержимое папки C:\Users.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Проверка текущего профиля:</a:t>
            </a:r>
          </a:p>
          <a:p>
            <a:pPr>
              <a:defRPr sz="3600"/>
            </a:pPr>
            <a:r>
              <a:rPr lang="ru-RU" dirty="0" err="1"/>
              <a:t>echo</a:t>
            </a:r>
            <a:r>
              <a:rPr lang="ru-RU" dirty="0"/>
              <a:t> %USERPROFILE%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Нормальный путь:</a:t>
            </a:r>
          </a:p>
          <a:p>
            <a:pPr>
              <a:defRPr sz="3600"/>
            </a:pPr>
            <a:r>
              <a:rPr lang="ru-RU" dirty="0"/>
              <a:t>C:\Users\Student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Временный профиль:</a:t>
            </a:r>
          </a:p>
          <a:p>
            <a:pPr>
              <a:defRPr sz="3600"/>
            </a:pPr>
            <a:r>
              <a:rPr lang="ru-RU" dirty="0"/>
              <a:t>C:\Users\TEMP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96461154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B95CC31-5BB2-D7D9-05E5-34AE05B93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D510C1E-0201-860F-FAE9-4E8320E1583C}"/>
              </a:ext>
            </a:extLst>
          </p:cNvPr>
          <p:cNvSpPr txBox="1"/>
          <p:nvPr/>
        </p:nvSpPr>
        <p:spPr>
          <a:xfrm>
            <a:off x="457200" y="280219"/>
            <a:ext cx="10972800" cy="6150078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>
              <a:defRPr sz="3600"/>
            </a:pPr>
            <a:r>
              <a:rPr lang="ru-RU" b="1" dirty="0"/>
              <a:t>Диагностика проблемы входа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Типовые признаки: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вход выполняется долго;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загружается временный профиль;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отсутствуют привычные настройки;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файлы пользователя не отображаются;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проблема возникает только у одной учётной записи.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Последовательность:</a:t>
            </a:r>
          </a:p>
          <a:p>
            <a:pPr>
              <a:defRPr sz="3600"/>
            </a:pPr>
            <a:r>
              <a:rPr lang="ru-RU" dirty="0"/>
              <a:t>→ Проверить путь профиля</a:t>
            </a:r>
          </a:p>
          <a:p>
            <a:pPr>
              <a:defRPr sz="3600"/>
            </a:pPr>
            <a:r>
              <a:rPr lang="ru-RU" dirty="0"/>
              <a:t>→ проверить место на диске</a:t>
            </a:r>
          </a:p>
          <a:p>
            <a:pPr>
              <a:defRPr sz="3600"/>
            </a:pPr>
            <a:r>
              <a:rPr lang="ru-RU" dirty="0"/>
              <a:t>→ проверить права на папку</a:t>
            </a:r>
          </a:p>
          <a:p>
            <a:pPr>
              <a:defRPr sz="3600"/>
            </a:pPr>
            <a:r>
              <a:rPr lang="ru-RU" dirty="0"/>
              <a:t>→ войти другим пользователем</a:t>
            </a:r>
          </a:p>
          <a:p>
            <a:pPr>
              <a:defRPr sz="3600"/>
            </a:pPr>
            <a:r>
              <a:rPr lang="ru-RU" dirty="0"/>
              <a:t>→ изучить User Profile Service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Если другой пользователь входит нормально, проблема, вероятнее всего, относится к конкретному профилю.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4154158295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C96338-1DEE-5E28-E025-69CEF01A6C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ACC28BF-895A-CA3D-9118-E2387CF199D7}"/>
              </a:ext>
            </a:extLst>
          </p:cNvPr>
          <p:cNvSpPr txBox="1"/>
          <p:nvPr/>
        </p:nvSpPr>
        <p:spPr>
          <a:xfrm>
            <a:off x="457200" y="634181"/>
            <a:ext cx="10972800" cy="5492299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algn="ctr">
              <a:defRPr sz="3600"/>
            </a:pPr>
            <a:r>
              <a:rPr lang="ru-RU" b="1" dirty="0"/>
              <a:t>Новый профиль и итоговый сценарий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Новый профиль используют как диагностический тест: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создать тестового пользователя;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выполнить вход;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проверить систему и программы;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подтвердить повреждение старого профиля;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создать новый рабочий профиль;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перенести пользовательские файлы.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Безопасно переносят: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Desktop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Documents</a:t>
            </a:r>
            <a:endParaRPr lang="ru-RU" dirty="0"/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Downloads</a:t>
            </a:r>
            <a:endParaRPr lang="ru-RU" dirty="0"/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Pictures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Рабочие файлы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Не следует копировать повреждённый профиль целиком.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891534230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3957D44-A82C-892B-3712-EFAC71610E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182C743-11B4-00BF-AF13-1EF3CC9BBAC4}"/>
              </a:ext>
            </a:extLst>
          </p:cNvPr>
          <p:cNvSpPr txBox="1"/>
          <p:nvPr/>
        </p:nvSpPr>
        <p:spPr>
          <a:xfrm>
            <a:off x="457200" y="634181"/>
            <a:ext cx="10972800" cy="5492299"/>
          </a:xfrm>
          <a:prstGeom prst="rect">
            <a:avLst/>
          </a:prstGeom>
          <a:noFill/>
        </p:spPr>
        <p:txBody>
          <a:bodyPr wrap="square">
            <a:normAutofit fontScale="92500" lnSpcReduction="10000"/>
          </a:bodyPr>
          <a:lstStyle/>
          <a:p>
            <a:pPr algn="ctr">
              <a:defRPr sz="3600"/>
            </a:pPr>
            <a:r>
              <a:rPr lang="ru-RU" b="1" dirty="0"/>
              <a:t>Итоговый алгоритм</a:t>
            </a:r>
          </a:p>
          <a:p>
            <a:pPr>
              <a:defRPr sz="3600"/>
            </a:pPr>
            <a:r>
              <a:rPr lang="ru-RU" b="1" dirty="0"/>
              <a:t>Проблема у всех пользователей:</a:t>
            </a:r>
          </a:p>
          <a:p>
            <a:pPr>
              <a:defRPr sz="3600"/>
            </a:pPr>
            <a:r>
              <a:rPr lang="ru-RU" dirty="0"/>
              <a:t>→ диагностировать Windows Update и систему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Проблема только у одного пользователя:</a:t>
            </a:r>
          </a:p>
          <a:p>
            <a:pPr>
              <a:defRPr sz="3600"/>
            </a:pPr>
            <a:r>
              <a:rPr lang="ru-RU" dirty="0"/>
              <a:t>→ диагностировать профиль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Главный вывод:</a:t>
            </a:r>
          </a:p>
          <a:p>
            <a:pPr>
              <a:defRPr sz="3600"/>
            </a:pPr>
            <a:r>
              <a:rPr lang="ru-RU" dirty="0"/>
              <a:t>Ошибка Windows Update обычно относится ко всей системе,</a:t>
            </a:r>
          </a:p>
          <a:p>
            <a:pPr>
              <a:defRPr sz="3600"/>
            </a:pPr>
            <a:r>
              <a:rPr lang="ru-RU" dirty="0"/>
              <a:t>а неисправность профиля — к конкретному пользователю.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944442749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02590-46D2-2EE6-1B04-E011E61469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BC5FA75-0499-6C5F-C08A-4B5EE73A7277}"/>
              </a:ext>
            </a:extLst>
          </p:cNvPr>
          <p:cNvSpPr txBox="1"/>
          <p:nvPr/>
        </p:nvSpPr>
        <p:spPr>
          <a:xfrm>
            <a:off x="457200" y="634181"/>
            <a:ext cx="10972800" cy="54922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rPr lang="ru-RU" dirty="0"/>
              <a:t>Гипотеза</a:t>
            </a:r>
            <a:endParaRPr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2F73C02F-5081-A57B-D92A-C629656EAA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30652523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8FB336-9A52-FFFB-CA38-463EE6761F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0F1233F-B1DC-3DEE-F1A1-C49BEE134811}"/>
              </a:ext>
            </a:extLst>
          </p:cNvPr>
          <p:cNvSpPr txBox="1"/>
          <p:nvPr/>
        </p:nvSpPr>
        <p:spPr>
          <a:xfrm>
            <a:off x="2168503" y="182880"/>
            <a:ext cx="7824514" cy="107721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lang="ru-RU" dirty="0"/>
              <a:t>7. Системные команды, восстановление и </a:t>
            </a:r>
          </a:p>
          <a:p>
            <a:pPr algn="ctr">
              <a:defRPr sz="3200" b="1">
                <a:solidFill>
                  <a:srgbClr val="143764"/>
                </a:solidFill>
              </a:defRPr>
            </a:pPr>
            <a:r>
              <a:rPr lang="ru-RU" dirty="0"/>
              <a:t>итоговый диагностический сценарий.</a:t>
            </a:r>
            <a:endParaRPr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8819955-AB6E-0DF2-48D4-7F8CE276D509}"/>
              </a:ext>
            </a:extLst>
          </p:cNvPr>
          <p:cNvSpPr txBox="1"/>
          <p:nvPr/>
        </p:nvSpPr>
        <p:spPr>
          <a:xfrm>
            <a:off x="457200" y="1260097"/>
            <a:ext cx="10972800" cy="5184947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>
              <a:defRPr sz="3600"/>
            </a:pPr>
            <a:r>
              <a:rPr lang="ru-RU" b="1" dirty="0"/>
              <a:t>Системные команды диагностики</a:t>
            </a:r>
          </a:p>
          <a:p>
            <a:pPr>
              <a:defRPr sz="3600"/>
            </a:pPr>
            <a:r>
              <a:rPr lang="ru-RU" b="1" dirty="0"/>
              <a:t>Основные команды: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systeminfo</a:t>
            </a:r>
            <a:endParaRPr lang="ru-RU" dirty="0"/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tasklist</a:t>
            </a:r>
            <a:endParaRPr lang="ru-RU" dirty="0"/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ipconfig</a:t>
            </a:r>
            <a:r>
              <a:rPr lang="ru-RU" dirty="0"/>
              <a:t> /</a:t>
            </a:r>
            <a:r>
              <a:rPr lang="ru-RU" dirty="0" err="1"/>
              <a:t>all</a:t>
            </a:r>
            <a:endParaRPr lang="ru-RU" dirty="0"/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route</a:t>
            </a:r>
            <a:r>
              <a:rPr lang="ru-RU" dirty="0"/>
              <a:t> </a:t>
            </a:r>
            <a:r>
              <a:rPr lang="ru-RU" dirty="0" err="1"/>
              <a:t>print</a:t>
            </a:r>
            <a:endParaRPr lang="ru-RU" dirty="0"/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netstat</a:t>
            </a:r>
            <a:r>
              <a:rPr lang="ru-RU" dirty="0"/>
              <a:t> -</a:t>
            </a:r>
            <a:r>
              <a:rPr lang="ru-RU" dirty="0" err="1"/>
              <a:t>ano</a:t>
            </a:r>
            <a:endParaRPr lang="ru-RU" dirty="0"/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Они позволяют проверить: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сведения о системе;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запущенные процессы;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сетевые параметры;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таблицу маршрутизации;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TCP-соединения и порты.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Сначала собирают данные, затем изменяют систему.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650592090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FD106F-15B3-A78C-EE43-A335AB7BA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3D053284-8B3D-F809-374E-729760E7CA7A}"/>
              </a:ext>
            </a:extLst>
          </p:cNvPr>
          <p:cNvSpPr txBox="1"/>
          <p:nvPr/>
        </p:nvSpPr>
        <p:spPr>
          <a:xfrm>
            <a:off x="457200" y="634181"/>
            <a:ext cx="10972800" cy="5492299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>
              <a:defRPr sz="3600"/>
            </a:pPr>
            <a:r>
              <a:rPr lang="ru-RU" b="1" dirty="0"/>
              <a:t>Проверка и восстановление системных файлов</a:t>
            </a:r>
          </a:p>
          <a:p>
            <a:pPr>
              <a:defRPr sz="3600"/>
            </a:pPr>
            <a:r>
              <a:rPr lang="ru-RU" b="1" dirty="0"/>
              <a:t>Проверка файлов </a:t>
            </a:r>
            <a:r>
              <a:rPr lang="en-US" b="1" dirty="0"/>
              <a:t>Windows: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 err="1"/>
              <a:t>sfc</a:t>
            </a:r>
            <a:r>
              <a:rPr lang="en-US" dirty="0"/>
              <a:t> /</a:t>
            </a:r>
            <a:r>
              <a:rPr lang="en-US" dirty="0" err="1"/>
              <a:t>scannow</a:t>
            </a:r>
            <a:endParaRPr lang="en-US" dirty="0"/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ru-RU" b="1" dirty="0"/>
              <a:t>Проверка хранилища компонентов:</a:t>
            </a:r>
          </a:p>
          <a:p>
            <a:pPr>
              <a:defRPr sz="3600"/>
            </a:pPr>
            <a:r>
              <a:rPr lang="en-US" dirty="0"/>
              <a:t>DISM /Online /Cleanup-Image /</a:t>
            </a:r>
            <a:r>
              <a:rPr lang="en-US" dirty="0" err="1"/>
              <a:t>ScanHealth</a:t>
            </a:r>
            <a:endParaRPr lang="en-US" dirty="0"/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ru-RU" b="1" dirty="0"/>
              <a:t>Восстановление хранилища: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en-US" dirty="0"/>
              <a:t>DISM /Online /Cleanup-Image /</a:t>
            </a:r>
            <a:r>
              <a:rPr lang="en-US" dirty="0" err="1"/>
              <a:t>RestoreHealth</a:t>
            </a:r>
            <a:endParaRPr lang="en-US" dirty="0"/>
          </a:p>
          <a:p>
            <a:pPr>
              <a:defRPr sz="3600"/>
            </a:pPr>
            <a:endParaRPr lang="en-US" dirty="0"/>
          </a:p>
          <a:p>
            <a:pPr>
              <a:defRPr sz="3600"/>
            </a:pPr>
            <a:r>
              <a:rPr lang="ru-RU" b="1" dirty="0"/>
              <a:t>Рекомендуемая последовательность:</a:t>
            </a:r>
          </a:p>
          <a:p>
            <a:pPr>
              <a:defRPr sz="3600"/>
            </a:pPr>
            <a:r>
              <a:rPr lang="en-US" dirty="0"/>
              <a:t>→ DISM</a:t>
            </a:r>
          </a:p>
          <a:p>
            <a:pPr>
              <a:defRPr sz="3600"/>
            </a:pPr>
            <a:r>
              <a:rPr lang="en-US" dirty="0"/>
              <a:t>→ SFC</a:t>
            </a:r>
          </a:p>
          <a:p>
            <a:pPr>
              <a:defRPr sz="3600"/>
            </a:pPr>
            <a:r>
              <a:rPr lang="en-US" dirty="0"/>
              <a:t>→ </a:t>
            </a:r>
            <a:r>
              <a:rPr lang="ru-RU" dirty="0"/>
              <a:t>перезагрузка</a:t>
            </a:r>
          </a:p>
          <a:p>
            <a:pPr>
              <a:defRPr sz="3600"/>
            </a:pPr>
            <a:r>
              <a:rPr lang="ru-RU" dirty="0"/>
              <a:t>→ повторная проверка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Команды запускают от имени администратора.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739488493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CC791-AB12-5CB8-19D1-447426582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2709935-07AE-851F-5961-E26036FC515B}"/>
              </a:ext>
            </a:extLst>
          </p:cNvPr>
          <p:cNvSpPr txBox="1"/>
          <p:nvPr/>
        </p:nvSpPr>
        <p:spPr>
          <a:xfrm>
            <a:off x="457200" y="634181"/>
            <a:ext cx="10972800" cy="5492299"/>
          </a:xfrm>
          <a:prstGeom prst="rect">
            <a:avLst/>
          </a:prstGeom>
          <a:noFill/>
        </p:spPr>
        <p:txBody>
          <a:bodyPr wrap="square">
            <a:normAutofit fontScale="85000" lnSpcReduction="20000"/>
          </a:bodyPr>
          <a:lstStyle/>
          <a:p>
            <a:pPr algn="ctr">
              <a:defRPr sz="3600"/>
            </a:pPr>
            <a:r>
              <a:rPr lang="ru-RU" b="1" dirty="0"/>
              <a:t>Проверка диска и памяти</a:t>
            </a:r>
          </a:p>
          <a:p>
            <a:pPr>
              <a:defRPr sz="3600"/>
            </a:pPr>
            <a:endParaRPr lang="ru-RU" b="1" dirty="0"/>
          </a:p>
          <a:p>
            <a:pPr>
              <a:defRPr sz="3600"/>
            </a:pPr>
            <a:r>
              <a:rPr lang="ru-RU" b="1" dirty="0"/>
              <a:t>Проверка файловой системы: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chkdsk</a:t>
            </a:r>
            <a:r>
              <a:rPr lang="ru-RU" dirty="0"/>
              <a:t> C: /</a:t>
            </a:r>
            <a:r>
              <a:rPr lang="ru-RU" dirty="0" err="1"/>
              <a:t>scan</a:t>
            </a:r>
            <a:endParaRPr lang="ru-RU" dirty="0"/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Диагностика оперативной памяти: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mdsched.exe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Важно: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chkdsk</a:t>
            </a:r>
            <a:r>
              <a:rPr lang="ru-RU" dirty="0"/>
              <a:t> /</a:t>
            </a:r>
            <a:r>
              <a:rPr lang="ru-RU" dirty="0" err="1"/>
              <a:t>scan</a:t>
            </a:r>
            <a:r>
              <a:rPr lang="ru-RU" dirty="0"/>
              <a:t> выполняет проверку без исправления;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 err="1"/>
              <a:t>chkdsk</a:t>
            </a:r>
            <a:r>
              <a:rPr lang="ru-RU" dirty="0"/>
              <a:t> /f изменяет файловую систему;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проверка памяти выполняется после перезагрузки;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перед исправлением диска сохраняют важные данные;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результат проверяют в системных журналах.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6342293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F33198-B69F-4A5F-2405-E58575D1C2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25F2A698-0E91-F03D-FB91-94A75413E4B6}"/>
              </a:ext>
            </a:extLst>
          </p:cNvPr>
          <p:cNvSpPr txBox="1"/>
          <p:nvPr/>
        </p:nvSpPr>
        <p:spPr>
          <a:xfrm>
            <a:off x="457200" y="353961"/>
            <a:ext cx="10972800" cy="6253316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 algn="ctr">
              <a:defRPr sz="3600"/>
            </a:pPr>
            <a:r>
              <a:rPr lang="ru-RU" b="1" dirty="0"/>
              <a:t>Выбор средства восстановления</a:t>
            </a:r>
          </a:p>
          <a:p>
            <a:pPr>
              <a:defRPr sz="3600"/>
            </a:pPr>
            <a:r>
              <a:rPr lang="ru-RU" b="1" dirty="0"/>
              <a:t>Сбой после запуска программы:</a:t>
            </a:r>
          </a:p>
          <a:p>
            <a:pPr>
              <a:defRPr sz="3600"/>
            </a:pPr>
            <a:r>
              <a:rPr lang="ru-RU" dirty="0"/>
              <a:t>→ завершение процесса или перезапуск службы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Сбой после драйвера:</a:t>
            </a:r>
          </a:p>
          <a:p>
            <a:pPr>
              <a:defRPr sz="3600"/>
            </a:pPr>
            <a:r>
              <a:rPr lang="ru-RU" dirty="0"/>
              <a:t>→ откат драйвера или Safe Mode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Повреждение системных файлов:</a:t>
            </a:r>
          </a:p>
          <a:p>
            <a:pPr>
              <a:defRPr sz="3600"/>
            </a:pPr>
            <a:r>
              <a:rPr lang="ru-RU" dirty="0"/>
              <a:t>→ DISM и SFC</a:t>
            </a:r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Недавнее системное изменение:</a:t>
            </a:r>
          </a:p>
          <a:p>
            <a:pPr>
              <a:defRPr sz="3600"/>
            </a:pPr>
            <a:r>
              <a:rPr lang="ru-RU" dirty="0"/>
              <a:t>→ точка восстановления</a:t>
            </a:r>
          </a:p>
          <a:p>
            <a:pPr>
              <a:defRPr sz="3600"/>
            </a:pPr>
            <a:endParaRPr lang="ru-RU" b="1" dirty="0"/>
          </a:p>
          <a:p>
            <a:pPr>
              <a:defRPr sz="3600"/>
            </a:pPr>
            <a:r>
              <a:rPr lang="ru-RU" b="1" dirty="0"/>
              <a:t>Windows не загружается:</a:t>
            </a:r>
          </a:p>
          <a:p>
            <a:pPr>
              <a:defRPr sz="3600"/>
            </a:pPr>
            <a:r>
              <a:rPr lang="ru-RU" dirty="0"/>
              <a:t>→ </a:t>
            </a:r>
            <a:r>
              <a:rPr lang="ru-RU" dirty="0" err="1"/>
              <a:t>WinRE</a:t>
            </a:r>
            <a:r>
              <a:rPr lang="ru-RU" dirty="0"/>
              <a:t> и </a:t>
            </a:r>
            <a:r>
              <a:rPr lang="ru-RU" dirty="0" err="1"/>
              <a:t>Startup</a:t>
            </a:r>
            <a:r>
              <a:rPr lang="ru-RU" dirty="0"/>
              <a:t> </a:t>
            </a:r>
            <a:r>
              <a:rPr lang="ru-RU" dirty="0" err="1"/>
              <a:t>Repair</a:t>
            </a:r>
            <a:endParaRPr lang="ru-RU" dirty="0"/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b="1" dirty="0"/>
              <a:t>Другие способы не помогли:</a:t>
            </a:r>
          </a:p>
          <a:p>
            <a:pPr>
              <a:defRPr sz="3600"/>
            </a:pPr>
            <a:r>
              <a:rPr lang="ru-RU" dirty="0"/>
              <a:t>→ </a:t>
            </a:r>
            <a:r>
              <a:rPr lang="ru-RU" dirty="0" err="1"/>
              <a:t>Reset</a:t>
            </a:r>
            <a:endParaRPr lang="ru-RU" dirty="0"/>
          </a:p>
          <a:p>
            <a:pPr>
              <a:defRPr sz="3600"/>
            </a:pPr>
            <a:endParaRPr lang="ru-RU" dirty="0"/>
          </a:p>
          <a:p>
            <a:pPr>
              <a:defRPr sz="3600"/>
            </a:pPr>
            <a:r>
              <a:rPr lang="ru-RU" dirty="0"/>
              <a:t>Используют наименее разрушительный способ.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80133666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BF5C2-516B-E998-BE5D-BF9BF12A50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67650F65-CF04-7BD6-1584-A4326FD62F0F}"/>
              </a:ext>
            </a:extLst>
          </p:cNvPr>
          <p:cNvSpPr txBox="1"/>
          <p:nvPr/>
        </p:nvSpPr>
        <p:spPr>
          <a:xfrm>
            <a:off x="457200" y="634181"/>
            <a:ext cx="10972800" cy="5492299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defRPr sz="3600"/>
            </a:pPr>
            <a:r>
              <a:rPr lang="ru-RU" dirty="0"/>
              <a:t>Гипотеза</a:t>
            </a:r>
            <a:endParaRPr dirty="0"/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08F0B4A7-14F9-258B-3160-9A42D1C8EC0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39" y="0"/>
            <a:ext cx="1218552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76532229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A0BFD8-019E-1850-2635-3E0220861D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03BF9707-7FB6-59E2-2E7F-4B7E41DACC46}"/>
              </a:ext>
            </a:extLst>
          </p:cNvPr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Итоги лекции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0357274-131B-B60D-69BB-AD29B7B8B0F7}"/>
              </a:ext>
            </a:extLst>
          </p:cNvPr>
          <p:cNvSpPr txBox="1"/>
          <p:nvPr/>
        </p:nvSpPr>
        <p:spPr>
          <a:xfrm>
            <a:off x="457200" y="914400"/>
            <a:ext cx="10972800" cy="5760720"/>
          </a:xfrm>
          <a:prstGeom prst="rect">
            <a:avLst/>
          </a:prstGeom>
          <a:noFill/>
        </p:spPr>
        <p:txBody>
          <a:bodyPr wrap="square">
            <a:normAutofit fontScale="62500" lnSpcReduction="20000"/>
          </a:bodyPr>
          <a:lstStyle/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Диагностика Windows начинается с точного описания симптома, а не со случайных исправлений.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Правильная последовательность: симптом → область проблемы → гипотеза → проверка → исправление → повторный тест.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Task Manager показывает общую нагрузку, Resource Monitor помогает найти конкретный процесс, файл или соединение.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Event </a:t>
            </a:r>
            <a:r>
              <a:rPr lang="ru-RU" dirty="0" err="1"/>
              <a:t>Viewer</a:t>
            </a:r>
            <a:r>
              <a:rPr lang="ru-RU" dirty="0"/>
              <a:t> фиксирует события и ошибки, а </a:t>
            </a:r>
            <a:r>
              <a:rPr lang="ru-RU" dirty="0" err="1"/>
              <a:t>Reliability</a:t>
            </a:r>
            <a:r>
              <a:rPr lang="ru-RU" dirty="0"/>
              <a:t> Monitor связывает сбои с обновлениями, программами и драйверами.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Процессы, службы и автозагрузку изменяют только после проверки их назначения и связи с неисправностью.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При низкой производительности сначала определяют перегруженный ресурс: CPU, RAM или диск.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Сетевую проблему проверяют последовательно: адаптер → IP → шлюз → DNS → маршрут → TCP-порт → приложение.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Если проблема возникает только у одного пользователя, проверяют его профиль; если у всех — систему и обновления.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DISM, SFC, CHKDSK, </a:t>
            </a:r>
            <a:r>
              <a:rPr lang="ru-RU" dirty="0" err="1"/>
              <a:t>WinRE</a:t>
            </a:r>
            <a:r>
              <a:rPr lang="ru-RU" dirty="0"/>
              <a:t> и </a:t>
            </a:r>
            <a:r>
              <a:rPr lang="ru-RU" dirty="0" err="1"/>
              <a:t>Reset</a:t>
            </a:r>
            <a:r>
              <a:rPr lang="ru-RU" dirty="0"/>
              <a:t> применяют по подтверждённым показаниям, начиная с наименее разрушительного способа.</a:t>
            </a:r>
          </a:p>
          <a:p>
            <a:pPr marL="571500" indent="-571500">
              <a:buFont typeface="Arial" panose="020B0604020202020204" pitchFamily="34" charset="0"/>
              <a:buChar char="•"/>
              <a:defRPr sz="3600"/>
            </a:pPr>
            <a:r>
              <a:rPr lang="ru-RU" dirty="0"/>
              <a:t>Диагностика завершается повторением исходного теста, перезагрузкой и документированием результата.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863727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274320" y="182880"/>
            <a:ext cx="1161288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200" b="1">
                <a:solidFill>
                  <a:srgbClr val="143764"/>
                </a:solidFill>
              </a:defRPr>
            </a:pPr>
            <a:r>
              <a:t>Контрольные вопросы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5648632"/>
          </a:xfrm>
          <a:prstGeom prst="rect">
            <a:avLst/>
          </a:prstGeom>
          <a:noFill/>
        </p:spPr>
        <p:txBody>
          <a:bodyPr wrap="square">
            <a:normAutofit fontScale="77500" lnSpcReduction="20000"/>
          </a:bodyPr>
          <a:lstStyle/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Из каких этапов состоит методика диагностики Windows?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Чем симптом неисправности отличается от её причины?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Для чего используются Task Manager, Resource Monitor, Event </a:t>
            </a:r>
            <a:r>
              <a:rPr lang="ru-RU" dirty="0" err="1"/>
              <a:t>Viewer</a:t>
            </a:r>
            <a:r>
              <a:rPr lang="ru-RU" dirty="0"/>
              <a:t> и </a:t>
            </a:r>
            <a:r>
              <a:rPr lang="ru-RU" dirty="0" err="1"/>
              <a:t>Reliability</a:t>
            </a:r>
            <a:r>
              <a:rPr lang="ru-RU" dirty="0"/>
              <a:t> Monitor?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Чем процесс отличается от службы и элемента автозагрузки?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Как определить, что производительность ограничена CPU, RAM или диском?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Почему высокая загрузка ресурса ещё не является окончательным диагнозом?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В какой последовательности проверяют сетевое подключение Windows?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Как определить, относится проблема ко всей системе или только к пользовательскому профилю?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Для чего применяются команды DISM, SFC и CHKDSK?</a:t>
            </a:r>
          </a:p>
          <a:p>
            <a:pPr marL="742950" indent="-742950">
              <a:buFont typeface="+mj-lt"/>
              <a:buAutoNum type="arabicPeriod"/>
              <a:defRPr sz="3600"/>
            </a:pPr>
            <a:r>
              <a:rPr lang="ru-RU" dirty="0"/>
              <a:t>Почему после исправления необходимо повторить исходное действие пользователя?</a:t>
            </a: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132</TotalTime>
  <Words>4083</Words>
  <Application>Microsoft Office PowerPoint</Application>
  <PresentationFormat>Широкоэкранный</PresentationFormat>
  <Paragraphs>1073</Paragraphs>
  <Slides>79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79</vt:i4>
      </vt:variant>
    </vt:vector>
  </HeadingPairs>
  <TitlesOfParts>
    <vt:vector size="82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user</dc:creator>
  <cp:keywords/>
  <dc:description>generated using python-pptx</dc:description>
  <cp:lastModifiedBy>user</cp:lastModifiedBy>
  <cp:revision>9</cp:revision>
  <dcterms:created xsi:type="dcterms:W3CDTF">2013-01-27T09:14:16Z</dcterms:created>
  <dcterms:modified xsi:type="dcterms:W3CDTF">2026-08-05T07:37:52Z</dcterms:modified>
  <cp:category/>
</cp:coreProperties>
</file>