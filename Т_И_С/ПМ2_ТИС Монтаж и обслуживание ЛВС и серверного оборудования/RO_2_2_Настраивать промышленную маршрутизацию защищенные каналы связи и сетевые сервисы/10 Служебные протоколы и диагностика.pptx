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10. Служебные протоколы, диагностика и управление конфигурацией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роль NTP, Syslog и резервного копирования в сопровождении сети</a:t>
            </a:r>
          </a:p>
          <a:p>
            <a:pPr>
              <a:defRPr sz="3600"/>
            </a:pPr>
            <a:r>
              <a:t>Различать настройку NTP-клиента и учебного NTP-сервера</a:t>
            </a:r>
          </a:p>
          <a:p>
            <a:pPr>
              <a:defRPr sz="3600"/>
            </a:pPr>
            <a:r>
              <a:t>Настраивать Syslog так, чтобы лабораторные события действительно попадали на сервер</a:t>
            </a:r>
          </a:p>
          <a:p>
            <a:pPr>
              <a:defRPr sz="3600"/>
            </a:pPr>
            <a:r>
              <a:t>Использовать Loopback как стабильный источник служебного трафика</a:t>
            </a:r>
          </a:p>
          <a:p>
            <a:pPr>
              <a:defRPr sz="3600"/>
            </a:pPr>
            <a:r>
              <a:t>Выполнять L3-диагностику, безопасный debug и осмысленное восстановление конфигурации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NTP: синхронизация времени, Stratum, Server/Client</a:t>
            </a:r>
          </a:p>
          <a:p>
            <a:pPr>
              <a:defRPr sz="3600"/>
            </a:pPr>
            <a:r>
              <a:t>2. Syslog: системные сообщения, Severity 0–7, timestamps</a:t>
            </a:r>
          </a:p>
          <a:p>
            <a:pPr>
              <a:defRPr sz="3600"/>
            </a:pPr>
            <a:r>
              <a:t>3. Источник Syslog и NTP через Loopback-интерфейсы</a:t>
            </a:r>
          </a:p>
          <a:p>
            <a:pPr>
              <a:defRPr sz="3600"/>
            </a:pPr>
            <a:r>
              <a:t>4. Системный поиск неисправностей L3</a:t>
            </a:r>
          </a:p>
          <a:p>
            <a:pPr>
              <a:defRPr sz="3600"/>
            </a:pPr>
            <a:r>
              <a:t>5. Безопасное использование debug в production</a:t>
            </a:r>
          </a:p>
          <a:p>
            <a:pPr>
              <a:defRPr sz="3600"/>
            </a:pPr>
            <a:r>
              <a:t>6. Резервное копирование и архивирование через TFTP и SCP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Без точного времени сетевые журналы теряют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NTP (Network Time Protocol) — протокол синхронизации времени между сетевыми устройствами</a:t>
            </a:r>
          </a:p>
          <a:p>
            <a:pPr>
              <a:defRPr sz="3600"/>
            </a:pPr>
            <a:r>
              <a:t>Единое время нужно для расследования аварий, аудита безопасности, VPN и сертификатов</a:t>
            </a:r>
          </a:p>
          <a:p>
            <a:pPr>
              <a:defRPr sz="3600"/>
            </a:pPr>
            <a:r>
              <a:t>Если часы устройств отличаются, события OSPF, ACL, IP SLA и VPN нельзя надежно сопоставить</a:t>
            </a:r>
          </a:p>
          <a:p>
            <a:pPr>
              <a:defRPr sz="3600"/>
            </a:pPr>
            <a:r>
              <a:t>NTP-клиент получает время от NTP-сервера и корректирует локальные часы</a:t>
            </a:r>
          </a:p>
          <a:p>
            <a:pPr>
              <a:defRPr sz="3600"/>
            </a:pPr>
            <a:r>
              <a:t>В рабочей сети источником времени должен быть доверенный корпоративный или внешний сервер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NTP-сервер и сетевые устройства организации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CBB5D5-E974-B9F1-D3DF-8051EAF2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NTP-клиент получает время, NTP-сервер раздает его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NTP client — устройство, которое синхронизирует свои часы с выбранным сервером</a:t>
            </a:r>
          </a:p>
          <a:p>
            <a:pPr>
              <a:defRPr sz="3600"/>
            </a:pPr>
            <a:r>
              <a:t>NTP server — устройство или сервер, который отвечает другим клиентам и раздает время</a:t>
            </a:r>
          </a:p>
          <a:p>
            <a:pPr>
              <a:defRPr sz="3600"/>
            </a:pPr>
            <a:r>
              <a:t>Команда ntp server 192.168.30.20 на Cisco задает внешний источник времени</a:t>
            </a:r>
          </a:p>
          <a:p>
            <a:pPr>
              <a:defRPr sz="3600"/>
            </a:pPr>
            <a:r>
              <a:t>В корпоративной сети роль NTP-сервера лучше отдавать Linux, Windows или аппаратному источнику</a:t>
            </a:r>
          </a:p>
          <a:p>
            <a:pPr>
              <a:defRPr sz="3600"/>
            </a:pPr>
            <a:r>
              <a:t>Сетевые устройства обычно являются клиентами, а не главным эталоном времени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ntp master подходит только для изолированного учебного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ntp master 5 заставляет Cisco-устройство объявлять собственные часы источником NTP</a:t>
            </a:r>
          </a:p>
          <a:p>
            <a:pPr>
              <a:defRPr sz="3600"/>
            </a:pPr>
            <a:r>
              <a:t>Число 5 задает объявляемый stratum учебного источника</a:t>
            </a:r>
          </a:p>
          <a:p>
            <a:pPr>
              <a:defRPr sz="3600"/>
            </a:pPr>
            <a:r>
              <a:t>Это полезно, когда лаборатория изолирована и внешнего сервера времени нет</a:t>
            </a:r>
          </a:p>
          <a:p>
            <a:pPr>
              <a:defRPr sz="3600"/>
            </a:pPr>
            <a:r>
              <a:t>ntp master не делает часы точными сам по себе</a:t>
            </a:r>
          </a:p>
          <a:p>
            <a:pPr>
              <a:defRPr sz="3600"/>
            </a:pPr>
            <a:r>
              <a:t>В рабочей сети ntp master не заменяет настоящий эталонный сервер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Stratum показывает удаленность от эталона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Stratum — уровень источника времени в иерархии NTP</a:t>
            </a:r>
          </a:p>
          <a:p>
            <a:pPr>
              <a:defRPr sz="3600"/>
            </a:pPr>
            <a:r>
              <a:t>Stratum 0 — физический эталон, например GPS или атомные часы</a:t>
            </a:r>
          </a:p>
          <a:p>
            <a:pPr>
              <a:defRPr sz="3600"/>
            </a:pPr>
            <a:r>
              <a:t>Stratum 1 — сервер, напрямую связанный с эталоном</a:t>
            </a:r>
          </a:p>
          <a:p>
            <a:pPr>
              <a:defRPr sz="3600"/>
            </a:pPr>
            <a:r>
              <a:t>Stratum 2 получает время от Stratum 1, и так далее</a:t>
            </a:r>
          </a:p>
          <a:p>
            <a:pPr>
              <a:defRPr sz="3600"/>
            </a:pPr>
            <a:r>
              <a:t>Stratum 16 обычно означает несинхронизированное состояние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Меньший Stratum не всегда означает лучший источник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Stratum показывает место в иерархии, но не измеряет всю фактическую стабильность</a:t>
            </a:r>
          </a:p>
          <a:p>
            <a:pPr>
              <a:defRPr sz="3600"/>
            </a:pPr>
            <a:r>
              <a:t>Качество зависит от задержки, потерь, стабильности сервера и маршрута до него</a:t>
            </a:r>
          </a:p>
          <a:p>
            <a:pPr>
              <a:defRPr sz="3600"/>
            </a:pPr>
            <a:r>
              <a:t>Маршрутизатор выбирает источник по совокупности NTP-параметров</a:t>
            </a:r>
          </a:p>
          <a:p>
            <a:pPr>
              <a:defRPr sz="3600"/>
            </a:pPr>
            <a:r>
              <a:t>В show ntp associations символ * обычно показывает выбранный текущий источник</a:t>
            </a:r>
          </a:p>
          <a:p>
            <a:pPr>
              <a:defRPr sz="3600"/>
            </a:pPr>
            <a:r>
              <a:t>Символ + обычно показывает пригодного кандидата на роль источника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NTP-клиента Cisco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ntp server 192.168.30.20 задает NTP-сервер в серверной VLAN</a:t>
            </a:r>
          </a:p>
          <a:p>
            <a:pPr>
              <a:defRPr sz="3600"/>
            </a:pPr>
            <a:r>
              <a:t>Команда show ntp status показывает синхронизацию, stratum и состояние часов</a:t>
            </a:r>
          </a:p>
          <a:p>
            <a:pPr>
              <a:defRPr sz="3600"/>
            </a:pPr>
            <a:r>
              <a:t>Команда show ntp associations показывает источники времени и reachability</a:t>
            </a:r>
          </a:p>
          <a:p>
            <a:pPr>
              <a:defRPr sz="3600"/>
            </a:pPr>
            <a:r>
              <a:t>Команда show clock detail показывает текущее время и дополнительную информацию о часах</a:t>
            </a:r>
          </a:p>
          <a:p>
            <a:pPr>
              <a:defRPr sz="3600"/>
            </a:pPr>
            <a:r>
              <a:t>Если NTP не работает, проверяют маршрут, ACL, UDP 123 и время на сервере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clock timezone меняет отображение, а не синхронизацию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NTP синхронизирует абсолютное время, обычно связанное с UTC</a:t>
            </a:r>
          </a:p>
          <a:p>
            <a:pPr>
              <a:defRPr sz="3600"/>
            </a:pPr>
            <a:r>
              <a:t>Команда clock timezone задает локальное смещение для отображения времени в CLI и логах</a:t>
            </a:r>
          </a:p>
          <a:p>
            <a:pPr>
              <a:defRPr sz="3600"/>
            </a:pPr>
            <a:r>
              <a:t>Пример: clock timezone QYZ 5 0 — показать локальное время UTC+5</a:t>
            </a:r>
          </a:p>
          <a:p>
            <a:pPr>
              <a:defRPr sz="3600"/>
            </a:pPr>
            <a:r>
              <a:t>Эта команда не исправляет плохой источник NTP</a:t>
            </a:r>
          </a:p>
          <a:p>
            <a:pPr>
              <a:defRPr sz="3600"/>
            </a:pPr>
            <a:r>
              <a:t>Для расследования важно понимать, в каком часовом поясе записаны события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Syslog централизует системные сообщения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Syslog — механизм передачи системных сообщений от устройств на сервер журналов</a:t>
            </a:r>
          </a:p>
          <a:p>
            <a:pPr>
              <a:defRPr sz="3600"/>
            </a:pPr>
            <a:r>
              <a:t>Он помогает сохранить события после перезагрузки устройства или очистки локального буфера</a:t>
            </a:r>
          </a:p>
          <a:p>
            <a:pPr>
              <a:defRPr sz="3600"/>
            </a:pPr>
            <a:r>
              <a:t>Централизованный журнал нужен для аудита, диагностики и поиска повторяющихся отказов</a:t>
            </a:r>
          </a:p>
          <a:p>
            <a:pPr>
              <a:defRPr sz="3600"/>
            </a:pPr>
            <a:r>
              <a:t>Cisco-устройства могут отправлять сообщения об интерфейсах, OSPF, ACL, IP SLA и VPN</a:t>
            </a:r>
          </a:p>
          <a:p>
            <a:pPr>
              <a:defRPr sz="3600"/>
            </a:pPr>
            <a:r>
              <a:t>Классический Syslog обычно использует UDP 514 и не подтверждает доставку сообщений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Severity 0–7 читается наоборот: меньше номер — серьезнее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Severity — числовой уровень серьезности Syslog-сообщения</a:t>
            </a:r>
          </a:p>
          <a:p>
            <a:pPr>
              <a:defRPr sz="3600"/>
            </a:pPr>
            <a:r>
              <a:t>0 Emergencies — система неработоспособна</a:t>
            </a:r>
          </a:p>
          <a:p>
            <a:pPr>
              <a:defRPr sz="3600"/>
            </a:pPr>
            <a:r>
              <a:t>1 Alerts — требуется немедленное действие</a:t>
            </a:r>
          </a:p>
          <a:p>
            <a:pPr>
              <a:defRPr sz="3600"/>
            </a:pPr>
            <a:r>
              <a:t>2 Critical — критическое состояние</a:t>
            </a:r>
          </a:p>
          <a:p>
            <a:pPr>
              <a:defRPr sz="3600"/>
            </a:pPr>
            <a:r>
              <a:t>3 Errors — ошибка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Severity 4–7 добавляет предупреждения и подробные события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4 Warnings — предупреждение, требующее внимания</a:t>
            </a:r>
          </a:p>
          <a:p>
            <a:pPr>
              <a:defRPr sz="3600"/>
            </a:pPr>
            <a:r>
              <a:t>5 Notifications — значимое нормальное событие</a:t>
            </a:r>
          </a:p>
          <a:p>
            <a:pPr>
              <a:defRPr sz="3600"/>
            </a:pPr>
            <a:r>
              <a:t>6 Informational — информационное сообщение</a:t>
            </a:r>
          </a:p>
          <a:p>
            <a:pPr>
              <a:defRPr sz="3600"/>
            </a:pPr>
            <a:r>
              <a:t>7 Debugging — отладочная информация</a:t>
            </a:r>
          </a:p>
          <a:p>
            <a:pPr>
              <a:defRPr sz="3600"/>
            </a:pPr>
            <a:r>
              <a:t>Команда с заданным уровнем включает этот уровень и все более серьезные уровни с меньшими номерами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уровни Syslog Severity 0–7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F10D68-5A66-1CA3-7A91-94963B6D2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Для лаборатории нужен logging trap informational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logging trap warnings отправляет только уровни 0–4</a:t>
            </a:r>
          </a:p>
          <a:p>
            <a:pPr>
              <a:defRPr sz="3600"/>
            </a:pPr>
            <a:r>
              <a:t>События ACL log, OSPF и IP SLA могут иметь уровень 5 или 6</a:t>
            </a:r>
          </a:p>
          <a:p>
            <a:pPr>
              <a:defRPr sz="3600"/>
            </a:pPr>
            <a:r>
              <a:t>Команда logging trap informational отправляет уровни 0–6</a:t>
            </a:r>
          </a:p>
          <a:p>
            <a:pPr>
              <a:defRPr sz="3600"/>
            </a:pPr>
            <a:r>
              <a:t>В лаборатории это помогает увидеть нужные события на Syslog-сервере</a:t>
            </a:r>
          </a:p>
          <a:p>
            <a:pPr>
              <a:defRPr sz="3600"/>
            </a:pPr>
            <a:r>
              <a:t>В рабочей сети уровень выбирают по политике мониторинга, чтобы не перегрузить сервер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Полный учебный пример настройки Syslog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service timestamps log datetime msec localtime show-timezone — добавить дату, миллисекунды и часовой пояс</a:t>
            </a:r>
          </a:p>
          <a:p>
            <a:pPr>
              <a:defRPr sz="3600"/>
            </a:pPr>
            <a:r>
              <a:t>service sequence-numbers — добавить порядковые номера сообщений</a:t>
            </a:r>
          </a:p>
          <a:p>
            <a:pPr>
              <a:defRPr sz="3600"/>
            </a:pPr>
            <a:r>
              <a:t>logging host 192.168.30.30 — указать Syslog-сервер</a:t>
            </a:r>
          </a:p>
          <a:p>
            <a:pPr>
              <a:defRPr sz="3600"/>
            </a:pPr>
            <a:r>
              <a:t>logging trap informational — отправлять уровни 0–6 на сервер</a:t>
            </a:r>
          </a:p>
          <a:p>
            <a:pPr>
              <a:defRPr sz="3600"/>
            </a:pPr>
            <a:r>
              <a:t>logging buffered 16384 informational — хранить локальный буфер сообщений уровней 0–6</a:t>
            </a:r>
          </a:p>
          <a:p>
            <a:pPr>
              <a:defRPr sz="3600"/>
            </a:pPr>
            <a:r>
              <a:t>logging source-interface Loopback0 — отправлять сообщения с постоянного адреса устройства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Timestamps делают логи пригодными для расследования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service timestamps log datetime msec localtime show-timezone добавляет точное локальное время в log-сообщения</a:t>
            </a:r>
          </a:p>
          <a:p>
            <a:pPr>
              <a:defRPr sz="3600"/>
            </a:pPr>
            <a:r>
              <a:t>service timestamps debug datetime msec localtime show-timezone добавляет время в debug-вывод</a:t>
            </a:r>
          </a:p>
          <a:p>
            <a:pPr>
              <a:defRPr sz="3600"/>
            </a:pPr>
            <a:r>
              <a:t>msec помогает отличить события, произошедшие почти одновременно</a:t>
            </a:r>
          </a:p>
          <a:p>
            <a:pPr>
              <a:defRPr sz="3600"/>
            </a:pPr>
            <a:r>
              <a:t>show-timezone показывает часовой пояс прямо в строке события</a:t>
            </a:r>
          </a:p>
          <a:p>
            <a:pPr>
              <a:defRPr sz="3600"/>
            </a:pPr>
            <a:r>
              <a:t>После настройки NTP timestamps становятся сопоставимыми между устройствами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Тестовое событие нужно создавать безопасно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shutdown/no shutdown допустимы только на заранее выделенном тестовом интерфейсе</a:t>
            </a:r>
          </a:p>
          <a:p>
            <a:pPr>
              <a:defRPr sz="3600"/>
            </a:pPr>
            <a:r>
              <a:t>Нельзя отключать интерфейс, через который идет SSH-сессия администратора</a:t>
            </a:r>
          </a:p>
          <a:p>
            <a:pPr>
              <a:defRPr sz="3600"/>
            </a:pPr>
            <a:r>
              <a:t>Нельзя отключать линк, по которому устройство достигает Syslog-сервера</a:t>
            </a:r>
          </a:p>
          <a:p>
            <a:pPr>
              <a:defRPr sz="3600"/>
            </a:pPr>
            <a:r>
              <a:t>Для проверки можно использовать Loopback, тестовую OSPF-связь или ACL с контролируемым пакетом</a:t>
            </a:r>
          </a:p>
          <a:p>
            <a:pPr>
              <a:defRPr sz="3600"/>
            </a:pPr>
            <a:r>
              <a:t>Цель теста — создать понятное событие, а не случайно сломать стенд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ACL log полезен, но может создать шум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Опция log в ACL добавляет Syslog-сообщения о совпадениях правила</a:t>
            </a:r>
          </a:p>
          <a:p>
            <a:pPr>
              <a:defRPr sz="3600"/>
            </a:pPr>
            <a:r>
              <a:t>Это удобно для проверки запрещенной попытки доступа</a:t>
            </a:r>
          </a:p>
          <a:p>
            <a:pPr>
              <a:defRPr sz="3600"/>
            </a:pPr>
            <a:r>
              <a:t>На частом трафике ACL log может создать слишком много сообщений</a:t>
            </a:r>
          </a:p>
          <a:p>
            <a:pPr>
              <a:defRPr sz="3600"/>
            </a:pPr>
            <a:r>
              <a:t>Для постоянной эксплуатации логируют только важные deny или контрольные правила</a:t>
            </a:r>
          </a:p>
          <a:p>
            <a:pPr>
              <a:defRPr sz="3600"/>
            </a:pPr>
            <a:r>
              <a:t>Счетчики ACL часто безопаснее, чем массовое логирование каждого пакета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Loopback Source дает стабильный адрес служебного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Loopback-интерфейс — логический интерфейс, не зависящий от одного физического линка</a:t>
            </a:r>
          </a:p>
          <a:p>
            <a:pPr>
              <a:defRPr sz="3600"/>
            </a:pPr>
            <a:r>
              <a:t>Стабильный source IP удобен для NTP, Syslog, мониторинга и ACL на серверах</a:t>
            </a:r>
          </a:p>
          <a:p>
            <a:pPr>
              <a:defRPr sz="3600"/>
            </a:pPr>
            <a:r>
              <a:t>Если у устройства несколько uplink, физический source IP может меняться</a:t>
            </a:r>
          </a:p>
          <a:p>
            <a:pPr>
              <a:defRPr sz="3600"/>
            </a:pPr>
            <a:r>
              <a:t>Loopback позволяет серверу видеть сообщения от одного постоянного адреса устройства</a:t>
            </a:r>
          </a:p>
          <a:p>
            <a:pPr>
              <a:defRPr sz="3600"/>
            </a:pPr>
            <a:r>
              <a:t>Адрес Loopback должен быть маршрутизируемым в инфраструктуре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Настроить Loopback мало: нужен обратный маршрут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Loopback0 создает стабильный логический интерфейс</a:t>
            </a:r>
          </a:p>
          <a:p>
            <a:pPr>
              <a:defRPr sz="3600"/>
            </a:pPr>
            <a:r>
              <a:t>Команда ip address 10.255.255.1 255.255.255.255 задает адрес устройства</a:t>
            </a:r>
          </a:p>
          <a:p>
            <a:pPr>
              <a:defRPr sz="3600"/>
            </a:pPr>
            <a:r>
              <a:t>NTP-сервер должен уметь вернуть пакет к 10.255.255.1/32</a:t>
            </a:r>
          </a:p>
          <a:p>
            <a:pPr>
              <a:defRPr sz="3600"/>
            </a:pPr>
            <a:r>
              <a:t>Для Syslog серверные ACL и правила приема должны разрешать Source IP Loopback</a:t>
            </a:r>
          </a:p>
          <a:p>
            <a:pPr>
              <a:defRPr sz="3600"/>
            </a:pPr>
            <a:r>
              <a:t>Если обратного маршрута нет, запрос может уйти к серверу, но ответ не вернется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Source Interface задается отдельно для разных протоколов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ntp source Loopback0 задает источник NTP-запросов</a:t>
            </a:r>
          </a:p>
          <a:p>
            <a:pPr>
              <a:defRPr sz="3600"/>
            </a:pPr>
            <a:r>
              <a:t>Команда logging source-interface Loopback0 задает источник Syslog-сообщений</a:t>
            </a:r>
          </a:p>
          <a:p>
            <a:pPr>
              <a:defRPr sz="3600"/>
            </a:pPr>
            <a:r>
              <a:t>Команда ip tftp source-interface Loopback0 может задавать источник TFTP, если поддерживается IOS</a:t>
            </a:r>
          </a:p>
          <a:p>
            <a:pPr>
              <a:defRPr sz="3600"/>
            </a:pPr>
            <a:r>
              <a:t>Команда ip ssh source-interface Loopback0 может применяться для исходящих SSH/SCP-сессий на отдельных платформах</a:t>
            </a:r>
          </a:p>
          <a:p>
            <a:pPr>
              <a:defRPr sz="3600"/>
            </a:pPr>
            <a:r>
              <a:t>Нельзя считать, что одна команда source-interface автоматически применяется ко всем служебным протоколам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служебные протоколы через Loopback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C41399-6D6F-7EC3-E4DA-02396C183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Системный поиск L3-неисправностей идет от основы к сервису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проверяют физическое и L2-состояние интерфейса</a:t>
            </a:r>
          </a:p>
          <a:p>
            <a:pPr>
              <a:defRPr sz="3600"/>
            </a:pPr>
            <a:r>
              <a:t>Затем проверяют IP-адреса, маски и connected routes</a:t>
            </a:r>
          </a:p>
          <a:p>
            <a:pPr>
              <a:defRPr sz="3600"/>
            </a:pPr>
            <a:r>
              <a:t>После этого проверяют next-hop, RIB и CEF</a:t>
            </a:r>
          </a:p>
          <a:p>
            <a:pPr>
              <a:defRPr sz="3600"/>
            </a:pPr>
            <a:r>
              <a:t>Далее анализируют OSPF, ACL, NAT, VPN, Syslog, NTP или другой сервис</a:t>
            </a:r>
          </a:p>
          <a:p>
            <a:pPr>
              <a:defRPr sz="3600"/>
            </a:pPr>
            <a:r>
              <a:t>Debug включают только после show-команд и формулировки конкретной гипотезы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последовательность проверки одного назначения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interface brief — проверить IP-адреса и состояние интерфейсов</a:t>
            </a:r>
          </a:p>
          <a:p>
            <a:pPr>
              <a:defRPr sz="3600"/>
            </a:pPr>
            <a:r>
              <a:t>show arp — проверить L2/L3-соседство в локальном сегменте</a:t>
            </a:r>
          </a:p>
          <a:p>
            <a:pPr>
              <a:defRPr sz="3600"/>
            </a:pPr>
            <a:r>
              <a:t>show ip route &lt;destination&gt; — увидеть маршрут к конкретной цели</a:t>
            </a:r>
          </a:p>
          <a:p>
            <a:pPr>
              <a:defRPr sz="3600"/>
            </a:pPr>
            <a:r>
              <a:t>show ip cef &lt;destination&gt; — проверить фактический next-hop в CEF, если команда поддерживается</a:t>
            </a:r>
          </a:p>
          <a:p>
            <a:pPr>
              <a:defRPr sz="3600"/>
            </a:pPr>
            <a:r>
              <a:t>ping &lt;destination&gt; source &lt;interface&gt; и traceroute &lt;destination&gt; — проверить путь активным тестом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диагностики зависят от проверяемого слоя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interfaces — ошибки, duplex, speed, drops и состояние физического интерфейса</a:t>
            </a:r>
          </a:p>
          <a:p>
            <a:pPr>
              <a:defRPr sz="3600"/>
            </a:pPr>
            <a:r>
              <a:t>show ip protocols — параметры активных routing protocols</a:t>
            </a:r>
          </a:p>
          <a:p>
            <a:pPr>
              <a:defRPr sz="3600"/>
            </a:pPr>
            <a:r>
              <a:t>show ip ospf neighbor — состояние OSPF-соседства</a:t>
            </a:r>
          </a:p>
          <a:p>
            <a:pPr>
              <a:defRPr sz="3600"/>
            </a:pPr>
            <a:r>
              <a:t>show access-lists — счетчики совпадений ACL</a:t>
            </a:r>
          </a:p>
          <a:p>
            <a:pPr>
              <a:defRPr sz="3600"/>
            </a:pPr>
            <a:r>
              <a:t>show ip nat translations и show crypto ipsec sa — проверка NAT и IPsec, если они участвуют в пути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ping и traceroute не доказывают работу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Успешный ping не доказывает работу TCP 443, DNS или веб-приложения</a:t>
            </a:r>
          </a:p>
          <a:p>
            <a:pPr>
              <a:defRPr sz="3600"/>
            </a:pPr>
            <a:r>
              <a:t>Неуспешный ping не всегда означает отсутствие маршрута, потому что ICMP может быть запрещен</a:t>
            </a:r>
          </a:p>
          <a:p>
            <a:pPr>
              <a:defRPr sz="3600"/>
            </a:pPr>
            <a:r>
              <a:t>traceroute на Windows, Linux и Cisco может использовать разные типы пробных пакетов</a:t>
            </a:r>
          </a:p>
          <a:p>
            <a:pPr>
              <a:defRPr sz="3600"/>
            </a:pPr>
            <a:r>
              <a:t>Конечную проверку выполняют реальным протоколом или близким тестом</a:t>
            </a:r>
          </a:p>
          <a:p>
            <a:pPr>
              <a:defRPr sz="3600"/>
            </a:pPr>
            <a:r>
              <a:t>Примеры: Test-NetConnection 192.168.30.10 -Port 443, curl https://192.168.30.10/, nslookup server.corp.test 192.168.30.53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порядок диагностики L3-инфраструктуры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798EE7-6F82-15C1-2AD8-C5C285935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debug показывает живой процесс, но может навредить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debug — команда вывода подробной информации о событиях в реальном времени</a:t>
            </a:r>
          </a:p>
          <a:p>
            <a:pPr>
              <a:defRPr sz="3600"/>
            </a:pPr>
            <a:r>
              <a:t>На загруженном устройстве debug может резко увеличить нагрузку CPU</a:t>
            </a:r>
          </a:p>
          <a:p>
            <a:pPr>
              <a:defRPr sz="3600"/>
            </a:pPr>
            <a:r>
              <a:t>Debug-сообщения могут заполнить консоль и мешать вводу команд</a:t>
            </a:r>
          </a:p>
          <a:p>
            <a:pPr>
              <a:defRPr sz="3600"/>
            </a:pPr>
            <a:r>
              <a:t>В production debug используют только с четкой целью, фильтром и планом отключения</a:t>
            </a:r>
          </a:p>
          <a:p>
            <a:pPr>
              <a:defRPr sz="3600"/>
            </a:pPr>
            <a:r>
              <a:t>Перед включением debug администратор должен помнить команду undebug all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Перед debug нужно оценить состояние устройства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processes cpu — проверить, не перегружен ли CPU</a:t>
            </a:r>
          </a:p>
          <a:p>
            <a:pPr>
              <a:defRPr sz="3600"/>
            </a:pPr>
            <a:r>
              <a:t>show logging — посмотреть уже записанные события</a:t>
            </a:r>
          </a:p>
          <a:p>
            <a:pPr>
              <a:defRPr sz="3600"/>
            </a:pPr>
            <a:r>
              <a:t>show debugging — убедиться, что опасный debug уже не включен</a:t>
            </a:r>
          </a:p>
          <a:p>
            <a:pPr>
              <a:defRPr sz="3600"/>
            </a:pPr>
            <a:r>
              <a:t>show access-lists или show ip ospf neighbor — проверить доступные show-признаки проблемы</a:t>
            </a:r>
          </a:p>
          <a:p>
            <a:pPr>
              <a:defRPr sz="3600"/>
            </a:pPr>
            <a:r>
              <a:t>Debug включают только после короткой гипотезы: что именно нужно увидеть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terminal monitor нужен для VTY/SSH-сессии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terminal monitor включает вывод log и debug сообщений в текущую удаленную VTY/SSH-сессию</a:t>
            </a:r>
          </a:p>
          <a:p>
            <a:pPr>
              <a:defRPr sz="3600"/>
            </a:pPr>
            <a:r>
              <a:t>На физической консоли сообщения обычно отображаются иначе и terminal monitor может не требоваться</a:t>
            </a:r>
          </a:p>
          <a:p>
            <a:pPr>
              <a:defRPr sz="3600"/>
            </a:pPr>
            <a:r>
              <a:t>После завершения проверки выполнить terminal no monitor</a:t>
            </a:r>
          </a:p>
          <a:p>
            <a:pPr>
              <a:defRPr sz="3600"/>
            </a:pPr>
            <a:r>
              <a:t>Это уменьшает шум в текущей административной сессии</a:t>
            </a:r>
          </a:p>
          <a:p>
            <a:pPr>
              <a:defRPr sz="3600"/>
            </a:pPr>
            <a:r>
              <a:t>Команды вывода сообщений не заменяют отключение самого debug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безопасный сценарий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processes cpu; show logging; show debugging — проверить состояние до отладки</a:t>
            </a:r>
          </a:p>
          <a:p>
            <a:pPr>
              <a:defRPr sz="3600"/>
            </a:pPr>
            <a:r>
              <a:t>terminal monitor — включить вывод сообщений в SSH-сессию</a:t>
            </a:r>
          </a:p>
          <a:p>
            <a:pPr>
              <a:defRPr sz="3600"/>
            </a:pPr>
            <a:r>
              <a:t>debug ip ospf adj — включить точечную отладку OSPF-соседства</a:t>
            </a:r>
          </a:p>
          <a:p>
            <a:pPr>
              <a:defRPr sz="3600"/>
            </a:pPr>
            <a:r>
              <a:t>Выполнить короткий тест и сразу остановиться</a:t>
            </a:r>
          </a:p>
          <a:p>
            <a:pPr>
              <a:defRPr sz="3600"/>
            </a:pPr>
            <a:r>
              <a:t>undebug all; show debugging; terminal no monitor — отключить debug и проверить, что он выключен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debug ip packet без фильтра опасен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debug ip packet может вывести огромный поток сообщений на маршрутизаторе</a:t>
            </a:r>
          </a:p>
          <a:p>
            <a:pPr>
              <a:defRPr sz="3600"/>
            </a:pPr>
            <a:r>
              <a:t>Без фильтра он может перегрузить CPU и сделать CLI почти непригодным</a:t>
            </a:r>
          </a:p>
          <a:p>
            <a:pPr>
              <a:defRPr sz="3600"/>
            </a:pPr>
            <a:r>
              <a:t>Учебная идея фильтра: access-list 199 permit icmp host 192.168.10.10 host 192.168.20.10</a:t>
            </a:r>
          </a:p>
          <a:p>
            <a:pPr>
              <a:defRPr sz="3600"/>
            </a:pPr>
            <a:r>
              <a:t>Затем можно использовать debug ip packet 199 detail, если команда поддерживается IOS</a:t>
            </a:r>
          </a:p>
          <a:p>
            <a:pPr>
              <a:defRPr sz="3600"/>
            </a:pPr>
            <a:r>
              <a:t>Фильтр уменьшает риск, но не делает debug безопасным на высоконагруженном устройстве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debug в учебной среде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debug ip ospf adj помогает увидеть события формирования OSPF-соседства</a:t>
            </a:r>
          </a:p>
          <a:p>
            <a:pPr>
              <a:defRPr sz="3600"/>
            </a:pPr>
            <a:r>
              <a:t>debug ip icmp показывает ICMP-события на маршрутизаторе</a:t>
            </a:r>
          </a:p>
          <a:p>
            <a:pPr>
              <a:defRPr sz="3600"/>
            </a:pPr>
            <a:r>
              <a:t>debug crypto isakmp помогает диагностировать IKEv1 Phase 1 в VPN-лабе</a:t>
            </a:r>
          </a:p>
          <a:p>
            <a:pPr>
              <a:defRPr sz="3600"/>
            </a:pPr>
            <a:r>
              <a:t>В Packet Tracer часть debug-команд может отсутствовать или работать упрощенно</a:t>
            </a:r>
          </a:p>
          <a:p>
            <a:pPr>
              <a:defRPr sz="3600"/>
            </a:pPr>
            <a:r>
              <a:t>Преподаватель заранее определяет, какой debug допустим на конкретном стенде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Backup конфигурации является частью эксплуатации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Конфигурация сетевого устройства — критичный результат работы администратора</a:t>
            </a:r>
          </a:p>
          <a:p>
            <a:pPr>
              <a:defRPr sz="3600"/>
            </a:pPr>
            <a:r>
              <a:t>Потеря конфигурации после аварии может остановить сеть дольше, чем отказ оборудования</a:t>
            </a:r>
          </a:p>
          <a:p>
            <a:pPr>
              <a:defRPr sz="3600"/>
            </a:pPr>
            <a:r>
              <a:t>Backup нужен перед рискованными изменениями и после успешной настройки</a:t>
            </a:r>
          </a:p>
          <a:p>
            <a:pPr>
              <a:defRPr sz="3600"/>
            </a:pPr>
            <a:r>
              <a:t>Файл конфигурации должен иметь понятное имя: устройство, дата, назначение</a:t>
            </a:r>
          </a:p>
          <a:p>
            <a:pPr>
              <a:defRPr sz="3600"/>
            </a:pPr>
            <a:r>
              <a:t>Хороший Backup — это файл, из которого действительно можно восстановить работоспособное устройство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Running Config и Startup Config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Running Config — текущая работающая конфигурация в RAM</a:t>
            </a:r>
          </a:p>
          <a:p>
            <a:pPr>
              <a:defRPr sz="3600"/>
            </a:pPr>
            <a:r>
              <a:t>Startup Config — конфигурация в NVRAM, с которой устройство загрузится после reload</a:t>
            </a:r>
          </a:p>
          <a:p>
            <a:pPr>
              <a:defRPr sz="3600"/>
            </a:pPr>
            <a:r>
              <a:t>Команда copy running-config startup-config сохраняет текущие изменения для следующей загрузки</a:t>
            </a:r>
          </a:p>
          <a:p>
            <a:pPr>
              <a:defRPr sz="3600"/>
            </a:pPr>
            <a:r>
              <a:t>Команда copy running-config tftp: сохраняет текущую рабочую конфигурацию на TFTP-сервер</a:t>
            </a:r>
          </a:p>
          <a:p>
            <a:pPr>
              <a:defRPr sz="3600"/>
            </a:pPr>
            <a:r>
              <a:t>Команда copy startup-config tftp: сохраняет загрузочную конфигурацию, которая может отличаться от текущей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TFTP прост для лаборатории, но небезопасен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TFTP (Trivial File Transfer Protocol) — простой протокол передачи файлов без шифрования и нормальной аутентификации</a:t>
            </a:r>
          </a:p>
          <a:p>
            <a:pPr>
              <a:defRPr sz="3600"/>
            </a:pPr>
            <a:r>
              <a:t>Начальный запрос TFTP идет на UDP 69</a:t>
            </a:r>
          </a:p>
          <a:p>
            <a:pPr>
              <a:defRPr sz="3600"/>
            </a:pPr>
            <a:r>
              <a:t>Дальнейший обмен может использовать динамические UDP-порты</a:t>
            </a:r>
          </a:p>
          <a:p>
            <a:pPr>
              <a:defRPr sz="3600"/>
            </a:pPr>
            <a:r>
              <a:t>Разрешение только UDP 69 на firewall иногда недостаточно для полного обмена</a:t>
            </a:r>
          </a:p>
          <a:p>
            <a:pPr>
              <a:defRPr sz="3600"/>
            </a:pPr>
            <a:r>
              <a:t>TFTP уместен в Packet Tracer, изолированной Management VLAN и контролируемой лаборатории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резервного копирования через TFTP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copy running-config tftp: запускает сохранение текущей конфигурации</a:t>
            </a:r>
          </a:p>
          <a:p>
            <a:pPr>
              <a:defRPr sz="3600"/>
            </a:pPr>
            <a:r>
              <a:t>Устройство запросит IP-адрес TFTP-сервера и имя файла</a:t>
            </a:r>
          </a:p>
          <a:p>
            <a:pPr>
              <a:defRPr sz="3600"/>
            </a:pPr>
            <a:r>
              <a:t>Перед копированием проверить ping до сервера и маршрут до Management VLAN</a:t>
            </a:r>
          </a:p>
          <a:p>
            <a:pPr>
              <a:defRPr sz="3600"/>
            </a:pPr>
            <a:r>
              <a:t>При необходимости использовать ip tftp source-interface Loopback0, если команда поддерживается IOS</a:t>
            </a:r>
          </a:p>
          <a:p>
            <a:pPr>
              <a:defRPr sz="3600"/>
            </a:pPr>
            <a:r>
              <a:t>После копирования убедиться, что файл появился на сервере и имеет ожидаемый размер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SCP нужно разделять на клиентский и серверный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SCP (Secure Copy Protocol) — передача файлов поверх SSH с шифрованием</a:t>
            </a:r>
          </a:p>
          <a:p>
            <a:pPr>
              <a:defRPr sz="3600"/>
            </a:pPr>
            <a:r>
              <a:t>Cisco как SCP-клиент: copy running-config scp: отправляет файл на внешний SCP-сервер</a:t>
            </a:r>
          </a:p>
          <a:p>
            <a:pPr>
              <a:defRPr sz="3600"/>
            </a:pPr>
            <a:r>
              <a:t>Cisco как SCP-сервер: ip scp server enable разрешает внешнему администратору копировать файлы с устройства или на устройство</a:t>
            </a:r>
          </a:p>
          <a:p>
            <a:pPr>
              <a:defRPr sz="3600"/>
            </a:pPr>
            <a:r>
              <a:t>ip scp server enable обычно не требуется, если Cisco только выполняет исходящую команду copy ... scp:</a:t>
            </a:r>
          </a:p>
          <a:p>
            <a:pPr>
              <a:defRPr sz="3600"/>
            </a:pPr>
            <a:r>
              <a:t>Для SCP нужны SSH, маршрутизация, TCP 22 и учетная запись на удаленном сервере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Конфигурационные Backup-файлы содержат чувствительные сведения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файлах могут быть пользователи, хэши паролей, SNMP communities и Pre-Shared Keys</a:t>
            </a:r>
          </a:p>
          <a:p>
            <a:pPr>
              <a:defRPr sz="3600"/>
            </a:pPr>
            <a:r>
              <a:t>Также в них видны адреса инфраструктуры, ACL, VPN-параметры и trustpoint-настройки</a:t>
            </a:r>
          </a:p>
          <a:p>
            <a:pPr>
              <a:defRPr sz="3600"/>
            </a:pPr>
            <a:r>
              <a:t>Backup-файлы нельзя хранить в общедоступных папках</a:t>
            </a:r>
          </a:p>
          <a:p>
            <a:pPr>
              <a:defRPr sz="3600"/>
            </a:pPr>
            <a:r>
              <a:t>Для рабочей сети предпочтительны SCP, SFTP, HTTPS или защищенное хранилище</a:t>
            </a:r>
          </a:p>
          <a:p>
            <a:pPr>
              <a:defRPr sz="3600"/>
            </a:pPr>
            <a:r>
              <a:t>Копии нужно версионировать, ограничивать по доступу и удалять согласно политике хранения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Восстановление в running-config выполняет слияние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copy tftp: running-config обычно объединяет загруженный файл с текущей Running Config</a:t>
            </a:r>
          </a:p>
          <a:p>
            <a:pPr>
              <a:defRPr sz="3600"/>
            </a:pPr>
            <a:r>
              <a:t>Это не гарантирует полную замену текущей конфигурации</a:t>
            </a:r>
          </a:p>
          <a:p>
            <a:pPr>
              <a:defRPr sz="3600"/>
            </a:pPr>
            <a:r>
              <a:t>Если в Backup нет старой ACL, существующая ACL может остаться на устройстве после слияния</a:t>
            </a:r>
          </a:p>
          <a:p>
            <a:pPr>
              <a:defRPr sz="3600"/>
            </a:pPr>
            <a:r>
              <a:t>Такой способ подходит для намеренного добавления или обновления фрагмента конфигурации</a:t>
            </a:r>
          </a:p>
          <a:p>
            <a:pPr>
              <a:defRPr sz="3600"/>
            </a:pPr>
            <a:r>
              <a:t>Для полного восстановления нужно использовать другой сценарий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Три сценария восстановления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copy tftp: running-config — слить фрагмент с текущей конфигурацией</a:t>
            </a:r>
          </a:p>
          <a:p>
            <a:pPr>
              <a:defRPr sz="3600"/>
            </a:pPr>
            <a:r>
              <a:t>copy tftp: startup-config; reload — заменить загрузочную конфигурацию и перезагрузить устройство</a:t>
            </a:r>
          </a:p>
          <a:p>
            <a:pPr>
              <a:defRPr sz="3600"/>
            </a:pPr>
            <a:r>
              <a:t>configure replace tftp://192.168.30.40/R1-backup.cfg force — заменить текущую конфигурацию, если IOS поддерживает команду</a:t>
            </a:r>
          </a:p>
          <a:p>
            <a:pPr>
              <a:defRPr sz="3600"/>
            </a:pPr>
            <a:r>
              <a:t>Перед reload нужно согласовать потерю соединений и убедиться в корректности файла</a:t>
            </a:r>
          </a:p>
          <a:p>
            <a:pPr>
              <a:defRPr sz="3600"/>
            </a:pPr>
            <a:r>
              <a:t>configure replace лучше проверять в лаборатории до применения в production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Archive хранит версии, но не откатывает автоматически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archive — функция Cisco IOS для хранения версий конфигурации</a:t>
            </a:r>
          </a:p>
          <a:p>
            <a:pPr>
              <a:defRPr sz="3600"/>
            </a:pPr>
            <a:r>
              <a:t>path flash:/cfg-$h-$t задает шаблон имени и место хранения архива</a:t>
            </a:r>
          </a:p>
          <a:p>
            <a:pPr>
              <a:defRPr sz="3600"/>
            </a:pPr>
            <a:r>
              <a:t>write-memory создает архив при сохранении конфигурации</a:t>
            </a:r>
          </a:p>
          <a:p>
            <a:pPr>
              <a:defRPr sz="3600"/>
            </a:pPr>
            <a:r>
              <a:t>time-period 1440 может включить периодическое архивирование, если поддерживается IOS</a:t>
            </a:r>
          </a:p>
          <a:p>
            <a:pPr>
              <a:defRPr sz="3600"/>
            </a:pPr>
            <a:r>
              <a:t>Откат выполняется отдельной командой configure replace, а не самим фактом наличия archive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Backup должна быть конкретной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Убедиться, что файл появился на сервере и имеет ожидаемое имя</a:t>
            </a:r>
          </a:p>
          <a:p>
            <a:pPr>
              <a:defRPr sz="3600"/>
            </a:pPr>
            <a:r>
              <a:t>Проверить размер файла и открыть его для просмотра ключевых разделов</a:t>
            </a:r>
          </a:p>
          <a:p>
            <a:pPr>
              <a:defRPr sz="3600"/>
            </a:pPr>
            <a:r>
              <a:t>Сравнить интерфейсы, маршруты, ACL, NAT, VPN и служебные настройки</a:t>
            </a:r>
          </a:p>
          <a:p>
            <a:pPr>
              <a:defRPr sz="3600"/>
            </a:pPr>
            <a:r>
              <a:t>Восстановить файл на тестовом устройстве или копии стенда</a:t>
            </a:r>
          </a:p>
          <a:p>
            <a:pPr>
              <a:defRPr sz="3600"/>
            </a:pPr>
            <a:r>
              <a:t>Зафиксировать результат: Backup пригоден или требует исправления процедуры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backup running-config и восстановление startup-config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F2D5C5-C868-719E-3E3C-9029B6707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Password Recovery относится к аварийному восстановлению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Password Recovery — процедура восстановления административного доступа при потере пароля</a:t>
            </a:r>
          </a:p>
          <a:p>
            <a:pPr>
              <a:defRPr sz="3600"/>
            </a:pPr>
            <a:r>
              <a:t>Обычно требуется физический консольный доступ к устройству</a:t>
            </a:r>
          </a:p>
          <a:p>
            <a:pPr>
              <a:defRPr sz="3600"/>
            </a:pPr>
            <a:r>
              <a:t>При загрузке временно изменяют поведение чтения Startup Config</a:t>
            </a:r>
          </a:p>
          <a:p>
            <a:pPr>
              <a:defRPr sz="3600"/>
            </a:pPr>
            <a:r>
              <a:t>После восстановления пароль меняют, сохраняют конфигурацию и возвращают нормальные параметры загрузки</a:t>
            </a:r>
          </a:p>
          <a:p>
            <a:pPr>
              <a:defRPr sz="3600"/>
            </a:pPr>
            <a:r>
              <a:t>Точный порядок зависит от модели устройства и платформы, поэтому в курсе это демонстрационная тема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служебных протоколов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NTP не работает из-за ACL, маршрута, UDP 123 или неправильного источника времени</a:t>
            </a:r>
          </a:p>
          <a:p>
            <a:pPr>
              <a:defRPr sz="3600"/>
            </a:pPr>
            <a:r>
              <a:t>Syslog не видит события ACL или IP SLA, потому что выбран слишком строгий logging trap warnings</a:t>
            </a:r>
          </a:p>
          <a:p>
            <a:pPr>
              <a:defRPr sz="3600"/>
            </a:pPr>
            <a:r>
              <a:t>Сервер не отвечает на Loopback Source, потому что нет обратного маршрута к /32</a:t>
            </a:r>
          </a:p>
          <a:p>
            <a:pPr>
              <a:defRPr sz="3600"/>
            </a:pPr>
            <a:r>
              <a:t>Debug включили без фильтра и забыли выполнить undebug all</a:t>
            </a:r>
          </a:p>
          <a:p>
            <a:pPr>
              <a:defRPr sz="3600"/>
            </a:pPr>
            <a:r>
              <a:t>Backup сделали, но не проверили восстановление и не учли merge в running-config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NTP делает временные метки логов согласованными между устройствами</a:t>
            </a:r>
          </a:p>
          <a:p>
            <a:pPr>
              <a:defRPr sz="3600"/>
            </a:pPr>
            <a:r>
              <a:t>Syslog Severity выбирается по задаче: для лаборатории нужен informational, чтобы увидеть уровни 0–6</a:t>
            </a:r>
          </a:p>
          <a:p>
            <a:pPr>
              <a:defRPr sz="3600"/>
            </a:pPr>
            <a:r>
              <a:t>Loopback Source полезен только при наличии маршрутов и правил приема для этого адреса</a:t>
            </a:r>
          </a:p>
          <a:p>
            <a:pPr>
              <a:defRPr sz="3600"/>
            </a:pPr>
            <a:r>
              <a:t>L3-диагностика идет от интерфейсов и маршрутов к ACL, NAT, VPN и debug</a:t>
            </a:r>
          </a:p>
          <a:p>
            <a:pPr>
              <a:defRPr sz="3600"/>
            </a:pPr>
            <a:r>
              <a:t>Backup ценен только тогда, когда понятен сценарий восстановления: merge, startup reload или configure replace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NTP важен для анализа сетевой аварии?</a:t>
            </a:r>
          </a:p>
          <a:p>
            <a:pPr>
              <a:defRPr sz="3600"/>
            </a:pPr>
            <a:r>
              <a:t>Чем NTP-клиент отличается от NTP-сервера?</a:t>
            </a:r>
          </a:p>
          <a:p>
            <a:pPr>
              <a:defRPr sz="3600"/>
            </a:pPr>
            <a:r>
              <a:t>Какие уровни включает logging trap informational?</a:t>
            </a:r>
          </a:p>
          <a:p>
            <a:pPr>
              <a:defRPr sz="3600"/>
            </a:pPr>
            <a:r>
              <a:t>Почему Loopback Source требует обратного маршрута?</a:t>
            </a:r>
          </a:p>
          <a:p>
            <a:pPr>
              <a:defRPr sz="3600"/>
            </a:pPr>
            <a:r>
              <a:t>Какие проверки выполнить до включения debug?</a:t>
            </a:r>
          </a:p>
          <a:p>
            <a:pPr>
              <a:defRPr sz="3600"/>
            </a:pPr>
            <a:r>
              <a:t>Почему copy tftp: running-config не является полной заменой конфигурации?</a:t>
            </a:r>
          </a:p>
          <a:p>
            <a:pPr>
              <a:defRPr sz="3600"/>
            </a:pPr>
            <a:r>
              <a:t>Чем SCP-клиент отличается от SCP-сервера на Cisco-устройстве?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2679</Words>
  <Application>Microsoft Office PowerPoint</Application>
  <PresentationFormat>Широкоэкранный</PresentationFormat>
  <Paragraphs>274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2026-07-27T11:41:03Z</dcterms:modified>
  <cp:category/>
</cp:coreProperties>
</file>