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1. Анатомия таблицы маршрутизации. Выбор пути: Longest Prefix Match, AD,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как маршрутизатор формирует таблицу маршрутизации и пересылает пакеты</a:t>
            </a:r>
          </a:p>
          <a:p>
            <a:pPr>
              <a:defRPr sz="3600"/>
            </a:pPr>
            <a:r>
              <a:t>Различать Longest Prefix Match, Administrative Distance и Metric</a:t>
            </a:r>
          </a:p>
          <a:p>
            <a:pPr>
              <a:defRPr sz="3600"/>
            </a:pPr>
            <a:r>
              <a:t>Настраивать обычные, суммарные, маршруты по умолчанию и плавающие статические маршруты</a:t>
            </a:r>
          </a:p>
          <a:p>
            <a:pPr>
              <a:defRPr sz="3600"/>
            </a:pPr>
            <a:r>
              <a:t>Проверять таблицу маршрутизации и находить ошибки recursive lookup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Архитектура принятия решений маршрутизатором и структура таблицы маршрутизации RIB</a:t>
            </a:r>
          </a:p>
          <a:p>
            <a:pPr>
              <a:defRPr sz="3600"/>
            </a:pPr>
            <a:r>
              <a:t>2. Longest Prefix Match — выбор наиболее специфичного маршрута</a:t>
            </a:r>
          </a:p>
          <a:p>
            <a:pPr>
              <a:defRPr sz="3600"/>
            </a:pPr>
            <a:r>
              <a:t>3. Administrative Distance и Metric</a:t>
            </a:r>
          </a:p>
          <a:p>
            <a:pPr>
              <a:defRPr sz="3600"/>
            </a:pPr>
            <a:r>
              <a:t>4. Рекурсивный поиск recursive lookup</a:t>
            </a:r>
          </a:p>
          <a:p>
            <a:pPr>
              <a:defRPr sz="3600"/>
            </a:pPr>
            <a:r>
              <a:t>5. Стандартные, суммарные и default routes</a:t>
            </a:r>
          </a:p>
          <a:p>
            <a:pPr>
              <a:defRPr sz="3600"/>
            </a:pPr>
            <a:r>
              <a:t>6. Интерфейсные, next-hop и fully specified static routes</a:t>
            </a:r>
          </a:p>
          <a:p>
            <a:pPr>
              <a:defRPr sz="3600"/>
            </a:pPr>
            <a:r>
              <a:t>7. Резервирование WAN-каналов через floating static routes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Маршрутизатор принимает решение по таблицам маршрутизации и пересылки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RIB (Routing Information Base) — таблица маршрутизации, где хранятся лучшие выбранные маршруты</a:t>
            </a:r>
          </a:p>
          <a:p>
            <a:pPr>
              <a:defRPr sz="3600"/>
            </a:pPr>
            <a:r>
              <a:t>FIB (Forwarding Information Base) — таблица пересылки, построенная на основе RIB для быстрой обработки пакетов</a:t>
            </a:r>
          </a:p>
          <a:p>
            <a:pPr>
              <a:defRPr sz="3600"/>
            </a:pPr>
            <a:r>
              <a:t>Control plane формирует RIB: выбирает лучшие маршруты из connected, static и routing protocols</a:t>
            </a:r>
          </a:p>
          <a:p>
            <a:pPr>
              <a:defRPr sz="3600"/>
            </a:pPr>
            <a:r>
              <a:t>Data plane пересылает пакет: ищет адрес назначения по FIB и отправляет кадр к next-hop</a:t>
            </a:r>
          </a:p>
          <a:p>
            <a:pPr>
              <a:defRPr sz="3600"/>
            </a:pPr>
            <a:r>
              <a:t>Настройка считается рабочей только после проверки show ip route и фактической связности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RIB отличается от полного набора изученных маршрутов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Разные протоколы могут предложить маршруты к одной сети</a:t>
            </a:r>
          </a:p>
          <a:p>
            <a:pPr>
              <a:defRPr sz="3600"/>
            </a:pPr>
            <a:r>
              <a:t>В RIB попадает лучший маршрут по правилам выбора Cisco IOS</a:t>
            </a:r>
          </a:p>
          <a:p>
            <a:pPr>
              <a:defRPr sz="3600"/>
            </a:pPr>
            <a:r>
              <a:t>CEF (Cisco Express Forwarding) использует FIB для быстрой пересылки на основе выбранных маршрутов</a:t>
            </a:r>
          </a:p>
          <a:p>
            <a:pPr>
              <a:defRPr sz="3600"/>
            </a:pPr>
            <a:r>
              <a:t>FIB (Forwarding Information Base) — таблица пересылки, построенная из RIB для аппаратной или быстрой обработки пакетов</a:t>
            </a:r>
          </a:p>
          <a:p>
            <a:pPr>
              <a:defRPr sz="3600"/>
            </a:pPr>
            <a:r>
              <a:t>На базовой лекции главное — научиться читать RIB и понимать, почему выбран именно этот маршрут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Формирование RIB и пересылка пакета — разные процессы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 формировании RIB протоколы маршрутизации выбирают лучшие пути по собственной metric</a:t>
            </a:r>
          </a:p>
          <a:p>
            <a:pPr>
              <a:defRPr sz="3600"/>
            </a:pPr>
            <a:r>
              <a:t>Если одинаковый префикс получен из разных источников, Cisco IOS сравнивает Administrative Distance</a:t>
            </a:r>
          </a:p>
          <a:p>
            <a:pPr>
              <a:defRPr sz="3600"/>
            </a:pPr>
            <a:r>
              <a:t>Выбранные маршруты попадают в RIB, а затем на их основе строится FIB</a:t>
            </a:r>
          </a:p>
          <a:p>
            <a:pPr>
              <a:defRPr sz="3600"/>
            </a:pPr>
            <a:r>
              <a:t>При пересылке конкретного пакета маршрутизатор уже не сравнивает AD и Metric заново</a:t>
            </a:r>
          </a:p>
          <a:p>
            <a:pPr>
              <a:defRPr sz="3600"/>
            </a:pPr>
            <a:r>
              <a:t>Для поступившего пакета применяется Longest Prefix Match по FIB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запись show ip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 OSPF: O 192.168.20.0/24 [110/20] via 10.0.0.2, 00:03:15, GigabitEthernet0/0</a:t>
            </a:r>
          </a:p>
          <a:p>
            <a:pPr>
              <a:defRPr sz="3600"/>
            </a:pPr>
            <a:r>
              <a:t>O — источник маршрута, 192.168.20.0/24 — сеть назначения</a:t>
            </a:r>
          </a:p>
          <a:p>
            <a:pPr>
              <a:defRPr sz="3600"/>
            </a:pPr>
            <a:r>
              <a:t>110 — Administrative Distance, 20 — OSPF Cost как metric</a:t>
            </a:r>
          </a:p>
          <a:p>
            <a:pPr>
              <a:defRPr sz="3600"/>
            </a:pPr>
            <a:r>
              <a:t>10.0.0.2 — следующий переход next-hop, 00:03:15 — возраст маршрута</a:t>
            </a:r>
          </a:p>
          <a:p>
            <a:pPr>
              <a:defRPr sz="3600"/>
            </a:pPr>
            <a:r>
              <a:t>GigabitEthernet0/0 — выходной интерфейс exit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Статический маршрут в show ip route читается иначе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Пример: S 192.168.30.0/24 [1/0] via 10.0.0.2</a:t>
            </a:r>
          </a:p>
          <a:p>
            <a:pPr>
              <a:defRPr sz="3600"/>
            </a:pPr>
            <a:r>
              <a:t>S означает static route — маршрут задан вручную администратором</a:t>
            </a:r>
          </a:p>
          <a:p>
            <a:pPr>
              <a:defRPr sz="3600"/>
            </a:pPr>
            <a:r>
              <a:t>1 — Administrative Distance статического маршрута по умолчанию</a:t>
            </a:r>
          </a:p>
          <a:p>
            <a:pPr>
              <a:defRPr sz="3600"/>
            </a:pPr>
            <a:r>
              <a:t>0 — metric статического маршрута в выводе Cisco IOS</a:t>
            </a:r>
          </a:p>
          <a:p>
            <a:pPr>
              <a:defRPr sz="3600"/>
            </a:pPr>
            <a:r>
              <a:t>Такая строка помогает увидеть разницу между доверием к источнику и стоимостью пути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путь пакета через RIB и next-hop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F208DD-B4CA-40B6-84B6-73D086139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Connected и local маршруты появляются автоматически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настройки IP-адреса на интерфейсе Cisco IOS добавляет connected route для всей подсети</a:t>
            </a:r>
          </a:p>
          <a:p>
            <a:pPr>
              <a:defRPr sz="3600"/>
            </a:pPr>
            <a:r>
              <a:t>Local route с маской /32 указывает конкретный IP-адрес самого интерфейса</a:t>
            </a:r>
          </a:p>
          <a:p>
            <a:pPr>
              <a:defRPr sz="3600"/>
            </a:pPr>
            <a:r>
              <a:t>Пример: interface GigabitEthernet0/0 с 192.168.10.1/24 создает C 192.168.10.0/24 и L 192.168.10.1/32</a:t>
            </a:r>
          </a:p>
          <a:p>
            <a:pPr>
              <a:defRPr sz="3600"/>
            </a:pPr>
            <a:r>
              <a:t>Если интерфейс down, connected route обычно исчезает из таблицы</a:t>
            </a:r>
          </a:p>
          <a:p>
            <a:pPr>
              <a:defRPr sz="3600"/>
            </a:pPr>
            <a:r>
              <a:t>Поэтому диагностика маршрутизации начинается с show ip interface brief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Loopback-интерфейс нужен для стабильных учебных сетей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Loopback — логический интерфейс маршрутизатора, не зависящий от физического кабеля</a:t>
            </a:r>
          </a:p>
          <a:p>
            <a:pPr>
              <a:defRPr sz="3600"/>
            </a:pPr>
            <a:r>
              <a:t>Он остается up, пока не выключен административно командой shutdown</a:t>
            </a:r>
          </a:p>
          <a:p>
            <a:pPr>
              <a:defRPr sz="3600"/>
            </a:pPr>
            <a:r>
              <a:t>В лабораторной работе loopback удобно использовать для имитации удаленной LAN или сети филиала</a:t>
            </a:r>
          </a:p>
          <a:p>
            <a:pPr>
              <a:defRPr sz="3600"/>
            </a:pPr>
            <a:r>
              <a:t>Пример: interface loopback0, ip address 172.16.1.1 255.255.255.0</a:t>
            </a:r>
          </a:p>
          <a:p>
            <a:pPr>
              <a:defRPr sz="3600"/>
            </a:pPr>
            <a:r>
              <a:t>Маршрут к loopback-сети появляется как connected и может анонсироваться или использоваться в статике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Longest Prefix Match выбирает самый точный маршрут при пересылке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Longest Prefix Match — правило поиска самого длинного совпадающего префикса для адреса назначения</a:t>
            </a:r>
          </a:p>
          <a:p>
            <a:pPr>
              <a:defRPr sz="3600"/>
            </a:pPr>
            <a:r>
              <a:t>Это правило применяется в data plane при пересылке пакета по уже сформированной FIB</a:t>
            </a:r>
          </a:p>
          <a:p>
            <a:pPr>
              <a:defRPr sz="3600"/>
            </a:pPr>
            <a:r>
              <a:t>Префикс /24 точнее, чем /16, потому что описывает меньшую область адресов</a:t>
            </a:r>
          </a:p>
          <a:p>
            <a:pPr>
              <a:defRPr sz="3600"/>
            </a:pPr>
            <a:r>
              <a:t>Default route 0.0.0.0/0 является самым общим маршрутом и используется последним</a:t>
            </a:r>
          </a:p>
          <a:p>
            <a:pPr>
              <a:defRPr sz="3600"/>
            </a:pPr>
            <a:r>
              <a:t>AD и Metric используются раньше — при выборе маршрутов, устанавливаемых в RIB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Longest Prefix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адреса назначения 192.168.10.50 подходит маршрут 192.168.0.0/16</a:t>
            </a:r>
          </a:p>
          <a:p>
            <a:pPr>
              <a:defRPr sz="3600"/>
            </a:pPr>
            <a:r>
              <a:t>Также подходит более точный маршрут 192.168.10.0/24</a:t>
            </a:r>
          </a:p>
          <a:p>
            <a:pPr>
              <a:defRPr sz="3600"/>
            </a:pPr>
            <a:r>
              <a:t>Если есть маршрут 192.168.10.48/28, он еще точнее для адресов 192.168.10.48–192.168.10.63</a:t>
            </a:r>
          </a:p>
          <a:p>
            <a:pPr>
              <a:defRPr sz="3600"/>
            </a:pPr>
            <a:r>
              <a:t>При пересылке пакета будет выбран /28 как самый специфичный префикс</a:t>
            </a:r>
          </a:p>
          <a:p>
            <a:pPr>
              <a:defRPr sz="3600"/>
            </a:pPr>
            <a:r>
              <a:t>Это не означает, что AD и Metric сравниваются заново для каждого пакета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Longest Prefix Match на примере трех маршрутов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752556-748F-2D56-68D1-FF6968B6E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default route не мешает частным маршрутам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Default route 0.0.0.0/0 подходит к любому IPv4-адресу</a:t>
            </a:r>
          </a:p>
          <a:p>
            <a:pPr>
              <a:defRPr sz="3600"/>
            </a:pPr>
            <a:r>
              <a:t>Более конкретные маршруты всегда выигрывают у default route по длине префикса</a:t>
            </a:r>
          </a:p>
          <a:p>
            <a:pPr>
              <a:defRPr sz="3600"/>
            </a:pPr>
            <a:r>
              <a:t>Default route нужен для неизвестных внешних сетей, например для выхода к провайдеру</a:t>
            </a:r>
          </a:p>
          <a:p>
            <a:pPr>
              <a:defRPr sz="3600"/>
            </a:pPr>
            <a:r>
              <a:t>Строка Cisco IOS Gateway of last resort is 203.0.113.1 to network 0.0.0.0 показывает активный маршрут по умолчанию</a:t>
            </a:r>
          </a:p>
          <a:p>
            <a:pPr>
              <a:defRPr sz="3600"/>
            </a:pPr>
            <a:r>
              <a:t>Если частная сеть 10.10.0.0/16 есть в RIB, трафик к ней не уйдет в default route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Administrative Distance показывает доверие к источнику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 (Administrative Distance) — числовой показатель доверия Cisco IOS к источнику маршрута</a:t>
            </a:r>
          </a:p>
          <a:p>
            <a:pPr>
              <a:defRPr sz="3600"/>
            </a:pPr>
            <a:r>
              <a:t>Меньшее значение AD считается более доверенным</a:t>
            </a:r>
          </a:p>
          <a:p>
            <a:pPr>
              <a:defRPr sz="3600"/>
            </a:pPr>
            <a:r>
              <a:t>Connected route имеет AD 0, static route обычно AD 1</a:t>
            </a:r>
          </a:p>
          <a:p>
            <a:pPr>
              <a:defRPr sz="3600"/>
            </a:pPr>
            <a:r>
              <a:t>OSPF обычно имеет AD 110, RIP — 120</a:t>
            </a:r>
          </a:p>
          <a:p>
            <a:pPr>
              <a:defRPr sz="3600"/>
            </a:pPr>
            <a:r>
              <a:t>Если к одной сети есть маршруты из разных источников с одинаковым префиксом, выбирается меньший 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Metric работает внутри одного протокола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Metric — стоимость пути внутри конкретного протокола маршрутизации</a:t>
            </a:r>
          </a:p>
          <a:p>
            <a:pPr>
              <a:defRPr sz="3600"/>
            </a:pPr>
            <a:r>
              <a:t>OSPF использует cost, RIP использует количество хопов</a:t>
            </a:r>
          </a:p>
          <a:p>
            <a:pPr>
              <a:defRPr sz="3600"/>
            </a:pPr>
            <a:r>
              <a:t>Протокол маршрутизации сначала определяет лучший путь по собственной metric</a:t>
            </a:r>
          </a:p>
          <a:p>
            <a:pPr>
              <a:defRPr sz="3600"/>
            </a:pPr>
            <a:r>
              <a:t>Если одинаковый префикс получен из разных источников, Cisco IOS использует AD для выбора маршрута в RIB</a:t>
            </a:r>
          </a:p>
          <a:p>
            <a:pPr>
              <a:defRPr sz="3600"/>
            </a:pPr>
            <a:r>
              <a:t>Metric OSPF и metric RIP напрямую не сравниваются между собой как однотипные числа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ECMP использует несколько равнозначных путей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ECMP (Equal-Cost Multi-Path) — установка нескольких равных маршрутов к одному префиксу</a:t>
            </a:r>
          </a:p>
          <a:p>
            <a:pPr>
              <a:defRPr sz="3600"/>
            </a:pPr>
            <a:r>
              <a:t>Обычно ECMP возникает, когда один протокол изучил несколько путей с одинаковой metric</a:t>
            </a:r>
          </a:p>
          <a:p>
            <a:pPr>
              <a:defRPr sz="3600"/>
            </a:pPr>
            <a:r>
              <a:t>Несколько статических маршрутов к одному префиксу с одинаковым AD также могут образовать ECMP</a:t>
            </a:r>
          </a:p>
          <a:p>
            <a:pPr>
              <a:defRPr sz="3600"/>
            </a:pPr>
            <a:r>
              <a:t>Количество установленных равных путей зависит от платформы и параметра maximum-paths</a:t>
            </a:r>
          </a:p>
          <a:p>
            <a:pPr>
              <a:defRPr sz="3600"/>
            </a:pPr>
            <a:r>
              <a:t>Команда show ip route показывает несколько строк via для одной сети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Recursive lookup нужен, когда маршрут указывает только next-hop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Recursive lookup — дополнительный поиск маршрута до next-hop в таблице маршрутизации</a:t>
            </a:r>
          </a:p>
          <a:p>
            <a:pPr>
              <a:defRPr sz="3600"/>
            </a:pPr>
            <a:r>
              <a:t>Если static route указывает next-hop 10.0.0.2, маршрутизатор должен знать, через какой интерфейс достичь 10.0.0.2</a:t>
            </a:r>
          </a:p>
          <a:p>
            <a:pPr>
              <a:defRPr sz="3600"/>
            </a:pPr>
            <a:r>
              <a:t>Если маршрут до next-hop отсутствует, статический маршрут с указанием только next-hop обычно не устанавливается в RIB</a:t>
            </a:r>
          </a:p>
          <a:p>
            <a:pPr>
              <a:defRPr sz="3600"/>
            </a:pPr>
            <a:r>
              <a:t>Если next-hop разрешается, но есть проблема L2, ARP, ACL или дальнейшей маршрутизации, маршрут может оставаться в таблице, а передача пакетов завершится ошибкой</a:t>
            </a:r>
          </a:p>
          <a:p>
            <a:pPr>
              <a:defRPr sz="3600"/>
            </a:pPr>
            <a:r>
              <a:t>Команда show ip route помогает увидеть маршрут к сети назначения и маршрут, используемый для достижения next-hop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recursive lookup до next-hop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1949EE-D5D4-9F1F-E3E6-F6F037967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Типовая ошибка recursive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Администратор создал маршрут ip route 172.16.20.0 255.255.255.0 10.0.0.2</a:t>
            </a:r>
          </a:p>
          <a:p>
            <a:pPr>
              <a:defRPr sz="3600"/>
            </a:pPr>
            <a:r>
              <a:t>Сеть 10.0.0.0/30 до next-hop отсутствует в RIB из-за выключенного интерфейса</a:t>
            </a:r>
          </a:p>
          <a:p>
            <a:pPr>
              <a:defRPr sz="3600"/>
            </a:pPr>
            <a:r>
              <a:t>Маршрут к 172.16.20.0/24 не может нормально использоваться</a:t>
            </a:r>
          </a:p>
          <a:p>
            <a:pPr>
              <a:defRPr sz="3600"/>
            </a:pPr>
            <a:r>
              <a:t>Проверка: show ip route 10.0.0.2 и show ip interface brief</a:t>
            </a:r>
          </a:p>
          <a:p>
            <a:pPr>
              <a:defRPr sz="3600"/>
            </a:pPr>
            <a:r>
              <a:t>Исправление: восстановить линк, адресацию стыка или указать корректный reachable next-hop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recursive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ip route 172.16.20.0 показывает, установлен ли маршрут к сети назначения</a:t>
            </a:r>
          </a:p>
          <a:p>
            <a:pPr>
              <a:defRPr sz="3600"/>
            </a:pPr>
            <a:r>
              <a:t>show ip route 10.0.0.2 показывает, знает ли маршрутизатор путь до next-hop</a:t>
            </a:r>
          </a:p>
          <a:p>
            <a:pPr>
              <a:defRPr sz="3600"/>
            </a:pPr>
            <a:r>
              <a:t>show arp проверяет, есть ли L2-соответствие для next-hop в Ethernet-сегменте</a:t>
            </a:r>
          </a:p>
          <a:p>
            <a:pPr>
              <a:defRPr sz="3600"/>
            </a:pPr>
            <a:r>
              <a:t>ping 10.0.0.2 source gigabitEthernet0/0 проверяет достижимость соседа с нужного интерфейса</a:t>
            </a:r>
          </a:p>
          <a:p>
            <a:pPr>
              <a:defRPr sz="3600"/>
            </a:pPr>
            <a:r>
              <a:t>Если маршрут есть, но ARP или ping не работает, проблема уже не в выборе маршрута, а в доставке к next-hop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Стандартный статический маршрут задает путь к одной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Static route — маршрут, вручную заданный администратором</a:t>
            </a:r>
          </a:p>
          <a:p>
            <a:pPr>
              <a:defRPr sz="3600"/>
            </a:pPr>
            <a:r>
              <a:t>Базовый синтаксис: ip route сеть маска next-hop</a:t>
            </a:r>
          </a:p>
          <a:p>
            <a:pPr>
              <a:defRPr sz="3600"/>
            </a:pPr>
            <a:r>
              <a:t>Пример: ip route 192.168.20.0 255.255.255.0 10.0.0.2</a:t>
            </a:r>
          </a:p>
          <a:p>
            <a:pPr>
              <a:defRPr sz="3600"/>
            </a:pPr>
            <a:r>
              <a:t>Такой маршрут прост и предсказуем, но не обновляется автоматически при изменении топологии</a:t>
            </a:r>
          </a:p>
          <a:p>
            <a:pPr>
              <a:defRPr sz="3600"/>
            </a:pPr>
            <a:r>
              <a:t>После настройки проверяют show ip route static и ping до удаленной сети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Суммарный маршрут уменьшает размер таблицы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Summary route — маршрут, объединяющий несколько меньших сетей одним более общим префиксом</a:t>
            </a:r>
          </a:p>
          <a:p>
            <a:pPr>
              <a:defRPr sz="3600"/>
            </a:pPr>
            <a:r>
              <a:t>Например, 172.16.0.0/22 может покрывать сети 172.16.0.0/24–172.16.3.0/24</a:t>
            </a:r>
          </a:p>
          <a:p>
            <a:pPr>
              <a:defRPr sz="3600"/>
            </a:pPr>
            <a:r>
              <a:t>Суммаризация уменьшает число записей в RIB и упрощает восприятие топологии</a:t>
            </a:r>
          </a:p>
          <a:p>
            <a:pPr>
              <a:defRPr sz="3600"/>
            </a:pPr>
            <a:r>
              <a:t>Ошибка суммаризации может отправить трафик в неверную сторону или создать blackhole</a:t>
            </a:r>
          </a:p>
          <a:p>
            <a:pPr>
              <a:defRPr sz="3600"/>
            </a:pPr>
            <a:r>
              <a:t>Перед суммаризацией нужно проверить границы блоков адресации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Практический расчет суммарного маршрута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Сети 172.16.0.0/24, 172.16.1.0/24, 172.16.2.0/24 и 172.16.3.0/24 идут подряд</a:t>
            </a:r>
          </a:p>
          <a:p>
            <a:pPr>
              <a:defRPr sz="3600"/>
            </a:pPr>
            <a:r>
              <a:t>Общий блок начинается с 172.16.0.0</a:t>
            </a:r>
          </a:p>
          <a:p>
            <a:pPr>
              <a:defRPr sz="3600"/>
            </a:pPr>
            <a:r>
              <a:t>Четыре сети /24 объединяются в один блок размером 4 × 256 адресов</a:t>
            </a:r>
          </a:p>
          <a:p>
            <a:pPr>
              <a:defRPr sz="3600"/>
            </a:pPr>
            <a:r>
              <a:t>Маска такого блока — /22, то есть 255.255.252.0</a:t>
            </a:r>
          </a:p>
          <a:p>
            <a:pPr>
              <a:defRPr sz="3600"/>
            </a:pPr>
            <a:r>
              <a:t>Итоговый summary route: 172.16.0.0/22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Default route направляет неизвестные сети к выходу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Default route используется, когда более конкретного маршрута к адресу назначения нет</a:t>
            </a:r>
          </a:p>
          <a:p>
            <a:pPr>
              <a:defRPr sz="3600"/>
            </a:pPr>
            <a:r>
              <a:t>Синтаксис: ip route 0.0.0.0 0.0.0.0 next-hop</a:t>
            </a:r>
          </a:p>
          <a:p>
            <a:pPr>
              <a:defRPr sz="3600"/>
            </a:pPr>
            <a:r>
              <a:t>В филиале default route часто указывает на головной офис или провайдера</a:t>
            </a:r>
          </a:p>
          <a:p>
            <a:pPr>
              <a:defRPr sz="3600"/>
            </a:pPr>
            <a:r>
              <a:t>В ядре сети default route обычно ведет к firewall или edge-router</a:t>
            </a:r>
          </a:p>
          <a:p>
            <a:pPr>
              <a:defRPr sz="3600"/>
            </a:pPr>
            <a:r>
              <a:t>Команда show ip route 0.0.0.0 показывает шлюз последней надежды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Exit-interface route подходит не для всех сред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Интерфейсный статический маршрут указывает только выходной интерфейс, например ip route 192.168.20.0 255.255.255.0 Serial0/0/0</a:t>
            </a:r>
          </a:p>
          <a:p>
            <a:pPr>
              <a:defRPr sz="3600"/>
            </a:pPr>
            <a:r>
              <a:t>На point-to-point линке это обычно безопасно, потому что на другой стороне только один сосед</a:t>
            </a:r>
          </a:p>
          <a:p>
            <a:pPr>
              <a:defRPr sz="3600"/>
            </a:pPr>
            <a:r>
              <a:t>Multiaccess-сегмент — сеть, где через один интерфейс доступно несколько соседних устройств, например Ethernet VLAN</a:t>
            </a:r>
          </a:p>
          <a:p>
            <a:pPr>
              <a:defRPr sz="3600"/>
            </a:pPr>
            <a:r>
              <a:t>На Ethernet-сегменте такой маршрут может вызвать лишние ARP-запросы к каждому адресу назначения</a:t>
            </a:r>
          </a:p>
          <a:p>
            <a:pPr>
              <a:defRPr sz="3600"/>
            </a:pPr>
            <a:r>
              <a:t>Для multiaccess Ethernet лучше указывать next-hop или fully specified route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Next-hop route делает следующий переход явным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Next-hop route указывает IP-адрес соседнего маршрутизатора</a:t>
            </a:r>
          </a:p>
          <a:p>
            <a:pPr>
              <a:defRPr sz="3600"/>
            </a:pPr>
            <a:r>
              <a:t>Пример: ip route 192.168.20.0 255.255.255.0 10.0.0.2</a:t>
            </a:r>
          </a:p>
          <a:p>
            <a:pPr>
              <a:defRPr sz="3600"/>
            </a:pPr>
            <a:r>
              <a:t>Маршрутизатор дополнительно ищет путь до 10.0.0.2 через recursive lookup</a:t>
            </a:r>
          </a:p>
          <a:p>
            <a:pPr>
              <a:defRPr sz="3600"/>
            </a:pPr>
            <a:r>
              <a:t>Такой вариант хорошо читается в документации и show ip route</a:t>
            </a:r>
          </a:p>
          <a:p>
            <a:pPr>
              <a:defRPr sz="3600"/>
            </a:pPr>
            <a:r>
              <a:t>Если next-hop меняется, статический маршрут нужно исправлять вручную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Fully specified static route убирает двусмысленность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Fully specified static route указывает и выходной интерфейс, и next-hop</a:t>
            </a:r>
          </a:p>
          <a:p>
            <a:pPr>
              <a:defRPr sz="3600"/>
            </a:pPr>
            <a:r>
              <a:t>Пример: ip route 192.168.20.0 255.255.255.0 gigabitEthernet0/0 10.0.0.2</a:t>
            </a:r>
          </a:p>
          <a:p>
            <a:pPr>
              <a:defRPr sz="3600"/>
            </a:pPr>
            <a:r>
              <a:t>На Ethernet-стыке это помогает Cisco IOS понять, куда отправлять кадры и к какому соседу</a:t>
            </a:r>
          </a:p>
          <a:p>
            <a:pPr>
              <a:defRPr sz="3600"/>
            </a:pPr>
            <a:r>
              <a:t>Такой маршрут полезен при нескольких соседях в одной транзитной сети</a:t>
            </a:r>
          </a:p>
          <a:p>
            <a:pPr>
              <a:defRPr sz="3600"/>
            </a:pPr>
            <a:r>
              <a:t>Проверка: show running-config | include ip route и show ip route static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Инфографика: три типа статических маршрутов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80DCB1-2868-0C84-C0CE-CB73C10C6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Floating static route включается только при отказе основного пути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Floating static route — резервный статический маршрут с увеличенной Administrative Distance</a:t>
            </a:r>
          </a:p>
          <a:p>
            <a:pPr>
              <a:defRPr sz="3600"/>
            </a:pPr>
            <a:r>
              <a:t>Основной маршрут имеет меньший AD и установлен в RIB при нормальной работе</a:t>
            </a:r>
          </a:p>
          <a:p>
            <a:pPr>
              <a:defRPr sz="3600"/>
            </a:pPr>
            <a:r>
              <a:t>Резервный маршрут появляется в таблице только когда основной путь исчезает</a:t>
            </a:r>
          </a:p>
          <a:p>
            <a:pPr>
              <a:defRPr sz="3600"/>
            </a:pPr>
            <a:r>
              <a:t>Пример: ip route 0.0.0.0 0.0.0.0 198.51.100.1 200 задает резерв с AD 200</a:t>
            </a:r>
          </a:p>
          <a:p>
            <a:pPr>
              <a:defRPr sz="3600"/>
            </a:pPr>
            <a:r>
              <a:t>Floating route полезен для двух WAN-каналов, но не всегда видит отказ внутри сети провайдера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резервирования двух WAN-каналов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Основной default route: ip route 0.0.0.0 0.0.0.0 203.0.113.1</a:t>
            </a:r>
          </a:p>
          <a:p>
            <a:pPr>
              <a:defRPr sz="3600"/>
            </a:pPr>
            <a:r>
              <a:t>Резервный default route: ip route 0.0.0.0 0.0.0.0 198.51.100.1 200</a:t>
            </a:r>
          </a:p>
          <a:p>
            <a:pPr>
              <a:defRPr sz="3600"/>
            </a:pPr>
            <a:r>
              <a:t>При доступном основном next-hop в RIB остается маршрут с AD 1</a:t>
            </a:r>
          </a:p>
          <a:p>
            <a:pPr>
              <a:defRPr sz="3600"/>
            </a:pPr>
            <a:r>
              <a:t>Если основной интерфейс или next-hop недоступен, появляется маршрут с AD 200</a:t>
            </a:r>
          </a:p>
          <a:p>
            <a:pPr>
              <a:defRPr sz="3600"/>
            </a:pPr>
            <a:r>
              <a:t>Для контроля отказов глубже провайдера в дальнейшем используется IP SLA и Object Tracking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floating route в лабораторной работе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ip route 0.0.0.0 показывает активный маршрут по умолчанию</a:t>
            </a:r>
          </a:p>
          <a:p>
            <a:pPr>
              <a:defRPr sz="3600"/>
            </a:pPr>
            <a:r>
              <a:t>show ip route static показывает установленные статические маршруты</a:t>
            </a:r>
          </a:p>
          <a:p>
            <a:pPr>
              <a:defRPr sz="3600"/>
            </a:pPr>
            <a:r>
              <a:t>ping 8.8.8.8 проверяет пользовательскую достижимость через текущий WAN</a:t>
            </a:r>
          </a:p>
          <a:p>
            <a:pPr>
              <a:defRPr sz="3600"/>
            </a:pPr>
            <a:r>
              <a:t>Для теста отказа: interface GigabitEthernet0/0, shutdown на основном WAN-интерфейсе</a:t>
            </a:r>
          </a:p>
          <a:p>
            <a:pPr>
              <a:defRPr sz="3600"/>
            </a:pPr>
            <a:r>
              <a:t>После отказа снова выполнить show ip route 0.0.0.0 и убедиться, что активен резервный next-hop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основной и резервный WAN через floating static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14FA5E-65E2-FFC9-9E19-47577D02A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TTL помогает распознать петлю маршрутизации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TTL (Time To Live) — поле IP-пакета, уменьшающееся на каждом маршрутизаторе</a:t>
            </a:r>
          </a:p>
          <a:p>
            <a:pPr>
              <a:defRPr sz="3600"/>
            </a:pPr>
            <a:r>
              <a:t>Если маршруты образуют петлю, TTL постепенно уменьшается до нуля</a:t>
            </a:r>
          </a:p>
          <a:p>
            <a:pPr>
              <a:defRPr sz="3600"/>
            </a:pPr>
            <a:r>
              <a:t>После TTL 0 маршрутизатор отбрасывает пакет и может отправить ICMP Time Exceeded</a:t>
            </a:r>
          </a:p>
          <a:p>
            <a:pPr>
              <a:defRPr sz="3600"/>
            </a:pPr>
            <a:r>
              <a:t>Traceroute использует поведение TTL для отображения пути через маршрутизаторы</a:t>
            </a:r>
          </a:p>
          <a:p>
            <a:pPr>
              <a:defRPr sz="3600"/>
            </a:pPr>
            <a:r>
              <a:t>Петля статической маршрутизации часто возникает из-за взаимных default routes или ошибочной суммаризации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петли статической маршрутизации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R1 имеет default route в сторону R2</a:t>
            </a:r>
          </a:p>
          <a:p>
            <a:pPr>
              <a:defRPr sz="3600"/>
            </a:pPr>
            <a:r>
              <a:t>R2 имеет ошибочный маршрут 172.16.0.0/16 обратно в сторону R1</a:t>
            </a:r>
          </a:p>
          <a:p>
            <a:pPr>
              <a:defRPr sz="3600"/>
            </a:pPr>
            <a:r>
              <a:t>Пакет к отсутствующей сети может ходить по кругу R1 → R2 → R1 → R2</a:t>
            </a:r>
          </a:p>
          <a:p>
            <a:pPr>
              <a:defRPr sz="3600"/>
            </a:pPr>
            <a:r>
              <a:t>В traceroute будут повторяться одни и те же маршрутизаторы</a:t>
            </a:r>
          </a:p>
          <a:p>
            <a:pPr>
              <a:defRPr sz="3600"/>
            </a:pPr>
            <a:r>
              <a:t>Ожидаемый признак: TTL expired in transit или ICMP Time Exceeded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диагностики статической маршрутизации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состояние интерфейсов командой show ip interface brief</a:t>
            </a:r>
          </a:p>
          <a:p>
            <a:pPr>
              <a:defRPr sz="3600"/>
            </a:pPr>
            <a:r>
              <a:t>Проверить наличие connected-сетей и static routes в show ip route</a:t>
            </a:r>
          </a:p>
          <a:p>
            <a:pPr>
              <a:defRPr sz="3600"/>
            </a:pPr>
            <a:r>
              <a:t>Проверить достижимость next-hop командой ping next-hop</a:t>
            </a:r>
          </a:p>
          <a:p>
            <a:pPr>
              <a:defRPr sz="3600"/>
            </a:pPr>
            <a:r>
              <a:t>Проверить путь до удаленной сети через traceroute</a:t>
            </a:r>
          </a:p>
          <a:p>
            <a:pPr>
              <a:defRPr sz="3600"/>
            </a:pPr>
            <a:r>
              <a:t>Проверить, не перекрывает ли более специфичный маршрут ожидаемый default или summary route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Мини-задачи для закрепления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RIB есть 10.0.0.0/8, 10.10.0.0/16 и 10.10.20.0/24. Какой маршрут будет использован для 10.10.20.55?</a:t>
            </a:r>
          </a:p>
          <a:p>
            <a:pPr>
              <a:defRPr sz="3600"/>
            </a:pPr>
            <a:r>
              <a:t>Одинаковый префикс получен через OSPF с AD 110 и статически с AD 150. Какой маршрут попадет в RIB?</a:t>
            </a:r>
          </a:p>
          <a:p>
            <a:pPr>
              <a:defRPr sz="3600"/>
            </a:pPr>
            <a:r>
              <a:t>Какие четыре сети /24 можно объединить маршрутом 172.16.8.0/22?</a:t>
            </a:r>
          </a:p>
          <a:p>
            <a:pPr>
              <a:defRPr sz="3600"/>
            </a:pPr>
            <a:r>
              <a:t>Почему маршрут по умолчанию не должен перехватывать трафик к более конкретной внутренней сети?</a:t>
            </a:r>
          </a:p>
          <a:p>
            <a:pPr>
              <a:defRPr sz="3600"/>
            </a:pPr>
            <a:r>
              <a:t>Что проверить, если static route via next-hop не появляется в show ip route?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 формировании RIB учитываются Metric и Administrative Distance, а при пересылке пакета применяется Longest Prefix Match</a:t>
            </a:r>
          </a:p>
          <a:p>
            <a:pPr>
              <a:defRPr sz="3600"/>
            </a:pPr>
            <a:r>
              <a:t>RIB показывает лучший установленный маршрут, а recursive lookup объясняет путь до next-hop</a:t>
            </a:r>
          </a:p>
          <a:p>
            <a:pPr>
              <a:defRPr sz="3600"/>
            </a:pPr>
            <a:r>
              <a:t>Статические маршруты бывают через выходной интерфейс, next-hop и fully specified</a:t>
            </a:r>
          </a:p>
          <a:p>
            <a:pPr>
              <a:defRPr sz="3600"/>
            </a:pPr>
            <a:r>
              <a:t>Summary route уменьшает таблицу, но требует точного расчета границ адресации</a:t>
            </a:r>
          </a:p>
          <a:p>
            <a:pPr>
              <a:defRPr sz="3600"/>
            </a:pPr>
            <a:r>
              <a:t>Floating static route дает простое резервирование WAN, но не заменяет мониторинг доступности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каком этапе используется Longest Prefix Match, а на каком — Administrative Distance?</a:t>
            </a:r>
          </a:p>
          <a:p>
            <a:pPr>
              <a:defRPr sz="3600"/>
            </a:pPr>
            <a:r>
              <a:t>Почему маршрут /28 выигрывает у /24 для подходящего адреса назначения?</a:t>
            </a:r>
          </a:p>
          <a:p>
            <a:pPr>
              <a:defRPr sz="3600"/>
            </a:pPr>
            <a:r>
              <a:t>Чем Administrative Distance отличается от Metric?</a:t>
            </a:r>
          </a:p>
          <a:p>
            <a:pPr>
              <a:defRPr sz="3600"/>
            </a:pPr>
            <a:r>
              <a:t>Когда нужен recursive lookup?</a:t>
            </a:r>
          </a:p>
          <a:p>
            <a:pPr>
              <a:defRPr sz="3600"/>
            </a:pPr>
            <a:r>
              <a:t>Почему exit-interface static route опасен на Ethernet-сегменте?</a:t>
            </a:r>
          </a:p>
          <a:p>
            <a:pPr>
              <a:defRPr sz="3600"/>
            </a:pPr>
            <a:r>
              <a:t>Что дает fully specified static route?</a:t>
            </a:r>
          </a:p>
          <a:p>
            <a:pPr>
              <a:defRPr sz="3600"/>
            </a:pPr>
            <a:r>
              <a:t>Какими командами проверить петлю или ошибку статической маршрутизации?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2193</Words>
  <Application>Microsoft Office PowerPoint</Application>
  <PresentationFormat>Широкоэкранный</PresentationFormat>
  <Paragraphs>213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2026-07-27T11:20:01Z</dcterms:modified>
  <cp:category/>
</cp:coreProperties>
</file>