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11. Архитектура Enterprise-сетей и сборка отказоустойчивой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Связать изученные L2 и L3-технологии в единую архитектуру локальной сети организации</a:t>
            </a:r>
          </a:p>
          <a:p>
            <a:pPr>
              <a:defRPr sz="3600"/>
            </a:pPr>
            <a:r>
              <a:t>Различать two-tier и three-tier модели построения enterprise-сети</a:t>
            </a:r>
          </a:p>
          <a:p>
            <a:pPr>
              <a:defRPr sz="3600"/>
            </a:pPr>
            <a:r>
              <a:t>Проектировать зоны LAN, WAN и DMZ на базовом уровне</a:t>
            </a:r>
          </a:p>
          <a:p>
            <a:pPr>
              <a:defRPr sz="3600"/>
            </a:pPr>
            <a:r>
              <a:t>Составлять адресный план, таблицу VLAN, кабельный журнал и набор команд итоговой проверки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Итоговое обобщение L2-технологий и их интеграция в enterprise-архитектуру</a:t>
            </a:r>
          </a:p>
          <a:p>
            <a:pPr>
              <a:defRPr sz="3600"/>
            </a:pPr>
            <a:r>
              <a:t>2. Модели Two-tier collapsed core и Three-tier</a:t>
            </a:r>
          </a:p>
          <a:p>
            <a:pPr>
              <a:defRPr sz="3600"/>
            </a:pPr>
            <a:r>
              <a:t>3. Зоны ИТ-инфраструктуры: LAN, WAN, DMZ</a:t>
            </a:r>
          </a:p>
          <a:p>
            <a:pPr>
              <a:defRPr sz="3600"/>
            </a:pPr>
            <a:r>
              <a:t>4. Техническая документация: кабельные журналы, адресные планы и инфраструктура управления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Enterprise-сеть собирается из уже изученных технологий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Enterprise-сеть — корпоративная сеть организации с управляемой архитектурой, сегментацией и отказоустойчивостью</a:t>
            </a:r>
          </a:p>
          <a:p>
            <a:pPr>
              <a:defRPr sz="3600"/>
            </a:pPr>
            <a:r>
              <a:t>СКС дает физическую основу: шкафы, патч-панели, кабели, порты и питание</a:t>
            </a:r>
          </a:p>
          <a:p>
            <a:pPr>
              <a:defRPr sz="3600"/>
            </a:pPr>
            <a:r>
              <a:t>VLAN разделяют пользователей, серверы, WLAN, телефонию и управление</a:t>
            </a:r>
          </a:p>
          <a:p>
            <a:pPr>
              <a:defRPr sz="3600"/>
            </a:pPr>
            <a:r>
              <a:t>Trunk и EtherChannel переносят несколько VLAN между уровнями сети с резервированием</a:t>
            </a:r>
          </a:p>
          <a:p>
            <a:pPr>
              <a:defRPr sz="3600"/>
            </a:pPr>
            <a:r>
              <a:t>STP, L2-security, SVI, HSRP и WLAN добавляют устойчивость, безопасность и сервисность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 набора команд к проектной логике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комплексной сети нельзя настраивать технологии в случайном порядке</a:t>
            </a:r>
          </a:p>
          <a:p>
            <a:pPr>
              <a:defRPr sz="3600"/>
            </a:pPr>
            <a:r>
              <a:t>Сначала определяют требования: отделы, сервисы, пользователи, беспроводной доступ и отказоустойчивость</a:t>
            </a:r>
          </a:p>
          <a:p>
            <a:pPr>
              <a:defRPr sz="3600"/>
            </a:pPr>
            <a:r>
              <a:t>Затем проектируют VLAN, адресацию, физические связи и роли коммутаторов</a:t>
            </a:r>
          </a:p>
          <a:p>
            <a:pPr>
              <a:defRPr sz="3600"/>
            </a:pPr>
            <a:r>
              <a:t>После этого выполняют настройку от базового управления к L2, L3 и сервисам</a:t>
            </a:r>
          </a:p>
          <a:p>
            <a:pPr>
              <a:defRPr sz="3600"/>
            </a:pPr>
            <a:r>
              <a:t>Финальный этап — проверка отказов и оформление документации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Сценарий итоговой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Организация использует два коммутатора распределения SW-DIST-01 и SW-DIST-02</a:t>
            </a:r>
          </a:p>
          <a:p>
            <a:pPr>
              <a:defRPr sz="3600"/>
            </a:pPr>
            <a:r>
              <a:t>Два access-коммутатора SW-ACC-01 и SW-ACC-02 подключают пользователей, телефоны и точки доступа</a:t>
            </a:r>
          </a:p>
          <a:p>
            <a:pPr>
              <a:defRPr sz="3600"/>
            </a:pPr>
            <a:r>
              <a:t>WLC-01 управляет беспроводной сетью Students и Staff</a:t>
            </a:r>
          </a:p>
          <a:p>
            <a:pPr>
              <a:defRPr sz="3600"/>
            </a:pPr>
            <a:r>
              <a:t>RADIUS-01 выполняет централизованную аутентификацию для WPA2 Enterprise</a:t>
            </a:r>
          </a:p>
          <a:p>
            <a:pPr>
              <a:defRPr sz="3600"/>
            </a:pPr>
            <a:r>
              <a:t>Firewall или router обеспечивает выход в WAN и публикацию сервисов DMZ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итоговая two-tier Enterprise-сеть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5A27E0-40F3-7C51-A370-6F36AB54C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технологии складываются в уровни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Access-уровень подключает конечные устройства через access-порты, PoE и защиту клиентских портов</a:t>
            </a:r>
          </a:p>
          <a:p>
            <a:pPr>
              <a:defRPr sz="3600"/>
            </a:pPr>
            <a:r>
              <a:t>Distribution-уровень агрегирует access-коммутаторы, выполняет STP-root, SVI и HSRP</a:t>
            </a:r>
          </a:p>
          <a:p>
            <a:pPr>
              <a:defRPr sz="3600"/>
            </a:pPr>
            <a:r>
              <a:t>EtherChannel между уровнями повышает пропускную способность и переживает отказ одного линка</a:t>
            </a:r>
          </a:p>
          <a:p>
            <a:pPr>
              <a:defRPr sz="3600"/>
            </a:pPr>
            <a:r>
              <a:t>WLC и серверы размещаются в выделенных VLAN, а не смешиваются с пользователями</a:t>
            </a:r>
          </a:p>
          <a:p>
            <a:pPr>
              <a:defRPr sz="3600"/>
            </a:pPr>
            <a:r>
              <a:t>Management VLAN используется только для управления сетевыми устройствами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таблица VLAN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10 USERS: рабочие станции, сеть 192.168.10.0/24, шлюз HSRP 192.168.10.1</a:t>
            </a:r>
          </a:p>
          <a:p>
            <a:pPr>
              <a:defRPr sz="3600"/>
            </a:pPr>
            <a:r>
              <a:t>VLAN 20 VOICE: IP-телефоны, сеть 192.168.20.0/24, шлюз HSRP 192.168.20.1</a:t>
            </a:r>
          </a:p>
          <a:p>
            <a:pPr>
              <a:defRPr sz="3600"/>
            </a:pPr>
            <a:r>
              <a:t>VLAN 30 SERVERS: серверы, сеть 192.168.30.0/24, шлюз HSRP 192.168.30.1</a:t>
            </a:r>
          </a:p>
          <a:p>
            <a:pPr>
              <a:defRPr sz="3600"/>
            </a:pPr>
            <a:r>
              <a:t>VLAN 40 WLAN: беспроводные клиенты, сеть 192.168.40.0/24, шлюз HSRP 192.168.40.1</a:t>
            </a:r>
          </a:p>
          <a:p>
            <a:pPr>
              <a:defRPr sz="3600"/>
            </a:pPr>
            <a:r>
              <a:t>VLAN 99 MGMT: сеть 192.168.99.0/24 для SVI управления SW-DIST и SW-ACC по SSH</a:t>
            </a:r>
          </a:p>
          <a:p>
            <a:pPr>
              <a:defRPr sz="3600"/>
            </a:pPr>
            <a:r>
              <a:t>VLAN 998 PARKING и VLAN 999 UNUSED_NATIVE используются для свободных портов и безопасной native VLAN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Служебные routed-стыки не смешиваются с VLAN-подсетями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Management VLAN использует отдельную подсеть 192.168.99.0/24 только для управления устройствами</a:t>
            </a:r>
          </a:p>
          <a:p>
            <a:pPr>
              <a:defRPr sz="3600"/>
            </a:pPr>
            <a:r>
              <a:t>Пользовательские VLAN 10, 20, 30 и 40 не должны содержать IP-адреса управления коммутаторов</a:t>
            </a:r>
          </a:p>
          <a:p>
            <a:pPr>
              <a:defRPr sz="3600"/>
            </a:pPr>
            <a:r>
              <a:t>Routed-линки между L3-коммутатором и firewall выносят в отдельные маленькие подсети</a:t>
            </a:r>
          </a:p>
          <a:p>
            <a:pPr>
              <a:defRPr sz="3600"/>
            </a:pPr>
            <a:r>
              <a:t>Пример routed-стыка: 10.0.0.0/30 или 172.16.0.0/30 для двух адресов point-to-point</a:t>
            </a:r>
          </a:p>
          <a:p>
            <a:pPr>
              <a:defRPr sz="3600"/>
            </a:pPr>
            <a:r>
              <a:t>Такое разделение упрощает диагностику и не смешивает пользователей, управление и внешние стыки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адресный план и таблица VLAN Enterprise-сети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A7CC0E-91A3-B57F-F888-D41CBE1BF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Настройку выполняют слоями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Базовый слой: hostname, SSHv2, Management VLAN, description и сохранение конфигурации</a:t>
            </a:r>
          </a:p>
          <a:p>
            <a:pPr>
              <a:defRPr sz="3600"/>
            </a:pPr>
            <a:r>
              <a:t>L2-слой: VLAN, access-порты, trunk, native VLAN, parking VLAN, EtherChannel и switchport nonegotiate</a:t>
            </a:r>
          </a:p>
          <a:p>
            <a:pPr>
              <a:defRPr sz="3600"/>
            </a:pPr>
            <a:r>
              <a:t>Защитный слой: Rapid PVST+, PortFast, BPDU Guard, DHCP Snooping и DAI</a:t>
            </a:r>
          </a:p>
          <a:p>
            <a:pPr>
              <a:defRPr sz="3600"/>
            </a:pPr>
            <a:r>
              <a:t>L3-слой: SVI, ip routing, routed uplink, default route и HSRP</a:t>
            </a:r>
          </a:p>
          <a:p>
            <a:pPr>
              <a:defRPr sz="3600"/>
            </a:pPr>
            <a:r>
              <a:t>Сервисный слой: WLC, WLAN, RADIUS и проверка беспроводных клиентов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Two-tier объединяет distribution и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Two-tier — двухуровневая модель сети с access-уровнем и объединенным distribution/core уровнем</a:t>
            </a:r>
          </a:p>
          <a:p>
            <a:pPr>
              <a:defRPr sz="3600"/>
            </a:pPr>
            <a:r>
              <a:t>Collapsed core — вариант, где функции ядра и распределения выполняет одна пара мощных L3-коммутаторов</a:t>
            </a:r>
          </a:p>
          <a:p>
            <a:pPr>
              <a:defRPr sz="3600"/>
            </a:pPr>
            <a:r>
              <a:t>Модель подходит для кампуса, колледжа, офиса или небольшой организации с умеренным числом зданий</a:t>
            </a:r>
          </a:p>
          <a:p>
            <a:pPr>
              <a:defRPr sz="3600"/>
            </a:pPr>
            <a:r>
              <a:t>Преимущество: меньше устройств, проще настройка, понятнее диагностика</a:t>
            </a:r>
          </a:p>
          <a:p>
            <a:pPr>
              <a:defRPr sz="3600"/>
            </a:pPr>
            <a:r>
              <a:t>Недостаток: пара distribution/core становится критичной точкой проектирования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Three-tier разделяет access, distribution и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Three-tier — трехуровневая модель: access, distribution и core</a:t>
            </a:r>
          </a:p>
          <a:p>
            <a:pPr>
              <a:defRPr sz="3600"/>
            </a:pPr>
            <a:r>
              <a:t>Core-уровень отвечает за быструю магистральную связность между блоками сети</a:t>
            </a:r>
          </a:p>
          <a:p>
            <a:pPr>
              <a:defRPr sz="3600"/>
            </a:pPr>
            <a:r>
              <a:t>Distribution-уровень агрегирует access-коммутаторы, применяет политики и маршрутизацию</a:t>
            </a:r>
          </a:p>
          <a:p>
            <a:pPr>
              <a:defRPr sz="3600"/>
            </a:pPr>
            <a:r>
              <a:t>Access-уровень подключает конечные устройства и применяет портовую безопасность</a:t>
            </a:r>
          </a:p>
          <a:p>
            <a:pPr>
              <a:defRPr sz="3600"/>
            </a:pPr>
            <a:r>
              <a:t>Модель уместна для больших кампусов, нескольких корпусов и большого числа пользователей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сравнение Two-tier collapsed core и Three-tier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43C107-607A-A782-0711-ECBA6C4A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выбирать two-tier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Сеть размещается в одном здании или небольшом кампусе</a:t>
            </a:r>
          </a:p>
          <a:p>
            <a:pPr>
              <a:defRPr sz="3600"/>
            </a:pPr>
            <a:r>
              <a:t>Количество access-коммутаторов умеренное и не требует отдельного core-слоя</a:t>
            </a:r>
          </a:p>
          <a:p>
            <a:pPr>
              <a:defRPr sz="3600"/>
            </a:pPr>
            <a:r>
              <a:t>Требуется понятная отказоустойчивость через пару L3-коммутаторов</a:t>
            </a:r>
          </a:p>
          <a:p>
            <a:pPr>
              <a:defRPr sz="3600"/>
            </a:pPr>
            <a:r>
              <a:t>Бюджет и сложность сопровождения важнее максимального масштабирования</a:t>
            </a:r>
          </a:p>
          <a:p>
            <a:pPr>
              <a:defRPr sz="3600"/>
            </a:pPr>
            <a:r>
              <a:t>Для учебного комплексного проекта two-tier дает достаточную сложность без перегруза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нужен three-tier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Есть несколько зданий, распределенных площадок или крупных сетевых блоков</a:t>
            </a:r>
          </a:p>
          <a:p>
            <a:pPr>
              <a:defRPr sz="3600"/>
            </a:pPr>
            <a:r>
              <a:t>Нужно отделить быстрый транспортный core от политик distribution-уровня</a:t>
            </a:r>
          </a:p>
          <a:p>
            <a:pPr>
              <a:defRPr sz="3600"/>
            </a:pPr>
            <a:r>
              <a:t>Сеть должна масштабироваться без постоянной перестройки существующих сегментов</a:t>
            </a:r>
          </a:p>
          <a:p>
            <a:pPr>
              <a:defRPr sz="3600"/>
            </a:pPr>
            <a:r>
              <a:t>Требуются независимые зоны отказа и четкое разделение ответственности уровней</a:t>
            </a:r>
          </a:p>
          <a:p>
            <a:pPr>
              <a:defRPr sz="3600"/>
            </a:pPr>
            <a:r>
              <a:t>Three-tier сложнее в настройке и документации, поэтому его вводят при реальной необходимости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Проектная ошибка: выбирать модель по красоте схемы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Архитектуру выбирают по требованиям, а не по количеству уровней на рисунке</a:t>
            </a:r>
          </a:p>
          <a:p>
            <a:pPr>
              <a:defRPr sz="3600"/>
            </a:pPr>
            <a:r>
              <a:t>Избыточная three-tier схема может усложнить небольшую сеть без практической пользы</a:t>
            </a:r>
          </a:p>
          <a:p>
            <a:pPr>
              <a:defRPr sz="3600"/>
            </a:pPr>
            <a:r>
              <a:t>Слишком простая flat-сеть может стать опасной при росте VLAN, пользователей и сервисов</a:t>
            </a:r>
          </a:p>
          <a:p>
            <a:pPr>
              <a:defRPr sz="3600"/>
            </a:pPr>
            <a:r>
              <a:t>Правильная модель должна облегчать масштабирование, отказоустойчивость и диагностику</a:t>
            </a:r>
          </a:p>
          <a:p>
            <a:pPr>
              <a:defRPr sz="3600"/>
            </a:pPr>
            <a:r>
              <a:t>Выбор модели обязательно отражается в документации и защите проекта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Зоны инфраструктуры разделяют назначение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Зона ИТ-инфраструктуры — логическая область сети с определенной ролью и политикой доступа</a:t>
            </a:r>
          </a:p>
          <a:p>
            <a:pPr>
              <a:defRPr sz="3600"/>
            </a:pPr>
            <a:r>
              <a:t>LAN (Local Area Network) обслуживает внутренние рабочие места, серверы и беспроводных клиентов</a:t>
            </a:r>
          </a:p>
          <a:p>
            <a:pPr>
              <a:defRPr sz="3600"/>
            </a:pPr>
            <a:r>
              <a:t>WAN (Wide Area Network) связывает организацию с внешними сетями, филиалами или провайдером</a:t>
            </a:r>
          </a:p>
          <a:p>
            <a:pPr>
              <a:defRPr sz="3600"/>
            </a:pPr>
            <a:r>
              <a:t>DMZ (Demilitarized Zone) — отдельная зона для сервисов, доступных из менее доверенных сетей</a:t>
            </a:r>
          </a:p>
          <a:p>
            <a:pPr>
              <a:defRPr sz="3600"/>
            </a:pPr>
            <a:r>
              <a:t>Зоны помогают объяснить, какой трафик разрешен, где стоит firewall и что нужно защищать сильнее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LAN включает несколько внутренних сегментов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Пользовательские VLAN обслуживают рабочие станции и мобильные устройства</a:t>
            </a:r>
          </a:p>
          <a:p>
            <a:pPr>
              <a:defRPr sz="3600"/>
            </a:pPr>
            <a:r>
              <a:t>Серверная VLAN содержит внутренние сервисы, например DNS, DHCP, файловые и RADIUS-серверы</a:t>
            </a:r>
          </a:p>
          <a:p>
            <a:pPr>
              <a:defRPr sz="3600"/>
            </a:pPr>
            <a:r>
              <a:t>Management VLAN содержит адреса управления коммутаторов, WLC и сетевых устройств</a:t>
            </a:r>
          </a:p>
          <a:p>
            <a:pPr>
              <a:defRPr sz="3600"/>
            </a:pPr>
            <a:r>
              <a:t>Voice VLAN обслуживает IP-телефонию и требует PoE и приоритизации</a:t>
            </a:r>
          </a:p>
          <a:p>
            <a:pPr>
              <a:defRPr sz="3600"/>
            </a:pPr>
            <a:r>
              <a:t>WLAN VLAN подключает беспроводных клиентов через WLC и точки доступа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WAN и DMZ требуют отдельного отношения к безопасности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WAN-стык обычно ведет к провайдеру, филиалу или внешнему маршрутизатору</a:t>
            </a:r>
          </a:p>
          <a:p>
            <a:pPr>
              <a:defRPr sz="3600"/>
            </a:pPr>
            <a:r>
              <a:t>Firewall контролирует трафик между LAN, WAN и DMZ по правилам доступа</a:t>
            </a:r>
          </a:p>
          <a:p>
            <a:pPr>
              <a:defRPr sz="3600"/>
            </a:pPr>
            <a:r>
              <a:t>DMZ размещает сервисы, которые должны быть доступны извне, но не должны открывать внутреннюю LAN</a:t>
            </a:r>
          </a:p>
          <a:p>
            <a:pPr>
              <a:defRPr sz="3600"/>
            </a:pPr>
            <a:r>
              <a:t>Например, внешний веб-сервер лучше размещать в DMZ, а не в пользовательской VLAN</a:t>
            </a:r>
          </a:p>
          <a:p>
            <a:pPr>
              <a:defRPr sz="3600"/>
            </a:pPr>
            <a:r>
              <a:t>В этой РО DMZ рассматривается архитектурно, без глубокой настройки firewall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зоны LAN, WAN и DMZ в сети организации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A9752C-24BA-CAB9-7D61-2A777C89A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Пограничный routed uplink связывает LAN с внешним устройством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L3-коммутаторе порт к firewall можно настроить как routed port</a:t>
            </a:r>
          </a:p>
          <a:p>
            <a:pPr>
              <a:defRPr sz="3600"/>
            </a:pPr>
            <a:r>
              <a:t>Пример: interface gigabitEthernet1/0/48, no switchport, ip address 192.168.100.1 255.255.255.252</a:t>
            </a:r>
          </a:p>
          <a:p>
            <a:pPr>
              <a:defRPr sz="3600"/>
            </a:pPr>
            <a:r>
              <a:t>На firewall или router соседний адрес может быть 192.168.100.2/30</a:t>
            </a:r>
          </a:p>
          <a:p>
            <a:pPr>
              <a:defRPr sz="3600"/>
            </a:pPr>
            <a:r>
              <a:t>Команда ip route 0.0.0.0 0.0.0.0 192.168.100.2 задает выход из LAN</a:t>
            </a:r>
          </a:p>
          <a:p>
            <a:pPr>
              <a:defRPr sz="3600"/>
            </a:pPr>
            <a:r>
              <a:t>Результат проверяется ping до соседнего адреса и show ip route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Документация делает сеть сопровождаемой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Сеть считается готовой не после первого успешного ping, а после проверки и документирования</a:t>
            </a:r>
          </a:p>
          <a:p>
            <a:pPr>
              <a:defRPr sz="3600"/>
            </a:pPr>
            <a:r>
              <a:t>Документация позволяет другому администратору понять логику сети без автора конфигурации</a:t>
            </a:r>
          </a:p>
          <a:p>
            <a:pPr>
              <a:defRPr sz="3600"/>
            </a:pPr>
            <a:r>
              <a:t>Минимальный комплект: логическая схема, физическая схема, таблица VLAN, адресный план и кабельный журнал</a:t>
            </a:r>
          </a:p>
          <a:p>
            <a:pPr>
              <a:defRPr sz="3600"/>
            </a:pPr>
            <a:r>
              <a:t>Отдельно фиксируют команды проверки, учетные данные управления и список резервных сценариев</a:t>
            </a:r>
          </a:p>
          <a:p>
            <a:pPr>
              <a:defRPr sz="3600"/>
            </a:pPr>
            <a:r>
              <a:t>В курсовой и лабораторной работе документация является частью результата, а не приложением по желанию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Кабельный журнал связывает физику и конфигурацию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журнале указывают шкаф, патч-панель, порт патч-панели и порт коммутатора</a:t>
            </a:r>
          </a:p>
          <a:p>
            <a:pPr>
              <a:defRPr sz="3600"/>
            </a:pPr>
            <a:r>
              <a:t>Для uplink фиксируют оба конца: устройство, интерфейс, тип кабеля и назначение</a:t>
            </a:r>
          </a:p>
          <a:p>
            <a:pPr>
              <a:defRPr sz="3600"/>
            </a:pPr>
            <a:r>
              <a:t>Для EtherChannel фиксируют номер Port-channel и все физические интерфейсы Bundle</a:t>
            </a:r>
          </a:p>
          <a:p>
            <a:pPr>
              <a:defRPr sz="3600"/>
            </a:pPr>
            <a:r>
              <a:t>Для PoE-портов фиксируют подключенное устройство и потребляемую мощность</a:t>
            </a:r>
          </a:p>
          <a:p>
            <a:pPr>
              <a:defRPr sz="3600"/>
            </a:pPr>
            <a:r>
              <a:t>Кабельный журнал особенно важен при диагностике L1 и L2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Адресный план должен быть однозначным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каждой VLAN указывают подсеть, маску, virtual gateway, DHCP-пул и исключения</a:t>
            </a:r>
          </a:p>
          <a:p>
            <a:pPr>
              <a:defRPr sz="3600"/>
            </a:pPr>
            <a:r>
              <a:t>Для management-сети указывают IP-адрес каждого коммутатора, WLC и сетевого устройства</a:t>
            </a:r>
          </a:p>
          <a:p>
            <a:pPr>
              <a:defRPr sz="3600"/>
            </a:pPr>
            <a:r>
              <a:t>Для point-to-point стыков указывают маленькие служебные подсети, например /30</a:t>
            </a:r>
          </a:p>
          <a:p>
            <a:pPr>
              <a:defRPr sz="3600"/>
            </a:pPr>
            <a:r>
              <a:t>Для серверов фиксируют статические адреса и DNS-имена, если они используются</a:t>
            </a:r>
          </a:p>
          <a:p>
            <a:pPr>
              <a:defRPr sz="3600"/>
            </a:pPr>
            <a:r>
              <a:t>Адресный план должен совпадать с конфигурацией, а не жить отдельной красивой таблицей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распределения портов показывает роль каждого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Access-порт: устройство, VLAN, voice VLAN, PortFast, BPDU Guard и PoE</a:t>
            </a:r>
          </a:p>
          <a:p>
            <a:pPr>
              <a:defRPr sz="3600"/>
            </a:pPr>
            <a:r>
              <a:t>Trunk-порт: сосед, allowed VLAN, native VLAN и состояние DTP</a:t>
            </a:r>
          </a:p>
          <a:p>
            <a:pPr>
              <a:defRPr sz="3600"/>
            </a:pPr>
            <a:r>
              <a:t>EtherChannel: номер группы, режим LACP, физические порты и логический Port-channel</a:t>
            </a:r>
          </a:p>
          <a:p>
            <a:pPr>
              <a:defRPr sz="3600"/>
            </a:pPr>
            <a:r>
              <a:t>Routed port: IP-адрес, маска, соседнее устройство и назначение маршрута</a:t>
            </a:r>
          </a:p>
          <a:p>
            <a:pPr>
              <a:defRPr sz="3600"/>
            </a:pPr>
            <a:r>
              <a:t>Свободный порт: parking VLAN и shutdown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комплект технической документации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BF7FB0-A587-D02E-4685-A92EEFD8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физики и соседей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interfaces status показывает состояние портов, VLAN, speed и duplex</a:t>
            </a:r>
          </a:p>
          <a:p>
            <a:pPr>
              <a:defRPr sz="3600"/>
            </a:pPr>
            <a:r>
              <a:t>show cdp neighbors detail или show lldp neighbors detail подтверждает соседние устройства</a:t>
            </a:r>
          </a:p>
          <a:p>
            <a:pPr>
              <a:defRPr sz="3600"/>
            </a:pPr>
            <a:r>
              <a:t>show interfaces counters errors помогает найти ошибки кабеля, duplex или физического уровня</a:t>
            </a:r>
          </a:p>
          <a:p>
            <a:pPr>
              <a:defRPr sz="3600"/>
            </a:pPr>
            <a:r>
              <a:t>show power inline проверяет питание IP-телефонов и точек доступа</a:t>
            </a:r>
          </a:p>
          <a:p>
            <a:pPr>
              <a:defRPr sz="3600"/>
            </a:pPr>
            <a:r>
              <a:t>Эти команды закрывают первый слой итоговой приемки сети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VLAN, trunk и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vlan brief подтверждает наличие VLAN и назначение access-портов</a:t>
            </a:r>
          </a:p>
          <a:p>
            <a:pPr>
              <a:defRPr sz="3600"/>
            </a:pPr>
            <a:r>
              <a:t>show interfaces trunk показывает trunk, native VLAN и allowed VLAN</a:t>
            </a:r>
          </a:p>
          <a:p>
            <a:pPr>
              <a:defRPr sz="3600"/>
            </a:pPr>
            <a:r>
              <a:t>show etherchannel summary показывает состояние Port-channel и физических линков</a:t>
            </a:r>
          </a:p>
          <a:p>
            <a:pPr>
              <a:defRPr sz="3600"/>
            </a:pPr>
            <a:r>
              <a:t>show interfaces port-channel1 показывает состояние логического агрегированного канала</a:t>
            </a:r>
          </a:p>
          <a:p>
            <a:pPr>
              <a:defRPr sz="3600"/>
            </a:pPr>
            <a:r>
              <a:t>После этих проверок можно переходить к STP и L3-связности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STP и L2-security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spanning-tree vlan 10 показывает Root Bridge, роли портов и заблокированные направления</a:t>
            </a:r>
          </a:p>
          <a:p>
            <a:pPr>
              <a:defRPr sz="3600"/>
            </a:pPr>
            <a:r>
              <a:t>show spanning-tree summary подтверждает режим Rapid PVST+</a:t>
            </a:r>
          </a:p>
          <a:p>
            <a:pPr>
              <a:defRPr sz="3600"/>
            </a:pPr>
            <a:r>
              <a:t>show interfaces status помогает увидеть err-disabled после срабатывания защиты</a:t>
            </a:r>
          </a:p>
          <a:p>
            <a:pPr>
              <a:defRPr sz="3600"/>
            </a:pPr>
            <a:r>
              <a:t>show ip dhcp snooping binding проверяет таблицу доверенных DHCP-соответствий</a:t>
            </a:r>
          </a:p>
          <a:p>
            <a:pPr>
              <a:defRPr sz="3600"/>
            </a:pPr>
            <a:r>
              <a:t>show ip arp inspection statistics показывает срабатывания Dynamic ARP Inspection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L3, HSRP и WLAN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interface brief показывает SVI, routed ports и их состояние</a:t>
            </a:r>
          </a:p>
          <a:p>
            <a:pPr>
              <a:defRPr sz="3600"/>
            </a:pPr>
            <a:r>
              <a:t>show ip route показывает connected-сети VLAN и маршрут по умолчанию</a:t>
            </a:r>
          </a:p>
          <a:p>
            <a:pPr>
              <a:defRPr sz="3600"/>
            </a:pPr>
            <a:r>
              <a:t>show standby brief показывает Active и Standby для HSRP-групп</a:t>
            </a:r>
          </a:p>
          <a:p>
            <a:pPr>
              <a:defRPr sz="3600"/>
            </a:pPr>
            <a:r>
              <a:t>show ap summary на WLC показывает зарегистрированные точки доступа</a:t>
            </a:r>
          </a:p>
          <a:p>
            <a:pPr>
              <a:defRPr sz="3600"/>
            </a:pPr>
            <a:r>
              <a:t>show client summary на WLC показывает подключенных беспроводных клиентов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порядок приемочной проверки Enterprise-сети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EFB4E0-6DA7-C0EE-4755-73009DED1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отказоустойчивости должна быть управляемой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Отключение одного физического линка EtherChannel не должно разрушать магистраль</a:t>
            </a:r>
          </a:p>
          <a:p>
            <a:pPr>
              <a:defRPr sz="3600"/>
            </a:pPr>
            <a:r>
              <a:t>Отказ access-uplink должен оставлять альтернативный путь через STP, если топология это предусматривает</a:t>
            </a:r>
          </a:p>
          <a:p>
            <a:pPr>
              <a:defRPr sz="3600"/>
            </a:pPr>
            <a:r>
              <a:t>Отказ активного HSRP-шлюза должен передать роль Standby-устройству</a:t>
            </a:r>
          </a:p>
          <a:p>
            <a:pPr>
              <a:defRPr sz="3600"/>
            </a:pPr>
            <a:r>
              <a:t>Отказ uplink у Active-шлюза должен снижать приоритет через tracking</a:t>
            </a:r>
          </a:p>
          <a:p>
            <a:pPr>
              <a:defRPr sz="3600"/>
            </a:pPr>
            <a:r>
              <a:t>Каждый тест фиксируется: действие, ожидаемый результат, фактический результат и команда проверки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сборки итоговой лабораторной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Создать устройства, связи и базовую схему адресации до начала настройки</a:t>
            </a:r>
          </a:p>
          <a:p>
            <a:pPr>
              <a:defRPr sz="3600"/>
            </a:pPr>
            <a:r>
              <a:t>Настроить базовое управление, hostname, SSH, Management VLAN и описания портов</a:t>
            </a:r>
          </a:p>
          <a:p>
            <a:pPr>
              <a:defRPr sz="3600"/>
            </a:pPr>
            <a:r>
              <a:t>Создать VLAN, access-порты, trunk и EtherChannel между уровнями</a:t>
            </a:r>
          </a:p>
          <a:p>
            <a:pPr>
              <a:defRPr sz="3600"/>
            </a:pPr>
            <a:r>
              <a:t>Включить Rapid PVST+, назначить root primary/secondary и применить защиту клиентских портов</a:t>
            </a:r>
          </a:p>
          <a:p>
            <a:pPr>
              <a:defRPr sz="3600"/>
            </a:pPr>
            <a:r>
              <a:t>Настроить SVI, HSRP, WLAN, L2-security и выполнить итоговую проверку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Критерии готовности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Пользователи каждой VLAN получают правильную L2-изоляцию и доступ к разрешенным сетям</a:t>
            </a:r>
          </a:p>
          <a:p>
            <a:pPr>
              <a:defRPr sz="3600"/>
            </a:pPr>
            <a:r>
              <a:t>Магистрали работают через trunk и EtherChannel с ограниченным списком VLAN</a:t>
            </a:r>
          </a:p>
          <a:p>
            <a:pPr>
              <a:defRPr sz="3600"/>
            </a:pPr>
            <a:r>
              <a:t>STP-root, HSRP Active и физическая топология согласованы по VLAN</a:t>
            </a:r>
          </a:p>
          <a:p>
            <a:pPr>
              <a:defRPr sz="3600"/>
            </a:pPr>
            <a:r>
              <a:t>WLAN-клиенты подключаются к нужному SSID и попадают в правильную VLAN</a:t>
            </a:r>
          </a:p>
          <a:p>
            <a:pPr>
              <a:defRPr sz="3600"/>
            </a:pPr>
            <a:r>
              <a:t>Документация позволяет восстановить схему, адресацию и назначение портов без автора проекта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комплексного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Адресный план не совпадает с фактическими IP-адресами SVI и клиентов</a:t>
            </a:r>
          </a:p>
          <a:p>
            <a:pPr>
              <a:defRPr sz="3600"/>
            </a:pPr>
            <a:r>
              <a:t>Allowed VLAN на trunk забыта для WLAN или серверной VLAN</a:t>
            </a:r>
          </a:p>
          <a:p>
            <a:pPr>
              <a:defRPr sz="3600"/>
            </a:pPr>
            <a:r>
              <a:t>HSRP virtual IP не указан клиентам как default gateway</a:t>
            </a:r>
          </a:p>
          <a:p>
            <a:pPr>
              <a:defRPr sz="3600"/>
            </a:pPr>
            <a:r>
              <a:t>STP-root выбран случайно и не совпадает с проектной ролью distribution-коммутаторов</a:t>
            </a:r>
          </a:p>
          <a:p>
            <a:pPr>
              <a:defRPr sz="3600"/>
            </a:pPr>
            <a:r>
              <a:t>Документация описывает желаемую сеть, но не отражает итоговую конфигурацию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Enterprise-сеть проектируется как система взаимосвязанных уровней, а не набор отдельных настроек</a:t>
            </a:r>
          </a:p>
          <a:p>
            <a:pPr>
              <a:defRPr sz="3600"/>
            </a:pPr>
            <a:r>
              <a:t>Two-tier collapsed core подходит для учебного и небольшого корпоративного проекта, three-tier — для большего масштаба</a:t>
            </a:r>
          </a:p>
          <a:p>
            <a:pPr>
              <a:defRPr sz="3600"/>
            </a:pPr>
            <a:r>
              <a:t>LAN, WAN и DMZ помогают разделить внутренний, внешний и пограничный трафик</a:t>
            </a:r>
          </a:p>
          <a:p>
            <a:pPr>
              <a:defRPr sz="3600"/>
            </a:pPr>
            <a:r>
              <a:t>VLAN, trunk, EtherChannel, STP, L2-security, SVI, HSRP и WLAN должны быть согласованы между собой</a:t>
            </a:r>
          </a:p>
          <a:p>
            <a:pPr>
              <a:defRPr sz="3600"/>
            </a:pPr>
            <a:r>
              <a:t>Документация и приемочная проверка являются обязательной частью профессиональной работы администратора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Какие технологии из РО 2.1 относятся к access-уровню, а какие к distribution-уровню?</a:t>
            </a:r>
          </a:p>
          <a:p>
            <a:pPr>
              <a:defRPr sz="3600"/>
            </a:pPr>
            <a:r>
              <a:t>Чем two-tier collapsed core отличается от three-tier архитектуры?</a:t>
            </a:r>
          </a:p>
          <a:p>
            <a:pPr>
              <a:defRPr sz="3600"/>
            </a:pPr>
            <a:r>
              <a:t>Почему STP-root желательно согласовывать с HSRP Active для одной VLAN?</a:t>
            </a:r>
          </a:p>
          <a:p>
            <a:pPr>
              <a:defRPr sz="3600"/>
            </a:pPr>
            <a:r>
              <a:t>Какие данные обязательно включить в таблицу VLAN и адресный план?</a:t>
            </a:r>
          </a:p>
          <a:p>
            <a:pPr>
              <a:defRPr sz="3600"/>
            </a:pPr>
            <a:r>
              <a:t>Какие команды использовать для приемки EtherChannel и trunk?</a:t>
            </a:r>
          </a:p>
          <a:p>
            <a:pPr>
              <a:defRPr sz="3600"/>
            </a:pPr>
            <a:r>
              <a:t>Как отличить проблему L2 от проблемы gateway или маршрутизации?</a:t>
            </a:r>
          </a:p>
          <a:p>
            <a:pPr>
              <a:defRPr sz="3600"/>
            </a:pPr>
            <a:r>
              <a:t>Почему документация считается частью результата сетевого проекта?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2014</Words>
  <Application>Microsoft Office PowerPoint</Application>
  <PresentationFormat>Широкоэкранный</PresentationFormat>
  <Paragraphs>200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2026-07-26T09:04:44Z</dcterms:modified>
  <cp:category/>
</cp:coreProperties>
</file>