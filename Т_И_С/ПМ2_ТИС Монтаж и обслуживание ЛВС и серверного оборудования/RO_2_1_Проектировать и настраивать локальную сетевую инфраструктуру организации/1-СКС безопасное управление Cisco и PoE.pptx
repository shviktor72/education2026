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1. Структура СКС и безопасное управление сетевыми устройствами Cisco. Технология PoE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из каких физических элементов состоит локальная сеть организации</a:t>
            </a:r>
          </a:p>
          <a:p>
            <a:pPr>
              <a:defRPr sz="3600"/>
            </a:pPr>
            <a:r>
              <a:t>Объяснять разницу между in-band и out-of-band управлением сетевыми устройствами</a:t>
            </a:r>
          </a:p>
          <a:p>
            <a:pPr>
              <a:defRPr sz="3600"/>
            </a:pPr>
            <a:r>
              <a:t>Настраивать базовый безопасный доступ к Cisco IOS через консоль и SSHv2</a:t>
            </a:r>
          </a:p>
          <a:p>
            <a:pPr>
              <a:defRPr sz="3600"/>
            </a:pPr>
            <a:r>
              <a:t>Проверять состояние PoE-питания и оценивать запас мощности коммутатора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Компоненты СКС: телекоммуникационный шкаф, патч-панель, розетки, медные и оптические линии связи</a:t>
            </a:r>
          </a:p>
          <a:p>
            <a:pPr>
              <a:defRPr sz="3600"/>
            </a:pPr>
            <a:r>
              <a:t>2. Архитектура управления сетевой инфраструктурой: In-band и Out-of-band управление</a:t>
            </a:r>
          </a:p>
          <a:p>
            <a:pPr>
              <a:defRPr sz="3600"/>
            </a:pPr>
            <a:r>
              <a:t>3. Назначение изолированной сети и интерфейса управления: Management VLAN</a:t>
            </a:r>
          </a:p>
          <a:p>
            <a:pPr>
              <a:defRPr sz="3600"/>
            </a:pPr>
            <a:r>
              <a:t>4. Безопасное удаленное администрирование по SSHv2 и защита линий CLI</a:t>
            </a:r>
          </a:p>
          <a:p>
            <a:pPr>
              <a:defRPr sz="3600"/>
            </a:pPr>
            <a:r>
              <a:t>5. Технология PoE: стандарты 802.3af/at/bt и питание оконечных устройств</a:t>
            </a:r>
          </a:p>
          <a:p>
            <a:pPr>
              <a:defRPr sz="3600"/>
            </a:pPr>
            <a:r>
              <a:t>6. Понятия PSE и PD</a:t>
            </a:r>
          </a:p>
          <a:p>
            <a:pPr>
              <a:defRPr sz="3600"/>
            </a:pPr>
            <a:r>
              <a:t>7. Расчет бюджета мощности коммутатора PoE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СКС превращает отдельные кабели в управляемую инфраструктуру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СКС (структурированная кабельная система) — организованная система кабелей, розеток, патч-панелей и шкафов здания</a:t>
            </a:r>
          </a:p>
          <a:p>
            <a:pPr>
              <a:defRPr sz="3600"/>
            </a:pPr>
            <a:r>
              <a:t>Для администратора СКС важна не как набор проводов, а как документируемая основа сети</a:t>
            </a:r>
          </a:p>
          <a:p>
            <a:pPr>
              <a:defRPr sz="3600"/>
            </a:pPr>
            <a:r>
              <a:t>Хорошая СКС позволяет быстро понять, какой порт коммутатора связан с рабочим местом или устройством</a:t>
            </a:r>
          </a:p>
          <a:p>
            <a:pPr>
              <a:defRPr sz="3600"/>
            </a:pPr>
            <a:r>
              <a:t>Плохая маркировка кабелей превращает любую сетевую аварию в долгий ручной поиск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элементы СКС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Телекоммуникационный шкаф размещает коммутаторы, патч-панели, кабельные организаторы и питание</a:t>
            </a:r>
          </a:p>
          <a:p>
            <a:pPr>
              <a:defRPr sz="3600"/>
            </a:pPr>
            <a:r>
              <a:t>Патч-панель выводит горизонтальные кабельные линии в удобный ряд портов для коммутации</a:t>
            </a:r>
          </a:p>
          <a:p>
            <a:pPr>
              <a:defRPr sz="3600"/>
            </a:pPr>
            <a:r>
              <a:t>Информационная розетка соединяет рабочее место с портом патч-панели в шкафу</a:t>
            </a:r>
          </a:p>
          <a:p>
            <a:pPr>
              <a:defRPr sz="3600"/>
            </a:pPr>
            <a:r>
              <a:t>Патч-корд соединяет порт патч-панели с портом коммутатора или устройство с розеткой</a:t>
            </a:r>
          </a:p>
          <a:p>
            <a:pPr>
              <a:defRPr sz="3600"/>
            </a:pPr>
            <a:r>
              <a:t>Маркировка связывает номер розетки, порт патч-панели и порт коммутатора в единую запись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Медные и оптические линии связи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Витая пара UTP (Unshielded Twisted Pair) чаще используется для рабочих мест и PoE-устройств</a:t>
            </a:r>
          </a:p>
          <a:p>
            <a:pPr>
              <a:defRPr sz="3600"/>
            </a:pPr>
            <a:r>
              <a:t>Медная линия обычно ограничена длиной до 100 метров между активным оборудованием</a:t>
            </a:r>
          </a:p>
          <a:p>
            <a:pPr>
              <a:defRPr sz="3600"/>
            </a:pPr>
            <a:r>
              <a:t>Оптическое волокно применяется для магистралей между шкафами, этажами и зданиями</a:t>
            </a:r>
          </a:p>
          <a:p>
            <a:pPr>
              <a:defRPr sz="3600"/>
            </a:pPr>
            <a:r>
              <a:t>SFP (Small Form-factor Pluggable) — сменный модуль для подключения оптики или медного трансивера к коммутатору</a:t>
            </a:r>
          </a:p>
          <a:p>
            <a:pPr>
              <a:defRPr sz="3600"/>
            </a:pPr>
            <a:r>
              <a:t>Выбор среды зависит от расстояния, скорости, помех, бюджета и требований к отказоустойчивости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структура СКС небольшого офиса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C64E73-753F-6E6A-8A90-FB65BFC9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фиксируют в кабельной документации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Номер шкафа и патч-панели показывает физическое место подключения линии</a:t>
            </a:r>
          </a:p>
          <a:p>
            <a:pPr>
              <a:defRPr sz="3600"/>
            </a:pPr>
            <a:r>
              <a:t>Номер розетки помогает найти рабочее место или устройство на плане помещения</a:t>
            </a:r>
          </a:p>
          <a:p>
            <a:pPr>
              <a:defRPr sz="3600"/>
            </a:pPr>
            <a:r>
              <a:t>Порт коммутатора показывает активное сетевое подключение и его настройки</a:t>
            </a:r>
          </a:p>
          <a:p>
            <a:pPr>
              <a:defRPr sz="3600"/>
            </a:pPr>
            <a:r>
              <a:t>Назначение порта описывает, кто или что подключено: ПК, телефон, точка доступа, камера</a:t>
            </a:r>
          </a:p>
          <a:p>
            <a:pPr>
              <a:defRPr sz="3600"/>
            </a:pPr>
            <a:r>
              <a:t>Состояние линии помогает быстрее отличить проблему кабеля от ошибки конфигурации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Модель OSI помогает связать кабели, VLAN, IP и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Layer 1, физический уровень: кабель, патч-панель, розетка, оптика, питание PoE и состояние линка</a:t>
            </a:r>
          </a:p>
          <a:p>
            <a:pPr>
              <a:defRPr sz="3600"/>
            </a:pPr>
            <a:r>
              <a:t>Layer 2, канальный уровень: Ethernet, MAC-адреса, коммутация портов и VLAN</a:t>
            </a:r>
          </a:p>
          <a:p>
            <a:pPr>
              <a:defRPr sz="3600"/>
            </a:pPr>
            <a:r>
              <a:t>Layer 3, сетевой уровень: IP-адрес управления, маска, шлюз по умолчанию и маршрутизация ответов</a:t>
            </a:r>
          </a:p>
          <a:p>
            <a:pPr>
              <a:defRPr sz="3600"/>
            </a:pPr>
            <a:r>
              <a:t>Layer 7, прикладной уровень: SSH как сервис удаленного административного доступа</a:t>
            </a:r>
          </a:p>
          <a:p>
            <a:pPr>
              <a:defRPr sz="3600"/>
            </a:pPr>
            <a:r>
              <a:t>Эта карта помогает не смешивать физическую неисправность, ошибку VLAN и проблему удаленного входа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Управление сетью должно работать даже во время аварии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Управление сетевой инфраструктурой — доступ администратора к коммутаторам, маршрутизаторам и контроллерам</a:t>
            </a:r>
          </a:p>
          <a:p>
            <a:pPr>
              <a:defRPr sz="3600"/>
            </a:pPr>
            <a:r>
              <a:t>In-band management — управление через ту же сеть, по которой ходит обычный пользовательский трафик</a:t>
            </a:r>
          </a:p>
          <a:p>
            <a:pPr>
              <a:defRPr sz="3600"/>
            </a:pPr>
            <a:r>
              <a:t>Out-of-band management — управление через отдельный физический или логический канал, не зависящий от пользовательской сети</a:t>
            </a:r>
          </a:p>
          <a:p>
            <a:pPr>
              <a:defRPr sz="3600"/>
            </a:pPr>
            <a:r>
              <a:t>Выбор схемы управления влияет на то, сможет ли администратор попасть на устройство при сбое VLAN, маршрутизации или trunk-канала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In-band управление удобно, но зависит от рабочей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Администратор подключается к IP-адресу управления устройства из обычной корпоративной сети</a:t>
            </a:r>
          </a:p>
          <a:p>
            <a:pPr>
              <a:defRPr sz="3600"/>
            </a:pPr>
            <a:r>
              <a:t>Преимущество: не требуется отдельная кабельная сеть для администрирования</a:t>
            </a:r>
          </a:p>
          <a:p>
            <a:pPr>
              <a:defRPr sz="3600"/>
            </a:pPr>
            <a:r>
              <a:t>Недостаток: при ошибке маршрутизации, VLAN или ACL доступ к устройству может исчезнуть</a:t>
            </a:r>
          </a:p>
          <a:p>
            <a:pPr>
              <a:defRPr sz="3600"/>
            </a:pPr>
            <a:r>
              <a:t>In-band доступ допустим в учебной и небольшой сети, но должен быть изолирован от пользователей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Out-of-band управление используют для восстановления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Консольный порт обеспечивает прямой локальный доступ к CLI устройства</a:t>
            </a:r>
          </a:p>
          <a:p>
            <a:pPr>
              <a:defRPr sz="3600"/>
            </a:pPr>
            <a:r>
              <a:t>CLI (Command Line Interface) — командная строка сетевого устройства для настройки и диагностики</a:t>
            </a:r>
          </a:p>
          <a:p>
            <a:pPr>
              <a:defRPr sz="3600"/>
            </a:pPr>
            <a:r>
              <a:t>Отдельная management-сеть может соединять только административные порты оборудования</a:t>
            </a:r>
          </a:p>
          <a:p>
            <a:pPr>
              <a:defRPr sz="3600"/>
            </a:pPr>
            <a:r>
              <a:t>Out-of-band доступ особенно важен для ядра сети, удаленных площадок и критичных серверных помещений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in-band и out-of-band управление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A1E8BB-3686-6A76-BDA4-326965894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Management VLAN отделяет управление от пользовательского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(Virtual Local Area Network) — виртуальная локальная сеть, разделяющая один коммутатор на несколько логических сетей</a:t>
            </a:r>
          </a:p>
          <a:p>
            <a:pPr>
              <a:defRPr sz="3600"/>
            </a:pPr>
            <a:r>
              <a:t>Management VLAN — отдельная VLAN для IP-адресов управления коммутаторов и сетевых устройств</a:t>
            </a:r>
          </a:p>
          <a:p>
            <a:pPr>
              <a:defRPr sz="3600"/>
            </a:pPr>
            <a:r>
              <a:t>SVI (Switched Virtual Interface) — виртуальный интерфейс коммутатора, на который назначается IP-адрес VLAN</a:t>
            </a:r>
          </a:p>
          <a:p>
            <a:pPr>
              <a:defRPr sz="3600"/>
            </a:pPr>
            <a:r>
              <a:t>Администратор подключается к IP-адресу SVI, а не к отдельному физическому порту устройства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нельзя оставлять управление в пользовательской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Пользовательская сеть содержит рабочие станции, которые чаще подвержены ошибкам и заражению</a:t>
            </a:r>
          </a:p>
          <a:p>
            <a:pPr>
              <a:defRPr sz="3600"/>
            </a:pPr>
            <a:r>
              <a:t>Управляющий IP-адрес должен быть доступен только администраторам или сервисным узлам</a:t>
            </a:r>
          </a:p>
          <a:p>
            <a:pPr>
              <a:defRPr sz="3600"/>
            </a:pPr>
            <a:r>
              <a:t>Изоляция управления упрощает настройку ACL, журналирование и контроль доступа</a:t>
            </a:r>
          </a:p>
          <a:p>
            <a:pPr>
              <a:defRPr sz="3600"/>
            </a:pPr>
            <a:r>
              <a:t>Management VLAN не заменяет пароли и SSH, но уменьшает поверхность атаки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SVI для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vlan 99 создает VLAN управления, затем interface vlan 99 открывает ее SVI</a:t>
            </a:r>
          </a:p>
          <a:p>
            <a:pPr>
              <a:defRPr sz="3600"/>
            </a:pPr>
            <a:r>
              <a:t>Команда ip address 192.168.99.2 255.255.255.0 назначает коммутатору адрес управления</a:t>
            </a:r>
          </a:p>
          <a:p>
            <a:pPr>
              <a:defRPr sz="3600"/>
            </a:pPr>
            <a:r>
              <a:t>Команды no shutdown и exit включают SVI и возвращают администратора в глобальный режим</a:t>
            </a:r>
          </a:p>
          <a:p>
            <a:pPr>
              <a:defRPr sz="3600"/>
            </a:pPr>
            <a:r>
              <a:t>Команда ip default-gateway 192.168.99.1 задает шлюз для ответов администраторам из других подсетей</a:t>
            </a:r>
          </a:p>
          <a:p>
            <a:pPr>
              <a:defRPr sz="3600"/>
            </a:pPr>
            <a:r>
              <a:t>Минимальная последовательность: interface vlan 99, ip address 192.168.99.2 255.255.255.0, no shutdown, exit, ip default-gateway 192.168.99.1</a:t>
            </a:r>
          </a:p>
          <a:p>
            <a:pPr>
              <a:defRPr sz="3600"/>
            </a:pPr>
            <a:r>
              <a:t>Результат проверяется командой show ip interface brief: интерфейс Vlan99 должен быть up/up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SVI на L2-коммутаторе не делает его маршрутизатором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access-коммутаторе уровня L2 IP-адрес SVI нужен для управления самим устройством</a:t>
            </a:r>
          </a:p>
          <a:p>
            <a:pPr>
              <a:defRPr sz="3600"/>
            </a:pPr>
            <a:r>
              <a:t>Такой коммутатор не начинает маршрутизировать пользовательский трафик между VLAN</a:t>
            </a:r>
          </a:p>
          <a:p>
            <a:pPr>
              <a:defRPr sz="3600"/>
            </a:pPr>
            <a:r>
              <a:t>Команда ip default-gateway нужна именно самому коммутатору, чтобы отвечать за пределы management-подсети</a:t>
            </a:r>
          </a:p>
          <a:p>
            <a:pPr>
              <a:defRPr sz="3600"/>
            </a:pPr>
            <a:r>
              <a:t>Если администратор подключается из другой VLAN, ответные SSH-пакеты уходят через указанный gateway</a:t>
            </a:r>
          </a:p>
          <a:p>
            <a:pPr>
              <a:defRPr sz="3600"/>
            </a:pPr>
            <a:r>
              <a:t>Межвлановая маршрутизация будет изучаться отдельно на маршрутизаторе или L3-коммутаторе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Management VLAN для коммутаторов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6F9A22-5A25-A3FF-5B47-9D7DFBD6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Безопасное администрирование начинается с локального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Линия console используется для первичной настройки устройства через физическое подключение</a:t>
            </a:r>
          </a:p>
          <a:p>
            <a:pPr>
              <a:defRPr sz="3600"/>
            </a:pPr>
            <a:r>
              <a:t>Линии VTY (Virtual Teletype) принимают удаленные CLI-сеансы Telnet или SSH</a:t>
            </a:r>
          </a:p>
          <a:p>
            <a:pPr>
              <a:defRPr sz="3600"/>
            </a:pPr>
            <a:r>
              <a:t>Telnet передает данные открытым текстом, поэтому для администрирования используется SSH</a:t>
            </a:r>
          </a:p>
          <a:p>
            <a:pPr>
              <a:defRPr sz="3600"/>
            </a:pPr>
            <a:r>
              <a:t>SSH (Secure Shell) — защищенный протокол удаленного доступа с шифрованием и проверкой пользователя</a:t>
            </a:r>
          </a:p>
          <a:p>
            <a:pPr>
              <a:defRPr sz="3600"/>
            </a:pPr>
            <a:r>
              <a:t>SSHv2 — актуальная версия SSH, которую следует включать вместо устаревшей версии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идентичность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hostname SW-ACC-01 задает понятное имя коммутатора в приглашении CLI</a:t>
            </a:r>
          </a:p>
          <a:p>
            <a:pPr>
              <a:defRPr sz="3600"/>
            </a:pPr>
            <a:r>
              <a:t>Команда no ip domain-lookup отключает попытки DNS-поиска при ошибочном вводе команды</a:t>
            </a:r>
          </a:p>
          <a:p>
            <a:pPr>
              <a:defRPr sz="3600"/>
            </a:pPr>
            <a:r>
              <a:t>Команда banner motd #Authorized access only# показывает предупреждение при входе</a:t>
            </a:r>
          </a:p>
          <a:p>
            <a:pPr>
              <a:defRPr sz="3600"/>
            </a:pPr>
            <a:r>
              <a:t>Результат виден сразу в CLI: имя устройства меняется, а случайная опечатка не подвешивает консоль</a:t>
            </a:r>
          </a:p>
          <a:p>
            <a:pPr>
              <a:defRPr sz="3600"/>
            </a:pPr>
            <a:r>
              <a:t>Эти настройки не защищают сеть сами по себе, но делают администрирование предсказуемым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Защита привилегированного режима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Привилегированный режим Cisco IOS открывает команды просмотра полной конфигурации и изменения устройства</a:t>
            </a:r>
          </a:p>
          <a:p>
            <a:pPr>
              <a:defRPr sz="3600"/>
            </a:pPr>
            <a:r>
              <a:t>Команда enable secret задает хэшированный пароль для перехода в привилегированный режим</a:t>
            </a:r>
          </a:p>
          <a:p>
            <a:pPr>
              <a:defRPr sz="3600"/>
            </a:pPr>
            <a:r>
              <a:t>Пример: enable secret S3cure-Admin-2026</a:t>
            </a:r>
          </a:p>
          <a:p>
            <a:pPr>
              <a:defRPr sz="3600"/>
            </a:pPr>
            <a:r>
              <a:t>Команда service password-encryption скрывает простые пароли в конфигурации обратимой обфускацией</a:t>
            </a:r>
          </a:p>
          <a:p>
            <a:pPr>
              <a:defRPr sz="3600"/>
            </a:pPr>
            <a:r>
              <a:t>Важно: service password-encryption не является стойкой криптографической защитой и не заменяет enable secret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Подготовка SSH на Cisco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генерации ключей SSH устройству нужно имя хоста и доменное имя</a:t>
            </a:r>
          </a:p>
          <a:p>
            <a:pPr>
              <a:defRPr sz="3600"/>
            </a:pPr>
            <a:r>
              <a:t>Команда ip domain-name company.test задает доменное имя для формирования RSA-ключей</a:t>
            </a:r>
          </a:p>
          <a:p>
            <a:pPr>
              <a:defRPr sz="3600"/>
            </a:pPr>
            <a:r>
              <a:t>Команда crypto key generate rsa запускает генерацию RSA-ключей; в диалоге укажите длину 2048</a:t>
            </a:r>
          </a:p>
          <a:p>
            <a:pPr>
              <a:defRPr sz="3600"/>
            </a:pPr>
            <a:r>
              <a:t>Если IOS поддерживает ввод в одну строку, допустим вариант crypto key generate rsa modulus 2048</a:t>
            </a:r>
          </a:p>
          <a:p>
            <a:pPr>
              <a:defRPr sz="3600"/>
            </a:pPr>
            <a:r>
              <a:t>Команда ip ssh version 2 принудительно включает SSHv2</a:t>
            </a:r>
          </a:p>
          <a:p>
            <a:pPr>
              <a:defRPr sz="3600"/>
            </a:pPr>
            <a:r>
              <a:t>Результат проверяется командой show ip ssh: в выводе должна быть строка SSH Enabled - version 2.0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учетная запись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Локальная учетная запись нужна, если на первом этапе еще нет AAA-сервера</a:t>
            </a:r>
          </a:p>
          <a:p>
            <a:pPr>
              <a:defRPr sz="3600"/>
            </a:pPr>
            <a:r>
              <a:t>AAA (Authentication, Authorization, Accounting) — централизованная проверка пользователей, прав и действий</a:t>
            </a:r>
          </a:p>
          <a:p>
            <a:pPr>
              <a:defRPr sz="3600"/>
            </a:pPr>
            <a:r>
              <a:t>Команда username netadmin privilege 15 secret N3tAdmin-2026 создает администратора с максимальным уровнем прав</a:t>
            </a:r>
          </a:p>
          <a:p>
            <a:pPr>
              <a:defRPr sz="3600"/>
            </a:pPr>
            <a:r>
              <a:t>Privilege 15 в Cisco IOS соответствует полному административному доступу</a:t>
            </a:r>
          </a:p>
          <a:p>
            <a:pPr>
              <a:defRPr sz="3600"/>
            </a:pPr>
            <a:r>
              <a:t>Золотое правило: сначала создать пользователя и проверить его данные, потом применять login local на VTY</a:t>
            </a:r>
          </a:p>
          <a:p>
            <a:pPr>
              <a:defRPr sz="3600"/>
            </a:pPr>
            <a:r>
              <a:t>Если включить login local без рабочей учетной записи, удаленный SSH-вход будет заблокирован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Защита console и VTY-линий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line console 0 открывает настройку физической консольной линии</a:t>
            </a:r>
          </a:p>
          <a:p>
            <a:pPr>
              <a:defRPr sz="3600"/>
            </a:pPr>
            <a:r>
              <a:t>Команда logging synchronous не дает системным сообщениям разрывать вводимые команды в консоли</a:t>
            </a:r>
          </a:p>
          <a:p>
            <a:pPr>
              <a:defRPr sz="3600"/>
            </a:pPr>
            <a:r>
              <a:t>Команда exec-timeout 5 0 завершает неактивный сеанс через 5 минут</a:t>
            </a:r>
          </a:p>
          <a:p>
            <a:pPr>
              <a:defRPr sz="3600"/>
            </a:pPr>
            <a:r>
              <a:t>Команда line vty 0 4 открывает первые пять удаленных линий доступа</a:t>
            </a:r>
          </a:p>
          <a:p>
            <a:pPr>
              <a:defRPr sz="3600"/>
            </a:pPr>
            <a:r>
              <a:t>Команда login local включает проверку удаленного входа по локальной базе пользователей</a:t>
            </a:r>
          </a:p>
          <a:p>
            <a:pPr>
              <a:defRPr sz="3600"/>
            </a:pPr>
            <a:r>
              <a:t>Команда transport input ssh запрещает Telnet и оставляет только SSH-доступ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безопасного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ip ssh показывает версию SSH, таймаут и число попыток аутентификации</a:t>
            </a:r>
          </a:p>
          <a:p>
            <a:pPr>
              <a:defRPr sz="3600"/>
            </a:pPr>
            <a:r>
              <a:t>Пример: show ip ssh используется после генерации RSA-ключей и включения SSHv2</a:t>
            </a:r>
          </a:p>
          <a:p>
            <a:pPr>
              <a:defRPr sz="3600"/>
            </a:pPr>
            <a:r>
              <a:t>Команда show users показывает активные локальные и удаленные сеансы на устройстве</a:t>
            </a:r>
          </a:p>
          <a:p>
            <a:pPr>
              <a:defRPr sz="3600"/>
            </a:pPr>
            <a:r>
              <a:t>Пример: show users помогает увидеть, кто уже подключен к CLI</a:t>
            </a:r>
          </a:p>
          <a:p>
            <a:pPr>
              <a:defRPr sz="3600"/>
            </a:pPr>
            <a:r>
              <a:t>Команда copy running-config startup-config сохраняет текущую конфигурацию в NVRAM для переживания перезагрузки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безопасный доступ администратора к Cisco 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495032-2033-65B8-E511-2C90D7FD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PoE упрощает питание сетевых оконечных устройств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PoE (Power over Ethernet) — технология передачи электропитания по витой паре вместе с данными Ethernet</a:t>
            </a:r>
          </a:p>
          <a:p>
            <a:pPr>
              <a:defRPr sz="3600"/>
            </a:pPr>
            <a:r>
              <a:t>PoE удобно использовать для точек доступа, IP-телефонов, камер и датчиков</a:t>
            </a:r>
          </a:p>
          <a:p>
            <a:pPr>
              <a:defRPr sz="3600"/>
            </a:pPr>
            <a:r>
              <a:t>Устройство получает питание от коммутатора без отдельного блока питания рядом с рабочим местом</a:t>
            </a:r>
          </a:p>
          <a:p>
            <a:pPr>
              <a:defRPr sz="3600"/>
            </a:pPr>
            <a:r>
              <a:t>Администратор должен учитывать не только порты, но и общий запас мощности коммутатора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Стандарты PoE различаются доступной мощностью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IEEE 802.3af обычно называют PoE и используют для устройств с небольшой потребляемой мощностью</a:t>
            </a:r>
          </a:p>
          <a:p>
            <a:pPr>
              <a:defRPr sz="3600"/>
            </a:pPr>
            <a:r>
              <a:t>IEEE 802.3at обычно называют PoE+ и применяют для более мощных точек доступа и камер</a:t>
            </a:r>
          </a:p>
          <a:p>
            <a:pPr>
              <a:defRPr sz="3600"/>
            </a:pPr>
            <a:r>
              <a:t>IEEE 802.3bt расширяет питание для устройств с высокой нагрузкой, включая современные многорадиовые AP</a:t>
            </a:r>
          </a:p>
          <a:p>
            <a:pPr>
              <a:defRPr sz="3600"/>
            </a:pPr>
            <a:r>
              <a:t>AP (Access Point) — точка беспроводного доступа, подключающая Wi-Fi-клиентов к проводной сети</a:t>
            </a:r>
          </a:p>
          <a:p>
            <a:pPr>
              <a:defRPr sz="3600"/>
            </a:pPr>
            <a:r>
              <a:t>Если стандарт питания ниже требования устройства, оно может не включиться или работать в ограниченном режиме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передача данных и питания по витой паре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81440D-943F-EA5F-8259-B97605AF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PoE не отменяет обычную сетевую настройку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Порт с PoE одновременно является Ethernet-портом и источником питания</a:t>
            </a:r>
          </a:p>
          <a:p>
            <a:pPr>
              <a:defRPr sz="3600"/>
            </a:pPr>
            <a:r>
              <a:t>Для IP-телефона или точки доступа все равно задаются VLAN, trunk или access-режим</a:t>
            </a:r>
          </a:p>
          <a:p>
            <a:pPr>
              <a:defRPr sz="3600"/>
            </a:pPr>
            <a:r>
              <a:t>Питание включается автоматически, если коммутатор поддерживает PoE и распознал совместимое устройство</a:t>
            </a:r>
          </a:p>
          <a:p>
            <a:pPr>
              <a:defRPr sz="3600"/>
            </a:pPr>
            <a:r>
              <a:t>Команда show interfaces status помогает проверить, поднялся ли линк после подачи питания</a:t>
            </a:r>
          </a:p>
          <a:p>
            <a:pPr>
              <a:defRPr sz="3600"/>
            </a:pPr>
            <a:r>
              <a:t>Команда show power inline показывает, сколько мощности выделено и сколько осталось в бюджете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PSE и PD описывают роли в PoE-соединении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PSE (Power Sourcing Equipment) — устройство, которое подает питание по Ethernet-кабелю</a:t>
            </a:r>
          </a:p>
          <a:p>
            <a:pPr>
              <a:defRPr sz="3600"/>
            </a:pPr>
            <a:r>
              <a:t>В типичной локальной сети роль PSE выполняет PoE-коммутатор или PoE-инжектор</a:t>
            </a:r>
          </a:p>
          <a:p>
            <a:pPr>
              <a:defRPr sz="3600"/>
            </a:pPr>
            <a:r>
              <a:t>PD (Powered Device) — устройство, которое получает питание по Ethernet-кабелю</a:t>
            </a:r>
          </a:p>
          <a:p>
            <a:pPr>
              <a:defRPr sz="3600"/>
            </a:pPr>
            <a:r>
              <a:t>В роли PD могут быть IP-телефон, точка доступа, камера видеонаблюдения или тонкий клиент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PSE определяет PD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подачей полной мощности PSE проверяет, подключено ли совместимое PoE-устройство</a:t>
            </a:r>
          </a:p>
          <a:p>
            <a:pPr>
              <a:defRPr sz="3600"/>
            </a:pPr>
            <a:r>
              <a:t>После обнаружения устройство классифицируется по требуемой мощности</a:t>
            </a:r>
          </a:p>
          <a:p>
            <a:pPr>
              <a:defRPr sz="3600"/>
            </a:pPr>
            <a:r>
              <a:t>Коммутатор резервирует часть общего PoE-бюджета под конкретный порт</a:t>
            </a:r>
          </a:p>
          <a:p>
            <a:pPr>
              <a:defRPr sz="3600"/>
            </a:pPr>
            <a:r>
              <a:t>Если свободной мощности не хватает, часть устройств может остаться без питания</a:t>
            </a:r>
          </a:p>
          <a:p>
            <a:pPr>
              <a:defRPr sz="3600"/>
            </a:pPr>
            <a:r>
              <a:t>Поэтому проектирование PoE начинается до закупки коммутатора, а не после монтажа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роли PSE и PD в PoE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23A28F-DF05-39E9-91BD-3B5FA54AA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PoE Budget показывает, сколько устройств реально можно запитать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PoE Budget — общий запас мощности, который коммутатор может отдать подключенным PD-устройствам</a:t>
            </a:r>
          </a:p>
          <a:p>
            <a:pPr>
              <a:defRPr sz="3600"/>
            </a:pPr>
            <a:r>
              <a:t>Количество PoE-портов не равно количеству одновременно питаемых мощных устройств</a:t>
            </a:r>
          </a:p>
          <a:p>
            <a:pPr>
              <a:defRPr sz="3600"/>
            </a:pPr>
            <a:r>
              <a:t>Например, 24-портовый коммутатор с бюджетом 195 Вт не сможет выдать по 30 Вт на все 24 порта</a:t>
            </a:r>
          </a:p>
          <a:p>
            <a:pPr>
              <a:defRPr sz="3600"/>
            </a:pPr>
            <a:r>
              <a:t>Администратор сравнивает потребность устройств с бюджетом коммутатора и оставляет резерв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расчета PoE-бюджета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Пять точек доступа по 18 Вт требуют 90 Вт суммарной мощности</a:t>
            </a:r>
          </a:p>
          <a:p>
            <a:pPr>
              <a:defRPr sz="3600"/>
            </a:pPr>
            <a:r>
              <a:t>Шесть IP-телефонов по 7 Вт требуют еще 42 Вт</a:t>
            </a:r>
          </a:p>
          <a:p>
            <a:pPr>
              <a:defRPr sz="3600"/>
            </a:pPr>
            <a:r>
              <a:t>Итоговая расчетная нагрузка составляет 132 Вт без учета резерва</a:t>
            </a:r>
          </a:p>
          <a:p>
            <a:pPr>
              <a:defRPr sz="3600"/>
            </a:pPr>
            <a:r>
              <a:t>Если бюджет коммутатора 195 Вт, запас составляет 63 Вт</a:t>
            </a:r>
          </a:p>
          <a:p>
            <a:pPr>
              <a:defRPr sz="3600"/>
            </a:pPr>
            <a:r>
              <a:t>Запас нужен для пусковых режимов, замены моделей и будущего расширения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PoE на Cisco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power inline выводит общий бюджет, выделенную и доступную мощность</a:t>
            </a:r>
          </a:p>
          <a:p>
            <a:pPr>
              <a:defRPr sz="3600"/>
            </a:pPr>
            <a:r>
              <a:t>Пример: show power inline используется после подключения IP-телефона или точки доступа</a:t>
            </a:r>
          </a:p>
          <a:p>
            <a:pPr>
              <a:defRPr sz="3600"/>
            </a:pPr>
            <a:r>
              <a:t>Команда show power inline gigabitEthernet0/5 показывает PoE-состояние конкретного порта</a:t>
            </a:r>
          </a:p>
          <a:p>
            <a:pPr>
              <a:defRPr sz="3600"/>
            </a:pPr>
            <a:r>
              <a:t>Если в выводе порт имеет состояние denied, коммутатор не смог выделить питание</a:t>
            </a:r>
          </a:p>
          <a:p>
            <a:pPr>
              <a:defRPr sz="3600"/>
            </a:pPr>
            <a:r>
              <a:t>После устранения причины проверяют, что устройство получило питание и подняло Ethernet-линк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первой настройке коммутатора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SVI настроен, но VLAN не создана или нет активного порта в этой VLAN</a:t>
            </a:r>
          </a:p>
          <a:p>
            <a:pPr>
              <a:defRPr sz="3600"/>
            </a:pPr>
            <a:r>
              <a:t>На L2-коммутаторе не задан ip default-gateway, поэтому SSH из другой подсети не работает</a:t>
            </a:r>
          </a:p>
          <a:p>
            <a:pPr>
              <a:defRPr sz="3600"/>
            </a:pPr>
            <a:r>
              <a:t>RSA-ключи не генерируются, потому что не задано доменное имя устройства</a:t>
            </a:r>
          </a:p>
          <a:p>
            <a:pPr>
              <a:defRPr sz="3600"/>
            </a:pPr>
            <a:r>
              <a:t>VTY-линии разрешают Telnet, хотя должен быть разрешен только SSH</a:t>
            </a:r>
          </a:p>
          <a:p>
            <a:pPr>
              <a:defRPr sz="3600"/>
            </a:pPr>
            <a:r>
              <a:t>Конфигурация работает до перезагрузки, потому что не выполнено сохранение в startup-config</a:t>
            </a:r>
          </a:p>
          <a:p>
            <a:pPr>
              <a:defRPr sz="3600"/>
            </a:pPr>
            <a:r>
              <a:t>Свободные физические порты не выключены командой shutdown и остаются доступной точкой подключения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СКС связывает физические порты, кабельные линии и рабочие места в документируемую систему</a:t>
            </a:r>
          </a:p>
          <a:p>
            <a:pPr>
              <a:defRPr sz="3600"/>
            </a:pPr>
            <a:r>
              <a:t>Management VLAN и SSHv2 позволяют отделить административный доступ от пользовательского трафика</a:t>
            </a:r>
          </a:p>
          <a:p>
            <a:pPr>
              <a:defRPr sz="3600"/>
            </a:pPr>
            <a:r>
              <a:t>Безопасная базовая настройка включает hostname, enable secret, локального пользователя, SSH и защиту VTY</a:t>
            </a:r>
          </a:p>
          <a:p>
            <a:pPr>
              <a:defRPr sz="3600"/>
            </a:pPr>
            <a:r>
              <a:t>PoE требует проверки ролей PSE и PD, стандарта питания и общего бюджета мощности</a:t>
            </a:r>
          </a:p>
          <a:p>
            <a:pPr>
              <a:defRPr sz="3600"/>
            </a:pPr>
            <a:r>
              <a:t>Неиспользуемые порты уровня доступа нужно административно выключать, чтобы свободная розетка не стала входом в сеть</a:t>
            </a:r>
          </a:p>
          <a:p>
            <a:pPr>
              <a:defRPr sz="3600"/>
            </a:pPr>
            <a:r>
              <a:t>Любая настройка считается завершенной только после проверки командой show и сохранения конфигурации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Зачем в СКС нужна связь между номером розетки, патч-панелью и портом коммутатора?</a:t>
            </a:r>
          </a:p>
          <a:p>
            <a:pPr>
              <a:defRPr sz="3600"/>
            </a:pPr>
            <a:r>
              <a:t>Чем in-band управление отличается от out-of-band управления?</a:t>
            </a:r>
          </a:p>
          <a:p>
            <a:pPr>
              <a:defRPr sz="3600"/>
            </a:pPr>
            <a:r>
              <a:t>Почему управление коммутатором лучше выносить в отдельную Management VLAN?</a:t>
            </a:r>
          </a:p>
          <a:p>
            <a:pPr>
              <a:defRPr sz="3600"/>
            </a:pPr>
            <a:r>
              <a:t>Какие условия нужны для включения SSHv2 на Cisco IOS?</a:t>
            </a:r>
          </a:p>
          <a:p>
            <a:pPr>
              <a:defRPr sz="3600"/>
            </a:pPr>
            <a:r>
              <a:t>Почему service password-encryption нельзя считать полноценной криптографической защитой?</a:t>
            </a:r>
          </a:p>
          <a:p>
            <a:pPr>
              <a:defRPr sz="3600"/>
            </a:pPr>
            <a:r>
              <a:t>Чем PSE отличается от PD в PoE-соединении?</a:t>
            </a:r>
          </a:p>
          <a:p>
            <a:pPr>
              <a:defRPr sz="3600"/>
            </a:pPr>
            <a:r>
              <a:t>Как определить, хватит ли PoE-бюджета для точек доступа и IP-телефонов?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2204</Words>
  <Application>Microsoft Office PowerPoint</Application>
  <PresentationFormat>Широкоэкранный</PresentationFormat>
  <Paragraphs>199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2026-07-26T08:42:17Z</dcterms:modified>
  <cp:category/>
</cp:coreProperties>
</file>