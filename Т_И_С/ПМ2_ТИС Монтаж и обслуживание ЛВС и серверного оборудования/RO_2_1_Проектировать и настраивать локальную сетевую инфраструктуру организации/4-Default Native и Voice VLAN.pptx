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4. Продвинутые концепции VLAN: Default, Native и Voice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 назначение default, native и voice VLAN в коммутационной сети</a:t>
            </a:r>
          </a:p>
          <a:p>
            <a:pPr>
              <a:defRPr sz="3600"/>
            </a:pPr>
            <a:r>
              <a:t>Объяснять, почему VLAN 1 и native VLAN по умолчанию создают риски безопасности</a:t>
            </a:r>
          </a:p>
          <a:p>
            <a:pPr>
              <a:defRPr sz="3600"/>
            </a:pPr>
            <a:r>
              <a:t>Настраивать безопасную native VLAN и парковочную VLAN для свободных портов</a:t>
            </a:r>
          </a:p>
          <a:p>
            <a:pPr>
              <a:defRPr sz="3600"/>
            </a:pPr>
            <a:r>
              <a:t>Настраивать порт для одновременного подключения IP-телефона и ПК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Служебные типы VLAN: Default VLAN и обработка нетегированного трафика в Native VLAN</a:t>
            </a:r>
          </a:p>
          <a:p>
            <a:pPr>
              <a:defRPr sz="3600"/>
            </a:pPr>
            <a:r>
              <a:t>2. Уязвимости канального уровня: VLAN hopping через Native VLAN по умолчанию</a:t>
            </a:r>
          </a:p>
          <a:p>
            <a:pPr>
              <a:defRPr sz="3600"/>
            </a:pPr>
            <a:r>
              <a:t>3. Voice VLAN: изоляция, приоритизация и разделение IP-телефонии и данных на одном физическом порту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Не все VLAN выполняют одинаковую роль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После базовой настройки VLAN важно понимать специальные роли некоторых VLAN</a:t>
            </a:r>
          </a:p>
          <a:p>
            <a:pPr>
              <a:defRPr sz="3600"/>
            </a:pPr>
            <a:r>
              <a:t>Default VLAN — VLAN, в которой находятся порты коммутатора по умолчанию</a:t>
            </a:r>
          </a:p>
          <a:p>
            <a:pPr>
              <a:defRPr sz="3600"/>
            </a:pPr>
            <a:r>
              <a:t>Native VLAN — VLAN, чьи кадры на trunk-порту передаются без 802.1Q-тега</a:t>
            </a:r>
          </a:p>
          <a:p>
            <a:pPr>
              <a:defRPr sz="3600"/>
            </a:pPr>
            <a:r>
              <a:t>Voice VLAN — VLAN для трафика IP-телефонии на access-порту с подключенным телефоном</a:t>
            </a:r>
          </a:p>
          <a:p>
            <a:pPr>
              <a:defRPr sz="3600"/>
            </a:pPr>
            <a:r>
              <a:t>Ошибки в этих VLAN часто не видны сразу, но создают серьезные проблемы безопасности и диагностики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Default VLAN чаще всего является VLAN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VLAN 1 создается на коммутаторах Cisco по умолчанию и содержит большинство портов до настройки</a:t>
            </a:r>
          </a:p>
          <a:p>
            <a:pPr>
              <a:defRPr sz="3600"/>
            </a:pPr>
            <a:r>
              <a:t>На VLAN 1 могут по умолчанию работать некоторые служебные протоколы канального уровня</a:t>
            </a:r>
          </a:p>
          <a:p>
            <a:pPr>
              <a:defRPr sz="3600"/>
            </a:pPr>
            <a:r>
              <a:t>Оставлять пользовательские порты в VLAN 1 неудобно для документации и небезопасно для эксплуатации</a:t>
            </a:r>
          </a:p>
          <a:p>
            <a:pPr>
              <a:defRPr sz="3600"/>
            </a:pPr>
            <a:r>
              <a:t>Хорошая практика: явно назначать рабочие порты в нужные VLAN и не использовать VLAN 1 как пользовательскую</a:t>
            </a:r>
          </a:p>
          <a:p>
            <a:pPr>
              <a:defRPr sz="3600"/>
            </a:pPr>
            <a:r>
              <a:t>VLAN 1 нельзя просто удалить, поэтому ее роль нужно минимизировать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Native VLAN передает нетегированные кадры через trunk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trunk-порту кадры большинства VLAN получают тег IEEE 802.1Q</a:t>
            </a:r>
          </a:p>
          <a:p>
            <a:pPr>
              <a:defRPr sz="3600"/>
            </a:pPr>
            <a:r>
              <a:t>Кадры native VLAN по умолчанию передаются без тега</a:t>
            </a:r>
          </a:p>
          <a:p>
            <a:pPr>
              <a:defRPr sz="3600"/>
            </a:pPr>
            <a:r>
              <a:t>Обе стороны trunk должны иметь одинаковую native VLAN, иначе появится native VLAN mismatch</a:t>
            </a:r>
          </a:p>
          <a:p>
            <a:pPr>
              <a:defRPr sz="3600"/>
            </a:pPr>
            <a:r>
              <a:t>Native VLAN mismatch может привести к неожиданному попаданию трафика в другой сегмент</a:t>
            </a:r>
          </a:p>
          <a:p>
            <a:pPr>
              <a:defRPr sz="3600"/>
            </a:pPr>
            <a:r>
              <a:t>Поэтому native VLAN настраивают явно и одинаково на обоих концах магистрали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тегированные VLAN и нетегированная Native VLAN на trunk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0ADAD1-826D-EA66-2C1A-1F87A7B7D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Безопасная native VLAN должна быть неиспользуемой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native VLAN выбирают отдельный VLAN ID, который не назначается пользовательским портам</a:t>
            </a:r>
          </a:p>
          <a:p>
            <a:pPr>
              <a:defRPr sz="3600"/>
            </a:pPr>
            <a:r>
              <a:t>Например, VLAN 999 UNUSED_NATIVE используется только как служебная native VLAN</a:t>
            </a:r>
          </a:p>
          <a:p>
            <a:pPr>
              <a:defRPr sz="3600"/>
            </a:pPr>
            <a:r>
              <a:t>На обоих концах trunk задают одну и ту же native VLAN</a:t>
            </a:r>
          </a:p>
          <a:p>
            <a:pPr>
              <a:defRPr sz="3600"/>
            </a:pPr>
            <a:r>
              <a:t>Команда switchport trunk native vlan 999 меняет native VLAN на интерфейсе</a:t>
            </a:r>
          </a:p>
          <a:p>
            <a:pPr>
              <a:defRPr sz="3600"/>
            </a:pPr>
            <a:r>
              <a:t>Команда show interfaces trunk показывает, какая native VLAN реально используется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настройки native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vlan 999 создает служебную VLAN для нетегированного trunk-трафика</a:t>
            </a:r>
          </a:p>
          <a:p>
            <a:pPr>
              <a:defRPr sz="3600"/>
            </a:pPr>
            <a:r>
              <a:t>Команда name UNUSED_NATIVE делает назначение VLAN понятным в show vlan brief</a:t>
            </a:r>
          </a:p>
          <a:p>
            <a:pPr>
              <a:defRPr sz="3600"/>
            </a:pPr>
            <a:r>
              <a:t>Пример: interface gigabitEthernet0/1, switchport mode trunk, switchport trunk native vlan 999</a:t>
            </a:r>
          </a:p>
          <a:p>
            <a:pPr>
              <a:defRPr sz="3600"/>
            </a:pPr>
            <a:r>
              <a:t>Такая же настройка должна быть выполнена на соседнем trunk-порту</a:t>
            </a:r>
          </a:p>
          <a:p>
            <a:pPr>
              <a:defRPr sz="3600"/>
            </a:pPr>
            <a:r>
              <a:t>Если один конец использует VLAN 999, а другой VLAN 1, коммутатор может сообщить о mismatch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Parking VLAN нужна для свободных портов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Parking VLAN — изолированная VLAN для неиспользуемых access-портов</a:t>
            </a:r>
          </a:p>
          <a:p>
            <a:pPr>
              <a:defRPr sz="3600"/>
            </a:pPr>
            <a:r>
              <a:t>Свободный порт не должен оставаться в рабочей пользовательской VLAN</a:t>
            </a:r>
          </a:p>
          <a:p>
            <a:pPr>
              <a:defRPr sz="3600"/>
            </a:pPr>
            <a:r>
              <a:t>Команда switchport access vlan 998 переводит порт в парковочную VLAN</a:t>
            </a:r>
          </a:p>
          <a:p>
            <a:pPr>
              <a:defRPr sz="3600"/>
            </a:pPr>
            <a:r>
              <a:t>Команда shutdown административно выключает порт до реального использования</a:t>
            </a:r>
          </a:p>
          <a:p>
            <a:pPr>
              <a:defRPr sz="3600"/>
            </a:pPr>
            <a:r>
              <a:t>Такой подход снижает риск несанкционированного подключения к сети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настройки свободных портов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vlan 998, name PARKING создает отдельную VLAN для незадействованных портов</a:t>
            </a:r>
          </a:p>
          <a:p>
            <a:pPr>
              <a:defRPr sz="3600"/>
            </a:pPr>
            <a:r>
              <a:t>Команда interface range gigabitEthernet0/15 - 24 выбирает группу свободных интерфейсов</a:t>
            </a:r>
          </a:p>
          <a:p>
            <a:pPr>
              <a:defRPr sz="3600"/>
            </a:pPr>
            <a:r>
              <a:t>Команда switchport mode access фиксирует access-режим</a:t>
            </a:r>
          </a:p>
          <a:p>
            <a:pPr>
              <a:defRPr sz="3600"/>
            </a:pPr>
            <a:r>
              <a:t>Команда switchport access vlan 998 назначает порты в parking VLAN</a:t>
            </a:r>
          </a:p>
          <a:p>
            <a:pPr>
              <a:defRPr sz="3600"/>
            </a:pPr>
            <a:r>
              <a:t>Команда shutdown выключает порты до момента ввода в эксплуатацию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VLAN hopping использует слабые места trunk и native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VLAN hopping — атака, при которой трафик пытается попасть из одной VLAN в другую на канальном уровне</a:t>
            </a:r>
          </a:p>
          <a:p>
            <a:pPr>
              <a:defRPr sz="3600"/>
            </a:pPr>
            <a:r>
              <a:t>Один вариант связан с нежелательным согласованием trunk через DTP</a:t>
            </a:r>
          </a:p>
          <a:p>
            <a:pPr>
              <a:defRPr sz="3600"/>
            </a:pPr>
            <a:r>
              <a:t>Другой вариант связан с двойным тегированием кадров и native VLAN</a:t>
            </a:r>
          </a:p>
          <a:p>
            <a:pPr>
              <a:defRPr sz="3600"/>
            </a:pPr>
            <a:r>
              <a:t>Риск возрастает, если пользовательский порт может стать trunk или native VLAN совпадает с пользовательской VLAN</a:t>
            </a:r>
          </a:p>
          <a:p>
            <a:pPr>
              <a:defRPr sz="3600"/>
            </a:pPr>
            <a:r>
              <a:t>Защита строится на явной настройке режимов портов и отказе от VLAN 1 для рабочих задач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Атака через нежелательный trunk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порт оставлен в динамическом режиме, он может согласовать trunk с подключенным устройством</a:t>
            </a:r>
          </a:p>
          <a:p>
            <a:pPr>
              <a:defRPr sz="3600"/>
            </a:pPr>
            <a:r>
              <a:t>После этого злоумышленник сможет отправлять кадры с тегами разных VLAN</a:t>
            </a:r>
          </a:p>
          <a:p>
            <a:pPr>
              <a:defRPr sz="3600"/>
            </a:pPr>
            <a:r>
              <a:t>Команда switchport mode access запрещает порту становиться trunk</a:t>
            </a:r>
          </a:p>
          <a:p>
            <a:pPr>
              <a:defRPr sz="3600"/>
            </a:pPr>
            <a:r>
              <a:t>Команда switchport nonegotiate отключает DTP на trunk-портах, где trunk задан вручную</a:t>
            </a:r>
          </a:p>
          <a:p>
            <a:pPr>
              <a:defRPr sz="3600"/>
            </a:pPr>
            <a:r>
              <a:t>Пользовательские порты всегда должны быть явно настроены как access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Атака double tagging связана с native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Double tagging — техника, при которой кадр получает два VLAN-тега</a:t>
            </a:r>
          </a:p>
          <a:p>
            <a:pPr>
              <a:defRPr sz="3600"/>
            </a:pPr>
            <a:r>
              <a:t>Атака возможна только если исходная VLAN злоумышленника совпадает с native VLAN магистрального trunk</a:t>
            </a:r>
          </a:p>
          <a:p>
            <a:pPr>
              <a:defRPr sz="3600"/>
            </a:pPr>
            <a:r>
              <a:t>Первый тег может быть снят первым коммутатором как тег native VLAN</a:t>
            </a:r>
          </a:p>
          <a:p>
            <a:pPr>
              <a:defRPr sz="3600"/>
            </a:pPr>
            <a:r>
              <a:t>Второй тег может остаться и быть обработан следующим коммутатором как целевая VLAN</a:t>
            </a:r>
          </a:p>
          <a:p>
            <a:pPr>
              <a:defRPr sz="3600"/>
            </a:pPr>
            <a:r>
              <a:t>Практическая защита: native VLAN не должна использоваться для клиентских портов</a:t>
            </a:r>
          </a:p>
          <a:p>
            <a:pPr>
              <a:defRPr sz="3600"/>
            </a:pPr>
            <a:r>
              <a:t>Также важно ограничивать allowed VLAN и не оставлять trunk-порты открытыми шире необходимого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принцип VLAN hopping через native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D33CED-D3C2-951B-D88F-63000A5AC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Минимальный набор защиты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Пользовательские порты: switchport mode access и назначение в рабочую VLAN</a:t>
            </a:r>
          </a:p>
          <a:p>
            <a:pPr>
              <a:defRPr sz="3600"/>
            </a:pPr>
            <a:r>
              <a:t>Свободные порты: parking VLAN и shutdown</a:t>
            </a:r>
          </a:p>
          <a:p>
            <a:pPr>
              <a:defRPr sz="3600"/>
            </a:pPr>
            <a:r>
              <a:t>Trunk-порты: switchport mode trunk и switchport nonegotiate</a:t>
            </a:r>
          </a:p>
          <a:p>
            <a:pPr>
              <a:defRPr sz="3600"/>
            </a:pPr>
            <a:r>
              <a:t>Native VLAN: отдельная неиспользуемая VLAN, одинаковая на обоих концах trunk</a:t>
            </a:r>
          </a:p>
          <a:p>
            <a:pPr>
              <a:defRPr sz="3600"/>
            </a:pPr>
            <a:r>
              <a:t>Allowed VLAN: только те VLAN, которые действительно должны идти через магистраль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проверки безопасного trunk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show interfaces trunk показывает trunk-порты, native VLAN и allowed VLAN</a:t>
            </a:r>
          </a:p>
          <a:p>
            <a:pPr>
              <a:defRPr sz="3600"/>
            </a:pPr>
            <a:r>
              <a:t>Пример: show interfaces trunk после настройки должен показать native VLAN 999 на нужной магистрали</a:t>
            </a:r>
          </a:p>
          <a:p>
            <a:pPr>
              <a:defRPr sz="3600"/>
            </a:pPr>
            <a:r>
              <a:t>Команда show interfaces gigabitEthernet0/1 switchport показывает режим административный и рабочий</a:t>
            </a:r>
          </a:p>
          <a:p>
            <a:pPr>
              <a:defRPr sz="3600"/>
            </a:pPr>
            <a:r>
              <a:t>Команда show vlan brief помогает убедиться, что parking VLAN и unused native VLAN созданы</a:t>
            </a:r>
          </a:p>
          <a:p>
            <a:pPr>
              <a:defRPr sz="3600"/>
            </a:pPr>
            <a:r>
              <a:t>Если в выводе trunk разрешает все VLAN, allowed-лист нужно ограничить вручную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Voice VLAN решает задачу телефона и ПК на одном порту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IP-телефон часто подключается к одному порту коммутатора, а ПК подключается уже к порту телефона</a:t>
            </a:r>
          </a:p>
          <a:p>
            <a:pPr>
              <a:defRPr sz="3600"/>
            </a:pPr>
            <a:r>
              <a:t>Voice VLAN отделяет голосовой трафик телефона от data VLAN компьютера</a:t>
            </a:r>
          </a:p>
          <a:p>
            <a:pPr>
              <a:defRPr sz="3600"/>
            </a:pPr>
            <a:r>
              <a:t>Data VLAN — VLAN обычных пользовательских данных, например трафика ПК сотрудника</a:t>
            </a:r>
          </a:p>
          <a:p>
            <a:pPr>
              <a:defRPr sz="3600"/>
            </a:pPr>
            <a:r>
              <a:t>Коммутатор должен различать трафик телефона и ПК на одном физическом интерфейсе</a:t>
            </a:r>
          </a:p>
          <a:p>
            <a:pPr>
              <a:defRPr sz="3600"/>
            </a:pPr>
            <a:r>
              <a:t>Для телефона дополнительно важны задержка, потери и приоритизация голосового трафика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порт обслуживает ПК и IP-телефон одновременно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ПК отправляет обычные нетегированные кадры и попадает в access VLAN</a:t>
            </a:r>
          </a:p>
          <a:p>
            <a:pPr>
              <a:defRPr sz="3600"/>
            </a:pPr>
            <a:r>
              <a:t>IP-телефон получает от коммутатора информацию о voice VLAN через CDP или LLDP-MED</a:t>
            </a:r>
          </a:p>
          <a:p>
            <a:pPr>
              <a:defRPr sz="3600"/>
            </a:pPr>
            <a:r>
              <a:t>LLDP-MED (LLDP Media Endpoint Discovery) — расширение LLDP для телефонии; на коммутаторе должен быть включен lldp run</a:t>
            </a:r>
          </a:p>
          <a:p>
            <a:pPr>
              <a:defRPr sz="3600"/>
            </a:pPr>
            <a:r>
              <a:t>Телефон отправляет голосовой трафик с VLAN-тегом voice VLAN</a:t>
            </a:r>
          </a:p>
          <a:p>
            <a:pPr>
              <a:defRPr sz="3600"/>
            </a:pPr>
            <a:r>
              <a:t>Коммутатор принимает оба типа трафика на одном физическом порту, но относит их к разным VLAN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ПК за IP-телефоном с Data VLAN и Voice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7ECED8-87D1-3488-F31D-246EFC6A8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порта для телефона и ПК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switchport mode access фиксирует порт как пользовательский access-порт</a:t>
            </a:r>
          </a:p>
          <a:p>
            <a:pPr>
              <a:defRPr sz="3600"/>
            </a:pPr>
            <a:r>
              <a:t>Команда switchport access vlan 10 назначает data VLAN для ПК за телефоном</a:t>
            </a:r>
          </a:p>
          <a:p>
            <a:pPr>
              <a:defRPr sz="3600"/>
            </a:pPr>
            <a:r>
              <a:t>Команда switchport voice vlan 20 назначает voice VLAN для IP-телефона</a:t>
            </a:r>
          </a:p>
          <a:p>
            <a:pPr>
              <a:defRPr sz="3600"/>
            </a:pPr>
            <a:r>
              <a:t>Команда spanning-tree portfast ускоряет переход клиентского порта в рабочее состояние</a:t>
            </a:r>
          </a:p>
          <a:p>
            <a:pPr>
              <a:defRPr sz="3600"/>
            </a:pPr>
            <a:r>
              <a:t>Команда spanning-tree bpduguard enable обязательно добавляется к PortFast, чтобы защититься от случайной L2-петли</a:t>
            </a:r>
          </a:p>
          <a:p>
            <a:pPr>
              <a:defRPr sz="3600"/>
            </a:pPr>
            <a:r>
              <a:t>Пример выполняется на порту, к которому подключен телефон, а ПК подключен к порту телефона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Voice VLAN требует согласованной инфраструктуры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VLAN для голоса должна быть создана на коммутаторе и разрешена на trunk к распределению</a:t>
            </a:r>
          </a:p>
          <a:p>
            <a:pPr>
              <a:defRPr sz="3600"/>
            </a:pPr>
            <a:r>
              <a:t>DHCP для телефонов часто выдает не только IP-адрес, но и параметры телефонии</a:t>
            </a:r>
          </a:p>
          <a:p>
            <a:pPr>
              <a:defRPr sz="3600"/>
            </a:pPr>
            <a:r>
              <a:t>PoE-питание должно соответствовать потребности телефона или точки доступа</a:t>
            </a:r>
          </a:p>
          <a:p>
            <a:pPr>
              <a:defRPr sz="3600"/>
            </a:pPr>
            <a:r>
              <a:t>CDP или LLDP-MED помогает телефону узнать voice VLAN без ручной настройки</a:t>
            </a:r>
          </a:p>
          <a:p>
            <a:pPr>
              <a:defRPr sz="3600"/>
            </a:pPr>
            <a:r>
              <a:t>Если телефон получил питание, но не регистрируется, проверяют VLAN, DHCP и связность с телефонией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порта с Voice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show interfaces gigabitEthernet0/10 switchport показывает access VLAN и voice VLAN</a:t>
            </a:r>
          </a:p>
          <a:p>
            <a:pPr>
              <a:defRPr sz="3600"/>
            </a:pPr>
            <a:r>
              <a:t>Команда show vlan brief показывает, куда назначен порт как access-порт</a:t>
            </a:r>
          </a:p>
          <a:p>
            <a:pPr>
              <a:defRPr sz="3600"/>
            </a:pPr>
            <a:r>
              <a:t>Команда show cdp neighbors detail может показать IP-телефон как соседнее устройство</a:t>
            </a:r>
          </a:p>
          <a:p>
            <a:pPr>
              <a:defRPr sz="3600"/>
            </a:pPr>
            <a:r>
              <a:t>Команда show power inline gigabitEthernet0/10 помогает проверить питание телефона</a:t>
            </a:r>
          </a:p>
          <a:p>
            <a:pPr>
              <a:defRPr sz="3600"/>
            </a:pPr>
            <a:r>
              <a:t>Если voice VLAN отсутствует на trunk, телефон может работать локально, но не дойти до сервисов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QoS для голоса нужно понимать хотя бы на уровне причины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QoS (Quality of Service) — механизмы приоритизации трафика с разными требованиями к задержке</a:t>
            </a:r>
          </a:p>
          <a:p>
            <a:pPr>
              <a:defRPr sz="3600"/>
            </a:pPr>
            <a:r>
              <a:t>Голос чувствителен к задержке, джиттеру и потерям сильнее, чем обычная загрузка файлов</a:t>
            </a:r>
          </a:p>
          <a:p>
            <a:pPr>
              <a:defRPr sz="3600"/>
            </a:pPr>
            <a:r>
              <a:t>Voice VLAN упрощает выделение и последующую приоритизацию голосового трафика</a:t>
            </a:r>
          </a:p>
          <a:p>
            <a:pPr>
              <a:defRPr sz="3600"/>
            </a:pPr>
            <a:r>
              <a:t>Команда mls qos trust cos позволяет доверять CoS-меткам IP-телефона на поддерживаемых Catalyst-коммутаторах</a:t>
            </a:r>
          </a:p>
          <a:p>
            <a:pPr>
              <a:defRPr sz="3600"/>
            </a:pPr>
            <a:r>
              <a:t>Вариант trust device cisco-phone применяют, когда нужно доверять приоритетам только при обнаружении Cisco IP Phone</a:t>
            </a:r>
          </a:p>
          <a:p>
            <a:pPr>
              <a:defRPr sz="3600"/>
            </a:pPr>
            <a:r>
              <a:t>При проектировании нужно заранее знать, какие порты будут питать телефоны и какие VLAN нужны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Default, Native и Voice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Пользовательские порты оставлены в VLAN 1 и не отражены в документации</a:t>
            </a:r>
          </a:p>
          <a:p>
            <a:pPr>
              <a:defRPr sz="3600"/>
            </a:pPr>
            <a:r>
              <a:t>Native VLAN отличается на двух концах trunk-соединения</a:t>
            </a:r>
          </a:p>
          <a:p>
            <a:pPr>
              <a:defRPr sz="3600"/>
            </a:pPr>
            <a:r>
              <a:t>Native VLAN одновременно используется как пользовательская VLAN</a:t>
            </a:r>
          </a:p>
          <a:p>
            <a:pPr>
              <a:defRPr sz="3600"/>
            </a:pPr>
            <a:r>
              <a:t>Свободные порты не выключены и остаются в рабочей VLAN</a:t>
            </a:r>
          </a:p>
          <a:p>
            <a:pPr>
              <a:defRPr sz="3600"/>
            </a:pPr>
            <a:r>
              <a:t>Voice VLAN настроена на access-порту, но не разрешена на магистральных trunk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распознать native VLAN mismatch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Коммутатор может вывести сообщение о несовпадении native VLAN через CDP или журнал событий</a:t>
            </a:r>
          </a:p>
          <a:p>
            <a:pPr>
              <a:defRPr sz="3600"/>
            </a:pPr>
            <a:r>
              <a:t>Команда show interfaces trunk показывает native VLAN локального trunk-порта</a:t>
            </a:r>
          </a:p>
          <a:p>
            <a:pPr>
              <a:defRPr sz="3600"/>
            </a:pPr>
            <a:r>
              <a:t>Такую же проверку выполняют на соседнем коммутаторе и сравнивают значения</a:t>
            </a:r>
          </a:p>
          <a:p>
            <a:pPr>
              <a:defRPr sz="3600"/>
            </a:pPr>
            <a:r>
              <a:t>Если значения отличаются, на обоих концах задают одинаковую неиспользуемую native VLAN</a:t>
            </a:r>
          </a:p>
          <a:p>
            <a:pPr>
              <a:defRPr sz="3600"/>
            </a:pPr>
            <a:r>
              <a:t>После исправления проверяют, что пользовательские VLAN снова проходят через trunk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Voice VLAN зависит от DHCP и сервисов телефонии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Телефон должен получить IP-адрес из voice VLAN, а не из data VLAN компьютера</a:t>
            </a:r>
          </a:p>
          <a:p>
            <a:pPr>
              <a:defRPr sz="3600"/>
            </a:pPr>
            <a:r>
              <a:t>DHCP может выдавать телефону дополнительные параметры для поиска сервера телефонии</a:t>
            </a:r>
          </a:p>
          <a:p>
            <a:pPr>
              <a:defRPr sz="3600"/>
            </a:pPr>
            <a:r>
              <a:t>Если телефон включился по PoE, но не зарегистрировался, проблема может быть выше уровня питания</a:t>
            </a:r>
          </a:p>
          <a:p>
            <a:pPr>
              <a:defRPr sz="3600"/>
            </a:pPr>
            <a:r>
              <a:t>Проверяют voice VLAN на порту, trunk к распределению и наличие DHCP для voice-подсети</a:t>
            </a:r>
          </a:p>
          <a:p>
            <a:pPr>
              <a:defRPr sz="3600"/>
            </a:pPr>
            <a:r>
              <a:t>Для базовой лекции важно увидеть связь: портовая VLAN-настройка влияет на работу сервиса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Шаблон настройки клиентского порта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обычного ПК: switchport mode access и switchport access vlan 10</a:t>
            </a:r>
          </a:p>
          <a:p>
            <a:pPr>
              <a:defRPr sz="3600"/>
            </a:pPr>
            <a:r>
              <a:t>Для телефона с ПК: дополнительно switchport voice vlan 20</a:t>
            </a:r>
          </a:p>
          <a:p>
            <a:pPr>
              <a:defRPr sz="3600"/>
            </a:pPr>
            <a:r>
              <a:t>Для ускорения старта клиента: spanning-tree portfast</a:t>
            </a:r>
          </a:p>
          <a:p>
            <a:pPr>
              <a:defRPr sz="3600"/>
            </a:pPr>
            <a:r>
              <a:t>Для защиты от подключенного коммутатора: spanning-tree bpduguard enable</a:t>
            </a:r>
          </a:p>
          <a:p>
            <a:pPr>
              <a:defRPr sz="3600"/>
            </a:pPr>
            <a:r>
              <a:t>Для свободного порта: parking VLAN и shutdown вместо оставления настроек по умолчанию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Финальная проверка служебных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vlan brief подтверждает default-состояние портов, parking VLAN и voice VLAN</a:t>
            </a:r>
          </a:p>
          <a:p>
            <a:pPr>
              <a:defRPr sz="3600"/>
            </a:pPr>
            <a:r>
              <a:t>show interfaces trunk подтверждает native VLAN и allowed VLAN на магистралях</a:t>
            </a:r>
          </a:p>
          <a:p>
            <a:pPr>
              <a:defRPr sz="3600"/>
            </a:pPr>
            <a:r>
              <a:t>show interfaces switchport показывает access VLAN и voice VLAN конкретного порта</a:t>
            </a:r>
          </a:p>
          <a:p>
            <a:pPr>
              <a:defRPr sz="3600"/>
            </a:pPr>
            <a:r>
              <a:t>show power inline проверяет питание IP-телефонов на PoE-портах</a:t>
            </a:r>
          </a:p>
          <a:p>
            <a:pPr>
              <a:defRPr sz="3600"/>
            </a:pPr>
            <a:r>
              <a:t>copy running-config startup-config сохраняет изменения после успешной проверки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Default VLAN, native VLAN и voice VLAN решают разные задачи и требуют явной настройки</a:t>
            </a:r>
          </a:p>
          <a:p>
            <a:pPr>
              <a:defRPr sz="3600"/>
            </a:pPr>
            <a:r>
              <a:t>VLAN 1 лучше не использовать для пользовательского, управленческого и native-трафика</a:t>
            </a:r>
          </a:p>
          <a:p>
            <a:pPr>
              <a:defRPr sz="3600"/>
            </a:pPr>
            <a:r>
              <a:t>Native VLAN должна быть одинаковой на обоих концах trunk и не должна обслуживать пользователей</a:t>
            </a:r>
          </a:p>
          <a:p>
            <a:pPr>
              <a:defRPr sz="3600"/>
            </a:pPr>
            <a:r>
              <a:t>Voice VLAN позволяет подключить IP-телефон и ПК к одному порту без смешивания их трафика</a:t>
            </a:r>
          </a:p>
          <a:p>
            <a:pPr>
              <a:defRPr sz="3600"/>
            </a:pPr>
            <a:r>
              <a:t>Безопасная VLAN-практика включает access-режим, parking VLAN, ограниченный allowed-лист и отключение DTP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default VLAN отличается от native VLAN?</a:t>
            </a:r>
          </a:p>
          <a:p>
            <a:pPr>
              <a:defRPr sz="3600"/>
            </a:pPr>
            <a:r>
              <a:t>Почему пользовательские порты не стоит оставлять в VLAN 1?</a:t>
            </a:r>
          </a:p>
          <a:p>
            <a:pPr>
              <a:defRPr sz="3600"/>
            </a:pPr>
            <a:r>
              <a:t>Что произойдет, если native VLAN различается на концах trunk?</a:t>
            </a:r>
          </a:p>
          <a:p>
            <a:pPr>
              <a:defRPr sz="3600"/>
            </a:pPr>
            <a:r>
              <a:t>Какие настройки снижают риск VLAN hopping?</a:t>
            </a:r>
          </a:p>
          <a:p>
            <a:pPr>
              <a:defRPr sz="3600"/>
            </a:pPr>
            <a:r>
              <a:t>Зачем свободные порты переводят в parking VLAN и выключают?</a:t>
            </a:r>
          </a:p>
          <a:p>
            <a:pPr>
              <a:defRPr sz="3600"/>
            </a:pPr>
            <a:r>
              <a:t>Как один порт коммутатора может обслуживать ПК и IP-телефон одновременно?</a:t>
            </a:r>
          </a:p>
          <a:p>
            <a:pPr>
              <a:defRPr sz="3600"/>
            </a:pPr>
            <a:r>
              <a:t>Какими командами проверить native VLAN, voice VLAN и PoE-состояние порта?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1787</Words>
  <Application>Microsoft Office PowerPoint</Application>
  <PresentationFormat>Широкоэкранный</PresentationFormat>
  <Paragraphs>168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2026-07-26T08:48:44Z</dcterms:modified>
  <cp:category/>
</cp:coreProperties>
</file>