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8. Защита данных в VPN: IPsec и шифрование трафика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Понять, какие свойства безопасности добавляет IPsec к передаче данных</a:t>
            </a:r>
          </a:p>
          <a:p>
            <a:pPr>
              <a:defRPr sz="3600"/>
            </a:pPr>
            <a:r>
              <a:t>Различать AH, ESP, transport mode и tunnel mode</a:t>
            </a:r>
          </a:p>
          <a:p>
            <a:pPr>
              <a:defRPr sz="3600"/>
            </a:pPr>
            <a:r>
              <a:t>Объяснять IKEv1 Phase 1, Quick Mode, ISAKMP SA и IPsec SA</a:t>
            </a:r>
          </a:p>
          <a:p>
            <a:pPr>
              <a:defRPr sz="3600"/>
            </a:pPr>
            <a:r>
              <a:t>Настраивать базовый Site-to-Site IPsec VPN через Crypto Map</a:t>
            </a:r>
          </a:p>
          <a:p>
            <a:pPr>
              <a:defRPr sz="3600"/>
            </a:pPr>
            <a:r>
              <a:t>Диагностировать VPN по IKE, IPsec SA, счетчикам и маршрутизации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Конфиденциальность, целостность и подлинность данных в публичных сетях</a:t>
            </a:r>
          </a:p>
          <a:p>
            <a:pPr>
              <a:defRPr sz="3600"/>
            </a:pPr>
            <a:r>
              <a:t>2. AH и его недостатки; ESP</a:t>
            </a:r>
          </a:p>
          <a:p>
            <a:pPr>
              <a:defRPr sz="3600"/>
            </a:pPr>
            <a:r>
              <a:t>3. Транспортный и туннельный режимы IPsec</a:t>
            </a:r>
          </a:p>
          <a:p>
            <a:pPr>
              <a:defRPr sz="3600"/>
            </a:pPr>
            <a:r>
              <a:t>4. IKE и фаза 1: ISAKMP SA, Diffie-Hellman, 3DES/MD5 и AES/SHA</a:t>
            </a:r>
          </a:p>
          <a:p>
            <a:pPr>
              <a:defRPr sz="3600"/>
            </a:pPr>
            <a:r>
              <a:t>5. Фаза 2: IPsec SA и Transform Set</a:t>
            </a:r>
          </a:p>
          <a:p>
            <a:pPr>
              <a:defRPr sz="3600"/>
            </a:pPr>
            <a:r>
              <a:t>6. Crypto Map</a:t>
            </a:r>
          </a:p>
          <a:p>
            <a:pPr>
              <a:defRPr sz="3600"/>
            </a:pPr>
            <a:r>
              <a:t>7. IKEv1 в Packet Tracer и обзор IKEv2 как современного стандарта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IPsec нужен там, где сеть недоверенная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IPsec (Internet Protocol Security) — набор протоколов защиты IP-трафика</a:t>
            </a:r>
          </a:p>
          <a:p>
            <a:pPr>
              <a:defRPr sz="3600"/>
            </a:pPr>
            <a:r>
              <a:t>Он применяется для VPN между офисами, филиалами и защищенными узлами</a:t>
            </a:r>
          </a:p>
          <a:p>
            <a:pPr>
              <a:defRPr sz="3600"/>
            </a:pPr>
            <a:r>
              <a:t>Публичная сеть может передать пакет, но не гарантирует его тайну и неизменность</a:t>
            </a:r>
          </a:p>
          <a:p>
            <a:pPr>
              <a:defRPr sz="3600"/>
            </a:pPr>
            <a:r>
              <a:t>IPsec добавляет криптографическую защиту поверх обычной IP-маршрутизации</a:t>
            </a:r>
          </a:p>
          <a:p>
            <a:pPr>
              <a:defRPr sz="3600"/>
            </a:pPr>
            <a:r>
              <a:t>Site-to-Site VPN соединяет две частные сети через общедоступный underlay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угрозы публичной сети и роль IPsec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424492-C67A-98C3-9A8F-C94127920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Три свойства безопасности нельзя смешивать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Конфиденциальность — содержимое пакета нельзя прочитать без ключа</a:t>
            </a:r>
          </a:p>
          <a:p>
            <a:pPr>
              <a:defRPr sz="3600"/>
            </a:pPr>
            <a:r>
              <a:t>Целостность — изменение пакета обнаруживается при проверке</a:t>
            </a:r>
          </a:p>
          <a:p>
            <a:pPr>
              <a:defRPr sz="3600"/>
            </a:pPr>
            <a:r>
              <a:t>Аутентификация источника данных — пакет создан стороной, владеющей ключом</a:t>
            </a:r>
          </a:p>
          <a:p>
            <a:pPr>
              <a:defRPr sz="3600"/>
            </a:pPr>
            <a:r>
              <a:t>Аутентификация peer — удаленный VPN-шлюз подтвержден во время IKE</a:t>
            </a:r>
          </a:p>
          <a:p>
            <a:pPr>
              <a:defRPr sz="3600"/>
            </a:pPr>
            <a:r>
              <a:t>Одно свойство не заменяет остальные: шифрование само по себе не доказывает источник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HMAC обеспечивает контроль целостности в IPsec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Обычный хэш без секретного ключа злоумышленник может пересчитать</a:t>
            </a:r>
          </a:p>
          <a:p>
            <a:pPr>
              <a:defRPr sz="3600"/>
            </a:pPr>
            <a:r>
              <a:t>HMAC (Hash-based Message Authentication Code) — код аутентификации сообщения на основе хэша и секретного ключа</a:t>
            </a:r>
          </a:p>
          <a:p>
            <a:pPr>
              <a:defRPr sz="3600"/>
            </a:pPr>
            <a:r>
              <a:t>Получатель заново рассчитывает HMAC и сравнивает результат</a:t>
            </a:r>
          </a:p>
          <a:p>
            <a:pPr>
              <a:defRPr sz="3600"/>
            </a:pPr>
            <a:r>
              <a:t>Если пакет изменен или ключ неверный, проверка не проходит</a:t>
            </a:r>
          </a:p>
          <a:p>
            <a:pPr>
              <a:defRPr sz="3600"/>
            </a:pPr>
            <a:r>
              <a:t>Поэтому корректнее говорить не просто «хэш», а «HMAC для целостности и аутентификации данных»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AH защищает целостность, но не шифрует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AH (Authentication Header) — заголовок IPsec для контроля целостности и аутентификации данных</a:t>
            </a:r>
          </a:p>
          <a:p>
            <a:pPr>
              <a:defRPr sz="3600"/>
            </a:pPr>
            <a:r>
              <a:t>AH не обеспечивает конфиденциальность: полезная нагрузка остается читаемой</a:t>
            </a:r>
          </a:p>
          <a:p>
            <a:pPr>
              <a:defRPr sz="3600"/>
            </a:pPr>
            <a:r>
              <a:t>AH контролирует полезную нагрузку и неизменяемые поля IP-заголовка</a:t>
            </a:r>
          </a:p>
          <a:p>
            <a:pPr>
              <a:defRPr sz="3600"/>
            </a:pPr>
            <a:r>
              <a:t>Поля, которые меняются в пути, например TTL, в проверку не включаются</a:t>
            </a:r>
          </a:p>
          <a:p>
            <a:pPr>
              <a:defRPr sz="3600"/>
            </a:pPr>
            <a:r>
              <a:t>AH использует IP Protocol 51 и почти не применяется в современных Site-to-Site VPN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AH плохо совместим с 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NAT (Network Address Translation) изменяет IP-адреса в заголовке пакета</a:t>
            </a:r>
          </a:p>
          <a:p>
            <a:pPr>
              <a:defRPr sz="3600"/>
            </a:pPr>
            <a:r>
              <a:t>Для AH изменение важных полей IP-заголовка выглядит как нарушение целостности</a:t>
            </a:r>
          </a:p>
          <a:p>
            <a:pPr>
              <a:defRPr sz="3600"/>
            </a:pPr>
            <a:r>
              <a:t>В результате пакет может быть отброшен при проверке</a:t>
            </a:r>
          </a:p>
          <a:p>
            <a:pPr>
              <a:defRPr sz="3600"/>
            </a:pPr>
            <a:r>
              <a:t>AH не шифрует данные, поэтому его практическая ценность для VPN ограничена</a:t>
            </a:r>
          </a:p>
          <a:p>
            <a:pPr>
              <a:defRPr sz="3600"/>
            </a:pPr>
            <a:r>
              <a:t>В лабораториях и реальных сетях чаще выбирают ESP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ESP является основным механизмом защиты IPsec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ESP (Encapsulating Security Payload) — компонент IPsec для защиты полезных данных</a:t>
            </a:r>
          </a:p>
          <a:p>
            <a:pPr>
              <a:defRPr sz="3600"/>
            </a:pPr>
            <a:r>
              <a:t>ESP может обеспечивать конфиденциальность, контроль целостности или оба свойства</a:t>
            </a:r>
          </a:p>
          <a:p>
            <a:pPr>
              <a:defRPr sz="3600"/>
            </a:pPr>
            <a:r>
              <a:t>Конкретные свойства зависят от согласованных алгоритмов Transform Set</a:t>
            </a:r>
          </a:p>
          <a:p>
            <a:pPr>
              <a:defRPr sz="3600"/>
            </a:pPr>
            <a:r>
              <a:t>Пример esp-aes 256 esp-sha-hmac дает шифрование AES-256 и HMAC-контроль</a:t>
            </a:r>
          </a:p>
          <a:p>
            <a:pPr>
              <a:defRPr sz="3600"/>
            </a:pPr>
            <a:r>
              <a:t>ESP использует IP Protocol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AH и ESP на уровне IP-пакета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3D4C1B-22EC-8059-E0DA-07D4EB6B4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Порты и протоколы, которые должны проходить между peer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IKE/ISAKMP использует UDP 500</a:t>
            </a:r>
          </a:p>
          <a:p>
            <a:pPr>
              <a:defRPr sz="3600"/>
            </a:pPr>
            <a:r>
              <a:t>NAT-T использует UDP 4500</a:t>
            </a:r>
          </a:p>
          <a:p>
            <a:pPr>
              <a:defRPr sz="3600"/>
            </a:pPr>
            <a:r>
              <a:t>ESP передается как IP Protocol 50</a:t>
            </a:r>
          </a:p>
          <a:p>
            <a:pPr>
              <a:defRPr sz="3600"/>
            </a:pPr>
            <a:r>
              <a:t>AH передается как IP Protocol 51</a:t>
            </a:r>
          </a:p>
          <a:p>
            <a:pPr>
              <a:defRPr sz="3600"/>
            </a:pPr>
            <a:r>
              <a:t>GRE передается как IP Protocol 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Transport mode и tunnel mode защищают разные части пакета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Transport mode защищает полезную нагрузку исходного IP-пакета</a:t>
            </a:r>
          </a:p>
          <a:p>
            <a:pPr>
              <a:defRPr sz="3600"/>
            </a:pPr>
            <a:r>
              <a:t>Исходный IP-заголовок в transport mode остается внешним заголовком пакета</a:t>
            </a:r>
          </a:p>
          <a:p>
            <a:pPr>
              <a:defRPr sz="3600"/>
            </a:pPr>
            <a:r>
              <a:t>Tunnel mode помещает весь исходный IP-пакет внутрь нового внешнего IP-пакета</a:t>
            </a:r>
          </a:p>
          <a:p>
            <a:pPr>
              <a:defRPr sz="3600"/>
            </a:pPr>
            <a:r>
              <a:t>Внешняя сеть в tunnel mode видит только адреса VPN-шлюзов</a:t>
            </a:r>
          </a:p>
          <a:p>
            <a:pPr>
              <a:defRPr sz="3600"/>
            </a:pPr>
            <a:r>
              <a:t>Site-to-Site VPN между офисами обычно использует tunnel mode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Tunnel mode подходит для связи офисов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Внутренний пакет идет от LAN HQ к LAN Branch</a:t>
            </a:r>
          </a:p>
          <a:p>
            <a:pPr>
              <a:defRPr sz="3600"/>
            </a:pPr>
            <a:r>
              <a:t>Новый внешний IP-заголовок идет от public IP HQ Router к public IP Branch Router</a:t>
            </a:r>
          </a:p>
          <a:p>
            <a:pPr>
              <a:defRPr sz="3600"/>
            </a:pPr>
            <a:r>
              <a:t>Провайдер не видит внутренние адреса 192.168.10.0/24 и 192.168.20.0/24</a:t>
            </a:r>
          </a:p>
          <a:p>
            <a:pPr>
              <a:defRPr sz="3600"/>
            </a:pPr>
            <a:r>
              <a:t>На удаленном VPN-шлюзе ESP обрабатывается и исходный пакет отправляется в LAN</a:t>
            </a:r>
          </a:p>
          <a:p>
            <a:pPr>
              <a:defRPr sz="3600"/>
            </a:pPr>
            <a:r>
              <a:t>Tunnel mode удобен для классического policy-based Site-to-Site IPsec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Transport mode важен для понимания GRE over IPsec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Transport mode часто применяют не для обычного LAN-to-LAN, а для специальных сценариев</a:t>
            </a:r>
          </a:p>
          <a:p>
            <a:pPr>
              <a:defRPr sz="3600"/>
            </a:pPr>
            <a:r>
              <a:t>GRE over IPsec может защищать GRE-пакеты между маршрутизаторами</a:t>
            </a:r>
          </a:p>
          <a:p>
            <a:pPr>
              <a:defRPr sz="3600"/>
            </a:pPr>
            <a:r>
              <a:t>В таком варианте внешний IP-заголовок уже содержит адреса VPN-шлюзов</a:t>
            </a:r>
          </a:p>
          <a:p>
            <a:pPr>
              <a:defRPr sz="3600"/>
            </a:pPr>
            <a:r>
              <a:t>Логика пакета: Outer IP → ESP Transport → GRE → Inner IP</a:t>
            </a:r>
          </a:p>
          <a:p>
            <a:pPr>
              <a:defRPr sz="3600"/>
            </a:pPr>
            <a:r>
              <a:t>В зависимости от платформы и шаблона GRE может защищаться и через tunnel mode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Tunnel mode и Transport mode для GRE over IPsec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DC8E3A-E924-94A8-C340-7252DC3A3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IKE создает защищенную управляющую 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IKE (Internet Key Exchange) — протокол согласования параметров и ключевого материала</a:t>
            </a:r>
          </a:p>
          <a:p>
            <a:pPr>
              <a:defRPr sz="3600"/>
            </a:pPr>
            <a:r>
              <a:t>ISAKMP SA — служебная Security Association для защищенных переговоров IKEv1</a:t>
            </a:r>
          </a:p>
          <a:p>
            <a:pPr>
              <a:defRPr sz="3600"/>
            </a:pPr>
            <a:r>
              <a:t>SA (Security Association) — согласованный набор параметров безопасности между peer</a:t>
            </a:r>
          </a:p>
          <a:p>
            <a:pPr>
              <a:defRPr sz="3600"/>
            </a:pPr>
            <a:r>
              <a:t>Phase 1 сначала создает защищенный канал управления</a:t>
            </a:r>
          </a:p>
          <a:p>
            <a:pPr>
              <a:defRPr sz="3600"/>
            </a:pPr>
            <a:r>
              <a:t>Если Phase 1 не поднялась, IPsec SA для пользовательского трафика не появится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должно согласоваться в IKEv1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Алгоритм шифрования, например AES вместо устаревшего 3DES</a:t>
            </a:r>
          </a:p>
          <a:p>
            <a:pPr>
              <a:defRPr sz="3600"/>
            </a:pPr>
            <a:r>
              <a:t>Алгоритм контроля целостности, например SHA вместо MD5</a:t>
            </a:r>
          </a:p>
          <a:p>
            <a:pPr>
              <a:defRPr sz="3600"/>
            </a:pPr>
            <a:r>
              <a:t>Метод аутентификации peer: Pre-Shared Key или сертификат</a:t>
            </a:r>
          </a:p>
          <a:p>
            <a:pPr>
              <a:defRPr sz="3600"/>
            </a:pPr>
            <a:r>
              <a:t>DH Group, определяющая параметры Diffie-Hellman</a:t>
            </a:r>
          </a:p>
          <a:p>
            <a:pPr>
              <a:defRPr sz="3600"/>
            </a:pPr>
            <a:r>
              <a:t>Режим обмена и совместимые параметры политики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Lifetime и peer address часто понимают неправильно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Lifetime не всегда обязан иметь одинаковое число на обеих сторонах</a:t>
            </a:r>
          </a:p>
          <a:p>
            <a:pPr>
              <a:defRPr sz="3600"/>
            </a:pPr>
            <a:r>
              <a:t>Стороны могут согласовать меньшее допустимое значение lifetime</a:t>
            </a:r>
          </a:p>
          <a:p>
            <a:pPr>
              <a:defRPr sz="3600"/>
            </a:pPr>
            <a:r>
              <a:t>Peer address не является криптографическим параметром политики</a:t>
            </a:r>
          </a:p>
          <a:p>
            <a:pPr>
              <a:defRPr sz="3600"/>
            </a:pPr>
            <a:r>
              <a:t>Каждая сторона должна указывать правильный адрес удаленного VPN-шлюза</a:t>
            </a:r>
          </a:p>
          <a:p>
            <a:pPr>
              <a:defRPr sz="3600"/>
            </a:pPr>
            <a:r>
              <a:t>Номера IKE-политик локальны и на двух маршрутизаторах не обязаны совпадать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Diffie-Hellman не аутентифицирует peer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Diffie-Hellman — алгоритм согласования общего секрета через открытую сеть</a:t>
            </a:r>
          </a:p>
          <a:p>
            <a:pPr>
              <a:defRPr sz="3600"/>
            </a:pPr>
            <a:r>
              <a:t>DH не передает будущий ключ напрямую</a:t>
            </a:r>
          </a:p>
          <a:p>
            <a:pPr>
              <a:defRPr sz="3600"/>
            </a:pPr>
            <a:r>
              <a:t>DH сам по себе не доказывает личность удаленной стороны</a:t>
            </a:r>
          </a:p>
          <a:p>
            <a:pPr>
              <a:defRPr sz="3600"/>
            </a:pPr>
            <a:r>
              <a:t>PSK или сертификат нужны, чтобы защититься от атаки посредника</a:t>
            </a:r>
          </a:p>
          <a:p>
            <a:pPr>
              <a:defRPr sz="3600"/>
            </a:pPr>
            <a:r>
              <a:t>Упрощенная цепочка: DH → общий секрет, PSK/сертификат → аутентификация peer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Полный пример IKEv1 Phase 1 на Cisco 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crypto isakmp policy 10 — создать локальную политику IKEv1</a:t>
            </a:r>
          </a:p>
          <a:p>
            <a:pPr>
              <a:defRPr sz="3600"/>
            </a:pPr>
            <a:r>
              <a:t>encr aes 256 — использовать AES-256 для шифрования служебного канала</a:t>
            </a:r>
          </a:p>
          <a:p>
            <a:pPr>
              <a:defRPr sz="3600"/>
            </a:pPr>
            <a:r>
              <a:t>hash sha — в классическом IOS обычно означает SHA-1; лучше MD5, но не современный максимум</a:t>
            </a:r>
          </a:p>
          <a:p>
            <a:pPr>
              <a:defRPr sz="3600"/>
            </a:pPr>
            <a:r>
              <a:t>authentication pre-share — использовать общий заранее заданный ключ</a:t>
            </a:r>
          </a:p>
          <a:p>
            <a:pPr>
              <a:defRPr sz="3600"/>
            </a:pPr>
            <a:r>
              <a:t>group 14 и lifetime 86400 — задать DH Group 14 и время жизни SA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Pre-Shared Key задается для адреса peer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HQ: crypto isakmp key VPN-KEY address 198.51.100.2</a:t>
            </a:r>
          </a:p>
          <a:p>
            <a:pPr>
              <a:defRPr sz="3600"/>
            </a:pPr>
            <a:r>
              <a:t>На Branch: crypto isakmp key VPN-KEY address 203.0.113.2</a:t>
            </a:r>
          </a:p>
          <a:p>
            <a:pPr>
              <a:defRPr sz="3600"/>
            </a:pPr>
            <a:r>
              <a:t>VPN-KEY должен совпадать посимвольно на двух сторонах</a:t>
            </a:r>
          </a:p>
          <a:p>
            <a:pPr>
              <a:defRPr sz="3600"/>
            </a:pPr>
            <a:r>
              <a:t>Адрес после address — внешний адрес удаленного VPN-шлюза</a:t>
            </a:r>
          </a:p>
          <a:p>
            <a:pPr>
              <a:defRPr sz="3600"/>
            </a:pPr>
            <a:r>
              <a:t>Учебный ключ не должен превращаться в рабочую привычку для реальной сети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 Packet Tracer алгоритмы зависят от образа 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3DES и MD5 считаются устаревшими и используются только для совместимости</a:t>
            </a:r>
          </a:p>
          <a:p>
            <a:pPr>
              <a:defRPr sz="3600"/>
            </a:pPr>
            <a:r>
              <a:t>AES предпочтительнее 3DES</a:t>
            </a:r>
          </a:p>
          <a:p>
            <a:pPr>
              <a:defRPr sz="3600"/>
            </a:pPr>
            <a:r>
              <a:t>hash sha в Packet Tracer обычно означает SHA-1</a:t>
            </a:r>
          </a:p>
          <a:p>
            <a:pPr>
              <a:defRPr sz="3600"/>
            </a:pPr>
            <a:r>
              <a:t>AES-256, DH14 и отдельные современные параметры могут зависеть от версии симулятора</a:t>
            </a:r>
          </a:p>
          <a:p>
            <a:pPr>
              <a:defRPr sz="3600"/>
            </a:pPr>
            <a:r>
              <a:t>Перед лабораторной конфигурацию нужно проверить именно в используемой версии Packet Tracer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IKEv1 Phase 1, общий секрет и аутентификация peer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018910-FB3A-9B55-3CB0-80D1E9F31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Phase 2 создает IPsec SA для пользовательского трафика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ISAKMP SA стороны переходят к IKEv1 Phase 2</a:t>
            </a:r>
          </a:p>
          <a:p>
            <a:pPr>
              <a:defRPr sz="3600"/>
            </a:pPr>
            <a:r>
              <a:t>В IKEv1 Phase 2 обычно выполняется через Quick Mode</a:t>
            </a:r>
          </a:p>
          <a:p>
            <a:pPr>
              <a:defRPr sz="3600"/>
            </a:pPr>
            <a:r>
              <a:t>Quick Mode согласует IPsec SA, Traffic Selectors и Transform Set</a:t>
            </a:r>
          </a:p>
          <a:p>
            <a:pPr>
              <a:defRPr sz="3600"/>
            </a:pPr>
            <a:r>
              <a:t>Traffic Selectors определяют, какой трафик должен защищаться</a:t>
            </a:r>
          </a:p>
          <a:p>
            <a:pPr>
              <a:defRPr sz="3600"/>
            </a:pPr>
            <a:r>
              <a:t>Если interesting traffic не появляется, IPsec SA может не создаться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IPsec SA является однонаправленной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Security Association описывает параметры защиты в одном направлении</a:t>
            </a:r>
          </a:p>
          <a:p>
            <a:pPr>
              <a:defRPr sz="3600"/>
            </a:pPr>
            <a:r>
              <a:t>Для двустороннего обмена создается пара SA: inbound и outbound</a:t>
            </a:r>
          </a:p>
          <a:p>
            <a:pPr>
              <a:defRPr sz="3600"/>
            </a:pPr>
            <a:r>
              <a:t>SPI (Security Parameter Index) — идентификатор конкретной IPsec SA</a:t>
            </a:r>
          </a:p>
          <a:p>
            <a:pPr>
              <a:defRPr sz="3600"/>
            </a:pPr>
            <a:r>
              <a:t>Устройство выбирает SA по Destination IP, протоколу ESP/AH и SPI</a:t>
            </a:r>
          </a:p>
          <a:p>
            <a:pPr>
              <a:defRPr sz="3600"/>
            </a:pPr>
            <a:r>
              <a:t>Поэтому в show crypto ipsec sa видны отдельные входящие и исходящие параметры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Последовательность от IKE до защищенного трафика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IKEv1 Phase 1 создает ISAKMP SA</a:t>
            </a:r>
          </a:p>
          <a:p>
            <a:pPr>
              <a:defRPr sz="3600"/>
            </a:pPr>
            <a:r>
              <a:t>ISAKMP SA защищает переговоры</a:t>
            </a:r>
          </a:p>
          <a:p>
            <a:pPr>
              <a:defRPr sz="3600"/>
            </a:pPr>
            <a:r>
              <a:t>IKEv1 Phase 2 / Quick Mode создает IPsec SA</a:t>
            </a:r>
          </a:p>
          <a:p>
            <a:pPr>
              <a:defRPr sz="3600"/>
            </a:pPr>
            <a:r>
              <a:t>IPsec SA задает алгоритмы, селекторы и ключи для пользовательского трафика</a:t>
            </a:r>
          </a:p>
          <a:p>
            <a:pPr>
              <a:defRPr sz="3600"/>
            </a:pPr>
            <a:r>
              <a:t>ESP начинает защищать пакеты, которые совпали с Crypto ACL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Transform Set описывает алгоритмы защиты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Transform Set — набор преобразований ESP/AH для IPsec SA</a:t>
            </a:r>
          </a:p>
          <a:p>
            <a:pPr>
              <a:defRPr sz="3600"/>
            </a:pPr>
            <a:r>
              <a:t>Команда: crypto ipsec transform-set TS esp-aes 256 esp-sha-hmac</a:t>
            </a:r>
          </a:p>
          <a:p>
            <a:pPr>
              <a:defRPr sz="3600"/>
            </a:pPr>
            <a:r>
              <a:t>esp-aes 256 — шифрование пользовательских данных алгоритмом AES-256</a:t>
            </a:r>
          </a:p>
          <a:p>
            <a:pPr>
              <a:defRPr sz="3600"/>
            </a:pPr>
            <a:r>
              <a:t>esp-sha-hmac — контроль целостности через HMAC-SHA</a:t>
            </a:r>
          </a:p>
          <a:p>
            <a:pPr>
              <a:defRPr sz="3600"/>
            </a:pPr>
            <a:r>
              <a:t>mode tunnel — явно указать туннельный режим, если это требуется платформой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PFS усиливает независимость ключей 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PFS (Perfect Forward Secrecy) — режим дополнительного DH-обмена для IPsec SA</a:t>
            </a:r>
          </a:p>
          <a:p>
            <a:pPr>
              <a:defRPr sz="3600"/>
            </a:pPr>
            <a:r>
              <a:t>Он уменьшает зависимость ключей пользовательского трафика от материала Phase 1</a:t>
            </a:r>
          </a:p>
          <a:p>
            <a:pPr>
              <a:defRPr sz="3600"/>
            </a:pPr>
            <a:r>
              <a:t>Классический пример: set pfs group14 внутри crypto map</a:t>
            </a:r>
          </a:p>
          <a:p>
            <a:pPr>
              <a:defRPr sz="3600"/>
            </a:pPr>
            <a:r>
              <a:t>В Packet Tracer поддержка PFS может быть ограничена</a:t>
            </a:r>
          </a:p>
          <a:p>
            <a:pPr>
              <a:defRPr sz="3600"/>
            </a:pPr>
            <a:r>
              <a:t>Для PNetLab и реального оборудования PFS стоит рассматривать как промышленную практику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Crypto ACL выбирает interesting traffic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Crypto ACL не является обычным интерфейсным фильтром безопасности</a:t>
            </a:r>
          </a:p>
          <a:p>
            <a:pPr>
              <a:defRPr sz="3600"/>
            </a:pPr>
            <a:r>
              <a:t>permit означает: трафик должен попасть в IPsec-обработку</a:t>
            </a:r>
          </a:p>
          <a:p>
            <a:pPr>
              <a:defRPr sz="3600"/>
            </a:pPr>
            <a:r>
              <a:t>deny означает: трафик исключается из IPsec-обработки</a:t>
            </a:r>
          </a:p>
          <a:p>
            <a:pPr>
              <a:defRPr sz="3600"/>
            </a:pPr>
            <a:r>
              <a:t>deny в Crypto ACL обычно не означает «запретить пакет»</a:t>
            </a:r>
          </a:p>
          <a:p>
            <a:pPr>
              <a:defRPr sz="3600"/>
            </a:pPr>
            <a:r>
              <a:t>Для реальной блокировки используют отдельную интерфейсную ACL или firewall policy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Crypto ACL с исключением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access-list 110 deny ip 192.168.10.0 0.0.0.255 host 192.168.20.50 — не шифровать трафик к узлу .50</a:t>
            </a:r>
          </a:p>
          <a:p>
            <a:pPr>
              <a:defRPr sz="3600"/>
            </a:pPr>
            <a:r>
              <a:t>access-list 110 permit ip 192.168.10.0 0.0.0.255 192.168.20.0 0.0.0.255 — защищать обмен между LAN</a:t>
            </a:r>
          </a:p>
          <a:p>
            <a:pPr>
              <a:defRPr sz="3600"/>
            </a:pPr>
            <a:r>
              <a:t>Порядок строк важен: ACL читается сверху вниз</a:t>
            </a:r>
          </a:p>
          <a:p>
            <a:pPr>
              <a:defRPr sz="3600"/>
            </a:pPr>
            <a:r>
              <a:t>Исключение не является запретом доступа к узлу</a:t>
            </a:r>
          </a:p>
          <a:p>
            <a:pPr>
              <a:defRPr sz="3600"/>
            </a:pPr>
            <a:r>
              <a:t>Если нужен запрет, его делают отдельной ACL на интерфейсе или межсетевым экраном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Crypto ACL должна быть зеркальной на двух сторонах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HQ: permit ip 192.168.10.0 0.0.0.255 192.168.20.0 0.0.0.255</a:t>
            </a:r>
          </a:p>
          <a:p>
            <a:pPr>
              <a:defRPr sz="3600"/>
            </a:pPr>
            <a:r>
              <a:t>Branch: permit ip 192.168.20.0 0.0.0.255 192.168.10.0 0.0.0.255</a:t>
            </a:r>
          </a:p>
          <a:p>
            <a:pPr>
              <a:defRPr sz="3600"/>
            </a:pPr>
            <a:r>
              <a:t>Зеркальными должны быть source и destination сети</a:t>
            </a:r>
          </a:p>
          <a:p>
            <a:pPr>
              <a:defRPr sz="3600"/>
            </a:pPr>
            <a:r>
              <a:t>Также должны совпадать протокол, порты, маски и диапазоны</a:t>
            </a:r>
          </a:p>
          <a:p>
            <a:pPr>
              <a:defRPr sz="3600"/>
            </a:pPr>
            <a:r>
              <a:t>Если HQ выбирает весь IP-трафик, а Branch только TCP 443, селекторы не совпадут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IKE Phase 1, Quick Mode и encrypted traffic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9B3C34-2B80-BE8B-B9EE-7945BBF59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Crypto Map связывает peer, transform-set и selectors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Crypto Map — объект Cisco IOS для policy-based IPsec</a:t>
            </a:r>
          </a:p>
          <a:p>
            <a:pPr>
              <a:defRPr sz="3600"/>
            </a:pPr>
            <a:r>
              <a:t>Она связывает удаленный peer, Transform Set и Crypto ACL</a:t>
            </a:r>
          </a:p>
          <a:p>
            <a:pPr>
              <a:defRPr sz="3600"/>
            </a:pPr>
            <a:r>
              <a:t>Команда crypto map VPN 10 ipsec-isakmp создает запись политики</a:t>
            </a:r>
          </a:p>
          <a:p>
            <a:pPr>
              <a:defRPr sz="3600"/>
            </a:pPr>
            <a:r>
              <a:t>set peer 198.51.100.2 указывает удаленный VPN-шлюз</a:t>
            </a:r>
          </a:p>
          <a:p>
            <a:pPr>
              <a:defRPr sz="3600"/>
            </a:pPr>
            <a:r>
              <a:t>match address 110 привязывает selectors из Crypto ACL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Crypto Map применяется к внешнему интерфейсу без направления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Crypto Map ставят на интерфейс, через который проходит трафик к peer</a:t>
            </a:r>
          </a:p>
          <a:p>
            <a:pPr>
              <a:defRPr sz="3600"/>
            </a:pPr>
            <a:r>
              <a:t>Команда interface GigabitEthernet0/0 выбирает outside-интерфейс</a:t>
            </a:r>
          </a:p>
          <a:p>
            <a:pPr>
              <a:defRPr sz="3600"/>
            </a:pPr>
            <a:r>
              <a:t>Команда crypto map VPN применяет IPsec-политику к интерфейсу</a:t>
            </a:r>
          </a:p>
          <a:p>
            <a:pPr>
              <a:defRPr sz="3600"/>
            </a:pPr>
            <a:r>
              <a:t>У команды нет направления in или out</a:t>
            </a:r>
          </a:p>
          <a:p>
            <a:pPr>
              <a:defRPr sz="3600"/>
            </a:pPr>
            <a:r>
              <a:t>Она участвует и в исходящей IPsec-обработке, и во входящей обработке ESP-пакетов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Полный пример Phase 2 и Crypto Map на HQ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access-list 110 permit ip 192.168.10.0 0.0.0.255 192.168.20.0 0.0.0.255 — выбрать LAN-to-LAN трафик</a:t>
            </a:r>
          </a:p>
          <a:p>
            <a:pPr>
              <a:defRPr sz="3600"/>
            </a:pPr>
            <a:r>
              <a:t>crypto ipsec transform-set TS esp-aes 256 esp-sha-hmac — задать ESP-алгоритмы</a:t>
            </a:r>
          </a:p>
          <a:p>
            <a:pPr>
              <a:defRPr sz="3600"/>
            </a:pPr>
            <a:r>
              <a:t>crypto map VPN 10 ipsec-isakmp — создать запись Crypto Map</a:t>
            </a:r>
          </a:p>
          <a:p>
            <a:pPr>
              <a:defRPr sz="3600"/>
            </a:pPr>
            <a:r>
              <a:t>set peer 198.51.100.2 и set transform-set TS — указать peer и Transform Set</a:t>
            </a:r>
          </a:p>
          <a:p>
            <a:pPr>
              <a:defRPr sz="3600"/>
            </a:pPr>
            <a:r>
              <a:t>match address 110 — связать карту с Crypto ACL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Маршрут до удаленной LAN все равно нужен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IPsec не заменяет маршрутизацию</a:t>
            </a:r>
          </a:p>
          <a:p>
            <a:pPr>
              <a:defRPr sz="3600"/>
            </a:pPr>
            <a:r>
              <a:t>Сначала маршрутизатор выбирает путь по таблице маршрутизации</a:t>
            </a:r>
          </a:p>
          <a:p>
            <a:pPr>
              <a:defRPr sz="3600"/>
            </a:pPr>
            <a:r>
              <a:t>Затем Crypto Map проверяет, нужно ли защищать выбранный пакет</a:t>
            </a:r>
          </a:p>
          <a:p>
            <a:pPr>
              <a:defRPr sz="3600"/>
            </a:pPr>
            <a:r>
              <a:t>Пример: ip route 192.168.20.0 255.255.255.0 203.0.113.1</a:t>
            </a:r>
          </a:p>
          <a:p>
            <a:pPr>
              <a:defRPr sz="3600"/>
            </a:pPr>
            <a:r>
              <a:t>Если маршрута нет, пакет не дойдет до этапа IPsec-обработки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NAT Exemption нужен для policy-based IPsec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VPN-трафик между LAN HQ и LAN Branch не должен попадать под обычный Internet PAT</a:t>
            </a:r>
          </a:p>
          <a:p>
            <a:pPr>
              <a:defRPr sz="3600"/>
            </a:pPr>
            <a:r>
              <a:t>Иначе 192.168.10.10 → 192.168.20.10 превратится в 203.0.113.2 → 192.168.20.10</a:t>
            </a:r>
          </a:p>
          <a:p>
            <a:pPr>
              <a:defRPr sz="3600"/>
            </a:pPr>
            <a:r>
              <a:t>После NAT пакет перестает совпадать с Crypto ACL</a:t>
            </a:r>
          </a:p>
          <a:p>
            <a:pPr>
              <a:defRPr sz="3600"/>
            </a:pPr>
            <a:r>
              <a:t>В NAT ACL строка deny может означать «исключить из NAT», а не «заблокировать»</a:t>
            </a:r>
          </a:p>
          <a:p>
            <a:pPr>
              <a:defRPr sz="3600"/>
            </a:pPr>
            <a:r>
              <a:t>Сначала проектируют NAT exemption, затем Internet NAT для остального трафика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логики NAT exemption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access-list 100 deny ip 192.168.10.0 0.0.0.255 192.168.20.0 0.0.0.255 — не NAT-ить VPN-трафик</a:t>
            </a:r>
          </a:p>
          <a:p>
            <a:pPr>
              <a:defRPr sz="3600"/>
            </a:pPr>
            <a:r>
              <a:t>access-list 100 permit ip 192.168.10.0 0.0.0.255 any — NAT-ить обычный Internet-трафик</a:t>
            </a:r>
          </a:p>
          <a:p>
            <a:pPr>
              <a:defRPr sz="3600"/>
            </a:pPr>
            <a:r>
              <a:t>ip nat inside source list 100 interface GigabitEthernet0/0 overload — включить PAT по ACL</a:t>
            </a:r>
          </a:p>
          <a:p>
            <a:pPr>
              <a:defRPr sz="3600"/>
            </a:pPr>
            <a:r>
              <a:t>Синтаксис NAT зависит от версии IOS и шаблона лаборатории</a:t>
            </a:r>
          </a:p>
          <a:p>
            <a:pPr>
              <a:defRPr sz="3600"/>
            </a:pPr>
            <a:r>
              <a:t>Смысл остается один: VPN-селекторы должны видеть исходные частные адреса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NAT-T переносит ESP в UDP 4500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NAT-T (NAT Traversal) нужен, когда между VPN peer есть NAT-устройство</a:t>
            </a:r>
          </a:p>
          <a:p>
            <a:pPr>
              <a:defRPr sz="3600"/>
            </a:pPr>
            <a:r>
              <a:t>Без NAT: IKE идет по UDP 500, данные идут как ESP Protocol 50</a:t>
            </a:r>
          </a:p>
          <a:p>
            <a:pPr>
              <a:defRPr sz="3600"/>
            </a:pPr>
            <a:r>
              <a:t>С NAT-T: защищенный трафик инкапсулируется в UDP 4500</a:t>
            </a:r>
          </a:p>
          <a:p>
            <a:pPr>
              <a:defRPr sz="3600"/>
            </a:pPr>
            <a:r>
              <a:t>Это позволяет NAT-устройству корректно вести таблицу трансляций</a:t>
            </a:r>
          </a:p>
          <a:p>
            <a:pPr>
              <a:defRPr sz="3600"/>
            </a:pPr>
            <a:r>
              <a:t>AH с NAT-T обычно не используют из-за несовместимости AH с изменением IP-заголовка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IKE и IPsec 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crypto isakmp sa — проверить состояние IKEv1 ISAKMP SA</a:t>
            </a:r>
          </a:p>
          <a:p>
            <a:pPr>
              <a:defRPr sz="3600"/>
            </a:pPr>
            <a:r>
              <a:t>QM_IDLE обычно означает, что ISAKMP SA установлена и Quick Mode завершен</a:t>
            </a:r>
          </a:p>
          <a:p>
            <a:pPr>
              <a:defRPr sz="3600"/>
            </a:pPr>
            <a:r>
              <a:t>QM_IDLE не доказывает полную доступность LAN-to-LAN</a:t>
            </a:r>
          </a:p>
          <a:p>
            <a:pPr>
              <a:defRPr sz="3600"/>
            </a:pPr>
            <a:r>
              <a:t>show crypto ipsec sa — проверить IPsec SA и счетчики защищенного трафика</a:t>
            </a:r>
          </a:p>
          <a:p>
            <a:pPr>
              <a:defRPr sz="3600"/>
            </a:pPr>
            <a:r>
              <a:t>show access-lists — увидеть matches по Crypto ACL после interesting traffic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читать счетчики IPsec 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pkts encaps и pkts encrypt растут, когда локальный роутер шифрует исходящие пакеты</a:t>
            </a:r>
          </a:p>
          <a:p>
            <a:pPr>
              <a:defRPr sz="3600"/>
            </a:pPr>
            <a:r>
              <a:t>pkts decaps и pkts decrypt растут, когда роутер получает и расшифровывает ESP</a:t>
            </a:r>
          </a:p>
          <a:p>
            <a:pPr>
              <a:defRPr sz="3600"/>
            </a:pPr>
            <a:r>
              <a:t>pkts digest и pkts verify связаны с проверкой целостности</a:t>
            </a:r>
          </a:p>
          <a:p>
            <a:pPr>
              <a:defRPr sz="3600"/>
            </a:pPr>
            <a:r>
              <a:t>local ident и remote ident показывают согласованные traffic selectors</a:t>
            </a:r>
          </a:p>
          <a:p>
            <a:pPr>
              <a:defRPr sz="3600"/>
            </a:pPr>
            <a:r>
              <a:t>current outbound SPI показывает идентификатор исходящей SA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выводы по encaps и decaps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Encaps растет и Decaps растет — двусторонний VPN работает</a:t>
            </a:r>
          </a:p>
          <a:p>
            <a:pPr>
              <a:defRPr sz="3600"/>
            </a:pPr>
            <a:r>
              <a:t>Encaps растет, Decaps 0 — удаленная сторона не отвечает или есть NAT/route/selectors mismatch</a:t>
            </a:r>
          </a:p>
          <a:p>
            <a:pPr>
              <a:defRPr sz="3600"/>
            </a:pPr>
            <a:r>
              <a:t>Encaps 0, Decaps растет — получаем ESP, но ответный трафик не совпадает с Crypto ACL</a:t>
            </a:r>
          </a:p>
          <a:p>
            <a:pPr>
              <a:defRPr sz="3600"/>
            </a:pPr>
            <a:r>
              <a:t>Оба счетчика 0 — нет interesting traffic или Crypto Map не срабатывает</a:t>
            </a:r>
          </a:p>
          <a:p>
            <a:pPr>
              <a:defRPr sz="3600"/>
            </a:pPr>
            <a:r>
              <a:t>clear crypto isakmp sa и clear crypto ipsec sa разрывают VPN и применяются осознанно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counters encaps и decaps при проверке 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6E3979-809C-D63A-DF89-AEED600F2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GRE over IPsec в PNetLab меняет Crypto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GRE over IPsec защищается GRE-пакет между внешними адресами маршрутизаторов</a:t>
            </a:r>
          </a:p>
          <a:p>
            <a:pPr>
              <a:defRPr sz="3600"/>
            </a:pPr>
            <a:r>
              <a:t>HQ: permit gre host 203.0.113.2 host 198.51.100.2</a:t>
            </a:r>
          </a:p>
          <a:p>
            <a:pPr>
              <a:defRPr sz="3600"/>
            </a:pPr>
            <a:r>
              <a:t>Branch: permit gre host 198.51.100.2 host 203.0.113.2</a:t>
            </a:r>
          </a:p>
          <a:p>
            <a:pPr>
              <a:defRPr sz="3600"/>
            </a:pPr>
            <a:r>
              <a:t>Crypto ACL выбирает GRE Protocol 47, а не внутренние LAN-сети</a:t>
            </a:r>
          </a:p>
          <a:p>
            <a:pPr>
              <a:defRPr sz="3600"/>
            </a:pPr>
            <a:r>
              <a:t>OSPF идет внутри GRE, а IPsec защищает GRE снаружи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Диагностика GRE over IPsec идет слоями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Underlay — есть ли маршрутизация между public IP peer</a:t>
            </a:r>
          </a:p>
          <a:p>
            <a:pPr>
              <a:defRPr sz="3600"/>
            </a:pPr>
            <a:r>
              <a:t>GRE — поднят ли tunnel interface и проходит ли GRE Protocol 47</a:t>
            </a:r>
          </a:p>
          <a:p>
            <a:pPr>
              <a:defRPr sz="3600"/>
            </a:pPr>
            <a:r>
              <a:t>IKE — есть ли ISAKMP SA между peer</a:t>
            </a:r>
          </a:p>
          <a:p>
            <a:pPr>
              <a:defRPr sz="3600"/>
            </a:pPr>
            <a:r>
              <a:t>IPsec — растут ли counters ESP encaps/decaps</a:t>
            </a:r>
          </a:p>
          <a:p>
            <a:pPr>
              <a:defRPr sz="3600"/>
            </a:pPr>
            <a:r>
              <a:t>OSPF и LAN — появились ли соседство и маршруты внутренних сетей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IKEv1 и IKEv2 используют разную терминологию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Packet Tracer удобнее для классической IKEv1-схемы с Crypto Map</a:t>
            </a:r>
          </a:p>
          <a:p>
            <a:pPr>
              <a:defRPr sz="3600"/>
            </a:pPr>
            <a:r>
              <a:t>IKEv1 объясняют через Phase 1 и Phase 2</a:t>
            </a:r>
          </a:p>
          <a:p>
            <a:pPr>
              <a:defRPr sz="3600"/>
            </a:pPr>
            <a:r>
              <a:t>IKEv2 не переносит эти термины буквально</a:t>
            </a:r>
          </a:p>
          <a:p>
            <a:pPr>
              <a:defRPr sz="3600"/>
            </a:pPr>
            <a:r>
              <a:t>В IKEv2 используются обмены IKE_SA_INIT, IKE_AUTH и CREATE_CHILD_SA</a:t>
            </a:r>
          </a:p>
          <a:p>
            <a:pPr>
              <a:defRPr sz="3600"/>
            </a:pPr>
            <a:r>
              <a:t>Концептуально результат похож: IKE SA для управления и Child SA для пользовательского трафика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IPsec 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 совпадает PSK или параметры IKE Phase 1</a:t>
            </a:r>
          </a:p>
          <a:p>
            <a:pPr>
              <a:defRPr sz="3600"/>
            </a:pPr>
            <a:r>
              <a:t>hash sha принят за современный SHA-2, хотя в IOS это часто SHA-1</a:t>
            </a:r>
          </a:p>
          <a:p>
            <a:pPr>
              <a:defRPr sz="3600"/>
            </a:pPr>
            <a:r>
              <a:t>Crypto ACL не зеркальна между сторонами</a:t>
            </a:r>
          </a:p>
          <a:p>
            <a:pPr>
              <a:defRPr sz="3600"/>
            </a:pPr>
            <a:r>
              <a:t>Crypto Map не применена к outside-интерфейсу</a:t>
            </a:r>
          </a:p>
          <a:p>
            <a:pPr>
              <a:defRPr sz="3600"/>
            </a:pPr>
            <a:r>
              <a:t>VPN-трафик попал под обычный NAT/PAT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Диагностика должна начинаться до 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Проверить физическое состояние outside-интерфейсов</a:t>
            </a:r>
          </a:p>
          <a:p>
            <a:pPr>
              <a:defRPr sz="3600"/>
            </a:pPr>
            <a:r>
              <a:t>Проверить IP-адресацию и маршруты underlay</a:t>
            </a:r>
          </a:p>
          <a:p>
            <a:pPr>
              <a:defRPr sz="3600"/>
            </a:pPr>
            <a:r>
              <a:t>Проверить достижимость peer с правильного source IP</a:t>
            </a:r>
          </a:p>
          <a:p>
            <a:pPr>
              <a:defRPr sz="3600"/>
            </a:pPr>
            <a:r>
              <a:t>Проверить, не блокируются ли UDP 500, UDP 4500, ESP 50 и GRE 47</a:t>
            </a:r>
          </a:p>
          <a:p>
            <a:pPr>
              <a:defRPr sz="3600"/>
            </a:pPr>
            <a:r>
              <a:t>Ping между public IP проверяет ICMP, но не доказывает прохождение IKE и ESP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Полная цепочка диагностики IPsec 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Underlay: интерфейсы, маршруты, reachability peer</a:t>
            </a:r>
          </a:p>
          <a:p>
            <a:pPr>
              <a:defRPr sz="3600"/>
            </a:pPr>
            <a:r>
              <a:t>2. IKE Phase 1: show crypto isakmp sa</a:t>
            </a:r>
          </a:p>
          <a:p>
            <a:pPr>
              <a:defRPr sz="3600"/>
            </a:pPr>
            <a:r>
              <a:t>3. Interesting traffic: ping между LAN и matches Crypto ACL</a:t>
            </a:r>
          </a:p>
          <a:p>
            <a:pPr>
              <a:defRPr sz="3600"/>
            </a:pPr>
            <a:r>
              <a:t>4. IPsec SA: show crypto ipsec sa, SPI, encaps и decaps</a:t>
            </a:r>
          </a:p>
          <a:p>
            <a:pPr>
              <a:defRPr sz="3600"/>
            </a:pPr>
            <a:r>
              <a:t>5. NAT exemption, зеркальность selectors, LAN routes и host firewall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IPsec защищает IP-трафик, но не заменяет маршрутизацию</a:t>
            </a:r>
          </a:p>
          <a:p>
            <a:pPr>
              <a:defRPr sz="3600"/>
            </a:pPr>
            <a:r>
              <a:t>ESP является основным механизмом защиты для Site-to-Site VPN</a:t>
            </a:r>
          </a:p>
          <a:p>
            <a:pPr>
              <a:defRPr sz="3600"/>
            </a:pPr>
            <a:r>
              <a:t>IKEv1 Phase 1 создает ISAKMP SA, а Quick Mode создает IPsec SA</a:t>
            </a:r>
          </a:p>
          <a:p>
            <a:pPr>
              <a:defRPr sz="3600"/>
            </a:pPr>
            <a:r>
              <a:t>Crypto ACL выбирает трафик для шифрования, а Crypto Map связывает peer, Transform Set и selectors</a:t>
            </a:r>
          </a:p>
          <a:p>
            <a:pPr>
              <a:defRPr sz="3600"/>
            </a:pPr>
            <a:r>
              <a:t>Надежная диагностика идет по цепочке underlay → IKE → IPsec SA → NAT → маршруты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обычный хэш без ключа не является достаточным контролем целостности?</a:t>
            </a:r>
          </a:p>
          <a:p>
            <a:pPr>
              <a:defRPr sz="3600"/>
            </a:pPr>
            <a:r>
              <a:t>Чем аутентификация peer отличается от аутентификации IPsec-пакетов?</a:t>
            </a:r>
          </a:p>
          <a:p>
            <a:pPr>
              <a:defRPr sz="3600"/>
            </a:pPr>
            <a:r>
              <a:t>Почему AH плохо работает с NAT?</a:t>
            </a:r>
          </a:p>
          <a:p>
            <a:pPr>
              <a:defRPr sz="3600"/>
            </a:pPr>
            <a:r>
              <a:t>Что означает deny в Crypto ACL?</a:t>
            </a:r>
          </a:p>
          <a:p>
            <a:pPr>
              <a:defRPr sz="3600"/>
            </a:pPr>
            <a:r>
              <a:t>Почему IPsec VPN требует маршрута до удаленной сети?</a:t>
            </a:r>
          </a:p>
          <a:p>
            <a:pPr>
              <a:defRPr sz="3600"/>
            </a:pPr>
            <a:r>
              <a:t>Что показывает SPI в IPsec SA?</a:t>
            </a:r>
          </a:p>
          <a:p>
            <a:pPr>
              <a:defRPr sz="3600"/>
            </a:pPr>
            <a:r>
              <a:t>Почему QM_IDLE не является полной проверкой доступности LAN-to-LAN?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2620</Words>
  <Application>Microsoft Office PowerPoint</Application>
  <PresentationFormat>Широкоэкранный</PresentationFormat>
  <Paragraphs>281</Paragraphs>
  <Slides>52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2026-07-27T11:36:06Z</dcterms:modified>
  <cp:category/>
</cp:coreProperties>
</file>