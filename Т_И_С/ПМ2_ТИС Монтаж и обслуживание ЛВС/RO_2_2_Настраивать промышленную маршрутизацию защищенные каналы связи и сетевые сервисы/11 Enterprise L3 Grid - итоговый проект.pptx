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11. Enterprise L3 Grid — учебный итоговый проект РО2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Собрать технологии РО2 в единую архитектуру распределенной корпоративной сети</a:t>
            </a:r>
          </a:p>
          <a:p>
            <a:pPr>
              <a:defRPr sz="3600"/>
            </a:pPr>
            <a:r>
              <a:t>Зафиксировать выбранную модель: L2 Access, L3 Distribution, Core/Edge и DMZ</a:t>
            </a:r>
          </a:p>
          <a:p>
            <a:pPr>
              <a:defRPr sz="3600"/>
            </a:pPr>
            <a:r>
              <a:t>Развести варианты VPN: GRE, Policy-Based IPsec и GRE over IPsec</a:t>
            </a:r>
          </a:p>
          <a:p>
            <a:pPr>
              <a:defRPr sz="3600"/>
            </a:pPr>
            <a:r>
              <a:t>Построить правильный порядок сборки и приемки итогового проекта</a:t>
            </a:r>
          </a:p>
          <a:p>
            <a:pPr>
              <a:defRPr sz="3600"/>
            </a:pPr>
            <a:r>
              <a:t>Подготовить исполнительную документацию, которая подтверждает фактическую настройку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Обобщение L3-маршрутизации, безопасности и сервисов крупного предприятия</a:t>
            </a:r>
          </a:p>
          <a:p>
            <a:pPr>
              <a:defRPr sz="3600"/>
            </a:pPr>
            <a:r>
              <a:t>2. Интеграция модулей L2 из РО1 и L3 из РО2</a:t>
            </a:r>
          </a:p>
          <a:p>
            <a:pPr>
              <a:defRPr sz="3600"/>
            </a:pPr>
            <a:r>
              <a:t>3. Зоны Core, Distribution, Access, Edge и DMZ</a:t>
            </a:r>
          </a:p>
          <a:p>
            <a:pPr>
              <a:defRPr sz="3600"/>
            </a:pPr>
            <a:r>
              <a:t>4. Масштабирование адресации и комплексная исполнительная документация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Enterprise L3 Grid — название учебного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Enterprise L3 Grid не является общепринятым отраслевым стандартом</a:t>
            </a:r>
          </a:p>
          <a:p>
            <a:pPr>
              <a:defRPr sz="3600"/>
            </a:pPr>
            <a:r>
              <a:t>В рамках курса это название учебной распределенной сети HQ–Branch–Provider–DMZ</a:t>
            </a:r>
          </a:p>
          <a:p>
            <a:pPr>
              <a:defRPr sz="3600"/>
            </a:pPr>
            <a:r>
              <a:t>Проект объединяет маршрутизацию, DHCP Relay, OSPF, ACL, VPN, IP SLA, NTP, Syslog и Backup</a:t>
            </a:r>
          </a:p>
          <a:p>
            <a:pPr>
              <a:defRPr sz="3600"/>
            </a:pPr>
            <a:r>
              <a:t>Главная задача — показать, что технологии работают как система, а не как отдельные лабораторные</a:t>
            </a:r>
          </a:p>
          <a:p>
            <a:pPr>
              <a:defRPr sz="3600"/>
            </a:pPr>
            <a:r>
              <a:t>Итог проверяется сценариями пользователей, отказами и исполнительной документацией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Сценарий итогового проекта фиксирует состав сети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HQ — головной офис с серверной VLAN, Management VLAN, DMZ и сетевым ядром</a:t>
            </a:r>
          </a:p>
          <a:p>
            <a:pPr>
              <a:defRPr sz="3600"/>
            </a:pPr>
            <a:r>
              <a:t>Branch — филиал с локальными пользовательскими VLAN и своим edge-router</a:t>
            </a:r>
          </a:p>
          <a:p>
            <a:pPr>
              <a:defRPr sz="3600"/>
            </a:pPr>
            <a:r>
              <a:t>Provider — учебная недоверенная сеть между публичными адресами площадок</a:t>
            </a:r>
          </a:p>
          <a:p>
            <a:pPr>
              <a:defRPr sz="3600"/>
            </a:pPr>
            <a:r>
              <a:t>DMZ — отдельная зона для сервисов, доступных из менее доверенных сегментов</a:t>
            </a:r>
          </a:p>
          <a:p>
            <a:pPr>
              <a:defRPr sz="3600"/>
            </a:pPr>
            <a:r>
              <a:t>NTP, Syslog, DHCP и Backup-серверы размещаются в серверной или Management-зоне HQ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Топология: HQ, Branch, Provider, DMZ и служебные серверы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8F87659-7251-0757-E720-A16962746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 проекте фиксируется одна архитектурная модель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Access-коммутаторы работают преимущественно на L2</a:t>
            </a:r>
          </a:p>
          <a:p>
            <a:pPr>
              <a:defRPr sz="3600"/>
            </a:pPr>
            <a:r>
              <a:t>Access подключается к Distribution через trunk или EtherChannel</a:t>
            </a:r>
          </a:p>
          <a:p>
            <a:pPr>
              <a:defRPr sz="3600"/>
            </a:pPr>
            <a:r>
              <a:t>Distribution содержит SVI, HSRP, DHCP Relay и часть ACL-политик</a:t>
            </a:r>
          </a:p>
          <a:p>
            <a:pPr>
              <a:defRPr sz="3600"/>
            </a:pPr>
            <a:r>
              <a:t>Core или Collapsed Core связывает Distribution, Edge и транзитные L3-сегменты</a:t>
            </a:r>
          </a:p>
          <a:p>
            <a:pPr>
              <a:defRPr sz="3600"/>
            </a:pPr>
            <a:r>
              <a:t>Edge отвечает за WAN, VPN, NAT/PAT и резервирование внешнего маршрута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L2 Access → L3 Distribution → Core/Edge → Provider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FAF004B-8DE5-6467-A854-06C06C030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L3-маршрутизация является каркасом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Connected routes появляются на SVI, routed ports, loopback, tunnel и WAN-интерфейсах</a:t>
            </a:r>
          </a:p>
          <a:p>
            <a:pPr>
              <a:defRPr sz="3600"/>
            </a:pPr>
            <a:r>
              <a:t>OSPF распространяет внутренние маршруты между HQ, Branch и транзитными зонами</a:t>
            </a:r>
          </a:p>
          <a:p>
            <a:pPr>
              <a:defRPr sz="3600"/>
            </a:pPr>
            <a:r>
              <a:t>Default route передает внутренним устройствам направление выхода к Edge</a:t>
            </a:r>
          </a:p>
          <a:p>
            <a:pPr>
              <a:defRPr sz="3600"/>
            </a:pPr>
            <a:r>
              <a:t>Static routes применяются на Edge, для underlay, default route и резервирования</a:t>
            </a:r>
          </a:p>
          <a:p>
            <a:pPr>
              <a:defRPr sz="3600"/>
            </a:pPr>
            <a:r>
              <a:t>Межобластная OSPF-суммаризация выполняется на ABR, а не заменяется случайными static summary routes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Static routes и OSPF summary решают разные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Статический маршрут удобен для default route, underlay peer, management route и floating backup</a:t>
            </a:r>
          </a:p>
          <a:p>
            <a:pPr>
              <a:defRPr sz="3600"/>
            </a:pPr>
            <a:r>
              <a:t>OSPF summary между областями настраивается на ABR командой area range</a:t>
            </a:r>
          </a:p>
          <a:p>
            <a:pPr>
              <a:defRPr sz="3600"/>
            </a:pPr>
            <a:r>
              <a:t>Пример: area 10 range 10.10.0.0 255.255.0.0</a:t>
            </a:r>
          </a:p>
          <a:p>
            <a:pPr>
              <a:defRPr sz="3600"/>
            </a:pPr>
            <a:r>
              <a:t>Static summary route не должен подменять понимание OSPF ABR-суммаризации</a:t>
            </a:r>
          </a:p>
          <a:p>
            <a:pPr>
              <a:defRPr sz="3600"/>
            </a:pPr>
            <a:r>
              <a:t>В отчете нужно указать, где используется static route, а где OSPF-суммаризация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DHCP Relay зависит от маршрутизации и правильного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DHCP-сервер размещается централизованно в HQ</a:t>
            </a:r>
          </a:p>
          <a:p>
            <a:pPr>
              <a:defRPr sz="3600"/>
            </a:pPr>
            <a:r>
              <a:t>ip helper-address настраивается на client-facing SVI пользовательских VLAN</a:t>
            </a:r>
          </a:p>
          <a:p>
            <a:pPr>
              <a:defRPr sz="3600"/>
            </a:pPr>
            <a:r>
              <a:t>DHCP Scope должен выдавать шлюз, который реально является gateway для этой VLAN</a:t>
            </a:r>
          </a:p>
          <a:p>
            <a:pPr>
              <a:defRPr sz="3600"/>
            </a:pPr>
            <a:r>
              <a:t>При HSRP клиентам выдается Virtual IP, а не физический адрес DIST1 или DIST2</a:t>
            </a:r>
          </a:p>
          <a:p>
            <a:pPr>
              <a:defRPr sz="3600"/>
            </a:pPr>
            <a:r>
              <a:t>Branch-клиенты получат адрес с HQ-сервера только после межплощадочной связности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Branch DHCP через HQ требует нескольких зависимостей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На Branch Gateway должен быть настроен ip helper-address на DHCP-сервер HQ</a:t>
            </a:r>
          </a:p>
          <a:p>
            <a:pPr>
              <a:defRPr sz="3600"/>
            </a:pPr>
            <a:r>
              <a:t>На DHCP-сервере должен существовать Scope для Branch VLAN</a:t>
            </a:r>
          </a:p>
          <a:p>
            <a:pPr>
              <a:defRPr sz="3600"/>
            </a:pPr>
            <a:r>
              <a:t>Gateway в Scope должен соответствовать Branch SVI или HSRP VIP</a:t>
            </a:r>
          </a:p>
          <a:p>
            <a:pPr>
              <a:defRPr sz="3600"/>
            </a:pPr>
            <a:r>
              <a:t>Должны быть маршруты от Branch Relay к DHCP-серверу и обратно к GIADDR</a:t>
            </a:r>
          </a:p>
          <a:p>
            <a:pPr>
              <a:defRPr sz="3600"/>
            </a:pPr>
            <a:r>
              <a:t>ACL, firewall и VPN selectors должны разрешать DHCP/BOOTP между Relay и Server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ACL задают границы доступа, а не просто блокируют все подряд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Стандартная ACL защищает VTY и разрешает SSH только из Management VLAN</a:t>
            </a:r>
          </a:p>
          <a:p>
            <a:pPr>
              <a:defRPr sz="3600"/>
            </a:pPr>
            <a:r>
              <a:t>Extended ACL ограничивает доступ пользователей, гостей, DMZ и серверных сегментов</a:t>
            </a:r>
          </a:p>
          <a:p>
            <a:pPr>
              <a:defRPr sz="3600"/>
            </a:pPr>
            <a:r>
              <a:t>DNS, DHCP, HTTP, HTTPS, ICMP и management-доступ разрешаются только там, где это нужно</a:t>
            </a:r>
          </a:p>
          <a:p>
            <a:pPr>
              <a:defRPr sz="3600"/>
            </a:pPr>
            <a:r>
              <a:t>Счетчики ACL показывают, какие правила реально сработали</a:t>
            </a:r>
          </a:p>
          <a:p>
            <a:pPr>
              <a:defRPr sz="3600"/>
            </a:pPr>
            <a:r>
              <a:t>Проектная матрица доступа важнее набора разрозненных deny-строк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VPN-вариант должен быть выбран явно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Вариант A: чистый GRE — удобно для OSPF через туннель, но шифрования нет</a:t>
            </a:r>
          </a:p>
          <a:p>
            <a:pPr>
              <a:defRPr sz="3600"/>
            </a:pPr>
            <a:r>
              <a:t>Вариант B: Policy-Based Site-to-Site IPsec — шифрует выбранный трафик, но обычно без Tunnel-интерфейса</a:t>
            </a:r>
          </a:p>
          <a:p>
            <a:pPr>
              <a:defRPr sz="3600"/>
            </a:pPr>
            <a:r>
              <a:t>Вариант C: GRE over IPsec — OSPF идет внутри GRE, а GRE защищается IPsec</a:t>
            </a:r>
          </a:p>
          <a:p>
            <a:pPr>
              <a:defRPr sz="3600"/>
            </a:pPr>
            <a:r>
              <a:t>Packet Tracer чаще ограничивает доступные варианты</a:t>
            </a:r>
          </a:p>
          <a:p>
            <a:pPr>
              <a:defRPr sz="3600"/>
            </a:pPr>
            <a:r>
              <a:t>В отчете студент обязан указать, какой VPN-вариант реализован и почему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Проверки зависят от выбранного VPN-варианта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GRE: show interfaces Tunnel0, ping remote tunnel IP, show ip ospf neighbor</a:t>
            </a:r>
          </a:p>
          <a:p>
            <a:pPr>
              <a:defRPr sz="3600"/>
            </a:pPr>
            <a:r>
              <a:t>Policy-Based IPsec: show crypto isakmp sa, show crypto ipsec sa, show access-lists</a:t>
            </a:r>
          </a:p>
          <a:p>
            <a:pPr>
              <a:defRPr sz="3600"/>
            </a:pPr>
            <a:r>
              <a:t>GRE over IPsec: show crypto isakmp sa, show crypto ipsec sa, show interfaces Tunnel0, show ip ospf neighbor</a:t>
            </a:r>
          </a:p>
          <a:p>
            <a:pPr>
              <a:defRPr sz="3600"/>
            </a:pPr>
            <a:r>
              <a:t>IKEv2 проверяется командами show crypto ikev2 sa и show crypto ipsec sa</a:t>
            </a:r>
          </a:p>
          <a:p>
            <a:pPr>
              <a:defRPr sz="3600"/>
            </a:pPr>
            <a:r>
              <a:t>Нельзя принимать все VPN-варианты одним одинаковым набором show-команд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Для GRE over IPsec диагностика идет по слоям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Underlay: есть маршрут до Public Peer и проходят UDP 500/4500, ESP или GRE</a:t>
            </a:r>
          </a:p>
          <a:p>
            <a:pPr>
              <a:defRPr sz="3600"/>
            </a:pPr>
            <a:r>
              <a:t>IKE SA: VPN-шлюзы согласовали управляющую SA</a:t>
            </a:r>
          </a:p>
          <a:p>
            <a:pPr>
              <a:defRPr sz="3600"/>
            </a:pPr>
            <a:r>
              <a:t>IPsec SA: растут counters encaps и decaps</a:t>
            </a:r>
          </a:p>
          <a:p>
            <a:pPr>
              <a:defRPr sz="3600"/>
            </a:pPr>
            <a:r>
              <a:t>GRE Overlay: проходит ping между Tunnel IP</a:t>
            </a:r>
          </a:p>
          <a:p>
            <a:pPr>
              <a:defRPr sz="3600"/>
            </a:pPr>
            <a:r>
              <a:t>OSPF и LAN: появляется соседство, маршруты и пользовательский трафик между площадками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Traceroute не доказывает шифрование IPsec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GRE traceroute по overlay может показать логический tunnel-hop</a:t>
            </a:r>
          </a:p>
          <a:p>
            <a:pPr>
              <a:defRPr sz="3600"/>
            </a:pPr>
            <a:r>
              <a:t>Policy-Based IPsec не является отдельным L3-hop в traceroute</a:t>
            </a:r>
          </a:p>
          <a:p>
            <a:pPr>
              <a:defRPr sz="3600"/>
            </a:pPr>
            <a:r>
              <a:t>Факт шифрования подтверждается show crypto ipsec sa и ростом pkts encaps/decaps</a:t>
            </a:r>
          </a:p>
          <a:p>
            <a:pPr>
              <a:defRPr sz="3600"/>
            </a:pPr>
            <a:r>
              <a:t>Underlay traceroute выполняется до публичного peer-адреса, например traceroute 198.51.100.2</a:t>
            </a:r>
          </a:p>
          <a:p>
            <a:pPr>
              <a:defRPr sz="3600"/>
            </a:pPr>
            <a:r>
              <a:t>Overlay traceroute проверяет путь между LAN, но не заменяет проверку IPsec SA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IP SLA должен проверять основной путь через фиксированный probe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Probe Target — контрольная цель за основным провайдером, например 10.255.255.1/32</a:t>
            </a:r>
          </a:p>
          <a:p>
            <a:pPr>
              <a:defRPr sz="3600"/>
            </a:pPr>
            <a:r>
              <a:t>Команда ip route 10.255.255.1 255.255.255.255 203.0.113.1 фиксирует путь проверки через ISP1</a:t>
            </a:r>
          </a:p>
          <a:p>
            <a:pPr>
              <a:defRPr sz="3600"/>
            </a:pPr>
            <a:r>
              <a:t>Этот /32 маршрут не должен зависеть от Track</a:t>
            </a:r>
          </a:p>
          <a:p>
            <a:pPr>
              <a:defRPr sz="3600"/>
            </a:pPr>
            <a:r>
              <a:t>source-interface задает исходный адрес IP SLA, но не фиксирует физический путь</a:t>
            </a:r>
          </a:p>
          <a:p>
            <a:pPr>
              <a:defRPr sz="3600"/>
            </a:pPr>
            <a:r>
              <a:t>show ip route 10.255.255.1 должен подтверждать, что проверка идет через ISP1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IP SLA и tracked default route для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ip sla 1; icmp-echo 10.255.255.1 source-interface GigabitEthernet0/0</a:t>
            </a:r>
          </a:p>
          <a:p>
            <a:pPr>
              <a:defRPr sz="3600"/>
            </a:pPr>
            <a:r>
              <a:t>timeout 1000; frequency 5; ip sla schedule 1 life forever start-time now</a:t>
            </a:r>
          </a:p>
          <a:p>
            <a:pPr>
              <a:defRPr sz="3600"/>
            </a:pPr>
            <a:r>
              <a:t>track 1 ip sla 1 reachability; delay down 10 up 20</a:t>
            </a:r>
          </a:p>
          <a:p>
            <a:pPr>
              <a:defRPr sz="3600"/>
            </a:pPr>
            <a:r>
              <a:t>ip route 0.0.0.0 0.0.0.0 203.0.113.1 track 1</a:t>
            </a:r>
          </a:p>
          <a:p>
            <a:pPr>
              <a:defRPr sz="3600"/>
            </a:pPr>
            <a:r>
              <a:t>ip route 0.0.0.0 0.0.0.0 198.51.100.1 200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WAN Failover не резервирует VPN автоматически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IP SLA может переключить обычный default route с ISP1 на ISP2</a:t>
            </a:r>
          </a:p>
          <a:p>
            <a:pPr>
              <a:defRPr sz="3600"/>
            </a:pPr>
            <a:r>
              <a:t>VPN может оставаться привязанным к публичному адресу ISP1</a:t>
            </a:r>
          </a:p>
          <a:p>
            <a:pPr>
              <a:defRPr sz="3600"/>
            </a:pPr>
            <a:r>
              <a:t>Если tunnel source или crypto peer связан с ISP1, при отказе ISP1 VPN может упасть</a:t>
            </a:r>
          </a:p>
          <a:p>
            <a:pPr>
              <a:defRPr sz="3600"/>
            </a:pPr>
            <a:r>
              <a:t>Упрощенный учебный проект может резервировать только Internet-доступ и явно указать это ограничение</a:t>
            </a:r>
          </a:p>
          <a:p>
            <a:pPr>
              <a:defRPr sz="3600"/>
            </a:pPr>
            <a:r>
              <a:t>Полный отказоустойчивый проект требует второго VPN-туннеля или второго peer через ISP2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NTP, Syslog и Backup делают проект сопровождаемым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NTP синхронизирует время устройств для сопоставления событий</a:t>
            </a:r>
          </a:p>
          <a:p>
            <a:pPr>
              <a:defRPr sz="3600"/>
            </a:pPr>
            <a:r>
              <a:t>Syslog собирает сообщения OSPF, ACL, IP SLA, VPN и интерфейсов</a:t>
            </a:r>
          </a:p>
          <a:p>
            <a:pPr>
              <a:defRPr sz="3600"/>
            </a:pPr>
            <a:r>
              <a:t>Loopback Source дает постоянный адрес служебного трафика при наличии обратных маршрутов</a:t>
            </a:r>
          </a:p>
          <a:p>
            <a:pPr>
              <a:defRPr sz="3600"/>
            </a:pPr>
            <a:r>
              <a:t>Backup через TFTP или SCP сохраняет конфигурации после значимых изменений</a:t>
            </a:r>
          </a:p>
          <a:p>
            <a:pPr>
              <a:defRPr sz="3600"/>
            </a:pPr>
            <a:r>
              <a:t>Сеть без эксплуатационных сервисов может работать, но ее трудно сопровождать профессионально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L2 из РО2.1 остается фундаментом L3-проекта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VLAN разделяют пользователей, серверы, management, voice, WLAN, guest и DMZ</a:t>
            </a:r>
          </a:p>
          <a:p>
            <a:pPr>
              <a:defRPr sz="3600"/>
            </a:pPr>
            <a:r>
              <a:t>Trunk и EtherChannel переносят VLAN между Access и Distribution</a:t>
            </a:r>
          </a:p>
          <a:p>
            <a:pPr>
              <a:defRPr sz="3600"/>
            </a:pPr>
            <a:r>
              <a:t>Rapid PVST+, Root Bridge и BPDU Guard защищают L2 от петель</a:t>
            </a:r>
          </a:p>
          <a:p>
            <a:pPr>
              <a:defRPr sz="3600"/>
            </a:pPr>
            <a:r>
              <a:t>HSRP дает отказоустойчивый gateway для клиентских VLAN</a:t>
            </a:r>
          </a:p>
          <a:p>
            <a:pPr>
              <a:defRPr sz="3600"/>
            </a:pPr>
            <a:r>
              <a:t>L3-настройка не исправит ошибку access VLAN, native VLAN или trunk allowed list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STP Root и HSRP Active должны быть согласованы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Для VLAN лучше, когда STP Root и HSRP Active находятся на одном Distribution-коммутаторе</a:t>
            </a:r>
          </a:p>
          <a:p>
            <a:pPr>
              <a:defRPr sz="3600"/>
            </a:pPr>
            <a:r>
              <a:t>Это уменьшает лишние переходы трафика через межкоммутаторные связи</a:t>
            </a:r>
          </a:p>
          <a:p>
            <a:pPr>
              <a:defRPr sz="3600"/>
            </a:pPr>
            <a:r>
              <a:t>Для балансировки разные VLAN можно закрепить за разными active distribution-устройствами</a:t>
            </a:r>
          </a:p>
          <a:p>
            <a:pPr>
              <a:defRPr sz="3600"/>
            </a:pPr>
            <a:r>
              <a:t>Если STP и HSRP не согласованы, сеть может работать, но путь станет неэффективным</a:t>
            </a:r>
          </a:p>
          <a:p>
            <a:pPr>
              <a:defRPr sz="3600"/>
            </a:pPr>
            <a:r>
              <a:t>В документации нужно указать Root Bridge и HSRP Active для каждой важной VLAN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HSRP-шлюз в DHCP Scope должен быть Virtual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VLAN 10 USERS: HSRP VIP 10.10.10.1, DIST1 SVI 10.10.10.2, DIST2 SVI 10.10.10.3</a:t>
            </a:r>
          </a:p>
          <a:p>
            <a:pPr>
              <a:defRPr sz="3600"/>
            </a:pPr>
            <a:r>
              <a:t>VLAN 30 SERVERS: HSRP VIP 10.10.30.1, DIST1 SVI 10.10.30.2, DIST2 SVI 10.10.30.3</a:t>
            </a:r>
          </a:p>
          <a:p>
            <a:pPr>
              <a:defRPr sz="3600"/>
            </a:pPr>
            <a:r>
              <a:t>VLAN 50 DMZ: HSRP VIP 10.10.50.1, DIST1 SVI 10.10.50.2, DIST2 SVI 10.10.50.3</a:t>
            </a:r>
          </a:p>
          <a:p>
            <a:pPr>
              <a:defRPr sz="3600"/>
            </a:pPr>
            <a:r>
              <a:t>DHCP Scope должен выдавать клиентам адрес .1 как default gateway</a:t>
            </a:r>
          </a:p>
          <a:p>
            <a:pPr>
              <a:defRPr sz="3600"/>
            </a:pPr>
            <a:r>
              <a:t>ip helper-address настраивается на SVI обоих Distribution-коммутаторов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VLAN, SVI, HSRP, DHCP Relay и OSPF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17E6275-75B0-800E-BBB8-165E63AD6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Core отвечает за быструю и предсказуемую связность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Core — уровень магистральной передачи между крупными зонами сети</a:t>
            </a:r>
          </a:p>
          <a:p>
            <a:pPr>
              <a:defRPr sz="3600"/>
            </a:pPr>
            <a:r>
              <a:t>В небольшом стенде Core может быть Collapsed Core вместе с Distribution</a:t>
            </a:r>
          </a:p>
          <a:p>
            <a:pPr>
              <a:defRPr sz="3600"/>
            </a:pPr>
            <a:r>
              <a:t>В классическом дизайне пользовательские ACL и мелкие политики обычно размещают на Distribution или Edge</a:t>
            </a:r>
          </a:p>
          <a:p>
            <a:pPr>
              <a:defRPr sz="3600"/>
            </a:pPr>
            <a:r>
              <a:t>Инфраструктурные и защитные механизмы в Core полностью не исключаются</a:t>
            </a:r>
          </a:p>
          <a:p>
            <a:pPr>
              <a:defRPr sz="3600"/>
            </a:pPr>
            <a:r>
              <a:t>Главные требования к Core: устойчивость, предсказуемая маршрутизация и минимальная задержка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Distribution применяет политики и агрегирует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Distribution собирает Access-коммутаторы и клиентские VLAN</a:t>
            </a:r>
          </a:p>
          <a:p>
            <a:pPr>
              <a:defRPr sz="3600"/>
            </a:pPr>
            <a:r>
              <a:t>Здесь размещаются SVI, HSRP, DHCP Relay и часть ACL</a:t>
            </a:r>
          </a:p>
          <a:p>
            <a:pPr>
              <a:defRPr sz="3600"/>
            </a:pPr>
            <a:r>
              <a:t>Distribution выполняет межвлановую маршрутизацию и передает маршруты в Core</a:t>
            </a:r>
          </a:p>
          <a:p>
            <a:pPr>
              <a:defRPr sz="3600"/>
            </a:pPr>
            <a:r>
              <a:t>Здесь удобно применять политики между пользователями, серверами и DMZ</a:t>
            </a:r>
          </a:p>
          <a:p>
            <a:pPr>
              <a:defRPr sz="3600"/>
            </a:pPr>
            <a:r>
              <a:t>Слишком много политики на Access усложняет сопровождение, а слишком мало политики делает сеть плоской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Access подключает конечные устройства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Access-уровень подключает ПК, телефоны, точки доступа, камеры и принтеры</a:t>
            </a:r>
          </a:p>
          <a:p>
            <a:pPr>
              <a:defRPr sz="3600"/>
            </a:pPr>
            <a:r>
              <a:t>Здесь важны access VLAN, voice VLAN, PoE, PortFast и BPDU Guard</a:t>
            </a:r>
          </a:p>
          <a:p>
            <a:pPr>
              <a:defRPr sz="3600"/>
            </a:pPr>
            <a:r>
              <a:t>Неиспользуемые порты переводят в parking VLAN и отключают shutdown</a:t>
            </a:r>
          </a:p>
          <a:p>
            <a:pPr>
              <a:defRPr sz="3600"/>
            </a:pPr>
            <a:r>
              <a:t>Access-коммутатор не должен становиться транзитным маршрутизатором без проектной причины</a:t>
            </a:r>
          </a:p>
          <a:p>
            <a:pPr>
              <a:defRPr sz="3600"/>
            </a:pPr>
            <a:r>
              <a:t>Ошибки Access часто проявляются как отсутствие DHCP или невозможность ping gateway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DMZ в учебном проекте должна быть определена честно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DMZ (Demilitarized Zone) — зона сервисов, доступных из менее доверенных сетей</a:t>
            </a:r>
          </a:p>
          <a:p>
            <a:pPr>
              <a:defRPr sz="3600"/>
            </a:pPr>
            <a:r>
              <a:t>В учебном проекте DMZ может быть отдельной VLAN с Extended ACL на router или L3-switch</a:t>
            </a:r>
          </a:p>
          <a:p>
            <a:pPr>
              <a:defRPr sz="3600"/>
            </a:pPr>
            <a:r>
              <a:t>В production полноценную границу LAN–DMZ–WAN обычно реализует Stateful Firewall</a:t>
            </a:r>
          </a:p>
          <a:p>
            <a:pPr>
              <a:defRPr sz="3600"/>
            </a:pPr>
            <a:r>
              <a:t>Если сервер доступен только из внутренних VLAN, это скорее защищенная серверная зона, а не полноценная DMZ</a:t>
            </a:r>
          </a:p>
          <a:p>
            <a:pPr>
              <a:defRPr sz="3600"/>
            </a:pPr>
            <a:r>
              <a:t>Если нужен доступ из Интернета, добавляется Static NAT или Port Forwarding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Матрица доступа определяет смысл DMZ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Internet → WEB01 DMZ: разрешить HTTPS</a:t>
            </a:r>
          </a:p>
          <a:p>
            <a:pPr>
              <a:defRPr sz="3600"/>
            </a:pPr>
            <a:r>
              <a:t>Internet → LAN: запретить любой прямой доступ</a:t>
            </a:r>
          </a:p>
          <a:p>
            <a:pPr>
              <a:defRPr sz="3600"/>
            </a:pPr>
            <a:r>
              <a:t>USERS → WEB01: разрешить HTTP/HTTPS по заданию</a:t>
            </a:r>
          </a:p>
          <a:p>
            <a:pPr>
              <a:defRPr sz="3600"/>
            </a:pPr>
            <a:r>
              <a:t>GUEST → LAN: запретить</a:t>
            </a:r>
          </a:p>
          <a:p>
            <a:pPr>
              <a:defRPr sz="3600"/>
            </a:pPr>
            <a:r>
              <a:t>MGMT → DMZ: разрешить SSH/HTTPS management только администраторам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Топология: зоны Core, Distribution, Access, Edge и DMZ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9574F48-A5D6-0FB9-F0C1-24B588074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Адресный план должен поддерживать OSPF Areas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HQ получает крупный блок 10.10.0.0/16</a:t>
            </a:r>
          </a:p>
          <a:p>
            <a:pPr>
              <a:defRPr sz="3600"/>
            </a:pPr>
            <a:r>
              <a:t>Branch получает крупный блок 10.20.0.0/16</a:t>
            </a:r>
          </a:p>
          <a:p>
            <a:pPr>
              <a:defRPr sz="3600"/>
            </a:pPr>
            <a:r>
              <a:t>VLAN внутри площадки получают предсказуемые /24 подсети</a:t>
            </a:r>
          </a:p>
          <a:p>
            <a:pPr>
              <a:defRPr sz="3600"/>
            </a:pPr>
            <a:r>
              <a:t>Loopback и tunnel-адреса выделяются из отдельного инфраструктурного диапазона</a:t>
            </a:r>
          </a:p>
          <a:p>
            <a:pPr>
              <a:defRPr sz="3600"/>
            </a:pPr>
            <a:r>
              <a:t>Такой план позволяет документировать areas и при необходимости применять summary на ABR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Point-to-Point links в учебном стенде лучше делать /30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Routed Point-to-Point Links обычно получают отдельные маленькие транзитные подсети</a:t>
            </a:r>
          </a:p>
          <a:p>
            <a:pPr>
              <a:defRPr sz="3600"/>
            </a:pPr>
            <a:r>
              <a:t>/30 дает два пригодных адреса и надежно поддерживается учебными симуляторами</a:t>
            </a:r>
          </a:p>
          <a:p>
            <a:pPr>
              <a:defRPr sz="3600"/>
            </a:pPr>
            <a:r>
              <a:t>/31 является нормальным вариантом в реальных сетях при поддержке платформы</a:t>
            </a:r>
          </a:p>
          <a:p>
            <a:pPr>
              <a:defRPr sz="3600"/>
            </a:pPr>
            <a:r>
              <a:t>Packet Tracer и отдельные учебные образы могут поддерживать /31 не полностью</a:t>
            </a:r>
          </a:p>
          <a:p>
            <a:pPr>
              <a:defRPr sz="3600"/>
            </a:pPr>
            <a:r>
              <a:t>Для базового стенда безопаснее использовать /30, а /31 упомянуть как промышленную оптимизацию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Конкретная схема OSPF Areas для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Area 0: Core, Edge, транзитные L3-соединения и GRE Tunnel HQ–Branch</a:t>
            </a:r>
          </a:p>
          <a:p>
            <a:pPr>
              <a:defRPr sz="3600"/>
            </a:pPr>
            <a:r>
              <a:t>Area 10: внутренние сети HQ</a:t>
            </a:r>
          </a:p>
          <a:p>
            <a:pPr>
              <a:defRPr sz="3600"/>
            </a:pPr>
            <a:r>
              <a:t>Area 20: внутренние сети Branch</a:t>
            </a:r>
          </a:p>
          <a:p>
            <a:pPr>
              <a:defRPr sz="3600"/>
            </a:pPr>
            <a:r>
              <a:t>HQ ABR соединяет Area 10 и Area 0</a:t>
            </a:r>
          </a:p>
          <a:p>
            <a:pPr>
              <a:defRPr sz="3600"/>
            </a:pPr>
            <a:r>
              <a:t>Branch ABR соединяет Area 20 и Area 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OSPF-приемка должна показать межобластные маршруты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На Branch маршруты к HQ-сетям должны отображаться как O IA, если они пришли из другой area</a:t>
            </a:r>
          </a:p>
          <a:p>
            <a:pPr>
              <a:defRPr sz="3600"/>
            </a:pPr>
            <a:r>
              <a:t>На HQ маршруты к Branch-сетям также должны отображаться как O IA</a:t>
            </a:r>
          </a:p>
          <a:p>
            <a:pPr>
              <a:defRPr sz="3600"/>
            </a:pPr>
            <a:r>
              <a:t>show ip ospf neighbor подтверждает соседство Full</a:t>
            </a:r>
          </a:p>
          <a:p>
            <a:pPr>
              <a:defRPr sz="3600"/>
            </a:pPr>
            <a:r>
              <a:t>show ip ospf interface brief показывает интерфейсы и area</a:t>
            </a:r>
          </a:p>
          <a:p>
            <a:pPr>
              <a:defRPr sz="3600"/>
            </a:pPr>
            <a:r>
              <a:t>show ip route ospf показывает, какие маршруты реально установлены в RIB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адресного плана с HSRP и OSPF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HQ USERS VLAN 10: 10.10.10.0/24, HSRP VIP 10.10.10.1</a:t>
            </a:r>
          </a:p>
          <a:p>
            <a:pPr>
              <a:defRPr sz="3600"/>
            </a:pPr>
            <a:r>
              <a:t>HQ SERVERS VLAN 30: 10.10.30.0/24, HSRP VIP 10.10.30.1</a:t>
            </a:r>
          </a:p>
          <a:p>
            <a:pPr>
              <a:defRPr sz="3600"/>
            </a:pPr>
            <a:r>
              <a:t>HQ DMZ VLAN 50: 10.10.50.0/24, HSRP VIP 10.10.50.1</a:t>
            </a:r>
          </a:p>
          <a:p>
            <a:pPr>
              <a:defRPr sz="3600"/>
            </a:pPr>
            <a:r>
              <a:t>Branch USERS VLAN 10: 10.20.10.0/24, gateway 10.20.10.1</a:t>
            </a:r>
          </a:p>
          <a:p>
            <a:pPr>
              <a:defRPr sz="3600"/>
            </a:pPr>
            <a:r>
              <a:t>Tunnel и Loopbacks: отдельный инфраструктурный блок 10.255.0.0/16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Инфографика: масштабируемый адресный план HQ и Branch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F0E3BB3-0FD3-F330-C5AF-9DC92E24B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Правильный порядок сборки уменьшает количество ложных ошибок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Сначала собирают физическую топологию и L2: VLAN, trunk, EtherChannel, STP</a:t>
            </a:r>
          </a:p>
          <a:p>
            <a:pPr>
              <a:defRPr sz="3600"/>
            </a:pPr>
            <a:r>
              <a:t>Затем настраивают SVI, HSRP, routed ports, loopbacks и management-доступ</a:t>
            </a:r>
          </a:p>
          <a:p>
            <a:pPr>
              <a:defRPr sz="3600"/>
            </a:pPr>
            <a:r>
              <a:t>После этого строят WAN Underlay и маршруты до публичных peer-адресов</a:t>
            </a:r>
          </a:p>
          <a:p>
            <a:pPr>
              <a:defRPr sz="3600"/>
            </a:pPr>
            <a:r>
              <a:t>Далее настраивают выбранный VPN-вариант</a:t>
            </a:r>
          </a:p>
          <a:p>
            <a:pPr>
              <a:defRPr sz="3600"/>
            </a:pPr>
            <a:r>
              <a:t>Только после межплощадочной связности включают OSPF, DHCP Relay, ACL, NAT, IP SLA и сервисы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Порядок сборки для OSPF over GRE отличается от обычной OSPF-сети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GRE-туннель должен быть создан до проверки OSPF-соседства через tunnel</a:t>
            </a:r>
          </a:p>
          <a:p>
            <a:pPr>
              <a:defRPr sz="3600"/>
            </a:pPr>
            <a:r>
              <a:t>Для GRE over IPsec сначала нужен Underlay, затем IKE/IPsec, затем GRE и OSPF</a:t>
            </a:r>
          </a:p>
          <a:p>
            <a:pPr>
              <a:defRPr sz="3600"/>
            </a:pPr>
            <a:r>
              <a:t>DHCP Relay для Branch зависит от маршрута от Relay к DHCP-серверу HQ</a:t>
            </a:r>
          </a:p>
          <a:p>
            <a:pPr>
              <a:defRPr sz="3600"/>
            </a:pPr>
            <a:r>
              <a:t>Если VPN или OSPF еще не работают, Branch DHCP не пройдет</a:t>
            </a:r>
          </a:p>
          <a:p>
            <a:pPr>
              <a:defRPr sz="3600"/>
            </a:pPr>
            <a:r>
              <a:t>Поэтому нельзя полноценно проверять Branch DHCP раньше межплощадочной маршрутизации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Исполнительная документация фиксирует фактическую сеть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Проектная документация описывает, что должно быть построено</a:t>
            </a:r>
          </a:p>
          <a:p>
            <a:pPr>
              <a:defRPr sz="3600"/>
            </a:pPr>
            <a:r>
              <a:t>Исполнительная документация фиксирует, что фактически настроено и проверено</a:t>
            </a:r>
          </a:p>
          <a:p>
            <a:pPr>
              <a:defRPr sz="3600"/>
            </a:pPr>
            <a:r>
              <a:t>В нее входят логическая схема, физическая схема, адресный план и таблица интерфейсов</a:t>
            </a:r>
          </a:p>
          <a:p>
            <a:pPr>
              <a:defRPr sz="3600"/>
            </a:pPr>
            <a:r>
              <a:t>Также нужны таблицы VLAN, HSRP, OSPF Areas, static routes, ACL, NAT, VPN, IP SLA и Track</a:t>
            </a:r>
          </a:p>
          <a:p>
            <a:pPr>
              <a:defRPr sz="3600"/>
            </a:pPr>
            <a:r>
              <a:t>Отдельно фиксируются адреса NTP, Syslog, DHCP и Backup-серверов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Документация должна включать ограничения и журнал испытаний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Матрица доступа показывает разрешенные и запрещенные потоки между зонами</a:t>
            </a:r>
          </a:p>
          <a:p>
            <a:pPr>
              <a:defRPr sz="3600"/>
            </a:pPr>
            <a:r>
              <a:t>Таблица VPN Peers и Traffic Selectors показывает, какой трафик шифруется</a:t>
            </a:r>
          </a:p>
          <a:p>
            <a:pPr>
              <a:defRPr sz="3600"/>
            </a:pPr>
            <a:r>
              <a:t>Журнал отказных испытаний фиксирует время отказа, переключение и восстановление</a:t>
            </a:r>
          </a:p>
          <a:p>
            <a:pPr>
              <a:defRPr sz="3600"/>
            </a:pPr>
            <a:r>
              <a:t>Backup-журнал содержит имя файла, дату, устройство, способ копирования и результат восстановления</a:t>
            </a:r>
          </a:p>
          <a:p>
            <a:pPr>
              <a:defRPr sz="3600"/>
            </a:pPr>
            <a:r>
              <a:t>Известные ограничения стенда помогают честно отделить Packet Tracer от production-дизайна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Восстановление конфигурации нужно описывать точно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copy tftp: running-config обычно выполняет слияние с текущей конфигурацией</a:t>
            </a:r>
          </a:p>
          <a:p>
            <a:pPr>
              <a:defRPr sz="3600"/>
            </a:pPr>
            <a:r>
              <a:t>Для полной замены startup-сценария используют copy tftp: startup-config и reload</a:t>
            </a:r>
          </a:p>
          <a:p>
            <a:pPr>
              <a:defRPr sz="3600"/>
            </a:pPr>
            <a:r>
              <a:t>На поддерживаемом IOS можно использовать configure replace tftp://server/file.cfg force</a:t>
            </a:r>
          </a:p>
          <a:p>
            <a:pPr>
              <a:defRPr sz="3600"/>
            </a:pPr>
            <a:r>
              <a:t>Тест восстановления выполняется на тестовом устройстве или копии стенда</a:t>
            </a:r>
          </a:p>
          <a:p>
            <a:pPr>
              <a:defRPr sz="3600"/>
            </a:pPr>
            <a:r>
              <a:t>В отчете указывают, какой способ восстановления проверен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Инфографика: структура исполнительной документации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31F65BD-60B7-801A-52BF-3DB9D408E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Приемка должна быть сценарной матрицей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HQ Client получает DHCP: ipconfig /all или show ip dhcp binding</a:t>
            </a:r>
          </a:p>
          <a:p>
            <a:pPr>
              <a:defRPr sz="3600"/>
            </a:pPr>
            <a:r>
              <a:t>Branch Client получает DHCP через Relay/VPN: адрес, gateway и DNS соответствуют Scope</a:t>
            </a:r>
          </a:p>
          <a:p>
            <a:pPr>
              <a:defRPr sz="3600"/>
            </a:pPr>
            <a:r>
              <a:t>USERS → WEB01 HTTPS разрешен: browser или curl плюс ACL counter</a:t>
            </a:r>
          </a:p>
          <a:p>
            <a:pPr>
              <a:defRPr sz="3600"/>
            </a:pPr>
            <a:r>
              <a:t>USERS → WEB01 SSH запрещен: failed connection плюс deny counter</a:t>
            </a:r>
          </a:p>
          <a:p>
            <a:pPr>
              <a:defRPr sz="3600"/>
            </a:pPr>
            <a:r>
              <a:t>HQ ↔ Branch работает через выбранный VPN: application test плюс команды проверки tunnel или SA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Аварийная приемка проверяет устойчивость, а не только норму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Отказ ISP1: IP SLA Failure, Track Down, default route через ISP2</a:t>
            </a:r>
          </a:p>
          <a:p>
            <a:pPr>
              <a:defRPr sz="3600"/>
            </a:pPr>
            <a:r>
              <a:t>Восстановление ISP1: Track Up после delay и возврат default route на ISP1</a:t>
            </a:r>
          </a:p>
          <a:p>
            <a:pPr>
              <a:defRPr sz="3600"/>
            </a:pPr>
            <a:r>
              <a:t>Падение OSPF-соседства: событие видно в Syslog</a:t>
            </a:r>
          </a:p>
          <a:p>
            <a:pPr>
              <a:defRPr sz="3600"/>
            </a:pPr>
            <a:r>
              <a:t>ACL-событие: разрешенный и запрещенный сценарий дают ожидаемые counters</a:t>
            </a:r>
          </a:p>
          <a:p>
            <a:pPr>
              <a:defRPr sz="3600"/>
            </a:pPr>
            <a:r>
              <a:t>Backup/Restore: конфигурация восстановлена на тестовом устройстве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Команды приемки OSPF, ACL и сервисов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OSPF: show ip ospf neighbor, show ip ospf interface brief, show ip route ospf, show ip ospf database</a:t>
            </a:r>
          </a:p>
          <a:p>
            <a:pPr>
              <a:defRPr sz="3600"/>
            </a:pPr>
            <a:r>
              <a:t>ACL: show ip access-lists, show ip interface &lt;interface&gt;, show running-config | section line vty</a:t>
            </a:r>
          </a:p>
          <a:p>
            <a:pPr>
              <a:defRPr sz="3600"/>
            </a:pPr>
            <a:r>
              <a:t>IP SLA: show ip sla statistics, show track, show ip route 0.0.0.0, show ip route &lt;probe-target&gt;</a:t>
            </a:r>
          </a:p>
          <a:p>
            <a:pPr>
              <a:defRPr sz="3600"/>
            </a:pPr>
            <a:r>
              <a:t>Syslog/NTP: show ntp status, show ntp associations, show clock detail, show logging</a:t>
            </a:r>
          </a:p>
          <a:p>
            <a:pPr>
              <a:defRPr sz="3600"/>
            </a:pPr>
            <a:r>
              <a:t>Backup: наличие файла, размер, просмотр содержимого и тестовое восстановление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полный приемочный чек-лист Enterprise L3 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0CF07C0-F1E3-95D6-5D52-7E63E4553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итогового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Адресный план в документе не совпадает с конфигурацией устройств</a:t>
            </a:r>
          </a:p>
          <a:p>
            <a:pPr>
              <a:defRPr sz="3600"/>
            </a:pPr>
            <a:r>
              <a:t>OSPF area на одном конце линка отличается от area на соседнем устройстве</a:t>
            </a:r>
          </a:p>
          <a:p>
            <a:pPr>
              <a:defRPr sz="3600"/>
            </a:pPr>
            <a:r>
              <a:t>DHCP Scope выдает физический SVI вместо HSRP VIP</a:t>
            </a:r>
          </a:p>
          <a:p>
            <a:pPr>
              <a:defRPr sz="3600"/>
            </a:pPr>
            <a:r>
              <a:t>ACL блокирует DNS, DHCP, обратный трафик или management-доступ</a:t>
            </a:r>
          </a:p>
          <a:p>
            <a:pPr>
              <a:defRPr sz="3600"/>
            </a:pPr>
            <a:r>
              <a:t>VPN выбран один, а проверяется командами от другого VPN-варианта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Критерии успешной защиты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Студент объясняет, почему каждая технология находится именно в этом месте схемы</a:t>
            </a:r>
          </a:p>
          <a:p>
            <a:pPr>
              <a:defRPr sz="3600"/>
            </a:pPr>
            <a:r>
              <a:t>Показывает команды проверки, а не только итоговую конфигурацию</a:t>
            </a:r>
          </a:p>
          <a:p>
            <a:pPr>
              <a:defRPr sz="3600"/>
            </a:pPr>
            <a:r>
              <a:t>Доказывает разрешенные и запрещенные сценарии по матрице доступа</a:t>
            </a:r>
          </a:p>
          <a:p>
            <a:pPr>
              <a:defRPr sz="3600"/>
            </a:pPr>
            <a:r>
              <a:t>Демонстрирует отказ основного WAN и восстановление через резервный путь</a:t>
            </a:r>
          </a:p>
          <a:p>
            <a:pPr>
              <a:defRPr sz="3600"/>
            </a:pPr>
            <a:r>
              <a:t>Предоставляет схемы, адресный план, конфигурации, журнал тестирования и Backup-файлы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Enterprise L3 Grid — учебный итоговый проект, а не отраслевой стандарт</a:t>
            </a:r>
          </a:p>
          <a:p>
            <a:pPr>
              <a:defRPr sz="3600"/>
            </a:pPr>
            <a:r>
              <a:t>Проект строится на фиксированной модели: L2 Access, L3 Distribution, Core/Edge и DMZ</a:t>
            </a:r>
          </a:p>
          <a:p>
            <a:pPr>
              <a:defRPr sz="3600"/>
            </a:pPr>
            <a:r>
              <a:t>VPN, OSPF, DHCP Relay, ACL, IP SLA и сервисы должны быть согласованы по зависимостям</a:t>
            </a:r>
          </a:p>
          <a:p>
            <a:pPr>
              <a:defRPr sz="3600"/>
            </a:pPr>
            <a:r>
              <a:t>Приемка выполняется сценариями, аварийными тестами и командами под выбранную технологию</a:t>
            </a:r>
          </a:p>
          <a:p>
            <a:pPr>
              <a:defRPr sz="3600"/>
            </a:pPr>
            <a:r>
              <a:t>Исполнительная документация должна отражать фактическую сеть и результаты проверки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Почему Enterprise L3 Grid нужно считать учебным названием проекта?</a:t>
            </a:r>
          </a:p>
          <a:p>
            <a:pPr>
              <a:defRPr sz="3600"/>
            </a:pPr>
            <a:r>
              <a:t>Где в выбранной архитектуре размещаются SVI, HSRP и DHCP Relay?</a:t>
            </a:r>
          </a:p>
          <a:p>
            <a:pPr>
              <a:defRPr sz="3600"/>
            </a:pPr>
            <a:r>
              <a:t>Чем отличаются GRE, Policy-Based IPsec и GRE over IPsec при приемке?</a:t>
            </a:r>
          </a:p>
          <a:p>
            <a:pPr>
              <a:defRPr sz="3600"/>
            </a:pPr>
            <a:r>
              <a:t>Почему traceroute не доказывает шифрование IPsec?</a:t>
            </a:r>
          </a:p>
          <a:p>
            <a:pPr>
              <a:defRPr sz="3600"/>
            </a:pPr>
            <a:r>
              <a:t>Зачем IP SLA нужен отдельный /32 маршрут к probe target?</a:t>
            </a:r>
          </a:p>
          <a:p>
            <a:pPr>
              <a:defRPr sz="3600"/>
            </a:pPr>
            <a:r>
              <a:t>Почему DHCP Relay для Branch зависит от VPN и маршрутизации?</a:t>
            </a:r>
          </a:p>
          <a:p>
            <a:pPr>
              <a:defRPr sz="3600"/>
            </a:pPr>
            <a:r>
              <a:t>Что должно входить в сценарную матрицу приемки итогового проекта?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2791</Words>
  <Application>Microsoft Office PowerPoint</Application>
  <PresentationFormat>Широкоэкранный</PresentationFormat>
  <Paragraphs>267</Paragraphs>
  <Slides>51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2026-07-27T11:44:33Z</dcterms:modified>
  <cp:category/>
</cp:coreProperties>
</file>