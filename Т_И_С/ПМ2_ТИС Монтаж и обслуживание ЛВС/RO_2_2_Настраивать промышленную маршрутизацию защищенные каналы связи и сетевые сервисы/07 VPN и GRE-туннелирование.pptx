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7. VPN и GRE-туннелирование: виртуальная связность без встроенного шифрования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зачем филиалы объединяют через VPN поверх чужой сети</a:t>
            </a:r>
          </a:p>
          <a:p>
            <a:pPr>
              <a:defRPr sz="3600"/>
            </a:pPr>
            <a:r>
              <a:t>Различать виртуальную связность и криптографическую защиту</a:t>
            </a:r>
          </a:p>
          <a:p>
            <a:pPr>
              <a:defRPr sz="3600"/>
            </a:pPr>
            <a:r>
              <a:t>Различать underlay и overlay в туннельной архитектуре</a:t>
            </a:r>
          </a:p>
          <a:p>
            <a:pPr>
              <a:defRPr sz="3600"/>
            </a:pPr>
            <a:r>
              <a:t>Настраивать GRE tunnel interface между HQ и Branch</a:t>
            </a:r>
          </a:p>
          <a:p>
            <a:pPr>
              <a:defRPr sz="3600"/>
            </a:pPr>
            <a:r>
              <a:t>Запускать OSPF поверх GRE и диагностировать tunnel-связность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Объединение филиалов через публичные недоверенные сети и понятие VPN</a:t>
            </a:r>
          </a:p>
          <a:p>
            <a:pPr>
              <a:defRPr sz="3600"/>
            </a:pPr>
            <a:r>
              <a:t>2. GRE (Generic Routing Encapsulation)</a:t>
            </a:r>
          </a:p>
          <a:p>
            <a:pPr>
              <a:defRPr sz="3600"/>
            </a:pPr>
            <a:r>
              <a:t>3. Underlay и Overlay</a:t>
            </a:r>
          </a:p>
          <a:p>
            <a:pPr>
              <a:defRPr sz="3600"/>
            </a:pPr>
            <a:r>
              <a:t>4. GRE как логический L3-интерфейс, multicast и OSPF поверх туннеля</a:t>
            </a:r>
          </a:p>
          <a:p>
            <a:pPr>
              <a:defRPr sz="3600"/>
            </a:pPr>
            <a:r>
              <a:t>5. Отсутствие встроенного шифрования и защиты данных в GRE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Филиалам нужна связность поверх чужой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Головной офис и филиал часто подключены к разным провайдерам или через Интернет</a:t>
            </a:r>
          </a:p>
          <a:p>
            <a:pPr>
              <a:defRPr sz="3600"/>
            </a:pPr>
            <a:r>
              <a:t>Провайдерская сеть не знает внутренние маршруты организации и не является доверенной зоной</a:t>
            </a:r>
          </a:p>
          <a:p>
            <a:pPr>
              <a:defRPr sz="3600"/>
            </a:pPr>
            <a:r>
              <a:t>VPN (Virtual Private Network) — логическая частная сеть поверх другой инфраструктуры</a:t>
            </a:r>
          </a:p>
          <a:p>
            <a:pPr>
              <a:defRPr sz="3600"/>
            </a:pPr>
            <a:r>
              <a:t>VPN может создавать виртуальный канал между площадками, будто между ними есть прямое соединение</a:t>
            </a:r>
          </a:p>
          <a:p>
            <a:pPr>
              <a:defRPr sz="3600"/>
            </a:pPr>
            <a:r>
              <a:t>Но не каждая VPN-технология сама шифрует трафик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состоит из связности и 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Виртуальная связность создает логический канал или виртуальную сеть</a:t>
            </a:r>
          </a:p>
          <a:p>
            <a:pPr>
              <a:defRPr sz="3600"/>
            </a:pPr>
            <a:r>
              <a:t>Маршрутизация позволяет площадкам обмениваться маршрутами к внутренним подсетям</a:t>
            </a:r>
          </a:p>
          <a:p>
            <a:pPr>
              <a:defRPr sz="3600"/>
            </a:pPr>
            <a:r>
              <a:t>Криптографическая защита обеспечивает шифрование, целостность и аутентификацию</a:t>
            </a:r>
          </a:p>
          <a:p>
            <a:pPr>
              <a:defRPr sz="3600"/>
            </a:pPr>
            <a:r>
              <a:t>GRE решает задачу туннелирования и маршрутизации</a:t>
            </a:r>
          </a:p>
          <a:p>
            <a:pPr>
              <a:defRPr sz="3600"/>
            </a:pPr>
            <a:r>
              <a:t>GRE не решает задачу криптографической защиты без IPsec или другого механизма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GRE не является защищенным VPN без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создает виртуальный L3-канал между маршрутизаторами</a:t>
            </a:r>
          </a:p>
          <a:p>
            <a:pPr>
              <a:defRPr sz="3600"/>
            </a:pPr>
            <a:r>
              <a:t>GRE не шифрует внутренний пакет</a:t>
            </a:r>
          </a:p>
          <a:p>
            <a:pPr>
              <a:defRPr sz="3600"/>
            </a:pPr>
            <a:r>
              <a:t>GRE не проверяет подлинность удаленной стороны криптографически</a:t>
            </a:r>
          </a:p>
          <a:p>
            <a:pPr>
              <a:defRPr sz="3600"/>
            </a:pPr>
            <a:r>
              <a:t>Трафик GRE через публичную сеть может быть прочитан при перехвате</a:t>
            </a:r>
          </a:p>
          <a:p>
            <a:pPr>
              <a:defRPr sz="3600"/>
            </a:pPr>
            <a:r>
              <a:t>Защищенный канал появляется только при добавлении IPsec или другой криптографической защиты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HQ и Branch через сеть провайдера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97669E-5856-4EE1-1515-409A4AD52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GRE инкапсулирует один пакет внутрь другого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(Generic Routing Encapsulation) — протокол туннелирования, который упаковывает исходный пакет внутрь нового IP-пакета</a:t>
            </a:r>
          </a:p>
          <a:p>
            <a:pPr>
              <a:defRPr sz="3600"/>
            </a:pPr>
            <a:r>
              <a:t>Внешний IP-заголовок доставляет пакет между underlay-адресами tunnel source и tunnel destination</a:t>
            </a:r>
          </a:p>
          <a:p>
            <a:pPr>
              <a:defRPr sz="3600"/>
            </a:pPr>
            <a:r>
              <a:t>Underlay-адреса могут быть публичными, частными или адресами внутри сети оператора</a:t>
            </a:r>
          </a:p>
          <a:p>
            <a:pPr>
              <a:defRPr sz="3600"/>
            </a:pPr>
            <a:r>
              <a:t>Внутри туннеля сохраняется исходный пакет между внутренними сетями</a:t>
            </a:r>
          </a:p>
          <a:p>
            <a:pPr>
              <a:defRPr sz="3600"/>
            </a:pPr>
            <a:r>
              <a:t>GRE использует IP Protocol 47, а не TCP или UDP порт</a:t>
            </a:r>
          </a:p>
          <a:p>
            <a:pPr>
              <a:defRPr sz="3600"/>
            </a:pPr>
            <a:r>
              <a:t>Из-за инкапсуляции увеличивается размер пакета и появляется накладной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GRE-пакета показывает два уровня адресов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Последовательность инкапсуляции: Inner IP → GRE → Outer IP</a:t>
            </a:r>
          </a:p>
          <a:p>
            <a:pPr>
              <a:defRPr sz="3600"/>
            </a:pPr>
            <a:r>
              <a:t>Outer IP Source: 203.0.113.2</a:t>
            </a:r>
          </a:p>
          <a:p>
            <a:pPr>
              <a:defRPr sz="3600"/>
            </a:pPr>
            <a:r>
              <a:t>Outer IP Destination: 198.51.100.2</a:t>
            </a:r>
          </a:p>
          <a:p>
            <a:pPr>
              <a:defRPr sz="3600"/>
            </a:pPr>
            <a:r>
              <a:t>Outer IP Protocol: 47</a:t>
            </a:r>
          </a:p>
          <a:p>
            <a:pPr>
              <a:defRPr sz="3600"/>
            </a:pPr>
            <a:r>
              <a:t>Внутренний IP Source: 192.168.10.10</a:t>
            </a:r>
          </a:p>
          <a:p>
            <a:pPr>
              <a:defRPr sz="3600"/>
            </a:pPr>
            <a:r>
              <a:t>Внутренний IP Destination: 192.168.20.10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делает tunnel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Tunnel interface — логический L3-интерфейс маршрутизатора Cisco</a:t>
            </a:r>
          </a:p>
          <a:p>
            <a:pPr>
              <a:defRPr sz="3600"/>
            </a:pPr>
            <a:r>
              <a:t>Он получает собственный IP-адрес из отдельной туннельной подсети</a:t>
            </a:r>
          </a:p>
          <a:p>
            <a:pPr>
              <a:defRPr sz="3600"/>
            </a:pPr>
            <a:r>
              <a:t>На tunnel interface можно запускать маршрутизацию, например OSPF</a:t>
            </a:r>
          </a:p>
          <a:p>
            <a:pPr>
              <a:defRPr sz="3600"/>
            </a:pPr>
            <a:r>
              <a:t>Для маршрутизатора tunnel выглядит как обычный point-to-point линк</a:t>
            </a:r>
          </a:p>
          <a:p>
            <a:pPr>
              <a:defRPr sz="3600"/>
            </a:pPr>
            <a:r>
              <a:t>Физически трафик все равно проходит через underlay-сеть провайдера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GRE-инкапсуляция пакета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A0C8E-8897-1CFD-8399-8DEF0DB7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Underlay должен работать до настройки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Underlay — опорная физическая или провайдерская сеть, через которую реально идут пакеты</a:t>
            </a:r>
          </a:p>
          <a:p>
            <a:pPr>
              <a:defRPr sz="3600"/>
            </a:pPr>
            <a:r>
              <a:t>В GRE underlay должен обеспечить достижимость публичного адреса tunnel destination</a:t>
            </a:r>
          </a:p>
          <a:p>
            <a:pPr>
              <a:defRPr sz="3600"/>
            </a:pPr>
            <a:r>
              <a:t>Overlay — виртуальная сеть, построенная поверх underlay с помощью туннеля</a:t>
            </a:r>
          </a:p>
          <a:p>
            <a:pPr>
              <a:defRPr sz="3600"/>
            </a:pPr>
            <a:r>
              <a:t>Если underlay не работает, tunnel interface не сможет стабильно передавать трафик</a:t>
            </a:r>
          </a:p>
          <a:p>
            <a:pPr>
              <a:defRPr sz="3600"/>
            </a:pPr>
            <a:r>
              <a:t>Диагностика всегда идет в порядке underlay → tunnel → routing over tunnel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адресов underlay и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outside: 203.0.113.2/30, next-hop provider 203.0.113.1</a:t>
            </a:r>
          </a:p>
          <a:p>
            <a:pPr>
              <a:defRPr sz="3600"/>
            </a:pPr>
            <a:r>
              <a:t>Branch outside: 198.51.100.2/30, next-hop provider 198.51.100.1</a:t>
            </a:r>
          </a:p>
          <a:p>
            <a:pPr>
              <a:defRPr sz="3600"/>
            </a:pPr>
            <a:r>
              <a:t>GRE tunnel network: 10.255.0.0/30</a:t>
            </a:r>
          </a:p>
          <a:p>
            <a:pPr>
              <a:defRPr sz="3600"/>
            </a:pPr>
            <a:r>
              <a:t>HQ tunnel IP: 10.255.0.1/30, Branch tunnel IP: 10.255.0.2/30</a:t>
            </a:r>
          </a:p>
          <a:p>
            <a:pPr>
              <a:defRPr sz="3600"/>
            </a:pPr>
            <a:r>
              <a:t>Внутренние сети филиалов маршрутизируются через overlay-туннель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underlay provider и overlay GRE tunnel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3DF0B2-D7CF-2B2D-BCCC-D34FE31C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настройка GRE на HQ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Tunnel0; description GRE_TO_BRANCH</a:t>
            </a:r>
          </a:p>
          <a:p>
            <a:pPr>
              <a:defRPr sz="3600"/>
            </a:pPr>
            <a:r>
              <a:t>ip address 10.255.0.1 255.255.255.252 задает адрес HQ в overlay-сети</a:t>
            </a:r>
          </a:p>
          <a:p>
            <a:pPr>
              <a:defRPr sz="3600"/>
            </a:pPr>
            <a:r>
              <a:t>tunnel source 203.0.113.2 задает underlay-адрес источника</a:t>
            </a:r>
          </a:p>
          <a:p>
            <a:pPr>
              <a:defRPr sz="3600"/>
            </a:pPr>
            <a:r>
              <a:t>tunnel destination 198.51.100.2 задает underlay-адрес Branch</a:t>
            </a:r>
          </a:p>
          <a:p>
            <a:pPr>
              <a:defRPr sz="3600"/>
            </a:pPr>
            <a:r>
              <a:t>tunnel mode gre ip явно фиксирует GRE over IPv4</a:t>
            </a:r>
          </a:p>
          <a:p>
            <a:pPr>
              <a:defRPr sz="3600"/>
            </a:pPr>
            <a:r>
              <a:t>ip route 198.51.100.2 255.255.255.255 203.0.113.1 задает host route до peer outside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настройка GRE на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Tunnel0; description GRE_TO_HQ</a:t>
            </a:r>
          </a:p>
          <a:p>
            <a:pPr>
              <a:defRPr sz="3600"/>
            </a:pPr>
            <a:r>
              <a:t>ip address 10.255.0.2 255.255.255.252 задает адрес Branch в overlay-сети</a:t>
            </a:r>
          </a:p>
          <a:p>
            <a:pPr>
              <a:defRPr sz="3600"/>
            </a:pPr>
            <a:r>
              <a:t>tunnel source 198.51.100.2 задает underlay-адрес филиала</a:t>
            </a:r>
          </a:p>
          <a:p>
            <a:pPr>
              <a:defRPr sz="3600"/>
            </a:pPr>
            <a:r>
              <a:t>tunnel destination 203.0.113.2 указывает underlay-адрес HQ</a:t>
            </a:r>
          </a:p>
          <a:p>
            <a:pPr>
              <a:defRPr sz="3600"/>
            </a:pPr>
            <a:r>
              <a:t>tunnel mode gre ip оставляют в учебном примере даже если он является режимом по умолчанию</a:t>
            </a:r>
          </a:p>
          <a:p>
            <a:pPr>
              <a:defRPr sz="3600"/>
            </a:pPr>
            <a:r>
              <a:t>ip route 203.0.113.2 255.255.255.255 198.51.100.1 задает host route до peer outside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Underlay выполняется с правильным Source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route 198.51.100.2 проверяет маршрут HQ до underlay-адреса Branch</a:t>
            </a:r>
          </a:p>
          <a:p>
            <a:pPr>
              <a:defRPr sz="3600"/>
            </a:pPr>
            <a:r>
              <a:t>ping 198.51.100.2 source 203.0.113.2 проверяет достижимость именно от tunnel source</a:t>
            </a:r>
          </a:p>
          <a:p>
            <a:pPr>
              <a:defRPr sz="3600"/>
            </a:pPr>
            <a:r>
              <a:t>Интерактивный Extended Ping используют, если команда source не поддерживается в одну строку</a:t>
            </a:r>
          </a:p>
          <a:p>
            <a:pPr>
              <a:defRPr sz="3600"/>
            </a:pPr>
            <a:r>
              <a:t>show ip cef 198.51.100.2 полезен для проверки фактического next-hop, если команда доступна</a:t>
            </a:r>
          </a:p>
          <a:p>
            <a:pPr>
              <a:defRPr sz="3600"/>
            </a:pPr>
            <a:r>
              <a:t>Поддержка show ip cef и source ping зависит от Packet Tracer, PNetLab и образа IOS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GRE-туннеля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interfaces Tunnel0 показывает состояние tunnel interface и счетчики</a:t>
            </a:r>
          </a:p>
          <a:p>
            <a:pPr>
              <a:defRPr sz="3600"/>
            </a:pPr>
            <a:r>
              <a:t>show ip interface brief показывает Tunnel0 как up/up, up/down или down/down</a:t>
            </a:r>
          </a:p>
          <a:p>
            <a:pPr>
              <a:defRPr sz="3600"/>
            </a:pPr>
            <a:r>
              <a:t>ping 10.255.0.2 source 10.255.0.1 проверяет overlay-связность с HQ</a:t>
            </a:r>
          </a:p>
          <a:p>
            <a:pPr>
              <a:defRPr sz="3600"/>
            </a:pPr>
            <a:r>
              <a:t>ping underlay-адреса проверяет ICMP, но не доказывает прохождение GRE Protocol 47</a:t>
            </a:r>
          </a:p>
          <a:p>
            <a:pPr>
              <a:defRPr sz="3600"/>
            </a:pPr>
            <a:r>
              <a:t>Если underlay не работает, GRE не нужно диагностировать раньше физической и IP-связности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Tunnel нужно читать осторожно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down/down обычно означает shutdown, неактивный tunnel source или отсутствие активного адреса источника</a:t>
            </a:r>
          </a:p>
          <a:p>
            <a:pPr>
              <a:defRPr sz="3600"/>
            </a:pPr>
            <a:r>
              <a:t>up/down обычно указывает на активный source, но проблему с destination, маршрутом или recursive routing</a:t>
            </a:r>
          </a:p>
          <a:p>
            <a:pPr>
              <a:defRPr sz="3600"/>
            </a:pPr>
            <a:r>
              <a:t>up/up означает, что локальные условия для GRE выполнены</a:t>
            </a:r>
          </a:p>
          <a:p>
            <a:pPr>
              <a:defRPr sz="3600"/>
            </a:pPr>
            <a:r>
              <a:t>up/up не гарантирует, что удаленная сторона реально принимает GRE-трафик</a:t>
            </a:r>
          </a:p>
          <a:p>
            <a:pPr>
              <a:defRPr sz="3600"/>
            </a:pPr>
            <a:r>
              <a:t>Без GRE Keepalive туннель может оставаться up/up даже при отказе удаленной стороны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Блокировка Protocol 47 не всегда меняет статус Tunnel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ACL или провайдер могут блокировать GRE Protocol 47</a:t>
            </a:r>
          </a:p>
          <a:p>
            <a:pPr>
              <a:defRPr sz="3600"/>
            </a:pPr>
            <a:r>
              <a:t>При этом Tunnel без Keepalive способен оставаться up/up</a:t>
            </a:r>
          </a:p>
          <a:p>
            <a:pPr>
              <a:defRPr sz="3600"/>
            </a:pPr>
            <a:r>
              <a:t>Пользовательский трафик через такой туннель не проходит</a:t>
            </a:r>
          </a:p>
          <a:p>
            <a:pPr>
              <a:defRPr sz="3600"/>
            </a:pPr>
            <a:r>
              <a:t>Для проверки нужен packet capture на outside-интерфейсе</a:t>
            </a:r>
          </a:p>
          <a:p>
            <a:pPr>
              <a:defRPr sz="3600"/>
            </a:pPr>
            <a:r>
              <a:t>В PNetLab через Wireshark проверяют, выходят и возвращаются GRE-пакеты Protocol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GRE поддерживает multicast и динамическую маршрутизацию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может переносить multicast поверх unicast underlay</a:t>
            </a:r>
          </a:p>
          <a:p>
            <a:pPr>
              <a:defRPr sz="3600"/>
            </a:pPr>
            <a:r>
              <a:t>OSPF поверх Point-to-Point Tunnel обычно использует 224.0.0.5 AllSPFRouters</a:t>
            </a:r>
          </a:p>
          <a:p>
            <a:pPr>
              <a:defRPr sz="3600"/>
            </a:pPr>
            <a:r>
              <a:t>224.0.0.6 AllDRouters применяется прежде всего в сетях с DR/BDR</a:t>
            </a:r>
          </a:p>
          <a:p>
            <a:pPr>
              <a:defRPr sz="3600"/>
            </a:pPr>
            <a:r>
              <a:t>Поэтому OSPF можно запустить прямо на tunnel interface</a:t>
            </a:r>
          </a:p>
          <a:p>
            <a:pPr>
              <a:defRPr sz="3600"/>
            </a:pPr>
            <a:r>
              <a:t>Это позволяет филиалам обмениваться маршрутами автоматически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GRE и IPsec решают разные части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создает полноценный Tunnel-интерфейс и удобен для динамической маршрутизации</a:t>
            </a:r>
          </a:p>
          <a:p>
            <a:pPr>
              <a:defRPr sz="3600"/>
            </a:pPr>
            <a:r>
              <a:t>Классический Policy-Based IPsec с Crypto Map ориентирован на выбранный unicast-трафик</a:t>
            </a:r>
          </a:p>
          <a:p>
            <a:pPr>
              <a:defRPr sz="3600"/>
            </a:pPr>
            <a:r>
              <a:t>Policy-Based IPsec неудобен для multicast routing protocols</a:t>
            </a:r>
          </a:p>
          <a:p>
            <a:pPr>
              <a:defRPr sz="3600"/>
            </a:pPr>
            <a:r>
              <a:t>Современные Route-Based IPsec и VTI тоже могут поддерживать динамическую маршрутизацию без отдельного GRE</a:t>
            </a:r>
          </a:p>
          <a:p>
            <a:pPr>
              <a:defRPr sz="3600"/>
            </a:pPr>
            <a:r>
              <a:t>В Packet Tracer и базовом стенде GRE остается понятным способом показать overlay-маршрутизацию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OSPF поверх 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ospf 1 открывает OSPF-процесс</a:t>
            </a:r>
          </a:p>
          <a:p>
            <a:pPr>
              <a:defRPr sz="3600"/>
            </a:pPr>
            <a:r>
              <a:t>router-id 1.1.1.1 фиксирует идентификатор HQ</a:t>
            </a:r>
          </a:p>
          <a:p>
            <a:pPr>
              <a:defRPr sz="3600"/>
            </a:pPr>
            <a:r>
              <a:t>passive-interface default запрещает Hello на всех интерфейсах по умолчанию</a:t>
            </a:r>
          </a:p>
          <a:p>
            <a:pPr>
              <a:defRPr sz="3600"/>
            </a:pPr>
            <a:r>
              <a:t>no passive-interface Tunnel0 разрешает OSPF-соседство только через туннель</a:t>
            </a:r>
          </a:p>
          <a:p>
            <a:pPr>
              <a:defRPr sz="3600"/>
            </a:pPr>
            <a:r>
              <a:t>network 10.255.0.0 0.0.0.3 area 0 включает tunnel network в OSPF</a:t>
            </a:r>
          </a:p>
          <a:p>
            <a:pPr>
              <a:defRPr sz="3600"/>
            </a:pPr>
            <a:r>
              <a:t>network 192.168.10.0 0.0.0.255 area 0 анонсирует LAN HQ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OSPF на Branch настраивается зеркально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ospf 1 открывает OSPF-процесс филиала</a:t>
            </a:r>
          </a:p>
          <a:p>
            <a:pPr>
              <a:defRPr sz="3600"/>
            </a:pPr>
            <a:r>
              <a:t>router-id 2.2.2.2 фиксирует идентификатор Branch</a:t>
            </a:r>
          </a:p>
          <a:p>
            <a:pPr>
              <a:defRPr sz="3600"/>
            </a:pPr>
            <a:r>
              <a:t>passive-interface default делает LAN пассивной для Hello</a:t>
            </a:r>
          </a:p>
          <a:p>
            <a:pPr>
              <a:defRPr sz="3600"/>
            </a:pPr>
            <a:r>
              <a:t>no passive-interface Tunnel0 разрешает соседство через GRE</a:t>
            </a:r>
          </a:p>
          <a:p>
            <a:pPr>
              <a:defRPr sz="3600"/>
            </a:pPr>
            <a:r>
              <a:t>network 10.255.0.0 0.0.0.3 area 0 включает tunnel network</a:t>
            </a:r>
          </a:p>
          <a:p>
            <a:pPr>
              <a:defRPr sz="3600"/>
            </a:pPr>
            <a:r>
              <a:t>network 192.168.20.0 0.0.0.255 area 0 анонсирует LAN Branch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OSPF соседство поверх 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6D1549-59AB-63D4-A080-3080621C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MTU и MSS важны из-за инкапсуляции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добавляет дополнительный заголовок, поэтому эффективный размер полезной нагрузки уменьшается</a:t>
            </a:r>
          </a:p>
          <a:p>
            <a:pPr>
              <a:defRPr sz="3600"/>
            </a:pPr>
            <a:r>
              <a:t>MTU (Maximum Transmission Unit) — максимальный размер L3-пакета без фрагментации</a:t>
            </a:r>
          </a:p>
          <a:p>
            <a:pPr>
              <a:defRPr sz="3600"/>
            </a:pPr>
            <a:r>
              <a:t>MSS (Maximum Segment Size) — максимальный размер TCP-полезной нагрузки</a:t>
            </a:r>
          </a:p>
          <a:p>
            <a:pPr>
              <a:defRPr sz="3600"/>
            </a:pPr>
            <a:r>
              <a:t>Нельзя механически ставить одинаковые MTU/MSS во всех сетях</a:t>
            </a:r>
          </a:p>
          <a:p>
            <a:pPr>
              <a:defRPr sz="3600"/>
            </a:pPr>
            <a:r>
              <a:t>Значения рассчитываются по реальному Underlay MTU и используемым типам инкапсуляции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Расчет MTU для чистого GRE over 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Ethernet IP MTU: 1500 байт</a:t>
            </a:r>
          </a:p>
          <a:p>
            <a:pPr>
              <a:defRPr sz="3600"/>
            </a:pPr>
            <a:r>
              <a:t>Outer IPv4 header: минус 20 байт</a:t>
            </a:r>
          </a:p>
          <a:p>
            <a:pPr>
              <a:defRPr sz="3600"/>
            </a:pPr>
            <a:r>
              <a:t>GRE header: минус 4 байта</a:t>
            </a:r>
          </a:p>
          <a:p>
            <a:pPr>
              <a:defRPr sz="3600"/>
            </a:pPr>
            <a:r>
              <a:t>Итоговый Tunnel IP MTU: 1476 байт</a:t>
            </a:r>
          </a:p>
          <a:p>
            <a:pPr>
              <a:defRPr sz="3600"/>
            </a:pPr>
            <a:r>
              <a:t>Для TCP over IPv4: 1476 - 20 байт Inner IPv4 - 20 байт TCP = MSS 1436</a:t>
            </a:r>
          </a:p>
          <a:p>
            <a:pPr>
              <a:defRPr sz="3600"/>
            </a:pPr>
            <a:r>
              <a:t>Для чистого GRE типичные расчетные значения: ip mtu 1476 и ip tcp adjust-mss 1436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1400/1360 — консервативный ориентир, а не универсальная формула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mtu 1400 и ip tcp adjust-mss 1360 часто используют как безопасный учебный запас</a:t>
            </a:r>
          </a:p>
          <a:p>
            <a:pPr>
              <a:defRPr sz="3600"/>
            </a:pPr>
            <a:r>
              <a:t>Эти значения оставляют место для IPsec и дополнительных заголовков</a:t>
            </a:r>
          </a:p>
          <a:p>
            <a:pPr>
              <a:defRPr sz="3600"/>
            </a:pPr>
            <a:r>
              <a:t>В реальной сети их нужно сверять с Underlay MTU и политикой провайдера</a:t>
            </a:r>
          </a:p>
          <a:p>
            <a:pPr>
              <a:defRPr sz="3600"/>
            </a:pPr>
            <a:r>
              <a:t>Слишком маленький MTU снижает эффективность передачи</a:t>
            </a:r>
          </a:p>
          <a:p>
            <a:pPr>
              <a:defRPr sz="3600"/>
            </a:pPr>
            <a:r>
              <a:t>Слишком большой MTU может вызвать фрагментацию или зависание крупных TCP-сессий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Path MTU Discovery объясняет странные зависания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Крупный пакет может потребовать фрагментации</a:t>
            </a:r>
          </a:p>
          <a:p>
            <a:pPr>
              <a:defRPr sz="3600"/>
            </a:pPr>
            <a:r>
              <a:t>Если установлен DF-бит, маршрутизатор должен отправить ICMP Fragmentation Needed</a:t>
            </a:r>
          </a:p>
          <a:p>
            <a:pPr>
              <a:defRPr sz="3600"/>
            </a:pPr>
            <a:r>
              <a:t>Если ICMP блокируется, возникает PMTUD Black Hole</a:t>
            </a:r>
          </a:p>
          <a:p>
            <a:pPr>
              <a:defRPr sz="3600"/>
            </a:pPr>
            <a:r>
              <a:t>Симптом: маленький ping работает, но HTTPS или передача файлов зависают</a:t>
            </a:r>
          </a:p>
          <a:p>
            <a:pPr>
              <a:defRPr sz="3600"/>
            </a:pPr>
            <a:r>
              <a:t>Диагностика: Extended Ping с увеличенным size и DF-bit, если платформа поддерживает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GRE не шифрует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не обеспечивает конфиденциальность: содержимое можно прочитать при перехвате</a:t>
            </a:r>
          </a:p>
          <a:p>
            <a:pPr>
              <a:defRPr sz="3600"/>
            </a:pPr>
            <a:r>
              <a:t>GRE не обеспечивает криптографическую целостность и подлинность источника</a:t>
            </a:r>
          </a:p>
          <a:p>
            <a:pPr>
              <a:defRPr sz="3600"/>
            </a:pPr>
            <a:r>
              <a:t>Он решает задачу туннелирования и маршрутизации, но не задачу безопасности</a:t>
            </a:r>
          </a:p>
          <a:p>
            <a:pPr>
              <a:defRPr sz="3600"/>
            </a:pPr>
            <a:r>
              <a:t>Через публичный Интернет чистый GRE использовать опасно</a:t>
            </a:r>
          </a:p>
          <a:p>
            <a:pPr>
              <a:defRPr sz="3600"/>
            </a:pPr>
            <a:r>
              <a:t>Для защиты GRE-трафика применяют IPsec, который изучается в следующей лекции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Сравнение GRE и IPsec на уровне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удобен для overlay-интерфейса и динамической маршрутизации</a:t>
            </a:r>
          </a:p>
          <a:p>
            <a:pPr>
              <a:defRPr sz="3600"/>
            </a:pPr>
            <a:r>
              <a:t>IPsec обеспечивает шифрование, целостность и аутентификацию</a:t>
            </a:r>
          </a:p>
          <a:p>
            <a:pPr>
              <a:defRPr sz="3600"/>
            </a:pPr>
            <a:r>
              <a:t>GRE без IPsec — удобный, но незашифрованный туннель</a:t>
            </a:r>
          </a:p>
          <a:p>
            <a:pPr>
              <a:defRPr sz="3600"/>
            </a:pPr>
            <a:r>
              <a:t>Классический Policy-Based IPsec сложнее использовать с multicast-протоколами маршрутизации</a:t>
            </a:r>
          </a:p>
          <a:p>
            <a:pPr>
              <a:defRPr sz="3600"/>
            </a:pPr>
            <a:r>
              <a:t>GRE over IPsec объединяет преимущества: routing over tunnel и защита данных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GRE без шифрования и GRE over IPsec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C6F5BD-ED8E-8D27-1302-50B7E97C9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диагностики 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физические outside-интерфейсы и IP-адреса</a:t>
            </a:r>
          </a:p>
          <a:p>
            <a:pPr>
              <a:defRPr sz="3600"/>
            </a:pPr>
            <a:r>
              <a:t>Проверить underlay-маршрут до tunnel destination</a:t>
            </a:r>
          </a:p>
          <a:p>
            <a:pPr>
              <a:defRPr sz="3600"/>
            </a:pPr>
            <a:r>
              <a:t>Проверить ICMP underlay, если он разрешен</a:t>
            </a:r>
          </a:p>
          <a:p>
            <a:pPr>
              <a:defRPr sz="3600"/>
            </a:pPr>
            <a:r>
              <a:t>Проверить show interfaces Tunnel0 и tunnel source/destination</a:t>
            </a:r>
          </a:p>
          <a:p>
            <a:pPr>
              <a:defRPr sz="3600"/>
            </a:pPr>
            <a:r>
              <a:t>Проверить прохождение GRE Protocol 47 через capture или счетчики</a:t>
            </a:r>
          </a:p>
          <a:p>
            <a:pPr>
              <a:defRPr sz="3600"/>
            </a:pPr>
            <a:r>
              <a:t>Проверить overlay ping между tunnel IP-адресами</a:t>
            </a:r>
          </a:p>
          <a:p>
            <a:pPr>
              <a:defRPr sz="3600"/>
            </a:pPr>
            <a:r>
              <a:t>Проверить OSPF-соседство и маршруты поверх туннеля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ожидаемых проверок 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route 198.51.100.2: маршрут через Underlay</a:t>
            </a:r>
          </a:p>
          <a:p>
            <a:pPr>
              <a:defRPr sz="3600"/>
            </a:pPr>
            <a:r>
              <a:t>ping 198.51.100.2 source 203.0.113.2: Underlay доступен от tunnel source</a:t>
            </a:r>
          </a:p>
          <a:p>
            <a:pPr>
              <a:defRPr sz="3600"/>
            </a:pPr>
            <a:r>
              <a:t>show ip interface brief: Tunnel0 up/up</a:t>
            </a:r>
          </a:p>
          <a:p>
            <a:pPr>
              <a:defRPr sz="3600"/>
            </a:pPr>
            <a:r>
              <a:t>ping 10.255.0.2 source 10.255.0.1: Overlay доступен</a:t>
            </a:r>
          </a:p>
          <a:p>
            <a:pPr>
              <a:defRPr sz="3600"/>
            </a:pPr>
            <a:r>
              <a:t>show ip ospf neighbor: сосед через Tunnel0 в Full</a:t>
            </a:r>
          </a:p>
          <a:p>
            <a:pPr>
              <a:defRPr sz="3600"/>
            </a:pPr>
            <a:r>
              <a:t>show ip route ospf: удаленные LAN присутствуют</a:t>
            </a:r>
          </a:p>
          <a:p>
            <a:pPr>
              <a:defRPr sz="3600"/>
            </a:pPr>
            <a:r>
              <a:t>Packet capture: Outer IP + GRE + Inner 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GRE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Перепутаны tunnel source и tunnel destination</a:t>
            </a:r>
          </a:p>
          <a:p>
            <a:pPr>
              <a:defRPr sz="3600"/>
            </a:pPr>
            <a:r>
              <a:t>Нет маршрута underlay до внешнего адреса соседа</a:t>
            </a:r>
          </a:p>
          <a:p>
            <a:pPr>
              <a:defRPr sz="3600"/>
            </a:pPr>
            <a:r>
              <a:t>ACL или провайдер блокирует GRE Protocol 47</a:t>
            </a:r>
          </a:p>
          <a:p>
            <a:pPr>
              <a:defRPr sz="3600"/>
            </a:pPr>
            <a:r>
              <a:t>На Tunnel0 настроены адреса не из одной /30 подсети</a:t>
            </a:r>
          </a:p>
          <a:p>
            <a:pPr>
              <a:defRPr sz="3600"/>
            </a:pPr>
            <a:r>
              <a:t>OSPF включен на LAN, но забыта tunnel network</a:t>
            </a:r>
          </a:p>
          <a:p>
            <a:pPr>
              <a:defRPr sz="3600"/>
            </a:pPr>
            <a:r>
              <a:t>OSPF Hello отправляются в LAN из-за отсутствия passive-interface default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Underlay-маршруты до tunnel destination обязательны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GRE-туннель не заменяет маршрут до внешнего peer-адреса</a:t>
            </a:r>
          </a:p>
          <a:p>
            <a:pPr>
              <a:defRPr sz="3600"/>
            </a:pPr>
            <a:r>
              <a:t>HQ должен иметь маршрут до 198.51.100.2 через провайдера</a:t>
            </a:r>
          </a:p>
          <a:p>
            <a:pPr>
              <a:defRPr sz="3600"/>
            </a:pPr>
            <a:r>
              <a:t>Branch должен иметь маршрут до 203.0.113.2 через своего провайдера</a:t>
            </a:r>
          </a:p>
          <a:p>
            <a:pPr>
              <a:defRPr sz="3600"/>
            </a:pPr>
            <a:r>
              <a:t>Default route может быть достаточным, если он ведет в правильный underlay</a:t>
            </a:r>
          </a:p>
          <a:p>
            <a:pPr>
              <a:defRPr sz="3600"/>
            </a:pPr>
            <a:r>
              <a:t>Если маршрут до destination указывает обратно в tunnel, возникает рекурсивная ошибка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Recursive routing через tunnel является опасной ошибкой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Tunnel destination должен достигаться через physical outside или provider route</a:t>
            </a:r>
          </a:p>
          <a:p>
            <a:pPr>
              <a:defRPr sz="3600"/>
            </a:pPr>
            <a:r>
              <a:t>Если маршрут до tunnel destination изучен через сам Tunnel0, туннель может упасть</a:t>
            </a:r>
          </a:p>
          <a:p>
            <a:pPr>
              <a:defRPr sz="3600"/>
            </a:pPr>
            <a:r>
              <a:t>Симптом: нестабильный tunnel, исчезающие маршруты и сообщение %TUN-5-RECURDOWN</a:t>
            </a:r>
          </a:p>
          <a:p>
            <a:pPr>
              <a:defRPr sz="3600"/>
            </a:pPr>
            <a:r>
              <a:t>Проверка: show ip route 198.51.100.2 должен указывать на underlay next-hop</a:t>
            </a:r>
          </a:p>
          <a:p>
            <a:pPr>
              <a:defRPr sz="3600"/>
            </a:pPr>
            <a:r>
              <a:t>Исправление: задать точный static host route /32 до peer outside через провайдера</a:t>
            </a:r>
          </a:p>
          <a:p>
            <a:pPr>
              <a:defRPr sz="3600"/>
            </a:pPr>
            <a:r>
              <a:t>Host route /32 надежнее общего маршрута, который может быть вытеснен динамической маршрутизацией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GRE keepalive полезен, но не обязателен в базовой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Keepalive позволяет локальному устройству проверять обратную работоспособность туннеля</a:t>
            </a:r>
          </a:p>
          <a:p>
            <a:pPr>
              <a:defRPr sz="3600"/>
            </a:pPr>
            <a:r>
              <a:t>Поддержка зависит от платформы и образа IOS</a:t>
            </a:r>
          </a:p>
          <a:p>
            <a:pPr>
              <a:defRPr sz="3600"/>
            </a:pPr>
            <a:r>
              <a:t>Совместимость с GRE over IPsec зависит от выбранной схемы защиты</a:t>
            </a:r>
          </a:p>
          <a:p>
            <a:pPr>
              <a:defRPr sz="3600"/>
            </a:pPr>
            <a:r>
              <a:t>Перед применением нужно проверить документацию конкретной платформы</a:t>
            </a:r>
          </a:p>
          <a:p>
            <a:pPr>
              <a:defRPr sz="3600"/>
            </a:pPr>
            <a:r>
              <a:t>В базовой лаборатории достаточно show interfaces Tunnel0, overlay ping и routing adjacency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 создает логический L3-туннель поверх underlay-сети, но сам по себе не шифрует данные</a:t>
            </a:r>
          </a:p>
          <a:p>
            <a:pPr>
              <a:defRPr sz="3600"/>
            </a:pPr>
            <a:r>
              <a:t>Underlay должен обеспечивать достижимость tunnel destination от правильного source IP</a:t>
            </a:r>
          </a:p>
          <a:p>
            <a:pPr>
              <a:defRPr sz="3600"/>
            </a:pPr>
            <a:r>
              <a:t>Tunnel up/up не всегда доказывает прохождение GRE Protocol 47 и пользовательского трафика</a:t>
            </a:r>
          </a:p>
          <a:p>
            <a:pPr>
              <a:defRPr sz="3600"/>
            </a:pPr>
            <a:r>
              <a:t>GRE поддерживает multicast, поэтому поверх Point-to-Point Tunnel удобно запускать OSPF</a:t>
            </a:r>
          </a:p>
          <a:p>
            <a:pPr>
              <a:defRPr sz="3600"/>
            </a:pPr>
            <a:r>
              <a:t>Инкапсуляция уменьшает эффективный MTU и требует осознанного расчета MSS</a:t>
            </a:r>
          </a:p>
          <a:p>
            <a:pPr>
              <a:defRPr sz="3600"/>
            </a:pPr>
            <a:r>
              <a:t>Recursive routing предотвращают отдельным underlay-маршрутом до peer outside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underlay отличается от overlay?</a:t>
            </a:r>
          </a:p>
          <a:p>
            <a:pPr>
              <a:defRPr sz="3600"/>
            </a:pPr>
            <a:r>
              <a:t>Почему GRE не является защищенным VPN без IPsec?</a:t>
            </a:r>
          </a:p>
          <a:p>
            <a:pPr>
              <a:defRPr sz="3600"/>
            </a:pPr>
            <a:r>
              <a:t>Какие параметры нужны для настройки GRE Tunnel-интерфейса?</a:t>
            </a:r>
          </a:p>
          <a:p>
            <a:pPr>
              <a:defRPr sz="3600"/>
            </a:pPr>
            <a:r>
              <a:t>Почему ping underlay-адреса без source может дать неполную проверку?</a:t>
            </a:r>
          </a:p>
          <a:p>
            <a:pPr>
              <a:defRPr sz="3600"/>
            </a:pPr>
            <a:r>
              <a:t>Почему Tunnel0 может быть up/up, но трафик через него не проходит?</a:t>
            </a:r>
          </a:p>
          <a:p>
            <a:pPr>
              <a:defRPr sz="3600"/>
            </a:pPr>
            <a:r>
              <a:t>Почему GRE удобен для OSPF и какой multicast-адрес обычно важен на Point-to-Point Tunnel?</a:t>
            </a:r>
          </a:p>
          <a:p>
            <a:pPr>
              <a:defRPr sz="3600"/>
            </a:pPr>
            <a:r>
              <a:t>Как рассчитать GRE MTU и TCP MSS для Underlay MTU 1500?</a:t>
            </a:r>
          </a:p>
          <a:p>
            <a:pPr>
              <a:defRPr sz="3600"/>
            </a:pPr>
            <a:r>
              <a:t>В каком порядке диагностировать неработающий GRE-туннель?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1989</Words>
  <Application>Microsoft Office PowerPoint</Application>
  <PresentationFormat>Широкоэкранный</PresentationFormat>
  <Paragraphs>227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2026-07-27T11:33:19Z</dcterms:modified>
  <cp:category/>
</cp:coreProperties>
</file>