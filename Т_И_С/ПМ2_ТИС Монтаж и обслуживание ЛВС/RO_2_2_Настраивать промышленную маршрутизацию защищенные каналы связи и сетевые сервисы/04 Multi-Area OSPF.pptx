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4. Многообластная архитектура, оптимизация и безопасность OSPF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Понимать, зачем OSPF-сеть делят на области</a:t>
            </a:r>
          </a:p>
          <a:p>
            <a:pPr>
              <a:defRPr sz="3600"/>
            </a:pPr>
            <a:r>
              <a:t>Различать Internal Router, Backbone Router, ABR и ASBR</a:t>
            </a:r>
          </a:p>
          <a:p>
            <a:pPr>
              <a:defRPr sz="3600"/>
            </a:pPr>
            <a:r>
              <a:t>Настраивать простую Multi-Area OSPF-схему Area 0, Area 10 и Area 20</a:t>
            </a:r>
          </a:p>
          <a:p>
            <a:pPr>
              <a:defRPr sz="3600"/>
            </a:pPr>
            <a:r>
              <a:t>Проверять O, O IA, DR/BDR, аутентификацию и типовые ошибки соседства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Причины разделения OSPF-сети на области и роль Area 0</a:t>
            </a:r>
          </a:p>
          <a:p>
            <a:pPr>
              <a:defRPr sz="3600"/>
            </a:pPr>
            <a:r>
              <a:t>2. Internal Router, Backbone Router, ABR и обзор ASBR</a:t>
            </a:r>
          </a:p>
          <a:p>
            <a:pPr>
              <a:defRPr sz="3600"/>
            </a:pPr>
            <a:r>
              <a:t>3. Внутриобластные O и межобластные O IA маршруты</a:t>
            </a:r>
          </a:p>
          <a:p>
            <a:pPr>
              <a:defRPr sz="3600"/>
            </a:pPr>
            <a:r>
              <a:t>4. Проектирование Area 0, Area 10 и Area 20</a:t>
            </a:r>
          </a:p>
          <a:p>
            <a:pPr>
              <a:defRPr sz="3600"/>
            </a:pPr>
            <a:r>
              <a:t>5. Broadcast и Point-to-Point сети, DR/BDR и priority</a:t>
            </a:r>
          </a:p>
          <a:p>
            <a:pPr>
              <a:defRPr sz="3600"/>
            </a:pPr>
            <a:r>
              <a:t>6. Аутентификация OSPF</a:t>
            </a:r>
          </a:p>
          <a:p>
            <a:pPr>
              <a:defRPr sz="3600"/>
            </a:pPr>
            <a:r>
              <a:t>7. Критические параметры соседства</a:t>
            </a:r>
          </a:p>
          <a:p>
            <a:pPr>
              <a:defRPr sz="3600"/>
            </a:pPr>
            <a:r>
              <a:t>8. Суммаризация маршрутов на ABR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Multi-Area OSPF нужен для масштабирования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большой сети единая Area 0 может разрастись по LSDB и числу расчетов SPF</a:t>
            </a:r>
          </a:p>
          <a:p>
            <a:pPr>
              <a:defRPr sz="3600"/>
            </a:pPr>
            <a:r>
              <a:t>Разделение на области ограничивает распространение части link-state информации</a:t>
            </a:r>
          </a:p>
          <a:p>
            <a:pPr>
              <a:defRPr sz="3600"/>
            </a:pPr>
            <a:r>
              <a:t>Маршрутизаторы внутри области знают подробности своей области</a:t>
            </a:r>
          </a:p>
          <a:p>
            <a:pPr>
              <a:defRPr sz="3600"/>
            </a:pPr>
            <a:r>
              <a:t>ABR передает межобластную доступность через Type 3 Summary LSA</a:t>
            </a:r>
          </a:p>
          <a:p>
            <a:pPr>
              <a:defRPr sz="3600"/>
            </a:pPr>
            <a:r>
              <a:t>Type 3 Summary LSA не означает автоматическое объединение нескольких префиксов</a:t>
            </a:r>
          </a:p>
          <a:p>
            <a:pPr>
              <a:defRPr sz="3600"/>
            </a:pPr>
            <a:r>
              <a:t>Так сеть становится управляемее и устойчивее к локальным изменениям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ABR не суммирует префиксы автоматически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Без ручной суммаризации ABR может передать в другие области несколько отдельных /24</a:t>
            </a:r>
          </a:p>
          <a:p>
            <a:pPr>
              <a:defRPr sz="3600"/>
            </a:pPr>
            <a:r>
              <a:t>Например: 192.168.16.0/24, 192.168.17.0/24, 192.168.18.0/24 и 192.168.19.0/24</a:t>
            </a:r>
          </a:p>
          <a:p>
            <a:pPr>
              <a:defRPr sz="3600"/>
            </a:pPr>
            <a:r>
              <a:t>Общий маршрут 192.168.16.0/22 появится только после настройки area 10 range 192.168.16.0 255.255.252.0</a:t>
            </a:r>
          </a:p>
          <a:p>
            <a:pPr>
              <a:defRPr sz="3600"/>
            </a:pPr>
            <a:r>
              <a:t>ABR скрывает подробную топологию области, но не обязан численно агрегировать адреса</a:t>
            </a:r>
          </a:p>
          <a:p>
            <a:pPr>
              <a:defRPr sz="3600"/>
            </a:pPr>
            <a:r>
              <a:t>Суммаризация — отдельная настройка оптимизации, а не автоматическое свойство Multi-Area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Area 0 является backbone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Backbone Area — магистральная область OSPF с номером 0</a:t>
            </a:r>
          </a:p>
          <a:p>
            <a:pPr>
              <a:defRPr sz="3600"/>
            </a:pPr>
            <a:r>
              <a:t>В нормальном дизайне каждая обычная область имеет логическую связь с Area 0 через ABR</a:t>
            </a:r>
          </a:p>
          <a:p>
            <a:pPr>
              <a:defRPr sz="3600"/>
            </a:pPr>
            <a:r>
              <a:t>Area 0 соединяет области между собой и обеспечивает межобластную маршрутизацию</a:t>
            </a:r>
          </a:p>
          <a:p>
            <a:pPr>
              <a:defRPr sz="3600"/>
            </a:pPr>
            <a:r>
              <a:t>Межобластной путь обычно идет по модели Area 10 → Area 0 → Area 20</a:t>
            </a:r>
          </a:p>
          <a:p>
            <a:pPr>
              <a:defRPr sz="3600"/>
            </a:pPr>
            <a:r>
              <a:t>Обычная не-backbone область не должна использоваться как транзит между другими областями</a:t>
            </a:r>
          </a:p>
          <a:p>
            <a:pPr>
              <a:defRPr sz="3600"/>
            </a:pPr>
            <a:r>
              <a:t>Virtual Link существует, но в базовом курсе не рассматривается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Area 0 как backbone для Area 10 и Area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BB1887-5174-8E31-98F6-65336D3EF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Роль маршрутизатора зависит от положения в OSPF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Internal Router — все OSPF-интерфейсы находятся в одной области</a:t>
            </a:r>
          </a:p>
          <a:p>
            <a:pPr>
              <a:defRPr sz="3600"/>
            </a:pPr>
            <a:r>
              <a:t>Backbone Router — маршрутизатор, имеющий хотя бы один интерфейс в Area 0</a:t>
            </a:r>
          </a:p>
          <a:p>
            <a:pPr>
              <a:defRPr sz="3600"/>
            </a:pPr>
            <a:r>
              <a:t>ABR (Area Border Router) — в стандартном дизайне имеет интерфейс в Area 0 и хотя бы один интерфейс в другой области</a:t>
            </a:r>
          </a:p>
          <a:p>
            <a:pPr>
              <a:defRPr sz="3600"/>
            </a:pPr>
            <a:r>
              <a:t>ASBR (Autonomous System Boundary Router) — вводит маршруты из другого домена маршрутизации</a:t>
            </a:r>
          </a:p>
          <a:p>
            <a:pPr>
              <a:defRPr sz="3600"/>
            </a:pPr>
            <a:r>
              <a:t>Один маршрутизатор может выполнять несколько ролей OSPF одновременно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Роли OSPF могут совмещаться на одном устройстве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Маршрутизатор с интерфейсами в Area 0 и Area 10 является ABR</a:t>
            </a:r>
          </a:p>
          <a:p>
            <a:pPr>
              <a:defRPr sz="3600"/>
            </a:pPr>
            <a:r>
              <a:t>Он одновременно является Backbone Router, потому что имеет интерфейс в Area 0</a:t>
            </a:r>
          </a:p>
          <a:p>
            <a:pPr>
              <a:defRPr sz="3600"/>
            </a:pPr>
            <a:r>
              <a:t>Если этот же маршрутизатор выполняет redistribution, он становится еще и ASBR</a:t>
            </a:r>
          </a:p>
          <a:p>
            <a:pPr>
              <a:defRPr sz="3600"/>
            </a:pPr>
            <a:r>
              <a:t>Маршруты, введенные ASBR из другого источника, обычно видны как O E1 или O E2</a:t>
            </a:r>
          </a:p>
          <a:p>
            <a:pPr>
              <a:defRPr sz="3600"/>
            </a:pPr>
            <a:r>
              <a:t>В этой лекции ASBR рассматривается обзорно, без настройки redistribution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ABR является границей областей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ABR хранит отдельную LSDB для каждой подключенной области</a:t>
            </a:r>
          </a:p>
          <a:p>
            <a:pPr>
              <a:defRPr sz="3600"/>
            </a:pPr>
            <a:r>
              <a:t>ABR пересчитывает маршруты внутри каждой области и распространяет межобластную информацию</a:t>
            </a:r>
          </a:p>
          <a:p>
            <a:pPr>
              <a:defRPr sz="3600"/>
            </a:pPr>
            <a:r>
              <a:t>Межобластная доступность передается через Type 3 Summary LSA</a:t>
            </a:r>
          </a:p>
          <a:p>
            <a:pPr>
              <a:defRPr sz="3600"/>
            </a:pPr>
            <a:r>
              <a:t>На ABR можно явно выполнять суммаризацию маршрутов между областями</a:t>
            </a:r>
          </a:p>
          <a:p>
            <a:pPr>
              <a:defRPr sz="3600"/>
            </a:pPr>
            <a:r>
              <a:t>Ошибка Area ID на ABR ломает межобластную связность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роли Internal Router, Backbone Router и ABR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28D66A-BCF9-7274-461B-E29DA1D78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O и O IA показывают источник OSPF-маршрута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Маршрут O в show ip route означает внутриобластной OSPF route</a:t>
            </a:r>
          </a:p>
          <a:p>
            <a:pPr>
              <a:defRPr sz="3600"/>
            </a:pPr>
            <a:r>
              <a:t>Маршрут O IA означает inter-area route, полученный из другой области через ABR</a:t>
            </a:r>
          </a:p>
          <a:p>
            <a:pPr>
              <a:defRPr sz="3600"/>
            </a:pPr>
            <a:r>
              <a:t>O IA помогает понять, что путь пересекает границу OSPF-областей</a:t>
            </a:r>
          </a:p>
          <a:p>
            <a:pPr>
              <a:defRPr sz="3600"/>
            </a:pPr>
            <a:r>
              <a:t>В single-area OSPF обычно видны только O-маршруты</a:t>
            </a:r>
          </a:p>
          <a:p>
            <a:pPr>
              <a:defRPr sz="3600"/>
            </a:pPr>
            <a:r>
              <a:t>После разделения сети на Area 10 и Area 20 у маршрутизаторов должны появиться O 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читать OSPF-маршрут в show ip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Строка O 192.168.10.0/24 показывает внутриобластный маршрут</a:t>
            </a:r>
          </a:p>
          <a:p>
            <a:pPr>
              <a:defRPr sz="3600"/>
            </a:pPr>
            <a:r>
              <a:t>Строка O IA 192.168.20.0/24 показывает маршрут из другой области</a:t>
            </a:r>
          </a:p>
          <a:p>
            <a:pPr>
              <a:defRPr sz="3600"/>
            </a:pPr>
            <a:r>
              <a:t>Число в скобках 110/20 показывает AD 110 и metric 20</a:t>
            </a:r>
          </a:p>
          <a:p>
            <a:pPr>
              <a:defRPr sz="3600"/>
            </a:pPr>
            <a:r>
              <a:t>via 10.0.0.2 показывает next-hop к маршруту</a:t>
            </a:r>
          </a:p>
          <a:p>
            <a:pPr>
              <a:defRPr sz="3600"/>
            </a:pPr>
            <a:r>
              <a:t>Поле времени показывает, как давно маршрут установлен или обновлен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Простая Multi-Area схема должна быть понятной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Area 0 размещают на магистральных соединениях между центральными роутерами</a:t>
            </a:r>
          </a:p>
          <a:p>
            <a:pPr>
              <a:defRPr sz="3600"/>
            </a:pPr>
            <a:r>
              <a:t>Area 10 может описывать сети головного офиса</a:t>
            </a:r>
          </a:p>
          <a:p>
            <a:pPr>
              <a:defRPr sz="3600"/>
            </a:pPr>
            <a:r>
              <a:t>Area 20 может описывать сети филиала</a:t>
            </a:r>
          </a:p>
          <a:p>
            <a:pPr>
              <a:defRPr sz="3600"/>
            </a:pPr>
            <a:r>
              <a:t>ABR соединяет Area 0 с локальной area и переносит маршруты между ними</a:t>
            </a:r>
          </a:p>
          <a:p>
            <a:pPr>
              <a:defRPr sz="3600"/>
            </a:pPr>
            <a:r>
              <a:t>Область назначается интерфейсу, а не всему маршрутизатору целиком</a:t>
            </a:r>
          </a:p>
          <a:p>
            <a:pPr>
              <a:defRPr sz="3600"/>
            </a:pPr>
            <a:r>
              <a:t>Такой дизайн проще диагностировать, чем случайное распределение областей по интерфейсам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Область назначается конкретному интерфейсу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 точнее говорить: маршрутизатор находится в Area 10</a:t>
            </a:r>
          </a:p>
          <a:p>
            <a:pPr>
              <a:defRPr sz="3600"/>
            </a:pPr>
            <a:r>
              <a:t>Правильнее: интерфейс маршрутизатора включен в Area 10</a:t>
            </a:r>
          </a:p>
          <a:p>
            <a:pPr>
              <a:defRPr sz="3600"/>
            </a:pPr>
            <a:r>
              <a:t>Пример R2: GigabitEthernet0/0 → Area 0</a:t>
            </a:r>
          </a:p>
          <a:p>
            <a:pPr>
              <a:defRPr sz="3600"/>
            </a:pPr>
            <a:r>
              <a:t>Пример R2: GigabitEthernet0/1 → Area 10</a:t>
            </a:r>
          </a:p>
          <a:p>
            <a:pPr>
              <a:defRPr sz="3600"/>
            </a:pPr>
            <a:r>
              <a:t>Пример R2: Loopback0 → Area 10</a:t>
            </a:r>
          </a:p>
          <a:p>
            <a:pPr>
              <a:defRPr sz="3600"/>
            </a:pPr>
            <a:r>
              <a:t>Именно сочетание интерфейсов Area 0 и Area 10 делает R2 маршрутизатором ABR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network-команд для Area 0 и Area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router ospf 1 открывает OSPF-процесс</a:t>
            </a:r>
          </a:p>
          <a:p>
            <a:pPr>
              <a:defRPr sz="3600"/>
            </a:pPr>
            <a:r>
              <a:t>network 10.0.0.0 0.0.0.3 area 0 включает транзитный линк в backbone</a:t>
            </a:r>
          </a:p>
          <a:p>
            <a:pPr>
              <a:defRPr sz="3600"/>
            </a:pPr>
            <a:r>
              <a:t>network 192.168.10.0 0.0.0.255 area 10 включает LAN головного офиса</a:t>
            </a:r>
          </a:p>
          <a:p>
            <a:pPr>
              <a:defRPr sz="3600"/>
            </a:pPr>
            <a:r>
              <a:t>Один маршрутизатор с интерфейсами в Area 0 и Area 10 становится ABR</a:t>
            </a:r>
          </a:p>
          <a:p>
            <a:pPr>
              <a:defRPr sz="3600"/>
            </a:pPr>
            <a:r>
              <a:t>Проверка: show ip ospf interface brief показывает area для каждого интерфейса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Area 0, Area 10 и Area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917B2C-1A7D-C838-AB55-8409D9170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Тип сети влияет на соседство и выбор 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OSPF network type определяет, как маршрутизаторы формируют соседства на интерфейсе</a:t>
            </a:r>
          </a:p>
          <a:p>
            <a:pPr>
              <a:defRPr sz="3600"/>
            </a:pPr>
            <a:r>
              <a:t>Broadcast network type характерен для Ethernet-сегментов</a:t>
            </a:r>
          </a:p>
          <a:p>
            <a:pPr>
              <a:defRPr sz="3600"/>
            </a:pPr>
            <a:r>
              <a:t>Point-to-Point network type используется на линках только между двумя маршрутизаторами</a:t>
            </a:r>
          </a:p>
          <a:p>
            <a:pPr>
              <a:defRPr sz="3600"/>
            </a:pPr>
            <a:r>
              <a:t>На broadcast-сегменте OSPF выбирает DR и BDR</a:t>
            </a:r>
          </a:p>
          <a:p>
            <a:pPr>
              <a:defRPr sz="3600"/>
            </a:pPr>
            <a:r>
              <a:t>На point-to-point линке DR и BDR не выбираются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DR и BDR уменьшают число полных соседств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DR (Designated Router) — выделенный маршрутизатор на общем broadcast-сегменте</a:t>
            </a:r>
          </a:p>
          <a:p>
            <a:pPr>
              <a:defRPr sz="3600"/>
            </a:pPr>
            <a:r>
              <a:t>BDR (Backup Designated Router) — резервный выделенный маршрутизатор</a:t>
            </a:r>
          </a:p>
          <a:p>
            <a:pPr>
              <a:defRPr sz="3600"/>
            </a:pPr>
            <a:r>
              <a:t>DROTHER формируют полное соседство с DR и BDR, но не со всеми подряд</a:t>
            </a:r>
          </a:p>
          <a:p>
            <a:pPr>
              <a:defRPr sz="3600"/>
            </a:pPr>
            <a:r>
              <a:t>Это уменьшает число обменов LSDB на общей Ethernet-сети</a:t>
            </a:r>
          </a:p>
          <a:p>
            <a:pPr>
              <a:defRPr sz="3600"/>
            </a:pPr>
            <a:r>
              <a:t>На настоящем OSPF Point-to-Point линке DR и BDR не выбираются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Алгоритм выбора DR и BDR предсказуем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Маршрутизаторы с ip ospf priority 0 исключаются из выборов</a:t>
            </a:r>
          </a:p>
          <a:p>
            <a:pPr>
              <a:defRPr sz="3600"/>
            </a:pPr>
            <a:r>
              <a:t>Устройство с наибольшим OSPF Priority становится DR</a:t>
            </a:r>
          </a:p>
          <a:p>
            <a:pPr>
              <a:defRPr sz="3600"/>
            </a:pPr>
            <a:r>
              <a:t>Следующее по Priority становится BDR</a:t>
            </a:r>
          </a:p>
          <a:p>
            <a:pPr>
              <a:defRPr sz="3600"/>
            </a:pPr>
            <a:r>
              <a:t>При равном Priority сравнивается Router ID</a:t>
            </a:r>
          </a:p>
          <a:p>
            <a:pPr>
              <a:defRPr sz="3600"/>
            </a:pPr>
            <a:r>
              <a:t>Побеждает наибольший Router ID</a:t>
            </a:r>
          </a:p>
          <a:p>
            <a:pPr>
              <a:defRPr sz="3600"/>
            </a:pPr>
            <a:r>
              <a:t>Значение Priority по умолчанию обычно равно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Изменение Priority не вытесняет текущий DR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OSPF не проводит preempt для уже выбранного DR</a:t>
            </a:r>
          </a:p>
          <a:p>
            <a:pPr>
              <a:defRPr sz="3600"/>
            </a:pPr>
            <a:r>
              <a:t>Если повысить Priority после выборов, текущий DR обычно останется DR</a:t>
            </a:r>
          </a:p>
          <a:p>
            <a:pPr>
              <a:defRPr sz="3600"/>
            </a:pPr>
            <a:r>
              <a:t>Новые выборы происходят при потере DR/BDR, сбросе процесса или выключении интерфейса</a:t>
            </a:r>
          </a:p>
          <a:p>
            <a:pPr>
              <a:defRPr sz="3600"/>
            </a:pPr>
            <a:r>
              <a:t>В рабочей сети такие действия вызывают разрыв соседств</a:t>
            </a:r>
          </a:p>
          <a:p>
            <a:pPr>
              <a:defRPr sz="3600"/>
            </a:pPr>
            <a:r>
              <a:t>В лаборатории это полезно показать только на учебном стенде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типа сети и priority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Ethernet-интерфейс по умолчанию обычно имеет OSPF Broadcast network type</a:t>
            </a:r>
          </a:p>
          <a:p>
            <a:pPr>
              <a:defRPr sz="3600"/>
            </a:pPr>
            <a:r>
              <a:t>Если между двумя маршрутизаторами один Ethernet-линк, его можно перевести в Point-to-Point</a:t>
            </a:r>
          </a:p>
          <a:p>
            <a:pPr>
              <a:defRPr sz="3600"/>
            </a:pPr>
            <a:r>
              <a:t>Команда ip ospf network point-to-point исключает ненужные выборы DR/BDR</a:t>
            </a:r>
          </a:p>
          <a:p>
            <a:pPr>
              <a:defRPr sz="3600"/>
            </a:pPr>
            <a:r>
              <a:t>Команда ip ospf priority 100 повышает шанс стать DR на broadcast-сегменте</a:t>
            </a:r>
          </a:p>
          <a:p>
            <a:pPr>
              <a:defRPr sz="3600"/>
            </a:pPr>
            <a:r>
              <a:t>Priority 0 запрещает маршрутизатору становиться DR или BDR</a:t>
            </a:r>
          </a:p>
          <a:p>
            <a:pPr>
              <a:defRPr sz="3600"/>
            </a:pPr>
            <a:r>
              <a:t>Проверка: show ip ospf interface GigabitEthernet0/0 должен показать Network Type POINT_TO_POINT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Broadcast OSPF с DR/BDR и Point-to-Point линк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038BF4-381D-39E4-C6ED-E29BAD87F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Аутентификация защищает OSPF control plane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OSPF-аутентификация проверяет подлинность OSPF-пакетов между соседями</a:t>
            </a:r>
          </a:p>
          <a:p>
            <a:pPr>
              <a:defRPr sz="3600"/>
            </a:pPr>
            <a:r>
              <a:t>Она снижает риск подключения чужого маршрутизатора к транзитному сегменту</a:t>
            </a:r>
          </a:p>
          <a:p>
            <a:pPr>
              <a:defRPr sz="3600"/>
            </a:pPr>
            <a:r>
              <a:t>Пользовательский трафик при этом не шифруется</a:t>
            </a:r>
          </a:p>
          <a:p>
            <a:pPr>
              <a:defRPr sz="3600"/>
            </a:pPr>
            <a:r>
              <a:t>Аутентификация OSPF не заменяет IPsec и не обеспечивает конфиденциальность данных</a:t>
            </a:r>
          </a:p>
          <a:p>
            <a:pPr>
              <a:defRPr sz="3600"/>
            </a:pPr>
            <a:r>
              <a:t>Ключ и тип аутентификации должны совпадать на обоих концах линка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MD5 в этой лекции — учебный и совместимый вариант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MD5-аутентификация поддерживается классическими образами Cisco IOS, Packet Tracer и учебными стендами</a:t>
            </a:r>
          </a:p>
          <a:p>
            <a:pPr>
              <a:defRPr sz="3600"/>
            </a:pPr>
            <a:r>
              <a:t>В 2026 году MD5 не следует представлять как современный криптографически сильный метод</a:t>
            </a:r>
          </a:p>
          <a:p>
            <a:pPr>
              <a:defRPr sz="3600"/>
            </a:pPr>
            <a:r>
              <a:t>В современных сетях применяют более сильные алгоритмы, если они поддерживаются платформой</a:t>
            </a:r>
          </a:p>
          <a:p>
            <a:pPr>
              <a:defRPr sz="3600"/>
            </a:pPr>
            <a:r>
              <a:t>Для лабораторной работы MD5 полезен как базовый механизм проверки OSPF-пакетов</a:t>
            </a:r>
          </a:p>
          <a:p>
            <a:pPr>
              <a:defRPr sz="3600"/>
            </a:pPr>
            <a:r>
              <a:t>Главный учебный результат — понять место аутентификации в control plane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MD5-аутентификации OSPF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interface gigabitEthernet0/0 открывает транзитный интерфейс</a:t>
            </a:r>
          </a:p>
          <a:p>
            <a:pPr>
              <a:defRPr sz="3600"/>
            </a:pPr>
            <a:r>
              <a:t>ip ospf authentication message-digest включает MD5-аутентификацию на интерфейсе</a:t>
            </a:r>
          </a:p>
          <a:p>
            <a:pPr>
              <a:defRPr sz="3600"/>
            </a:pPr>
            <a:r>
              <a:t>ip ospf message-digest-key 1 md5 OSPF-KEY задает ключ с номером 1</a:t>
            </a:r>
          </a:p>
          <a:p>
            <a:pPr>
              <a:defRPr sz="3600"/>
            </a:pPr>
            <a:r>
              <a:t>Та же настройка с тем же ключом должна быть на соседнем маршрутизаторе</a:t>
            </a:r>
          </a:p>
          <a:p>
            <a:pPr>
              <a:defRPr sz="3600"/>
            </a:pPr>
            <a:r>
              <a:t>Проверка: show ip ospf neighbor должен вернуть соседство в Full после совпадения ключей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Если сосед не появляется, проверяют Hello-уровень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Area ID должен совпадать на двух концах одного линка</a:t>
            </a:r>
          </a:p>
          <a:p>
            <a:pPr>
              <a:defRPr sz="3600"/>
            </a:pPr>
            <a:r>
              <a:t>Hello и Dead timers должны быть одинаковыми</a:t>
            </a:r>
          </a:p>
          <a:p>
            <a:pPr>
              <a:defRPr sz="3600"/>
            </a:pPr>
            <a:r>
              <a:t>Аутентификация, ключ и номер ключа должны совпадать</a:t>
            </a:r>
          </a:p>
          <a:p>
            <a:pPr>
              <a:defRPr sz="3600"/>
            </a:pPr>
            <a:r>
              <a:t>Passive-interface не должен быть включен на транзитном линке</a:t>
            </a:r>
          </a:p>
          <a:p>
            <a:pPr>
              <a:defRPr sz="3600"/>
            </a:pPr>
            <a:r>
              <a:t>ACL не должен блокировать IP protocol 89</a:t>
            </a:r>
          </a:p>
          <a:p>
            <a:pPr>
              <a:defRPr sz="3600"/>
            </a:pPr>
            <a:r>
              <a:t>На Broadcast и NBMA маска подсети участвует в проверке Hello и должна совпадать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Если сосед зависает, проверяют обмен базой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MTU mismatch часто оставляет соседство в ExStart или Exchange</a:t>
            </a:r>
          </a:p>
          <a:p>
            <a:pPr>
              <a:defRPr sz="3600"/>
            </a:pPr>
            <a:r>
              <a:t>Duplicate Router ID мешает стабильному формированию adjacency</a:t>
            </a:r>
          </a:p>
          <a:p>
            <a:pPr>
              <a:defRPr sz="3600"/>
            </a:pPr>
            <a:r>
              <a:t>OSPF network type на концах линка должен быть согласован и совместим</a:t>
            </a:r>
          </a:p>
          <a:p>
            <a:pPr>
              <a:defRPr sz="3600"/>
            </a:pPr>
            <a:r>
              <a:t>Разные типы сети могут менять timers, ожидание DR/BDR и next-hop</a:t>
            </a:r>
          </a:p>
          <a:p>
            <a:pPr>
              <a:defRPr sz="3600"/>
            </a:pPr>
            <a:r>
              <a:t>Фильтрация крупных пакетов или проблемы DBD также мешают синхронизации LSDB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MTU mismatch часто застревает в ExStart или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MTU (Maximum Transmission Unit) — максимальный размер L3-пакета, который интерфейс передает без фрагментации</a:t>
            </a:r>
          </a:p>
          <a:p>
            <a:pPr>
              <a:defRPr sz="3600"/>
            </a:pPr>
            <a:r>
              <a:t>Для обычного Ethernet стандартное значение IP MTU обычно равно 1500 байт</a:t>
            </a:r>
          </a:p>
          <a:p>
            <a:pPr>
              <a:defRPr sz="3600"/>
            </a:pPr>
            <a:r>
              <a:t>Ethernet-кадр будет больше за счет заголовков и служебных полей</a:t>
            </a:r>
          </a:p>
          <a:p>
            <a:pPr>
              <a:defRPr sz="3600"/>
            </a:pPr>
            <a:r>
              <a:t>Если MTU отличается, OSPF-соседи могут обнаружить друг друга, но не синхронизировать LSDB</a:t>
            </a:r>
          </a:p>
          <a:p>
            <a:pPr>
              <a:defRPr sz="3600"/>
            </a:pPr>
            <a:r>
              <a:t>В учебной практике лучше исправлять MTU, а не скрывать проблему командой ip ospf mtu-ignore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параметры, которые должны совпасть для соседства OSPF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FD565E-01E4-DDE7-8FCD-D9EC05E46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Суммаризация на ABR уменьшает межобластные маршруты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Суммаризация OSPF на ABR объединяет несколько маршрутов области в один более общий префикс</a:t>
            </a:r>
          </a:p>
          <a:p>
            <a:pPr>
              <a:defRPr sz="3600"/>
            </a:pPr>
            <a:r>
              <a:t>Команду area 10 range вводят на ABR, который отделяет Area 10 от Area 0</a:t>
            </a:r>
          </a:p>
          <a:p>
            <a:pPr>
              <a:defRPr sz="3600"/>
            </a:pPr>
            <a:r>
              <a:t>Детальные маршруты сохраняются внутри исходной Area 10</a:t>
            </a:r>
          </a:p>
          <a:p>
            <a:pPr>
              <a:defRPr sz="3600"/>
            </a:pPr>
            <a:r>
              <a:t>Маршрутизаторы других областей получают общий межобластный маршрут</a:t>
            </a:r>
          </a:p>
          <a:p>
            <a:pPr>
              <a:defRPr sz="3600"/>
            </a:pPr>
            <a:r>
              <a:t>Суммаризация применяется к Type 3 Summary LSA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результата суммаризации Area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 суммаризации в Area 20 могут быть видны O IA 192.168.16.0/24, 192.168.17.0/24, 192.168.18.0/24 и 192.168.19.0/24</a:t>
            </a:r>
          </a:p>
          <a:p>
            <a:pPr>
              <a:defRPr sz="3600"/>
            </a:pPr>
            <a:r>
              <a:t>Команда на ABR: area 10 range 192.168.16.0 255.255.252.0</a:t>
            </a:r>
          </a:p>
          <a:p>
            <a:pPr>
              <a:defRPr sz="3600"/>
            </a:pPr>
            <a:r>
              <a:t>После суммаризации в Area 20 ожидается O IA 192.168.16.0/22</a:t>
            </a:r>
          </a:p>
          <a:p>
            <a:pPr>
              <a:defRPr sz="3600"/>
            </a:pPr>
            <a:r>
              <a:t>Внутри Area 10 конкретные /24 должны сохраниться</a:t>
            </a:r>
          </a:p>
          <a:p>
            <a:pPr>
              <a:defRPr sz="3600"/>
            </a:pPr>
            <a:r>
              <a:t>Сравнение до и после выполняют на маршрутизаторе другой области, а не внутри Area 10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Null0 защищает от петель при слишком широком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ABR может создать discard-маршрут для суммарного префикса</a:t>
            </a:r>
          </a:p>
          <a:p>
            <a:pPr>
              <a:defRPr sz="3600"/>
            </a:pPr>
            <a:r>
              <a:t>Так пакеты к несуществующим подсетям внутри summary не образуют петлю</a:t>
            </a:r>
          </a:p>
          <a:p>
            <a:pPr>
              <a:defRPr sz="3600"/>
            </a:pPr>
            <a:r>
              <a:t>Например, реально есть 192.168.16.0/24 и 192.168.17.0/24, но настроен summary 192.168.16.0/22</a:t>
            </a:r>
          </a:p>
          <a:p>
            <a:pPr>
              <a:defRPr sz="3600"/>
            </a:pPr>
            <a:r>
              <a:t>Трафик к отсутствующей 192.168.19.0/24 может быть отброшен через Null0</a:t>
            </a:r>
          </a:p>
          <a:p>
            <a:pPr>
              <a:defRPr sz="3600"/>
            </a:pPr>
            <a:r>
              <a:t>Это объясняет риск blackhole при неверной суммаризации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Суммаризацию изучают после стабильной базовой OSPF-сети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нужно добиться соседств Full и правильных O/O IA маршрутов</a:t>
            </a:r>
          </a:p>
          <a:p>
            <a:pPr>
              <a:defRPr sz="3600"/>
            </a:pPr>
            <a:r>
              <a:t>Затем проверяют адресный план области и возможность агрегирования</a:t>
            </a:r>
          </a:p>
          <a:p>
            <a:pPr>
              <a:defRPr sz="3600"/>
            </a:pPr>
            <a:r>
              <a:t>После включения range сравнивают show ip route ospf на маршрутизаторе другой области</a:t>
            </a:r>
          </a:p>
          <a:p>
            <a:pPr>
              <a:defRPr sz="3600"/>
            </a:pPr>
            <a:r>
              <a:t>Если пропали нужные маршруты, проверяют маску summary и фактические подсети</a:t>
            </a:r>
          </a:p>
          <a:p>
            <a:pPr>
              <a:defRPr sz="3600"/>
            </a:pPr>
            <a:r>
              <a:t>Суммаризация является инструментом оптимизации, а не способом лечить плохой адресный план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проверки Multi-Area OSPF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ip ospf показывает Router ID, области, статус ABR/ASBR и Reference Bandwidth</a:t>
            </a:r>
          </a:p>
          <a:p>
            <a:pPr>
              <a:defRPr sz="3600"/>
            </a:pPr>
            <a:r>
              <a:t>show ip ospf neighbor показывает соседей и роли DR/BDR</a:t>
            </a:r>
          </a:p>
          <a:p>
            <a:pPr>
              <a:defRPr sz="3600"/>
            </a:pPr>
            <a:r>
              <a:t>show ip ospf interface GigabitEthernet0/0 показывает Area, Network Type, Cost, Priority, DR/BDR и timers</a:t>
            </a:r>
          </a:p>
          <a:p>
            <a:pPr>
              <a:defRPr sz="3600"/>
            </a:pPr>
            <a:r>
              <a:t>show ip protocols показывает Process ID, Router ID, passive-interface и network statements</a:t>
            </a:r>
          </a:p>
          <a:p>
            <a:pPr>
              <a:defRPr sz="3600"/>
            </a:pPr>
            <a:r>
              <a:t>show ip route ospf показывает O и O IA маршруты</a:t>
            </a:r>
          </a:p>
          <a:p>
            <a:pPr>
              <a:defRPr sz="3600"/>
            </a:pPr>
            <a:r>
              <a:t>show running-config | section router ospf помогает быстро проверить network-команды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Multi-Area OSPF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Филиальная область не подключена к Area 0 через ABR</a:t>
            </a:r>
          </a:p>
          <a:p>
            <a:pPr>
              <a:defRPr sz="3600"/>
            </a:pPr>
            <a:r>
              <a:t>На концах одного линка указаны разные Area ID</a:t>
            </a:r>
          </a:p>
          <a:p>
            <a:pPr>
              <a:defRPr sz="3600"/>
            </a:pPr>
            <a:r>
              <a:t>Транзитный интерфейс ошибочно сделан passive-interface</a:t>
            </a:r>
          </a:p>
          <a:p>
            <a:pPr>
              <a:defRPr sz="3600"/>
            </a:pPr>
            <a:r>
              <a:t>Несовпадает MD5-ключ аутентификации</a:t>
            </a:r>
          </a:p>
          <a:p>
            <a:pPr>
              <a:defRPr sz="3600"/>
            </a:pPr>
            <a:r>
              <a:t>На Ethernet point-to-point линке оставлен broadcast type и неожиданный DR/BDR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доказать, что маршруты стали межобластными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 разделения single-area маршруты отображались как O</a:t>
            </a:r>
          </a:p>
          <a:p>
            <a:pPr>
              <a:defRPr sz="3600"/>
            </a:pPr>
            <a:r>
              <a:t>После переноса филиала в Area 20 на роутерах Area 10 должны появиться O IA</a:t>
            </a:r>
          </a:p>
          <a:p>
            <a:pPr>
              <a:defRPr sz="3600"/>
            </a:pPr>
            <a:r>
              <a:t>Команда show ip route ospf показывает тип маршрута и next-hop через ABR</a:t>
            </a:r>
          </a:p>
          <a:p>
            <a:pPr>
              <a:defRPr sz="3600"/>
            </a:pPr>
            <a:r>
              <a:t>Команда show ip ospf database summary показывает Type 3 Summary LSA между областями</a:t>
            </a:r>
          </a:p>
          <a:p>
            <a:pPr>
              <a:defRPr sz="3600"/>
            </a:pPr>
            <a:r>
              <a:t>show ip ospf border-routers полезна в Cisco IOS/PNetLab, но может отсутствовать в Packet Tracer</a:t>
            </a:r>
          </a:p>
          <a:p>
            <a:pPr>
              <a:defRPr sz="3600"/>
            </a:pPr>
            <a:r>
              <a:t>Если O IA не появляется, проверяют ABR, Area 0 и network-команды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Мини-кейс: Area 20 не видит Area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проверить, есть ли соседство Branch ABR с backbone Area 0</a:t>
            </a:r>
          </a:p>
          <a:p>
            <a:pPr>
              <a:defRPr sz="3600"/>
            </a:pPr>
            <a:r>
              <a:t>Затем проверить show ip route ospf на ABR и внутренних маршрутизаторах Area 20</a:t>
            </a:r>
          </a:p>
          <a:p>
            <a:pPr>
              <a:defRPr sz="3600"/>
            </a:pPr>
            <a:r>
              <a:t>Если Area 20 изолирована от Area 0, межобластные маршруты не распространяются</a:t>
            </a:r>
          </a:p>
          <a:p>
            <a:pPr>
              <a:defRPr sz="3600"/>
            </a:pPr>
            <a:r>
              <a:t>Если соседство есть, но маршрутов нет, проверить network-команды и passive-interface</a:t>
            </a:r>
          </a:p>
          <a:p>
            <a:pPr>
              <a:defRPr sz="3600"/>
            </a:pPr>
            <a:r>
              <a:t>После исправления должны появиться O IA маршруты через ABR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Multi-Area OSPF уменьшает масштаб LSDB и локализует изменения</a:t>
            </a:r>
          </a:p>
          <a:p>
            <a:pPr>
              <a:defRPr sz="3600"/>
            </a:pPr>
            <a:r>
              <a:t>Area назначается интерфейсу, а ABR связывает обычные области с backbone Area 0</a:t>
            </a:r>
          </a:p>
          <a:p>
            <a:pPr>
              <a:defRPr sz="3600"/>
            </a:pPr>
            <a:r>
              <a:t>O и O IA помогают понять, внутри области находится маршрут или пришел через Type 3 Summary LSA</a:t>
            </a:r>
          </a:p>
          <a:p>
            <a:pPr>
              <a:defRPr sz="3600"/>
            </a:pPr>
            <a:r>
              <a:t>Broadcast-сети используют DR/BDR, а Ethernet-стык двух роутеров часто переводят в Point-to-Point</a:t>
            </a:r>
          </a:p>
          <a:p>
            <a:pPr>
              <a:defRPr sz="3600"/>
            </a:pPr>
            <a:r>
              <a:t>MD5 рассматривается как учебный механизм аутентификации OSPF control plane</a:t>
            </a:r>
          </a:p>
          <a:p>
            <a:pPr>
              <a:defRPr sz="3600"/>
            </a:pPr>
            <a:r>
              <a:t>Суммаризация на ABR требует проверки адресного блока, Type 3 LSA и возможного Null0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Зачем OSPF-сеть делят на области?</a:t>
            </a:r>
          </a:p>
          <a:p>
            <a:pPr>
              <a:defRPr sz="3600"/>
            </a:pPr>
            <a:r>
              <a:t>Почему обычные области должны иметь связь с Area 0?</a:t>
            </a:r>
          </a:p>
          <a:p>
            <a:pPr>
              <a:defRPr sz="3600"/>
            </a:pPr>
            <a:r>
              <a:t>Почему область назначается интерфейсу, а не маршрутизатору целиком?</a:t>
            </a:r>
          </a:p>
          <a:p>
            <a:pPr>
              <a:defRPr sz="3600"/>
            </a:pPr>
            <a:r>
              <a:t>Какие роли OSPF может совмещать один маршрутизатор?</a:t>
            </a:r>
          </a:p>
          <a:p>
            <a:pPr>
              <a:defRPr sz="3600"/>
            </a:pPr>
            <a:r>
              <a:t>По какому алгоритму выбираются DR и BDR?</a:t>
            </a:r>
          </a:p>
          <a:p>
            <a:pPr>
              <a:defRPr sz="3600"/>
            </a:pPr>
            <a:r>
              <a:t>Чем отличаются причины отсутствия соседства и зависания ExStart/Exchange?</a:t>
            </a:r>
          </a:p>
          <a:p>
            <a:pPr>
              <a:defRPr sz="3600"/>
            </a:pPr>
            <a:r>
              <a:t>Почему Type 3 Summary LSA не означает автоматическую суммаризацию префиксов?</a:t>
            </a:r>
          </a:p>
          <a:p>
            <a:pPr>
              <a:defRPr sz="3600"/>
            </a:pPr>
            <a:r>
              <a:t>Зачем при суммаризации на ABR может появиться Null0?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2158</Words>
  <Application>Microsoft Office PowerPoint</Application>
  <PresentationFormat>Широкоэкранный</PresentationFormat>
  <Paragraphs>225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2026-07-27T11:27:04Z</dcterms:modified>
  <cp:category/>
</cp:coreProperties>
</file>