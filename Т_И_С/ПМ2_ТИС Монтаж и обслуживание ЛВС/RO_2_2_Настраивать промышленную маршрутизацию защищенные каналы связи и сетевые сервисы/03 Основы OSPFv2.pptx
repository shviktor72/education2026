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3. Динамическая маршрутизация: архитектура и основы OSPFv2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зачем enterprise-сети переходят от статических маршрутов к динамической маршрутизации</a:t>
            </a:r>
          </a:p>
          <a:p>
            <a:pPr>
              <a:defRPr sz="3600"/>
            </a:pPr>
            <a:r>
              <a:t>Различать IGP, EGP, Distance-Vector и Link-State протоколы</a:t>
            </a:r>
          </a:p>
          <a:p>
            <a:pPr>
              <a:defRPr sz="3600"/>
            </a:pPr>
            <a:r>
              <a:t>Объяснять архитектуру OSPFv2, соседство, Router ID и cost</a:t>
            </a:r>
          </a:p>
          <a:p>
            <a:pPr>
              <a:defRPr sz="3600"/>
            </a:pPr>
            <a:r>
              <a:t>Настраивать single-area OSPF, passive-interface и распространение default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Классификация протоколов: IGP/EGP и Distance-Vector/Link-State</a:t>
            </a:r>
          </a:p>
          <a:p>
            <a:pPr>
              <a:defRPr sz="3600"/>
            </a:pPr>
            <a:r>
              <a:t>2. RIPv2 как исторический пример Distance Vector</a:t>
            </a:r>
          </a:p>
          <a:p>
            <a:pPr>
              <a:defRPr sz="3600"/>
            </a:pPr>
            <a:r>
              <a:t>3. Архитектура OSPF, области и Area 0</a:t>
            </a:r>
          </a:p>
          <a:p>
            <a:pPr>
              <a:defRPr sz="3600"/>
            </a:pPr>
            <a:r>
              <a:t>4. Пакеты Hello, DBD, LSR, LSU и LSAck</a:t>
            </a:r>
          </a:p>
          <a:p>
            <a:pPr>
              <a:defRPr sz="3600"/>
            </a:pPr>
            <a:r>
              <a:t>5. Состояния соседства OSPF</a:t>
            </a:r>
          </a:p>
          <a:p>
            <a:pPr>
              <a:defRPr sz="3600"/>
            </a:pPr>
            <a:r>
              <a:t>6. Router ID и Loopback-интерфейсы</a:t>
            </a:r>
          </a:p>
          <a:p>
            <a:pPr>
              <a:defRPr sz="3600"/>
            </a:pPr>
            <a:r>
              <a:t>7. OSPF Cost и Reference Bandwidth</a:t>
            </a:r>
          </a:p>
          <a:p>
            <a:pPr>
              <a:defRPr sz="3600"/>
            </a:pPr>
            <a:r>
              <a:t>8. passive-interface и default-information originate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Динамическая маршрутизация уменьшает ручную работу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сети с несколькими маршрутизаторами статические маршруты быстро становятся трудными для сопровождения</a:t>
            </a:r>
          </a:p>
          <a:p>
            <a:pPr>
              <a:defRPr sz="3600"/>
            </a:pPr>
            <a:r>
              <a:t>Динамический протокол маршрутизации сам обменивается информацией о сетях и отказах</a:t>
            </a:r>
          </a:p>
          <a:p>
            <a:pPr>
              <a:defRPr sz="3600"/>
            </a:pPr>
            <a:r>
              <a:t>IGP (Interior Gateway Protocol) работает внутри одной организации или автономной системы</a:t>
            </a:r>
          </a:p>
          <a:p>
            <a:pPr>
              <a:defRPr sz="3600"/>
            </a:pPr>
            <a:r>
              <a:t>EGP (Exterior Gateway Protocol) работает между автономными системами, например BGP в Интернете</a:t>
            </a:r>
          </a:p>
          <a:p>
            <a:pPr>
              <a:defRPr sz="3600"/>
            </a:pPr>
            <a:r>
              <a:t>В этой лекции изучается OSPFv2 как внутренний протокол маршрутизации для IPv4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Distance-Vector и Link-State думают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Distance-Vector протокол знает направление и расстояние до сети через соседей</a:t>
            </a:r>
          </a:p>
          <a:p>
            <a:pPr>
              <a:defRPr sz="3600"/>
            </a:pPr>
            <a:r>
              <a:t>Link-State протокол строит карту состояния связей и самостоятельно считает кратчайший путь</a:t>
            </a:r>
          </a:p>
          <a:p>
            <a:pPr>
              <a:defRPr sz="3600"/>
            </a:pPr>
            <a:r>
              <a:t>OSPF относится к Link-State протоколам и использует алгоритм SPF</a:t>
            </a:r>
          </a:p>
          <a:p>
            <a:pPr>
              <a:defRPr sz="3600"/>
            </a:pPr>
            <a:r>
              <a:t>SPF (Shortest Path First) — расчет кратчайших путей на основе базы топологии</a:t>
            </a:r>
          </a:p>
          <a:p>
            <a:pPr>
              <a:defRPr sz="3600"/>
            </a:pPr>
            <a:r>
              <a:t>Link-State сложнее, но лучше масштабируется и быстрее сходится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Distance-Vector и Link-State подходы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FFE9F1-F6EC-1403-AC97-7883FC839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RIPv2 полезен как исторический контраст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RIPv2 (Routing Information Protocol version 2) — старый Distance-Vector протокол маршрутизации</a:t>
            </a:r>
          </a:p>
          <a:p>
            <a:pPr>
              <a:defRPr sz="3600"/>
            </a:pPr>
            <a:r>
              <a:t>Его метрика — количество хопов до сети</a:t>
            </a:r>
          </a:p>
          <a:p>
            <a:pPr>
              <a:defRPr sz="3600"/>
            </a:pPr>
            <a:r>
              <a:t>Максимальная полезная метрика RIP — 15 хопов, 16 считается недостижимым</a:t>
            </a:r>
          </a:p>
          <a:p>
            <a:pPr>
              <a:defRPr sz="3600"/>
            </a:pPr>
            <a:r>
              <a:t>RIPv2 является classless-протоколом и поддерживает CIDR/VLSM</a:t>
            </a:r>
          </a:p>
          <a:p>
            <a:pPr>
              <a:defRPr sz="3600"/>
            </a:pPr>
            <a:r>
              <a:t>Маршруты передаются периодически multicast-адресом 224.0.0.9</a:t>
            </a:r>
          </a:p>
          <a:p>
            <a:pPr>
              <a:defRPr sz="3600"/>
            </a:pPr>
            <a:r>
              <a:t>Сравнение с RIP помогает понять, почему OSPF лучше подходит для enterprise-сетей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Области позволяют масштабировать OSPF-домен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 (Open Shortest Path First) — открытый link-state протокол динамической маршрутизации</a:t>
            </a:r>
          </a:p>
          <a:p>
            <a:pPr>
              <a:defRPr sz="3600"/>
            </a:pPr>
            <a:r>
              <a:t>OSPFv2 используется для IPv4-маршрутизации</a:t>
            </a:r>
          </a:p>
          <a:p>
            <a:pPr>
              <a:defRPr sz="3600"/>
            </a:pPr>
            <a:r>
              <a:t>Area — логическая часть OSPF-домена, внутри которой маршрутизаторы синхронизируют LSDB и считают SPF</a:t>
            </a:r>
          </a:p>
          <a:p>
            <a:pPr>
              <a:defRPr sz="3600"/>
            </a:pPr>
            <a:r>
              <a:t>Area 0 называется backbone и является центральной областью OSPF-дизайна</a:t>
            </a:r>
          </a:p>
          <a:p>
            <a:pPr>
              <a:defRPr sz="3600"/>
            </a:pPr>
            <a:r>
              <a:t>ABR передает между областями маршрутную информацию, но не распространяет все внутренние LSA без изменений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LSA и LSDB лежат в основе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LSA (Link-State Advertisement) — объявление о состоянии связи или маршрутизатора</a:t>
            </a:r>
          </a:p>
          <a:p>
            <a:pPr>
              <a:defRPr sz="3600"/>
            </a:pPr>
            <a:r>
              <a:t>LSDB (Link-State Database) — база link-state объявлений, из которой OSPF строит карту области</a:t>
            </a:r>
          </a:p>
          <a:p>
            <a:pPr>
              <a:defRPr sz="3600"/>
            </a:pPr>
            <a:r>
              <a:t>Маршрутизаторы одной области должны иметь согласованную LSDB</a:t>
            </a:r>
          </a:p>
          <a:p>
            <a:pPr>
              <a:defRPr sz="3600"/>
            </a:pPr>
            <a:r>
              <a:t>Маршрутизатор, работающий в нескольких областях, поддерживает отдельную LSDB для каждой области</a:t>
            </a:r>
          </a:p>
          <a:p>
            <a:pPr>
              <a:defRPr sz="3600"/>
            </a:pPr>
            <a:r>
              <a:t>После обмена LSA каждый маршрутизатор сам рассчитывает лучшие пути алгоритмом SPF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Single-Area OSPF Area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3881F2-58D7-76AF-7161-9D2E37542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OSPF использует несколько типов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 работает непосредственно поверх IP: Ethernet → IPv4 Protocol 89 → OSPF packet</a:t>
            </a:r>
          </a:p>
          <a:p>
            <a:pPr>
              <a:defRPr sz="3600"/>
            </a:pPr>
            <a:r>
              <a:t>OSPF не использует TCP или UDP для обмена служебными пакетами</a:t>
            </a:r>
          </a:p>
          <a:p>
            <a:pPr>
              <a:defRPr sz="3600"/>
            </a:pPr>
            <a:r>
              <a:t>224.0.0.5 — multicast AllSPFRouters</a:t>
            </a:r>
          </a:p>
          <a:p>
            <a:pPr>
              <a:defRPr sz="3600"/>
            </a:pPr>
            <a:r>
              <a:t>224.0.0.6 — multicast AllDRouters</a:t>
            </a:r>
          </a:p>
          <a:p>
            <a:pPr>
              <a:defRPr sz="3600"/>
            </a:pPr>
            <a:r>
              <a:t>Hello, DBD, LSR, LSU и LSAck используются для поиска соседей и синхронизации LSDB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Типы OSPF-пакетов выполняют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Hello — поиск соседей и поддержание соседства</a:t>
            </a:r>
          </a:p>
          <a:p>
            <a:pPr>
              <a:defRPr sz="3600"/>
            </a:pPr>
            <a:r>
              <a:t>DBD (Database Description) — краткое описание содержимого LSDB</a:t>
            </a:r>
          </a:p>
          <a:p>
            <a:pPr>
              <a:defRPr sz="3600"/>
            </a:pPr>
            <a:r>
              <a:t>LSR (Link-State Request) — запрос недостающих LSA</a:t>
            </a:r>
          </a:p>
          <a:p>
            <a:pPr>
              <a:defRPr sz="3600"/>
            </a:pPr>
            <a:r>
              <a:t>LSU (Link-State Update) — передача LSA-сведений</a:t>
            </a:r>
          </a:p>
          <a:p>
            <a:pPr>
              <a:defRPr sz="3600"/>
            </a:pPr>
            <a:r>
              <a:t>LSAck (Link-State Acknowledgment) — подтверждение получения LSA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Hello-пакеты проверяют ключевые параметры соседства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Соседство OSPF не поднимется, если отличаются Area ID</a:t>
            </a:r>
          </a:p>
          <a:p>
            <a:pPr>
              <a:defRPr sz="3600"/>
            </a:pPr>
            <a:r>
              <a:t>Hello и Dead timers должны совпадать между соседями</a:t>
            </a:r>
          </a:p>
          <a:p>
            <a:pPr>
              <a:defRPr sz="3600"/>
            </a:pPr>
            <a:r>
              <a:t>Аутентификация и stub-флаги области должны быть согласованы</a:t>
            </a:r>
          </a:p>
          <a:p>
            <a:pPr>
              <a:defRPr sz="3600"/>
            </a:pPr>
            <a:r>
              <a:t>На broadcast- и NBMA-сегментах должна быть согласована маска подсети</a:t>
            </a:r>
          </a:p>
          <a:p>
            <a:pPr>
              <a:defRPr sz="3600"/>
            </a:pPr>
            <a:r>
              <a:t>На point-to-point-интерфейсах проверка маски работает иначе и обычно не является условием соседства</a:t>
            </a:r>
          </a:p>
          <a:p>
            <a:pPr>
              <a:defRPr sz="3600"/>
            </a:pPr>
            <a:r>
              <a:t>Passive-interface запрещает отправку Hello на выбранном интерфейсе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Hello и Full ломаются по разным причинам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Hello не принят, обычно проверяют Area ID, timers, authentication, stub-флаги и passive-interface</a:t>
            </a:r>
          </a:p>
          <a:p>
            <a:pPr>
              <a:defRPr sz="3600"/>
            </a:pPr>
            <a:r>
              <a:t>Если соседство видно, но не доходит до Full, проблема часто находится в ExStart или Exchange</a:t>
            </a:r>
          </a:p>
          <a:p>
            <a:pPr>
              <a:defRPr sz="3600"/>
            </a:pPr>
            <a:r>
              <a:t>MTU mismatch не мешает первому Hello, но может оставить соседство в ExStart/Exchange</a:t>
            </a:r>
          </a:p>
          <a:p>
            <a:pPr>
              <a:defRPr sz="3600"/>
            </a:pPr>
            <a:r>
              <a:t>Duplicate Router ID приводит к нестабильности и ошибкам соседства</a:t>
            </a:r>
          </a:p>
          <a:p>
            <a:pPr>
              <a:defRPr sz="3600"/>
            </a:pPr>
            <a:r>
              <a:t>Несовпадающий тип сети или фильтрация OSPF-пакетов также мешают полной adjacency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Соседство OSPF проходит несколько состояний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Down — сосед не обнаружен</a:t>
            </a:r>
          </a:p>
          <a:p>
            <a:pPr>
              <a:defRPr sz="3600"/>
            </a:pPr>
            <a:r>
              <a:t>Init — получен Hello от соседа, но двусторонность еще не подтверждена</a:t>
            </a:r>
          </a:p>
          <a:p>
            <a:pPr>
              <a:defRPr sz="3600"/>
            </a:pPr>
            <a:r>
              <a:t>2-Way — маршрутизаторы видят друг друга в Hello-пакетах</a:t>
            </a:r>
          </a:p>
          <a:p>
            <a:pPr>
              <a:defRPr sz="3600"/>
            </a:pPr>
            <a:r>
              <a:t>ExStart и Exchange — соседи согласуют обмен описаниями базы</a:t>
            </a:r>
          </a:p>
          <a:p>
            <a:pPr>
              <a:defRPr sz="3600"/>
            </a:pPr>
            <a:r>
              <a:t>Loading и Full — недостающие LSA загружены, adjacency полностью сформирована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состояния соседства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8EA294-5EF9-2501-3205-3B7D72BAE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Neighbor и Adjacency — не одно и то 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Neighbor relationship означает, что маршрутизаторы обнаружили друг друга через Hello</a:t>
            </a:r>
          </a:p>
          <a:p>
            <a:pPr>
              <a:defRPr sz="3600"/>
            </a:pPr>
            <a:r>
              <a:t>Adjacency означает, что соседи синхронизировали LSDB и дошли до состояния Full</a:t>
            </a:r>
          </a:p>
          <a:p>
            <a:pPr>
              <a:defRPr sz="3600"/>
            </a:pPr>
            <a:r>
              <a:t>Состояние Full означает полностью сформированную OSPF adjacency между данными соседями</a:t>
            </a:r>
          </a:p>
          <a:p>
            <a:pPr>
              <a:defRPr sz="3600"/>
            </a:pPr>
            <a:r>
              <a:t>На broadcast-сегменте два DROTHER-маршрутизатора могут оставаться в 2-Way</a:t>
            </a:r>
          </a:p>
          <a:p>
            <a:pPr>
              <a:defRPr sz="3600"/>
            </a:pPr>
            <a:r>
              <a:t>Это нормально: не все OSPF-соседи обязаны становиться Full друг с другом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соседства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ospf neighbor показывает соседей, их состояние и интерфейс</a:t>
            </a:r>
          </a:p>
          <a:p>
            <a:pPr>
              <a:defRPr sz="3600"/>
            </a:pPr>
            <a:r>
              <a:t>FULL ожидается на point-to-point-сети или со стороны DR/BDR</a:t>
            </a:r>
          </a:p>
          <a:p>
            <a:pPr>
              <a:defRPr sz="3600"/>
            </a:pPr>
            <a:r>
              <a:t>2-Way на broadcast-сегменте может быть нормальным для соседей DROTHER</a:t>
            </a:r>
          </a:p>
          <a:p>
            <a:pPr>
              <a:defRPr sz="3600"/>
            </a:pPr>
            <a:r>
              <a:t>show ip ospf interface brief показывает интерфейсы OSPF, Area и cost</a:t>
            </a:r>
          </a:p>
          <a:p>
            <a:pPr>
              <a:defRPr sz="3600"/>
            </a:pPr>
            <a:r>
              <a:t>Если сосед stuck в ExStart или Exchange, проверяют MTU, тип сети и обмен DBD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Router ID является уникальным идентификатором OSPF-маршрутизатора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ID — 32-битный идентификатор маршрутизатора в OSPF, записываемый как IPv4-адрес</a:t>
            </a:r>
          </a:p>
          <a:p>
            <a:pPr>
              <a:defRPr sz="3600"/>
            </a:pPr>
            <a:r>
              <a:t>Это не обязательно адрес активного интерфейса, а логический идентификатор устройства</a:t>
            </a:r>
          </a:p>
          <a:p>
            <a:pPr>
              <a:defRPr sz="3600"/>
            </a:pPr>
            <a:r>
              <a:t>Cisco IOS сначала использует вручную заданный router-id</a:t>
            </a:r>
          </a:p>
          <a:p>
            <a:pPr>
              <a:defRPr sz="3600"/>
            </a:pPr>
            <a:r>
              <a:t>Если router-id не задан, выбирается наибольший IPv4-адрес любого Loopback-интерфейса</a:t>
            </a:r>
          </a:p>
          <a:p>
            <a:pPr>
              <a:defRPr sz="3600"/>
            </a:pPr>
            <a:r>
              <a:t>Если Loopback нет, выбирается наибольший IPv4-адрес активного не-Loopback-интерфейса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Router ID выбирается при запуске процесса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ID не меняется автоматически после появления нового интерфейса с более высоким адресом</a:t>
            </a:r>
          </a:p>
          <a:p>
            <a:pPr>
              <a:defRPr sz="3600"/>
            </a:pPr>
            <a:r>
              <a:t>SVI тоже может участвовать в автоматическом выборе как активный не-Loopback-интерфейс</a:t>
            </a:r>
          </a:p>
          <a:p>
            <a:pPr>
              <a:defRPr sz="3600"/>
            </a:pPr>
            <a:r>
              <a:t>В лаборатории лучше задавать router-id вручную, чтобы схема была предсказуемой</a:t>
            </a:r>
          </a:p>
          <a:p>
            <a:pPr>
              <a:defRPr sz="3600"/>
            </a:pPr>
            <a:r>
              <a:t>После изменения Router ID может потребоваться clear ip ospf process</a:t>
            </a:r>
          </a:p>
          <a:p>
            <a:pPr>
              <a:defRPr sz="3600"/>
            </a:pPr>
            <a:r>
              <a:t>Команда clear ip ospf process сбрасывает соседства, поэтому в рабочей сети применяется осторожно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Loopback делает Router ID стабильным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Loopback-интерфейс — виртуальный интерфейс маршрутизатора, который не зависит от одного физического кабеля</a:t>
            </a:r>
          </a:p>
          <a:p>
            <a:pPr>
              <a:defRPr sz="3600"/>
            </a:pPr>
            <a:r>
              <a:t>Пример: interface loopback0, ip address 1.1.1.1 255.255.255.255</a:t>
            </a:r>
          </a:p>
          <a:p>
            <a:pPr>
              <a:defRPr sz="3600"/>
            </a:pPr>
            <a:r>
              <a:t>Loopback удобно использовать как стабильный адрес управления и идентификатор</a:t>
            </a:r>
          </a:p>
          <a:p>
            <a:pPr>
              <a:defRPr sz="3600"/>
            </a:pPr>
            <a:r>
              <a:t>Команда router-id 1.1.1.1 внутри router ospf 1 фиксирует идентификатор явно</a:t>
            </a:r>
          </a:p>
          <a:p>
            <a:pPr>
              <a:defRPr sz="3600"/>
            </a:pPr>
            <a:r>
              <a:t>Проверка Router ID выполняется командой show ip ospf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OSPF Cost зависит от bandwidth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Cost — метрика OSPF, показывающая стоимость прохождения через интерфейс</a:t>
            </a:r>
          </a:p>
          <a:p>
            <a:pPr>
              <a:defRPr sz="3600"/>
            </a:pPr>
            <a:r>
              <a:t>Формула: OSPF Cost = Reference Bandwidth / Interface Bandwidth</a:t>
            </a:r>
          </a:p>
          <a:p>
            <a:pPr>
              <a:defRPr sz="3600"/>
            </a:pPr>
            <a:r>
              <a:t>По умолчанию на классическом Cisco IOS Reference Bandwidth равен 100 Мбит/с</a:t>
            </a:r>
          </a:p>
          <a:p>
            <a:pPr>
              <a:defRPr sz="3600"/>
            </a:pPr>
            <a:r>
              <a:t>Меньший cost предпочтительнее</a:t>
            </a:r>
          </a:p>
          <a:p>
            <a:pPr>
              <a:defRPr sz="3600"/>
            </a:pPr>
            <a:r>
              <a:t>Из-за старой базы 100 Мбит/с Fast Ethernet, Gigabit Ethernet и 10 Gigabit Ethernet могут получить одинаковый cost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Формула Cost объясняет проблему быстрых интерфейсов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10 Мбит/с: 100 / 10 = cost 10</a:t>
            </a:r>
          </a:p>
          <a:p>
            <a:pPr>
              <a:defRPr sz="3600"/>
            </a:pPr>
            <a:r>
              <a:t>100 Мбит/с: 100 / 100 = cost 1</a:t>
            </a:r>
          </a:p>
          <a:p>
            <a:pPr>
              <a:defRPr sz="3600"/>
            </a:pPr>
            <a:r>
              <a:t>1 Гбит/с: 100 / 1000 округляется до cost 1</a:t>
            </a:r>
          </a:p>
          <a:p>
            <a:pPr>
              <a:defRPr sz="3600"/>
            </a:pPr>
            <a:r>
              <a:t>10 Гбит/с: 100 / 10000 тоже получает cost 1</a:t>
            </a:r>
          </a:p>
          <a:p>
            <a:pPr>
              <a:defRPr sz="3600"/>
            </a:pPr>
            <a:r>
              <a:t>Поэтому reference bandwidth нужно менять, если в сети есть гигабитные и более быстрые каналы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Reference Bandwidth задают согласованно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auto-cost reference-bandwidth 10000 задает базу расчета как 10000 Мбит/с</a:t>
            </a:r>
          </a:p>
          <a:p>
            <a:pPr>
              <a:defRPr sz="3600"/>
            </a:pPr>
            <a:r>
              <a:t>10000 Мбит/с соответствует 10 Гбит/с</a:t>
            </a:r>
          </a:p>
          <a:p>
            <a:pPr>
              <a:defRPr sz="3600"/>
            </a:pPr>
            <a:r>
              <a:t>После такой настройки 100 Мбит/с получает cost 100, 1 Гбит/с — cost 10, 10 Гбит/с — cost 1</a:t>
            </a:r>
          </a:p>
          <a:p>
            <a:pPr>
              <a:defRPr sz="3600"/>
            </a:pPr>
            <a:r>
              <a:t>Команду выполняют внутри router ospf 1 на всех маршрутизаторах OSPF-домена</a:t>
            </a:r>
          </a:p>
          <a:p>
            <a:pPr>
              <a:defRPr sz="3600"/>
            </a:pPr>
            <a:r>
              <a:t>Команда show ip ospf interface показывает cost конкретного интерфейса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bandwidth не меняет физическую скорость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bandwidth задает логическое значение для расчетов протоколов и QoS</a:t>
            </a:r>
          </a:p>
          <a:p>
            <a:pPr>
              <a:defRPr sz="3600"/>
            </a:pPr>
            <a:r>
              <a:t>Она не превращает физический интерфейс 100 Мбит/с в гигабитный</a:t>
            </a:r>
          </a:p>
          <a:p>
            <a:pPr>
              <a:defRPr sz="3600"/>
            </a:pPr>
            <a:r>
              <a:t>Для явного управления метрикой OSPF проще использовать ip ospf cost 20 на интерфейсе</a:t>
            </a:r>
          </a:p>
          <a:p>
            <a:pPr>
              <a:defRPr sz="3600"/>
            </a:pPr>
            <a:r>
              <a:t>Физическая скорость Ethernet настраивается отдельными механизмами, например speed, если платформа это поддерживает</a:t>
            </a:r>
          </a:p>
          <a:p>
            <a:pPr>
              <a:defRPr sz="3600"/>
            </a:pPr>
            <a:r>
              <a:t>В учебной сети лучше явно документировать, почему изменен cost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network-команда выбирает интерфейсы, а не просто объявляет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network в OSPF использует wildcard mask, а не обычную subnet mask</a:t>
            </a:r>
          </a:p>
          <a:p>
            <a:pPr>
              <a:defRPr sz="3600"/>
            </a:pPr>
            <a:r>
              <a:t>network 192.168.10.0 0.0.0.255 area 0 ищет локальные интерфейсы, чьи IP-адреса подходят под условие</a:t>
            </a:r>
          </a:p>
          <a:p>
            <a:pPr>
              <a:defRPr sz="3600"/>
            </a:pPr>
            <a:r>
              <a:t>Найденные интерфейсы включаются в OSPF и относятся к Area 0</a:t>
            </a:r>
          </a:p>
          <a:p>
            <a:pPr>
              <a:defRPr sz="3600"/>
            </a:pPr>
            <a:r>
              <a:t>После включения интерфейса его connected-сеть появляется в OSPF</a:t>
            </a:r>
          </a:p>
          <a:p>
            <a:pPr>
              <a:defRPr sz="3600"/>
            </a:pPr>
            <a:r>
              <a:t>Ошибочная wildcard mask может включить лишний интерфейс или оставить нужный линк вне OSPF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Практический расчет wildcard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Wildcard mask получается обратной к subnet mask</a:t>
            </a:r>
          </a:p>
          <a:p>
            <a:pPr>
              <a:defRPr sz="3600"/>
            </a:pPr>
            <a:r>
              <a:t>Для 255.255.255.252 wildcard будет 0.0.0.3</a:t>
            </a:r>
          </a:p>
          <a:p>
            <a:pPr>
              <a:defRPr sz="3600"/>
            </a:pPr>
            <a:r>
              <a:t>Пример для транзитного /30: network 10.0.0.0 0.0.0.3 area 0</a:t>
            </a:r>
          </a:p>
          <a:p>
            <a:pPr>
              <a:defRPr sz="3600"/>
            </a:pPr>
            <a:r>
              <a:t>Для 255.255.255.0 wildcard будет 0.0.0.255</a:t>
            </a:r>
          </a:p>
          <a:p>
            <a:pPr>
              <a:defRPr sz="3600"/>
            </a:pPr>
            <a:r>
              <a:t>Проверка результата: show ip ospf interface brief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passive-interface защищает клиентские сети от соседства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passive-interface запрещает отправку OSPF Hello на интерфейсе</a:t>
            </a:r>
          </a:p>
          <a:p>
            <a:pPr>
              <a:defRPr sz="3600"/>
            </a:pPr>
            <a:r>
              <a:t>Сеть интерфейса продолжает анонсироваться, если интерфейс включен в OSPF через network или ip ospf</a:t>
            </a:r>
          </a:p>
          <a:p>
            <a:pPr>
              <a:defRPr sz="3600"/>
            </a:pPr>
            <a:r>
              <a:t>Команда passive-interface default делает все интерфейсы пассивными по умолчанию</a:t>
            </a:r>
          </a:p>
          <a:p>
            <a:pPr>
              <a:defRPr sz="3600"/>
            </a:pPr>
            <a:r>
              <a:t>Команда no passive-interface gigabitEthernet0/0 разрешает соседство только на транзитном линке</a:t>
            </a:r>
          </a:p>
          <a:p>
            <a:pPr>
              <a:defRPr sz="3600"/>
            </a:pPr>
            <a:r>
              <a:t>Это хорошая практика: OSPF-соседства создаются только между маршрутизаторами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default-information originate распространяет default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default-information originate анонсирует default route в OSPF</a:t>
            </a:r>
          </a:p>
          <a:p>
            <a:pPr>
              <a:defRPr sz="3600"/>
            </a:pPr>
            <a:r>
              <a:t>По умолчанию на маршрутизаторе уже должен существовать default route в RIB</a:t>
            </a:r>
          </a:p>
          <a:p>
            <a:pPr>
              <a:defRPr sz="3600"/>
            </a:pPr>
            <a:r>
              <a:t>В обычном случае соседи видят маршрут как O*E2 0.0.0.0/0</a:t>
            </a:r>
          </a:p>
          <a:p>
            <a:pPr>
              <a:defRPr sz="3600"/>
            </a:pPr>
            <a:r>
              <a:t>С параметром metric-type 1 маршрут может отображаться как O*E1 0.0.0.0/0</a:t>
            </a:r>
          </a:p>
          <a:p>
            <a:pPr>
              <a:defRPr sz="3600"/>
            </a:pPr>
            <a:r>
              <a:t>Ключевое слово always используют осторожно: оно может создать blackhole при отсутствии реального выхода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passive-interface и default route в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920C30-D9F4-0C66-C262-AEE30B30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конфигурация Single-Area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ospf 1 открывает процесс OSPF</a:t>
            </a:r>
          </a:p>
          <a:p>
            <a:pPr>
              <a:defRPr sz="3600"/>
            </a:pPr>
            <a:r>
              <a:t>router-id 1.1.1.1 фиксирует идентификатор маршрутизатора</a:t>
            </a:r>
          </a:p>
          <a:p>
            <a:pPr>
              <a:defRPr sz="3600"/>
            </a:pPr>
            <a:r>
              <a:t>network 10.0.0.0 0.0.0.3 area 0 включает транзитный /30 линк</a:t>
            </a:r>
          </a:p>
          <a:p>
            <a:pPr>
              <a:defRPr sz="3600"/>
            </a:pPr>
            <a:r>
              <a:t>passive-interface default и no passive-interface g0/0 ограничивают соседства</a:t>
            </a:r>
          </a:p>
          <a:p>
            <a:pPr>
              <a:defRPr sz="3600"/>
            </a:pPr>
            <a:r>
              <a:t>show ip ospf neighbor подтверждает состояние соседей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ECMP в OSPF появляется при равной стоимости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OSPF видит несколько путей с одинаковым суммарным cost, он может установить их одновременно</a:t>
            </a:r>
          </a:p>
          <a:p>
            <a:pPr>
              <a:defRPr sz="3600"/>
            </a:pPr>
            <a:r>
              <a:t>В show ip route одна сеть будет иметь несколько next-hop</a:t>
            </a:r>
          </a:p>
          <a:p>
            <a:pPr>
              <a:defRPr sz="3600"/>
            </a:pPr>
            <a:r>
              <a:t>Это дает балансировку и резервирование на уровне маршрутизации</a:t>
            </a:r>
          </a:p>
          <a:p>
            <a:pPr>
              <a:defRPr sz="3600"/>
            </a:pPr>
            <a:r>
              <a:t>Путь 1: cost 10 + cost 10 = 20; путь 2: cost 5 + cost 20 = 25</a:t>
            </a:r>
          </a:p>
          <a:p>
            <a:pPr>
              <a:defRPr sz="3600"/>
            </a:pPr>
            <a:r>
              <a:t>OSPF выберет путь с cost 20; если оба пути имеют cost 20, возможно ECMP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OSPFv2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Разные Area ID на концах одного линка</a:t>
            </a:r>
          </a:p>
          <a:p>
            <a:pPr>
              <a:defRPr sz="3600"/>
            </a:pPr>
            <a:r>
              <a:t>Неверная wildcard mask в network-команде</a:t>
            </a:r>
          </a:p>
          <a:p>
            <a:pPr>
              <a:defRPr sz="3600"/>
            </a:pPr>
            <a:r>
              <a:t>Одинаковый Router ID на двух маршрутизаторах</a:t>
            </a:r>
          </a:p>
          <a:p>
            <a:pPr>
              <a:defRPr sz="3600"/>
            </a:pPr>
            <a:r>
              <a:t>passive-interface включен на транзитном линке</a:t>
            </a:r>
          </a:p>
          <a:p>
            <a:pPr>
              <a:defRPr sz="3600"/>
            </a:pPr>
            <a:r>
              <a:t>MTU mismatch оставляет соседство в ExStart/Exchange</a:t>
            </a:r>
          </a:p>
          <a:p>
            <a:pPr>
              <a:defRPr sz="3600"/>
            </a:pPr>
            <a:r>
              <a:t>Разные Hello/Dead timers или несогласованная аутентификация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Process ID в OSPF является локальным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router ospf 1 создает процесс с локальным номером 1</a:t>
            </a:r>
          </a:p>
          <a:p>
            <a:pPr>
              <a:defRPr sz="3600"/>
            </a:pPr>
            <a:r>
              <a:t>У соседнего маршрутизатора может быть router ospf 10, и соседство все равно поднимется</a:t>
            </a:r>
          </a:p>
          <a:p>
            <a:pPr>
              <a:defRPr sz="3600"/>
            </a:pPr>
            <a:r>
              <a:t>Для соседства важны параметры интерфейса, Area ID, timers, authentication и сеть</a:t>
            </a:r>
          </a:p>
          <a:p>
            <a:pPr>
              <a:defRPr sz="3600"/>
            </a:pPr>
            <a:r>
              <a:t>Одинаковый process ID используют для удобства документации, а не из-за требования протокола</a:t>
            </a:r>
          </a:p>
          <a:p>
            <a:pPr>
              <a:defRPr sz="3600"/>
            </a:pPr>
            <a:r>
              <a:t>Это отличие полезно проговорить до лабораторных ошибок с номером процесса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соседство не появляется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ping между адресами транзитного линка</a:t>
            </a:r>
          </a:p>
          <a:p>
            <a:pPr>
              <a:defRPr sz="3600"/>
            </a:pPr>
            <a:r>
              <a:t>Проверить, включен ли интерфейс в OSPF через show ip ospf interface brief</a:t>
            </a:r>
          </a:p>
          <a:p>
            <a:pPr>
              <a:defRPr sz="3600"/>
            </a:pPr>
            <a:r>
              <a:t>Проверить, не включен ли passive-interface на транзитном интерфейсе</a:t>
            </a:r>
          </a:p>
          <a:p>
            <a:pPr>
              <a:defRPr sz="3600"/>
            </a:pPr>
            <a:r>
              <a:t>Проверить Area ID и wildcard mask в running-config</a:t>
            </a:r>
          </a:p>
          <a:p>
            <a:pPr>
              <a:defRPr sz="3600"/>
            </a:pPr>
            <a:r>
              <a:t>Если Hello видны, но Full нет, проверить MTU, duplicate Router ID и тип сети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диагностики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IP-связность соседних интерфейсов через ping</a:t>
            </a:r>
          </a:p>
          <a:p>
            <a:pPr>
              <a:defRPr sz="3600"/>
            </a:pPr>
            <a:r>
              <a:t>Проверить OSPF-интерфейсы командой show ip ospf interface brief</a:t>
            </a:r>
          </a:p>
          <a:p>
            <a:pPr>
              <a:defRPr sz="3600"/>
            </a:pPr>
            <a:r>
              <a:t>Проверить соседей командой show ip ospf neighbor</a:t>
            </a:r>
          </a:p>
          <a:p>
            <a:pPr>
              <a:defRPr sz="3600"/>
            </a:pPr>
            <a:r>
              <a:t>Проверить общие параметры командой show ip protocols и show ip ospf</a:t>
            </a:r>
          </a:p>
          <a:p>
            <a:pPr>
              <a:defRPr sz="3600"/>
            </a:pPr>
            <a:r>
              <a:t>Проверить LSDB командой show ip ospf database</a:t>
            </a:r>
          </a:p>
          <a:p>
            <a:pPr>
              <a:defRPr sz="3600"/>
            </a:pPr>
            <a:r>
              <a:t>Проверить установленные маршруты командой show ip route ospf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Отладку OSPF включают только на время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running-config | section router ospf помогает проверить network и passive-interface</a:t>
            </a:r>
          </a:p>
          <a:p>
            <a:pPr>
              <a:defRPr sz="3600"/>
            </a:pPr>
            <a:r>
              <a:t>show ip ospf interface GigabitEthernet0/0 показывает timers, Area, network type и cost</a:t>
            </a:r>
          </a:p>
          <a:p>
            <a:pPr>
              <a:defRPr sz="3600"/>
            </a:pPr>
            <a:r>
              <a:t>В PNetLab можно использовать debug ip ospf hello для проверки Hello-пакетов</a:t>
            </a:r>
          </a:p>
          <a:p>
            <a:pPr>
              <a:defRPr sz="3600"/>
            </a:pPr>
            <a:r>
              <a:t>После проверки обязательно отключить отладку: undebug all</a:t>
            </a:r>
          </a:p>
          <a:p>
            <a:pPr>
              <a:defRPr sz="3600"/>
            </a:pPr>
            <a:r>
              <a:t>В Packet Tracer часто надежнее использовать Simulation Mode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OSPFv2 является link-state IGP для IPv4 enterprise-сетей</a:t>
            </a:r>
          </a:p>
          <a:p>
            <a:pPr>
              <a:defRPr sz="3600"/>
            </a:pPr>
            <a:r>
              <a:t>OSPF строит Neighbor relationship через Hello, а полная Adjacency требует синхронизации LSDB</a:t>
            </a:r>
          </a:p>
          <a:p>
            <a:pPr>
              <a:defRPr sz="3600"/>
            </a:pPr>
            <a:r>
              <a:t>Router ID выбирается по строгому алгоритму и лучше задается вручную</a:t>
            </a:r>
          </a:p>
          <a:p>
            <a:pPr>
              <a:defRPr sz="3600"/>
            </a:pPr>
            <a:r>
              <a:t>Cost рассчитывается по формуле Reference Bandwidth / Interface Bandwidth</a:t>
            </a:r>
          </a:p>
          <a:p>
            <a:pPr>
              <a:defRPr sz="3600"/>
            </a:pPr>
            <a:r>
              <a:t>network включает интерфейсы в OSPF, passive-interface ограничивает соседства, default-information originate вводит O*E2 default route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Link-State протокол отличается от Distance-Vector?</a:t>
            </a:r>
          </a:p>
          <a:p>
            <a:pPr>
              <a:defRPr sz="3600"/>
            </a:pPr>
            <a:r>
              <a:t>Чем Neighbor relationship отличается от Adjacency?</a:t>
            </a:r>
          </a:p>
          <a:p>
            <a:pPr>
              <a:defRPr sz="3600"/>
            </a:pPr>
            <a:r>
              <a:t>Какие пакеты OSPF участвуют в синхронизации LSDB?</a:t>
            </a:r>
          </a:p>
          <a:p>
            <a:pPr>
              <a:defRPr sz="3600"/>
            </a:pPr>
            <a:r>
              <a:t>Как Cisco выбирает Router ID автоматически?</a:t>
            </a:r>
          </a:p>
          <a:p>
            <a:pPr>
              <a:defRPr sz="3600"/>
            </a:pPr>
            <a:r>
              <a:t>Как рассчитывается OSPF Cost и в каких единицах задается reference bandwidth?</a:t>
            </a:r>
          </a:p>
          <a:p>
            <a:pPr>
              <a:defRPr sz="3600"/>
            </a:pPr>
            <a:r>
              <a:t>Почему network-команда не означает прямое объявление введенной сети?</a:t>
            </a:r>
          </a:p>
          <a:p>
            <a:pPr>
              <a:defRPr sz="3600"/>
            </a:pPr>
            <a:r>
              <a:t>Что проверить, если соседство OSPF не переходит в Full?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2051</Words>
  <Application>Microsoft Office PowerPoint</Application>
  <PresentationFormat>Широкоэкранный</PresentationFormat>
  <Paragraphs>217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2026-07-27T11:24:31Z</dcterms:modified>
  <cp:category/>
</cp:coreProperties>
</file>