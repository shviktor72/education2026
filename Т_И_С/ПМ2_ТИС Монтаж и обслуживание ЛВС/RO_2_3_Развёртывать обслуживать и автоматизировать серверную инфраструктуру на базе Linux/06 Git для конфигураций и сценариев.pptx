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6. Контроль версий конфигураций и сценариев: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Git используется администратором для фиксации изменений в конфигурациях, сценариях и документации</a:t>
            </a:r>
          </a:p>
          <a:p>
            <a:pPr>
              <a:defRPr sz="3600"/>
            </a:pPr>
            <a:r>
              <a:t>Главная идея лекции: изменение должно быть проверяемым, объяснимым и обратимым</a:t>
            </a:r>
          </a:p>
          <a:p>
            <a:pPr>
              <a:defRPr sz="3600"/>
            </a:pPr>
            <a:r>
              <a:t>Учебный сценарий: репозиторий linux-infrastructure для Bash-сценариев и безопасных копий конфигураций</a:t>
            </a:r>
          </a:p>
          <a:p>
            <a:pPr>
              <a:defRPr sz="3600"/>
            </a:pPr>
            <a:r>
              <a:t>Работа ведется с текстовыми файлами, без хранения паролей, ключей и live-конфигураций из /etc напрямую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назначение Git в работе системного администратора</a:t>
            </a:r>
          </a:p>
          <a:p>
            <a:pPr>
              <a:defRPr sz="3600"/>
            </a:pPr>
            <a:r>
              <a:t>Уметь объяснить Working Tree, Staging Area, Commit, Branch и Remote Repository</a:t>
            </a:r>
          </a:p>
          <a:p>
            <a:pPr>
              <a:defRPr sz="3600"/>
            </a:pPr>
            <a:r>
              <a:t>Уметь выполнить безопасный цикл изменения: проверить, добавить, зафиксировать, сравнить и восстановить</a:t>
            </a:r>
          </a:p>
          <a:p>
            <a:pPr>
              <a:defRPr sz="3600"/>
            </a:pPr>
            <a:r>
              <a:t>Уметь объяснить ограничения Git при хранении системных конфигураций и секретов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Контроль версий для системного администратора</a:t>
            </a:r>
          </a:p>
          <a:p>
            <a:pPr>
              <a:defRPr sz="3600"/>
            </a:pPr>
            <a:r>
              <a:t>2. Working Tree, Staging Area и локальный репозиторий</a:t>
            </a:r>
          </a:p>
          <a:p>
            <a:pPr>
              <a:defRPr sz="3600"/>
            </a:pPr>
            <a:r>
              <a:t>3. Репозиторий, commits, status, log и diff</a:t>
            </a:r>
          </a:p>
          <a:p>
            <a:pPr>
              <a:defRPr sz="3600"/>
            </a:pPr>
            <a:r>
              <a:t>4. Сообщения commit, восстановление и базовое ветвление</a:t>
            </a:r>
          </a:p>
          <a:p>
            <a:pPr>
              <a:defRPr sz="3600"/>
            </a:pPr>
            <a:r>
              <a:t>5. .gitignore, конфигурации, документация и Bash-сценарии</a:t>
            </a:r>
          </a:p>
          <a:p>
            <a:pPr>
              <a:defRPr sz="3600"/>
            </a:pPr>
            <a:r>
              <a:t>6. Запрет хранения секретов</a:t>
            </a:r>
          </a:p>
          <a:p>
            <a:pPr>
              <a:defRPr sz="3600"/>
            </a:pPr>
            <a:r>
              <a:t>7. Отличие Git от backup и структура инфраструктурного репозитория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Администратор ведет каталог linux-infrastructure</a:t>
            </a:r>
          </a:p>
          <a:p>
            <a:pPr>
              <a:defRPr sz="3600"/>
            </a:pPr>
            <a:r>
              <a:t>В каталоге хранятся scripts, configs, documentation, tests и README.md</a:t>
            </a:r>
          </a:p>
          <a:p>
            <a:pPr>
              <a:defRPr sz="3600"/>
            </a:pPr>
            <a:r>
              <a:t>Перед commit выполняются проверки: bash -n, shellcheck, nginx -t, sshd -t или команда конкретной службы</a:t>
            </a:r>
          </a:p>
          <a:p>
            <a:pPr>
              <a:defRPr sz="3600"/>
            </a:pPr>
            <a:r>
              <a:t>После commit история должна объяснять, кто, что и зачем изменил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Git в жизненном цикле изменения конфигурации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F1F2FC-17F9-DA34-F8BB-C500D9CBA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Контроль версий для системного администратора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Контроль версий — это способ хранить историю изменений файлов и возвращаться к понятным состояниям</a:t>
            </a:r>
          </a:p>
          <a:p>
            <a:pPr>
              <a:defRPr sz="3600"/>
            </a:pPr>
            <a:r>
              <a:t>Для администратора Git полезен не как инструмент программирования, а как журнал технических решений</a:t>
            </a:r>
          </a:p>
          <a:p>
            <a:pPr>
              <a:defRPr sz="3600"/>
            </a:pPr>
            <a:r>
              <a:t>Каждое изменение конфигурации должно иметь причину, автора, дату и проверяемый результат</a:t>
            </a:r>
          </a:p>
          <a:p>
            <a:pPr>
              <a:defRPr sz="3600"/>
            </a:pPr>
            <a:r>
              <a:t>Без истории трудно понять, почему служба работала вчера и перестала работать сегодня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Git полезен в эксплуатационной работе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Bash-сценарии меняются по мере появления новых проверок и автоматизации</a:t>
            </a:r>
          </a:p>
          <a:p>
            <a:pPr>
              <a:defRPr sz="3600"/>
            </a:pPr>
            <a:r>
              <a:t>Конфигурации Nginx, SSH, OpenVPN и systemd требуют аккуратного сравнения версий</a:t>
            </a:r>
          </a:p>
          <a:p>
            <a:pPr>
              <a:defRPr sz="3600"/>
            </a:pPr>
            <a:r>
              <a:t>Документация по адресации, топологии и процедурам восстановления должна меняться вместе с конфигурациями</a:t>
            </a:r>
          </a:p>
          <a:p>
            <a:pPr>
              <a:defRPr sz="3600"/>
            </a:pPr>
            <a:r>
              <a:t>Commit помогает связать техническое изменение с причиной: заявкой, ошибкой, лабораторным заданием или инцидентом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имеет смысл хранить в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Текстовые конфигурации без секретов: шаблоны Nginx, systemd unit, SSH client config</a:t>
            </a:r>
          </a:p>
          <a:p>
            <a:pPr>
              <a:defRPr sz="3600"/>
            </a:pPr>
            <a:r>
              <a:t>Bash-сценарии и вспомогательные проверки</a:t>
            </a:r>
          </a:p>
          <a:p>
            <a:pPr>
              <a:defRPr sz="3600"/>
            </a:pPr>
            <a:r>
              <a:t>Markdown-документация: topology.md, addressing.md, recovery.md</a:t>
            </a:r>
          </a:p>
          <a:p>
            <a:pPr>
              <a:defRPr sz="3600"/>
            </a:pPr>
            <a:r>
              <a:t>Примеры параметров: .env.example, secrets.conf.example, client-credentials.example</a:t>
            </a:r>
          </a:p>
          <a:p>
            <a:pPr>
              <a:defRPr sz="3600"/>
            </a:pPr>
            <a:r>
              <a:t>Тестовые сценарии, которые проверяют синтаксис и ожидаемое состояние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Git не решает автоматически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Git показывает, что изменилось, но не доказывает, что служба работает</a:t>
            </a:r>
          </a:p>
          <a:p>
            <a:pPr>
              <a:defRPr sz="3600"/>
            </a:pPr>
            <a:r>
              <a:t>Git не применяет конфигурацию к Nginx, SSH, OpenVPN или systemd</a:t>
            </a:r>
          </a:p>
          <a:p>
            <a:pPr>
              <a:defRPr sz="3600"/>
            </a:pPr>
            <a:r>
              <a:t>Git не заменяет тестовый стенд и процедуру проверки перед внедрением</a:t>
            </a:r>
          </a:p>
          <a:p>
            <a:pPr>
              <a:defRPr sz="3600"/>
            </a:pPr>
            <a:r>
              <a:t>Git не защищает секрет, если пользователь уже добавил его в историю</a:t>
            </a:r>
          </a:p>
          <a:p>
            <a:pPr>
              <a:defRPr sz="3600"/>
            </a:pPr>
            <a:r>
              <a:t>Git не хранит полноценное состояние сервера: процессы, базы, журналы и данные пользователей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Git не является backup и config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Backup восстанавливает данные и состояние после потери или аварии</a:t>
            </a:r>
          </a:p>
          <a:p>
            <a:pPr>
              <a:defRPr sz="3600"/>
            </a:pPr>
            <a:r>
              <a:t>Git хранит историю текстовых файлов и помогает понять изменения</a:t>
            </a:r>
          </a:p>
          <a:p>
            <a:pPr>
              <a:defRPr sz="3600"/>
            </a:pPr>
            <a:r>
              <a:t>Config management применяет состояние на серверы автоматически: например Ansible</a:t>
            </a:r>
          </a:p>
          <a:p>
            <a:pPr>
              <a:defRPr sz="3600"/>
            </a:pPr>
            <a:r>
              <a:t>Remote Repository повышает сохранность истории, но не является полноценной резервной копией сервера</a:t>
            </a:r>
          </a:p>
          <a:p>
            <a:pPr>
              <a:defRPr sz="3600"/>
            </a:pPr>
            <a:r>
              <a:t>В реальной эксплуатации Git, backup и автоматизация дополняют друг друга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Working Tree, Staging Area и локальный репозиторий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Working Tree — рабочий каталог, где администратор редактирует файлы</a:t>
            </a:r>
          </a:p>
          <a:p>
            <a:pPr>
              <a:defRPr sz="3600"/>
            </a:pPr>
            <a:r>
              <a:t>Staging Area или Index — область подготовки будущего commit</a:t>
            </a:r>
          </a:p>
          <a:p>
            <a:pPr>
              <a:defRPr sz="3600"/>
            </a:pPr>
            <a:r>
              <a:t>Local Repository — каталог .git с историей проекта на локальной машине</a:t>
            </a:r>
          </a:p>
          <a:p>
            <a:pPr>
              <a:defRPr sz="3600"/>
            </a:pPr>
            <a:r>
              <a:t>Commit сохраняет не все файлы из Working Tree, а только подготовленное состояние из Staging Area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Три области Git нужно различать строго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Working Tree содержит текущие файлы проекта</a:t>
            </a:r>
          </a:p>
          <a:p>
            <a:pPr>
              <a:defRPr sz="3600"/>
            </a:pPr>
            <a:r>
              <a:t>Staging Area отвечает на вопрос: что войдет в следующий commit</a:t>
            </a:r>
          </a:p>
          <a:p>
            <a:pPr>
              <a:defRPr sz="3600"/>
            </a:pPr>
            <a:r>
              <a:t>Repository хранит уже зафиксированные состояния</a:t>
            </a:r>
          </a:p>
          <a:p>
            <a:pPr>
              <a:defRPr sz="3600"/>
            </a:pPr>
            <a:r>
              <a:t>Один и тот же файл может быть изменен в Working Tree, но еще не подготовлен к commit</a:t>
            </a:r>
          </a:p>
          <a:p>
            <a:pPr>
              <a:defRPr sz="3600"/>
            </a:pPr>
            <a:r>
              <a:t>Ошибка новичка: думать, что git commit автоматически сохраняет все изменения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Состояния одного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Untracked — файл есть в каталоге, но Git еще не отслеживает его</a:t>
            </a:r>
          </a:p>
          <a:p>
            <a:pPr>
              <a:defRPr sz="3600"/>
            </a:pPr>
            <a:r>
              <a:t>Staged — файл подготовлен командой git add и войдет в следующий commit</a:t>
            </a:r>
          </a:p>
          <a:p>
            <a:pPr>
              <a:defRPr sz="3600"/>
            </a:pPr>
            <a:r>
              <a:t>Tracked и unchanged — файл уже в истории и не изменен относительно последнего commit</a:t>
            </a:r>
          </a:p>
          <a:p>
            <a:pPr>
              <a:defRPr sz="3600"/>
            </a:pPr>
            <a:r>
              <a:t>Modified — файл отслеживается, но его содержимое изменилось после последнего commit</a:t>
            </a:r>
          </a:p>
          <a:p>
            <a:pPr>
              <a:defRPr sz="3600"/>
            </a:pPr>
            <a:r>
              <a:t>Понимание состояний помогает не потерять нужные изменения и не добавить лишние файлы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состояния файла в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8BD84D-2769-78FB-30A7-7B680151A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Первичная настройка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Git должен знать имя и адрес автора commit</a:t>
            </a:r>
          </a:p>
          <a:p>
            <a:pPr>
              <a:defRPr sz="3600"/>
            </a:pPr>
            <a:r>
              <a:t>Команда: git config --global user.name 'Student Name'</a:t>
            </a:r>
          </a:p>
          <a:p>
            <a:pPr>
              <a:defRPr sz="3600"/>
            </a:pPr>
            <a:r>
              <a:t>Пример: имя автора будет записано в каждый новый commit этого пользователя</a:t>
            </a:r>
          </a:p>
          <a:p>
            <a:pPr>
              <a:defRPr sz="3600"/>
            </a:pPr>
            <a:r>
              <a:t>Команда: git config --global user.email 'student@example.test'</a:t>
            </a:r>
          </a:p>
          <a:p>
            <a:pPr>
              <a:defRPr sz="3600"/>
            </a:pPr>
            <a:r>
              <a:t>Проверка: git config --global --list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Основную ветку лучше задать сразу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разных версиях Git начальная ветка может называться main или master</a:t>
            </a:r>
          </a:p>
          <a:p>
            <a:pPr>
              <a:defRPr sz="3600"/>
            </a:pPr>
            <a:r>
              <a:t>Команда: git init -b main</a:t>
            </a:r>
          </a:p>
          <a:p>
            <a:pPr>
              <a:defRPr sz="3600"/>
            </a:pPr>
            <a:r>
              <a:t>Пример: репозиторий создается сразу с основной веткой main</a:t>
            </a:r>
          </a:p>
          <a:p>
            <a:pPr>
              <a:defRPr sz="3600"/>
            </a:pPr>
            <a:r>
              <a:t>Если git init -b main не поддерживается: git init, затем git branch -M main</a:t>
            </a:r>
          </a:p>
          <a:p>
            <a:pPr>
              <a:defRPr sz="3600"/>
            </a:pPr>
            <a:r>
              <a:t>Иначе команда git switch main может не сработать в лаборатории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git status показывает текущее состояние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git status</a:t>
            </a:r>
          </a:p>
          <a:p>
            <a:pPr>
              <a:defRPr sz="3600"/>
            </a:pPr>
            <a:r>
              <a:t>Назначение: показать текущую ветку, измененные файлы и Staging Area</a:t>
            </a:r>
          </a:p>
          <a:p>
            <a:pPr>
              <a:defRPr sz="3600"/>
            </a:pPr>
            <a:r>
              <a:t>Пример: после создания README.md команда покажет файл как Untracked</a:t>
            </a:r>
          </a:p>
          <a:p>
            <a:pPr>
              <a:defRPr sz="3600"/>
            </a:pPr>
            <a:r>
              <a:t>Краткий режим: git status --short</a:t>
            </a:r>
          </a:p>
          <a:p>
            <a:pPr>
              <a:defRPr sz="3600"/>
            </a:pPr>
            <a:r>
              <a:t>Привычка администратора: начинать и заканчивать работу с git status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git add подготавливает только выбранные изменения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git add scripts/server-health.sh</a:t>
            </a:r>
          </a:p>
          <a:p>
            <a:pPr>
              <a:defRPr sz="3600"/>
            </a:pPr>
            <a:r>
              <a:t>Назначение: добавить конкретный файл в Staging Area</a:t>
            </a:r>
          </a:p>
          <a:p>
            <a:pPr>
              <a:defRPr sz="3600"/>
            </a:pPr>
            <a:r>
              <a:t>Пример: после git add файл готов к commit, но история еще не создана</a:t>
            </a:r>
          </a:p>
          <a:p>
            <a:pPr>
              <a:defRPr sz="3600"/>
            </a:pPr>
            <a:r>
              <a:t>Механическое git add . опасно: можно случайно добавить ключи, PCAP, дампы или временные файлы</a:t>
            </a:r>
          </a:p>
          <a:p>
            <a:pPr>
              <a:defRPr sz="3600"/>
            </a:pPr>
            <a:r>
              <a:t>Перед git add нужно выполнить git status и git diff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git add -p помогает разделять изменения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git add -p</a:t>
            </a:r>
          </a:p>
          <a:p>
            <a:pPr>
              <a:defRPr sz="3600"/>
            </a:pPr>
            <a:r>
              <a:t>Назначение: интерактивно добавить отдельные фрагменты файла</a:t>
            </a:r>
          </a:p>
          <a:p>
            <a:pPr>
              <a:defRPr sz="3600"/>
            </a:pPr>
            <a:r>
              <a:t>Пример: в одном Bash-сценарии можно добавить проверку диска, но не добавлять экспериментальную проверку сети</a:t>
            </a:r>
          </a:p>
          <a:p>
            <a:pPr>
              <a:defRPr sz="3600"/>
            </a:pPr>
            <a:r>
              <a:t>Это помогает делать маленькие и понятные commits</a:t>
            </a:r>
          </a:p>
          <a:p>
            <a:pPr>
              <a:defRPr sz="3600"/>
            </a:pPr>
            <a:r>
              <a:t>Для администратора это особенно важно при одновременной правке конфигурации и комментариев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Репозиторий, commits, status, log и 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Репозиторий — это проект с историей изменений</a:t>
            </a:r>
          </a:p>
          <a:p>
            <a:pPr>
              <a:defRPr sz="3600"/>
            </a:pPr>
            <a:r>
              <a:t>Commit — зафиксированное состояние подготовленных файлов</a:t>
            </a:r>
          </a:p>
          <a:p>
            <a:pPr>
              <a:defRPr sz="3600"/>
            </a:pPr>
            <a:r>
              <a:t>Log показывает последовательность commits</a:t>
            </a:r>
          </a:p>
          <a:p>
            <a:pPr>
              <a:defRPr sz="3600"/>
            </a:pPr>
            <a:r>
              <a:t>Diff показывает различия между состояниями</a:t>
            </a:r>
          </a:p>
          <a:p>
            <a:pPr>
              <a:defRPr sz="3600"/>
            </a:pPr>
            <a:r>
              <a:t>Show позволяет посмотреть конкретный commit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структура инфраструктурного репозитория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configs — безопасные копии и шаблоны конфигураций</a:t>
            </a:r>
          </a:p>
          <a:p>
            <a:pPr>
              <a:defRPr sz="3600"/>
            </a:pPr>
            <a:r>
              <a:t>scripts — Bash-сценарии диагностики, проверки и обслуживания</a:t>
            </a:r>
          </a:p>
          <a:p>
            <a:pPr>
              <a:defRPr sz="3600"/>
            </a:pPr>
            <a:r>
              <a:t>documentation — топология, адресация, процедуры восстановления</a:t>
            </a:r>
          </a:p>
          <a:p>
            <a:pPr>
              <a:defRPr sz="3600"/>
            </a:pPr>
            <a:r>
              <a:t>examples — файлы-примеры вместо настоящих секретов</a:t>
            </a:r>
          </a:p>
          <a:p>
            <a:pPr>
              <a:defRPr sz="3600"/>
            </a:pPr>
            <a:r>
              <a:t>tests — сценарии проверки синтаксиса и ожидаемого состояния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Первый рабочий цикл команд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git status — проверить, что изменилось</a:t>
            </a:r>
          </a:p>
          <a:p>
            <a:pPr>
              <a:defRPr sz="3600"/>
            </a:pPr>
            <a:r>
              <a:t>Команда: git diff — увидеть содержимое изменений до подготовки</a:t>
            </a:r>
          </a:p>
          <a:p>
            <a:pPr>
              <a:defRPr sz="3600"/>
            </a:pPr>
            <a:r>
              <a:t>Команда: git add scripts/server-health.sh — подготовить нужный файл</a:t>
            </a:r>
          </a:p>
          <a:p>
            <a:pPr>
              <a:defRPr sz="3600"/>
            </a:pPr>
            <a:r>
              <a:t>Команда: git diff --staged — проверить будущий commit</a:t>
            </a:r>
          </a:p>
          <a:p>
            <a:pPr>
              <a:defRPr sz="3600"/>
            </a:pPr>
            <a:r>
              <a:t>Команда: git commit -m 'Add server health check' — зафиксировать изменение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Разные варианты git 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git diff сравнивает Working Tree и Staging Area</a:t>
            </a:r>
          </a:p>
          <a:p>
            <a:pPr>
              <a:defRPr sz="3600"/>
            </a:pPr>
            <a:r>
              <a:t>git diff --staged сравнивает Staging Area и последний commit</a:t>
            </a:r>
          </a:p>
          <a:p>
            <a:pPr>
              <a:defRPr sz="3600"/>
            </a:pPr>
            <a:r>
              <a:t>git diff HEAD показывает все текущие изменения относительно HEAD</a:t>
            </a:r>
          </a:p>
          <a:p>
            <a:pPr>
              <a:defRPr sz="3600"/>
            </a:pPr>
            <a:r>
              <a:t>git show HEAD показывает последний завершенный commit</a:t>
            </a:r>
          </a:p>
          <a:p>
            <a:pPr>
              <a:defRPr sz="3600"/>
            </a:pPr>
            <a:r>
              <a:t>git diff HEAD~1..HEAD показывает различия только между двумя commit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git diff HEAD~1 может запутать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git diff HEAD~1 сравнивает Working Tree с предыдущим commit</a:t>
            </a:r>
          </a:p>
          <a:p>
            <a:pPr>
              <a:defRPr sz="3600"/>
            </a:pPr>
            <a:r>
              <a:t>Если есть незакоммиченные изменения, они тоже попадут в вывод</a:t>
            </a:r>
          </a:p>
          <a:p>
            <a:pPr>
              <a:defRPr sz="3600"/>
            </a:pPr>
            <a:r>
              <a:t>Для просмотра последнего завершенного изменения лучше использовать git show HEAD</a:t>
            </a:r>
          </a:p>
          <a:p>
            <a:pPr>
              <a:defRPr sz="3600"/>
            </a:pPr>
            <a:r>
              <a:t>Альтернатива: git diff HEAD~1..HEAD</a:t>
            </a:r>
          </a:p>
          <a:p>
            <a:pPr>
              <a:defRPr sz="3600"/>
            </a:pPr>
            <a:r>
              <a:t>В учебной работе важно отличать историю от текущих незавершенных правок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git log и git show помогают читать историю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git log --oneline --graph --decorate -10</a:t>
            </a:r>
          </a:p>
          <a:p>
            <a:pPr>
              <a:defRPr sz="3600"/>
            </a:pPr>
            <a:r>
              <a:t>Назначение: показать последние commits, ветки и форму истории</a:t>
            </a:r>
          </a:p>
          <a:p>
            <a:pPr>
              <a:defRPr sz="3600"/>
            </a:pPr>
            <a:r>
              <a:t>Команда: git show HEAD</a:t>
            </a:r>
          </a:p>
          <a:p>
            <a:pPr>
              <a:defRPr sz="3600"/>
            </a:pPr>
            <a:r>
              <a:t>Назначение: показать сообщение, автора и изменения последнего commit</a:t>
            </a:r>
          </a:p>
          <a:p>
            <a:pPr>
              <a:defRPr sz="3600"/>
            </a:pPr>
            <a:r>
              <a:t>В расследовании аварии история Git часто отвечает на вопрос: какое изменение было последним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Сообщение commit должно объяснять изменение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Плохой пример: update или fix</a:t>
            </a:r>
          </a:p>
          <a:p>
            <a:pPr>
              <a:defRPr sz="3600"/>
            </a:pPr>
            <a:r>
              <a:t>Хороший пример: Add route for OpenVPN client network</a:t>
            </a:r>
          </a:p>
          <a:p>
            <a:pPr>
              <a:defRPr sz="3600"/>
            </a:pPr>
            <a:r>
              <a:t>Первая строка должна кратко описывать действие</a:t>
            </a:r>
          </a:p>
          <a:p>
            <a:pPr>
              <a:defRPr sz="3600"/>
            </a:pPr>
            <a:r>
              <a:t>При необходимости тело commit объясняет причину, ограничения и способ проверки</a:t>
            </a:r>
          </a:p>
          <a:p>
            <a:pPr>
              <a:defRPr sz="3600"/>
            </a:pPr>
            <a:r>
              <a:t>Сообщение commit пишется для будущего администратора, который будет искать причину проблемы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Перед commit нужна техническая 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Git доказывает, что файл изменился, но не доказывает, что конфигурация работает</a:t>
            </a:r>
          </a:p>
          <a:p>
            <a:pPr>
              <a:defRPr sz="3600"/>
            </a:pPr>
            <a:r>
              <a:t>Для Bash: bash -n scripts/server-health.sh</a:t>
            </a:r>
          </a:p>
          <a:p>
            <a:pPr>
              <a:defRPr sz="3600"/>
            </a:pPr>
            <a:r>
              <a:t>Для Bash дополнительно: shellcheck scripts/server-health.sh</a:t>
            </a:r>
          </a:p>
          <a:p>
            <a:pPr>
              <a:defRPr sz="3600"/>
            </a:pPr>
            <a:r>
              <a:t>Для Nginx: sudo nginx -t</a:t>
            </a:r>
          </a:p>
          <a:p>
            <a:pPr>
              <a:defRPr sz="3600"/>
            </a:pPr>
            <a:r>
              <a:t>Для SSH: sudo sshd -t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Git хранит исполняемый признак файла ограниченно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Bash-сценария важно, чтобы файл можно было запускать</a:t>
            </a:r>
          </a:p>
          <a:p>
            <a:pPr>
              <a:defRPr sz="3600"/>
            </a:pPr>
            <a:r>
              <a:t>Команда: chmod +x scripts/server-health.sh</a:t>
            </a:r>
          </a:p>
          <a:p>
            <a:pPr>
              <a:defRPr sz="3600"/>
            </a:pPr>
            <a:r>
              <a:t>Команда Git: git update-index --chmod=+x scripts/server-health.sh</a:t>
            </a:r>
          </a:p>
          <a:p>
            <a:pPr>
              <a:defRPr sz="3600"/>
            </a:pPr>
            <a:r>
              <a:t>Git обычно хранит executable bit, но не все права, владельцев и ACL</a:t>
            </a:r>
          </a:p>
          <a:p>
            <a:pPr>
              <a:defRPr sz="3600"/>
            </a:pPr>
            <a:r>
              <a:t>Права применения на сервере нужно описывать отдельно в README или deployment script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Сообщения commit, восстановление и базовое ветвление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Commit должен быть небольшим и логически завершенным</a:t>
            </a:r>
          </a:p>
          <a:p>
            <a:pPr>
              <a:defRPr sz="3600"/>
            </a:pPr>
            <a:r>
              <a:t>Восстановление файла зависит от того, где находится изменение: Working Tree, Staging Area или Repository</a:t>
            </a:r>
          </a:p>
          <a:p>
            <a:pPr>
              <a:defRPr sz="3600"/>
            </a:pPr>
            <a:r>
              <a:t>Ветка помогает изолировать изменение в репозитории</a:t>
            </a:r>
          </a:p>
          <a:p>
            <a:pPr>
              <a:defRPr sz="3600"/>
            </a:pPr>
            <a:r>
              <a:t>Merge объединяет историю, но после него все равно нужна проверка результата</a:t>
            </a:r>
          </a:p>
          <a:p>
            <a:pPr>
              <a:defRPr sz="3600"/>
            </a:pPr>
            <a:r>
              <a:t>Конфликт решается не только удалением маркеров, а проверкой итоговой конфигурации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Восстановление нужно разделять по сценариям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Сценарий 1: отменить незакоммиченные изменения в Working Tree</a:t>
            </a:r>
          </a:p>
          <a:p>
            <a:pPr>
              <a:defRPr sz="3600"/>
            </a:pPr>
            <a:r>
              <a:t>Сценарий 2: убрать файл из Staging Area, сохранив правки</a:t>
            </a:r>
          </a:p>
          <a:p>
            <a:pPr>
              <a:defRPr sz="3600"/>
            </a:pPr>
            <a:r>
              <a:t>Сценарий 3: взять старую версию файла из другого commit</a:t>
            </a:r>
          </a:p>
          <a:p>
            <a:pPr>
              <a:defRPr sz="3600"/>
            </a:pPr>
            <a:r>
              <a:t>Сценарий 4: отменить уже опубликованное изменение новым commit</a:t>
            </a:r>
          </a:p>
          <a:p>
            <a:pPr>
              <a:defRPr sz="3600"/>
            </a:pPr>
            <a:r>
              <a:t>Нельзя одной командой объяснять все виды восстановления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Отмена изменений в Working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git restore configs/nginx/app.conf</a:t>
            </a:r>
          </a:p>
          <a:p>
            <a:pPr>
              <a:defRPr sz="3600"/>
            </a:pPr>
            <a:r>
              <a:t>Назначение: отменить незакоммиченные изменения файла</a:t>
            </a:r>
          </a:p>
          <a:p>
            <a:pPr>
              <a:defRPr sz="3600"/>
            </a:pPr>
            <a:r>
              <a:t>Пример: администратор случайно испортил шаблон Nginx и возвращает его к последнему подготовленному или зафиксированному состоянию</a:t>
            </a:r>
          </a:p>
          <a:p>
            <a:pPr>
              <a:defRPr sz="3600"/>
            </a:pPr>
            <a:r>
              <a:t>Перед этим обязательно выполнить: git status</a:t>
            </a:r>
          </a:p>
          <a:p>
            <a:pPr>
              <a:defRPr sz="3600"/>
            </a:pPr>
            <a:r>
              <a:t>Перед этим обязательно выполнить: git diff -- configs/nginx/app.conf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Убрать файл из Staging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git restore --staged configs/nginx/app.conf</a:t>
            </a:r>
          </a:p>
          <a:p>
            <a:pPr>
              <a:defRPr sz="3600"/>
            </a:pPr>
            <a:r>
              <a:t>Назначение: убрать файл из будущего commit, но оставить изменения в Working Tree</a:t>
            </a:r>
          </a:p>
          <a:p>
            <a:pPr>
              <a:defRPr sz="3600"/>
            </a:pPr>
            <a:r>
              <a:t>Пример: конфигурация Nginx была добавлена слишком рано, а проверка nginx -t еще не выполнена</a:t>
            </a:r>
          </a:p>
          <a:p>
            <a:pPr>
              <a:defRPr sz="3600"/>
            </a:pPr>
            <a:r>
              <a:t>После команды файл остается измененным, но больше не находится в Staging Area</a:t>
            </a:r>
          </a:p>
          <a:p>
            <a:pPr>
              <a:defRPr sz="3600"/>
            </a:pPr>
            <a:r>
              <a:t>Проверка: git status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Восстановить версию из другого commit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git restore --source=HEAD~1 configs/nginx/app.conf</a:t>
            </a:r>
          </a:p>
          <a:p>
            <a:pPr>
              <a:defRPr sz="3600"/>
            </a:pPr>
            <a:r>
              <a:t>Назначение: взять версию файла из предыдущего commit в Working Tree</a:t>
            </a:r>
          </a:p>
          <a:p>
            <a:pPr>
              <a:defRPr sz="3600"/>
            </a:pPr>
            <a:r>
              <a:t>После восстановления нужно выполнить проверку службы: sudo nginx -t</a:t>
            </a:r>
          </a:p>
          <a:p>
            <a:pPr>
              <a:defRPr sz="3600"/>
            </a:pPr>
            <a:r>
              <a:t>Затем создать новый commit: git add configs/nginx/app.conf</a:t>
            </a:r>
          </a:p>
          <a:p>
            <a:pPr>
              <a:defRPr sz="3600"/>
            </a:pPr>
            <a:r>
              <a:t>Пример commit: git commit -m 'Restore previous Nginx configuration'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git restore может уничтожить полезные правки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git restore потенциально разрушителен для незакоммиченных изменений</a:t>
            </a:r>
          </a:p>
          <a:p>
            <a:pPr>
              <a:defRPr sz="3600"/>
            </a:pPr>
            <a:r>
              <a:t>Git не восстановит содержимое, которое никогда не было добавлено в Staging Area или Repository</a:t>
            </a:r>
          </a:p>
          <a:p>
            <a:pPr>
              <a:defRPr sz="3600"/>
            </a:pPr>
            <a:r>
              <a:t>Перед восстановлением полезно сохранить копию: cp -a configs/nginx/app.conf /tmp/app.conf.before-restore</a:t>
            </a:r>
          </a:p>
          <a:p>
            <a:pPr>
              <a:defRPr sz="3600"/>
            </a:pPr>
            <a:r>
              <a:t>Альтернатива для опытного пользователя: временный commit или git stash</a:t>
            </a:r>
          </a:p>
          <a:p>
            <a:pPr>
              <a:defRPr sz="3600"/>
            </a:pPr>
            <a:r>
              <a:t>В базовой работе главное правило: сначала status и diff, потом restore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Ветка изолирует изменение в репозитории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Branch — отдельная линия разработки изменений</a:t>
            </a:r>
          </a:p>
          <a:p>
            <a:pPr>
              <a:defRPr sz="3600"/>
            </a:pPr>
            <a:r>
              <a:t>Команда: git switch -c test-openvpn-route</a:t>
            </a:r>
          </a:p>
          <a:p>
            <a:pPr>
              <a:defRPr sz="3600"/>
            </a:pPr>
            <a:r>
              <a:t>Назначение: создать ветку и сразу перейти в нее</a:t>
            </a:r>
          </a:p>
          <a:p>
            <a:pPr>
              <a:defRPr sz="3600"/>
            </a:pPr>
            <a:r>
              <a:t>Пример: маршрут OpenVPN проверяется отдельно от основной ветки main</a:t>
            </a:r>
          </a:p>
          <a:p>
            <a:pPr>
              <a:defRPr sz="3600"/>
            </a:pPr>
            <a:r>
              <a:t>Ветка полезна для эксперимента, но не заменяет тестовую виртуальную машину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Переключение ветки меняет Working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git switch меняет файлы в рабочем каталоге</a:t>
            </a:r>
          </a:p>
          <a:p>
            <a:pPr>
              <a:defRPr sz="3600"/>
            </a:pPr>
            <a:r>
              <a:t>Если репозиторий связан с live-файлами службы, переключение ветки может изменить действующую конфигурацию</a:t>
            </a:r>
          </a:p>
          <a:p>
            <a:pPr>
              <a:defRPr sz="3600"/>
            </a:pPr>
            <a:r>
              <a:t>Поэтому репозиторий с шаблонами и очищенными копиями лучше держать отдельно от /etc</a:t>
            </a:r>
          </a:p>
          <a:p>
            <a:pPr>
              <a:defRPr sz="3600"/>
            </a:pPr>
            <a:r>
              <a:t>Безопасная схема: Git repository, validation, test environment, approved deployment, live configuration</a:t>
            </a:r>
          </a:p>
          <a:p>
            <a:pPr>
              <a:defRPr sz="3600"/>
            </a:pPr>
            <a:r>
              <a:t>На сервере не следует экспериментировать ветками прямо внутри /etc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Merge объединяет ветку с основной линией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Перед merge нужно перейти в основную ветку: git switch main</a:t>
            </a:r>
          </a:p>
          <a:p>
            <a:pPr>
              <a:defRPr sz="3600"/>
            </a:pPr>
            <a:r>
              <a:t>Команда: git merge test-openvpn-route</a:t>
            </a:r>
          </a:p>
          <a:p>
            <a:pPr>
              <a:defRPr sz="3600"/>
            </a:pPr>
            <a:r>
              <a:t>Fast-Forward просто передвигает указатель ветки вперед</a:t>
            </a:r>
          </a:p>
          <a:p>
            <a:pPr>
              <a:defRPr sz="3600"/>
            </a:pPr>
            <a:r>
              <a:t>Merge Commit создается, когда истории веток разошлись</a:t>
            </a:r>
          </a:p>
          <a:p>
            <a:pPr>
              <a:defRPr sz="3600"/>
            </a:pPr>
            <a:r>
              <a:t>После merge обычный git diff может ничего не показать, потому что изменения уже вошли в историю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ветка, merge и конфликт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874D1B-5D12-69AD-A59D-E6DC3F5FE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Конфликт требует осознанного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Маркеры конфликта: &lt;&lt;&lt;&lt;&lt;&lt;&lt; HEAD, =======, &gt;&gt;&gt;&gt;&gt;&gt;&gt; test-openvpn-route</a:t>
            </a:r>
          </a:p>
          <a:p>
            <a:pPr>
              <a:defRPr sz="3600"/>
            </a:pPr>
            <a:r>
              <a:t>HEAD — текущая версия в ветке, куда выполняется merge</a:t>
            </a:r>
          </a:p>
          <a:p>
            <a:pPr>
              <a:defRPr sz="3600"/>
            </a:pPr>
            <a:r>
              <a:t>Вторая часть — версия из объединяемой ветки</a:t>
            </a:r>
          </a:p>
          <a:p>
            <a:pPr>
              <a:defRPr sz="3600"/>
            </a:pPr>
            <a:r>
              <a:t>После ручного исправления: git add configs/openvpn/server.conf</a:t>
            </a:r>
          </a:p>
          <a:p>
            <a:pPr>
              <a:defRPr sz="3600"/>
            </a:pPr>
            <a:r>
              <a:t>Если merge выполнять не следует: git merge --abort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После merge проверяют результат и историю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git status</a:t>
            </a:r>
          </a:p>
          <a:p>
            <a:pPr>
              <a:defRPr sz="3600"/>
            </a:pPr>
            <a:r>
              <a:t>Команда: git log --oneline --graph --decorate -10</a:t>
            </a:r>
          </a:p>
          <a:p>
            <a:pPr>
              <a:defRPr sz="3600"/>
            </a:pPr>
            <a:r>
              <a:t>Команда: git show HEAD</a:t>
            </a:r>
          </a:p>
          <a:p>
            <a:pPr>
              <a:defRPr sz="3600"/>
            </a:pPr>
            <a:r>
              <a:t>Для OpenVPN пример проверки зависит от режима и файла конфигурации</a:t>
            </a:r>
          </a:p>
          <a:p>
            <a:pPr>
              <a:defRPr sz="3600"/>
            </a:pPr>
            <a:r>
              <a:t>Главное правило: конфликт считается решенным после проверки синтаксиса и работоспособности итоговой конфигурации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.gitignore, конфигурации, документация и Bash-сценарии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.gitignore описывает файлы, которые Git должен не предлагать к добавлению</a:t>
            </a:r>
          </a:p>
          <a:p>
            <a:pPr>
              <a:defRPr sz="3600"/>
            </a:pPr>
            <a:r>
              <a:t>Он защищает от случайного добавления временных файлов</a:t>
            </a:r>
          </a:p>
          <a:p>
            <a:pPr>
              <a:defRPr sz="3600"/>
            </a:pPr>
            <a:r>
              <a:t>Он не является механизмом безопасности</a:t>
            </a:r>
          </a:p>
          <a:p>
            <a:pPr>
              <a:defRPr sz="3600"/>
            </a:pPr>
            <a:r>
              <a:t>Он не действует на файлы, которые уже отслеживаются Git</a:t>
            </a:r>
          </a:p>
          <a:p>
            <a:pPr>
              <a:defRPr sz="3600"/>
            </a:pPr>
            <a:r>
              <a:t>Для инфраструктурного репозитория .gitignore должен быть написан до первого commit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.gitignore для администратора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Исключить временные файлы редакторов: *~, *.swp</a:t>
            </a:r>
          </a:p>
          <a:p>
            <a:pPr>
              <a:defRPr sz="3600"/>
            </a:pPr>
            <a:r>
              <a:t>Исключить локальные копии и дампы: *.bak, *.dump</a:t>
            </a:r>
          </a:p>
          <a:p>
            <a:pPr>
              <a:defRPr sz="3600"/>
            </a:pPr>
            <a:r>
              <a:t>Исключить захваты трафика: *.pcap, *.pcapng</a:t>
            </a:r>
          </a:p>
          <a:p>
            <a:pPr>
              <a:defRPr sz="3600"/>
            </a:pPr>
            <a:r>
              <a:t>Исключить реальные секреты: .env, secrets/, *.key</a:t>
            </a:r>
          </a:p>
          <a:p>
            <a:pPr>
              <a:defRPr sz="3600"/>
            </a:pPr>
            <a:r>
              <a:t>Хранить примеры вместо секретов: .env.example и secrets.conf.example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.gitignore не удаляет уже отслеживаемый файл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файл уже добавлен в commit, добавление шаблона в .gitignore не остановит его отслеживание</a:t>
            </a:r>
          </a:p>
          <a:p>
            <a:pPr>
              <a:defRPr sz="3600"/>
            </a:pPr>
            <a:r>
              <a:t>Команда: git rm --cached secrets/client.key</a:t>
            </a:r>
          </a:p>
          <a:p>
            <a:pPr>
              <a:defRPr sz="3600"/>
            </a:pPr>
            <a:r>
              <a:t>Назначение: убрать файл из индекса Git, но оставить его в рабочем каталоге</a:t>
            </a:r>
          </a:p>
          <a:p>
            <a:pPr>
              <a:defRPr sz="3600"/>
            </a:pPr>
            <a:r>
              <a:t>Для каталога: git rm -r --cached secrets/</a:t>
            </a:r>
          </a:p>
          <a:p>
            <a:pPr>
              <a:defRPr sz="3600"/>
            </a:pPr>
            <a:r>
              <a:t>Важно: если это был реальный секрет, он все равно остается в старой истории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Конфигурации нельзя бездумно копировать из /etc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Live-файл может содержать пароль, токен, приватный ключ или внутреннюю адресацию</a:t>
            </a:r>
          </a:p>
          <a:p>
            <a:pPr>
              <a:defRPr sz="3600"/>
            </a:pPr>
            <a:r>
              <a:t>В репозитории лучше хранить очищенную копию или шаблон</a:t>
            </a:r>
          </a:p>
          <a:p>
            <a:pPr>
              <a:defRPr sz="3600"/>
            </a:pPr>
            <a:r>
              <a:t>Путь назначения нужно описать в README, например: /etc/nginx/sites-available/app.conf</a:t>
            </a:r>
          </a:p>
          <a:p>
            <a:pPr>
              <a:defRPr sz="3600"/>
            </a:pPr>
            <a:r>
              <a:t>Перед применением нужна проверка синтаксиса и резервная копия live-файла</a:t>
            </a:r>
          </a:p>
          <a:p>
            <a:pPr>
              <a:defRPr sz="3600"/>
            </a:pPr>
            <a:r>
              <a:t>Git repository должен быть отделен от действующей конфигурации службы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Git не сохраняет все метаданные системного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Git обычно хранит содержимое, путь, символическую ссылку и executable bit</a:t>
            </a:r>
          </a:p>
          <a:p>
            <a:pPr>
              <a:defRPr sz="3600"/>
            </a:pPr>
            <a:r>
              <a:t>Git обычно не хранит владельца, группу, полный набор Unix permissions, ACL и extended attributes</a:t>
            </a:r>
          </a:p>
          <a:p>
            <a:pPr>
              <a:defRPr sz="3600"/>
            </a:pPr>
            <a:r>
              <a:t>Git не хранит SELinux context, capabilities и состояние службы</a:t>
            </a:r>
          </a:p>
          <a:p>
            <a:pPr>
              <a:defRPr sz="3600"/>
            </a:pPr>
            <a:r>
              <a:t>После копирования sshd_config обратно нужны chown, chmod и при необходимости restorecon</a:t>
            </a:r>
          </a:p>
          <a:p>
            <a:pPr>
              <a:defRPr sz="3600"/>
            </a:pPr>
            <a:r>
              <a:t>Поэтому инструкции применения должны быть частью документации проекта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README должен описывать применение конфигурации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каждого файла указать источник и путь назначения</a:t>
            </a:r>
          </a:p>
          <a:p>
            <a:pPr>
              <a:defRPr sz="3600"/>
            </a:pPr>
            <a:r>
              <a:t>Указать владельца и права: например root:root и 600 для sshd_config</a:t>
            </a:r>
          </a:p>
          <a:p>
            <a:pPr>
              <a:defRPr sz="3600"/>
            </a:pPr>
            <a:r>
              <a:t>Указать команду проверки: sudo sshd -t или sudo nginx -t</a:t>
            </a:r>
          </a:p>
          <a:p>
            <a:pPr>
              <a:defRPr sz="3600"/>
            </a:pPr>
            <a:r>
              <a:t>Указать команду применения: reload или restart конкретной службы</a:t>
            </a:r>
          </a:p>
          <a:p>
            <a:pPr>
              <a:defRPr sz="3600"/>
            </a:pPr>
            <a:r>
              <a:t>Указать способ rollback при неудачной проверке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Структура репозитория должна помогать эксплуатации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configs/nginx, configs/openvpn, configs/systemd — очищенные конфигурации и шаблоны</a:t>
            </a:r>
          </a:p>
          <a:p>
            <a:pPr>
              <a:defRPr sz="3600"/>
            </a:pPr>
            <a:r>
              <a:t>scripts/server-health.sh и scripts/backup-configs.sh — проверяемые Bash-сценарии</a:t>
            </a:r>
          </a:p>
          <a:p>
            <a:pPr>
              <a:defRPr sz="3600"/>
            </a:pPr>
            <a:r>
              <a:t>documentation/topology.md, addressing.md, recovery.md — актуальная документация</a:t>
            </a:r>
          </a:p>
          <a:p>
            <a:pPr>
              <a:defRPr sz="3600"/>
            </a:pPr>
            <a:r>
              <a:t>examples/env.example — пример параметров без реальных секретов</a:t>
            </a:r>
          </a:p>
          <a:p>
            <a:pPr>
              <a:defRPr sz="3600"/>
            </a:pPr>
            <a:r>
              <a:t>tests/verify-configs.sh — проверки перед commit или перед применением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Запрет хранения секретов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Секрет — это данные, которые дают доступ или раскрывают защищенную инфраструктуру</a:t>
            </a:r>
          </a:p>
          <a:p>
            <a:pPr>
              <a:defRPr sz="3600"/>
            </a:pPr>
            <a:r>
              <a:t>К секретам относятся пароли, токены, приватные ключи, PSK, SNMP Community и Cookie</a:t>
            </a:r>
          </a:p>
          <a:p>
            <a:pPr>
              <a:defRPr sz="3600"/>
            </a:pPr>
            <a:r>
              <a:t>Секретом может быть не только пароль, но и VPN-профиль с вложенным ключом</a:t>
            </a:r>
          </a:p>
          <a:p>
            <a:pPr>
              <a:defRPr sz="3600"/>
            </a:pPr>
            <a:r>
              <a:t>После попадания в Git секрет нужно считать скомпрометированным</a:t>
            </a:r>
          </a:p>
          <a:p>
            <a:pPr>
              <a:defRPr sz="3600"/>
            </a:pPr>
            <a:r>
              <a:t>Удаление строки новым commit не удаляет секрет из предыдущей истории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Копии конфигураций могут раскрывать скрытые секреты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Опасные фрагменты: password=, token=, private-key=, auth-user-pass</a:t>
            </a:r>
          </a:p>
          <a:p>
            <a:pPr>
              <a:defRPr sz="3600"/>
            </a:pPr>
            <a:r>
              <a:t>Опасные фрагменты: psk=, community=, bindpw=</a:t>
            </a:r>
          </a:p>
          <a:p>
            <a:pPr>
              <a:defRPr sz="3600"/>
            </a:pPr>
            <a:r>
              <a:t>Конфигурация может раскрыть внутренние IP-адреса, hostnames и структуру сети</a:t>
            </a:r>
          </a:p>
          <a:p>
            <a:pPr>
              <a:defRPr sz="3600"/>
            </a:pPr>
            <a:r>
              <a:t>Даже очищенный инфраструктурный репозиторий может быть конфиденциальным</a:t>
            </a:r>
          </a:p>
          <a:p>
            <a:pPr>
              <a:defRPr sz="3600"/>
            </a:pPr>
            <a:r>
              <a:t>Публичным его можно делать только после осознанного review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Поиск секретов перед commit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Простой поиск password недостаточен</a:t>
            </a:r>
          </a:p>
          <a:p>
            <a:pPr>
              <a:defRPr sz="3600"/>
            </a:pPr>
            <a:r>
              <a:t>Команда: grep -RInE 'password|passwd|token|secret|api[_-]?key|private[_-]?key' .</a:t>
            </a:r>
          </a:p>
          <a:p>
            <a:pPr>
              <a:defRPr sz="3600"/>
            </a:pPr>
            <a:r>
              <a:t>Назначение: найти типовые имена секретных параметров</a:t>
            </a:r>
          </a:p>
          <a:p>
            <a:pPr>
              <a:defRPr sz="3600"/>
            </a:pPr>
            <a:r>
              <a:t>Команда: grep -RIn 'BEGIN .*PRIVATE KEY' .</a:t>
            </a:r>
          </a:p>
          <a:p>
            <a:pPr>
              <a:defRPr sz="3600"/>
            </a:pPr>
            <a:r>
              <a:t>Назначение: найти приватные ключи в PEM-формате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.gitignore не является защитой секретов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Файл из .gitignore можно принудительно добавить командой git add -f</a:t>
            </a:r>
          </a:p>
          <a:p>
            <a:pPr>
              <a:defRPr sz="3600"/>
            </a:pPr>
            <a:r>
              <a:t>.gitignore защищает от случайности, но не от ошибочного или намеренного действия</a:t>
            </a:r>
          </a:p>
          <a:p>
            <a:pPr>
              <a:defRPr sz="3600"/>
            </a:pPr>
            <a:r>
              <a:t>Секреты должны физически храниться вне репозитория</a:t>
            </a:r>
          </a:p>
          <a:p>
            <a:pPr>
              <a:defRPr sz="3600"/>
            </a:pPr>
            <a:r>
              <a:t>В проекте используют placeholders и .example-файлы</a:t>
            </a:r>
          </a:p>
          <a:p>
            <a:pPr>
              <a:defRPr sz="3600"/>
            </a:pPr>
            <a:r>
              <a:t>Защиту усиливают review, права доступа, secret scan и серверные проверки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Порядок действий после утечки секрета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отозвать или заменить секрет: пароль, токен, ключ или PSK</a:t>
            </a:r>
          </a:p>
          <a:p>
            <a:pPr>
              <a:defRPr sz="3600"/>
            </a:pPr>
            <a:r>
              <a:t>Определить, был ли репозиторий отправлен на Remote Repository</a:t>
            </a:r>
          </a:p>
          <a:p>
            <a:pPr>
              <a:defRPr sz="3600"/>
            </a:pPr>
            <a:r>
              <a:t>Ограничить доступ и проверить журналы использования учетных данных</a:t>
            </a:r>
          </a:p>
          <a:p>
            <a:pPr>
              <a:defRPr sz="3600"/>
            </a:pPr>
            <a:r>
              <a:t>Удалить секрет из текущих файлов и при необходимости очистить историю</a:t>
            </a:r>
          </a:p>
          <a:p>
            <a:pPr>
              <a:defRPr sz="3600"/>
            </a:pPr>
            <a:r>
              <a:t>Даже после очистки истории старый секрет нельзя считать безопасным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Файлы-примеры заменяют реальные секреты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Вместо .env хранится .env.example</a:t>
            </a:r>
          </a:p>
          <a:p>
            <a:pPr>
              <a:defRPr sz="3600"/>
            </a:pPr>
            <a:r>
              <a:t>Вместо client-credentials хранится client-credentials.example</a:t>
            </a:r>
          </a:p>
          <a:p>
            <a:pPr>
              <a:defRPr sz="3600"/>
            </a:pPr>
            <a:r>
              <a:t>Пример содержимого: VPN_USERNAME=CHANGE_ME и VPN_PASSWORD=CHANGE_ME</a:t>
            </a:r>
          </a:p>
          <a:p>
            <a:pPr>
              <a:defRPr sz="3600"/>
            </a:pPr>
            <a:r>
              <a:t>В README указывается: cp .env.example .env</a:t>
            </a:r>
          </a:p>
          <a:p>
            <a:pPr>
              <a:defRPr sz="3600"/>
            </a:pPr>
            <a:r>
              <a:t>Для локального файла с секретом указывается: chmod 600 .env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Доступ к инфраструктурному репозиторию нужно ограничивать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Нужно определить, кто может читать репозиторий</a:t>
            </a:r>
          </a:p>
          <a:p>
            <a:pPr>
              <a:defRPr sz="3600"/>
            </a:pPr>
            <a:r>
              <a:t>Нужно определить, кто может выполнять push в main</a:t>
            </a:r>
          </a:p>
          <a:p>
            <a:pPr>
              <a:defRPr sz="3600"/>
            </a:pPr>
            <a:r>
              <a:t>Для важных изменений требуется review или утверждение преподавателя</a:t>
            </a:r>
          </a:p>
          <a:p>
            <a:pPr>
              <a:defRPr sz="3600"/>
            </a:pPr>
            <a:r>
              <a:t>При увольнении сотрудника или завершении работы доступ должен отзываться</a:t>
            </a:r>
          </a:p>
          <a:p>
            <a:pPr>
              <a:defRPr sz="3600"/>
            </a:pPr>
            <a:r>
              <a:t>Локальный pre-commit hook полезен, но его можно обойти; серверный контроль надежнее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Отличие Git от backup и структура инфраструктурного репозитория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Git хранит историю текстовых артефактов инфраструктуры</a:t>
            </a:r>
          </a:p>
          <a:p>
            <a:pPr>
              <a:defRPr sz="3600"/>
            </a:pPr>
            <a:r>
              <a:t>Backup хранит данные для восстановления после аварии</a:t>
            </a:r>
          </a:p>
          <a:p>
            <a:pPr>
              <a:defRPr sz="3600"/>
            </a:pPr>
            <a:r>
              <a:t>Remote Repository помогает совместной работе, но не заменяет backup</a:t>
            </a:r>
          </a:p>
          <a:p>
            <a:pPr>
              <a:defRPr sz="3600"/>
            </a:pPr>
            <a:r>
              <a:t>Инфраструктурный репозиторий должен быть конфиденциальным техническим документом</a:t>
            </a:r>
          </a:p>
          <a:p>
            <a:pPr>
              <a:defRPr sz="3600"/>
            </a:pPr>
            <a:r>
              <a:t>PCAP, дампы, ISO, журналы и виртуальные диски обычно не хранят в Git</a:t>
            </a:r>
          </a:p>
          <a:p>
            <a:pPr>
              <a:defRPr sz="3600"/>
            </a:pPr>
            <a:r>
              <a:t>Хорошая структура репозитория ускоряет диагностику, rollback и передачу дел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Remote Repository: первый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git remote add origin ssh://git@git.example.test/linux-infrastructure.git</a:t>
            </a:r>
          </a:p>
          <a:p>
            <a:pPr>
              <a:defRPr sz="3600"/>
            </a:pPr>
            <a:r>
              <a:t>Назначение: связать локальный репозиторий с удаленным</a:t>
            </a:r>
          </a:p>
          <a:p>
            <a:pPr>
              <a:defRPr sz="3600"/>
            </a:pPr>
            <a:r>
              <a:t>Проверка адреса: git remote -v</a:t>
            </a:r>
          </a:p>
          <a:p>
            <a:pPr>
              <a:defRPr sz="3600"/>
            </a:pPr>
            <a:r>
              <a:t>Первый push: git push -u origin main</a:t>
            </a:r>
          </a:p>
          <a:p>
            <a:pPr>
              <a:defRPr sz="3600"/>
            </a:pPr>
            <a:r>
              <a:t>После -u последующие отправки можно выполнять командой git push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git fetch и git pull нужно различать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git fetch получает данные с Remote Repository, но не меняет текущую ветку автоматически</a:t>
            </a:r>
          </a:p>
          <a:p>
            <a:pPr>
              <a:defRPr sz="3600"/>
            </a:pPr>
            <a:r>
              <a:t>git pull выполняет fetch и затем интегрирует изменения через merge или rebase</a:t>
            </a:r>
          </a:p>
          <a:p>
            <a:pPr>
              <a:defRPr sz="3600"/>
            </a:pPr>
            <a:r>
              <a:t>Для новичка безопаснее: git fetch, затем просмотр истории, затем merge</a:t>
            </a:r>
          </a:p>
          <a:p>
            <a:pPr>
              <a:defRPr sz="3600"/>
            </a:pPr>
            <a:r>
              <a:t>Команда просмотра: git log --oneline --all --graph</a:t>
            </a:r>
          </a:p>
          <a:p>
            <a:pPr>
              <a:defRPr sz="3600"/>
            </a:pPr>
            <a:r>
              <a:t>Перед pull Working Tree должен быть чистым или осознанно подготовленным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Аннотированный tag отмечает принятую версию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Легкий tag допустим для быстрой отметки, но проверенную версию лучше подписывать описанием</a:t>
            </a:r>
          </a:p>
          <a:p>
            <a:pPr>
              <a:defRPr sz="3600"/>
            </a:pPr>
            <a:r>
              <a:t>Команда: git tag -a lab6-ok -m 'Lab 6 accepted'</a:t>
            </a:r>
          </a:p>
          <a:p>
            <a:pPr>
              <a:defRPr sz="3600"/>
            </a:pPr>
            <a:r>
              <a:t>Проверка: git show lab6-ok</a:t>
            </a:r>
          </a:p>
          <a:p>
            <a:pPr>
              <a:defRPr sz="3600"/>
            </a:pPr>
            <a:r>
              <a:t>Отправка конкретного tag: git push origin lab6-ok</a:t>
            </a:r>
          </a:p>
          <a:p>
            <a:pPr>
              <a:defRPr sz="3600"/>
            </a:pPr>
            <a:r>
              <a:t>Обычный git push не всегда отправляет все локальные tags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Git помогает администратору фиксировать и объяснять изменения в инфраструктуре</a:t>
            </a:r>
          </a:p>
          <a:p>
            <a:pPr>
              <a:defRPr sz="3600"/>
            </a:pPr>
            <a:r>
              <a:t>Commit сохраняет подготовленное состояние из Staging Area, а не все файлы автоматически</a:t>
            </a:r>
          </a:p>
          <a:p>
            <a:pPr>
              <a:defRPr sz="3600"/>
            </a:pPr>
            <a:r>
              <a:t>Перед commit нужны status, diff, проверка синтаксиса и осознанный выбор файлов</a:t>
            </a:r>
          </a:p>
          <a:p>
            <a:pPr>
              <a:defRPr sz="3600"/>
            </a:pPr>
            <a:r>
              <a:t>Восстановление, merge и pull требуют понимания последствий для Working Tree</a:t>
            </a:r>
          </a:p>
          <a:p>
            <a:pPr>
              <a:defRPr sz="3600"/>
            </a:pPr>
            <a:r>
              <a:t>Секреты, live-конфигурации, метаданные и backup имеют отдельные правила обработки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Working Tree отличается от Staging Area и Repository?</a:t>
            </a:r>
          </a:p>
          <a:p>
            <a:pPr>
              <a:defRPr sz="3600"/>
            </a:pPr>
            <a:r>
              <a:t>Почему git add . опасен в инфраструктурном репозитории?</a:t>
            </a:r>
          </a:p>
          <a:p>
            <a:pPr>
              <a:defRPr sz="3600"/>
            </a:pPr>
            <a:r>
              <a:t>Чем отличаются git diff, git diff --staged и git show HEAD?</a:t>
            </a:r>
          </a:p>
          <a:p>
            <a:pPr>
              <a:defRPr sz="3600"/>
            </a:pPr>
            <a:r>
              <a:t>Почему .gitignore не защищает секреты?</a:t>
            </a:r>
          </a:p>
          <a:p>
            <a:pPr>
              <a:defRPr sz="3600"/>
            </a:pPr>
            <a:r>
              <a:t>Какие действия нужно выполнить после попадания секрета в Git?</a:t>
            </a:r>
          </a:p>
          <a:p>
            <a:pPr>
              <a:defRPr sz="3600"/>
            </a:pPr>
            <a:r>
              <a:t>Почему Remote Repository нельзя считать полноценным backup сервера?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3352</Words>
  <Application>Microsoft Office PowerPoint</Application>
  <PresentationFormat>Широкоэкранный</PresentationFormat>
  <Paragraphs>343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2026-07-28T11:08:41Z</dcterms:modified>
  <cp:category/>
</cp:coreProperties>
</file>