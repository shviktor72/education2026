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9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10" r:id="rId54"/>
    <p:sldId id="307" r:id="rId55"/>
    <p:sldId id="308" r:id="rId5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4. Организация защищенных каналов: OpenVPN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назначение OpenVPN для защищенного удаленного доступа к внутренним ресурсам</a:t>
            </a:r>
          </a:p>
          <a:p>
            <a:pPr>
              <a:defRPr sz="3600"/>
            </a:pPr>
            <a:r>
              <a:t>Различать Remote Access VPN и Site-to-Site VPN по архитектуре и маршрутизации</a:t>
            </a:r>
          </a:p>
          <a:p>
            <a:pPr>
              <a:defRPr sz="3600"/>
            </a:pPr>
            <a:r>
              <a:t>Объяснять роль TUN, TAP, PKI, сертификатов, TLS и клиентского профиля</a:t>
            </a:r>
          </a:p>
          <a:p>
            <a:pPr>
              <a:defRPr sz="3600"/>
            </a:pPr>
            <a:r>
              <a:t>Настраивать маршруты, DNS, IP forwarding, NAT и firewall для VPN-доступа</a:t>
            </a:r>
          </a:p>
          <a:p>
            <a:pPr>
              <a:defRPr sz="3600"/>
            </a:pPr>
            <a:r>
              <a:t>Диагностировать подключение и блокировать клиента через отзыв сертификата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VPN, Remote Access и Site-to-Site; сравнение OpenVPN, WireGuard и IPsec</a:t>
            </a:r>
          </a:p>
          <a:p>
            <a:pPr>
              <a:defRPr sz="3600"/>
            </a:pPr>
            <a:r>
              <a:t>2. Сервер, клиент, виртуальный интерфейс и туннель; TUN и TAP</a:t>
            </a:r>
          </a:p>
          <a:p>
            <a:pPr>
              <a:defRPr sz="3600"/>
            </a:pPr>
            <a:r>
              <a:t>3. PKI: CA, серверные и клиентские сертификаты</a:t>
            </a:r>
          </a:p>
          <a:p>
            <a:pPr>
              <a:defRPr sz="3600"/>
            </a:pPr>
            <a:r>
              <a:t>4. Серверная и клиентская конфигурация; маршруты и DNS</a:t>
            </a:r>
          </a:p>
          <a:p>
            <a:pPr>
              <a:defRPr sz="3600"/>
            </a:pPr>
            <a:r>
              <a:t>5. IP forwarding, маршрутизация, NAT и firewall</a:t>
            </a:r>
          </a:p>
          <a:p>
            <a:pPr>
              <a:defRPr sz="3600"/>
            </a:pPr>
            <a:r>
              <a:t>6. Отзыв сертификата, CRL, журналы и диагностика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OpenVPN создает защищенный VPN-туннель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VPN (Virtual Private Network) - логический канал поверх другой сети</a:t>
            </a:r>
          </a:p>
          <a:p>
            <a:pPr>
              <a:defRPr sz="3600"/>
            </a:pPr>
            <a:r>
              <a:t>Не всякий туннель сам по себе дает криптографическую защиту</a:t>
            </a:r>
          </a:p>
          <a:p>
            <a:pPr>
              <a:defRPr sz="3600"/>
            </a:pPr>
            <a:r>
              <a:t>OpenVPN создает защищенный VPN-туннель: шифрует трафик, контролирует целостность и аутентифицирует стороны</a:t>
            </a:r>
          </a:p>
          <a:p>
            <a:pPr>
              <a:defRPr sz="3600"/>
            </a:pPr>
            <a:r>
              <a:t>Это отличает OpenVPN от простых туннельных технологий без шифрования</a:t>
            </a:r>
          </a:p>
          <a:p>
            <a:pPr>
              <a:defRPr sz="3600"/>
            </a:pPr>
            <a:r>
              <a:t>VPN не отменяет firewall, учет доступа и принцип минимально необходимого доступа</a:t>
            </a:r>
          </a:p>
          <a:p>
            <a:pPr>
              <a:defRPr sz="3600"/>
            </a:pPr>
            <a:r>
              <a:t>В лаборатории OpenVPN используется для доступа внешнего клиента к внутреннему web01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Remote Access и Site-to-Site решают разные задачи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Remote Access VPN подключает отдельного пользователя, ноутбук или администратора к сети организации</a:t>
            </a:r>
          </a:p>
          <a:p>
            <a:pPr>
              <a:defRPr sz="3600"/>
            </a:pPr>
            <a:r>
              <a:t>Site-to-Site VPN соединяет две сети, например головной офис и филиал</a:t>
            </a:r>
          </a:p>
          <a:p>
            <a:pPr>
              <a:defRPr sz="3600"/>
            </a:pPr>
            <a:r>
              <a:t>В Remote Access важны клиентские профили, индивидуальные сертификаты и политика доступа</a:t>
            </a:r>
          </a:p>
          <a:p>
            <a:pPr>
              <a:defRPr sz="3600"/>
            </a:pPr>
            <a:r>
              <a:t>В Site-to-Site важнее стабильная маршрутизация между подсетями</a:t>
            </a:r>
          </a:p>
          <a:p>
            <a:pPr>
              <a:defRPr sz="3600"/>
            </a:pPr>
            <a:r>
              <a:t>В этой лекции основной сценарий - Remote Access к внутреннему серверу web01</a:t>
            </a:r>
          </a:p>
          <a:p>
            <a:pPr>
              <a:defRPr sz="3600"/>
            </a:pPr>
            <a:r>
              <a:t>Site-to-Site упоминается для сравнения, но не является основным лабораторным сценарием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OpenVPN, WireGuard и IPsec выбирают под 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OpenVPN подходит для Remote Access и иногда Site-to-Site, использует TLS, сертификаты, UDP или TCP</a:t>
            </a:r>
          </a:p>
          <a:p>
            <a:pPr>
              <a:defRPr sz="3600"/>
            </a:pPr>
            <a:r>
              <a:t>WireGuard работает через публичные ключи peer-узлов и имеет простую конфигурацию</a:t>
            </a:r>
          </a:p>
          <a:p>
            <a:pPr>
              <a:defRPr sz="3600"/>
            </a:pPr>
            <a:r>
              <a:t>IPsec работает на уровне IP и широко поддерживается сетевыми устройствами</a:t>
            </a:r>
          </a:p>
          <a:p>
            <a:pPr>
              <a:defRPr sz="3600"/>
            </a:pPr>
            <a:r>
              <a:t>OpenVPN обычно использует полноценную PKI и удобен для отзыва клиентских сертификатов</a:t>
            </a:r>
          </a:p>
          <a:p>
            <a:pPr>
              <a:defRPr sz="3600"/>
            </a:pPr>
            <a:r>
              <a:t>WireGuard идентифицирует peer по public key, поэтому учет ключей особенно важен</a:t>
            </a:r>
          </a:p>
          <a:p>
            <a:pPr>
              <a:defRPr sz="3600"/>
            </a:pPr>
            <a:r>
              <a:t>IPsec часто выбирают для интеграции маршрутизаторов, firewall и корпоративных шлюзов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OpenVPN через UDP обычно предпочтительнее TCP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UDP 1194 - типичный транспорт OpenVPN для обычного VPN-доступа</a:t>
            </a:r>
          </a:p>
          <a:p>
            <a:pPr>
              <a:defRPr sz="3600"/>
            </a:pPr>
            <a:r>
              <a:t>TCP-транспорт может помочь пройти некоторые ограничения сети</a:t>
            </a:r>
          </a:p>
          <a:p>
            <a:pPr>
              <a:defRPr sz="3600"/>
            </a:pPr>
            <a:r>
              <a:t>TCP over TCP может ухудшать работу при потерях и задержках</a:t>
            </a:r>
          </a:p>
          <a:p>
            <a:pPr>
              <a:defRPr sz="3600"/>
            </a:pPr>
            <a:r>
              <a:t>При потере пакетов два уровня TCP начинают одновременно управлять повторной передачей</a:t>
            </a:r>
          </a:p>
          <a:p>
            <a:pPr>
              <a:defRPr sz="3600"/>
            </a:pPr>
            <a:r>
              <a:t>TCP для OpenVPN выбирают осознанно, а не как универсально лучший вариант</a:t>
            </a:r>
          </a:p>
          <a:p>
            <a:pPr>
              <a:defRPr sz="3600"/>
            </a:pPr>
            <a:r>
              <a:t>Для учебного стенда используем proto udp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OpenVPN строит туннель между клиентом и сервером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OpenVPN Server принимает подключения и назначает VPN-параметры клиентам</a:t>
            </a:r>
          </a:p>
          <a:p>
            <a:pPr>
              <a:defRPr sz="3600"/>
            </a:pPr>
            <a:r>
              <a:t>OpenVPN Client использует профиль подключения, сертификат и закрытый ключ</a:t>
            </a:r>
          </a:p>
          <a:p>
            <a:pPr>
              <a:defRPr sz="3600"/>
            </a:pPr>
            <a:r>
              <a:t>Tunnel - логический защищенный канал поверх IP-сети</a:t>
            </a:r>
          </a:p>
          <a:p>
            <a:pPr>
              <a:defRPr sz="3600"/>
            </a:pPr>
            <a:r>
              <a:t>После подключения на клиенте и сервере появляется виртуальный интерфейс</a:t>
            </a:r>
          </a:p>
          <a:p>
            <a:pPr>
              <a:defRPr sz="3600"/>
            </a:pPr>
            <a:r>
              <a:t>Через этот интерфейс идут пакеты к внутренним ресурсам</a:t>
            </a:r>
          </a:p>
          <a:p>
            <a:pPr>
              <a:defRPr sz="3600"/>
            </a:pPr>
            <a:r>
              <a:t>Внешний адрес клиента и VPN-адрес клиента являются разными адресами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vpn-client — vpn01 — Internal LAN — web01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ADCFE2-AF9B-F06E-9697-3CA3F3C79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Адресный план лабораторного стенда должен быть однозначным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vpn-client external: 172.16.100.50/24</a:t>
            </a:r>
          </a:p>
          <a:p>
            <a:pPr>
              <a:defRPr sz="3600"/>
            </a:pPr>
            <a:r>
              <a:t>vpn01 external enp0s3: 172.16.100.10/24</a:t>
            </a:r>
          </a:p>
          <a:p>
            <a:pPr>
              <a:defRPr sz="3600"/>
            </a:pPr>
            <a:r>
              <a:t>vpn01 internal enp0s8: 192.168.30.1/24</a:t>
            </a:r>
          </a:p>
          <a:p>
            <a:pPr>
              <a:defRPr sz="3600"/>
            </a:pPr>
            <a:r>
              <a:t>web01 internal: 192.168.30.10/24</a:t>
            </a:r>
          </a:p>
          <a:p>
            <a:pPr>
              <a:defRPr sz="3600"/>
            </a:pPr>
            <a:r>
              <a:t>OpenVPN tunnel tun0: 10.8.0.0/24</a:t>
            </a:r>
          </a:p>
          <a:p>
            <a:pPr>
              <a:defRPr sz="3600"/>
            </a:pPr>
            <a:r>
              <a:t>Корпоративные и домашние подсети клиента не должны пересекаться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Путь пакета зависит от маршрута и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 получает VPN IP, например 10.8.0.2</a:t>
            </a:r>
          </a:p>
          <a:p>
            <a:pPr>
              <a:defRPr sz="3600"/>
            </a:pPr>
            <a:r>
              <a:t>Запрос к web01 идет по туннелю: 10.8.0.2 -&gt; 192.168.30.10</a:t>
            </a:r>
          </a:p>
          <a:p>
            <a:pPr>
              <a:defRPr sz="3600"/>
            </a:pPr>
            <a:r>
              <a:t>Без NAT web01 должен иметь обратный маршрут к 10.8.0.0/24 через vpn01</a:t>
            </a:r>
          </a:p>
          <a:p>
            <a:pPr>
              <a:defRPr sz="3600"/>
            </a:pPr>
            <a:r>
              <a:t>С NAT web01 видит источник как внутренний адрес vpn01</a:t>
            </a:r>
          </a:p>
          <a:p>
            <a:pPr>
              <a:defRPr sz="3600"/>
            </a:pPr>
            <a:r>
              <a:t>Маршрутизация лучше для аудита, NAT проще для быстрого доступа</a:t>
            </a:r>
          </a:p>
          <a:p>
            <a:pPr>
              <a:defRPr sz="3600"/>
            </a:pPr>
            <a:r>
              <a:t>Лаборатория должна явно выбрать одну схему и проверять ее признаки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путь пакета через OpenVPN к внутреннему серверу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554B4D-A17F-9249-C2FD-77551D215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A7AB-29E6-8F3C-9592-AA5D270AB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C62C5-E08A-1E86-DCFD-18A2C90CBB55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путь пакета через OpenVPN к внутреннему серверу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360B0-D693-C6EB-1578-8F96B825A794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845719-6A56-374E-B86E-5C192F5DF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12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TUN и TAP работают на разных сетевых уровнях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TUN - виртуальный L3-интерфейс для маршрутизируемых IP-пакетов</a:t>
            </a:r>
          </a:p>
          <a:p>
            <a:pPr>
              <a:defRPr sz="3600"/>
            </a:pPr>
            <a:r>
              <a:t>TAP - виртуальный L2-интерфейс для Ethernet-кадров</a:t>
            </a:r>
          </a:p>
          <a:p>
            <a:pPr>
              <a:defRPr sz="3600"/>
            </a:pPr>
            <a:r>
              <a:t>TUN использует IP routing, разные подсети, push route и L3 firewall</a:t>
            </a:r>
          </a:p>
          <a:p>
            <a:pPr>
              <a:defRPr sz="3600"/>
            </a:pPr>
            <a:r>
              <a:t>TAP использует Ethernet bridging, один L2-домен, broadcast и ARP через VPN</a:t>
            </a:r>
          </a:p>
          <a:p>
            <a:pPr>
              <a:defRPr sz="3600"/>
            </a:pPr>
            <a:r>
              <a:t>Для обычного доступа к web, SSH или файловому серверу по IP достаточно TUN</a:t>
            </a:r>
          </a:p>
          <a:p>
            <a:pPr>
              <a:defRPr sz="3600"/>
            </a:pPr>
            <a:r>
              <a:t>TAP может хуже поддерживаться на некоторых современных и мобильных клиентах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Для Remote Access обычно выбирают TUN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TUN проще документировать, маршрутизировать и фильтровать</a:t>
            </a:r>
          </a:p>
          <a:p>
            <a:pPr>
              <a:defRPr sz="3600"/>
            </a:pPr>
            <a:r>
              <a:t>Клиент получает адрес из отдельной VPN-подсети, например 10.8.0.0/24</a:t>
            </a:r>
          </a:p>
          <a:p>
            <a:pPr>
              <a:defRPr sz="3600"/>
            </a:pPr>
            <a:r>
              <a:t>Администратор явно задает, какие внутренние сети доступны через VPN</a:t>
            </a:r>
          </a:p>
          <a:p>
            <a:pPr>
              <a:defRPr sz="3600"/>
            </a:pPr>
            <a:r>
              <a:t>Firewall может разрешить только нужные сервисы, например HTTPS к web01</a:t>
            </a:r>
          </a:p>
          <a:p>
            <a:pPr>
              <a:defRPr sz="3600"/>
            </a:pPr>
            <a:r>
              <a:t>TAP не нужен только ради доступа к серверу по IP</a:t>
            </a:r>
          </a:p>
          <a:p>
            <a:pPr>
              <a:defRPr sz="3600"/>
            </a:pPr>
            <a:r>
              <a:t>В учебной лаборатории dev tun уменьшает количество L2-побочных эффектов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PKI подтверждает подлинность сервера и клиентов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PKI (Public Key Infrastructure) - инфраструктура открытых ключей и сертификатов</a:t>
            </a:r>
          </a:p>
          <a:p>
            <a:pPr>
              <a:defRPr sz="3600"/>
            </a:pPr>
            <a:r>
              <a:t>CA (Certificate Authority) - центр сертификации, который подписывает сертификаты</a:t>
            </a:r>
          </a:p>
          <a:p>
            <a:pPr>
              <a:defRPr sz="3600"/>
            </a:pPr>
            <a:r>
              <a:t>Серверный сертификат подтверждает клиенту, что он подключается к правильному VPN-серверу</a:t>
            </a:r>
          </a:p>
          <a:p>
            <a:pPr>
              <a:defRPr sz="3600"/>
            </a:pPr>
            <a:r>
              <a:t>Клиентский сертификат подтверждает серверу личность клиента</a:t>
            </a:r>
          </a:p>
          <a:p>
            <a:pPr>
              <a:defRPr sz="3600"/>
            </a:pPr>
            <a:r>
              <a:t>CSR (Certificate Signing Request) - запрос на выпуск сертификата</a:t>
            </a:r>
          </a:p>
          <a:p>
            <a:pPr>
              <a:defRPr sz="3600"/>
            </a:pPr>
            <a:r>
              <a:t>Компрометация CA опасна, потому что доверие к CA используют все участники VPN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Сертификаты должны использоваться по назначению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Extended Key Usage - расширение сертификата, указывающее допустимое назначение ключа</a:t>
            </a:r>
          </a:p>
          <a:p>
            <a:pPr>
              <a:defRPr sz="3600"/>
            </a:pPr>
            <a:r>
              <a:t>Серверный сертификат обычно имеет назначение serverAuth</a:t>
            </a:r>
          </a:p>
          <a:p>
            <a:pPr>
              <a:defRPr sz="3600"/>
            </a:pPr>
            <a:r>
              <a:t>Клиентский сертификат обычно имеет назначение clientAuth</a:t>
            </a:r>
          </a:p>
          <a:p>
            <a:pPr>
              <a:defRPr sz="3600"/>
            </a:pPr>
            <a:r>
              <a:t>На сервере директива remote-cert-tls client проверяет клиентское назначение сертификата</a:t>
            </a:r>
          </a:p>
          <a:p>
            <a:pPr>
              <a:defRPr sz="3600"/>
            </a:pPr>
            <a:r>
              <a:t>На клиенте директива remote-cert-tls server проверяет серверное назначение сертификата</a:t>
            </a:r>
          </a:p>
          <a:p>
            <a:pPr>
              <a:defRPr sz="3600"/>
            </a:pPr>
            <a:r>
              <a:t>Без такой проверки сертификат той же CA может быть применен не по своему назначению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Закрытый ключ CA лучше не хранить на VPN-сервере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VPN-серверу нужен CA certificate для проверки подписей клиентов</a:t>
            </a:r>
          </a:p>
          <a:p>
            <a:pPr>
              <a:defRPr sz="3600"/>
            </a:pPr>
            <a:r>
              <a:t>VPN-серверу обычно не нужен CA private key для ежедневной работы</a:t>
            </a:r>
          </a:p>
          <a:p>
            <a:pPr>
              <a:defRPr sz="3600"/>
            </a:pPr>
            <a:r>
              <a:t>На vpn01 хранят CA certificate, server certificate, server private key, CRL и tls-crypt key</a:t>
            </a:r>
          </a:p>
          <a:p>
            <a:pPr>
              <a:defRPr sz="3600"/>
            </a:pPr>
            <a:r>
              <a:t>Закрытый ключ CA желательно держать отдельно на защищенной машине выпуска сертификатов</a:t>
            </a:r>
          </a:p>
          <a:p>
            <a:pPr>
              <a:defRPr sz="3600"/>
            </a:pPr>
            <a:r>
              <a:t>Если vpn01 будет взломан, отдельное хранение CA затруднит выпуск новых доверенных сертификатов</a:t>
            </a:r>
          </a:p>
          <a:p>
            <a:pPr>
              <a:defRPr sz="3600"/>
            </a:pPr>
            <a:r>
              <a:t>Это снижает последствия компрометации VPN-шлюза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Закрытые ключи нужно защищать правами и процессом выдачи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Private Key - закрытый ключ, который должен храниться только у владельца</a:t>
            </a:r>
          </a:p>
          <a:p>
            <a:pPr>
              <a:defRPr sz="3600"/>
            </a:pPr>
            <a:r>
              <a:t>Пример защиты серверного ключа: sudo chown root:root /etc/openvpn/server/server.key</a:t>
            </a:r>
          </a:p>
          <a:p>
            <a:pPr>
              <a:defRPr sz="3600"/>
            </a:pPr>
            <a:r>
              <a:t>Пример прав: sudo chmod 600 /etc/openvpn/server/server.key</a:t>
            </a:r>
          </a:p>
          <a:p>
            <a:pPr>
              <a:defRPr sz="3600"/>
            </a:pPr>
            <a:r>
              <a:t>Клиентские private key нельзя отправлять обычной почтой или хранить в общей папке</a:t>
            </a:r>
          </a:p>
          <a:p>
            <a:pPr>
              <a:defRPr sz="3600"/>
            </a:pPr>
            <a:r>
              <a:t>Ключи не должны попадать в Git, публичный отчет или учебный скриншот</a:t>
            </a:r>
          </a:p>
          <a:p>
            <a:pPr>
              <a:defRPr sz="3600"/>
            </a:pPr>
            <a:r>
              <a:t>Каждому пользователю или устройству нужен отдельный сертификат и отдельный private key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Уникальный сертификат клиента упрощает отзыв и аудит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Один общий профиль для всех сотрудников нельзя считать нормальной эксплуатационной практикой</a:t>
            </a:r>
          </a:p>
          <a:p>
            <a:pPr>
              <a:defRPr sz="3600"/>
            </a:pPr>
            <a:r>
              <a:t>Уникальный Common Name помогает понимать, кто подключался</a:t>
            </a:r>
          </a:p>
          <a:p>
            <a:pPr>
              <a:defRPr sz="3600"/>
            </a:pPr>
            <a:r>
              <a:t>Индивидуальный сертификат можно отозвать без влияния на остальных пользователей</a:t>
            </a:r>
          </a:p>
          <a:p>
            <a:pPr>
              <a:defRPr sz="3600"/>
            </a:pPr>
            <a:r>
              <a:t>Отдельные сертификаты позволяют создавать разные правила доступа</a:t>
            </a:r>
          </a:p>
          <a:p>
            <a:pPr>
              <a:defRPr sz="3600"/>
            </a:pPr>
            <a:r>
              <a:t>При компрометации одного ноутбука не нужно менять credential у всех клиентов</a:t>
            </a:r>
          </a:p>
          <a:p>
            <a:pPr>
              <a:defRPr sz="3600"/>
            </a:pPr>
            <a:r>
              <a:t>Директиву duplicate-cn обычно не включают без специальной причины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tls-auth и tls-crypt защищают управляющий канал по-разному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tls-auth добавляет HMAC-проверку управляющих пакетов OpenVPN</a:t>
            </a:r>
          </a:p>
          <a:p>
            <a:pPr>
              <a:defRPr sz="3600"/>
            </a:pPr>
            <a:r>
              <a:t>tls-crypt дополнительно шифрует и аутентифицирует управляющий канал</a:t>
            </a:r>
          </a:p>
          <a:p>
            <a:pPr>
              <a:defRPr sz="3600"/>
            </a:pPr>
            <a:r>
              <a:t>Оба механизма помогают отбрасывать посторонние пакеты до дорогой TLS-обработки</a:t>
            </a:r>
          </a:p>
          <a:p>
            <a:pPr>
              <a:defRPr sz="3600"/>
            </a:pPr>
            <a:r>
              <a:t>Они не заменяют сертификаты, TLS и шифрование data channel</a:t>
            </a:r>
          </a:p>
          <a:p>
            <a:pPr>
              <a:defRPr sz="3600"/>
            </a:pPr>
            <a:r>
              <a:t>Для новой лаборатории логично использовать tls-crypt ta.key, если версия OpenVPN это поддерживает</a:t>
            </a:r>
          </a:p>
          <a:p>
            <a:pPr>
              <a:defRPr sz="3600"/>
            </a:pPr>
            <a:r>
              <a:t>При tls-auth обычно указывают направление: server 0, client 1; у tls-crypt направление обычно не требуется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server.conf начинается с транспорта и TUN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port 1194 - слушать стандартный учебный порт OpenVPN</a:t>
            </a:r>
          </a:p>
          <a:p>
            <a:pPr>
              <a:defRPr sz="3600"/>
            </a:pPr>
            <a:r>
              <a:t>proto udp - использовать UDP как транспорт</a:t>
            </a:r>
          </a:p>
          <a:p>
            <a:pPr>
              <a:defRPr sz="3600"/>
            </a:pPr>
            <a:r>
              <a:t>dev tun - создать маршрутизируемый TUN-интерфейс</a:t>
            </a:r>
          </a:p>
          <a:p>
            <a:pPr>
              <a:defRPr sz="3600"/>
            </a:pPr>
            <a:r>
              <a:t>server 10.8.0.0 255.255.255.0 - shortcut для VPN-подсети и адресов клиентов</a:t>
            </a:r>
          </a:p>
          <a:p>
            <a:pPr>
              <a:defRPr sz="3600"/>
            </a:pPr>
            <a:r>
              <a:t>topology subnet - использовать понятную адресацию клиентов в одной VPN-подсети</a:t>
            </a:r>
          </a:p>
          <a:p>
            <a:pPr>
              <a:defRPr sz="3600"/>
            </a:pPr>
            <a:r>
              <a:t>keepalive 10 120 - проверять живость клиента и соединения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server.conf должен ссылаться на PKI-файлы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ca /etc/openvpn/server/pki/ca.crt - доверенный CA certificate</a:t>
            </a:r>
          </a:p>
          <a:p>
            <a:pPr>
              <a:defRPr sz="3600"/>
            </a:pPr>
            <a:r>
              <a:t>cert /etc/openvpn/server/pki/issued/vpn01.crt - сертификат VPN-сервера</a:t>
            </a:r>
          </a:p>
          <a:p>
            <a:pPr>
              <a:defRPr sz="3600"/>
            </a:pPr>
            <a:r>
              <a:t>key /etc/openvpn/server/pki/private/vpn01.key - закрытый ключ VPN-сервера</a:t>
            </a:r>
          </a:p>
          <a:p>
            <a:pPr>
              <a:defRPr sz="3600"/>
            </a:pPr>
            <a:r>
              <a:t>dh none - для современной elliptic curve-конфигурации без отдельного DH-файла</a:t>
            </a:r>
          </a:p>
          <a:p>
            <a:pPr>
              <a:defRPr sz="3600"/>
            </a:pPr>
            <a:r>
              <a:t>ecdh-curve prime256v1 - пример эллиптической кривой для TLS</a:t>
            </a:r>
          </a:p>
          <a:p>
            <a:pPr>
              <a:defRPr sz="3600"/>
            </a:pPr>
            <a:r>
              <a:t>tls-crypt /etc/openvpn/server/ta.key - защита управляющего канала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server.conf задает маршруты, DNS и эксплуатационные параметры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remote-cert-tls client - проверять клиентское назначение сертификата</a:t>
            </a:r>
          </a:p>
          <a:p>
            <a:pPr>
              <a:defRPr sz="3600"/>
            </a:pPr>
            <a:r>
              <a:t>push "route 192.168.30.0 255.255.255.0" - передать клиенту маршрут к Internal LAN</a:t>
            </a:r>
          </a:p>
          <a:p>
            <a:pPr>
              <a:defRPr sz="3600"/>
            </a:pPr>
            <a:r>
              <a:t>push "dhcp-option DNS 192.168.30.53" - передать клиенту внутренний DNS-сервер</a:t>
            </a:r>
          </a:p>
          <a:p>
            <a:pPr>
              <a:defRPr sz="3600"/>
            </a:pPr>
            <a:r>
              <a:t>persist-key и persist-tun - сохранять ключи и TUN-интерфейс при reconnect</a:t>
            </a:r>
          </a:p>
          <a:p>
            <a:pPr>
              <a:defRPr sz="3600"/>
            </a:pPr>
            <a:r>
              <a:t>user nobody и group nogroup - снижать привилегии процесса после запуска</a:t>
            </a:r>
          </a:p>
          <a:p>
            <a:pPr>
              <a:defRPr sz="3600"/>
            </a:pPr>
            <a:r>
              <a:t>verb 3 - умеренный уровень подробности журнала для лаборатории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server 10.8.0.0 255.255.255.0 не просто задает пул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Директива server является shortcut для набора внутренних настроек OpenVPN</a:t>
            </a:r>
          </a:p>
          <a:p>
            <a:pPr>
              <a:defRPr sz="3600"/>
            </a:pPr>
            <a:r>
              <a:t>Она задает VPN-подсеть и адреса клиентов</a:t>
            </a:r>
          </a:p>
          <a:p>
            <a:pPr>
              <a:defRPr sz="3600"/>
            </a:pPr>
            <a:r>
              <a:t>Она формирует серверную сторону туннеля и связанные маршруты</a:t>
            </a:r>
          </a:p>
          <a:p>
            <a:pPr>
              <a:defRPr sz="3600"/>
            </a:pPr>
            <a:r>
              <a:t>Поведение адресации зависит от topology subnet или старой topology net30</a:t>
            </a:r>
          </a:p>
          <a:p>
            <a:pPr>
              <a:defRPr sz="3600"/>
            </a:pPr>
            <a:r>
              <a:t>Для лаборатории topology subnet проще: клиенты получают обычные адреса из 10.8.0.0/24</a:t>
            </a:r>
          </a:p>
          <a:p>
            <a:pPr>
              <a:defRPr sz="3600"/>
            </a:pPr>
            <a:r>
              <a:t>Если топология не совпадает с объяснением, студент неправильно прочитает маршруты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Криптографические директивы зависят от версии OpenVPN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старых примерах часто встречаются cipher AES-256-CBC и auth SHA256</a:t>
            </a:r>
          </a:p>
          <a:p>
            <a:pPr>
              <a:defRPr sz="3600"/>
            </a:pPr>
            <a:r>
              <a:t>В современных версиях OpenVPN используется согласование data-ciphers</a:t>
            </a:r>
          </a:p>
          <a:p>
            <a:pPr>
              <a:defRPr sz="3600"/>
            </a:pPr>
            <a:r>
              <a:t>Пример: data-ciphers AES-256-GCM:AES-128-GCM:CHACHA20-POLY1305</a:t>
            </a:r>
          </a:p>
          <a:p>
            <a:pPr>
              <a:defRPr sz="3600"/>
            </a:pPr>
            <a:r>
              <a:t>Для совместимости иногда добавляют data-ciphers-fallback AES-256-CBC</a:t>
            </a:r>
          </a:p>
          <a:p>
            <a:pPr>
              <a:defRPr sz="3600"/>
            </a:pPr>
            <a:r>
              <a:t>Нельзя механически копировать старую конфигурацию без проверки версии и журналов</a:t>
            </a:r>
          </a:p>
          <a:p>
            <a:pPr>
              <a:defRPr sz="3600"/>
            </a:pPr>
            <a:r>
              <a:t>Перед лабораторией нужно проверить синтаксис на установленной версии OpenVPN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Клиентский .ovpn-профиль содержит адрес сервера и материалы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client - режим клиента</a:t>
            </a:r>
          </a:p>
          <a:p>
            <a:pPr>
              <a:defRPr sz="3600"/>
            </a:pPr>
            <a:r>
              <a:t>dev tun и proto udp должны соответствовать серверу</a:t>
            </a:r>
          </a:p>
          <a:p>
            <a:pPr>
              <a:defRPr sz="3600"/>
            </a:pPr>
            <a:r>
              <a:t>remote vpn.example.test 1194 - имя или адрес VPN-сервера до подключения туннеля</a:t>
            </a:r>
          </a:p>
          <a:p>
            <a:pPr>
              <a:defRPr sz="3600"/>
            </a:pPr>
            <a:r>
              <a:t>resolv-retry infinite и nobind удобны для roaming-клиента</a:t>
            </a:r>
          </a:p>
          <a:p>
            <a:pPr>
              <a:defRPr sz="3600"/>
            </a:pPr>
            <a:r>
              <a:t>persist-key и persist-tun сохраняют состояние при reconnect</a:t>
            </a:r>
          </a:p>
          <a:p>
            <a:pPr>
              <a:defRPr sz="3600"/>
            </a:pPr>
            <a:r>
              <a:t>remote-cert-tls server проверяет, что клиент подключается к серверному сертификату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.ovpn может ссылаться на отдельные файлы сертификатов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ca ca.crt - доверенный CA certificate</a:t>
            </a:r>
          </a:p>
          <a:p>
            <a:pPr>
              <a:defRPr sz="3600"/>
            </a:pPr>
            <a:r>
              <a:t>cert client01.crt - сертификат клиента client01</a:t>
            </a:r>
          </a:p>
          <a:p>
            <a:pPr>
              <a:defRPr sz="3600"/>
            </a:pPr>
            <a:r>
              <a:t>key client01.key - закрытый ключ клиента</a:t>
            </a:r>
          </a:p>
          <a:p>
            <a:pPr>
              <a:defRPr sz="3600"/>
            </a:pPr>
            <a:r>
              <a:t>tls-crypt ta.key - общий ключ защиты управляющего канала</a:t>
            </a:r>
          </a:p>
          <a:p>
            <a:pPr>
              <a:defRPr sz="3600"/>
            </a:pPr>
            <a:r>
              <a:t>verb 3 - умеренный уровень подробности журнала клиента</a:t>
            </a:r>
          </a:p>
          <a:p>
            <a:pPr>
              <a:defRPr sz="3600"/>
            </a:pPr>
            <a:r>
              <a:t>Все эти файлы должны быть переданы клиенту защищенным способом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Встроенный .ovpn-профиль содержит credential внутри одного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Встроенный профиль может содержать блоки &lt;ca&gt;, &lt;cert&gt;, &lt;key&gt; и &lt;tls-crypt&gt;</a:t>
            </a:r>
          </a:p>
          <a:p>
            <a:pPr>
              <a:defRPr sz="3600"/>
            </a:pPr>
            <a:r>
              <a:t>Такой файл удобен для импорта в клиентское приложение</a:t>
            </a:r>
          </a:p>
          <a:p>
            <a:pPr>
              <a:defRPr sz="3600"/>
            </a:pPr>
            <a:r>
              <a:t>Но внутри находится client private key</a:t>
            </a:r>
          </a:p>
          <a:p>
            <a:pPr>
              <a:defRPr sz="3600"/>
            </a:pPr>
            <a:r>
              <a:t>Файл .ovpn нужно защищать как полноценный credential</a:t>
            </a:r>
          </a:p>
          <a:p>
            <a:pPr>
              <a:defRPr sz="3600"/>
            </a:pPr>
            <a:r>
              <a:t>Нельзя прикладывать полный .ovpn с ключом в отчет или общий чат</a:t>
            </a:r>
          </a:p>
          <a:p>
            <a:pPr>
              <a:defRPr sz="3600"/>
            </a:pPr>
            <a:r>
              <a:t>При компрометации профиля сертификат client01 нужно отозвать и выпустить новый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Имя VPN-сервера должно разрешаться до подключения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remote vpn.example.test 1194 используется до появления туннеля</a:t>
            </a:r>
          </a:p>
          <a:p>
            <a:pPr>
              <a:defRPr sz="3600"/>
            </a:pPr>
            <a:r>
              <a:t>Клиент должен разрешить это имя через публичный DNS, внешний лабораторный DNS или hosts</a:t>
            </a:r>
          </a:p>
          <a:p>
            <a:pPr>
              <a:defRPr sz="3600"/>
            </a:pPr>
            <a:r>
              <a:t>Внутренний DNS, передаваемый через VPN, не поможет найти VPN-сервер до подключения</a:t>
            </a:r>
          </a:p>
          <a:p>
            <a:pPr>
              <a:defRPr sz="3600"/>
            </a:pPr>
            <a:r>
              <a:t>Для лаборатории можно использовать прямой внешний IP vpn01</a:t>
            </a:r>
          </a:p>
          <a:p>
            <a:pPr>
              <a:defRPr sz="3600"/>
            </a:pPr>
            <a:r>
              <a:t>Проверка до подключения: getent hosts vpn.example.test</a:t>
            </a:r>
          </a:p>
          <a:p>
            <a:pPr>
              <a:defRPr sz="3600"/>
            </a:pPr>
            <a:r>
              <a:t>Если имя VPN-сервера не разрешается, OpenVPN даже не дойдет до TLS-переговоров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DNS Push зависит от клиентской ОС и приложения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Сервер может передать DNS через push "dhcp-option DNS 192.168.30.53"</a:t>
            </a:r>
          </a:p>
          <a:p>
            <a:pPr>
              <a:defRPr sz="3600"/>
            </a:pPr>
            <a:r>
              <a:t>Windows OpenVPN Client обычно умеет применять DNS-настройки</a:t>
            </a:r>
          </a:p>
          <a:p>
            <a:pPr>
              <a:defRPr sz="3600"/>
            </a:pPr>
            <a:r>
              <a:t>Linux-клиенту может потребоваться интеграция с systemd-resolved, NetworkManager или update-resolv-conf</a:t>
            </a:r>
          </a:p>
          <a:p>
            <a:pPr>
              <a:defRPr sz="3600"/>
            </a:pPr>
            <a:r>
              <a:t>На мобильных клиентах DNS применяется через собственный VPN API</a:t>
            </a:r>
          </a:p>
          <a:p>
            <a:pPr>
              <a:defRPr sz="3600"/>
            </a:pPr>
            <a:r>
              <a:t>Проверка Linux: getent hosts web01.example.test и resolvectl status</a:t>
            </a:r>
          </a:p>
          <a:p>
            <a:pPr>
              <a:defRPr sz="3600"/>
            </a:pPr>
            <a:r>
              <a:t>Если IP работает, а имя нет, проблема может быть не в туннеле, а в применении DNS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Split Tunnel и Full Tunnel направляют разный трафик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Split Tunnel направляет через VPN только корпоративные сети</a:t>
            </a:r>
          </a:p>
          <a:p>
            <a:pPr>
              <a:defRPr sz="3600"/>
            </a:pPr>
            <a:r>
              <a:t>Пример split: push "route 192.168.30.0 255.255.255.0"</a:t>
            </a:r>
          </a:p>
          <a:p>
            <a:pPr>
              <a:defRPr sz="3600"/>
            </a:pPr>
            <a:r>
              <a:t>Full Tunnel направляет почти весь IPv4-трафик клиента через VPN</a:t>
            </a:r>
          </a:p>
          <a:p>
            <a:pPr>
              <a:defRPr sz="3600"/>
            </a:pPr>
            <a:r>
              <a:t>Пример full: push "redirect-gateway def1"</a:t>
            </a:r>
          </a:p>
          <a:p>
            <a:pPr>
              <a:defRPr sz="3600"/>
            </a:pPr>
            <a:r>
              <a:t>Split Tunnel снижает нагрузку, но Интернет клиента не контролируется VPN-шлюзом</a:t>
            </a:r>
          </a:p>
          <a:p>
            <a:pPr>
              <a:defRPr sz="3600"/>
            </a:pPr>
            <a:r>
              <a:t>Full Tunnel дает централизованный контроль, но требует NAT в Интернет и большей пропускной способности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IP Forwarding включает пересылку между интерфейсами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forwarding - режим, при котором Linux пересылает пакеты между интерфейсами</a:t>
            </a:r>
          </a:p>
          <a:p>
            <a:pPr>
              <a:defRPr sz="3600"/>
            </a:pPr>
            <a:r>
              <a:t>Без forwarding vpn01 не будет маршрутизировать трафик клиента к Internal LAN</a:t>
            </a:r>
          </a:p>
          <a:p>
            <a:pPr>
              <a:defRPr sz="3600"/>
            </a:pPr>
            <a:r>
              <a:t>Временная проверка: sysctl net.ipv4.ip_forward</a:t>
            </a:r>
          </a:p>
          <a:p>
            <a:pPr>
              <a:defRPr sz="3600"/>
            </a:pPr>
            <a:r>
              <a:t>Временное включение: sudo sysctl -w net.ipv4.ip_forward=1</a:t>
            </a:r>
          </a:p>
          <a:p>
            <a:pPr>
              <a:defRPr sz="3600"/>
            </a:pPr>
            <a:r>
              <a:t>Постоянно лучше настраивать отдельным файлом в /etc/sysctl.d</a:t>
            </a:r>
          </a:p>
          <a:p>
            <a:pPr>
              <a:defRPr sz="3600"/>
            </a:pPr>
            <a:r>
              <a:t>После включения проверяют значение net.ipv4.ip_forward = 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Постоянный forwarding лучше документировать отдельным sysctl-файлом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echo 'net.ipv4.ip_forward=1' | sudo tee /etc/sysctl.d/99-openvpn-forward.conf создает отдельный файл настройки</a:t>
            </a:r>
          </a:p>
          <a:p>
            <a:pPr>
              <a:defRPr sz="3600"/>
            </a:pPr>
            <a:r>
              <a:t>Команда sudo sysctl --system применяет настройки из sysctl.d</a:t>
            </a:r>
          </a:p>
          <a:p>
            <a:pPr>
              <a:defRPr sz="3600"/>
            </a:pPr>
            <a:r>
              <a:t>Команда sysctl net.ipv4.ip_forward проверяет результат</a:t>
            </a:r>
          </a:p>
          <a:p>
            <a:pPr>
              <a:defRPr sz="3600"/>
            </a:pPr>
            <a:r>
              <a:t>Ожидаемый вывод: net.ipv4.ip_forward = 1</a:t>
            </a:r>
          </a:p>
          <a:p>
            <a:pPr>
              <a:defRPr sz="3600"/>
            </a:pPr>
            <a:r>
              <a:t>Отдельный файл лучше показывает, что forwarding включен именно для OpenVPN</a:t>
            </a:r>
          </a:p>
          <a:p>
            <a:pPr>
              <a:defRPr sz="3600"/>
            </a:pPr>
            <a:r>
              <a:t>Редактирование /etc/sysctl.conf допустимо, но хуже документирует назначение изменения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Корпоративный вариант предпочитает маршрутизацию без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Internal gateway должен знать маршрут: 10.8.0.0/24 via 192.168.30.1</a:t>
            </a:r>
          </a:p>
          <a:p>
            <a:pPr>
              <a:defRPr sz="3600"/>
            </a:pPr>
            <a:r>
              <a:t>Если web01 использует этот gateway по умолчанию, достаточно маршрута на шлюзе Internal LAN</a:t>
            </a:r>
          </a:p>
          <a:p>
            <a:pPr>
              <a:defRPr sz="3600"/>
            </a:pPr>
            <a:r>
              <a:t>web01 будет видеть реальный VPN IP клиента, например 10.8.0.2</a:t>
            </a:r>
          </a:p>
          <a:p>
            <a:pPr>
              <a:defRPr sz="3600"/>
            </a:pPr>
            <a:r>
              <a:t>Это упрощает аудит, журналирование и фильтрацию клиентов по адресу</a:t>
            </a:r>
          </a:p>
          <a:p>
            <a:pPr>
              <a:defRPr sz="3600"/>
            </a:pPr>
            <a:r>
              <a:t>Проверка обратного пути выполняется на внутреннем gateway или web01</a:t>
            </a:r>
          </a:p>
          <a:p>
            <a:pPr>
              <a:defRPr sz="3600"/>
            </a:pPr>
            <a:r>
              <a:t>Если обратного маршрута нет, запрос до web01 дойдет, а ответ не вернется клиенту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NAT является альтернативой обратному маршруту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NAT (Network Address Translation) изменяет адрес источника или назначения пакета</a:t>
            </a:r>
          </a:p>
          <a:p>
            <a:pPr>
              <a:defRPr sz="3600"/>
            </a:pPr>
            <a:r>
              <a:t>Masquerade на vpn01 скрывает VPN-клиента за внутренним адресом vpn01</a:t>
            </a:r>
          </a:p>
          <a:p>
            <a:pPr>
              <a:defRPr sz="3600"/>
            </a:pPr>
            <a:r>
              <a:t>Плюс NAT: не нужен маршрут 10.8.0.0/24 на внутренних серверах</a:t>
            </a:r>
          </a:p>
          <a:p>
            <a:pPr>
              <a:defRPr sz="3600"/>
            </a:pPr>
            <a:r>
              <a:t>Минус NAT: web01 видит vpn01, а не реальный адрес клиента 10.8.0.x</a:t>
            </a:r>
          </a:p>
          <a:p>
            <a:pPr>
              <a:defRPr sz="3600"/>
            </a:pPr>
            <a:r>
              <a:t>Для аудита и точных правил доступа маршрутизация обычно лучше NAT</a:t>
            </a:r>
          </a:p>
          <a:p>
            <a:pPr>
              <a:defRPr sz="3600"/>
            </a:pPr>
            <a:r>
              <a:t>В учебной лекции NAT показывается как альтернатива, а не единственно правильное решение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nftables Masquerade нужно ограничивать нужными сетями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Пример таблицы: table ip nat</a:t>
            </a:r>
          </a:p>
          <a:p>
            <a:pPr>
              <a:defRPr sz="3600"/>
            </a:pPr>
            <a:r>
              <a:t>Пример chain: chain postrouting { type nat hook postrouting priority srcnat; }</a:t>
            </a:r>
          </a:p>
          <a:p>
            <a:pPr>
              <a:defRPr sz="3600"/>
            </a:pPr>
            <a:r>
              <a:t>Правило: oifname "enp0s8" ip saddr 10.8.0.0/24 ip daddr 192.168.30.0/24 masquerade</a:t>
            </a:r>
          </a:p>
          <a:p>
            <a:pPr>
              <a:defRPr sz="3600"/>
            </a:pPr>
            <a:r>
              <a:t>enp0s8 - интерфейс vpn01 в Internal LAN</a:t>
            </a:r>
          </a:p>
          <a:p>
            <a:pPr>
              <a:defRPr sz="3600"/>
            </a:pPr>
            <a:r>
              <a:t>Ограничение ip daddr 192.168.30.0/24 не дает применить masquerade шире лабораторной задачи</a:t>
            </a:r>
          </a:p>
          <a:p>
            <a:pPr>
              <a:defRPr sz="3600"/>
            </a:pPr>
            <a:r>
              <a:t>Имена интерфейсов и адреса нужно адаптировать к реальному стенду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Firewall нужно разделять на Input и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Input - трафик к самому VPN-серверу vpn01</a:t>
            </a:r>
          </a:p>
          <a:p>
            <a:pPr>
              <a:defRPr sz="3600"/>
            </a:pPr>
            <a:r>
              <a:t>Forward - трафик через vpn01 между VPN-клиентом и Internal LAN</a:t>
            </a:r>
          </a:p>
          <a:p>
            <a:pPr>
              <a:defRPr sz="3600"/>
            </a:pPr>
            <a:r>
              <a:t>Разрешение UDP 1194 в Input не разрешает клиенту доступ к web01</a:t>
            </a:r>
          </a:p>
          <a:p>
            <a:pPr>
              <a:defRPr sz="3600"/>
            </a:pPr>
            <a:r>
              <a:t>Для web01 нужны отдельные forward rules</a:t>
            </a:r>
          </a:p>
          <a:p>
            <a:pPr>
              <a:defRPr sz="3600"/>
            </a:pPr>
            <a:r>
              <a:t>Минимальная политика должна разрешать только нужные сервисы</a:t>
            </a:r>
          </a:p>
          <a:p>
            <a:pPr>
              <a:defRPr sz="3600"/>
            </a:pPr>
            <a:r>
              <a:t>После настройки проверяют разрешенный и запрещенный сценарии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nftables Input открывает OpenVPN, но не всю сеть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Базовая идея input chain: policy drop</a:t>
            </a:r>
          </a:p>
          <a:p>
            <a:pPr>
              <a:defRPr sz="3600"/>
            </a:pPr>
            <a:r>
              <a:t>Правило ct state established,related accept пропускает ответы на уже разрешенные соединения</a:t>
            </a:r>
          </a:p>
          <a:p>
            <a:pPr>
              <a:defRPr sz="3600"/>
            </a:pPr>
            <a:r>
              <a:t>Правило iifname "lo" accept разрешает loopback</a:t>
            </a:r>
          </a:p>
          <a:p>
            <a:pPr>
              <a:defRPr sz="3600"/>
            </a:pPr>
            <a:r>
              <a:t>Правило iifname "enp0s3" udp dport 1194 accept открывает OpenVPN на внешнем интерфейсе</a:t>
            </a:r>
          </a:p>
          <a:p>
            <a:pPr>
              <a:defRPr sz="3600"/>
            </a:pPr>
            <a:r>
              <a:t>ICMP можно разрешить отдельно для диагностики</a:t>
            </a:r>
          </a:p>
          <a:p>
            <a:pPr>
              <a:defRPr sz="3600"/>
            </a:pPr>
            <a:r>
              <a:t>Этот набор не дает VPN-клиенту права ходить во внутреннюю сеть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nftables Forward разрешает только нужный доступ к web01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Forward chain также может иметь policy drop</a:t>
            </a:r>
          </a:p>
          <a:p>
            <a:pPr>
              <a:defRPr sz="3600"/>
            </a:pPr>
            <a:r>
              <a:t>ct state established,related accept пропускает возвратный трафик разрешенных соединений</a:t>
            </a:r>
          </a:p>
          <a:p>
            <a:pPr>
              <a:defRPr sz="3600"/>
            </a:pPr>
            <a:r>
              <a:t>Правило iifname "tun0" oifname "enp0s8" ip saddr 10.8.0.0/24 ip daddr 192.168.30.10 tcp dport 443 accept разрешает HTTPS к web01</a:t>
            </a:r>
          </a:p>
          <a:p>
            <a:pPr>
              <a:defRPr sz="3600"/>
            </a:pPr>
            <a:r>
              <a:t>SSH к web01 останется запрещенным, если нет отдельного правила tcp dport 22</a:t>
            </a:r>
          </a:p>
          <a:p>
            <a:pPr>
              <a:defRPr sz="3600"/>
            </a:pPr>
            <a:r>
              <a:t>Stateful firewall избавляет от ручного описания временных обратных портов</a:t>
            </a:r>
          </a:p>
          <a:p>
            <a:pPr>
              <a:defRPr sz="3600"/>
            </a:pPr>
            <a:r>
              <a:t>Это связывает тему VPN с принципом минимального доступа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Перед настройкой firewall нужно понять, кто им управляет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Linux могут одновременно присутствовать nftables, UFW, firewalld и iptables-nft</a:t>
            </a:r>
          </a:p>
          <a:p>
            <a:pPr>
              <a:defRPr sz="3600"/>
            </a:pPr>
            <a:r>
              <a:t>Docker и OpenVPN-скрипты тоже могут добавлять свои правила</a:t>
            </a:r>
          </a:p>
          <a:p>
            <a:pPr>
              <a:defRPr sz="3600"/>
            </a:pPr>
            <a:r>
              <a:t>Проверка nftables: sudo nft list ruleset</a:t>
            </a:r>
          </a:p>
          <a:p>
            <a:pPr>
              <a:defRPr sz="3600"/>
            </a:pPr>
            <a:r>
              <a:t>Проверка UFW: sudo ufw status verbose</a:t>
            </a:r>
          </a:p>
          <a:p>
            <a:pPr>
              <a:defRPr sz="3600"/>
            </a:pPr>
            <a:r>
              <a:t>Проверка firewalld: sudo firewall-cmd --state и sudo firewall-cmd --list-all</a:t>
            </a:r>
          </a:p>
          <a:p>
            <a:pPr>
              <a:defRPr sz="3600"/>
            </a:pPr>
            <a:r>
              <a:t>Нельзя без понимания одновременно менять UFW и низкоуровневый ruleset nftables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маршрутизация, NAT и firewall для OpenVPN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42D836-47EF-214A-5233-BAEDCA592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CRL блокирует ранее выданный клиентский сертификат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CRL (Certificate Revocation List) - список отозванных сертификатов</a:t>
            </a:r>
          </a:p>
          <a:p>
            <a:pPr>
              <a:defRPr sz="3600"/>
            </a:pPr>
            <a:r>
              <a:t>Отзыв нужен при увольнении сотрудника или компрометации ключа</a:t>
            </a:r>
          </a:p>
          <a:p>
            <a:pPr>
              <a:defRPr sz="3600"/>
            </a:pPr>
            <a:r>
              <a:t>Файл CRL должен быть доступен OpenVPN-серверу для чтения</a:t>
            </a:r>
          </a:p>
          <a:p>
            <a:pPr>
              <a:defRPr sz="3600"/>
            </a:pPr>
            <a:r>
              <a:t>В server.conf нужна директива crl-verify /etc/openvpn/server/crl.pem</a:t>
            </a:r>
          </a:p>
          <a:p>
            <a:pPr>
              <a:defRPr sz="3600"/>
            </a:pPr>
            <a:r>
              <a:t>Без crl-verify файл CRL может существовать, но сервер не будет использовать его при проверке клиента</a:t>
            </a:r>
          </a:p>
          <a:p>
            <a:pPr>
              <a:defRPr sz="3600"/>
            </a:pPr>
            <a:r>
              <a:t>После обновления CRL выполняют новое подключение клиента и проверяют отказ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Отзыв сертификата не всегда разрывает уже активную сессию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CRL обычно проверяется при новом TLS-подключении</a:t>
            </a:r>
          </a:p>
          <a:p>
            <a:pPr>
              <a:defRPr sz="3600"/>
            </a:pPr>
            <a:r>
              <a:t>Если клиент уже подключен, отзыв может не отключить текущую сессию немедленно</a:t>
            </a:r>
          </a:p>
          <a:p>
            <a:pPr>
              <a:defRPr sz="3600"/>
            </a:pPr>
            <a:r>
              <a:t>Проверка отзыва должна включать обновление CRL на сервере</a:t>
            </a:r>
          </a:p>
          <a:p>
            <a:pPr>
              <a:defRPr sz="3600"/>
            </a:pPr>
            <a:r>
              <a:t>Затем существующую сессию клиента отключают или ждут ее завершения</a:t>
            </a:r>
          </a:p>
          <a:p>
            <a:pPr>
              <a:defRPr sz="3600"/>
            </a:pPr>
            <a:r>
              <a:t>После этого выполняют новое подключение client01</a:t>
            </a:r>
          </a:p>
          <a:p>
            <a:pPr>
              <a:defRPr sz="3600"/>
            </a:pPr>
            <a:r>
              <a:t>Ожидаемый результат: сервер отклоняет клиента с отозванным сертификатом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TLS-ошибки и AUTH_FAILED не нужно смешивать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TLS Verification Error обычно связан с CA, сертификатами, private key, CRL или временем</a:t>
            </a:r>
          </a:p>
          <a:p>
            <a:pPr>
              <a:defRPr sz="3600"/>
            </a:pPr>
            <a:r>
              <a:t>Certificate Verify Failed указывает на проблему проверки сертификата</a:t>
            </a:r>
          </a:p>
          <a:p>
            <a:pPr>
              <a:defRPr sz="3600"/>
            </a:pPr>
            <a:r>
              <a:t>CRL-related error указывает на отзыв или недоступность списка отзыва</a:t>
            </a:r>
          </a:p>
          <a:p>
            <a:pPr>
              <a:defRPr sz="3600"/>
            </a:pPr>
            <a:r>
              <a:t>AUTH_FAILED чаще относится к username/password, PAM, RADIUS или внешнему authentication script</a:t>
            </a:r>
          </a:p>
          <a:p>
            <a:pPr>
              <a:defRPr sz="3600"/>
            </a:pPr>
            <a:r>
              <a:t>При чистой сертификатной схеме не нужно автоматически объяснять все ошибки словом AUTH_FAILED</a:t>
            </a:r>
          </a:p>
          <a:p>
            <a:pPr>
              <a:defRPr sz="3600"/>
            </a:pPr>
            <a:r>
              <a:t>Журнал сервера и журнал клиента читаются вместе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OpenVPN начинается с сервера и входящего UDP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службу: sudo systemctl status openvpn-server@server</a:t>
            </a:r>
          </a:p>
          <a:p>
            <a:pPr>
              <a:defRPr sz="3600"/>
            </a:pPr>
            <a:r>
              <a:t>Проверить журнал: sudo journalctl -u openvpn-server@server -b</a:t>
            </a:r>
          </a:p>
          <a:p>
            <a:pPr>
              <a:defRPr sz="3600"/>
            </a:pPr>
            <a:r>
              <a:t>Проверить порт: sudo ss -lunp | grep 1194</a:t>
            </a:r>
          </a:p>
          <a:p>
            <a:pPr>
              <a:defRPr sz="3600"/>
            </a:pPr>
            <a:r>
              <a:t>Проверить firewall: sudo nft list ruleset</a:t>
            </a:r>
          </a:p>
          <a:p>
            <a:pPr>
              <a:defRPr sz="3600"/>
            </a:pPr>
            <a:r>
              <a:t>Проверить входящие пакеты: sudo tcpdump -nn -i enp0s3 udp port 1194</a:t>
            </a:r>
          </a:p>
          <a:p>
            <a:pPr>
              <a:defRPr sz="3600"/>
            </a:pPr>
            <a:r>
              <a:t>Если пакеты не приходят, проблема находится до OpenVPN-процесса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После TLS проверяют туннель, маршруты и доступ к сервису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Проверить TUN на сервере: ip -br addr show tun0</a:t>
            </a:r>
          </a:p>
          <a:p>
            <a:pPr>
              <a:defRPr sz="3600"/>
            </a:pPr>
            <a:r>
              <a:t>Проверить VPN-адрес клиента: ip -br addr</a:t>
            </a:r>
          </a:p>
          <a:p>
            <a:pPr>
              <a:defRPr sz="3600"/>
            </a:pPr>
            <a:r>
              <a:t>Проверить маршрут клиента: ip route</a:t>
            </a:r>
          </a:p>
          <a:p>
            <a:pPr>
              <a:defRPr sz="3600"/>
            </a:pPr>
            <a:r>
              <a:t>Проверить forwarding: sysctl net.ipv4.ip_forward</a:t>
            </a:r>
          </a:p>
          <a:p>
            <a:pPr>
              <a:defRPr sz="3600"/>
            </a:pPr>
            <a:r>
              <a:t>Проверить обратный маршрут или NAT: ip route get 10.8.0.2 на внутреннем gateway или web01</a:t>
            </a:r>
          </a:p>
          <a:p>
            <a:pPr>
              <a:defRPr sz="3600"/>
            </a:pPr>
            <a:r>
              <a:t>Проверить приложение: curl -vk https://192.168.30.10/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Ping не доказывает, что нужный сервис доступен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ICMP на web01 может быть запрещен, а HTTPS при этом работать</a:t>
            </a:r>
          </a:p>
          <a:p>
            <a:pPr>
              <a:defRPr sz="3600"/>
            </a:pPr>
            <a:r>
              <a:t>Проверять нужно реальный сервис лабораторной задачи</a:t>
            </a:r>
          </a:p>
          <a:p>
            <a:pPr>
              <a:defRPr sz="3600"/>
            </a:pPr>
            <a:r>
              <a:t>Команда curl -vk https://192.168.30.10/ проверяет HTTPS-ответ</a:t>
            </a:r>
          </a:p>
          <a:p>
            <a:pPr>
              <a:defRPr sz="3600"/>
            </a:pPr>
            <a:r>
              <a:t>Команда nc -vz 192.168.30.10 443 проверяет TCP-доступность порта 443</a:t>
            </a:r>
          </a:p>
          <a:p>
            <a:pPr>
              <a:defRPr sz="3600"/>
            </a:pPr>
            <a:r>
              <a:t>Запрещенный сценарий тоже проверяется: SSH к web01 не должен открываться</a:t>
            </a:r>
          </a:p>
          <a:p>
            <a:pPr>
              <a:defRPr sz="3600"/>
            </a:pPr>
            <a:r>
              <a:t>Приемка VPN должна включать разрешенный и запрещенный трафик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Конфликт локальных подсетей ломает Remote Access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Домашняя сеть клиента может совпасть с корпоративной сетью</a:t>
            </a:r>
          </a:p>
          <a:p>
            <a:pPr>
              <a:defRPr sz="3600"/>
            </a:pPr>
            <a:r>
              <a:t>Пример конфликта: дома 192.168.30.0/24 и в организации 192.168.30.0/24</a:t>
            </a:r>
          </a:p>
          <a:p>
            <a:pPr>
              <a:defRPr sz="3600"/>
            </a:pPr>
            <a:r>
              <a:t>Клиент считает адрес web01 локальным и не отправляет его в туннель</a:t>
            </a:r>
          </a:p>
          <a:p>
            <a:pPr>
              <a:defRPr sz="3600"/>
            </a:pPr>
            <a:r>
              <a:t>Решения: изменить адресный план, применить NAT или специальную клиентскую политику</a:t>
            </a:r>
          </a:p>
          <a:p>
            <a:pPr>
              <a:defRPr sz="3600"/>
            </a:pPr>
            <a:r>
              <a:t>Корпоративные подсети лучше выбирать так, чтобы они реже пересекались с домашними сетями</a:t>
            </a:r>
          </a:p>
          <a:p>
            <a:pPr>
              <a:defRPr sz="3600"/>
            </a:pPr>
            <a:r>
              <a:t>Такой конфликт нужно проверять до обвинения OpenVPN или firewall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Client-Specific Configuration помогает задавать индивидуальную политику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CCD (Client-Specific Configuration) - индивидуальные настройки OpenVPN для конкретного клиента</a:t>
            </a:r>
          </a:p>
          <a:p>
            <a:pPr>
              <a:defRPr sz="3600"/>
            </a:pPr>
            <a:r>
              <a:t>Директива client-config-dir /etc/openvpn/server/ccd указывает каталог CCD</a:t>
            </a:r>
          </a:p>
          <a:p>
            <a:pPr>
              <a:defRPr sz="3600"/>
            </a:pPr>
            <a:r>
              <a:t>Файл /etc/openvpn/server/ccd/client01 применяется к клиенту с Common Name client01</a:t>
            </a:r>
          </a:p>
          <a:p>
            <a:pPr>
              <a:defRPr sz="3600"/>
            </a:pPr>
            <a:r>
              <a:t>Через CCD можно задавать индивидуальные маршруты или параметры доступа</a:t>
            </a:r>
          </a:p>
          <a:p>
            <a:pPr>
              <a:defRPr sz="3600"/>
            </a:pPr>
            <a:r>
              <a:t>Подробная настройка CCD выходит за базовую лабораторию, но логически связана с уникальными сертификатами</a:t>
            </a:r>
          </a:p>
          <a:p>
            <a:pPr>
              <a:defRPr sz="3600"/>
            </a:pPr>
            <a:r>
              <a:t>Идея: сертификат идентифицирует клиента, а политика определяет, куда ему можно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Приемка лаборатории должна проверять разрешенное и запрещенное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До VPN у клиента нет tun0 и маршрута к 192.168.30.0/24</a:t>
            </a:r>
          </a:p>
          <a:p>
            <a:pPr>
              <a:defRPr sz="3600"/>
            </a:pPr>
            <a:r>
              <a:t>После VPN клиент получает 10.8.0.x и маршрут к 192.168.30.0/24</a:t>
            </a:r>
          </a:p>
          <a:p>
            <a:pPr>
              <a:defRPr sz="3600"/>
            </a:pPr>
            <a:r>
              <a:t>HTTPS к web01 становится доступен: curl -vk https://192.168.30.10/</a:t>
            </a:r>
          </a:p>
          <a:p>
            <a:pPr>
              <a:defRPr sz="3600"/>
            </a:pPr>
            <a:r>
              <a:t>SSH к web01 остается запрещен, если политика доступа настроена правильно</a:t>
            </a:r>
          </a:p>
          <a:p>
            <a:pPr>
              <a:defRPr sz="3600"/>
            </a:pPr>
            <a:r>
              <a:t>DNS-имя web01 разрешается только если DNS push применился клиентской ОС</a:t>
            </a:r>
          </a:p>
          <a:p>
            <a:pPr>
              <a:defRPr sz="3600"/>
            </a:pPr>
            <a:r>
              <a:t>Подключение с отозванным сертификатом блокируется после обновления CRL и новой попытки входа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диагностика OpenVPN-подключения по уровням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DFB521-00DF-1617-B2F7-D6B50D5B8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F8B8-71DE-BB73-6A89-3F16DF2D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AEA29-1FE4-5010-FE19-A00AC7EE7180}"/>
              </a:ext>
            </a:extLst>
          </p:cNvPr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диагностика OpenVPN-подключения по уровням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307C0-8C87-9017-9B8C-C38DDE4014D8}"/>
              </a:ext>
            </a:extLst>
          </p:cNvPr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623C1D-90B7-58F3-AC00-0DCA98420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357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OpenVPN защищает трафик через TLS, сертификаты и шифрование, но не заменяет firewall</a:t>
            </a:r>
          </a:p>
          <a:p>
            <a:pPr>
              <a:defRPr sz="3600"/>
            </a:pPr>
            <a:r>
              <a:t>Remote Access требует клиентского профиля, уникального сертификата и понятной политики доступа</a:t>
            </a:r>
          </a:p>
          <a:p>
            <a:pPr>
              <a:defRPr sz="3600"/>
            </a:pPr>
            <a:r>
              <a:t>TUN проще для маршрутизируемого доступа к внутренним IP-сервисам</a:t>
            </a:r>
          </a:p>
          <a:p>
            <a:pPr>
              <a:defRPr sz="3600"/>
            </a:pPr>
            <a:r>
              <a:t>Рабочий VPN требует согласования server.conf, .ovpn, forwarding, маршрутов, DNS и firewall</a:t>
            </a:r>
          </a:p>
          <a:p>
            <a:pPr>
              <a:defRPr sz="3600"/>
            </a:pPr>
            <a:r>
              <a:t>CRL работает только если сервер настроен ее проверять и клиент выполняет новое подключение</a:t>
            </a:r>
          </a:p>
          <a:p>
            <a:pPr>
              <a:defRPr sz="3600"/>
            </a:pPr>
            <a:r>
              <a:t>Приемка должна проверять не только подключение, но и конкретный доступ к web01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Чем OpenVPN отличается от туннеля, который не выполняет шифрование?</a:t>
            </a:r>
          </a:p>
          <a:p>
            <a:pPr>
              <a:defRPr sz="3600"/>
            </a:pPr>
            <a:r>
              <a:t>Чем Remote Access VPN отличается от Site-to-Site VPN?</a:t>
            </a:r>
          </a:p>
          <a:p>
            <a:pPr>
              <a:defRPr sz="3600"/>
            </a:pPr>
            <a:r>
              <a:t>Почему для лаборатории выбран TUN, а не TAP?</a:t>
            </a:r>
          </a:p>
          <a:p>
            <a:pPr>
              <a:defRPr sz="3600"/>
            </a:pPr>
            <a:r>
              <a:t>Зачем нужны serverAuth, clientAuth и remote-cert-tls?</a:t>
            </a:r>
          </a:p>
          <a:p>
            <a:pPr>
              <a:defRPr sz="3600"/>
            </a:pPr>
            <a:r>
              <a:t>Почему CA private key лучше не хранить на VPN-сервере?</a:t>
            </a:r>
          </a:p>
          <a:p>
            <a:pPr>
              <a:defRPr sz="3600"/>
            </a:pPr>
            <a:r>
              <a:t>Чем Split Tunnel отличается от Full Tunnel?</a:t>
            </a:r>
          </a:p>
          <a:p>
            <a:pPr>
              <a:defRPr sz="3600"/>
            </a:pPr>
            <a:r>
              <a:t>Почему разрешение UDP 1194 в Input не дает доступа к web01?</a:t>
            </a:r>
          </a:p>
          <a:p>
            <a:pPr>
              <a:defRPr sz="3600"/>
            </a:pPr>
            <a:r>
              <a:t>Как проверить, что CRL действительно блокирует client01?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3412</Words>
  <Application>Microsoft Office PowerPoint</Application>
  <PresentationFormat>Широкоэкранный</PresentationFormat>
  <Paragraphs>344</Paragraphs>
  <Slides>55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2026-07-28T09:47:27Z</dcterms:modified>
  <cp:category/>
</cp:coreProperties>
</file>