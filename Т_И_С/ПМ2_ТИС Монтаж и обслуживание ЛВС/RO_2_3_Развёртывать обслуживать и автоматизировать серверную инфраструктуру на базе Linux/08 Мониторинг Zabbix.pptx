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834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Лекция 8. Централизованный мониторинг Linux-инфраструктуры: Zabbix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Мониторинг нужен, чтобы обнаружить проблему до жалобы пользователя</a:t>
            </a:r>
          </a:p>
          <a:p>
            <a:pPr>
              <a:defRPr sz="3600"/>
            </a:pPr>
            <a:r>
              <a:t>Zabbix собирает метрики, вычисляет условия проблем и помогает организовать реакцию</a:t>
            </a:r>
          </a:p>
          <a:p>
            <a:pPr>
              <a:defRPr sz="3600"/>
            </a:pPr>
            <a:r>
              <a:t>Учебный стенд: Zabbix Server наблюдает web01, vpn01 и backup01</a:t>
            </a:r>
          </a:p>
          <a:p>
            <a:pPr>
              <a:defRPr sz="3600"/>
            </a:pPr>
            <a:r>
              <a:t>Главная идея: хорошая проверка должна быть измеримой, объяснимой и привязанной к действию администратора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Цель лекции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Понять отличие мониторинга от журналирования, аудита и диагностики</a:t>
            </a:r>
          </a:p>
          <a:p>
            <a:pPr>
              <a:defRPr sz="3600"/>
            </a:pPr>
            <a:r>
              <a:t>Уметь объяснить роли Zabbix Server, Agent, Proxy, Database и Frontend</a:t>
            </a:r>
          </a:p>
          <a:p>
            <a:pPr>
              <a:defRPr sz="3600"/>
            </a:pPr>
            <a:r>
              <a:t>Уметь различать Host, Template, Item, Trigger, Problem, Severity и Maintenance</a:t>
            </a:r>
          </a:p>
          <a:p>
            <a:pPr>
              <a:defRPr sz="3600"/>
            </a:pPr>
            <a:r>
              <a:t>Уметь проектировать проверки CPU, RAM, диска, сети, службы, приложения и backup</a:t>
            </a:r>
          </a:p>
          <a:p>
            <a:pPr>
              <a:defRPr sz="3600"/>
            </a:pPr>
            <a:r>
              <a:t>Уметь объяснить ограничения UserParameter, уведомлений и безопасности Zabbix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Учебные вопросы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1. Мониторинг, журналирование и аудит</a:t>
            </a:r>
          </a:p>
          <a:p>
            <a:pPr>
              <a:defRPr sz="3600"/>
            </a:pPr>
            <a:r>
              <a:t>2. Zabbix Server, Agent, Proxy, Database и Frontend</a:t>
            </a:r>
          </a:p>
          <a:p>
            <a:pPr>
              <a:defRPr sz="3600"/>
            </a:pPr>
            <a:r>
              <a:t>3. Host, Host Group, Template, Item, Trigger и Severity</a:t>
            </a:r>
          </a:p>
          <a:p>
            <a:pPr>
              <a:defRPr sz="3600"/>
            </a:pPr>
            <a:r>
              <a:t>4. Графики, dashboards, problems, acknowledge и maintenance</a:t>
            </a:r>
          </a:p>
          <a:p>
            <a:pPr>
              <a:defRPr sz="3600"/>
            </a:pPr>
            <a:r>
              <a:t>5. CPU, RAM, диски, сеть, процессы, порты и службы</a:t>
            </a:r>
          </a:p>
          <a:p>
            <a:pPr>
              <a:defRPr sz="3600"/>
            </a:pPr>
            <a:r>
              <a:t>6. Active/passive checks, пороги и ложные срабатывания</a:t>
            </a:r>
          </a:p>
          <a:p>
            <a:pPr>
              <a:defRPr sz="3600"/>
            </a:pPr>
            <a:r>
              <a:t>7. Уведомления, backup, пользовательские сценарии и безопасность Zabbix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Учебный сценарий лекции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web01: проверяем Nginx, HTTP-ответ, CPU, RAM, диск и inode</a:t>
            </a:r>
          </a:p>
          <a:p>
            <a:pPr>
              <a:defRPr sz="3600"/>
            </a:pPr>
            <a:r>
              <a:t>vpn01: проверяем процесс OpenVPN, UDP 1194 и признаки реального подключения</a:t>
            </a:r>
          </a:p>
          <a:p>
            <a:pPr>
              <a:defRPr sz="3600"/>
            </a:pPr>
            <a:r>
              <a:t>backup01: проверяем возраст последнего успешного backup, место и состояние repository</a:t>
            </a:r>
          </a:p>
          <a:p>
            <a:pPr>
              <a:defRPr sz="3600"/>
            </a:pPr>
            <a:r>
              <a:t>Zabbix Server: проверяем очередь, unsupported items, database и собственные процессы</a:t>
            </a:r>
          </a:p>
          <a:p>
            <a:pPr>
              <a:defRPr sz="3600"/>
            </a:pPr>
            <a:r>
              <a:t>Лаборатория строится через матрицу отказов и ожидаемых проблем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1. Мониторинг, журналирование и аудит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Мониторинг отвечает на вопрос: есть ли сейчас отклонение от нормы</a:t>
            </a:r>
          </a:p>
          <a:p>
            <a:pPr>
              <a:defRPr sz="3600"/>
            </a:pPr>
            <a:r>
              <a:t>Журналирование отвечает на вопрос: какие события уже произошли</a:t>
            </a:r>
          </a:p>
          <a:p>
            <a:pPr>
              <a:defRPr sz="3600"/>
            </a:pPr>
            <a:r>
              <a:t>Аудит отвечает на вопрос: кто выполнил действие и было ли оно разрешено</a:t>
            </a:r>
          </a:p>
          <a:p>
            <a:pPr>
              <a:defRPr sz="3600"/>
            </a:pPr>
            <a:r>
              <a:t>Диагностика объясняет причину после обнаружения симптома</a:t>
            </a:r>
          </a:p>
          <a:p>
            <a:pPr>
              <a:defRPr sz="3600"/>
            </a:pPr>
            <a:r>
              <a:t>Zabbix в первую очередь решает задачи мониторинга и оповещения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Мониторинг не заменяет диагностику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Trigger может сообщить, что Nginx недоступен</a:t>
            </a:r>
          </a:p>
          <a:p>
            <a:pPr>
              <a:defRPr sz="3600"/>
            </a:pPr>
            <a:r>
              <a:t>Причину администратор выясняет командами systemctl, journalctl, ss, curl и tcpdump</a:t>
            </a:r>
          </a:p>
          <a:p>
            <a:pPr>
              <a:defRPr sz="3600"/>
            </a:pPr>
            <a:r>
              <a:t>Мониторинг должен указывать, где проблема и насколько она критична</a:t>
            </a:r>
          </a:p>
          <a:p>
            <a:pPr>
              <a:defRPr sz="3600"/>
            </a:pPr>
            <a:r>
              <a:t>Диагностика должна подтвердить конкретный уровень отказа</a:t>
            </a:r>
          </a:p>
          <a:p>
            <a:pPr>
              <a:defRPr sz="3600"/>
            </a:pPr>
            <a:r>
              <a:t>Хороший мониторинг сокращает время поиска, но не думает за администратора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2. Zabbix Server, Agent, Proxy, Database и Frontend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Zabbix Server собирает значения, обрабатывает items и рассчитывает triggers</a:t>
            </a:r>
          </a:p>
          <a:p>
            <a:pPr>
              <a:defRPr sz="3600"/>
            </a:pPr>
            <a:r>
              <a:t>Zabbix Agent установлен на наблюдаемом Linux-сервере</a:t>
            </a:r>
          </a:p>
          <a:p>
            <a:pPr>
              <a:defRPr sz="3600"/>
            </a:pPr>
            <a:r>
              <a:t>Database хранит конфигурацию, history, trends, events и problems</a:t>
            </a:r>
          </a:p>
          <a:p>
            <a:pPr>
              <a:defRPr sz="3600"/>
            </a:pPr>
            <a:r>
              <a:t>Frontend показывает web-интерфейс и изменяет конфигурацию через database</a:t>
            </a:r>
          </a:p>
          <a:p>
            <a:pPr>
              <a:defRPr sz="3600"/>
            </a:pPr>
            <a:r>
              <a:t>Frontend сам не собирает метрики с агентов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Схема: поток данных Zabbix Agent, Server, Database и Frontend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BD6FE0F-56C2-E0B9-5D52-1F610B8ECB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Поток данных нужно понимать точно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Agent, SNMP, HTTP и ICMP дают исходные значения</a:t>
            </a:r>
          </a:p>
          <a:p>
            <a:pPr>
              <a:defRPr sz="3600"/>
            </a:pPr>
            <a:r>
              <a:t>Zabbix Server выполняет polling, trapper-прием, preprocessing и расчет triggers</a:t>
            </a:r>
          </a:p>
          <a:p>
            <a:pPr>
              <a:defRPr sz="3600"/>
            </a:pPr>
            <a:r>
              <a:t>Database хранит конфигурацию, историю значений и события</a:t>
            </a:r>
          </a:p>
          <a:p>
            <a:pPr>
              <a:defRPr sz="3600"/>
            </a:pPr>
            <a:r>
              <a:t>Frontend читает database и позволяет администратору менять настройки</a:t>
            </a:r>
          </a:p>
          <a:p>
            <a:pPr>
              <a:defRPr sz="3600"/>
            </a:pPr>
            <a:r>
              <a:t>Если database недоступна, Zabbix теряет возможность нормально хранить и показывать состояние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Zabbix Proxy нужен для филиалов, DMZ и масштабирования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Proxy собирает данные ближе к удаленной площадке или изолированной зоне</a:t>
            </a:r>
          </a:p>
          <a:p>
            <a:pPr>
              <a:defRPr sz="3600"/>
            </a:pPr>
            <a:r>
              <a:t>Proxy передает данные на Zabbix Server</a:t>
            </a:r>
          </a:p>
          <a:p>
            <a:pPr>
              <a:defRPr sz="3600"/>
            </a:pPr>
            <a:r>
              <a:t>Proxy полезен, когда Server не должен напрямую ходить ко всем агентам</a:t>
            </a:r>
          </a:p>
          <a:p>
            <a:pPr>
              <a:defRPr sz="3600"/>
            </a:pPr>
            <a:r>
              <a:t>Proxy снижает влияние нестабильного канала между филиалом и центральным сервером</a:t>
            </a:r>
          </a:p>
          <a:p>
            <a:pPr>
              <a:defRPr sz="3600"/>
            </a:pPr>
            <a:r>
              <a:t>В базовой лаборатории Proxy можно рассмотреть обзорно без установки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Схема: Zabbix Proxy между филиалом и центральным сервером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B56163C-F9C7-349F-7B43-445D27A8AB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Agent и Agent 2 нужно выбрать заранее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Zabbix Agent — классический легкий агент</a:t>
            </a:r>
          </a:p>
          <a:p>
            <a:pPr>
              <a:defRPr sz="3600"/>
            </a:pPr>
            <a:r>
              <a:t>Zabbix Agent 2 — современная реализация с plugin-архитектурой</a:t>
            </a:r>
          </a:p>
          <a:p>
            <a:pPr>
              <a:defRPr sz="3600"/>
            </a:pPr>
            <a:r>
              <a:t>Набор keys и integration plugins может отличаться</a:t>
            </a:r>
          </a:p>
          <a:p>
            <a:pPr>
              <a:defRPr sz="3600"/>
            </a:pPr>
            <a:r>
              <a:t>Пакеты и unit names различаются: zabbix-agent и zabbix-agent2</a:t>
            </a:r>
          </a:p>
          <a:p>
            <a:pPr>
              <a:defRPr sz="3600"/>
            </a:pPr>
            <a:r>
              <a:t>В лаборатории фиксируем один вариант, чтобы не смешивать пути конфигурации и команды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Базовая конфигурация Agent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Файл: /etc/zabbix/zabbix_agent2.conf</a:t>
            </a:r>
          </a:p>
          <a:p>
            <a:pPr>
              <a:defRPr sz="3600"/>
            </a:pPr>
            <a:r>
              <a:t>Параметр Server=192.168.30.40 разрешает passive-запросы от Zabbix Server</a:t>
            </a:r>
          </a:p>
          <a:p>
            <a:pPr>
              <a:defRPr sz="3600"/>
            </a:pPr>
            <a:r>
              <a:t>Параметр ServerActive=192.168.30.40 задает сервер для active checks</a:t>
            </a:r>
          </a:p>
          <a:p>
            <a:pPr>
              <a:defRPr sz="3600"/>
            </a:pPr>
            <a:r>
              <a:t>Параметр Hostname=web01 должен совпадать с Host name во Frontend для active checks</a:t>
            </a:r>
          </a:p>
          <a:p>
            <a:pPr>
              <a:defRPr sz="3600"/>
            </a:pPr>
            <a:r>
              <a:t>После изменения: sudo systemctl restart zabbix-agent2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Passive check инициирует Server или Proxy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Passive check: Server или Proxy подключается к Agent</a:t>
            </a:r>
          </a:p>
          <a:p>
            <a:pPr>
              <a:defRPr sz="3600"/>
            </a:pPr>
            <a:r>
              <a:t>Типичный порт: Agent TCP 10050</a:t>
            </a:r>
          </a:p>
          <a:p>
            <a:pPr>
              <a:defRPr sz="3600"/>
            </a:pPr>
            <a:r>
              <a:t>Пример проверки с сервера: zabbix_get -s 192.168.30.10 -k system.hostname</a:t>
            </a:r>
          </a:p>
          <a:p>
            <a:pPr>
              <a:defRPr sz="3600"/>
            </a:pPr>
            <a:r>
              <a:t>Плюс: удобно в управляемой внутренней сети</a:t>
            </a:r>
          </a:p>
          <a:p>
            <a:pPr>
              <a:defRPr sz="3600"/>
            </a:pPr>
            <a:r>
              <a:t>Минус: нужен входящий доступ к Agent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Active check инициирует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Agent подключается к Server или Proxy на TCP 10051</a:t>
            </a:r>
          </a:p>
          <a:p>
            <a:pPr>
              <a:defRPr sz="3600"/>
            </a:pPr>
            <a:r>
              <a:t>Agent запрашивает список active items</a:t>
            </a:r>
          </a:p>
          <a:p>
            <a:pPr>
              <a:defRPr sz="3600"/>
            </a:pPr>
            <a:r>
              <a:t>Agent сам выполняет проверки</a:t>
            </a:r>
          </a:p>
          <a:p>
            <a:pPr>
              <a:defRPr sz="3600"/>
            </a:pPr>
            <a:r>
              <a:t>Agent отправляет собранные значения обратно на Server или Proxy</a:t>
            </a:r>
          </a:p>
          <a:p>
            <a:pPr>
              <a:defRPr sz="3600"/>
            </a:pPr>
            <a:r>
              <a:t>Active checks удобны при NAT, DMZ, филиалах и закрытом входящем доступе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Active check не отменяет все сетевые требования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Если host использует только active items, TCP 10050 может не требоваться</a:t>
            </a:r>
          </a:p>
          <a:p>
            <a:pPr>
              <a:defRPr sz="3600"/>
            </a:pPr>
            <a:r>
              <a:t>При смешанном template могут остаться passive agent items</a:t>
            </a:r>
          </a:p>
          <a:p>
            <a:pPr>
              <a:defRPr sz="3600"/>
            </a:pPr>
            <a:r>
              <a:t>Remote commands и некоторые проверки могут требовать подключения к Agent</a:t>
            </a:r>
          </a:p>
          <a:p>
            <a:pPr>
              <a:defRPr sz="3600"/>
            </a:pPr>
            <a:r>
              <a:t>Сетевые требования определяются каждым типом item</a:t>
            </a:r>
          </a:p>
          <a:p>
            <a:pPr>
              <a:defRPr sz="3600"/>
            </a:pPr>
            <a:r>
              <a:t>Для active checks критично совпадение Agent Hostname и Host name во Frontend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Hostname важен именно для active checks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В Agent: Hostname=web01</a:t>
            </a:r>
          </a:p>
          <a:p>
            <a:pPr>
              <a:defRPr sz="3600"/>
            </a:pPr>
            <a:r>
              <a:t>В Agent: ServerActive=192.168.30.40</a:t>
            </a:r>
          </a:p>
          <a:p>
            <a:pPr>
              <a:defRPr sz="3600"/>
            </a:pPr>
            <a:r>
              <a:t>Во Frontend: Host name должен быть web01</a:t>
            </a:r>
          </a:p>
          <a:p>
            <a:pPr>
              <a:defRPr sz="3600"/>
            </a:pPr>
            <a:r>
              <a:t>Visible name может отличаться и служит для удобного отображения</a:t>
            </a:r>
          </a:p>
          <a:p>
            <a:pPr>
              <a:defRPr sz="3600"/>
            </a:pPr>
            <a:r>
              <a:t>Типичная ошибка: Agent Hostname web01, а Host name во Frontend WEB01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3. Host, Host Group, Template, Item, Trigger и Severity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Host — наблюдаемый объект: сервер, устройство, сервис или виртуальная машина</a:t>
            </a:r>
          </a:p>
          <a:p>
            <a:pPr>
              <a:defRPr sz="3600"/>
            </a:pPr>
            <a:r>
              <a:t>Host Group помогает группировать объекты и назначать права</a:t>
            </a:r>
          </a:p>
          <a:p>
            <a:pPr>
              <a:defRPr sz="3600"/>
            </a:pPr>
            <a:r>
              <a:t>Template хранит типовые items, triggers, graphs и discovery rules</a:t>
            </a:r>
          </a:p>
          <a:p>
            <a:pPr>
              <a:defRPr sz="3600"/>
            </a:pPr>
            <a:r>
              <a:t>Item собирает одно конкретное значение</a:t>
            </a:r>
          </a:p>
          <a:p>
            <a:pPr>
              <a:defRPr sz="3600"/>
            </a:pPr>
            <a:r>
              <a:t>Trigger превращает значение item в состояние Problem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Item должен возвращать одно значение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Item имеет key, type, interval, type of information и history period</a:t>
            </a:r>
          </a:p>
          <a:p>
            <a:pPr>
              <a:defRPr sz="3600"/>
            </a:pPr>
            <a:r>
              <a:t>Пример key: system.cpu.load[all,avg1]</a:t>
            </a:r>
          </a:p>
          <a:p>
            <a:pPr>
              <a:defRPr sz="3600"/>
            </a:pPr>
            <a:r>
              <a:t>Пример key: vfs.fs.size[/,pused]</a:t>
            </a:r>
          </a:p>
          <a:p>
            <a:pPr>
              <a:defRPr sz="3600"/>
            </a:pPr>
            <a:r>
              <a:t>Пример key: net.if.in[ens33]</a:t>
            </a:r>
          </a:p>
          <a:p>
            <a:pPr>
              <a:defRPr sz="3600"/>
            </a:pPr>
            <a:r>
              <a:t>Один item не должен возвращать длинный человекочитаемый отчет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Item может быть Supported, Unsupported или No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Supported означает, что item получает корректные значения</a:t>
            </a:r>
          </a:p>
          <a:p>
            <a:pPr>
              <a:defRPr sz="3600"/>
            </a:pPr>
            <a:r>
              <a:t>Unsupported означает, что Zabbix не смог выполнить item или разобрать результат</a:t>
            </a:r>
          </a:p>
          <a:p>
            <a:pPr>
              <a:defRPr sz="3600"/>
            </a:pPr>
            <a:r>
              <a:t>No Data означает отсутствие новых значений за ожидаемый период</a:t>
            </a:r>
          </a:p>
          <a:p>
            <a:pPr>
              <a:defRPr sz="3600"/>
            </a:pPr>
            <a:r>
              <a:t>Отсутствие данных само должно контролироваться отдельным trigger</a:t>
            </a:r>
          </a:p>
          <a:p>
            <a:pPr>
              <a:defRPr sz="3600"/>
            </a:pPr>
            <a:r>
              <a:t>Пример: nodata(/web01/agent.ping,5m)=1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Low-Level Discovery создает items по найденным объектам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Discovery rule может найти файловые системы, сетевые интерфейсы или приложения</a:t>
            </a:r>
          </a:p>
          <a:p>
            <a:pPr>
              <a:defRPr sz="3600"/>
            </a:pPr>
            <a:r>
              <a:t>Item Prototype описывает, какие items создавать для каждого найденного объекта</a:t>
            </a:r>
          </a:p>
          <a:p>
            <a:pPr>
              <a:defRPr sz="3600"/>
            </a:pPr>
            <a:r>
              <a:t>Trigger Prototype описывает, какие triggers создавать автоматически</a:t>
            </a:r>
          </a:p>
          <a:p>
            <a:pPr>
              <a:defRPr sz="3600"/>
            </a:pPr>
            <a:r>
              <a:t>Это удобно для дисков и сетевых интерфейсов, которые отличаются на разных серверах</a:t>
            </a:r>
          </a:p>
          <a:p>
            <a:pPr>
              <a:defRPr sz="3600"/>
            </a:pPr>
            <a:r>
              <a:t>В базовой лекции достаточно понимать идею без глубокой настройки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Trigger должен учитывать длительность, а не только последнее число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last() проверяет последнее значение</a:t>
            </a:r>
          </a:p>
          <a:p>
            <a:pPr>
              <a:defRPr sz="3600"/>
            </a:pPr>
            <a:r>
              <a:t>min() проверяет минимальное значение за интервал</a:t>
            </a:r>
          </a:p>
          <a:p>
            <a:pPr>
              <a:defRPr sz="3600"/>
            </a:pPr>
            <a:r>
              <a:t>max() проверяет максимальное значение за интервал</a:t>
            </a:r>
          </a:p>
          <a:p>
            <a:pPr>
              <a:defRPr sz="3600"/>
            </a:pPr>
            <a:r>
              <a:t>avg() проверяет среднее значение за интервал</a:t>
            </a:r>
          </a:p>
          <a:p>
            <a:pPr>
              <a:defRPr sz="3600"/>
            </a:pPr>
            <a:r>
              <a:t>nodata() проверяет отсутствие данных</a:t>
            </a:r>
          </a:p>
          <a:p>
            <a:pPr>
              <a:defRPr sz="3600"/>
            </a:pPr>
            <a:r>
              <a:t>timeleft() помогает прогнозировать достижение порога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Пример trigger с длительностью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Плохая идея: открыть Problem из-за одного краткого скачка CPU</a:t>
            </a:r>
          </a:p>
          <a:p>
            <a:pPr>
              <a:defRPr sz="3600"/>
            </a:pPr>
            <a:r>
              <a:t>Лучше: средняя загрузка выше порога в течение 10 минут</a:t>
            </a:r>
          </a:p>
          <a:p>
            <a:pPr>
              <a:defRPr sz="3600"/>
            </a:pPr>
            <a:r>
              <a:t>Концептуальный пример: avg(/web01/system.cpu.load[all,avg1],10m)&gt;4</a:t>
            </a:r>
          </a:p>
          <a:p>
            <a:pPr>
              <a:defRPr sz="3600"/>
            </a:pPr>
            <a:r>
              <a:t>Для диска: min(/web01/vfs.fs.size[/,pfree],5m)&lt;10</a:t>
            </a:r>
          </a:p>
          <a:p>
            <a:pPr>
              <a:defRPr sz="3600"/>
            </a:pPr>
            <a:r>
              <a:t>Точный синтаксис нужно сверять с версией Zabbix в лаборатории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Hysteresis снижает дрожание Problem и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Если Problem открывается при 90%, закрытие при 89.9% создаст постоянные переключения</a:t>
            </a:r>
          </a:p>
          <a:p>
            <a:pPr>
              <a:defRPr sz="3600"/>
            </a:pPr>
            <a:r>
              <a:t>Лучше открыть Problem при usage &gt; 90%</a:t>
            </a:r>
          </a:p>
          <a:p>
            <a:pPr>
              <a:defRPr sz="3600"/>
            </a:pPr>
            <a:r>
              <a:t>Закрыть Problem при usage &lt; 85%</a:t>
            </a:r>
          </a:p>
          <a:p>
            <a:pPr>
              <a:defRPr sz="3600"/>
            </a:pPr>
            <a:r>
              <a:t>В Zabbix это реализуют recovery expression или устойчивой trigger logic</a:t>
            </a:r>
          </a:p>
          <a:p>
            <a:pPr>
              <a:defRPr sz="3600"/>
            </a:pPr>
            <a:r>
              <a:t>Hysteresis особенно важен для диска, CPU и сетевой задержки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Severity отражает влияние, а не тип метрики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Nginx остановлен на test-web01 может быть Warning</a:t>
            </a:r>
          </a:p>
          <a:p>
            <a:pPr>
              <a:defRPr sz="3600"/>
            </a:pPr>
            <a:r>
              <a:t>Nginx остановлен на production-web01 может быть High</a:t>
            </a:r>
          </a:p>
          <a:p>
            <a:pPr>
              <a:defRPr sz="3600"/>
            </a:pPr>
            <a:r>
              <a:t>Диск 90% на временном сервере и на базе данных имеют разный риск</a:t>
            </a:r>
          </a:p>
          <a:p>
            <a:pPr>
              <a:defRPr sz="3600"/>
            </a:pPr>
            <a:r>
              <a:t>Severity зависит от роли host, SLA, времени суток и наличия резервирования</a:t>
            </a:r>
          </a:p>
          <a:p>
            <a:pPr>
              <a:defRPr sz="3600"/>
            </a:pPr>
            <a:r>
              <a:t>Порог должен вести к правильному приоритету реакции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Диаграмма: Host, Item, Trigger, Problem и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5E1D496-E424-3656-5201-B8AF1FEED6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4. Graphs, dashboards, problems, acknowledge и maintenance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Problems показывают текущие события, требующие внимания</a:t>
            </a:r>
          </a:p>
          <a:p>
            <a:pPr>
              <a:defRPr sz="3600"/>
            </a:pPr>
            <a:r>
              <a:t>Graphs помогают понять динамику значения во времени</a:t>
            </a:r>
          </a:p>
          <a:p>
            <a:pPr>
              <a:defRPr sz="3600"/>
            </a:pPr>
            <a:r>
              <a:t>Dashboards собирают эксплуатационную картину на одном экране</a:t>
            </a:r>
          </a:p>
          <a:p>
            <a:pPr>
              <a:defRPr sz="3600"/>
            </a:pPr>
            <a:r>
              <a:t>Acknowledge означает, что администратор увидел проблему</a:t>
            </a:r>
          </a:p>
          <a:p>
            <a:pPr>
              <a:defRPr sz="3600"/>
            </a:pPr>
            <a:r>
              <a:t>Maintenance используется для согласованных работ, а не для скрытия неудобных тревог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Problem, Acknowledge, Recovery и Manual Close различаются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Problem открыт, когда выполняется trigger condition</a:t>
            </a:r>
          </a:p>
          <a:p>
            <a:pPr>
              <a:defRPr sz="3600"/>
            </a:pPr>
            <a:r>
              <a:t>Acknowledge фиксирует, что администратор взял проблему в работу</a:t>
            </a:r>
          </a:p>
          <a:p>
            <a:pPr>
              <a:defRPr sz="3600"/>
            </a:pPr>
            <a:r>
              <a:t>Recovery происходит, когда recovery condition перестала быть проблемной</a:t>
            </a:r>
          </a:p>
          <a:p>
            <a:pPr>
              <a:defRPr sz="3600"/>
            </a:pPr>
            <a:r>
              <a:t>Manual close возможен только для специально настроенных triggers</a:t>
            </a:r>
          </a:p>
          <a:p>
            <a:pPr>
              <a:defRPr sz="3600"/>
            </a:pPr>
            <a:r>
              <a:t>Maintenance может подавлять уведомления во время плановых работ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Tags помогают фильтровать и маршрутизировать проблемы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Tag может указывать сервис: service=nginx или service=backup</a:t>
            </a:r>
          </a:p>
          <a:p>
            <a:pPr>
              <a:defRPr sz="3600"/>
            </a:pPr>
            <a:r>
              <a:t>Tag может указывать среду: env=lab, env=prod</a:t>
            </a:r>
          </a:p>
          <a:p>
            <a:pPr>
              <a:defRPr sz="3600"/>
            </a:pPr>
            <a:r>
              <a:t>Tag может указывать команду реакции: team=linux</a:t>
            </a:r>
          </a:p>
          <a:p>
            <a:pPr>
              <a:defRPr sz="3600"/>
            </a:pPr>
            <a:r>
              <a:t>Actions могут использовать tags для выбора получателей</a:t>
            </a:r>
          </a:p>
          <a:p>
            <a:pPr>
              <a:defRPr sz="3600"/>
            </a:pPr>
            <a:r>
              <a:t>Без tags список проблем быстро превращается в неуправляемую ленту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Dashboard должен отвечать на эксплуатационные вопросы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Какие hosts недоступны?</a:t>
            </a:r>
          </a:p>
          <a:p>
            <a:pPr>
              <a:defRPr sz="3600"/>
            </a:pPr>
            <a:r>
              <a:t>Какие active problems сейчас самые критичные?</a:t>
            </a:r>
          </a:p>
          <a:p>
            <a:pPr>
              <a:defRPr sz="3600"/>
            </a:pPr>
            <a:r>
              <a:t>Где растет disk usage или inode usage?</a:t>
            </a:r>
          </a:p>
          <a:p>
            <a:pPr>
              <a:defRPr sz="3600"/>
            </a:pPr>
            <a:r>
              <a:t>Когда был последний успешный backup?</a:t>
            </a:r>
          </a:p>
          <a:p>
            <a:pPr>
              <a:defRPr sz="3600"/>
            </a:pPr>
            <a:r>
              <a:t>Есть ли очередь Zabbix и unsupported items?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5. CPU, RAM, диски, сеть, процессы, порты и службы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Базовые Linux-метрики должны показывать не только факт нагрузки, но и тип риска</a:t>
            </a:r>
          </a:p>
          <a:p>
            <a:pPr>
              <a:defRPr sz="3600"/>
            </a:pPr>
            <a:r>
              <a:t>CPU, RAM, disk и network требуют разных интерпретаций</a:t>
            </a:r>
          </a:p>
          <a:p>
            <a:pPr>
              <a:defRPr sz="3600"/>
            </a:pPr>
            <a:r>
              <a:t>Process, unit, port и application check нужно проверять разными уровнями</a:t>
            </a:r>
          </a:p>
          <a:p>
            <a:pPr>
              <a:defRPr sz="3600"/>
            </a:pPr>
            <a:r>
              <a:t>Для каждого сервиса важно отделять локальное состояние от внешней доступности</a:t>
            </a:r>
          </a:p>
          <a:p>
            <a:pPr>
              <a:defRPr sz="3600"/>
            </a:pPr>
            <a:r>
              <a:t>Мониторинг должен помогать выбрать следующую диагностическую команду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CPU нужно читать через несколько признаков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CPU utilization показывает занятость процессора</a:t>
            </a:r>
          </a:p>
          <a:p>
            <a:pPr>
              <a:defRPr sz="3600"/>
            </a:pPr>
            <a:r>
              <a:t>Load average показывает очередь работы и зависит от числа CPU</a:t>
            </a:r>
          </a:p>
          <a:p>
            <a:pPr>
              <a:defRPr sz="3600"/>
            </a:pPr>
            <a:r>
              <a:t>I/O wait показывает ожидание дисковой подсистемы</a:t>
            </a:r>
          </a:p>
          <a:p>
            <a:pPr>
              <a:defRPr sz="3600"/>
            </a:pPr>
            <a:r>
              <a:t>Steal time важен для виртуальных машин и показывает дефицит CPU на гипервизоре</a:t>
            </a:r>
          </a:p>
          <a:p>
            <a:pPr>
              <a:defRPr sz="3600"/>
            </a:pPr>
            <a:r>
              <a:t>Высокий load не всегда означает проблему именно с процессором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RAM нельзя оценивать только по used percent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Linux активно использует память под page cache</a:t>
            </a:r>
          </a:p>
          <a:p>
            <a:pPr>
              <a:defRPr sz="3600"/>
            </a:pPr>
            <a:r>
              <a:t>Available memory полезнее для тревоги, чем просто used memory</a:t>
            </a:r>
          </a:p>
          <a:p>
            <a:pPr>
              <a:defRPr sz="3600"/>
            </a:pPr>
            <a:r>
              <a:t>Swap usage и swap in/out показывают давление памяти</a:t>
            </a:r>
          </a:p>
          <a:p>
            <a:pPr>
              <a:defRPr sz="3600"/>
            </a:pPr>
            <a:r>
              <a:t>OOM events показывают, что ядро убивало процессы из-за нехватки RAM</a:t>
            </a:r>
          </a:p>
          <a:p>
            <a:pPr>
              <a:defRPr sz="3600"/>
            </a:pPr>
            <a:r>
              <a:t>Критическая тревога только по высокому cache может быть ложной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Диск требует проверки capacity, inode и I/O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Filesystem usage показывает заполнение по байтам</a:t>
            </a:r>
          </a:p>
          <a:p>
            <a:pPr>
              <a:defRPr sz="3600"/>
            </a:pPr>
            <a:r>
              <a:t>Inode usage показывает риск No space left on device при наличии свободных байтов</a:t>
            </a:r>
          </a:p>
          <a:p>
            <a:pPr>
              <a:defRPr sz="3600"/>
            </a:pPr>
            <a:r>
              <a:t>I/O latency и utilization показывают проблему производительности</a:t>
            </a:r>
          </a:p>
          <a:p>
            <a:pPr>
              <a:defRPr sz="3600"/>
            </a:pPr>
            <a:r>
              <a:t>Read-only remount может означать серьезную ошибку файловой системы</a:t>
            </a:r>
          </a:p>
          <a:p>
            <a:pPr>
              <a:defRPr sz="3600"/>
            </a:pPr>
            <a:r>
              <a:t>RAID degraded требует отдельного контроля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Process, Unit, Port и Application Check нужно разделять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Process exists: процесс присутствует в системе</a:t>
            </a:r>
          </a:p>
          <a:p>
            <a:pPr>
              <a:defRPr sz="3600"/>
            </a:pPr>
            <a:r>
              <a:t>systemd unit active: служба считает себя запущенной</a:t>
            </a:r>
          </a:p>
          <a:p>
            <a:pPr>
              <a:defRPr sz="3600"/>
            </a:pPr>
            <a:r>
              <a:t>Local port listening: порт слушается на сервере</a:t>
            </a:r>
          </a:p>
          <a:p>
            <a:pPr>
              <a:defRPr sz="3600"/>
            </a:pPr>
            <a:r>
              <a:t>Remote port reachable: порт доступен с точки проверки</a:t>
            </a:r>
          </a:p>
          <a:p>
            <a:pPr>
              <a:defRPr sz="3600"/>
            </a:pPr>
            <a:r>
              <a:t>Application response: сервис возвращает правильный ответ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Nginx проверяют минимум по трем уровням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systemd: nginx unit active или inactive</a:t>
            </a:r>
          </a:p>
          <a:p>
            <a:pPr>
              <a:defRPr sz="3600"/>
            </a:pPr>
            <a:r>
              <a:t>Port: TCP 80 слушается локально</a:t>
            </a:r>
          </a:p>
          <a:p>
            <a:pPr>
              <a:defRPr sz="3600"/>
            </a:pPr>
            <a:r>
              <a:t>Remote reachability: TCP 80 доступен с Zabbix Server или Proxy</a:t>
            </a:r>
          </a:p>
          <a:p>
            <a:pPr>
              <a:defRPr sz="3600"/>
            </a:pPr>
            <a:r>
              <a:t>Application: HTTP возвращает 200 и ожидаемое содержимое</a:t>
            </a:r>
          </a:p>
          <a:p>
            <a:pPr>
              <a:defRPr sz="3600"/>
            </a:pPr>
            <a:r>
              <a:t>Upstream: приложение за Nginx отвечает без HTTP 500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Локальный port check не доказывает внешнюю доступность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Agent может видеть, что TCP 80 слушается локально</a:t>
            </a:r>
          </a:p>
          <a:p>
            <a:pPr>
              <a:defRPr sz="3600"/>
            </a:pPr>
            <a:r>
              <a:t>Firewall может блокировать доступ извне</a:t>
            </a:r>
          </a:p>
          <a:p>
            <a:pPr>
              <a:defRPr sz="3600"/>
            </a:pPr>
            <a:r>
              <a:t>NAT, ACL, маршрут или load balancer могут быть настроены неверно</a:t>
            </a:r>
          </a:p>
          <a:p>
            <a:pPr>
              <a:defRPr sz="3600"/>
            </a:pPr>
            <a:r>
              <a:t>DNS может указывать не туда</a:t>
            </a:r>
          </a:p>
          <a:p>
            <a:pPr>
              <a:defRPr sz="3600"/>
            </a:pPr>
            <a:r>
              <a:t>Для критичного сервиса нужны локальная проверка и внешняя web scenario или remote port check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UDP OpenVPN нельзя проверять как обычный TCP-порт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UDP не устанавливает соединение как TCP</a:t>
            </a:r>
          </a:p>
          <a:p>
            <a:pPr>
              <a:defRPr sz="3600"/>
            </a:pPr>
            <a:r>
              <a:t>Отсутствие ответа по UDP не всегда означает закрытый порт</a:t>
            </a:r>
          </a:p>
          <a:p>
            <a:pPr>
              <a:defRPr sz="3600"/>
            </a:pPr>
            <a:r>
              <a:t>Нужно проверять процесс OpenVPN и локальное прослушивание UDP 1194</a:t>
            </a:r>
          </a:p>
          <a:p>
            <a:pPr>
              <a:defRPr sz="3600"/>
            </a:pPr>
            <a:r>
              <a:t>Нужно проверять входящие пакеты, журналы подключения и состояние tunnel</a:t>
            </a:r>
          </a:p>
          <a:p>
            <a:pPr>
              <a:defRPr sz="3600"/>
            </a:pPr>
            <a:r>
              <a:t>Лучший прикладной тест: тестовый клиент устанавливает VPN и видит внутренний ресурс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6. Active/passive checks, пороги и ложные срабатывания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Тип проверки выбирают по сетевой схеме и требованиям доступа</a:t>
            </a:r>
          </a:p>
          <a:p>
            <a:pPr>
              <a:defRPr sz="3600"/>
            </a:pPr>
            <a:r>
              <a:t>Порог должен учитывать baseline, длительность и влияние на сервис</a:t>
            </a:r>
          </a:p>
          <a:p>
            <a:pPr>
              <a:defRPr sz="3600"/>
            </a:pPr>
            <a:r>
              <a:t>Ложные срабатывания снижают доверие к мониторингу</a:t>
            </a:r>
          </a:p>
          <a:p>
            <a:pPr>
              <a:defRPr sz="3600"/>
            </a:pPr>
            <a:r>
              <a:t>Dependencies помогают подавить вторичные проблемы</a:t>
            </a:r>
          </a:p>
          <a:p>
            <a:pPr>
              <a:defRPr sz="3600"/>
            </a:pPr>
            <a:r>
              <a:t>Maintenance нужен для плановых работ, а не для маскировки ошибок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Dependencies уменьшают alarm storm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Если router недоступен, web01, vpn01 и backup01 тоже могут стать недоступны</a:t>
            </a:r>
          </a:p>
          <a:p>
            <a:pPr>
              <a:defRPr sz="3600"/>
            </a:pPr>
            <a:r>
              <a:t>Без dependencies Zabbix создаст много вторичных problems</a:t>
            </a:r>
          </a:p>
          <a:p>
            <a:pPr>
              <a:defRPr sz="3600"/>
            </a:pPr>
            <a:r>
              <a:t>Основная проблема: Host unreachable через router</a:t>
            </a:r>
          </a:p>
          <a:p>
            <a:pPr>
              <a:defRPr sz="3600"/>
            </a:pPr>
            <a:r>
              <a:t>Зависимые проблемы: services on hosts</a:t>
            </a:r>
          </a:p>
          <a:p>
            <a:pPr>
              <a:defRPr sz="3600"/>
            </a:pPr>
            <a:r>
              <a:t>Зависимости помогают дежурному видеть корневой симптом первым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7. Уведомления, backup, пользовательские сценарии и безопасность Zabbix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Уведомление должно содержать данные для действия, а не только текст Alarm</a:t>
            </a:r>
          </a:p>
          <a:p>
            <a:pPr>
              <a:defRPr sz="3600"/>
            </a:pPr>
            <a:r>
              <a:t>Backup нужно мониторить по подтвержденной успешной точке, а не просто по свежему файлу</a:t>
            </a:r>
          </a:p>
          <a:p>
            <a:pPr>
              <a:defRPr sz="3600"/>
            </a:pPr>
            <a:r>
              <a:t>UserParameter должен возвращать одно машинно читаемое значение</a:t>
            </a:r>
          </a:p>
          <a:p>
            <a:pPr>
              <a:defRPr sz="3600"/>
            </a:pPr>
            <a:r>
              <a:t>Скрипты Agent выполняются с ограниченными правами</a:t>
            </a:r>
          </a:p>
          <a:p>
            <a:pPr>
              <a:defRPr sz="3600"/>
            </a:pPr>
            <a:r>
              <a:t>Сам Zabbix Server является критичной системой и тоже должен мониториться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Backup age должен измерять успешную копию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Свежий файл не доказывает успешный backup</a:t>
            </a:r>
          </a:p>
          <a:p>
            <a:pPr>
              <a:defRPr sz="3600"/>
            </a:pPr>
            <a:r>
              <a:t>Файл может быть пустым, поврежденным или созданным до завершения задания</a:t>
            </a:r>
          </a:p>
          <a:p>
            <a:pPr>
              <a:defRPr sz="3600"/>
            </a:pPr>
            <a:r>
              <a:t>Backup script должен создавать marker только после успешного завершения</a:t>
            </a:r>
          </a:p>
          <a:p>
            <a:pPr>
              <a:defRPr sz="3600"/>
            </a:pPr>
            <a:r>
              <a:t>Полезные items: backup.last_success_timestamp, backup.duration, backup.size</a:t>
            </a:r>
          </a:p>
          <a:p>
            <a:pPr>
              <a:defRPr sz="3600"/>
            </a:pPr>
            <a:r>
              <a:t>Дополнительно контролируют files_count, integrity_status и restore_test_age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UserParameter получает stdout, а не exit code как значение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Обычный UserParameter передает в Zabbix стандартный вывод команды</a:t>
            </a:r>
          </a:p>
          <a:p>
            <a:pPr>
              <a:defRPr sz="3600"/>
            </a:pPr>
            <a:r>
              <a:t>Exit code нужен Agent для понимания успешности выполнения команды</a:t>
            </a:r>
          </a:p>
          <a:p>
            <a:pPr>
              <a:defRPr sz="3600"/>
            </a:pPr>
            <a:r>
              <a:t>Exit code не превращается автоматически в item value 0, 1, 2 или 3</a:t>
            </a:r>
          </a:p>
          <a:p>
            <a:pPr>
              <a:defRPr sz="3600"/>
            </a:pPr>
            <a:r>
              <a:t>Если item ожидает число, скрипт должен вывести только число</a:t>
            </a:r>
          </a:p>
          <a:p>
            <a:pPr>
              <a:defRPr sz="3600"/>
            </a:pPr>
            <a:r>
              <a:t>Человекочитаемый вывод вида CRITICAL: disk=95% может сделать item unsupported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Скрипт для Numeric Item должен печатать число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Пример item: custom.backup.age</a:t>
            </a:r>
          </a:p>
          <a:p>
            <a:pPr>
              <a:defRPr sz="3600"/>
            </a:pPr>
            <a:r>
              <a:t>UserParameter=custom.backup.age,/usr/local/sbin/backup-age-zabbix.sh</a:t>
            </a:r>
          </a:p>
          <a:p>
            <a:pPr>
              <a:defRPr sz="3600"/>
            </a:pPr>
            <a:r>
              <a:t>Скрипт выводит возраст последнего успешного backup в секундах</a:t>
            </a:r>
          </a:p>
          <a:p>
            <a:pPr>
              <a:defRPr sz="3600"/>
            </a:pPr>
            <a:r>
              <a:t>Если marker отсутствует, скрипт может вывести большое число, например 999999</a:t>
            </a:r>
          </a:p>
          <a:p>
            <a:pPr>
              <a:defRPr sz="3600"/>
            </a:pPr>
            <a:r>
              <a:t>Trigger сравнивает item с RPO, например backup age &gt; 86400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server-health.sh и Zabbix Items лучше разделить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server-health.sh удобен человеку как общий отчет</a:t>
            </a:r>
          </a:p>
          <a:p>
            <a:pPr>
              <a:defRPr sz="3600"/>
            </a:pPr>
            <a:r>
              <a:t>Zabbix item должен возвращать одно значение</a:t>
            </a:r>
          </a:p>
          <a:p>
            <a:pPr>
              <a:defRPr sz="3600"/>
            </a:pPr>
            <a:r>
              <a:t>Примеры items: custom.disk.usage[/], custom.service.status[nginx]</a:t>
            </a:r>
          </a:p>
          <a:p>
            <a:pPr>
              <a:defRPr sz="3600"/>
            </a:pPr>
            <a:r>
              <a:t>Примеры items: custom.backup.age, custom.raid.state</a:t>
            </a:r>
          </a:p>
          <a:p>
            <a:pPr>
              <a:defRPr sz="3600"/>
            </a:pPr>
            <a:r>
              <a:t>Разделение упрощает trigger expressions и снижает риск unsupported items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Гибкий UserParameter требует валидации аргументов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Пример: UserParameter=custom.service.status[*],/usr/local/sbin/check-service-zabbix.sh "$1"</a:t>
            </a:r>
          </a:p>
          <a:p>
            <a:pPr>
              <a:defRPr sz="3600"/>
            </a:pPr>
            <a:r>
              <a:t>Аргумент $1 поступает из item key</a:t>
            </a:r>
          </a:p>
          <a:p>
            <a:pPr>
              <a:defRPr sz="3600"/>
            </a:pPr>
            <a:r>
              <a:t>Скрипт должен разрешать только ожидаемые unit names</a:t>
            </a:r>
          </a:p>
          <a:p>
            <a:pPr>
              <a:defRPr sz="3600"/>
            </a:pPr>
            <a:r>
              <a:t>Разрешенный список: nginx, ssh, openvpn-server@server</a:t>
            </a:r>
          </a:p>
          <a:p>
            <a:pPr>
              <a:defRPr sz="3600"/>
            </a:pPr>
            <a:r>
              <a:t>Для неизвестного значения вернуть ZBX_NOTSUPPORTED: unsupported service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UserParameter выполняется с правами пользователя zabbix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Скрипт не выполняется от root по умолчанию</a:t>
            </a:r>
          </a:p>
          <a:p>
            <a:pPr>
              <a:defRPr sz="3600"/>
            </a:pPr>
            <a:r>
              <a:t>Пользователь zabbix может не читать закрытые журналы, /root, docker socket и private keys</a:t>
            </a:r>
          </a:p>
          <a:p>
            <a:pPr>
              <a:defRPr sz="3600"/>
            </a:pPr>
            <a:r>
              <a:t>Нельзя выдавать zabbix ALL=(ALL) NOPASSWD: ALL</a:t>
            </a:r>
          </a:p>
          <a:p>
            <a:pPr>
              <a:defRPr sz="3600"/>
            </a:pPr>
            <a:r>
              <a:t>Если нужны повышенные права, используют точечный root-owned wrapper</a:t>
            </a:r>
          </a:p>
          <a:p>
            <a:pPr>
              <a:defRPr sz="3600"/>
            </a:pPr>
            <a:r>
              <a:t>Wrapper должен возвращать только нужное значение и не принимать опасные аргументы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UserParameter нужно тестировать от имени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Недостаточно запустить скрипт от root</a:t>
            </a:r>
          </a:p>
          <a:p>
            <a:pPr>
              <a:defRPr sz="3600"/>
            </a:pPr>
            <a:r>
              <a:t>Команда: sudo -u zabbix /usr/local/sbin/backup-age-zabbix.sh</a:t>
            </a:r>
          </a:p>
          <a:p>
            <a:pPr>
              <a:defRPr sz="3600"/>
            </a:pPr>
            <a:r>
              <a:t>Назначение: проверить реальные права пользователя Agent</a:t>
            </a:r>
          </a:p>
          <a:p>
            <a:pPr>
              <a:defRPr sz="3600"/>
            </a:pPr>
            <a:r>
              <a:t>После изменения конфигурации: sudo systemctl restart zabbix-agent2</a:t>
            </a:r>
          </a:p>
          <a:p>
            <a:pPr>
              <a:defRPr sz="3600"/>
            </a:pPr>
            <a:r>
              <a:t>Для classic agent команда будет отличаться: sudo systemctl restart zabbix-agent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Тяжелые проверки нельзя выполнять синхронно из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UserParameter не должен запускать длительный du / или полный find</a:t>
            </a:r>
          </a:p>
          <a:p>
            <a:pPr>
              <a:defRPr sz="3600"/>
            </a:pPr>
            <a:r>
              <a:t>UserParameter не должен запускать backup или restore</a:t>
            </a:r>
          </a:p>
          <a:p>
            <a:pPr>
              <a:defRPr sz="3600"/>
            </a:pPr>
            <a:r>
              <a:t>Долгая команда может превысить timeout и сделать item unsupported</a:t>
            </a:r>
          </a:p>
          <a:p>
            <a:pPr>
              <a:defRPr sz="3600"/>
            </a:pPr>
            <a:r>
              <a:t>Лучше: systemd timer выполняет тяжелую проверку и пишет state file</a:t>
            </a:r>
          </a:p>
          <a:p>
            <a:pPr>
              <a:defRPr sz="3600"/>
            </a:pPr>
            <a:r>
              <a:t>UserParameter быстро читает готовое число из state file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Action, Media Type, Escalation и Recovery Notification различаются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Media Type — способ доставки: email, webhook или другой канал</a:t>
            </a:r>
          </a:p>
          <a:p>
            <a:pPr>
              <a:defRPr sz="3600"/>
            </a:pPr>
            <a:r>
              <a:t>User Media — адрес конкретного пользователя</a:t>
            </a:r>
          </a:p>
          <a:p>
            <a:pPr>
              <a:defRPr sz="3600"/>
            </a:pPr>
            <a:r>
              <a:t>Action — условия и операции отправки уведомлений</a:t>
            </a:r>
          </a:p>
          <a:p>
            <a:pPr>
              <a:defRPr sz="3600"/>
            </a:pPr>
            <a:r>
              <a:t>Escalation — повторные или изменяющиеся действия со временем</a:t>
            </a:r>
          </a:p>
          <a:p>
            <a:pPr>
              <a:defRPr sz="3600"/>
            </a:pPr>
            <a:r>
              <a:t>Recovery Notification сообщает, что проблема действительно завершилась</a:t>
            </a:r>
          </a:p>
          <a:p>
            <a:pPr>
              <a:defRPr sz="3600"/>
            </a:pPr>
            <a:r>
              <a:t>В сообщении нужны host, severity, last value, duration, tags и ссылка на runbook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Безопасность Agent-соединений требует ограничений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Server= и ServerActive= должны указывать доверенные адреса</a:t>
            </a:r>
          </a:p>
          <a:p>
            <a:pPr>
              <a:defRPr sz="3600"/>
            </a:pPr>
            <a:r>
              <a:t>TCP 10050 открывают только с Zabbix Server или Proxy</a:t>
            </a:r>
          </a:p>
          <a:p>
            <a:pPr>
              <a:defRPr sz="3600"/>
            </a:pPr>
            <a:r>
              <a:t>Active checks подключаются к TCP 10051 на Server или Proxy</a:t>
            </a:r>
          </a:p>
          <a:p>
            <a:pPr>
              <a:defRPr sz="3600"/>
            </a:pPr>
            <a:r>
              <a:t>Через недоверенные сети используют TLS PSK или certificates</a:t>
            </a:r>
          </a:p>
          <a:p>
            <a:pPr>
              <a:defRPr sz="3600"/>
            </a:pPr>
            <a:r>
              <a:t>Agent не выставляют напрямую в Интернет и не включают remote commands без необходимости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Zabbix Frontend — отдельная поверхность атаки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В маленьком стенде Server, Database и Frontend могут быть на одной ВМ</a:t>
            </a:r>
          </a:p>
          <a:p>
            <a:pPr>
              <a:defRPr sz="3600"/>
            </a:pPr>
            <a:r>
              <a:t>В production их рассматривают как разные зоны доверия</a:t>
            </a:r>
          </a:p>
          <a:p>
            <a:pPr>
              <a:defRPr sz="3600"/>
            </a:pPr>
            <a:r>
              <a:t>Frontend должен работать через HTTPS</a:t>
            </a:r>
          </a:p>
          <a:p>
            <a:pPr>
              <a:defRPr sz="3600"/>
            </a:pPr>
            <a:r>
              <a:t>Нужны сильная аутентификация, RBAC и отдельные admin accounts</a:t>
            </a:r>
          </a:p>
          <a:p>
            <a:pPr>
              <a:defRPr sz="3600"/>
            </a:pPr>
            <a:r>
              <a:t>Нужно защищать database credentials и журналировать входы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Секреты в Zabbix нужно хранить как Secret Macros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В Zabbix могут храниться tokens, SNMP communities, API keys и passwords</a:t>
            </a:r>
          </a:p>
          <a:p>
            <a:pPr>
              <a:defRPr sz="3600"/>
            </a:pPr>
            <a:r>
              <a:t>Обычные user macros могут быть видны шире, чем нужно</a:t>
            </a:r>
          </a:p>
          <a:p>
            <a:pPr>
              <a:defRPr sz="3600"/>
            </a:pPr>
            <a:r>
              <a:t>Secret macros скрывают значение в интерфейсе</a:t>
            </a:r>
          </a:p>
          <a:p>
            <a:pPr>
              <a:defRPr sz="3600"/>
            </a:pPr>
            <a:r>
              <a:t>Секреты нельзя выводить в trigger name, logs и operational data</a:t>
            </a:r>
          </a:p>
          <a:p>
            <a:pPr>
              <a:defRPr sz="3600"/>
            </a:pPr>
            <a:r>
              <a:t>Credentials должны иметь процедуру ротации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Backup Zabbix включает больше, чем database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Основная конфигурация Zabbix хранится в database</a:t>
            </a:r>
          </a:p>
          <a:p>
            <a:pPr>
              <a:defRPr sz="3600"/>
            </a:pPr>
            <a:r>
              <a:t>Также нужны server config, frontend config и web server config</a:t>
            </a:r>
          </a:p>
          <a:p>
            <a:pPr>
              <a:defRPr sz="3600"/>
            </a:pPr>
            <a:r>
              <a:t>Нужны TLS keys, PSK, custom scripts и alert scripts</a:t>
            </a:r>
          </a:p>
          <a:p>
            <a:pPr>
              <a:defRPr sz="3600"/>
            </a:pPr>
            <a:r>
              <a:t>Нужны UserParameter configurations и external checks</a:t>
            </a:r>
          </a:p>
          <a:p>
            <a:pPr>
              <a:defRPr sz="3600"/>
            </a:pPr>
            <a:r>
              <a:t>Template export полезен, но не заменяет backup database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Сам Zabbix должен мониториться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Проверять доступность Zabbix Server process</a:t>
            </a:r>
          </a:p>
          <a:p>
            <a:pPr>
              <a:defRPr sz="3600"/>
            </a:pPr>
            <a:r>
              <a:t>Проверять queue, poller busy, preprocessing busy и cache usage</a:t>
            </a:r>
          </a:p>
          <a:p>
            <a:pPr>
              <a:defRPr sz="3600"/>
            </a:pPr>
            <a:r>
              <a:t>Проверять database connections, database size и disk space</a:t>
            </a:r>
          </a:p>
          <a:p>
            <a:pPr>
              <a:defRPr sz="3600"/>
            </a:pPr>
            <a:r>
              <a:t>Проверять unsupported items и housekeeper duration</a:t>
            </a:r>
          </a:p>
          <a:p>
            <a:pPr>
              <a:defRPr sz="3600"/>
            </a:pPr>
            <a:r>
              <a:t>Для proxy проверять proxy last seen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Смоделировать заполнение диска нужно безопасно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Не заполнять root filesystem рабочей ВМ до 95–100%</a:t>
            </a:r>
          </a:p>
          <a:p>
            <a:pPr>
              <a:defRPr sz="3600"/>
            </a:pPr>
            <a:r>
              <a:t>Создать отдельный небольшой LV или виртуальный диск</a:t>
            </a:r>
          </a:p>
          <a:p>
            <a:pPr>
              <a:defRPr sz="3600"/>
            </a:pPr>
            <a:r>
              <a:t>Смонтировать его в /srv/monitor-test</a:t>
            </a:r>
          </a:p>
          <a:p>
            <a:pPr>
              <a:defRPr sz="3600"/>
            </a:pPr>
            <a:r>
              <a:t>Создать trigger только для этой файловой системы</a:t>
            </a:r>
          </a:p>
          <a:p>
            <a:pPr>
              <a:defRPr sz="3600"/>
            </a:pPr>
            <a:r>
              <a:t>После Problem удалить тестовый файл и проверить Recovery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Матрица отказов делает лабораторию проверяемой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Agent остановлен — expected problem: Agent unavailable</a:t>
            </a:r>
          </a:p>
          <a:p>
            <a:pPr>
              <a:defRPr sz="3600"/>
            </a:pPr>
            <a:r>
              <a:t>Nginx остановлен — expected problem: Service down</a:t>
            </a:r>
          </a:p>
          <a:p>
            <a:pPr>
              <a:defRPr sz="3600"/>
            </a:pPr>
            <a:r>
              <a:t>HTTP возвращает 500 — expected problem: Application unavailable</a:t>
            </a:r>
          </a:p>
          <a:p>
            <a:pPr>
              <a:defRPr sz="3600"/>
            </a:pPr>
            <a:r>
              <a:t>Test filesystem &gt;90% — expected problem: Disk high usage</a:t>
            </a:r>
          </a:p>
          <a:p>
            <a:pPr>
              <a:defRPr sz="3600"/>
            </a:pPr>
            <a:r>
              <a:t>Backup старше RPO — expected problem: Backup stale</a:t>
            </a:r>
          </a:p>
          <a:p>
            <a:pPr>
              <a:defRPr sz="3600"/>
            </a:pPr>
            <a:r>
              <a:t>Maintenance active — expected behavior: notification suppressed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Диаграмма: цикл monitoring, problem, action и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F668697-515B-D775-92D8-4E45072168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Итоги лекции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Zabbix полезен, когда метрика связана с порогом, влиянием и действием администратора</a:t>
            </a:r>
          </a:p>
          <a:p>
            <a:pPr>
              <a:defRPr sz="3600"/>
            </a:pPr>
            <a:r>
              <a:t>Active и passive checks отличаются инициатором соединения, портами и сетевыми требованиями</a:t>
            </a:r>
          </a:p>
          <a:p>
            <a:pPr>
              <a:defRPr sz="3600"/>
            </a:pPr>
            <a:r>
              <a:t>Trigger должен учитывать длительность, отсутствие данных, hysteresis и влияние на сервис</a:t>
            </a:r>
          </a:p>
          <a:p>
            <a:pPr>
              <a:defRPr sz="3600"/>
            </a:pPr>
            <a:r>
              <a:t>UserParameter должен возвращать одно машинно читаемое значение и выполняться с ограниченными правами</a:t>
            </a:r>
          </a:p>
          <a:p>
            <a:pPr>
              <a:defRPr sz="3600"/>
            </a:pPr>
            <a:r>
              <a:t>Мониторить нужно не только Linux hosts, но и backup, Zabbix Server, database и саму систему уведомлений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Контрольные вопросы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Чем мониторинг отличается от журналирования и аудита?</a:t>
            </a:r>
          </a:p>
          <a:p>
            <a:pPr>
              <a:defRPr sz="3600"/>
            </a:pPr>
            <a:r>
              <a:t>Какой поток данных проходит через Agent, Server, Database и Frontend?</a:t>
            </a:r>
          </a:p>
          <a:p>
            <a:pPr>
              <a:defRPr sz="3600"/>
            </a:pPr>
            <a:r>
              <a:t>Чем passive check отличается от active check?</a:t>
            </a:r>
          </a:p>
          <a:p>
            <a:pPr>
              <a:defRPr sz="3600"/>
            </a:pPr>
            <a:r>
              <a:t>Почему локальный port check не доказывает внешнюю доступность сервиса?</a:t>
            </a:r>
          </a:p>
          <a:p>
            <a:pPr>
              <a:defRPr sz="3600"/>
            </a:pPr>
            <a:r>
              <a:t>Почему exit code UserParameter не является item value?</a:t>
            </a:r>
          </a:p>
          <a:p>
            <a:pPr>
              <a:defRPr sz="3600"/>
            </a:pPr>
            <a:r>
              <a:t>Какие метрики нужно контролировать для backup и самого Zabbix Server?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3143</Words>
  <Application>Microsoft Office PowerPoint</Application>
  <PresentationFormat>Широкоэкранный</PresentationFormat>
  <Paragraphs>345</Paragraphs>
  <Slides>60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60</vt:i4>
      </vt:variant>
    </vt:vector>
  </HeadingPairs>
  <TitlesOfParts>
    <vt:vector size="63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user</cp:lastModifiedBy>
  <cp:revision>2</cp:revision>
  <dcterms:created xsi:type="dcterms:W3CDTF">2013-01-27T09:14:16Z</dcterms:created>
  <dcterms:modified xsi:type="dcterms:W3CDTF">2026-07-28T11:13:15Z</dcterms:modified>
  <cp:category/>
</cp:coreProperties>
</file>