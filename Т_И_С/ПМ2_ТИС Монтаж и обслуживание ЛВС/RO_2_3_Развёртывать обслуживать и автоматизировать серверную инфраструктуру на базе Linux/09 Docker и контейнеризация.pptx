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9. Основы Docker и контейнеризация приложений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 помогает запускать приложения в изолированных контейнерах с повторяемой конфигурацией</a:t>
            </a:r>
          </a:p>
          <a:p>
            <a:pPr>
              <a:defRPr sz="3600"/>
            </a:pPr>
            <a:r>
              <a:t>Контейнеризация не отменяет администрирование Linux, сети, хранения данных и безопасности</a:t>
            </a:r>
          </a:p>
          <a:p>
            <a:pPr>
              <a:defRPr sz="3600"/>
            </a:pPr>
            <a:r>
              <a:t>Учебный сценарий: развернуть Nginx, подключить данные, собрать образ и описать запуск через Compose</a:t>
            </a:r>
          </a:p>
          <a:p>
            <a:pPr>
              <a:defRPr sz="3600"/>
            </a:pPr>
            <a:r>
              <a:t>Главная идея: контейнер должен быть воспроизводимым, диагностируемым и безопасно ограниченным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отличие контейнера от виртуальной машины</a:t>
            </a:r>
          </a:p>
          <a:p>
            <a:pPr>
              <a:defRPr sz="3600"/>
            </a:pPr>
            <a:r>
              <a:t>Уметь объяснить Docker Engine, Docker Daemon, Docker API, Registry, Image и Container</a:t>
            </a:r>
          </a:p>
          <a:p>
            <a:pPr>
              <a:defRPr sz="3600"/>
            </a:pPr>
            <a:r>
              <a:t>Уметь безопасно запускать контейнер, публиковать порт и подключать данные</a:t>
            </a:r>
          </a:p>
          <a:p>
            <a:pPr>
              <a:defRPr sz="3600"/>
            </a:pPr>
            <a:r>
              <a:t>Уметь читать logs, выполнять exec, задавать restart policy и healthcheck</a:t>
            </a:r>
          </a:p>
          <a:p>
            <a:pPr>
              <a:defRPr sz="3600"/>
            </a:pPr>
            <a:r>
              <a:t>Уметь составить Dockerfile и compose.yaml для базового web-сервиса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Контейнер и виртуальная машина; Docker Engine, Client и Registry</a:t>
            </a:r>
          </a:p>
          <a:p>
            <a:pPr>
              <a:defRPr sz="3600"/>
            </a:pPr>
            <a:r>
              <a:t>2. Image, container, слои и жизненный цикл</a:t>
            </a:r>
          </a:p>
          <a:p>
            <a:pPr>
              <a:defRPr sz="3600"/>
            </a:pPr>
            <a:r>
              <a:t>3. Запуск, остановка, restart и удаление; публикация портов и env</a:t>
            </a:r>
          </a:p>
          <a:p>
            <a:pPr>
              <a:defRPr sz="3600"/>
            </a:pPr>
            <a:r>
              <a:t>4. Volumes, bind mounts и сети</a:t>
            </a:r>
          </a:p>
          <a:p>
            <a:pPr>
              <a:defRPr sz="3600"/>
            </a:pPr>
            <a:r>
              <a:t>5. Logs и exec; restart policy</a:t>
            </a:r>
          </a:p>
          <a:p>
            <a:pPr>
              <a:defRPr sz="3600"/>
            </a:pPr>
            <a:r>
              <a:t>6. Dockerfile и Docker Compose</a:t>
            </a:r>
          </a:p>
          <a:p>
            <a:pPr>
              <a:defRPr sz="3600"/>
            </a:pPr>
            <a:r>
              <a:t>7. Root, privileged mode и доверие к образам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Получить образ nginx:stable-alpine</a:t>
            </a:r>
          </a:p>
          <a:p>
            <a:pPr>
              <a:defRPr sz="3600"/>
            </a:pPr>
            <a:r>
              <a:t>Запустить Nginx только на loopback-адресе хоста: 127.0.0.1:8080</a:t>
            </a:r>
          </a:p>
          <a:p>
            <a:pPr>
              <a:defRPr sz="3600"/>
            </a:pPr>
            <a:r>
              <a:t>Подключить HTML-каталог как read-only bind mount</a:t>
            </a:r>
          </a:p>
          <a:p>
            <a:pPr>
              <a:defRPr sz="3600"/>
            </a:pPr>
            <a:r>
              <a:t>Собрать собственный образ lab-nginx:1.0</a:t>
            </a:r>
          </a:p>
          <a:p>
            <a:pPr>
              <a:defRPr sz="3600"/>
            </a:pPr>
            <a:r>
              <a:t>Перенести запуск в compose.yaml и проверить отказ, restart, logs и inspect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Контейнер и виртуальная машина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Контейнер — это изолированный процесс с файловым окружением, сетью и ограниченными ресурсами</a:t>
            </a:r>
          </a:p>
          <a:p>
            <a:pPr>
              <a:defRPr sz="3600"/>
            </a:pPr>
            <a:r>
              <a:t>Контейнер использует ядро хоста и не содержит отдельное ядро гостевой ОС</a:t>
            </a:r>
          </a:p>
          <a:p>
            <a:pPr>
              <a:defRPr sz="3600"/>
            </a:pPr>
            <a:r>
              <a:t>Виртуальная машина имеет собственную гостевую ОС и виртуальное оборудование</a:t>
            </a:r>
          </a:p>
          <a:p>
            <a:pPr>
              <a:defRPr sz="3600"/>
            </a:pPr>
            <a:r>
              <a:t>Контейнер обычно запускается быстрее и потребляет меньше ресурсов</a:t>
            </a:r>
          </a:p>
          <a:p>
            <a:pPr>
              <a:defRPr sz="3600"/>
            </a:pPr>
            <a:r>
              <a:t>Граница изоляции контейнера не равна полноценной границе виртуальной машины</a:t>
            </a:r>
          </a:p>
          <a:p>
            <a:pPr>
              <a:defRPr sz="3600"/>
            </a:pPr>
            <a:r>
              <a:t>Linux-контейнеру нужен Linux Kernel; поверх Windows обычно используется Linux VM или совместимый слой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Изоляция контейнера строится на механизмах ядра Linux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Namespaces разделяют процессы, сеть, mount points и другие пространства имен</a:t>
            </a:r>
          </a:p>
          <a:p>
            <a:pPr>
              <a:defRPr sz="3600"/>
            </a:pPr>
            <a:r>
              <a:t>Cgroups ограничивают и учитывают CPU, RAM и другие ресурсы</a:t>
            </a:r>
          </a:p>
          <a:p>
            <a:pPr>
              <a:defRPr sz="3600"/>
            </a:pPr>
            <a:r>
              <a:t>Файловая система контейнера строится из слоев image и writable layer</a:t>
            </a:r>
          </a:p>
          <a:p>
            <a:pPr>
              <a:defRPr sz="3600"/>
            </a:pPr>
            <a:r>
              <a:t>Capabilities ограничивают часть прав root-процесса</a:t>
            </a:r>
          </a:p>
          <a:p>
            <a:pPr>
              <a:defRPr sz="3600"/>
            </a:pPr>
            <a:r>
              <a:t>Контейнер остается процессом на хосте, а не отдельным сервером внутри сервера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виртуальная машина и контейнер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7A5272A-EF1F-3D8E-C1F7-04DCD8CDB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Docker состоит из Client, API, Daemon и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 CLI принимает команды администратора</a:t>
            </a:r>
          </a:p>
          <a:p>
            <a:pPr>
              <a:defRPr sz="3600"/>
            </a:pPr>
            <a:r>
              <a:t>Docker API передает команды Docker Daemon</a:t>
            </a:r>
          </a:p>
          <a:p>
            <a:pPr>
              <a:defRPr sz="3600"/>
            </a:pPr>
            <a:r>
              <a:t>dockerd управляет images, containers, networks и volumes</a:t>
            </a:r>
          </a:p>
          <a:p>
            <a:pPr>
              <a:defRPr sz="3600"/>
            </a:pPr>
            <a:r>
              <a:t>Container runtime запускает контейнерные процессы</a:t>
            </a:r>
          </a:p>
          <a:p>
            <a:pPr>
              <a:defRPr sz="3600"/>
            </a:pPr>
            <a:r>
              <a:t>Registry хранит и отдает images, например Docker Hub или внутренний registry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Docker Socket дает очень широкие права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 Socket обычно расположен здесь: /var/run/docker.sock</a:t>
            </a:r>
          </a:p>
          <a:p>
            <a:pPr>
              <a:defRPr sz="3600"/>
            </a:pPr>
            <a:r>
              <a:t>Пользователь с доступом к socket может управлять Docker Daemon</a:t>
            </a:r>
          </a:p>
          <a:p>
            <a:pPr>
              <a:defRPr sz="3600"/>
            </a:pPr>
            <a:r>
              <a:t>Группа docker не является обычной безопасной группой для новичка</a:t>
            </a:r>
          </a:p>
          <a:p>
            <a:pPr>
              <a:defRPr sz="3600"/>
            </a:pPr>
            <a:r>
              <a:t>Команда sudo usermod -aG docker student должна рассматриваться как выдача повышенных полномочий</a:t>
            </a:r>
          </a:p>
          <a:p>
            <a:pPr>
              <a:defRPr sz="3600"/>
            </a:pPr>
            <a:r>
              <a:t>Доступ к socket нужно ограничивать так же внимательно, как административный доступ к хосту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Image, container, слои и жизненный цикл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Image — шаблон файловой системы и метаданных для запуска контейнера</a:t>
            </a:r>
          </a:p>
          <a:p>
            <a:pPr>
              <a:defRPr sz="3600"/>
            </a:pPr>
            <a:r>
              <a:t>Container — экземпляр image с собственным состоянием запуска</a:t>
            </a:r>
          </a:p>
          <a:p>
            <a:pPr>
              <a:defRPr sz="3600"/>
            </a:pPr>
            <a:r>
              <a:t>Writable layer — изменяемый слой конкретного контейнера</a:t>
            </a:r>
          </a:p>
          <a:p>
            <a:pPr>
              <a:defRPr sz="3600"/>
            </a:pPr>
            <a:r>
              <a:t>Image ID или digest фиксируют конкретное содержимое</a:t>
            </a:r>
          </a:p>
          <a:p>
            <a:pPr>
              <a:defRPr sz="3600"/>
            </a:pPr>
            <a:r>
              <a:t>Tag — удобная ссылка, которая может быть переназначена на другой image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Tag удобен, но не гарантирует неизменяемость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nginx:latest сегодня и через месяц может указывать на разные images</a:t>
            </a:r>
          </a:p>
          <a:p>
            <a:pPr>
              <a:defRPr sz="3600"/>
            </a:pPr>
            <a:r>
              <a:t>Для лаборатории лучше использовать фиксированный tag: nginx:stable-alpine или nginx:1.27-alpine</a:t>
            </a:r>
          </a:p>
          <a:p>
            <a:pPr>
              <a:defRPr sz="3600"/>
            </a:pPr>
            <a:r>
              <a:t>Для максимальной воспроизводимости используют digest: nginx@sha256:...</a:t>
            </a:r>
          </a:p>
          <a:p>
            <a:pPr>
              <a:defRPr sz="3600"/>
            </a:pPr>
            <a:r>
              <a:t>Проверка images: docker image ls</a:t>
            </a:r>
          </a:p>
          <a:p>
            <a:pPr>
              <a:defRPr sz="3600"/>
            </a:pPr>
            <a:r>
              <a:t>Подробности image: docker image inspect nginx:stable-alpine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Writable layer сохраняется после stop и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 stop web останавливает контейнер, но не удаляет writable layer</a:t>
            </a:r>
          </a:p>
          <a:p>
            <a:pPr>
              <a:defRPr sz="3600"/>
            </a:pPr>
            <a:r>
              <a:t>docker start web запускает тот же контейнер с прежним writable layer</a:t>
            </a:r>
          </a:p>
          <a:p>
            <a:pPr>
              <a:defRPr sz="3600"/>
            </a:pPr>
            <a:r>
              <a:t>docker restart web перезапускает существующий контейнер</a:t>
            </a:r>
          </a:p>
          <a:p>
            <a:pPr>
              <a:defRPr sz="3600"/>
            </a:pPr>
            <a:r>
              <a:t>docker rm web удаляет контейнер и его writable layer</a:t>
            </a:r>
          </a:p>
          <a:p>
            <a:pPr>
              <a:defRPr sz="3600"/>
            </a:pPr>
            <a:r>
              <a:t>Для важных данных writable layer использовать не следует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docker run создает новый контейнер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docker run не запускает ранее остановленный контейнер</a:t>
            </a:r>
          </a:p>
          <a:p>
            <a:pPr>
              <a:defRPr sz="3600"/>
            </a:pPr>
            <a:r>
              <a:t>docker run создает новый container из image и запускает его</a:t>
            </a:r>
          </a:p>
          <a:p>
            <a:pPr>
              <a:defRPr sz="3600"/>
            </a:pPr>
            <a:r>
              <a:t>docker start запускает уже существующий container</a:t>
            </a:r>
          </a:p>
          <a:p>
            <a:pPr>
              <a:defRPr sz="3600"/>
            </a:pPr>
            <a:r>
              <a:t>docker restart перезапускает уже существующий container</a:t>
            </a:r>
          </a:p>
          <a:p>
            <a:pPr>
              <a:defRPr sz="3600"/>
            </a:pPr>
            <a:r>
              <a:t>Типичная ошибка: после остановки выполнить docker run и получить второй контейнер или конфликт порта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жизненного цикла контейнеров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 ps показывает только запущенные containers</a:t>
            </a:r>
          </a:p>
          <a:p>
            <a:pPr>
              <a:defRPr sz="3600"/>
            </a:pPr>
            <a:r>
              <a:t>docker ps -a показывает запущенные и остановленные containers</a:t>
            </a:r>
          </a:p>
          <a:p>
            <a:pPr>
              <a:defRPr sz="3600"/>
            </a:pPr>
            <a:r>
              <a:t>docker inspect web показывает подробную конфигурацию контейнера</a:t>
            </a:r>
          </a:p>
          <a:p>
            <a:pPr>
              <a:defRPr sz="3600"/>
            </a:pPr>
            <a:r>
              <a:t>docker rm -f web принудительно останавливает и удаляет container</a:t>
            </a:r>
          </a:p>
          <a:p>
            <a:pPr>
              <a:defRPr sz="3600"/>
            </a:pPr>
            <a:r>
              <a:t>docker container prune удаляет остановленные containers и требует осторожности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Контейнер живет, пока работает PID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Контейнер останавливается, когда завершается главный процесс внутри него</a:t>
            </a:r>
          </a:p>
          <a:p>
            <a:pPr>
              <a:defRPr sz="3600"/>
            </a:pPr>
            <a:r>
              <a:t>Команда docker run ubuntu echo hello выполнит echo и сразу завершит контейнер</a:t>
            </a:r>
          </a:p>
          <a:p>
            <a:pPr>
              <a:defRPr sz="3600"/>
            </a:pPr>
            <a:r>
              <a:t>-d запускает контейнер в фоне, но не делает процесс бесконечным</a:t>
            </a:r>
          </a:p>
          <a:p>
            <a:pPr>
              <a:defRPr sz="3600"/>
            </a:pPr>
            <a:r>
              <a:t>Главный процесс должен корректно обрабатывать сигналы</a:t>
            </a:r>
          </a:p>
          <a:p>
            <a:pPr>
              <a:defRPr sz="3600"/>
            </a:pPr>
            <a:r>
              <a:t>Это важно для штатного завершения баз данных и очередей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docker stop сначала отправляет SIGTERM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 stop отправляет главному процессу SIGTERM</a:t>
            </a:r>
          </a:p>
          <a:p>
            <a:pPr>
              <a:defRPr sz="3600"/>
            </a:pPr>
            <a:r>
              <a:t>Затем Docker ожидает заданное время</a:t>
            </a:r>
          </a:p>
          <a:p>
            <a:pPr>
              <a:defRPr sz="3600"/>
            </a:pPr>
            <a:r>
              <a:t>Если процесс не завершился, отправляется SIGKILL</a:t>
            </a:r>
          </a:p>
          <a:p>
            <a:pPr>
              <a:defRPr sz="3600"/>
            </a:pPr>
            <a:r>
              <a:t>Приложение должно успеть закрыть соединения, транзакции и дочерние процессы</a:t>
            </a:r>
          </a:p>
          <a:p>
            <a:pPr>
              <a:defRPr sz="3600"/>
            </a:pPr>
            <a:r>
              <a:t>Для чувствительных сервисов нужно проверять поведение остановки заранее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Запуск, остановка, restart, порты и env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 pull получает image из registry</a:t>
            </a:r>
          </a:p>
          <a:p>
            <a:pPr>
              <a:defRPr sz="3600"/>
            </a:pPr>
            <a:r>
              <a:t>docker run создает и запускает новый container</a:t>
            </a:r>
          </a:p>
          <a:p>
            <a:pPr>
              <a:defRPr sz="3600"/>
            </a:pPr>
            <a:r>
              <a:t>docker stop, start и restart управляют существующим container</a:t>
            </a:r>
          </a:p>
          <a:p>
            <a:pPr>
              <a:defRPr sz="3600"/>
            </a:pPr>
            <a:r>
              <a:t>Публикация портов связывает порт хоста с портом контейнера</a:t>
            </a:r>
          </a:p>
          <a:p>
            <a:pPr>
              <a:defRPr sz="3600"/>
            </a:pPr>
            <a:r>
              <a:t>Environment variables передают настройки приложению, но плохо подходят для секретов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Безопасный первый запуск Nginx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docker pull nginx:stable-alpine</a:t>
            </a:r>
          </a:p>
          <a:p>
            <a:pPr>
              <a:defRPr sz="3600"/>
            </a:pPr>
            <a:r>
              <a:t>Назначение: получить фиксированный образ Nginx для лаборатории</a:t>
            </a:r>
          </a:p>
          <a:p>
            <a:pPr>
              <a:defRPr sz="3600"/>
            </a:pPr>
            <a:r>
              <a:t>Команда: docker run --name web -d -p 127.0.0.1:8080:80 nginx:stable-alpine</a:t>
            </a:r>
          </a:p>
          <a:p>
            <a:pPr>
              <a:defRPr sz="3600"/>
            </a:pPr>
            <a:r>
              <a:t>Назначение: опубликовать Nginx только на loopback-адресе хоста</a:t>
            </a:r>
          </a:p>
          <a:p>
            <a:pPr>
              <a:defRPr sz="3600"/>
            </a:pPr>
            <a:r>
              <a:t>Проверка: curl http://127.0.0.1:8080/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Публикация порта может открыть сервис наружу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-p 8080:80 часто публикует порт на всех интерфейсах хоста: 0.0.0.0:8080</a:t>
            </a:r>
          </a:p>
          <a:p>
            <a:pPr>
              <a:defRPr sz="3600"/>
            </a:pPr>
            <a:r>
              <a:t>Так сервис может стать доступен не только локально</a:t>
            </a:r>
          </a:p>
          <a:p>
            <a:pPr>
              <a:defRPr sz="3600"/>
            </a:pPr>
            <a:r>
              <a:t>Для локальной лаборатории безопаснее: -p 127.0.0.1:8080:80</a:t>
            </a:r>
          </a:p>
          <a:p>
            <a:pPr>
              <a:defRPr sz="3600"/>
            </a:pPr>
            <a:r>
              <a:t>Проверка Docker: docker port web</a:t>
            </a:r>
          </a:p>
          <a:p>
            <a:pPr>
              <a:defRPr sz="3600"/>
            </a:pPr>
            <a:r>
              <a:t>Проверка Linux: ss -lntp | grep 8080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EXPOSE и -p решают разные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EXPOSE 80 в Dockerfile документирует предполагаемый порт приложения</a:t>
            </a:r>
          </a:p>
          <a:p>
            <a:pPr>
              <a:defRPr sz="3600"/>
            </a:pPr>
            <a:r>
              <a:t>EXPOSE сам по себе не публикует порт на хосте</a:t>
            </a:r>
          </a:p>
          <a:p>
            <a:pPr>
              <a:defRPr sz="3600"/>
            </a:pPr>
            <a:r>
              <a:t>-p 8080:80 создает реальную публикацию порта</a:t>
            </a:r>
          </a:p>
          <a:p>
            <a:pPr>
              <a:defRPr sz="3600"/>
            </a:pPr>
            <a:r>
              <a:t>Контейнеры в одной Docker network могут общаться без публикации порта наружу</a:t>
            </a:r>
          </a:p>
          <a:p>
            <a:pPr>
              <a:defRPr sz="3600"/>
            </a:pPr>
            <a:r>
              <a:t>Database port обычно не публикуют, если к базе обращается только приложение внутри сети проекта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Environment variables не подходят для секретов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Несекретный пример: docker run -e APP_ENV=lab nginx:stable-alpine</a:t>
            </a:r>
          </a:p>
          <a:p>
            <a:pPr>
              <a:defRPr sz="3600"/>
            </a:pPr>
            <a:r>
              <a:t>Environment variables могут попасть в shell history</a:t>
            </a:r>
          </a:p>
          <a:p>
            <a:pPr>
              <a:defRPr sz="3600"/>
            </a:pPr>
            <a:r>
              <a:t>Их можно увидеть через docker inspect web</a:t>
            </a:r>
          </a:p>
          <a:p>
            <a:pPr>
              <a:defRPr sz="3600"/>
            </a:pPr>
            <a:r>
              <a:t>Они могут попасть в compose config, CI logs или дамп процесса</a:t>
            </a:r>
          </a:p>
          <a:p>
            <a:pPr>
              <a:defRPr sz="3600"/>
            </a:pPr>
            <a:r>
              <a:t>Пароли лучше передавать через secret file, secret manager или защищенный конфигурационный файл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Volumes, bind mounts и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Volume хранит данные вне writable layer контейнера</a:t>
            </a:r>
          </a:p>
          <a:p>
            <a:pPr>
              <a:defRPr sz="3600"/>
            </a:pPr>
            <a:r>
              <a:t>Bind mount подключает конкретный путь хоста внутрь контейнера</a:t>
            </a:r>
          </a:p>
          <a:p>
            <a:pPr>
              <a:defRPr sz="3600"/>
            </a:pPr>
            <a:r>
              <a:t>Anonymous volume создается без понятного имени и его легко потерять из вида</a:t>
            </a:r>
          </a:p>
          <a:p>
            <a:pPr>
              <a:defRPr sz="3600"/>
            </a:pPr>
            <a:r>
              <a:t>User-defined network дает контейнерам встроенное DNS-разрешение по имени</a:t>
            </a:r>
          </a:p>
          <a:p>
            <a:pPr>
              <a:defRPr sz="3600"/>
            </a:pPr>
            <a:r>
              <a:t>Данные контейнерного приложения требуют отдельной стратегии backup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Named volume переживает удаление контейнера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docker volume create webdata</a:t>
            </a:r>
          </a:p>
          <a:p>
            <a:pPr>
              <a:defRPr sz="3600"/>
            </a:pPr>
            <a:r>
              <a:t>Назначение: создать именованное хранилище данных</a:t>
            </a:r>
          </a:p>
          <a:p>
            <a:pPr>
              <a:defRPr sz="3600"/>
            </a:pPr>
            <a:r>
              <a:t>docker rm web обычно не удаляет named volume</a:t>
            </a:r>
          </a:p>
          <a:p>
            <a:pPr>
              <a:defRPr sz="3600"/>
            </a:pPr>
            <a:r>
              <a:t>docker volume rm webdata удалит named volume и его данные</a:t>
            </a:r>
          </a:p>
          <a:p>
            <a:pPr>
              <a:defRPr sz="3600"/>
            </a:pPr>
            <a:r>
              <a:t>Проверка: docker volume inspect webdata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docker compose down -v может уничтожить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 compose down удаляет containers проекта и обычную сеть проекта</a:t>
            </a:r>
          </a:p>
          <a:p>
            <a:pPr>
              <a:defRPr sz="3600"/>
            </a:pPr>
            <a:r>
              <a:t>Named volumes обычно сохраняются</a:t>
            </a:r>
          </a:p>
          <a:p>
            <a:pPr>
              <a:defRPr sz="3600"/>
            </a:pPr>
            <a:r>
              <a:t>Bind-mounted data на хосте также сохраняются</a:t>
            </a:r>
          </a:p>
          <a:p>
            <a:pPr>
              <a:defRPr sz="3600"/>
            </a:pPr>
            <a:r>
              <a:t>docker compose down -v дополнительно удаляет volumes проекта</a:t>
            </a:r>
          </a:p>
          <a:p>
            <a:pPr>
              <a:defRPr sz="3600"/>
            </a:pPr>
            <a:r>
              <a:t>Перед down -v нужно понимать, какие данные будут потеряны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Volume — это не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Volume сохраняет данные между пересозданиями контейнера</a:t>
            </a:r>
          </a:p>
          <a:p>
            <a:pPr>
              <a:defRPr sz="3600"/>
            </a:pPr>
            <a:r>
              <a:t>Но volume не защищает от удаления, повреждения или шифрования данных</a:t>
            </a:r>
          </a:p>
          <a:p>
            <a:pPr>
              <a:defRPr sz="3600"/>
            </a:pPr>
            <a:r>
              <a:t>Для баз данных нужна консистентная процедура: dump, snapshot или штатный backup tool</a:t>
            </a:r>
          </a:p>
          <a:p>
            <a:pPr>
              <a:defRPr sz="3600"/>
            </a:pPr>
            <a:r>
              <a:t>Нужно учитывать владельцев, права, шифрование, retention и test restore</a:t>
            </a:r>
          </a:p>
          <a:p>
            <a:pPr>
              <a:defRPr sz="3600"/>
            </a:pPr>
            <a:r>
              <a:t>Backup volume проектируется отдельно от docker run или compose.yaml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Bind mount может дать контейнеру опасный доступ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Безопасный пример: --mount type=bind,source=/srv/www,target=/usr/share/nginx/html,readonly</a:t>
            </a:r>
          </a:p>
          <a:p>
            <a:pPr>
              <a:defRPr sz="3600"/>
            </a:pPr>
            <a:r>
              <a:t>Опасный пример: -v /:/host</a:t>
            </a:r>
          </a:p>
          <a:p>
            <a:pPr>
              <a:defRPr sz="3600"/>
            </a:pPr>
            <a:r>
              <a:t>Особо опасный пример: -v /var/run/docker.sock:/var/run/docker.sock</a:t>
            </a:r>
          </a:p>
          <a:p>
            <a:pPr>
              <a:defRPr sz="3600"/>
            </a:pPr>
            <a:r>
              <a:t>Bind mount связывает контейнер с реальной файловой системой хоста</a:t>
            </a:r>
          </a:p>
          <a:p>
            <a:pPr>
              <a:defRPr sz="3600"/>
            </a:pPr>
            <a:r>
              <a:t>Чем шире source path, тем выше риск для хоста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UID и GID влияют на доступ к bind 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Процесс внутри контейнера использует числовые UID/GID ядра</a:t>
            </a:r>
          </a:p>
          <a:p>
            <a:pPr>
              <a:defRPr sz="3600"/>
            </a:pPr>
            <a:r>
              <a:t>Контейнерный пользователь UID 1000 может не иметь прав на каталог хоста</a:t>
            </a:r>
          </a:p>
          <a:p>
            <a:pPr>
              <a:defRPr sz="3600"/>
            </a:pPr>
            <a:r>
              <a:t>Контейнерный root при обычной модели может писать как UID 0 на bind mount</a:t>
            </a:r>
          </a:p>
          <a:p>
            <a:pPr>
              <a:defRPr sz="3600"/>
            </a:pPr>
            <a:r>
              <a:t>Проверка внутри контейнера: docker exec web id</a:t>
            </a:r>
          </a:p>
          <a:p>
            <a:pPr>
              <a:defRPr sz="3600"/>
            </a:pPr>
            <a:r>
              <a:t>Проверка на хосте: ls -ln /srv/www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User-defined network дает DNS по имени контейнера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docker network create appnet</a:t>
            </a:r>
          </a:p>
          <a:p>
            <a:pPr>
              <a:defRPr sz="3600"/>
            </a:pPr>
            <a:r>
              <a:t>Назначение: создать пользовательскую bridge-сеть</a:t>
            </a:r>
          </a:p>
          <a:p>
            <a:pPr>
              <a:defRPr sz="3600"/>
            </a:pPr>
            <a:r>
              <a:t>Команда: docker run -d --name web --network appnet nginx:stable-alpine</a:t>
            </a:r>
          </a:p>
          <a:p>
            <a:pPr>
              <a:defRPr sz="3600"/>
            </a:pPr>
            <a:r>
              <a:t>Другой контейнер в appnet может обращаться к http://web/</a:t>
            </a:r>
          </a:p>
          <a:p>
            <a:pPr>
              <a:defRPr sz="3600"/>
            </a:pPr>
            <a:r>
              <a:t>Docker Compose автоматически создает сеть проекта, если не задана другая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Database port обычно не публикуют наружу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Внутри Docker network приложение может обращаться к базе по имени service</a:t>
            </a:r>
          </a:p>
          <a:p>
            <a:pPr>
              <a:defRPr sz="3600"/>
            </a:pPr>
            <a:r>
              <a:t>Пример: web обращается к db:5432</a:t>
            </a:r>
          </a:p>
          <a:p>
            <a:pPr>
              <a:defRPr sz="3600"/>
            </a:pPr>
            <a:r>
              <a:t>Публикация 5432:5432 увеличивает поверхность атаки</a:t>
            </a:r>
          </a:p>
          <a:p>
            <a:pPr>
              <a:defRPr sz="3600"/>
            </a:pPr>
            <a:r>
              <a:t>Если база нужна только приложению, секция ports для db не требуется</a:t>
            </a:r>
          </a:p>
          <a:p>
            <a:pPr>
              <a:defRPr sz="3600"/>
            </a:pPr>
            <a:r>
              <a:t>Для диагностики лучше использовать отдельный временный доступ или внутренний контейнер-клиент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ports, volumes и user-defined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E5F994-4CCD-5D30-7105-9384689BA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Logs, exec и restart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 logs показывает stdout и stderr главного процесса</a:t>
            </a:r>
          </a:p>
          <a:p>
            <a:pPr>
              <a:defRPr sz="3600"/>
            </a:pPr>
            <a:r>
              <a:t>docker exec запускает дополнительную команду внутри работающего контейнера</a:t>
            </a:r>
          </a:p>
          <a:p>
            <a:pPr>
              <a:defRPr sz="3600"/>
            </a:pPr>
            <a:r>
              <a:t>Restart policy определяет автоматический запуск после завершения контейнера</a:t>
            </a:r>
          </a:p>
          <a:p>
            <a:pPr>
              <a:defRPr sz="3600"/>
            </a:pPr>
            <a:r>
              <a:t>Healthcheck проверяет логическое состояние приложения</a:t>
            </a:r>
          </a:p>
          <a:p>
            <a:pPr>
              <a:defRPr sz="3600"/>
            </a:pPr>
            <a:r>
              <a:t>Ручные изменения через exec не должны становиться способом настройки production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Container logs нужно ограничивать ротацией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docker logs --tail 100 web</a:t>
            </a:r>
          </a:p>
          <a:p>
            <a:pPr>
              <a:defRPr sz="3600"/>
            </a:pPr>
            <a:r>
              <a:t>Назначение: показать последние строки журнала</a:t>
            </a:r>
          </a:p>
          <a:p>
            <a:pPr>
              <a:defRPr sz="3600"/>
            </a:pPr>
            <a:r>
              <a:t>Команда: docker logs --since 10m web</a:t>
            </a:r>
          </a:p>
          <a:p>
            <a:pPr>
              <a:defRPr sz="3600"/>
            </a:pPr>
            <a:r>
              <a:t>Назначение: показать события за последние 10 минут</a:t>
            </a:r>
          </a:p>
          <a:p>
            <a:pPr>
              <a:defRPr sz="3600"/>
            </a:pPr>
            <a:r>
              <a:t>Без ротации JSON logs могут заполнить диск хоста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Logging driver влияет на docker logs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Частые drivers: json-file, local, journald, syslog</a:t>
            </a:r>
          </a:p>
          <a:p>
            <a:pPr>
              <a:defRPr sz="3600"/>
            </a:pPr>
            <a:r>
              <a:t>docker logs читает stdout/stderr, если выбранный driver поддерживает такой просмотр</a:t>
            </a:r>
          </a:p>
          <a:p>
            <a:pPr>
              <a:defRPr sz="3600"/>
            </a:pPr>
            <a:r>
              <a:t>Для Compose полезно задать json-file rotation</a:t>
            </a:r>
          </a:p>
          <a:p>
            <a:pPr>
              <a:defRPr sz="3600"/>
            </a:pPr>
            <a:r>
              <a:t>Параметры: max-size: '10m' и max-file: '3'</a:t>
            </a:r>
          </a:p>
          <a:p>
            <a:pPr>
              <a:defRPr sz="3600"/>
            </a:pPr>
            <a:r>
              <a:t>Логи контейнера не заменяют централизованное журналирование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docker exec нужен для диагностики, а не ручной настройки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docker exec -it web sh</a:t>
            </a:r>
          </a:p>
          <a:p>
            <a:pPr>
              <a:defRPr sz="3600"/>
            </a:pPr>
            <a:r>
              <a:t>Назначение: открыть shell внутри работающего контейнера, если shell есть в image</a:t>
            </a:r>
          </a:p>
          <a:p>
            <a:pPr>
              <a:defRPr sz="3600"/>
            </a:pPr>
            <a:r>
              <a:t>Минимальный image может не содержать bash, sh, curl, ps или package manager</a:t>
            </a:r>
          </a:p>
          <a:p>
            <a:pPr>
              <a:defRPr sz="3600"/>
            </a:pPr>
            <a:r>
              <a:t>Ручное редактирование через exec исчезнет после пересоздания контейнера</a:t>
            </a:r>
          </a:p>
          <a:p>
            <a:pPr>
              <a:defRPr sz="3600"/>
            </a:pPr>
            <a:r>
              <a:t>Постоянная настройка должна быть в Dockerfile, config file или compose.yaml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Restart policy имеет разные режимы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no — не перезапускать автоматически</a:t>
            </a:r>
          </a:p>
          <a:p>
            <a:pPr>
              <a:defRPr sz="3600"/>
            </a:pPr>
            <a:r>
              <a:t>on-failure — перезапускать при ненулевом exit code</a:t>
            </a:r>
          </a:p>
          <a:p>
            <a:pPr>
              <a:defRPr sz="3600"/>
            </a:pPr>
            <a:r>
              <a:t>always — перезапускать после остановки и запуска Docker Daemon</a:t>
            </a:r>
          </a:p>
          <a:p>
            <a:pPr>
              <a:defRPr sz="3600"/>
            </a:pPr>
            <a:r>
              <a:t>unless-stopped — перезапускать, кроме контейнера, остановленного администратором</a:t>
            </a:r>
          </a:p>
          <a:p>
            <a:pPr>
              <a:defRPr sz="3600"/>
            </a:pPr>
            <a:r>
              <a:t>Restart policy реагирует на завершение главного процесса, а не на HTTP 500 внутри приложения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Healthcheck проверяет состояние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Dockerfile пример: HEALTHCHECK --interval=30s --timeout=3s CMD wget -q --spider http://localhost/ || exit 1</a:t>
            </a:r>
          </a:p>
          <a:p>
            <a:pPr>
              <a:defRPr sz="3600"/>
            </a:pPr>
            <a:r>
              <a:t>Compose может задавать healthcheck в сервисе</a:t>
            </a:r>
          </a:p>
          <a:p>
            <a:pPr>
              <a:defRPr sz="3600"/>
            </a:pPr>
            <a:r>
              <a:t>Проверка: docker inspect --format '{{.State.Health.Status}}' web</a:t>
            </a:r>
          </a:p>
          <a:p>
            <a:pPr>
              <a:defRPr sz="3600"/>
            </a:pPr>
            <a:r>
              <a:t>Статус unhealthy не всегда означает автоматический restart самим Docker Engine</a:t>
            </a:r>
          </a:p>
          <a:p>
            <a:pPr>
              <a:defRPr sz="3600"/>
            </a:pPr>
            <a:r>
              <a:t>Healthcheck полезен для мониторинга и оркестраторов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Dockerfile и Docker Compose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Dockerfile описывает сборку собственного image</a:t>
            </a:r>
          </a:p>
          <a:p>
            <a:pPr>
              <a:defRPr sz="3600"/>
            </a:pPr>
            <a:r>
              <a:t>Compose описывает запуск одного или нескольких сервисов</a:t>
            </a:r>
          </a:p>
          <a:p>
            <a:pPr>
              <a:defRPr sz="3600"/>
            </a:pPr>
            <a:r>
              <a:t>Dockerfile и compose.yaml должны храниться в Git</a:t>
            </a:r>
          </a:p>
          <a:p>
            <a:pPr>
              <a:defRPr sz="3600"/>
            </a:pPr>
            <a:r>
              <a:t>Image отвечает за содержимое и команду запуска</a:t>
            </a:r>
          </a:p>
          <a:p>
            <a:pPr>
              <a:defRPr sz="3600"/>
            </a:pPr>
            <a:r>
              <a:t>Compose отвечает за параметры deployment: ports, volumes, networks, restart, logging и limits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Dockerfile должен описывать и файлы, и метаданные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FROM задает базовый image</a:t>
            </a:r>
          </a:p>
          <a:p>
            <a:pPr>
              <a:defRPr sz="3600"/>
            </a:pPr>
            <a:r>
              <a:t>WORKDIR задает рабочий каталог</a:t>
            </a:r>
          </a:p>
          <a:p>
            <a:pPr>
              <a:defRPr sz="3600"/>
            </a:pPr>
            <a:r>
              <a:t>COPY добавляет файлы в image</a:t>
            </a:r>
          </a:p>
          <a:p>
            <a:pPr>
              <a:defRPr sz="3600"/>
            </a:pPr>
            <a:r>
              <a:t>EXPOSE документирует порт приложения</a:t>
            </a:r>
          </a:p>
          <a:p>
            <a:pPr>
              <a:defRPr sz="3600"/>
            </a:pPr>
            <a:r>
              <a:t>ENTRYPOINT и CMD задают команду запуска</a:t>
            </a:r>
          </a:p>
          <a:p>
            <a:pPr>
              <a:defRPr sz="3600"/>
            </a:pPr>
            <a:r>
              <a:t>USER помогает запускать приложение без root, если image к этому готов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Dockerfile для учебного Nginx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FROM nginx:stable-alpine</a:t>
            </a:r>
          </a:p>
          <a:p>
            <a:pPr>
              <a:defRPr sz="3600"/>
            </a:pPr>
            <a:r>
              <a:t>WORKDIR /usr/share/nginx/html</a:t>
            </a:r>
          </a:p>
          <a:p>
            <a:pPr>
              <a:defRPr sz="3600"/>
            </a:pPr>
            <a:r>
              <a:t>COPY index.html ./index.html</a:t>
            </a:r>
          </a:p>
          <a:p>
            <a:pPr>
              <a:defRPr sz="3600"/>
            </a:pPr>
            <a:r>
              <a:t>EXPOSE 80</a:t>
            </a:r>
          </a:p>
          <a:p>
            <a:pPr>
              <a:defRPr sz="3600"/>
            </a:pPr>
            <a:r>
              <a:t>HEALTHCHECK --interval=30s --timeout=3s CMD wget -q --spider http://localhost/ || exit 1</a:t>
            </a:r>
          </a:p>
          <a:p>
            <a:pPr>
              <a:defRPr sz="3600"/>
            </a:pPr>
            <a:r>
              <a:t>Для официального nginx base image команда запуска уже определена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.dockerignore защищает build context от лишнего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Build context может случайно включить .git, logs, backups, PCAP и secrets</a:t>
            </a:r>
          </a:p>
          <a:p>
            <a:pPr>
              <a:defRPr sz="3600"/>
            </a:pPr>
            <a:r>
              <a:t>Пример строк: .git, *.pcap, *.log, *.bak, .env, secrets/</a:t>
            </a:r>
          </a:p>
          <a:p>
            <a:pPr>
              <a:defRPr sz="3600"/>
            </a:pPr>
            <a:r>
              <a:t>.dockerignore уменьшает размер build context</a:t>
            </a:r>
          </a:p>
          <a:p>
            <a:pPr>
              <a:defRPr sz="3600"/>
            </a:pPr>
            <a:r>
              <a:t>.dockerignore не является полноценным secret management</a:t>
            </a:r>
          </a:p>
          <a:p>
            <a:pPr>
              <a:defRPr sz="3600"/>
            </a:pPr>
            <a:r>
              <a:t>Секреты не должны попадать в build context вообще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Порядок инструкций влияет на build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RUN, COPY и ADD создают файловые изменения</a:t>
            </a:r>
          </a:p>
          <a:p>
            <a:pPr>
              <a:defRPr sz="3600"/>
            </a:pPr>
            <a:r>
              <a:t>Некоторые инструкции задают metadata</a:t>
            </a:r>
          </a:p>
          <a:p>
            <a:pPr>
              <a:defRPr sz="3600"/>
            </a:pPr>
            <a:r>
              <a:t>BuildKit может оптимизировать процесс сборки</a:t>
            </a:r>
          </a:p>
          <a:p>
            <a:pPr>
              <a:defRPr sz="3600"/>
            </a:pPr>
            <a:r>
              <a:t>Если сначала COPY . /app, любое изменение файла может сбросить cache следующих шагов</a:t>
            </a:r>
          </a:p>
          <a:p>
            <a:pPr>
              <a:defRPr sz="3600"/>
            </a:pPr>
            <a:r>
              <a:t>Сначала копируют файлы зависимостей, устанавливают зависимости, затем копируют остальной код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Сборка image и проверка tag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Команда: docker build -t lab-nginx:1.0 .</a:t>
            </a:r>
          </a:p>
          <a:p>
            <a:pPr>
              <a:defRPr sz="3600"/>
            </a:pPr>
            <a:r>
              <a:t>Назначение: собрать image с локальным tag</a:t>
            </a:r>
          </a:p>
          <a:p>
            <a:pPr>
              <a:defRPr sz="3600"/>
            </a:pPr>
            <a:r>
              <a:t>Повторная сборка с тем же tag переназначит tag на новый image ID</a:t>
            </a:r>
          </a:p>
          <a:p>
            <a:pPr>
              <a:defRPr sz="3600"/>
            </a:pPr>
            <a:r>
              <a:t>Проверка: docker image ls</a:t>
            </a:r>
          </a:p>
          <a:p>
            <a:pPr>
              <a:defRPr sz="3600"/>
            </a:pPr>
            <a:r>
              <a:t>Подробности: docker image inspect lab-nginx:1.0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compose.yaml: сервис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services:</a:t>
            </a:r>
          </a:p>
          <a:p>
            <a:pPr>
              <a:defRPr sz="3600"/>
            </a:pPr>
            <a:r>
              <a:t>  web:</a:t>
            </a:r>
          </a:p>
          <a:p>
            <a:pPr>
              <a:defRPr sz="3600"/>
            </a:pPr>
            <a:r>
              <a:t>    image: nginx:stable-alpine</a:t>
            </a:r>
          </a:p>
          <a:p>
            <a:pPr>
              <a:defRPr sz="3600"/>
            </a:pPr>
            <a:r>
              <a:t>    container_name: web</a:t>
            </a:r>
          </a:p>
          <a:p>
            <a:pPr>
              <a:defRPr sz="3600"/>
            </a:pPr>
            <a:r>
              <a:t>    ports:</a:t>
            </a:r>
          </a:p>
          <a:p>
            <a:pPr>
              <a:defRPr sz="3600"/>
            </a:pPr>
            <a:r>
              <a:t>      - '127.0.0.1:8080:80'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compose.yaml: данные, restart и filesystem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    volumes:</a:t>
            </a:r>
          </a:p>
          <a:p>
            <a:pPr>
              <a:defRPr sz="3600"/>
            </a:pPr>
            <a:r>
              <a:t>      - './html:/usr/share/nginx/html:ro'</a:t>
            </a:r>
          </a:p>
          <a:p>
            <a:pPr>
              <a:defRPr sz="3600"/>
            </a:pPr>
            <a:r>
              <a:t>    restart: unless-stopped</a:t>
            </a:r>
          </a:p>
          <a:p>
            <a:pPr>
              <a:defRPr sz="3600"/>
            </a:pPr>
            <a:r>
              <a:t>    read_only: true</a:t>
            </a:r>
          </a:p>
          <a:p>
            <a:pPr>
              <a:defRPr sz="3600"/>
            </a:pPr>
            <a:r>
              <a:t>    tmpfs:</a:t>
            </a:r>
          </a:p>
          <a:p>
            <a:pPr>
              <a:defRPr sz="3600"/>
            </a:pPr>
            <a:r>
              <a:t>      - /var/cache/nginx</a:t>
            </a:r>
          </a:p>
          <a:p>
            <a:pPr>
              <a:defRPr sz="3600"/>
            </a:pPr>
            <a:r>
              <a:t>      - /var/run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compose.yaml: logs, healthcheck и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    logging: driver json-file, max-size '10m', max-file '3'</a:t>
            </a:r>
          </a:p>
          <a:p>
            <a:pPr>
              <a:defRPr sz="3600"/>
            </a:pPr>
            <a:r>
              <a:t>    healthcheck: wget -q --spider http://localhost/</a:t>
            </a:r>
          </a:p>
          <a:p>
            <a:pPr>
              <a:defRPr sz="3600"/>
            </a:pPr>
            <a:r>
              <a:t>    security_opt:</a:t>
            </a:r>
          </a:p>
          <a:p>
            <a:pPr>
              <a:defRPr sz="3600"/>
            </a:pPr>
            <a:r>
              <a:t>      - no-new-privileges:true</a:t>
            </a:r>
          </a:p>
          <a:p>
            <a:pPr>
              <a:defRPr sz="3600"/>
            </a:pPr>
            <a:r>
              <a:t>Если read_only мешает конкретному image, нужно явно добавить tmpfs или изменить конфигурацию</a:t>
            </a:r>
          </a:p>
          <a:p>
            <a:pPr>
              <a:defRPr sz="3600"/>
            </a:pPr>
            <a:r>
              <a:t>Compose-файл проверяют командой docker compose config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Compose для жизненного цикла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 compose up -d создает и запускает сервисы проекта</a:t>
            </a:r>
          </a:p>
          <a:p>
            <a:pPr>
              <a:defRPr sz="3600"/>
            </a:pPr>
            <a:r>
              <a:t>docker compose ps показывает состояние сервисов</a:t>
            </a:r>
          </a:p>
          <a:p>
            <a:pPr>
              <a:defRPr sz="3600"/>
            </a:pPr>
            <a:r>
              <a:t>docker compose logs web показывает журналы web-сервиса</a:t>
            </a:r>
          </a:p>
          <a:p>
            <a:pPr>
              <a:defRPr sz="3600"/>
            </a:pPr>
            <a:r>
              <a:t>docker compose down удаляет containers и обычную сеть проекта</a:t>
            </a:r>
          </a:p>
          <a:p>
            <a:pPr>
              <a:defRPr sz="3600"/>
            </a:pPr>
            <a:r>
              <a:t>docker compose down -v дополнительно удаляет volumes проекта и может уничтожить данные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depends_on не означает готовность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depends_on задает порядок запуска сервисов</a:t>
            </a:r>
          </a:p>
          <a:p>
            <a:pPr>
              <a:defRPr sz="3600"/>
            </a:pPr>
            <a:r>
              <a:t>Он не всегда означает, что база данных уже принимает соединения</a:t>
            </a:r>
          </a:p>
          <a:p>
            <a:pPr>
              <a:defRPr sz="3600"/>
            </a:pPr>
            <a:r>
              <a:t>Для готовности применяют healthcheck</a:t>
            </a:r>
          </a:p>
          <a:p>
            <a:pPr>
              <a:defRPr sz="3600"/>
            </a:pPr>
            <a:r>
              <a:t>Приложение должно иметь retry logic при подключении к зависимости</a:t>
            </a:r>
          </a:p>
          <a:p>
            <a:pPr>
              <a:defRPr sz="3600"/>
            </a:pPr>
            <a:r>
              <a:t>В production готовность сервиса проверяется прикладным тестом, а не только порядком запуска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Root, privileged mode и доверие к образам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Root внутри контейнера ограничен namespaces, capabilities и настройками runtime</a:t>
            </a:r>
          </a:p>
          <a:p>
            <a:pPr>
              <a:defRPr sz="3600"/>
            </a:pPr>
            <a:r>
              <a:t>Но root в rootful Docker остается привилегированным процессом с точки зрения ядра</a:t>
            </a:r>
          </a:p>
          <a:p>
            <a:pPr>
              <a:defRPr sz="3600"/>
            </a:pPr>
            <a:r>
              <a:t>Опасные mounts или уязвимость runtime могут затронуть хост</a:t>
            </a:r>
          </a:p>
          <a:p>
            <a:pPr>
              <a:defRPr sz="3600"/>
            </a:pPr>
            <a:r>
              <a:t>Privileged mode снимает важные ограничения</a:t>
            </a:r>
          </a:p>
          <a:p>
            <a:pPr>
              <a:defRPr sz="3600"/>
            </a:pPr>
            <a:r>
              <a:t>Доверие к image, registry и compose-файлу является частью безопасности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Non-root запуск требует подготовки image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Dockerfile пример: RUN addgroup -S app &amp;&amp; adduser -S app -G app</a:t>
            </a:r>
          </a:p>
          <a:p>
            <a:pPr>
              <a:defRPr sz="3600"/>
            </a:pPr>
            <a:r>
              <a:t>Dockerfile пример: USER app</a:t>
            </a:r>
          </a:p>
          <a:p>
            <a:pPr>
              <a:defRPr sz="3600"/>
            </a:pPr>
            <a:r>
              <a:t>Compose вариант: user: '1000:1000'</a:t>
            </a:r>
          </a:p>
          <a:p>
            <a:pPr>
              <a:defRPr sz="3600"/>
            </a:pPr>
            <a:r>
              <a:t>Нужно проверить права файлов и каталогов записи</a:t>
            </a:r>
          </a:p>
          <a:p>
            <a:pPr>
              <a:defRPr sz="3600"/>
            </a:pPr>
            <a:r>
              <a:t>Нельзя просто указать USER и ожидать, что любое приложение заработает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Capabilities и no-new-privileges безопаснее privileged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--privileged выдает контейнеру слишком широкие возможности</a:t>
            </a:r>
          </a:p>
          <a:p>
            <a:pPr>
              <a:defRPr sz="3600"/>
            </a:pPr>
            <a:r>
              <a:t>Более точный подход: --cap-drop ALL и выборочный --cap-add</a:t>
            </a:r>
          </a:p>
          <a:p>
            <a:pPr>
              <a:defRPr sz="3600"/>
            </a:pPr>
            <a:r>
              <a:t>Можно подключить только нужное устройство через --device</a:t>
            </a:r>
          </a:p>
          <a:p>
            <a:pPr>
              <a:defRPr sz="3600"/>
            </a:pPr>
            <a:r>
              <a:t>Полезны read-only filesystem, seccomp, AppArmor или SELinux</a:t>
            </a:r>
          </a:p>
          <a:p>
            <a:pPr>
              <a:defRPr sz="3600"/>
            </a:pPr>
            <a:r>
              <a:t>Compose-настройка no-new-privileges снижает риск повышения прав внутри контейнера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Mount Docker Socket почти дает контроль над хостом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Опасный mount: -v /var/run/docker.sock:/var/run/docker.sock</a:t>
            </a:r>
          </a:p>
          <a:p>
            <a:pPr>
              <a:defRPr sz="3600"/>
            </a:pPr>
            <a:r>
              <a:t>Контейнер сможет управлять Docker Daemon</a:t>
            </a:r>
          </a:p>
          <a:p>
            <a:pPr>
              <a:defRPr sz="3600"/>
            </a:pPr>
            <a:r>
              <a:t>Он может запускать новые containers и подключать каталоги хоста</a:t>
            </a:r>
          </a:p>
          <a:p>
            <a:pPr>
              <a:defRPr sz="3600"/>
            </a:pPr>
            <a:r>
              <a:t>Он может создавать privileged containers</a:t>
            </a:r>
          </a:p>
          <a:p>
            <a:pPr>
              <a:defRPr sz="3600"/>
            </a:pPr>
            <a:r>
              <a:t>Такой mount допускается только при ясной архитектурной необходимости и дополнительных ограничениях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Официальный image не означает автоматическую безопасность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Даже официальный image может содержать известные уязвимости</a:t>
            </a:r>
          </a:p>
          <a:p>
            <a:pPr>
              <a:defRPr sz="3600"/>
            </a:pPr>
            <a:r>
              <a:t>Tag может изменить содержимое со временем</a:t>
            </a:r>
          </a:p>
          <a:p>
            <a:pPr>
              <a:defRPr sz="3600"/>
            </a:pPr>
            <a:r>
              <a:t>Нужны фиксированная версия, vulnerability scan и регулярная пересборка</a:t>
            </a:r>
          </a:p>
          <a:p>
            <a:pPr>
              <a:defRPr sz="3600"/>
            </a:pPr>
            <a:r>
              <a:t>Полезны digest, image signing и контролируемый registry</a:t>
            </a:r>
          </a:p>
          <a:p>
            <a:pPr>
              <a:defRPr sz="3600"/>
            </a:pPr>
            <a:r>
              <a:t>Хост Docker и container runtime также нужно обновлять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Контейнеру нужно задавать лимиты ресурсов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Без лимитов один контейнер может занять значительную часть ресурсов хоста</a:t>
            </a:r>
          </a:p>
          <a:p>
            <a:pPr>
              <a:defRPr sz="3600"/>
            </a:pPr>
            <a:r>
              <a:t>Пример: docker run --memory 256m --cpus 0.5 nginx:stable-alpine</a:t>
            </a:r>
          </a:p>
          <a:p>
            <a:pPr>
              <a:defRPr sz="3600"/>
            </a:pPr>
            <a:r>
              <a:t>Compose: mem_limit: 256m</a:t>
            </a:r>
          </a:p>
          <a:p>
            <a:pPr>
              <a:defRPr sz="3600"/>
            </a:pPr>
            <a:r>
              <a:t>Compose: cpus: 0.5</a:t>
            </a:r>
          </a:p>
          <a:p>
            <a:pPr>
              <a:defRPr sz="3600"/>
            </a:pPr>
            <a:r>
              <a:t>Поддержка отдельных параметров зависит от runtime и режима Compose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Мониторинг контейнеров включает host и приложение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Проверять Docker Daemon и состояние Running/Exited</a:t>
            </a:r>
          </a:p>
          <a:p>
            <a:pPr>
              <a:defRPr sz="3600"/>
            </a:pPr>
            <a:r>
              <a:t>Проверять restart count, health status, CPU и RAM</a:t>
            </a:r>
          </a:p>
          <a:p>
            <a:pPr>
              <a:defRPr sz="3600"/>
            </a:pPr>
            <a:r>
              <a:t>Проверять размер logs и docker system df</a:t>
            </a:r>
          </a:p>
          <a:p>
            <a:pPr>
              <a:defRPr sz="3600"/>
            </a:pPr>
            <a:r>
              <a:t>Проверять доступность приложения через HTTP или другой реальный протокол</a:t>
            </a:r>
          </a:p>
          <a:p>
            <a:pPr>
              <a:defRPr sz="3600"/>
            </a:pPr>
            <a:r>
              <a:t>Проверять состояние backup для volumes и прикладных данных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prune могут удалить нужные объекты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 system prune удаляет неиспользуемые объекты и build cache</a:t>
            </a:r>
          </a:p>
          <a:p>
            <a:pPr>
              <a:defRPr sz="3600"/>
            </a:pPr>
            <a:r>
              <a:t>docker volume prune удаляет неиспользуемые volumes</a:t>
            </a:r>
          </a:p>
          <a:p>
            <a:pPr>
              <a:defRPr sz="3600"/>
            </a:pPr>
            <a:r>
              <a:t>Перед prune нужно посмотреть docker ps -a, docker image ls и docker volume ls</a:t>
            </a:r>
          </a:p>
          <a:p>
            <a:pPr>
              <a:defRPr sz="3600"/>
            </a:pPr>
            <a:r>
              <a:t>Нельзя запускать prune как универсальное лечение нехватки места</a:t>
            </a:r>
          </a:p>
          <a:p>
            <a:pPr>
              <a:defRPr sz="3600"/>
            </a:pPr>
            <a:r>
              <a:t>Сначала понять, какие данные можно безопасно удалить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жизненный цикл Docker-приложения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666931-A4D9-679D-C478-472477763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Лабораторный цикл Build, Run, Inspect, Diagnose, Recreate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Run: запустить nginx:stable-alpine на 127.0.0.1:8080</a:t>
            </a:r>
          </a:p>
          <a:p>
            <a:pPr>
              <a:defRPr sz="3600"/>
            </a:pPr>
            <a:r>
              <a:t>Inspect: проверить docker ps, docker port, docker inspect и ss -lntp</a:t>
            </a:r>
          </a:p>
          <a:p>
            <a:pPr>
              <a:defRPr sz="3600"/>
            </a:pPr>
            <a:r>
              <a:t>Diagnose: проверить docker logs, docker exec и curl</a:t>
            </a:r>
          </a:p>
          <a:p>
            <a:pPr>
              <a:defRPr sz="3600"/>
            </a:pPr>
            <a:r>
              <a:t>Recreate: удалить container и убедиться, что bind mount или volume сохраняет данные</a:t>
            </a:r>
          </a:p>
          <a:p>
            <a:pPr>
              <a:defRPr sz="3600"/>
            </a:pPr>
            <a:r>
              <a:t>Build and Compose: собрать image и перенести запуск в compose.yaml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Приемочная матрица лабораторной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docker version показывает Client и Server</a:t>
            </a:r>
          </a:p>
          <a:p>
            <a:pPr>
              <a:defRPr sz="3600"/>
            </a:pPr>
            <a:r>
              <a:t>curl 127.0.0.1:8080 возвращает страницу Nginx</a:t>
            </a:r>
          </a:p>
          <a:p>
            <a:pPr>
              <a:defRPr sz="3600"/>
            </a:pPr>
            <a:r>
              <a:t>docker port web показывает публикацию только на 127.0.0.1</a:t>
            </a:r>
          </a:p>
          <a:p>
            <a:pPr>
              <a:defRPr sz="3600"/>
            </a:pPr>
            <a:r>
              <a:t>docker logs web показывает HTTP-запросы</a:t>
            </a:r>
          </a:p>
          <a:p>
            <a:pPr>
              <a:defRPr sz="3600"/>
            </a:pPr>
            <a:r>
              <a:t>docker inspect подтверждает отсутствие privileged mode</a:t>
            </a:r>
          </a:p>
          <a:p>
            <a:pPr>
              <a:defRPr sz="3600"/>
            </a:pPr>
            <a:r>
              <a:t>docker compose down сохраняет данные, а риск down -v объяснен студентом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Контейнер — изолированный процесс, использующий ядро хоста</a:t>
            </a:r>
          </a:p>
          <a:p>
            <a:pPr>
              <a:defRPr sz="3600"/>
            </a:pPr>
            <a:r>
              <a:t>docker run создает новый container, а docker start запускает существующий</a:t>
            </a:r>
          </a:p>
          <a:p>
            <a:pPr>
              <a:defRPr sz="3600"/>
            </a:pPr>
            <a:r>
              <a:t>Публикацию портов, env, volumes, bind mounts и networks нужно проектировать осознанно</a:t>
            </a:r>
          </a:p>
          <a:p>
            <a:pPr>
              <a:defRPr sz="3600"/>
            </a:pPr>
            <a:r>
              <a:t>Dockerfile и compose.yaml делают запуск повторяемым, если в них включены данные, logs, healthcheck и ограничения</a:t>
            </a:r>
          </a:p>
          <a:p>
            <a:pPr>
              <a:defRPr sz="3600"/>
            </a:pPr>
            <a:r>
              <a:t>Безопасность Docker зависит от socket, root, capabilities, mounts, image source и лимитов ресурсов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контейнер не является полноценной виртуальной машиной?</a:t>
            </a:r>
          </a:p>
          <a:p>
            <a:pPr>
              <a:defRPr sz="3600"/>
            </a:pPr>
            <a:r>
              <a:t>Чем tag отличается от image digest?</a:t>
            </a:r>
          </a:p>
          <a:p>
            <a:pPr>
              <a:defRPr sz="3600"/>
            </a:pPr>
            <a:r>
              <a:t>Почему -p 8080:80 может быть опаснее, чем -p 127.0.0.1:8080:80?</a:t>
            </a:r>
          </a:p>
          <a:p>
            <a:pPr>
              <a:defRPr sz="3600"/>
            </a:pPr>
            <a:r>
              <a:t>Чем named volume отличается от bind mount и anonymous volume?</a:t>
            </a:r>
          </a:p>
          <a:p>
            <a:pPr>
              <a:defRPr sz="3600"/>
            </a:pPr>
            <a:r>
              <a:t>Почему docker compose down -v опасен для данных?</a:t>
            </a:r>
          </a:p>
          <a:p>
            <a:pPr>
              <a:defRPr sz="3600"/>
            </a:pPr>
            <a:r>
              <a:t>Какие риски создает mount /var/run/docker.sock внутрь контейнера?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3106</Words>
  <Application>Microsoft Office PowerPoint</Application>
  <PresentationFormat>Широкоэкранный</PresentationFormat>
  <Paragraphs>355</Paragraphs>
  <Slides>60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2026-07-28T11:15:04Z</dcterms:modified>
  <cp:category/>
</cp:coreProperties>
</file>