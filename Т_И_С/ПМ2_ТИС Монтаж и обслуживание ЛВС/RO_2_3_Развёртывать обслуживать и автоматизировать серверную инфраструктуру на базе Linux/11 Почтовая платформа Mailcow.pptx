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11. Почтовая инфраструктура Linux и контейнерная платформа Mailcow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Почтовая платформа состоит из нескольких сервисов: прием, отправка, хранение, доступ, фильтрация и управление</a:t>
            </a:r>
          </a:p>
          <a:p>
            <a:pPr>
              <a:defRPr sz="3600"/>
            </a:pPr>
            <a:r>
              <a:t>Mailcow собирает эти роли в контейнерную платформу, но не отменяет DNS, TLS, backup и диагностику</a:t>
            </a:r>
          </a:p>
          <a:p>
            <a:pPr>
              <a:defRPr sz="3600"/>
            </a:pPr>
            <a:r>
              <a:t>Учебный стенд использует внутренний домен company.test и FQDN mail.company.test</a:t>
            </a:r>
          </a:p>
          <a:p>
            <a:pPr>
              <a:defRPr sz="3600"/>
            </a:pPr>
            <a:r>
              <a:t>Главная идея: работоспособность почты доказывается полным mail flow, а не только состоянием контейнеров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цепочку доставки письма от MUA отправителя до mailbox получателя</a:t>
            </a:r>
          </a:p>
          <a:p>
            <a:pPr>
              <a:defRPr sz="3600"/>
            </a:pPr>
            <a:r>
              <a:t>Уметь различать SMTP 25, Submission 587/465, IMAP 143 и IMAPS 993</a:t>
            </a:r>
          </a:p>
          <a:p>
            <a:pPr>
              <a:defRPr sz="3600"/>
            </a:pPr>
            <a:r>
              <a:t>Уметь объяснить роль Postfix, Dovecot, DNS, SPF, DKIM, DMARC и TLS</a:t>
            </a:r>
          </a:p>
          <a:p>
            <a:pPr>
              <a:defRPr sz="3600"/>
            </a:pPr>
            <a:r>
              <a:t>Уметь диагностировать очередь, Open Relay, антиспам и протокольные ошибки</a:t>
            </a:r>
          </a:p>
          <a:p>
            <a:pPr>
              <a:defRPr sz="3600"/>
            </a:pPr>
            <a:r>
              <a:t>Уметь обосновать backup, update, monitoring и test restore Mailcow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MUA, MTA, MDA; SMTP, Submission, IMAP и IMAPS</a:t>
            </a:r>
          </a:p>
          <a:p>
            <a:pPr>
              <a:defRPr sz="3600"/>
            </a:pPr>
            <a:r>
              <a:t>2. Postfix и Dovecot; домен, mailbox и адрес</a:t>
            </a:r>
          </a:p>
          <a:p>
            <a:pPr>
              <a:defRPr sz="3600"/>
            </a:pPr>
            <a:r>
              <a:t>3. A, MX, PTR; SPF, DKIM, DMARC; TLS</a:t>
            </a:r>
          </a:p>
          <a:p>
            <a:pPr>
              <a:defRPr sz="3600"/>
            </a:pPr>
            <a:r>
              <a:t>4. Очередь, задержки, Open Relay и антиспам</a:t>
            </a:r>
          </a:p>
          <a:p>
            <a:pPr>
              <a:defRPr sz="3600"/>
            </a:pPr>
            <a:r>
              <a:t>5. Mailcow: Postfix, Dovecot, Rspamd, webmail и database</a:t>
            </a:r>
          </a:p>
          <a:p>
            <a:pPr>
              <a:defRPr sz="3600"/>
            </a:pPr>
            <a:r>
              <a:t>6. Volumes, backup, обновление и диагностика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Сервер: mail.company.test с IP 192.168.30.20</a:t>
            </a:r>
          </a:p>
          <a:p>
            <a:pPr>
              <a:defRPr sz="3600"/>
            </a:pPr>
            <a:r>
              <a:t>Домен: company.test, только для внутренней лаборатории</a:t>
            </a:r>
          </a:p>
          <a:p>
            <a:pPr>
              <a:defRPr sz="3600"/>
            </a:pPr>
            <a:r>
              <a:t>Ящики: user1@company.test и user2@company.test</a:t>
            </a:r>
          </a:p>
          <a:p>
            <a:pPr>
              <a:defRPr sz="3600"/>
            </a:pPr>
            <a:r>
              <a:t>Проверки: webmail, Submission, IMAPS, очередь, журналы, DNS и TLS</a:t>
            </a:r>
          </a:p>
          <a:p>
            <a:pPr>
              <a:defRPr sz="3600"/>
            </a:pPr>
            <a:r>
              <a:t>Ограничение: базовая лаборатория проверяет внутренний mail flow, а не публичную репутацию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полный путь письма от отправителя к получателю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209798-9C94-3861-0A35-A29CDAC34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Почта состоит из MUA, MTA и MDA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MUA — Mail User Agent, почтовый клиент пользователя</a:t>
            </a:r>
          </a:p>
          <a:p>
            <a:pPr>
              <a:defRPr sz="3600"/>
            </a:pPr>
            <a:r>
              <a:t>MTA — Mail Transfer Agent, сервер передачи почты между узлами</a:t>
            </a:r>
          </a:p>
          <a:p>
            <a:pPr>
              <a:defRPr sz="3600"/>
            </a:pPr>
            <a:r>
              <a:t>MDA — Mail Delivery Agent, компонент локальной доставки в mailbox</a:t>
            </a:r>
          </a:p>
          <a:p>
            <a:pPr>
              <a:defRPr sz="3600"/>
            </a:pPr>
            <a:r>
              <a:t>Mailbox — почтовый ящик пользователя в mail storage</a:t>
            </a:r>
          </a:p>
          <a:p>
            <a:pPr>
              <a:defRPr sz="3600"/>
            </a:pPr>
            <a:r>
              <a:t>Ошибка новичка: считать почтовую систему одним процессом или одним портом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цепочка отправки и получения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MUA отправителя отправляет письмо через Submission 587 или 465 с authentication</a:t>
            </a:r>
          </a:p>
          <a:p>
            <a:pPr>
              <a:defRPr sz="3600"/>
            </a:pPr>
            <a:r>
              <a:t>MTA отправителя ищет MX домена получателя</a:t>
            </a:r>
          </a:p>
          <a:p>
            <a:pPr>
              <a:defRPr sz="3600"/>
            </a:pPr>
            <a:r>
              <a:t>MTA отправителя передает письмо на SMTP 25 MTA получателя</a:t>
            </a:r>
          </a:p>
          <a:p>
            <a:pPr>
              <a:defRPr sz="3600"/>
            </a:pPr>
            <a:r>
              <a:t>MTA получателя выполняет локальную доставку в mailbox</a:t>
            </a:r>
          </a:p>
          <a:p>
            <a:pPr>
              <a:defRPr sz="3600"/>
            </a:pPr>
            <a:r>
              <a:t>MUA получателя читает письмо через IMAPS 993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почтовые протоколы и порты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25 SMTP — обмен почтой между почтовыми серверами</a:t>
            </a:r>
          </a:p>
          <a:p>
            <a:pPr>
              <a:defRPr sz="3600"/>
            </a:pPr>
            <a:r>
              <a:t>587 Submission — отправка пользователем с STARTTLS и authentication</a:t>
            </a:r>
          </a:p>
          <a:p>
            <a:pPr>
              <a:defRPr sz="3600"/>
            </a:pPr>
            <a:r>
              <a:t>465 Submission over Implicit TLS — отправка пользователем через TLS сразу с начала соединения</a:t>
            </a:r>
          </a:p>
          <a:p>
            <a:pPr>
              <a:defRPr sz="3600"/>
            </a:pPr>
            <a:r>
              <a:t>143 IMAP — доступ к mailbox, обычно с STARTTLS</a:t>
            </a:r>
          </a:p>
          <a:p>
            <a:pPr>
              <a:defRPr sz="3600"/>
            </a:pPr>
            <a:r>
              <a:t>993 IMAPS — доступ к mailbox через Implicit TLS</a:t>
            </a:r>
          </a:p>
          <a:p>
            <a:pPr>
              <a:defRPr sz="3600"/>
            </a:pPr>
            <a:r>
              <a:t>995 POP3S — защищенный POP3, если POP3 используется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SMTP 25 и Submission 587/465 имеют разные контуры доверия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 25 используется MTA для обмена почтой между серверами</a:t>
            </a:r>
          </a:p>
          <a:p>
            <a:pPr>
              <a:defRPr sz="3600"/>
            </a:pPr>
            <a:r>
              <a:t>Внешний MTA обычно не аутентифицируется, но письмо принимается только для обслуживаемых доменов</a:t>
            </a:r>
          </a:p>
          <a:p>
            <a:pPr>
              <a:defRPr sz="3600"/>
            </a:pPr>
            <a:r>
              <a:t>Submission 587/465 используется пользователем или приложением</a:t>
            </a:r>
          </a:p>
          <a:p>
            <a:pPr>
              <a:defRPr sz="3600"/>
            </a:pPr>
            <a:r>
              <a:t>Submission требует authentication и TLS</a:t>
            </a:r>
          </a:p>
          <a:p>
            <a:pPr>
              <a:defRPr sz="3600"/>
            </a:pPr>
            <a:r>
              <a:t>Клиент пользователя не должен отправлять обычную почту через неаутентифицированный порт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Dovecot не следует называть просто хранилищем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Dovecot предоставляет доступ к mailbox по IMAP и при необходимости POP3</a:t>
            </a:r>
          </a:p>
          <a:p>
            <a:pPr>
              <a:defRPr sz="3600"/>
            </a:pPr>
            <a:r>
              <a:t>Dovecot выполняет authentication для почтовых пользователей</a:t>
            </a:r>
          </a:p>
          <a:p>
            <a:pPr>
              <a:defRPr sz="3600"/>
            </a:pPr>
            <a:r>
              <a:t>В некоторых схемах Dovecot участвует в локальной доставке через LMTP или LDA</a:t>
            </a:r>
          </a:p>
          <a:p>
            <a:pPr>
              <a:defRPr sz="3600"/>
            </a:pPr>
            <a:r>
              <a:t>Сами письма хранятся в mail storage, например Maildir или другом формате</a:t>
            </a:r>
          </a:p>
          <a:p>
            <a:pPr>
              <a:defRPr sz="3600"/>
            </a:pPr>
            <a:r>
              <a:t>Точная роль Dovecot зависит от архитектуры конкретной почтовой платформы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 Domain, Mailbox и Address должны быть согласованы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 Domain — домен, для которого сервер принимает почту</a:t>
            </a:r>
          </a:p>
          <a:p>
            <a:pPr>
              <a:defRPr sz="3600"/>
            </a:pPr>
            <a:r>
              <a:t>Mailbox — конкретный почтовый ящик пользователя</a:t>
            </a:r>
          </a:p>
          <a:p>
            <a:pPr>
              <a:defRPr sz="3600"/>
            </a:pPr>
            <a:r>
              <a:t>Address — полный адрес вида user1@company.test</a:t>
            </a:r>
          </a:p>
          <a:p>
            <a:pPr>
              <a:defRPr sz="3600"/>
            </a:pPr>
            <a:r>
              <a:t>Alias может перенаправлять адрес на один или несколько mailbox</a:t>
            </a:r>
          </a:p>
          <a:p>
            <a:pPr>
              <a:defRPr sz="3600"/>
            </a:pPr>
            <a:r>
              <a:t>Если домен не создан в платформе, сервер не должен принимать почту как локальную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Postfix отвечает за SMTP-поток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Postfix принимает входящие SMTP-соединения</a:t>
            </a:r>
          </a:p>
          <a:p>
            <a:pPr>
              <a:defRPr sz="3600"/>
            </a:pPr>
            <a:r>
              <a:t>Postfix отправляет исходящую почту на другие MTA</a:t>
            </a:r>
          </a:p>
          <a:p>
            <a:pPr>
              <a:defRPr sz="3600"/>
            </a:pPr>
            <a:r>
              <a:t>Postfix помещает сообщения в queue при временных ошибках</a:t>
            </a:r>
          </a:p>
          <a:p>
            <a:pPr>
              <a:defRPr sz="3600"/>
            </a:pPr>
            <a:r>
              <a:t>Postfix взаимодействует с фильтрацией, политиками и локальной доставкой</a:t>
            </a:r>
          </a:p>
          <a:p>
            <a:pPr>
              <a:defRPr sz="3600"/>
            </a:pPr>
            <a:r>
              <a:t>В Mailcow Postfix является важной частью SMTP-контура, но не всей почтовой платформой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DNS направляет почту к правильному серверу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 record связывает имя mail.company.test с IPv4-адресом</a:t>
            </a:r>
          </a:p>
          <a:p>
            <a:pPr>
              <a:defRPr sz="3600"/>
            </a:pPr>
            <a:r>
              <a:t>MX record указывает, какой mail server принимает почту для домена</a:t>
            </a:r>
          </a:p>
          <a:p>
            <a:pPr>
              <a:defRPr sz="3600"/>
            </a:pPr>
            <a:r>
              <a:t>PTR record связывает IP-адрес с именем в reverse DNS</a:t>
            </a:r>
          </a:p>
          <a:p>
            <a:pPr>
              <a:defRPr sz="3600"/>
            </a:pPr>
            <a:r>
              <a:t>TXT records используются для SPF, DKIM и DMARC</a:t>
            </a:r>
          </a:p>
          <a:p>
            <a:pPr>
              <a:defRPr sz="3600"/>
            </a:pPr>
            <a:r>
              <a:t>Ошибка DNS часто выглядит как проблема почтового сервера, хотя сервер исправен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 и MX должны быть записаны корректно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A: mail.company.test. IN A 192.168.30.20</a:t>
            </a:r>
          </a:p>
          <a:p>
            <a:pPr>
              <a:defRPr sz="3600"/>
            </a:pPr>
            <a:r>
              <a:t>Пример MX: company.test. IN MX 10 mail.company.test.</a:t>
            </a:r>
          </a:p>
          <a:p>
            <a:pPr>
              <a:defRPr sz="3600"/>
            </a:pPr>
            <a:r>
              <a:t>MX указывает на имя mail server, а не напрямую на IP</a:t>
            </a:r>
          </a:p>
          <a:p>
            <a:pPr>
              <a:defRPr sz="3600"/>
            </a:pPr>
            <a:r>
              <a:t>Имя из MX должно разрешаться через A или AAAA</a:t>
            </a:r>
          </a:p>
          <a:p>
            <a:pPr>
              <a:defRPr sz="3600"/>
            </a:pPr>
            <a:r>
              <a:t>Для MX не рекомендуется указывать CNAME как целевой host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Priority MX определяет порядок попыток 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Меньшее число MX priority означает более высокий приоритет</a:t>
            </a:r>
          </a:p>
          <a:p>
            <a:pPr>
              <a:defRPr sz="3600"/>
            </a:pPr>
            <a:r>
              <a:t>Пример: company.test. IN MX 10 mail1.company.test.</a:t>
            </a:r>
          </a:p>
          <a:p>
            <a:pPr>
              <a:defRPr sz="3600"/>
            </a:pPr>
            <a:r>
              <a:t>Пример: company.test. IN MX 20 mail2.company.test.</a:t>
            </a:r>
          </a:p>
          <a:p>
            <a:pPr>
              <a:defRPr sz="3600"/>
            </a:pPr>
            <a:r>
              <a:t>Внешний MTA сначала попробует MX 10</a:t>
            </a:r>
          </a:p>
          <a:p>
            <a:pPr>
              <a:defRPr sz="3600"/>
            </a:pPr>
            <a:r>
              <a:t>Резервный MX должен быть реально готов принять и обработать почту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PTR создает владелец IP-адреса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PTR для публичного IP обычно настраивает провайдер, хостинг или владелец адресного блока</a:t>
            </a:r>
          </a:p>
          <a:p>
            <a:pPr>
              <a:defRPr sz="3600"/>
            </a:pPr>
            <a:r>
              <a:t>Обычная DNS-зона домена не дает права создать PTR для чужого IP</a:t>
            </a:r>
          </a:p>
          <a:p>
            <a:pPr>
              <a:defRPr sz="3600"/>
            </a:pPr>
            <a:r>
              <a:t>Желательное соответствие: 203.0.113.10 → PTR mail.company.test</a:t>
            </a:r>
          </a:p>
          <a:p>
            <a:pPr>
              <a:defRPr sz="3600"/>
            </a:pPr>
            <a:r>
              <a:t>Обратное соответствие: mail.company.test → A 203.0.113.10</a:t>
            </a:r>
          </a:p>
          <a:p>
            <a:pPr>
              <a:defRPr sz="3600"/>
            </a:pPr>
            <a:r>
              <a:t>Такое согласование называют Forward-confirmed Reverse DNS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AAAA публикуют только при готовом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опубликована AAAA record, внешний MTA может доставлять почту по IPv6</a:t>
            </a:r>
          </a:p>
          <a:p>
            <a:pPr>
              <a:defRPr sz="3600"/>
            </a:pPr>
            <a:r>
              <a:t>IPv6 должен иметь маршрутизацию, firewall и PTR</a:t>
            </a:r>
          </a:p>
          <a:p>
            <a:pPr>
              <a:defRPr sz="3600"/>
            </a:pPr>
            <a:r>
              <a:t>Неработающий IPv6 может давать задержки и нестабильную доставку</a:t>
            </a:r>
          </a:p>
          <a:p>
            <a:pPr>
              <a:defRPr sz="3600"/>
            </a:pPr>
            <a:r>
              <a:t>Для внутреннего IPv4-стенда AAAA можно не публиковать</a:t>
            </a:r>
          </a:p>
          <a:p>
            <a:pPr>
              <a:defRPr sz="3600"/>
            </a:pPr>
            <a:r>
              <a:t>Публикация DNS-записи означает обещание, что сервис реально доступен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SPF проверяет Envelope Sender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SPF — Sender Policy Framework</a:t>
            </a:r>
          </a:p>
          <a:p>
            <a:pPr>
              <a:defRPr sz="3600"/>
            </a:pPr>
            <a:r>
              <a:t>SPF проверяет домен SMTP Envelope Sender, также называемый Return-Path или Mail From</a:t>
            </a:r>
          </a:p>
          <a:p>
            <a:pPr>
              <a:defRPr sz="3600"/>
            </a:pPr>
            <a:r>
              <a:t>SPF не обязательно проверяет видимое пользователю поле From</a:t>
            </a:r>
          </a:p>
          <a:p>
            <a:pPr>
              <a:defRPr sz="3600"/>
            </a:pPr>
            <a:r>
              <a:t>Пример: company.test. IN TXT 'v=spf1 mx -all'</a:t>
            </a:r>
          </a:p>
          <a:p>
            <a:pPr>
              <a:defRPr sz="3600"/>
            </a:pPr>
            <a:r>
              <a:t>SPF имеет лимит DNS lookups и может ломаться при пересылке без SRS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DKIM подписывает заголовки и тело 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DKIM — DomainKeys Identified Mail</a:t>
            </a:r>
          </a:p>
          <a:p>
            <a:pPr>
              <a:defRPr sz="3600"/>
            </a:pPr>
            <a:r>
              <a:t>Private key находится на отправляющей платформе</a:t>
            </a:r>
          </a:p>
          <a:p>
            <a:pPr>
              <a:defRPr sz="3600"/>
            </a:pPr>
            <a:r>
              <a:t>Public key публикуется в DNS</a:t>
            </a:r>
          </a:p>
          <a:p>
            <a:pPr>
              <a:defRPr sz="3600"/>
            </a:pPr>
            <a:r>
              <a:t>Selector выбирает конкретный DKIM-ключ, например selector1._domainkey.company.test</a:t>
            </a:r>
          </a:p>
          <a:p>
            <a:pPr>
              <a:defRPr sz="3600"/>
            </a:pPr>
            <a:r>
              <a:t>DKIM подтверждает целостность и доменную подпись, но не шифрует письмо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DMARC требует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DMARC — Domain-based Message Authentication, Reporting and Conformance</a:t>
            </a:r>
          </a:p>
          <a:p>
            <a:pPr>
              <a:defRPr sz="3600"/>
            </a:pPr>
            <a:r>
              <a:t>DMARC проверяет SPF или DKIM вместе с alignment к домену в видимом From</a:t>
            </a:r>
          </a:p>
          <a:p>
            <a:pPr>
              <a:defRPr sz="3600"/>
            </a:pPr>
            <a:r>
              <a:t>Начальная политика: _dmarc.company.test. IN TXT 'v=DMARC1; p=none; rua=mailto:dmarc@company.test'</a:t>
            </a:r>
          </a:p>
          <a:p>
            <a:pPr>
              <a:defRPr sz="3600"/>
            </a:pPr>
            <a:r>
              <a:t>Внедрение начинают с p=none и анализа отчетов</a:t>
            </a:r>
          </a:p>
          <a:p>
            <a:pPr>
              <a:defRPr sz="3600"/>
            </a:pPr>
            <a:r>
              <a:t>p=quarantine и p=reject вводят только после проверки легитимных источников отправки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SPF, DKIM и DMARC не гарантируют попадание во входящие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Эти механизмы повышают доверие и уменьшают подделку отправителя</a:t>
            </a:r>
          </a:p>
          <a:p>
            <a:pPr>
              <a:defRPr sz="3600"/>
            </a:pPr>
            <a:r>
              <a:t>На доставляемость влияют IP reputation и domain reputation</a:t>
            </a:r>
          </a:p>
          <a:p>
            <a:pPr>
              <a:defRPr sz="3600"/>
            </a:pPr>
            <a:r>
              <a:t>Влияют PTR, HELO/EHLO, blocklists, содержание и частота отправки</a:t>
            </a:r>
          </a:p>
          <a:p>
            <a:pPr>
              <a:defRPr sz="3600"/>
            </a:pPr>
            <a:r>
              <a:t>Влияют жалобы пользователей, возраст домена и качество TLS</a:t>
            </a:r>
          </a:p>
          <a:p>
            <a:pPr>
              <a:defRPr sz="3600"/>
            </a:pPr>
            <a:r>
              <a:t>Корректная аутентификация — необходимое условие, но не гарантия inbox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 для клиента и TLS между MTA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Submission, IMAPS и Webmail TLS должен быть обязательным</a:t>
            </a:r>
          </a:p>
          <a:p>
            <a:pPr>
              <a:defRPr sz="3600"/>
            </a:pPr>
            <a:r>
              <a:t>SMTP между независимыми MTA часто использует opportunistic STARTTLS</a:t>
            </a:r>
          </a:p>
          <a:p>
            <a:pPr>
              <a:defRPr sz="3600"/>
            </a:pPr>
            <a:r>
              <a:t>Если обе стороны поддерживают TLS, канал шифруется</a:t>
            </a:r>
          </a:p>
          <a:p>
            <a:pPr>
              <a:defRPr sz="3600"/>
            </a:pPr>
            <a:r>
              <a:t>Без строгой политики доставка может продолжиться без TLS</a:t>
            </a:r>
          </a:p>
          <a:p>
            <a:pPr>
              <a:defRPr sz="3600"/>
            </a:pPr>
            <a:r>
              <a:t>Для строгого транспорта применяют MTA-STS, DANE или локальные TLS policies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 не делает письмо end-to-end зашифрованным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TLS защищает канал Client → Server, Server → Server или Server → Client</a:t>
            </a:r>
          </a:p>
          <a:p>
            <a:pPr>
              <a:defRPr sz="3600"/>
            </a:pPr>
            <a:r>
              <a:t>Почтовые серверы обычно видят содержимое сообщения</a:t>
            </a:r>
          </a:p>
          <a:p>
            <a:pPr>
              <a:defRPr sz="3600"/>
            </a:pPr>
            <a:r>
              <a:t>End-to-end encryption требует отдельных технологий, например S/MIME или OpenPGP</a:t>
            </a:r>
          </a:p>
          <a:p>
            <a:pPr>
              <a:defRPr sz="3600"/>
            </a:pPr>
            <a:r>
              <a:t>Сертификат должен покрывать имя, к которому подключается клиент</a:t>
            </a:r>
          </a:p>
          <a:p>
            <a:pPr>
              <a:defRPr sz="3600"/>
            </a:pPr>
            <a:r>
              <a:t>Если клиент идет на mail.company.test, сертификат должен содержать mail.company.test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DNS-записи и аутентификация почтового домена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647C21-0DF4-C6FD-6E6D-61B45417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Очередь показывает состояние доставки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Incoming queue содержит недавно принятые сообщения</a:t>
            </a:r>
          </a:p>
          <a:p>
            <a:pPr>
              <a:defRPr sz="3600"/>
            </a:pPr>
            <a:r>
              <a:t>Active queue содержит сообщения в текущей обработке</a:t>
            </a:r>
          </a:p>
          <a:p>
            <a:pPr>
              <a:defRPr sz="3600"/>
            </a:pPr>
            <a:r>
              <a:t>Deferred queue содержит сообщения с временной ошибкой доставки</a:t>
            </a:r>
          </a:p>
          <a:p>
            <a:pPr>
              <a:defRPr sz="3600"/>
            </a:pPr>
            <a:r>
              <a:t>Hold queue удерживает сообщения по политике администратора</a:t>
            </a:r>
          </a:p>
          <a:p>
            <a:pPr>
              <a:defRPr sz="3600"/>
            </a:pPr>
            <a:r>
              <a:t>Bounced message означает окончательно отклоненное сообщение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SMTP-коды помогают понять судьбу письма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2xx означает успешное выполнение команды</a:t>
            </a:r>
          </a:p>
          <a:p>
            <a:pPr>
              <a:defRPr sz="3600"/>
            </a:pPr>
            <a:r>
              <a:t>4xx означает временную ошибку, письмо обычно может быть повторено позже</a:t>
            </a:r>
          </a:p>
          <a:p>
            <a:pPr>
              <a:defRPr sz="3600"/>
            </a:pPr>
            <a:r>
              <a:t>5xx означает постоянную ошибку, часто формируется bounce</a:t>
            </a:r>
          </a:p>
          <a:p>
            <a:pPr>
              <a:defRPr sz="3600"/>
            </a:pPr>
            <a:r>
              <a:t>Пример 450: mailbox temporarily unavailable</a:t>
            </a:r>
          </a:p>
          <a:p>
            <a:pPr>
              <a:defRPr sz="3600"/>
            </a:pPr>
            <a:r>
              <a:t>Пример 550: user unknown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Очередь нужно анализировать безопасными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mailq или postqueue -p показывает очередь Postfix</a:t>
            </a:r>
          </a:p>
          <a:p>
            <a:pPr>
              <a:defRPr sz="3600"/>
            </a:pPr>
            <a:r>
              <a:t>postcat -q QUEUE_ID показывает конкретное сообщение</a:t>
            </a:r>
          </a:p>
          <a:p>
            <a:pPr>
              <a:defRPr sz="3600"/>
            </a:pPr>
            <a:r>
              <a:t>postqueue -f запускает повторную попытку доставки очереди</a:t>
            </a:r>
          </a:p>
          <a:p>
            <a:pPr>
              <a:defRPr sz="3600"/>
            </a:pPr>
            <a:r>
              <a:t>postsuper -d QUEUE_ID удаляет одно сообщение</a:t>
            </a:r>
          </a:p>
          <a:p>
            <a:pPr>
              <a:defRPr sz="3600"/>
            </a:pPr>
            <a:r>
              <a:t>Flush или массовое удаление не выполняют до устранения причины задержки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 Relay — это пересылка чужой почты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Внешний отправитель → user@company.test: принять, это наш домен</a:t>
            </a:r>
          </a:p>
          <a:p>
            <a:pPr>
              <a:defRPr sz="3600"/>
            </a:pPr>
            <a:r>
              <a:t>Аутентифицированный пользователь → внешний домен: разрешить relay</a:t>
            </a:r>
          </a:p>
          <a:p>
            <a:pPr>
              <a:defRPr sz="3600"/>
            </a:pPr>
            <a:r>
              <a:t>Доверенная внутренняя сеть → внешний домен: по политике</a:t>
            </a:r>
          </a:p>
          <a:p>
            <a:pPr>
              <a:defRPr sz="3600"/>
            </a:pPr>
            <a:r>
              <a:t>Внешний неаутентифицированный → внешний домен: запретить</a:t>
            </a:r>
          </a:p>
          <a:p>
            <a:pPr>
              <a:defRPr sz="3600"/>
            </a:pPr>
            <a:r>
              <a:t>Open Relay возникает, когда последний сценарий разрешен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Антиспам состоит из нескольких уровней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Rspamd анализирует репутацию, заголовки, правила и score письма</a:t>
            </a:r>
          </a:p>
          <a:p>
            <a:pPr>
              <a:defRPr sz="3600"/>
            </a:pPr>
            <a:r>
              <a:t>SPF, DKIM и DMARC участвуют в оценке доверия</a:t>
            </a:r>
          </a:p>
          <a:p>
            <a:pPr>
              <a:defRPr sz="3600"/>
            </a:pPr>
            <a:r>
              <a:t>Могут применяться DNS blocklists, greylisting, rate limits и MIME rules</a:t>
            </a:r>
          </a:p>
          <a:p>
            <a:pPr>
              <a:defRPr sz="3600"/>
            </a:pPr>
            <a:r>
              <a:t>Антивирус и malware scanning зависят от версии и конфигурации Mailcow</a:t>
            </a:r>
          </a:p>
          <a:p>
            <a:pPr>
              <a:defRPr sz="3600"/>
            </a:pPr>
            <a:r>
              <a:t>Версию Mailcow и состав контейнеров нужно фиксировать в отчете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Spam Folder, Quarantine и Reject — разные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Spam Folder: письмо доставлено в mailbox, но помечено как spam</a:t>
            </a:r>
          </a:p>
          <a:p>
            <a:pPr>
              <a:defRPr sz="3600"/>
            </a:pPr>
            <a:r>
              <a:t>Quarantine: письмо удержано системой фильтрации и может не попасть в mailbox</a:t>
            </a:r>
          </a:p>
          <a:p>
            <a:pPr>
              <a:defRPr sz="3600"/>
            </a:pPr>
            <a:r>
              <a:t>Reject: сообщение не принято сервером</a:t>
            </a:r>
          </a:p>
          <a:p>
            <a:pPr>
              <a:defRPr sz="3600"/>
            </a:pPr>
            <a:r>
              <a:t>Soft reject или temporary reject просит отправителя повторить попытку позже</a:t>
            </a:r>
          </a:p>
          <a:p>
            <a:pPr>
              <a:defRPr sz="3600"/>
            </a:pPr>
            <a:r>
              <a:t>Жалоба пользователя 'письмо не пришло' требует проверки всех этих вариантов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Заголовки письма помогают понять фильтрацию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Authentication-Results показывает результаты SPF, DKIM и DMARC</a:t>
            </a:r>
          </a:p>
          <a:p>
            <a:pPr>
              <a:defRPr sz="3600"/>
            </a:pPr>
            <a:r>
              <a:t>Received-SPF показывает SPF-результат</a:t>
            </a:r>
          </a:p>
          <a:p>
            <a:pPr>
              <a:defRPr sz="3600"/>
            </a:pPr>
            <a:r>
              <a:t>DKIM-Signature показывает наличие DKIM-подписи</a:t>
            </a:r>
          </a:p>
          <a:p>
            <a:pPr>
              <a:defRPr sz="3600"/>
            </a:pPr>
            <a:r>
              <a:t>Received показывает путь письма через серверы</a:t>
            </a:r>
          </a:p>
          <a:p>
            <a:pPr>
              <a:defRPr sz="3600"/>
            </a:pPr>
            <a:r>
              <a:t>X-Spam-* или похожие заголовки показывают антиспам-оценку, если система их добавляет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основные контейнеры и роли Mailcow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AA75D9-CB7A-BFB5-1A20-1823BBD3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Mailcow объединяет несколько групп сервисов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SMTP: Postfix и связанные сервисы приема и отправки</a:t>
            </a:r>
          </a:p>
          <a:p>
            <a:pPr>
              <a:defRPr sz="3600"/>
            </a:pPr>
            <a:r>
              <a:t>Mailbox и authentication: Dovecot</a:t>
            </a:r>
          </a:p>
          <a:p>
            <a:pPr>
              <a:defRPr sz="3600"/>
            </a:pPr>
            <a:r>
              <a:t>Filtering: Rspamd и связанные проверки</a:t>
            </a:r>
          </a:p>
          <a:p>
            <a:pPr>
              <a:defRPr sz="3600"/>
            </a:pPr>
            <a:r>
              <a:t>Web: Nginx, PHP, webmail и административный UI</a:t>
            </a:r>
          </a:p>
          <a:p>
            <a:pPr>
              <a:defRPr sz="3600"/>
            </a:pPr>
            <a:r>
              <a:t>Data layer: database, Redis, volumes, certificates, keys и configuration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Mailcow ставят на чистую VM без конфликтующих сервисов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установкой проверить занятые порты: sudo ss -lntup</a:t>
            </a:r>
          </a:p>
          <a:p>
            <a:pPr>
              <a:defRPr sz="3600"/>
            </a:pPr>
            <a:r>
              <a:t>Проверить уже запущенные containers: docker ps</a:t>
            </a:r>
          </a:p>
          <a:p>
            <a:pPr>
              <a:defRPr sz="3600"/>
            </a:pPr>
            <a:r>
              <a:t>Проверить сервисы хоста: systemctl --type=service --state=running</a:t>
            </a:r>
          </a:p>
          <a:p>
            <a:pPr>
              <a:defRPr sz="3600"/>
            </a:pPr>
            <a:r>
              <a:t>Конфликтовать могут Postfix, Nginx, Apache, Dovecot и локальный DNS</a:t>
            </a:r>
          </a:p>
          <a:p>
            <a:pPr>
              <a:defRPr sz="3600"/>
            </a:pPr>
            <a:r>
              <a:t>Другой Docker project также может занять нужные ports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FQDN нужно выбрать однозначно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лаборатории выбираем hostname: mail</a:t>
            </a:r>
          </a:p>
          <a:p>
            <a:pPr>
              <a:defRPr sz="3600"/>
            </a:pPr>
            <a:r>
              <a:t>FQDN: mail.company.test</a:t>
            </a:r>
          </a:p>
          <a:p>
            <a:pPr>
              <a:defRPr sz="3600"/>
            </a:pPr>
            <a:r>
              <a:t>Domain: company.test</a:t>
            </a:r>
          </a:p>
          <a:p>
            <a:pPr>
              <a:defRPr sz="3600"/>
            </a:pPr>
            <a:r>
              <a:t>Web URL: https://mail.company.test</a:t>
            </a:r>
          </a:p>
          <a:p>
            <a:pPr>
              <a:defRPr sz="3600"/>
            </a:pPr>
            <a:r>
              <a:t>Не смешивать mail01.company.test и mail.company.test в одном сценарии</a:t>
            </a:r>
          </a:p>
          <a:p>
            <a:pPr>
              <a:defRPr sz="3600"/>
            </a:pPr>
            <a:r>
              <a:t>Certificate, DNS, webmail и клиенты должны использовать одно согласованное имя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Домен .test подходит только для изолированного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company.test допустим как зарезервированный учебный домен</a:t>
            </a:r>
          </a:p>
          <a:p>
            <a:pPr>
              <a:defRPr sz="3600"/>
            </a:pPr>
            <a:r>
              <a:t>Такую систему нельзя использовать как реальную внешнюю почту в Интернете</a:t>
            </a:r>
          </a:p>
          <a:p>
            <a:pPr>
              <a:defRPr sz="3600"/>
            </a:pPr>
            <a:r>
              <a:t>Для внешней доставки нужен зарегистрированный домен</a:t>
            </a:r>
          </a:p>
          <a:p>
            <a:pPr>
              <a:defRPr sz="3600"/>
            </a:pPr>
            <a:r>
              <a:t>Нужен управляемый DNS и возможность настроить PTR</a:t>
            </a:r>
          </a:p>
          <a:p>
            <a:pPr>
              <a:defRPr sz="3600"/>
            </a:pPr>
            <a:r>
              <a:t>Нужно учитывать публичную репутацию IP и домена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Публичная почта часто упирается в ограничения провайдера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Исходящий TCP 25 может быть заблокирован</a:t>
            </a:r>
          </a:p>
          <a:p>
            <a:pPr>
              <a:defRPr sz="3600"/>
            </a:pPr>
            <a:r>
              <a:t>PTR может быть недоступен пользователю виртуальной машины</a:t>
            </a:r>
          </a:p>
          <a:p>
            <a:pPr>
              <a:defRPr sz="3600"/>
            </a:pPr>
            <a:r>
              <a:t>Dynamic IP и CGNAT мешают стабильной доставке</a:t>
            </a:r>
          </a:p>
          <a:p>
            <a:pPr>
              <a:defRPr sz="3600"/>
            </a:pPr>
            <a:r>
              <a:t>Cloud provider может ограничивать SMTP</a:t>
            </a:r>
          </a:p>
          <a:p>
            <a:pPr>
              <a:defRPr sz="3600"/>
            </a:pPr>
            <a:r>
              <a:t>Новый IP может иметь плохую или отсутствующую репутацию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Mailcow нельзя править внутри контейнера вручную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exec полезен для диагностики, но не для постоянной настройки</a:t>
            </a:r>
          </a:p>
          <a:p>
            <a:pPr>
              <a:defRPr sz="3600"/>
            </a:pPr>
            <a:r>
              <a:t>Ручная правка внутри контейнера может исчезнуть после пересоздания</a:t>
            </a:r>
          </a:p>
          <a:p>
            <a:pPr>
              <a:defRPr sz="3600"/>
            </a:pPr>
            <a:r>
              <a:t>Такая правка создает configuration drift</a:t>
            </a:r>
          </a:p>
          <a:p>
            <a:pPr>
              <a:defRPr sz="3600"/>
            </a:pPr>
            <a:r>
              <a:t>Постоянные изменения выполняют предусмотренным Mailcow способом</a:t>
            </a:r>
          </a:p>
          <a:p>
            <a:pPr>
              <a:defRPr sz="3600"/>
            </a:pPr>
            <a:r>
              <a:t>В отчете фиксируют версию Mailcow, Docker, Compose, FQDN, IP, ports и дату backup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Volumes Mailcow требуют консистентного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Простое копирование active volumes во время работы может повредить backup</a:t>
            </a:r>
          </a:p>
          <a:p>
            <a:pPr>
              <a:defRPr sz="3600"/>
            </a:pPr>
            <a:r>
              <a:t>Риски: неконсистентная database, частично записанный mailbox и несогласованные metadata</a:t>
            </a:r>
          </a:p>
          <a:p>
            <a:pPr>
              <a:defRPr sz="3600"/>
            </a:pPr>
            <a:r>
              <a:t>Использовать штатную процедуру backup Mailcow для установленной версии</a:t>
            </a:r>
          </a:p>
          <a:p>
            <a:pPr>
              <a:defRPr sz="3600"/>
            </a:pPr>
            <a:r>
              <a:t>Альтернатива: согласованный quiesce или остановка и копирование по документированной процедуре</a:t>
            </a:r>
          </a:p>
          <a:p>
            <a:pPr>
              <a:defRPr sz="3600"/>
            </a:pPr>
            <a:r>
              <a:t>Не приводить универсальную ручную команду без привязки к версии Mailcow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должен включать данные и средства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Mailboxes и database</a:t>
            </a:r>
          </a:p>
          <a:p>
            <a:pPr>
              <a:defRPr sz="3600"/>
            </a:pPr>
            <a:r>
              <a:t>Mailcow configuration, compose-файлы и environment configuration</a:t>
            </a:r>
          </a:p>
          <a:p>
            <a:pPr>
              <a:defRPr sz="3600"/>
            </a:pPr>
            <a:r>
              <a:t>TLS certificates и private keys</a:t>
            </a:r>
          </a:p>
          <a:p>
            <a:pPr>
              <a:defRPr sz="3600"/>
            </a:pPr>
            <a:r>
              <a:t>DKIM private keys и необходимые secrets</a:t>
            </a:r>
          </a:p>
          <a:p>
            <a:pPr>
              <a:defRPr sz="3600"/>
            </a:pPr>
            <a:r>
              <a:t>Spam policy, пользовательские настройки и документацию версии</a:t>
            </a:r>
          </a:p>
          <a:p>
            <a:pPr>
              <a:defRPr sz="3600"/>
            </a:pPr>
            <a:r>
              <a:t>Backup secrets должен быть зашифрован и доступен только администраторам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Test Restore выполняют на новом стенде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Подготовить чистую VM и совместимую версию Docker</a:t>
            </a:r>
          </a:p>
          <a:p>
            <a:pPr>
              <a:defRPr sz="3600"/>
            </a:pPr>
            <a:r>
              <a:t>Развернуть совместимую версию Mailcow</a:t>
            </a:r>
          </a:p>
          <a:p>
            <a:pPr>
              <a:defRPr sz="3600"/>
            </a:pPr>
            <a:r>
              <a:t>Восстановить configuration, database, mailboxes, certificates и DKIM</a:t>
            </a:r>
          </a:p>
          <a:p>
            <a:pPr>
              <a:defRPr sz="3600"/>
            </a:pPr>
            <a:r>
              <a:t>Запустить containers и войти в Web UI</a:t>
            </a:r>
          </a:p>
          <a:p>
            <a:pPr>
              <a:defRPr sz="3600"/>
            </a:pPr>
            <a:r>
              <a:t>Проверить mailbox, отправку, получение, queue, DNS и TLS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Обновление Mailcow выполняют штатной процедурой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Зафиксировать текущую версию и состояние containers</a:t>
            </a:r>
          </a:p>
          <a:p>
            <a:pPr>
              <a:defRPr sz="3600"/>
            </a:pPr>
            <a:r>
              <a:t>Проверить свободное место и создать проверенный backup</a:t>
            </a:r>
          </a:p>
          <a:p>
            <a:pPr>
              <a:defRPr sz="3600"/>
            </a:pPr>
            <a:r>
              <a:t>Изучить upgrade notes и согласовать maintenance window</a:t>
            </a:r>
          </a:p>
          <a:p>
            <a:pPr>
              <a:defRPr sz="3600"/>
            </a:pPr>
            <a:r>
              <a:t>Выполнить штатное обновление Mailcow</a:t>
            </a:r>
          </a:p>
          <a:p>
            <a:pPr>
              <a:defRPr sz="3600"/>
            </a:pPr>
            <a:r>
              <a:t>Проверить containers, mail flow, TLS, DNS, queue и антиспам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Rollback обновления может требовать полного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Возврат старых images не всегда достаточен</a:t>
            </a:r>
          </a:p>
          <a:p>
            <a:pPr>
              <a:defRPr sz="3600"/>
            </a:pPr>
            <a:r>
              <a:t>Обновление могло изменить database, volumes или формат конфигурации</a:t>
            </a:r>
          </a:p>
          <a:p>
            <a:pPr>
              <a:defRPr sz="3600"/>
            </a:pPr>
            <a:r>
              <a:t>Старая версия может быть несовместима с новыми данными</a:t>
            </a:r>
          </a:p>
          <a:p>
            <a:pPr>
              <a:defRPr sz="3600"/>
            </a:pPr>
            <a:r>
              <a:t>Надежный rollback часто означает чистое развёртывание совместимой версии</a:t>
            </a:r>
          </a:p>
          <a:p>
            <a:pPr>
              <a:defRPr sz="3600"/>
            </a:pPr>
            <a:r>
              <a:t>Затем выполняется восстановление полного backup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Mailcow идет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Container: docker compose ps и restart count</a:t>
            </a:r>
          </a:p>
          <a:p>
            <a:pPr>
              <a:defRPr sz="3600"/>
            </a:pPr>
            <a:r>
              <a:t>Process: работает ли нужный процесс внутри контейнерной роли</a:t>
            </a:r>
          </a:p>
          <a:p>
            <a:pPr>
              <a:defRPr sz="3600"/>
            </a:pPr>
            <a:r>
              <a:t>Port: открыт ли SMTP, Submission, IMAPS или HTTPS</a:t>
            </a:r>
          </a:p>
          <a:p>
            <a:pPr>
              <a:defRPr sz="3600"/>
            </a:pPr>
            <a:r>
              <a:t>Protocol: отвечает ли сервис правильно</a:t>
            </a:r>
          </a:p>
          <a:p>
            <a:pPr>
              <a:defRPr sz="3600"/>
            </a:pPr>
            <a:r>
              <a:t>Mail Flow: письмо реально отправляется, доставляется и читается</a:t>
            </a:r>
          </a:p>
          <a:p>
            <a:pPr>
              <a:defRPr sz="3600"/>
            </a:pPr>
            <a:r>
              <a:t>Queue, DNS, TLS, database, disk и authentication проверяются отдельно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Протокольные проверки подтверждают порт, TLS и сертификат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SMTP STARTTLS: openssl s_client -starttls smtp -connect mail.company.test:25 -servername mail.company.test</a:t>
            </a:r>
          </a:p>
          <a:p>
            <a:pPr>
              <a:defRPr sz="3600"/>
            </a:pPr>
            <a:r>
              <a:t>Submission STARTTLS: openssl s_client -starttls smtp -connect mail.company.test:587 -servername mail.company.test</a:t>
            </a:r>
          </a:p>
          <a:p>
            <a:pPr>
              <a:defRPr sz="3600"/>
            </a:pPr>
            <a:r>
              <a:t>IMAPS: openssl s_client -connect mail.company.test:993 -servername mail.company.test</a:t>
            </a:r>
          </a:p>
          <a:p>
            <a:pPr>
              <a:defRPr sz="3600"/>
            </a:pPr>
            <a:r>
              <a:t>Эти команды не заменяют проверку authentication и доставки письма</a:t>
            </a:r>
          </a:p>
          <a:p>
            <a:pPr>
              <a:defRPr sz="3600"/>
            </a:pPr>
            <a:r>
              <a:t>Результат нужно читать вместе с сертификатом, banner и response codes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swaks удобен для SMTP-диагностики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swaks может проверить SMTP, Submission, STARTTLS и authentication</a:t>
            </a:r>
          </a:p>
          <a:p>
            <a:pPr>
              <a:defRPr sz="3600"/>
            </a:pPr>
            <a:r>
              <a:t>Пример: swaks --server mail.company.test --port 587 --tls --auth --auth-user user1@company.test --to user2@company.test</a:t>
            </a:r>
          </a:p>
          <a:p>
            <a:pPr>
              <a:defRPr sz="3600"/>
            </a:pPr>
            <a:r>
              <a:t>Пароль не показывают в отчете и не оставляют в shell history</a:t>
            </a:r>
          </a:p>
          <a:p>
            <a:pPr>
              <a:defRPr sz="3600"/>
            </a:pPr>
            <a:r>
              <a:t>swaks помогает увидеть SMTP response codes</a:t>
            </a:r>
          </a:p>
          <a:p>
            <a:pPr>
              <a:defRPr sz="3600"/>
            </a:pPr>
            <a:r>
              <a:t>Если пакет недоступен, проверку выполняют почтовым клиентом и openssl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лаборатория проверяет внутренний mail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user1@company.test отправляет письмо user2@company.test</a:t>
            </a:r>
          </a:p>
          <a:p>
            <a:pPr>
              <a:defRPr sz="3600"/>
            </a:pPr>
            <a:r>
              <a:t>Проверяются Submission, local domain, local delivery, mailbox и IMAPS/Webmail</a:t>
            </a:r>
          </a:p>
          <a:p>
            <a:pPr>
              <a:defRPr sz="3600"/>
            </a:pPr>
            <a:r>
              <a:t>Не проверяются публичный MX, PTR, reputation и доставка в Gmail или Outlook</a:t>
            </a:r>
          </a:p>
          <a:p>
            <a:pPr>
              <a:defRPr sz="3600"/>
            </a:pPr>
            <a:r>
              <a:t>Для MTA-to-MTA практики нужен второй домен или тестовый MTA</a:t>
            </a:r>
          </a:p>
          <a:p>
            <a:pPr>
              <a:defRPr sz="3600"/>
            </a:pPr>
            <a:r>
              <a:t>Это расширяет лабораторию и не входит в базовый сценарий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Сценарии отказа контейнеров должны быть заранее определены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Webmail down: web UI недоступен, SMTP и IMAP могут работать</a:t>
            </a:r>
          </a:p>
          <a:p>
            <a:pPr>
              <a:defRPr sz="3600"/>
            </a:pPr>
            <a:r>
              <a:t>Dovecot down: IMAP login и mailbox access нарушены</a:t>
            </a:r>
          </a:p>
          <a:p>
            <a:pPr>
              <a:defRPr sz="3600"/>
            </a:pPr>
            <a:r>
              <a:t>Postfix down: прием и отправка нарушены</a:t>
            </a:r>
          </a:p>
          <a:p>
            <a:pPr>
              <a:defRPr sz="3600"/>
            </a:pPr>
            <a:r>
              <a:t>Rspamd down: фильтрация нарушена или деградирует</a:t>
            </a:r>
          </a:p>
          <a:p>
            <a:pPr>
              <a:defRPr sz="3600"/>
            </a:pPr>
            <a:r>
              <a:t>Database down: несколько компонентов могут перестать работать</a:t>
            </a:r>
          </a:p>
          <a:p>
            <a:pPr>
              <a:defRPr sz="3600"/>
            </a:pPr>
            <a:r>
              <a:t>После отказа фиксируют симптом, logs, recovery и итоговую проверку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Mailcow нужно разделить на уровни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Host: CPU, RAM, load, disk, inode, I/O, network и Docker daemon</a:t>
            </a:r>
          </a:p>
          <a:p>
            <a:pPr>
              <a:defRPr sz="3600"/>
            </a:pPr>
            <a:r>
              <a:t>Containers: running, exited, restart count, health, CPU/RAM и log errors</a:t>
            </a:r>
          </a:p>
          <a:p>
            <a:pPr>
              <a:defRPr sz="3600"/>
            </a:pPr>
            <a:r>
              <a:t>Protocols: SMTP 25, Submission 587/465, IMAPS 993 и HTTPS</a:t>
            </a:r>
          </a:p>
          <a:p>
            <a:pPr>
              <a:defRPr sz="3600"/>
            </a:pPr>
            <a:r>
              <a:t>Mail Flow: queue size, deferred messages, oldest queue message и reject rate</a:t>
            </a:r>
          </a:p>
          <a:p>
            <a:pPr>
              <a:defRPr sz="3600"/>
            </a:pPr>
            <a:r>
              <a:t>Dependencies: database, DNS, NTP, storage и backup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Synthetic Mail Flow Test важнее простой проверки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Открытый TCP 25 не доказывает, что почта доставляется</a:t>
            </a:r>
          </a:p>
          <a:p>
            <a:pPr>
              <a:defRPr sz="3600"/>
            </a:pPr>
            <a:r>
              <a:t>Нужно отправить тестовое письмо</a:t>
            </a:r>
          </a:p>
          <a:p>
            <a:pPr>
              <a:defRPr sz="3600"/>
            </a:pPr>
            <a:r>
              <a:t>Нужно получить письмо и измерить время доставки</a:t>
            </a:r>
          </a:p>
          <a:p>
            <a:pPr>
              <a:defRPr sz="3600"/>
            </a:pPr>
            <a:r>
              <a:t>Нужно проверить queue, logs и mailbox</a:t>
            </a:r>
          </a:p>
          <a:p>
            <a:pPr>
              <a:defRPr sz="3600"/>
            </a:pPr>
            <a:r>
              <a:t>Такой тест показывает реальную работу платформы, а не только доступность порта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Сертификаты и время сервера нужно мониторить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Контролировать Not After и количество дней до истечения сертификата</a:t>
            </a:r>
          </a:p>
          <a:p>
            <a:pPr>
              <a:defRPr sz="3600"/>
            </a:pPr>
            <a:r>
              <a:t>Проверять name matching и trust chain</a:t>
            </a:r>
          </a:p>
          <a:p>
            <a:pPr>
              <a:defRPr sz="3600"/>
            </a:pPr>
            <a:r>
              <a:t>Trigger: certificate expires in less than 14 days</a:t>
            </a:r>
          </a:p>
          <a:p>
            <a:pPr>
              <a:defRPr sz="3600"/>
            </a:pPr>
            <a:r>
              <a:t>Время сервера влияет на TLS, DKIM, logs, tokens, queue и correlation</a:t>
            </a:r>
          </a:p>
          <a:p>
            <a:pPr>
              <a:defRPr sz="3600"/>
            </a:pPr>
            <a:r>
              <a:t>Проверки времени: timedatectl или chronyc tracking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Mailbox quota и заполнение storage различаются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Mailbox quota может быть исчерпана при наличии свободного места на сервере</a:t>
            </a:r>
          </a:p>
          <a:p>
            <a:pPr>
              <a:defRPr sz="3600"/>
            </a:pPr>
            <a:r>
              <a:t>Может заполниться весь disk mail server</a:t>
            </a:r>
          </a:p>
          <a:p>
            <a:pPr>
              <a:defRPr sz="3600"/>
            </a:pPr>
            <a:r>
              <a:t>Может заполниться database volume или queue storage</a:t>
            </a:r>
          </a:p>
          <a:p>
            <a:pPr>
              <a:defRPr sz="3600"/>
            </a:pPr>
            <a:r>
              <a:t>Могут закончиться inode</a:t>
            </a:r>
          </a:p>
          <a:p>
            <a:pPr>
              <a:defRPr sz="3600"/>
            </a:pPr>
            <a:r>
              <a:t>Ошибка пользователя может выглядеть как Mailbox full или Quota exceeded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Почтовый backup содержит особо чувствительные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Содержимое писем и вложения могут содержать персональные данные</a:t>
            </a:r>
          </a:p>
          <a:p>
            <a:pPr>
              <a:defRPr sz="3600"/>
            </a:pPr>
            <a:r>
              <a:t>В backup могут быть password hashes, DKIM keys, TLS keys и administrative tokens</a:t>
            </a:r>
          </a:p>
          <a:p>
            <a:pPr>
              <a:defRPr sz="3600"/>
            </a:pPr>
            <a:r>
              <a:t>Backup должен быть зашифрован</a:t>
            </a:r>
          </a:p>
          <a:p>
            <a:pPr>
              <a:defRPr sz="3600"/>
            </a:pPr>
            <a:r>
              <a:t>Backup retention задается отдельно от mailbox retention</a:t>
            </a:r>
          </a:p>
          <a:p>
            <a:pPr>
              <a:defRPr sz="3600"/>
            </a:pPr>
            <a:r>
              <a:t>Test restore выполняют в изолированной среде без публикации тестовых данных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Рекомендуемая структура лабораторного стенда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Hostname: mail</a:t>
            </a:r>
          </a:p>
          <a:p>
            <a:pPr>
              <a:defRPr sz="3600"/>
            </a:pPr>
            <a:r>
              <a:t>FQDN: mail.company.test</a:t>
            </a:r>
          </a:p>
          <a:p>
            <a:pPr>
              <a:defRPr sz="3600"/>
            </a:pPr>
            <a:r>
              <a:t>Domain: company.test</a:t>
            </a:r>
          </a:p>
          <a:p>
            <a:pPr>
              <a:defRPr sz="3600"/>
            </a:pPr>
            <a:r>
              <a:t>Mail Server IP: 192.168.30.20</a:t>
            </a:r>
          </a:p>
          <a:p>
            <a:pPr>
              <a:defRPr sz="3600"/>
            </a:pPr>
            <a:r>
              <a:t>DNS Server: 192.168.30.53</a:t>
            </a:r>
          </a:p>
          <a:p>
            <a:pPr>
              <a:defRPr sz="3600"/>
            </a:pPr>
            <a:r>
              <a:t>Mailboxes: user1@company.test и user2@company.test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Рекомендуемый сценарий лабораторной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FQDN, IP, время, DNS и отсутствие конфликтов портов</a:t>
            </a:r>
          </a:p>
          <a:p>
            <a:pPr>
              <a:defRPr sz="3600"/>
            </a:pPr>
            <a:r>
              <a:t>Развернуть Mailcow штатной процедурой и зафиксировать версию</a:t>
            </a:r>
          </a:p>
          <a:p>
            <a:pPr>
              <a:defRPr sz="3600"/>
            </a:pPr>
            <a:r>
              <a:t>Создать domain company.test и два mailbox</a:t>
            </a:r>
          </a:p>
          <a:p>
            <a:pPr>
              <a:defRPr sz="3600"/>
            </a:pPr>
            <a:r>
              <a:t>Проверить webmail login, user1 → user2, IMAPS и logs</a:t>
            </a:r>
          </a:p>
          <a:p>
            <a:pPr>
              <a:defRPr sz="3600"/>
            </a:pPr>
            <a:r>
              <a:t>Проверить queue, TLS certificate, Open Relay запрет и антиспам-заголовки</a:t>
            </a:r>
          </a:p>
          <a:p>
            <a:pPr>
              <a:defRPr sz="3600"/>
            </a:pPr>
            <a:r>
              <a:t>Смоделировать отказ Dovecot, восстановить и выполнить итоговый mail flow test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матрица: DNS и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hostname -f возвращает mail.company.test</a:t>
            </a:r>
          </a:p>
          <a:p>
            <a:pPr>
              <a:defRPr sz="3600"/>
            </a:pPr>
            <a:r>
              <a:t>A record разрешает mail.company.test в IP mail server</a:t>
            </a:r>
          </a:p>
          <a:p>
            <a:pPr>
              <a:defRPr sz="3600"/>
            </a:pPr>
            <a:r>
              <a:t>MX record указывает на mail.company.test</a:t>
            </a:r>
          </a:p>
          <a:p>
            <a:pPr>
              <a:defRPr sz="3600"/>
            </a:pPr>
            <a:r>
              <a:t>TCP 25 показывает SMTP banner</a:t>
            </a:r>
          </a:p>
          <a:p>
            <a:pPr>
              <a:defRPr sz="3600"/>
            </a:pPr>
            <a:r>
              <a:t>Submission 587 проверяет TLS и authentication</a:t>
            </a:r>
          </a:p>
          <a:p>
            <a:pPr>
              <a:defRPr sz="3600"/>
            </a:pPr>
            <a:r>
              <a:t>IMAPS 993 проверяет TLS и login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матрица: mail flow и отказ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Webmail позволяет войти пользователю</a:t>
            </a:r>
          </a:p>
          <a:p>
            <a:pPr>
              <a:defRPr sz="3600"/>
            </a:pPr>
            <a:r>
              <a:t>user1 → user2 доставляется внутри company.test</a:t>
            </a:r>
          </a:p>
          <a:p>
            <a:pPr>
              <a:defRPr sz="3600"/>
            </a:pPr>
            <a:r>
              <a:t>Queue не содержит необъяснимых deferred messages</a:t>
            </a:r>
          </a:p>
          <a:p>
            <a:pPr>
              <a:defRPr sz="3600"/>
            </a:pPr>
            <a:r>
              <a:t>Open Relay test запрещает неавторизованный relay</a:t>
            </a:r>
          </a:p>
          <a:p>
            <a:pPr>
              <a:defRPr sz="3600"/>
            </a:pPr>
            <a:r>
              <a:t>Остановка Dovecot нарушает IMAP и фиксируется в диагностике</a:t>
            </a:r>
          </a:p>
          <a:p>
            <a:pPr>
              <a:defRPr sz="3600"/>
            </a:pPr>
            <a:r>
              <a:t>После восстановления Dovecot IMAP и mail flow снова работают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матрица: backup и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создан штатным механизмом совместимой версии Mailcow</a:t>
            </a:r>
          </a:p>
          <a:p>
            <a:pPr>
              <a:defRPr sz="3600"/>
            </a:pPr>
            <a:r>
              <a:t>Test restore подтвержден на отдельном стенде или тестовом mailbox</a:t>
            </a:r>
          </a:p>
          <a:p>
            <a:pPr>
              <a:defRPr sz="3600"/>
            </a:pPr>
            <a:r>
              <a:t>Zabbix видит host resources, containers, ports, queue и certificate expiry</a:t>
            </a:r>
          </a:p>
          <a:p>
            <a:pPr>
              <a:defRPr sz="3600"/>
            </a:pPr>
            <a:r>
              <a:t>Документация содержит версию Mailcow, Docker, Compose, FQDN, IP и открытые ports</a:t>
            </a:r>
          </a:p>
          <a:p>
            <a:pPr>
              <a:defRPr sz="3600"/>
            </a:pPr>
            <a:r>
              <a:t>Безопасные конфигурации и процедура восстановления сохранены в Git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Почтовая платформа проверяется полной цепочкой: submission, filtering, delivery, mailbox и IMAP</a:t>
            </a:r>
          </a:p>
          <a:p>
            <a:pPr>
              <a:defRPr sz="3600"/>
            </a:pPr>
            <a:r>
              <a:t>DNS для почты включает A, MX, PTR и TXT-записи SPF, DKIM и DMARC</a:t>
            </a:r>
          </a:p>
          <a:p>
            <a:pPr>
              <a:defRPr sz="3600"/>
            </a:pPr>
            <a:r>
              <a:t>TLS защищает каналы, но не является end-to-end encryption</a:t>
            </a:r>
          </a:p>
          <a:p>
            <a:pPr>
              <a:defRPr sz="3600"/>
            </a:pPr>
            <a:r>
              <a:t>Очередь, SMTP-коды, headers и протокольные проверки помогают локализовать отказ</a:t>
            </a:r>
          </a:p>
          <a:p>
            <a:pPr>
              <a:defRPr sz="3600"/>
            </a:pPr>
            <a:r>
              <a:t>Mailcow требует штатного backup, test restore, аккуратного update и мониторинга mail flow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SMTP 25 отличается от Submission 587 и 465?</a:t>
            </a:r>
          </a:p>
          <a:p>
            <a:pPr>
              <a:defRPr sz="3600"/>
            </a:pPr>
            <a:r>
              <a:t>Почему Dovecot нельзя описывать только как хранилище почты?</a:t>
            </a:r>
          </a:p>
          <a:p>
            <a:pPr>
              <a:defRPr sz="3600"/>
            </a:pPr>
            <a:r>
              <a:t>Почему MX должен указывать на имя, а не на IP?</a:t>
            </a:r>
          </a:p>
          <a:p>
            <a:pPr>
              <a:defRPr sz="3600"/>
            </a:pPr>
            <a:r>
              <a:t>Что означает DMARC alignment?</a:t>
            </a:r>
          </a:p>
          <a:p>
            <a:pPr>
              <a:defRPr sz="3600"/>
            </a:pPr>
            <a:r>
              <a:t>Почему Open Relay не равен приему письма для собственного домена?</a:t>
            </a:r>
          </a:p>
          <a:p>
            <a:pPr>
              <a:defRPr sz="3600"/>
            </a:pPr>
            <a:r>
              <a:t>Почему копирование active volumes Mailcow не является универсальным backup?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3233</Words>
  <Application>Microsoft Office PowerPoint</Application>
  <PresentationFormat>Широкоэкранный</PresentationFormat>
  <Paragraphs>355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2026-07-28T11:19:20Z</dcterms:modified>
  <cp:category/>
</cp:coreProperties>
</file>