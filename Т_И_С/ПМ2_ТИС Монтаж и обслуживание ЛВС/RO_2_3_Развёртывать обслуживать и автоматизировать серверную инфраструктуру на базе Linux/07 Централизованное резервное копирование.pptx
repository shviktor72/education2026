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7. Централизованное резервное копирование и восстановление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нужен не ради факта создания копии, а ради гарантированного восстановления сервиса</a:t>
            </a:r>
          </a:p>
          <a:p>
            <a:pPr>
              <a:defRPr sz="3600"/>
            </a:pPr>
            <a:r>
              <a:t>Учебный сценарий: web01, vpn01 и docker01 передают копии на backup01</a:t>
            </a:r>
          </a:p>
          <a:p>
            <a:pPr>
              <a:defRPr sz="3600"/>
            </a:pPr>
            <a:r>
              <a:t>Основной инструмент лаборатории: BorgBackup</a:t>
            </a:r>
          </a:p>
          <a:p>
            <a:pPr>
              <a:defRPr sz="3600"/>
            </a:pPr>
            <a:r>
              <a:t>rsync рассматривается как транспорт и mirror, Restic — как альтернативный инструмент</a:t>
            </a:r>
          </a:p>
          <a:p>
            <a:pPr>
              <a:defRPr sz="3600"/>
            </a:pPr>
            <a:r>
              <a:t>Главный результат: студент должен уметь объяснить, проверить и восстановить резервную копию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отличие backup от RAID, snapshot и replication</a:t>
            </a:r>
          </a:p>
          <a:p>
            <a:pPr>
              <a:defRPr sz="3600"/>
            </a:pPr>
            <a:r>
              <a:t>Уметь объяснить RPO, RTO и правило 3-2-1</a:t>
            </a:r>
          </a:p>
          <a:p>
            <a:pPr>
              <a:defRPr sz="3600"/>
            </a:pPr>
            <a:r>
              <a:t>Уметь описать архитектуру backup-сервера и ограничения доступа</a:t>
            </a:r>
          </a:p>
          <a:p>
            <a:pPr>
              <a:defRPr sz="3600"/>
            </a:pPr>
            <a:r>
              <a:t>Уметь объяснить базовые команды rsync, BorgBackup и Restic</a:t>
            </a:r>
          </a:p>
          <a:p>
            <a:pPr>
              <a:defRPr sz="3600"/>
            </a:pPr>
            <a:r>
              <a:t>Уметь обосновать, почему test restore важнее успешного exit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RAID, snapshot, replication и backup</a:t>
            </a:r>
          </a:p>
          <a:p>
            <a:pPr>
              <a:defRPr sz="3600"/>
            </a:pPr>
            <a:r>
              <a:t>2. Полное, дифференциальное и инкрементное копирование; правило 3-2-1; RPO и RTO</a:t>
            </a:r>
          </a:p>
          <a:p>
            <a:pPr>
              <a:defRPr sz="3600"/>
            </a:pPr>
            <a:r>
              <a:t>3. Backup-сервер, сервисная учетная запись и SSH-ключ</a:t>
            </a:r>
          </a:p>
          <a:p>
            <a:pPr>
              <a:defRPr sz="3600"/>
            </a:pPr>
            <a:r>
              <a:t>4. rsync, BorgBackup и Restic: инкременты, шифрование и дедупликация</a:t>
            </a:r>
          </a:p>
          <a:p>
            <a:pPr>
              <a:defRPr sz="3600"/>
            </a:pPr>
            <a:r>
              <a:t>5. Исключения, retention и удаление старых копий</a:t>
            </a:r>
          </a:p>
          <a:p>
            <a:pPr>
              <a:defRPr sz="3600"/>
            </a:pPr>
            <a:r>
              <a:t>6. Контроль успешности, целостность и тестовое восстановление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web01 содержит веб-конфигурации и каталог /srv/web-data</a:t>
            </a:r>
          </a:p>
          <a:p>
            <a:pPr>
              <a:defRPr sz="3600"/>
            </a:pPr>
            <a:r>
              <a:t>vpn01 содержит OpenVPN-конфигурации и PKI-материалы без публикации секретов в Git</a:t>
            </a:r>
          </a:p>
          <a:p>
            <a:pPr>
              <a:defRPr sz="3600"/>
            </a:pPr>
            <a:r>
              <a:t>docker01 содержит Compose-файлы, volumes и данные приложений</a:t>
            </a:r>
          </a:p>
          <a:p>
            <a:pPr>
              <a:defRPr sz="3600"/>
            </a:pPr>
            <a:r>
              <a:t>backup01 принимает копии по SSH и хранит отдельные repository по источникам</a:t>
            </a:r>
          </a:p>
          <a:p>
            <a:pPr>
              <a:defRPr sz="3600"/>
            </a:pPr>
            <a:r>
              <a:t>В конце занятия проверяется восстановление в /restore-test, а не поверх рабочей системы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web01, vpn01, docker01 и backup01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F8181A-60BC-DF5D-E1B8-B83379423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RAID, snapshot, replication и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RAID повышает доступность дисковой подсистемы, но не защищает от удаления файла пользователем</a:t>
            </a:r>
          </a:p>
          <a:p>
            <a:pPr>
              <a:defRPr sz="3600"/>
            </a:pPr>
            <a:r>
              <a:t>Snapshot фиксирует состояние тома или виртуальной машины на момент времени</a:t>
            </a:r>
          </a:p>
          <a:p>
            <a:pPr>
              <a:defRPr sz="3600"/>
            </a:pPr>
            <a:r>
              <a:t>Replication переносит изменения на другой узел или площадку</a:t>
            </a:r>
          </a:p>
          <a:p>
            <a:pPr>
              <a:defRPr sz="3600"/>
            </a:pPr>
            <a:r>
              <a:t>Backup создает восстановительную точку, которую можно проверить и использовать для restore</a:t>
            </a:r>
          </a:p>
          <a:p>
            <a:pPr>
              <a:defRPr sz="3600"/>
            </a:pPr>
            <a:r>
              <a:t>Ошибка новичка: считать любую вторую копию полноценным backup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RAID, snapshot, replication и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6C2372-50C9-D380-D501-C73E4744A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RAID не защищает от логических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RAID1 сохранит доступность при отказе одного диска</a:t>
            </a:r>
          </a:p>
          <a:p>
            <a:pPr>
              <a:defRPr sz="3600"/>
            </a:pPr>
            <a:r>
              <a:t>Если администратор удалил каталог, удаление синхронно отразится на массиве</a:t>
            </a:r>
          </a:p>
          <a:p>
            <a:pPr>
              <a:defRPr sz="3600"/>
            </a:pPr>
            <a:r>
              <a:t>Если файл зашифрован вредоносным ПО, RAID сохранит уже зашифрованную версию</a:t>
            </a:r>
          </a:p>
          <a:p>
            <a:pPr>
              <a:defRPr sz="3600"/>
            </a:pPr>
            <a:r>
              <a:t>RAID не дает истории версий и не отвечает на вопрос: каким файл был вчера</a:t>
            </a:r>
          </a:p>
          <a:p>
            <a:pPr>
              <a:defRPr sz="3600"/>
            </a:pPr>
            <a:r>
              <a:t>RAID — это доступность, а не восстановительная точка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Snapshot и replication решают другие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Snapshot удобен для быстрого отката перед обновлением или рискованным изменением</a:t>
            </a:r>
          </a:p>
          <a:p>
            <a:pPr>
              <a:defRPr sz="3600"/>
            </a:pPr>
            <a:r>
              <a:t>Snapshot часто зависит от того же хранилища или гипервизора</a:t>
            </a:r>
          </a:p>
          <a:p>
            <a:pPr>
              <a:defRPr sz="3600"/>
            </a:pPr>
            <a:r>
              <a:t>Replication полезна для отказоустойчивости и быстрого переключения</a:t>
            </a:r>
          </a:p>
          <a:p>
            <a:pPr>
              <a:defRPr sz="3600"/>
            </a:pPr>
            <a:r>
              <a:t>Replication может мгновенно перенести ошибку или шифрование на вторую площадку</a:t>
            </a:r>
          </a:p>
          <a:p>
            <a:pPr>
              <a:defRPr sz="3600"/>
            </a:pPr>
            <a:r>
              <a:t>Backup должен быть изолирован от части рисков основного сервера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защищает только от изолированных рисков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исходный сервер имеет постоянный доступ на удаление архивов, атакующий может уничтожить копии</a:t>
            </a:r>
          </a:p>
          <a:p>
            <a:pPr>
              <a:defRPr sz="3600"/>
            </a:pPr>
            <a:r>
              <a:t>Если backup хранится на том же RAID-массиве, отказ массива уничтожит и рабочие данные, и копии</a:t>
            </a:r>
          </a:p>
          <a:p>
            <a:pPr>
              <a:defRPr sz="3600"/>
            </a:pPr>
            <a:r>
              <a:t>Если backup использует те же учетные данные администратора, компрометация расширяет ущерб</a:t>
            </a:r>
          </a:p>
          <a:p>
            <a:pPr>
              <a:defRPr sz="3600"/>
            </a:pPr>
            <a:r>
              <a:t>Для защиты нужны отдельные credentials, минимальные права и независимая retention policy</a:t>
            </a:r>
          </a:p>
          <a:p>
            <a:pPr>
              <a:defRPr sz="3600"/>
            </a:pPr>
            <a:r>
              <a:t>Для серьезной защиты применяют offline или immutable copy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Типы копирования, правило 3-2-1, RPO и 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Full backup содержит полный набор выбранных данных</a:t>
            </a:r>
          </a:p>
          <a:p>
            <a:pPr>
              <a:defRPr sz="3600"/>
            </a:pPr>
            <a:r>
              <a:t>Incremental backup хранит изменения относительно предыдущей точки</a:t>
            </a:r>
          </a:p>
          <a:p>
            <a:pPr>
              <a:defRPr sz="3600"/>
            </a:pPr>
            <a:r>
              <a:t>Differential backup хранит изменения относительно последней полной копии</a:t>
            </a:r>
          </a:p>
          <a:p>
            <a:pPr>
              <a:defRPr sz="3600"/>
            </a:pPr>
            <a:r>
              <a:t>Для BorgBackup и Restic классические термины применяются условно</a:t>
            </a:r>
          </a:p>
          <a:p>
            <a:pPr>
              <a:defRPr sz="3600"/>
            </a:pPr>
            <a:r>
              <a:t>Современные инструменты часто используют дедупликацию и хранилище блоков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Полная копия проста, но дорогая по объему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Full backup проще всего понять и восстановить</a:t>
            </a:r>
          </a:p>
          <a:p>
            <a:pPr>
              <a:defRPr sz="3600"/>
            </a:pPr>
            <a:r>
              <a:t>Минус: каждый запуск повторно хранит большой объем данных</a:t>
            </a:r>
          </a:p>
          <a:p>
            <a:pPr>
              <a:defRPr sz="3600"/>
            </a:pPr>
            <a:r>
              <a:t>Подходит для небольших каталогов и начальной точки истории</a:t>
            </a:r>
          </a:p>
          <a:p>
            <a:pPr>
              <a:defRPr sz="3600"/>
            </a:pPr>
            <a:r>
              <a:t>В больших системах полная копия часто комбинируется с инкрементами</a:t>
            </a:r>
          </a:p>
          <a:p>
            <a:pPr>
              <a:defRPr sz="3600"/>
            </a:pPr>
            <a:r>
              <a:t>Для тестового стенда полная копия удобна как учебный первый шаг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Инкремент и дифференциал экономят место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Incremental backup быстрее и компактнее, но восстановление зависит от цепочки точек</a:t>
            </a:r>
          </a:p>
          <a:p>
            <a:pPr>
              <a:defRPr sz="3600"/>
            </a:pPr>
            <a:r>
              <a:t>Differential backup проще восстановить, но размер растет между полными копиями</a:t>
            </a:r>
          </a:p>
          <a:p>
            <a:pPr>
              <a:defRPr sz="3600"/>
            </a:pPr>
            <a:r>
              <a:t>Дедуплицирующие инструменты не всегда показывают студенту классическую цепочку full плюс incremental</a:t>
            </a:r>
          </a:p>
          <a:p>
            <a:pPr>
              <a:defRPr sz="3600"/>
            </a:pPr>
            <a:r>
              <a:t>Важно не название типа копии, а возможность восстановить нужное состояние</a:t>
            </a:r>
          </a:p>
          <a:p>
            <a:pPr>
              <a:defRPr sz="3600"/>
            </a:pPr>
            <a:r>
              <a:t>После каждого изменения политики нужно делать test restore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Правило 3-2-1 требует независимости копий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3 экземпляра: рабочие данные плюс две резервные копии</a:t>
            </a:r>
          </a:p>
          <a:p>
            <a:pPr>
              <a:defRPr sz="3600"/>
            </a:pPr>
            <a:r>
              <a:t>2 типа хранения: например локальное хранилище и удаленное хранилище</a:t>
            </a:r>
          </a:p>
          <a:p>
            <a:pPr>
              <a:defRPr sz="3600"/>
            </a:pPr>
            <a:r>
              <a:t>1 копия вне площадки или изолирована от основного отказа</a:t>
            </a:r>
          </a:p>
          <a:p>
            <a:pPr>
              <a:defRPr sz="3600"/>
            </a:pPr>
            <a:r>
              <a:t>Три backup-файла рядом на одном диске не выполняют смысл правила</a:t>
            </a:r>
          </a:p>
          <a:p>
            <a:pPr>
              <a:defRPr sz="3600"/>
            </a:pPr>
            <a:r>
              <a:t>Копии должны отличаться по рискам, правам доступа и месту хранения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Современное уточнение 3-2-1-1-0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3 экземпляра данных</a:t>
            </a:r>
          </a:p>
          <a:p>
            <a:pPr>
              <a:defRPr sz="3600"/>
            </a:pPr>
            <a:r>
              <a:t>2 типа хранения</a:t>
            </a:r>
          </a:p>
          <a:p>
            <a:pPr>
              <a:defRPr sz="3600"/>
            </a:pPr>
            <a:r>
              <a:t>1 копия вне площадки</a:t>
            </a:r>
          </a:p>
          <a:p>
            <a:pPr>
              <a:defRPr sz="3600"/>
            </a:pPr>
            <a:r>
              <a:t>1 копия offline или immutable</a:t>
            </a:r>
          </a:p>
          <a:p>
            <a:pPr>
              <a:defRPr sz="3600"/>
            </a:pPr>
            <a:r>
              <a:t>0 ошибок по результатам проверки восстановления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RPO показывает допустимую потерю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RPO — Recovery Point Objective, допустимый возраст восстановительной точки</a:t>
            </a:r>
          </a:p>
          <a:p>
            <a:pPr>
              <a:defRPr sz="3600"/>
            </a:pPr>
            <a:r>
              <a:t>Если RPO равен 1 час, бизнес допускает потерю данных не более чем за 1 час</a:t>
            </a:r>
          </a:p>
          <a:p>
            <a:pPr>
              <a:defRPr sz="3600"/>
            </a:pPr>
            <a:r>
              <a:t>Расписание backup само по себе не гарантирует RPO</a:t>
            </a:r>
          </a:p>
          <a:p>
            <a:pPr>
              <a:defRPr sz="3600"/>
            </a:pPr>
            <a:r>
              <a:t>Если три последних задания завершились ошибкой, фактический RPO уже больше трех часов</a:t>
            </a:r>
          </a:p>
          <a:p>
            <a:pPr>
              <a:defRPr sz="3600"/>
            </a:pPr>
            <a:r>
              <a:t>Мониторинг должен считать возраст последнего подтвержденного успешного backup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RTO показывает время восстановления сервиса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RTO — Recovery Time Objective, допустимое время простоя сервиса</a:t>
            </a:r>
          </a:p>
          <a:p>
            <a:pPr>
              <a:defRPr sz="3600"/>
            </a:pPr>
            <a:r>
              <a:t>В RTO входит обнаружение аварии, решение о восстановлении и подготовка сервера</a:t>
            </a:r>
          </a:p>
          <a:p>
            <a:pPr>
              <a:defRPr sz="3600"/>
            </a:pPr>
            <a:r>
              <a:t>Также входят получение backup, восстановление прав, запуск службы и проверка приложения</a:t>
            </a:r>
          </a:p>
          <a:p>
            <a:pPr>
              <a:defRPr sz="3600"/>
            </a:pPr>
            <a:r>
              <a:t>Иногда нужно переключить DNS, IP-адрес или клиентов</a:t>
            </a:r>
          </a:p>
          <a:p>
            <a:pPr>
              <a:defRPr sz="3600"/>
            </a:pPr>
            <a:r>
              <a:t>Команда borg extract за 5 минут еще не означает RTO 5 минут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Backup-сервер, сервисная учетная запись и SSH-ключ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Backup-сервер — отдельная роль инфраструктуры для хранения и проверки резервных копий</a:t>
            </a:r>
          </a:p>
          <a:p>
            <a:pPr>
              <a:defRPr sz="3600"/>
            </a:pPr>
            <a:r>
              <a:t>Он должен иметь достаточное место, журналирование, мониторинг и ограниченные права клиентов</a:t>
            </a:r>
          </a:p>
          <a:p>
            <a:pPr>
              <a:defRPr sz="3600"/>
            </a:pPr>
            <a:r>
              <a:t>Для каждого источника желательно выделять отдельный repository или каталог</a:t>
            </a:r>
          </a:p>
          <a:p>
            <a:pPr>
              <a:defRPr sz="3600"/>
            </a:pPr>
            <a:r>
              <a:t>Доступ к backup01 должен быть более строгим, чем доступ к обычному учебному серверу</a:t>
            </a:r>
          </a:p>
          <a:p>
            <a:pPr>
              <a:defRPr sz="3600"/>
            </a:pPr>
            <a:r>
              <a:t>Компрометация backup01 может затронуть несколько серверов сразу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Нужно выбрать модель Push или Pull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Push: исходный сервер сам отправляет копию на backup01</a:t>
            </a:r>
          </a:p>
          <a:p>
            <a:pPr>
              <a:defRPr sz="3600"/>
            </a:pPr>
            <a:r>
              <a:t>Pull: backup01 подключается к исходному серверу и забирает данные</a:t>
            </a:r>
          </a:p>
          <a:p>
            <a:pPr>
              <a:defRPr sz="3600"/>
            </a:pPr>
            <a:r>
              <a:t>В лаборатории выбираем Push-модель как более простую для первого стенда</a:t>
            </a:r>
          </a:p>
          <a:p>
            <a:pPr>
              <a:defRPr sz="3600"/>
            </a:pPr>
            <a:r>
              <a:t>При этом права на backup01 должны запрещать доступ к чужим repository и произвольное удаление</a:t>
            </a:r>
          </a:p>
          <a:p>
            <a:pPr>
              <a:defRPr sz="3600"/>
            </a:pPr>
            <a:r>
              <a:t>В реальной системе модель выбирается по рискам и требованиям безопасности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Push-модель проще, но требует защиты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Преимущество: web01 сам читает свои локальные файлы и отправляет копию</a:t>
            </a:r>
          </a:p>
          <a:p>
            <a:pPr>
              <a:defRPr sz="3600"/>
            </a:pPr>
            <a:r>
              <a:t>Преимущество: backup01 не получает SSH-доступ ко всем исходным серверам</a:t>
            </a:r>
          </a:p>
          <a:p>
            <a:pPr>
              <a:defRPr sz="3600"/>
            </a:pPr>
            <a:r>
              <a:t>Недостаток: компрометация web01 может угрожать его backup repository</a:t>
            </a:r>
          </a:p>
          <a:p>
            <a:pPr>
              <a:defRPr sz="3600"/>
            </a:pPr>
            <a:r>
              <a:t>Нужно ограничить backup credential только нужной командой и каталогом</a:t>
            </a:r>
          </a:p>
          <a:p>
            <a:pPr>
              <a:defRPr sz="3600"/>
            </a:pPr>
            <a:r>
              <a:t>Нужно отделять права web01, vpn01 и docker01 на backup01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Pull-модель централизует расписание, но расширяет доверие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Преимущество: расписанием управляет backup01</a:t>
            </a:r>
          </a:p>
          <a:p>
            <a:pPr>
              <a:defRPr sz="3600"/>
            </a:pPr>
            <a:r>
              <a:t>Преимущество: исходный сервер может дать только ограниченный read access</a:t>
            </a:r>
          </a:p>
          <a:p>
            <a:pPr>
              <a:defRPr sz="3600"/>
            </a:pPr>
            <a:r>
              <a:t>Недостаток: компрометация backup01 открывает путь к нескольким источникам</a:t>
            </a:r>
          </a:p>
          <a:p>
            <a:pPr>
              <a:defRPr sz="3600"/>
            </a:pPr>
            <a:r>
              <a:t>Pull-модель часто удобна для централизованного администрирования</a:t>
            </a:r>
          </a:p>
          <a:p>
            <a:pPr>
              <a:defRPr sz="3600"/>
            </a:pPr>
            <a:r>
              <a:t>В базовой лаборатории ее достаточно рассмотреть как архитектурную альтернативу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Service Account снижает ущерб от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Service Account — отдельная учетная запись для автоматической операции</a:t>
            </a:r>
          </a:p>
          <a:p>
            <a:pPr>
              <a:defRPr sz="3600"/>
            </a:pPr>
            <a:r>
              <a:t>Для backup не используют личную учетную запись администратора</a:t>
            </a:r>
          </a:p>
          <a:p>
            <a:pPr>
              <a:defRPr sz="3600"/>
            </a:pPr>
            <a:r>
              <a:t>Для каждого источника лучше создать отдельного пользователя: backup-web01, backup-vpn01, backup-docker01</a:t>
            </a:r>
          </a:p>
          <a:p>
            <a:pPr>
              <a:defRPr sz="3600"/>
            </a:pPr>
            <a:r>
              <a:t>Пользователь web01-backup не должен читать или менять /backups/vpn01</a:t>
            </a:r>
          </a:p>
          <a:p>
            <a:pPr>
              <a:defRPr sz="3600"/>
            </a:pPr>
            <a:r>
              <a:t>Единый пользователь backup допустим в учебной лаборатории только как упрощение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SSH-ключ для backup нужно ограничивать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Просто добавить public key в authorized_keys недостаточно</a:t>
            </a:r>
          </a:p>
          <a:p>
            <a:pPr>
              <a:defRPr sz="3600"/>
            </a:pPr>
            <a:r>
              <a:t>Ключ можно ограничить source IP, запретом PTY и запретом forwarding</a:t>
            </a:r>
          </a:p>
          <a:p>
            <a:pPr>
              <a:defRPr sz="3600"/>
            </a:pPr>
            <a:r>
              <a:t>Ключ можно привязать к фиксированной команде приема backup</a:t>
            </a:r>
          </a:p>
          <a:p>
            <a:pPr>
              <a:defRPr sz="3600"/>
            </a:pPr>
            <a:r>
              <a:t>Пример концепции: from='192.168.30.10',no-pty,no-agent-forwarding,command='/usr/local/sbin/backup-receive-web01'</a:t>
            </a:r>
          </a:p>
          <a:p>
            <a:pPr>
              <a:defRPr sz="3600"/>
            </a:pPr>
            <a:r>
              <a:t>В файле authorized_keys такая запись должна находиться одной строкой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Приватный ключ без passphrase — компромисс автоматизации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Автоматическое задание backup не может вводить пароль интерактивно</a:t>
            </a:r>
          </a:p>
          <a:p>
            <a:pPr>
              <a:defRPr sz="3600"/>
            </a:pPr>
            <a:r>
              <a:t>Ключ без passphrase допустим только при строгом ограничении прав и назначения</a:t>
            </a:r>
          </a:p>
          <a:p>
            <a:pPr>
              <a:defRPr sz="3600"/>
            </a:pPr>
            <a:r>
              <a:t>Права каталога: chmod 700 ~/.ssh</a:t>
            </a:r>
          </a:p>
          <a:p>
            <a:pPr>
              <a:defRPr sz="3600"/>
            </a:pPr>
            <a:r>
              <a:t>Права приватного ключа: chmod 600 ~/.ssh/id_ed25519</a:t>
            </a:r>
          </a:p>
          <a:p>
            <a:pPr>
              <a:defRPr sz="3600"/>
            </a:pPr>
            <a:r>
              <a:t>Права authorized_keys: chmod 600 ~/.ssh/authorized_keys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SSH Host Key защищает от подмены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Ключ пользователя подтверждает клиента, а known_hosts подтверждает сервер</a:t>
            </a:r>
          </a:p>
          <a:p>
            <a:pPr>
              <a:defRPr sz="3600"/>
            </a:pPr>
            <a:r>
              <a:t>Не следует бездумно использовать StrictHostKeyChecking=no</a:t>
            </a:r>
          </a:p>
          <a:p>
            <a:pPr>
              <a:defRPr sz="3600"/>
            </a:pPr>
            <a:r>
              <a:t>Команда: ssh-keyscan -H backup01 &gt;&gt; ~/.ssh/known_hosts</a:t>
            </a:r>
          </a:p>
          <a:p>
            <a:pPr>
              <a:defRPr sz="3600"/>
            </a:pPr>
            <a:r>
              <a:t>Назначение: добавить host key backup01 в known_hosts</a:t>
            </a:r>
          </a:p>
          <a:p>
            <a:pPr>
              <a:defRPr sz="3600"/>
            </a:pPr>
            <a:r>
              <a:t>Важно: fingerprint нужно сверить через доверенный канал, потому что ssh-keyscan сам по себе не доказывает подлинность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sudoers для backup должен вызывать wrapper, а не всё подряд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Опасная строка: backup ALL=(ALL) NOPASSWD: ALL</a:t>
            </a:r>
          </a:p>
          <a:p>
            <a:pPr>
              <a:defRPr sz="3600"/>
            </a:pPr>
            <a:r>
              <a:t>Даже разрешение /usr/bin/rsync может быть слишком широким</a:t>
            </a:r>
          </a:p>
          <a:p>
            <a:pPr>
              <a:defRPr sz="3600"/>
            </a:pPr>
            <a:r>
              <a:t>Безопаснее разрешить root-owned wrapper script с фиксированными путями</a:t>
            </a:r>
          </a:p>
          <a:p>
            <a:pPr>
              <a:defRPr sz="3600"/>
            </a:pPr>
            <a:r>
              <a:t>Пример: backup ALL=(root) NOPASSWD: /usr/local/sbin/backup-export-web01</a:t>
            </a:r>
          </a:p>
          <a:p>
            <a:pPr>
              <a:defRPr sz="3600"/>
            </a:pPr>
            <a:r>
              <a:t>Wrapper не должен принимать произвольные аргументы от пользователя backup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rsync, BorgBackup и Restic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rsync эффективно синхронизирует файлы между каталогами и серверами</a:t>
            </a:r>
          </a:p>
          <a:p>
            <a:pPr>
              <a:defRPr sz="3600"/>
            </a:pPr>
            <a:r>
              <a:t>BorgBackup создает зашифрованный дедуплицирующий repository с архивами</a:t>
            </a:r>
          </a:p>
          <a:p>
            <a:pPr>
              <a:defRPr sz="3600"/>
            </a:pPr>
            <a:r>
              <a:t>Restic выполняет похожую задачу и поддерживает разные backend-хранилища</a:t>
            </a:r>
          </a:p>
          <a:p>
            <a:pPr>
              <a:defRPr sz="3600"/>
            </a:pPr>
            <a:r>
              <a:t>Для лаборатории основным инструментом выбран BorgBackup</a:t>
            </a:r>
          </a:p>
          <a:p>
            <a:pPr>
              <a:defRPr sz="3600"/>
            </a:pPr>
            <a:r>
              <a:t>rsync используется для сравнения mirror-подхода и подготовки безопасных примеров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rsync нужно сначала запускать в dry-run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Первый учебный источник: /srv/backup-source/, а не весь /etc</a:t>
            </a:r>
          </a:p>
          <a:p>
            <a:pPr>
              <a:defRPr sz="3600"/>
            </a:pPr>
            <a:r>
              <a:t>Команда: sudo rsync -aHAXn /srv/backup-source/ backup@backup01:/backups/web01/current/</a:t>
            </a:r>
          </a:p>
          <a:p>
            <a:pPr>
              <a:defRPr sz="3600"/>
            </a:pPr>
            <a:r>
              <a:t>Ключ -n означает dry-run: показать действия без копирования</a:t>
            </a:r>
          </a:p>
          <a:p>
            <a:pPr>
              <a:defRPr sz="3600"/>
            </a:pPr>
            <a:r>
              <a:t>После проверки убрать -n: sudo rsync -aHAX /srv/backup-source/ backup@backup01:/backups/web01/current/</a:t>
            </a:r>
          </a:p>
          <a:p>
            <a:pPr>
              <a:defRPr sz="3600"/>
            </a:pPr>
            <a:r>
              <a:t>Для первого примера не используем --delete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Завершающий slash в rsync меняет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rsync -a /source/ destination/ копирует содержимое каталога source</a:t>
            </a:r>
          </a:p>
          <a:p>
            <a:pPr>
              <a:defRPr sz="3600"/>
            </a:pPr>
            <a:r>
              <a:t>Команда rsync -a /source destination/ создает destination/source/</a:t>
            </a:r>
          </a:p>
          <a:p>
            <a:pPr>
              <a:defRPr sz="3600"/>
            </a:pPr>
            <a:r>
              <a:t>Для backup scripts это критично, потому что меняется структура восстановления</a:t>
            </a:r>
          </a:p>
          <a:p>
            <a:pPr>
              <a:defRPr sz="3600"/>
            </a:pPr>
            <a:r>
              <a:t>Ошибка в одном slash может особенно сильно навредить вместе с --delete</a:t>
            </a:r>
          </a:p>
          <a:p>
            <a:pPr>
              <a:defRPr sz="3600"/>
            </a:pPr>
            <a:r>
              <a:t>Перед автоматизацией нужно проверить результат в тестовом каталоге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Ключи -aHAX и --numeric-ids имеют условия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-a означает archive mode: рекурсивное копирование с базовыми атрибутами</a:t>
            </a:r>
          </a:p>
          <a:p>
            <a:pPr>
              <a:defRPr sz="3600"/>
            </a:pPr>
            <a:r>
              <a:t>-H сохраняет hard links</a:t>
            </a:r>
          </a:p>
          <a:p>
            <a:pPr>
              <a:defRPr sz="3600"/>
            </a:pPr>
            <a:r>
              <a:t>-A сохраняет POSIX ACL, если есть поддержка и права</a:t>
            </a:r>
          </a:p>
          <a:p>
            <a:pPr>
              <a:defRPr sz="3600"/>
            </a:pPr>
            <a:r>
              <a:t>-X сохраняет extended attributes, если они поддерживаются</a:t>
            </a:r>
          </a:p>
          <a:p>
            <a:pPr>
              <a:defRPr sz="3600"/>
            </a:pPr>
            <a:r>
              <a:t>--numeric-ids помогает сохранить UID/GID как числа, а не интерпретировать их по именам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Обычный rsync — это mirror, а не версионный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источник удалил файл, следующий rsync с --delete удалит файл и на приемнике</a:t>
            </a:r>
          </a:p>
          <a:p>
            <a:pPr>
              <a:defRPr sz="3600"/>
            </a:pPr>
            <a:r>
              <a:t>Mirror удобен для быстрого получения текущего состояния</a:t>
            </a:r>
          </a:p>
          <a:p>
            <a:pPr>
              <a:defRPr sz="3600"/>
            </a:pPr>
            <a:r>
              <a:t>Mirror плохо защищает от поздно замеченного удаления или шифрования</a:t>
            </a:r>
          </a:p>
          <a:p>
            <a:pPr>
              <a:defRPr sz="3600"/>
            </a:pPr>
            <a:r>
              <a:t>Версионность можно строить через snapshot, --link-dest, Borg, Restic или backup-систему</a:t>
            </a:r>
          </a:p>
          <a:p>
            <a:pPr>
              <a:defRPr sz="3600"/>
            </a:pPr>
            <a:r>
              <a:t>--delete добавляют только после dry-run и понимания последствий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BorgBackup в лекции фиксируется как основной инструмент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Borg создает repository и архивы внутри него</a:t>
            </a:r>
          </a:p>
          <a:p>
            <a:pPr>
              <a:defRPr sz="3600"/>
            </a:pPr>
            <a:r>
              <a:t>Borg поддерживает дедупликацию: одинаковые блоки не хранятся повторно</a:t>
            </a:r>
          </a:p>
          <a:p>
            <a:pPr>
              <a:defRPr sz="3600"/>
            </a:pPr>
            <a:r>
              <a:t>Borg поддерживает шифрование repository</a:t>
            </a:r>
          </a:p>
          <a:p>
            <a:pPr>
              <a:defRPr sz="3600"/>
            </a:pPr>
            <a:r>
              <a:t>Команды зависят от версии Borg, поэтому в лаборатории нужно зафиксировать установленную версию</a:t>
            </a:r>
          </a:p>
          <a:p>
            <a:pPr>
              <a:defRPr sz="3600"/>
            </a:pPr>
            <a:r>
              <a:t>Примеры ниже ориентированы на классический синтаксис Borg 1.x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Инициализация Borg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Переменная: export BORG_REPO='ssh://backup@backup01/./backups/borg/web01'</a:t>
            </a:r>
          </a:p>
          <a:p>
            <a:pPr>
              <a:defRPr sz="3600"/>
            </a:pPr>
            <a:r>
              <a:t>Переменная: export BORG_PASSPHRASE='учебная_фраза'</a:t>
            </a:r>
          </a:p>
          <a:p>
            <a:pPr>
              <a:defRPr sz="3600"/>
            </a:pPr>
            <a:r>
              <a:t>Команда: borg init --encryption=repokey-blake2</a:t>
            </a:r>
          </a:p>
          <a:p>
            <a:pPr>
              <a:defRPr sz="3600"/>
            </a:pPr>
            <a:r>
              <a:t>Назначение: создать зашифрованный repository Borg</a:t>
            </a:r>
          </a:p>
          <a:p>
            <a:pPr>
              <a:defRPr sz="3600"/>
            </a:pPr>
            <a:r>
              <a:t>Важно: passphrase нельзя хранить в Git или прямо в рабочем сценарии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архива Borg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borg create '::{hostname}-{now:%Y-%m-%d_%H-%M-%S}' /srv/backup-source</a:t>
            </a:r>
          </a:p>
          <a:p>
            <a:pPr>
              <a:defRPr sz="3600"/>
            </a:pPr>
            <a:r>
              <a:t>Назначение: создать архив с именем, включающим host и точное время</a:t>
            </a:r>
          </a:p>
          <a:p>
            <a:pPr>
              <a:defRPr sz="3600"/>
            </a:pPr>
            <a:r>
              <a:t>Время в имени предотвращает конфликт при повторном запуске в тот же день</a:t>
            </a:r>
          </a:p>
          <a:p>
            <a:pPr>
              <a:defRPr sz="3600"/>
            </a:pPr>
            <a:r>
              <a:t>Проверка списка: borg list</a:t>
            </a:r>
          </a:p>
          <a:p>
            <a:pPr>
              <a:defRPr sz="3600"/>
            </a:pPr>
            <a:r>
              <a:t>Информация о repository: borg info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Ключ Borg и passphrase нужно сохранить отдельно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 repokey ключ шифрования хранится в repository в зашифрованном виде</a:t>
            </a:r>
          </a:p>
          <a:p>
            <a:pPr>
              <a:defRPr sz="3600"/>
            </a:pPr>
            <a:r>
              <a:t>Для восстановления нужны repository, passphrase, доступ и совместимый Borg</a:t>
            </a:r>
          </a:p>
          <a:p>
            <a:pPr>
              <a:defRPr sz="3600"/>
            </a:pPr>
            <a:r>
              <a:t>Если passphrase потерян, backup становится недоступен</a:t>
            </a:r>
          </a:p>
          <a:p>
            <a:pPr>
              <a:defRPr sz="3600"/>
            </a:pPr>
            <a:r>
              <a:t>Пример экспорта ключа: borg key export "$BORG_REPO" /secure-offline/web01-borg-key</a:t>
            </a:r>
          </a:p>
          <a:p>
            <a:pPr>
              <a:defRPr sz="3600"/>
            </a:pPr>
            <a:r>
              <a:t>Экспортированный ключ и passphrase нельзя хранить только рядом с repository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Borg restore выполняется в отдельный каталог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Нельзя бездумно выполнять borg extract из корня файловой системы</a:t>
            </a:r>
          </a:p>
          <a:p>
            <a:pPr>
              <a:defRPr sz="3600"/>
            </a:pPr>
            <a:r>
              <a:t>Команда: mkdir -p /restore-test/web01</a:t>
            </a:r>
          </a:p>
          <a:p>
            <a:pPr>
              <a:defRPr sz="3600"/>
            </a:pPr>
            <a:r>
              <a:t>Команда: cd /restore-test/web01</a:t>
            </a:r>
          </a:p>
          <a:p>
            <a:pPr>
              <a:defRPr sz="3600"/>
            </a:pPr>
            <a:r>
              <a:t>Команда: borg extract '::archive-name'</a:t>
            </a:r>
          </a:p>
          <a:p>
            <a:pPr>
              <a:defRPr sz="3600"/>
            </a:pPr>
            <a:r>
              <a:t>После извлечения проверяют файлы, права, синтаксис конфигурации и только потом переносят данные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Restic можно рассмотреть как альтернативу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Переменная: export RESTIC_REPOSITORY='sftp:backup@backup01:/backups/restic/web01'</a:t>
            </a:r>
          </a:p>
          <a:p>
            <a:pPr>
              <a:defRPr sz="3600"/>
            </a:pPr>
            <a:r>
              <a:t>Переменная: export RESTIC_PASSWORD_FILE='/root/.config/restic/password'</a:t>
            </a:r>
          </a:p>
          <a:p>
            <a:pPr>
              <a:defRPr sz="3600"/>
            </a:pPr>
            <a:r>
              <a:t>Команда: restic init</a:t>
            </a:r>
          </a:p>
          <a:p>
            <a:pPr>
              <a:defRPr sz="3600"/>
            </a:pPr>
            <a:r>
              <a:t>Команда: restic backup /srv/backup-source</a:t>
            </a:r>
          </a:p>
          <a:p>
            <a:pPr>
              <a:defRPr sz="3600"/>
            </a:pPr>
            <a:r>
              <a:t>Команды проверки: restic snapshots, restic restore latest --target /restore-test/web01, restic check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Консистентность приложений важнее копирования файлов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Копирование файлов работающей СУБД через rsync может дать непригодный набор данных</a:t>
            </a:r>
          </a:p>
          <a:p>
            <a:pPr>
              <a:defRPr sz="3600"/>
            </a:pPr>
            <a:r>
              <a:t>Для баз данных используют logical dump, physical backup tool или application quiesce</a:t>
            </a:r>
          </a:p>
          <a:p>
            <a:pPr>
              <a:defRPr sz="3600"/>
            </a:pPr>
            <a:r>
              <a:t>Примеры концепций: mysqldump, pg_dump, pg_basebackup</a:t>
            </a:r>
          </a:p>
          <a:p>
            <a:pPr>
              <a:defRPr sz="3600"/>
            </a:pPr>
            <a:r>
              <a:t>Для Docker нельзя просто копировать /var/lib/docker во время работы daemon</a:t>
            </a:r>
          </a:p>
          <a:p>
            <a:pPr>
              <a:defRPr sz="3600"/>
            </a:pPr>
            <a:r>
              <a:t>Нужно определить Compose-файлы, named volumes, database dump, user data и процедуру quiesce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Перед backup нужно проверить, что источник смонтирован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отдельный диск не смонтировался, каталог /srv/data может быть пустым на root filesystem</a:t>
            </a:r>
          </a:p>
          <a:p>
            <a:pPr>
              <a:defRPr sz="3600"/>
            </a:pPr>
            <a:r>
              <a:t>Backup успешно скопирует пустой каталог и завершится кодом 0</a:t>
            </a:r>
          </a:p>
          <a:p>
            <a:pPr>
              <a:defRPr sz="3600"/>
            </a:pPr>
            <a:r>
              <a:t>Команда: mountpoint -q /srv/data</a:t>
            </a:r>
          </a:p>
          <a:p>
            <a:pPr>
              <a:defRPr sz="3600"/>
            </a:pPr>
            <a:r>
              <a:t>Назначение: проверить, что точка монтирования действительно активна</a:t>
            </a:r>
          </a:p>
          <a:p>
            <a:pPr>
              <a:defRPr sz="3600"/>
            </a:pPr>
            <a:r>
              <a:t>Команда: findmnt -n -o SOURCE /srv/data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Исключения, retention и удаление старых копий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Исключения уменьшают объем backup, но могут случайно убрать важные данные</a:t>
            </a:r>
          </a:p>
          <a:p>
            <a:pPr>
              <a:defRPr sz="3600"/>
            </a:pPr>
            <a:r>
              <a:t>Retention policy определяет, сколько восстановительных точек хранить</a:t>
            </a:r>
          </a:p>
          <a:p>
            <a:pPr>
              <a:defRPr sz="3600"/>
            </a:pPr>
            <a:r>
              <a:t>Prune удаляет старые точки по политике</a:t>
            </a:r>
          </a:p>
          <a:p>
            <a:pPr>
              <a:defRPr sz="3600"/>
            </a:pPr>
            <a:r>
              <a:t>Integrity check проверяет читаемость и структуру repository</a:t>
            </a:r>
          </a:p>
          <a:p>
            <a:pPr>
              <a:defRPr sz="3600"/>
            </a:pPr>
            <a:r>
              <a:t>Эти операции нужно планировать, журналировать и тестировать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Исключения должны быть проверены восстановлением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исключения: --exclude /var/cache/</a:t>
            </a:r>
          </a:p>
          <a:p>
            <a:pPr>
              <a:defRPr sz="3600"/>
            </a:pPr>
            <a:r>
              <a:t>Паттерны зависят от инструмента и точки source</a:t>
            </a:r>
          </a:p>
          <a:p>
            <a:pPr>
              <a:defRPr sz="3600"/>
            </a:pPr>
            <a:r>
              <a:t>После настройки нужно проверить, что мусор исключен, а важные файлы остались</a:t>
            </a:r>
          </a:p>
          <a:p>
            <a:pPr>
              <a:defRPr sz="3600"/>
            </a:pPr>
            <a:r>
              <a:t>Файл исключений лучше хранить отдельно: /etc/backup/web01.exclude</a:t>
            </a:r>
          </a:p>
          <a:p>
            <a:pPr>
              <a:defRPr sz="3600"/>
            </a:pPr>
            <a:r>
              <a:t>Файл исключений можно версионировать, если он не содержит секретов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Не все журналы являются мусором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Большие logs можно исключить, если они уже централизованно отправляются в syslog или log platform</a:t>
            </a:r>
          </a:p>
          <a:p>
            <a:pPr>
              <a:defRPr sz="3600"/>
            </a:pPr>
            <a:r>
              <a:t>Но журналы могут понадобиться для расследования инцидента</a:t>
            </a:r>
          </a:p>
          <a:p>
            <a:pPr>
              <a:defRPr sz="3600"/>
            </a:pPr>
            <a:r>
              <a:t>Журналы могут требоваться для аудита и правил хранения</a:t>
            </a:r>
          </a:p>
          <a:p>
            <a:pPr>
              <a:defRPr sz="3600"/>
            </a:pPr>
            <a:r>
              <a:t>Решение об исключении принимается по политике, а не только по размеру</a:t>
            </a:r>
          </a:p>
          <a:p>
            <a:pPr>
              <a:defRPr sz="3600"/>
            </a:pPr>
            <a:r>
              <a:t>В backup включают данные, необходимые для восстановления и выполнения требований хранения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Retention для Borg и Restic задается командами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политики: 7 daily, 4 weekly, 6 monthly</a:t>
            </a:r>
          </a:p>
          <a:p>
            <a:pPr>
              <a:defRPr sz="3600"/>
            </a:pPr>
            <a:r>
              <a:t>Borg: borg prune --list --keep-daily=7 --keep-weekly=4 --keep-monthly=6 "$BORG_REPO"</a:t>
            </a:r>
          </a:p>
          <a:p>
            <a:pPr>
              <a:defRPr sz="3600"/>
            </a:pPr>
            <a:r>
              <a:t>Restic: restic forget --keep-daily 7 --keep-weekly 4 --keep-monthly 6 --prune</a:t>
            </a:r>
          </a:p>
          <a:p>
            <a:pPr>
              <a:defRPr sz="3600"/>
            </a:pPr>
            <a:r>
              <a:t>Перед удалением полезен dry run или просмотр списка</a:t>
            </a:r>
          </a:p>
          <a:p>
            <a:pPr>
              <a:defRPr sz="3600"/>
            </a:pPr>
            <a:r>
              <a:t>Нельзя запускать два prune одновременно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Prune и check могут быть тяжелыми операциями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Полный integrity check может занять много времени и создать нагрузку</a:t>
            </a:r>
          </a:p>
          <a:p>
            <a:pPr>
              <a:defRPr sz="3600"/>
            </a:pPr>
            <a:r>
              <a:t>Нужен частый легкий контроль и периодический полный check</a:t>
            </a:r>
          </a:p>
          <a:p>
            <a:pPr>
              <a:defRPr sz="3600"/>
            </a:pPr>
            <a:r>
              <a:t>Нужно контролировать свободное место и окно обслуживания</a:t>
            </a:r>
          </a:p>
          <a:p>
            <a:pPr>
              <a:defRPr sz="3600"/>
            </a:pPr>
            <a:r>
              <a:t>Нельзя совмещать backup и prune без понимания блокировок repository</a:t>
            </a:r>
          </a:p>
          <a:p>
            <a:pPr>
              <a:defRPr sz="3600"/>
            </a:pPr>
            <a:r>
              <a:t>После обслуживания нужно сохранить журнал результата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Расписание лучше показывать через systemd timer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Cron прост, но systemd timer лучше интегрируется с journald и зависимостями</a:t>
            </a:r>
          </a:p>
          <a:p>
            <a:pPr>
              <a:defRPr sz="3600"/>
            </a:pPr>
            <a:r>
              <a:t>Фрагмент timer: OnCalendar=daily</a:t>
            </a:r>
          </a:p>
          <a:p>
            <a:pPr>
              <a:defRPr sz="3600"/>
            </a:pPr>
            <a:r>
              <a:t>Фрагмент timer: Persistent=true</a:t>
            </a:r>
          </a:p>
          <a:p>
            <a:pPr>
              <a:defRPr sz="3600"/>
            </a:pPr>
            <a:r>
              <a:t>Фрагмент timer: RandomizedDelaySec=10m</a:t>
            </a:r>
          </a:p>
          <a:p>
            <a:pPr>
              <a:defRPr sz="3600"/>
            </a:pPr>
            <a:r>
              <a:t>Для service полезны Type=oneshot, Nice=10 и IOSchedulingClass=best-effort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Нужна защита от параллельного запуска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старое задание не завершилось, новый запуск может создать нагрузку или конфликт с prune</a:t>
            </a:r>
          </a:p>
          <a:p>
            <a:pPr>
              <a:defRPr sz="3600"/>
            </a:pPr>
            <a:r>
              <a:t>Команда: flock -n /run/lock/web01-backup.lock /usr/local/sbin/web01-backup.sh</a:t>
            </a:r>
          </a:p>
          <a:p>
            <a:pPr>
              <a:defRPr sz="3600"/>
            </a:pPr>
            <a:r>
              <a:t>Назначение: не запускать второй экземпляр backup job</a:t>
            </a:r>
          </a:p>
          <a:p>
            <a:pPr>
              <a:defRPr sz="3600"/>
            </a:pPr>
            <a:r>
              <a:t>Borg и Restic имеют собственные блокировки repository</a:t>
            </a:r>
          </a:p>
          <a:p>
            <a:pPr>
              <a:defRPr sz="3600"/>
            </a:pPr>
            <a:r>
              <a:t>Организационно параллельные задания все равно нужно контролировать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Контроль успешности, целостность и тестовое восстановление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Exit code 0 не доказывает полноту backup</a:t>
            </a:r>
          </a:p>
          <a:p>
            <a:pPr>
              <a:defRPr sz="3600"/>
            </a:pPr>
            <a:r>
              <a:t>Integrity check проверяет repository, но не доказывает запуск приложения</a:t>
            </a:r>
          </a:p>
          <a:p>
            <a:pPr>
              <a:defRPr sz="3600"/>
            </a:pPr>
            <a:r>
              <a:t>Test restore показывает, можно ли реально извлечь данные и поднять сервис</a:t>
            </a:r>
          </a:p>
          <a:p>
            <a:pPr>
              <a:defRPr sz="3600"/>
            </a:pPr>
            <a:r>
              <a:t>Backup без проверки восстановления — это предположение, а не гарантия</a:t>
            </a:r>
          </a:p>
          <a:p>
            <a:pPr>
              <a:defRPr sz="3600"/>
            </a:pPr>
            <a:r>
              <a:t>RPO и RTO подтверждаются только измерениями и журналами успешных задач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Exit code 0 может скрывать плохую копию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Задание может успешно скопировать пустой каталог</a:t>
            </a:r>
          </a:p>
          <a:p>
            <a:pPr>
              <a:defRPr sz="3600"/>
            </a:pPr>
            <a:r>
              <a:t>Задание может создать архив объемом 2 КБ вместо обычных 20 ГБ</a:t>
            </a:r>
          </a:p>
          <a:p>
            <a:pPr>
              <a:defRPr sz="3600"/>
            </a:pPr>
            <a:r>
              <a:t>Источник мог быть не смонтирован</a:t>
            </a:r>
          </a:p>
          <a:p>
            <a:pPr>
              <a:defRPr sz="3600"/>
            </a:pPr>
            <a:r>
              <a:t>Копия могла не содержать нужных файлов приложения</a:t>
            </a:r>
          </a:p>
          <a:p>
            <a:pPr>
              <a:defRPr sz="3600"/>
            </a:pPr>
            <a:r>
              <a:t>Поэтому мониторинг должен проверять объем, возраст, список архивов и ожидаемые пути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Monitoring backup должен быть связан с 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age считают от последней подтвержденной успешной копии</a:t>
            </a:r>
          </a:p>
          <a:p>
            <a:pPr>
              <a:defRPr sz="3600"/>
            </a:pPr>
            <a:r>
              <a:t>Если RPO равен 24 часа, а последняя успешная копия 30 часов назад, состояние критическое</a:t>
            </a:r>
          </a:p>
          <a:p>
            <a:pPr>
              <a:defRPr sz="3600"/>
            </a:pPr>
            <a:r>
              <a:t>Нужно учитывать нормальную длительность задания и допустимую задержку</a:t>
            </a:r>
          </a:p>
          <a:p>
            <a:pPr>
              <a:defRPr sz="3600"/>
            </a:pPr>
            <a:r>
              <a:t>Отдельно контролируется задание, которое выполняется слишком долго</a:t>
            </a:r>
          </a:p>
          <a:p>
            <a:pPr>
              <a:defRPr sz="3600"/>
            </a:pPr>
            <a:r>
              <a:t>Мониторинг должен замечать массовое удаление архивов и аномально малый размер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Repository Integrity и Application Restore — разные 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Integrity check показывает, что repository читается и его структуры не повреждены</a:t>
            </a:r>
          </a:p>
          <a:p>
            <a:pPr>
              <a:defRPr sz="3600"/>
            </a:pPr>
            <a:r>
              <a:t>Test restore показывает, что данные реально извлекаются</a:t>
            </a:r>
          </a:p>
          <a:p>
            <a:pPr>
              <a:defRPr sz="3600"/>
            </a:pPr>
            <a:r>
              <a:t>Application restore показывает, что сервис запускается и работает</a:t>
            </a:r>
          </a:p>
          <a:p>
            <a:pPr>
              <a:defRPr sz="3600"/>
            </a:pPr>
            <a:r>
              <a:t>Checksum не доказывает, что были скопированы нужные данные</a:t>
            </a:r>
          </a:p>
          <a:p>
            <a:pPr>
              <a:defRPr sz="3600"/>
            </a:pPr>
            <a:r>
              <a:t>Для приемки backup нужны оба уровня: техническая целостность и прикладное восстановление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Test Restore должен быть неразрушающим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Базовый вариант: восстановление в /restore-test/web01/</a:t>
            </a:r>
          </a:p>
          <a:p>
            <a:pPr>
              <a:defRPr sz="3600"/>
            </a:pPr>
            <a:r>
              <a:t>Затем сравнить файлы с эталоном или ожидаемым набором</a:t>
            </a:r>
          </a:p>
          <a:p>
            <a:pPr>
              <a:defRPr sz="3600"/>
            </a:pPr>
            <a:r>
              <a:t>Проверить владельцев, права и важные конфигурационные файлы</a:t>
            </a:r>
          </a:p>
          <a:p>
            <a:pPr>
              <a:defRPr sz="3600"/>
            </a:pPr>
            <a:r>
              <a:t>Выполнить syntax check: например sudo nginx -t или sudo sshd -t</a:t>
            </a:r>
          </a:p>
          <a:p>
            <a:pPr>
              <a:defRPr sz="3600"/>
            </a:pPr>
            <a:r>
              <a:t>Разрушительный тест выполнять только при наличии snapshot или понятной процедуры возврата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Восстановление /etc не означает восстановление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восстановления сервиса нужны пакеты нужных версий</a:t>
            </a:r>
          </a:p>
          <a:p>
            <a:pPr>
              <a:defRPr sz="3600"/>
            </a:pPr>
            <a:r>
              <a:t>Нужны системные пользователи, группы, права и владельцы</a:t>
            </a:r>
          </a:p>
          <a:p>
            <a:pPr>
              <a:defRPr sz="3600"/>
            </a:pPr>
            <a:r>
              <a:t>Нужны конфигурации, данные, сертификаты, ключи и secrets</a:t>
            </a:r>
          </a:p>
          <a:p>
            <a:pPr>
              <a:defRPr sz="3600"/>
            </a:pPr>
            <a:r>
              <a:t>Могут понадобиться firewall rules, DNS-записи, SELinux или AppArmor policy</a:t>
            </a:r>
          </a:p>
          <a:p>
            <a:pPr>
              <a:defRPr sz="3600"/>
            </a:pPr>
            <a:r>
              <a:t>Инструкция должна называться по сервису: Restore Nginx Service, а не просто Extract /etc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Backup Server нужно защищать от заполнения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df -h — проверить свободное место</a:t>
            </a:r>
          </a:p>
          <a:p>
            <a:pPr>
              <a:defRPr sz="3600"/>
            </a:pPr>
            <a:r>
              <a:t>Команда: df -i — проверить inode</a:t>
            </a:r>
          </a:p>
          <a:p>
            <a:pPr>
              <a:defRPr sz="3600"/>
            </a:pPr>
            <a:r>
              <a:t>Команда: borg info — посмотреть размер и статистику Borg repository</a:t>
            </a:r>
          </a:p>
          <a:p>
            <a:pPr>
              <a:defRPr sz="3600"/>
            </a:pPr>
            <a:r>
              <a:t>Один источник не должен заполнить все хранилище backup01</a:t>
            </a:r>
          </a:p>
          <a:p>
            <a:pPr>
              <a:defRPr sz="3600"/>
            </a:pPr>
            <a:r>
              <a:t>Практика: отдельные каталоги, quotas или filesystem для web01, vpn01 и docker01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цикл backup, проверка и restore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FE9197-C157-8792-272F-2DE078840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Лабораторный цикл должен пройти весь путь восстановления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Создать service account и SSH key</a:t>
            </a:r>
          </a:p>
          <a:p>
            <a:pPr>
              <a:defRPr sz="3600"/>
            </a:pPr>
            <a:r>
              <a:t>Проверить host key backup01 и ограничения authorized_keys</a:t>
            </a:r>
          </a:p>
          <a:p>
            <a:pPr>
              <a:defRPr sz="3600"/>
            </a:pPr>
            <a:r>
              <a:t>Инициализировать Borg repository с шифрованием</a:t>
            </a:r>
          </a:p>
          <a:p>
            <a:pPr>
              <a:defRPr sz="3600"/>
            </a:pPr>
            <a:r>
              <a:t>Создать минимум две резервные копии после изменения тестового файла</a:t>
            </a:r>
          </a:p>
          <a:p>
            <a:pPr>
              <a:defRPr sz="3600"/>
            </a:pPr>
            <a:r>
              <a:t>Настроить retention, выполнить check и восстановить архив в /restore-test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Критерии приемки лабораторной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Есть журнал последнего успешного backup</a:t>
            </a:r>
          </a:p>
          <a:p>
            <a:pPr>
              <a:defRPr sz="3600"/>
            </a:pPr>
            <a:r>
              <a:t>Backup age не нарушает заданный RPO</a:t>
            </a:r>
          </a:p>
          <a:p>
            <a:pPr>
              <a:defRPr sz="3600"/>
            </a:pPr>
            <a:r>
              <a:t>Repository проходит выбранную проверку целостности</a:t>
            </a:r>
          </a:p>
          <a:p>
            <a:pPr>
              <a:defRPr sz="3600"/>
            </a:pPr>
            <a:r>
              <a:t>Restore выполнен в отдельный каталог без перезаписи live-системы</a:t>
            </a:r>
          </a:p>
          <a:p>
            <a:pPr>
              <a:defRPr sz="3600"/>
            </a:pPr>
            <a:r>
              <a:t>Студент может объяснить, какие данные не попали в backup и почему</a:t>
            </a:r>
          </a:p>
          <a:p>
            <a:pPr>
              <a:defRPr sz="3600"/>
            </a:pPr>
            <a:r>
              <a:t>Измерено фактическое время восстановления сервиса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Backup отличается от RAID, snapshot и replication тем, что должен давать проверяемую точку восстановления</a:t>
            </a:r>
          </a:p>
          <a:p>
            <a:pPr>
              <a:defRPr sz="3600"/>
            </a:pPr>
            <a:r>
              <a:t>Модель Push или Pull нужно выбирать осознанно и ограничивать права доступа</a:t>
            </a:r>
          </a:p>
          <a:p>
            <a:pPr>
              <a:defRPr sz="3600"/>
            </a:pPr>
            <a:r>
              <a:t>rsync полезен для mirror и транспортировки, но BorgBackup лучше подходит для версионного backup в лаборатории</a:t>
            </a:r>
          </a:p>
          <a:p>
            <a:pPr>
              <a:defRPr sz="3600"/>
            </a:pPr>
            <a:r>
              <a:t>RPO связан с последней подтвержденной успешной копией, а RTO — со всем временем восстановления сервиса</a:t>
            </a:r>
          </a:p>
          <a:p>
            <a:pPr>
              <a:defRPr sz="3600"/>
            </a:pPr>
            <a:r>
              <a:t>Надежность backup подтверждается test restore, а не только успешным запуском задания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RAID и replication не заменяют backup?</a:t>
            </a:r>
          </a:p>
          <a:p>
            <a:pPr>
              <a:defRPr sz="3600"/>
            </a:pPr>
            <a:r>
              <a:t>Чем Push-модель отличается от Pull-модели?</a:t>
            </a:r>
          </a:p>
          <a:p>
            <a:pPr>
              <a:defRPr sz="3600"/>
            </a:pPr>
            <a:r>
              <a:t>Почему rsync с --delete нельзя показывать без dry-run?</a:t>
            </a:r>
          </a:p>
          <a:p>
            <a:pPr>
              <a:defRPr sz="3600"/>
            </a:pPr>
            <a:r>
              <a:t>Что означает RPO и почему оно не равно расписанию backup?</a:t>
            </a:r>
          </a:p>
          <a:p>
            <a:pPr>
              <a:defRPr sz="3600"/>
            </a:pPr>
            <a:r>
              <a:t>Почему Borg extract нужно выполнять в отдельный каталог?</a:t>
            </a:r>
          </a:p>
          <a:p>
            <a:pPr>
              <a:defRPr sz="3600"/>
            </a:pPr>
            <a:r>
              <a:t>Какие проверки кроме exit code нужны для контроля backup?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3208</Words>
  <Application>Microsoft Office PowerPoint</Application>
  <PresentationFormat>Широкоэкранный</PresentationFormat>
  <Paragraphs>336</Paragraphs>
  <Slides>58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2026-07-28T11:10:33Z</dcterms:modified>
  <cp:category/>
</cp:coreProperties>
</file>