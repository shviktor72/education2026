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12. Итоговый инфраструктурный проект Linux-инфраструктуры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Понять, как отдельные технологии РО2.3 объединяются в работающую Linux-инфраструктуру</a:t>
            </a:r>
          </a:p>
          <a:p>
            <a:pPr>
              <a:defRPr sz="3600"/>
            </a:pPr>
            <a:r>
              <a:t>Проектировать роли серверов, имена, адресацию, сетевые зоны и зависимости сервисов</a:t>
            </a:r>
          </a:p>
          <a:p>
            <a:pPr>
              <a:defRPr sz="3600"/>
            </a:pPr>
            <a:r>
              <a:t>Выбирать безопасный порядок развертывания с Git, backup и monitoring перед изменениями</a:t>
            </a:r>
          </a:p>
          <a:p>
            <a:pPr>
              <a:defRPr sz="3600"/>
            </a:pPr>
            <a:r>
              <a:t>Проверять инфраструктуру через сценарии доступа, отказа, восстановления и перезагрузки</a:t>
            </a:r>
          </a:p>
          <a:p>
            <a:pPr>
              <a:defRPr sz="3600"/>
            </a:pPr>
            <a:r>
              <a:t>Готовить документацию, по которой другой администратор сможет сопровождать стенд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Многосерверная Linux-инфраструктура, роли, адресация и naming</a:t>
            </a:r>
          </a:p>
          <a:p>
            <a:pPr>
              <a:defRPr sz="3600"/>
            </a:pPr>
            <a:r>
              <a:t>2. Зависимости DNS, VPN, web, mail, monitoring и backup</a:t>
            </a:r>
          </a:p>
          <a:p>
            <a:pPr>
              <a:defRPr sz="3600"/>
            </a:pPr>
            <a:r>
              <a:t>3. Production-, management- и backup-трафик</a:t>
            </a:r>
          </a:p>
          <a:p>
            <a:pPr>
              <a:defRPr sz="3600"/>
            </a:pPr>
            <a:r>
              <a:t>4. Безопасный порядок развертывания, Git, мониторинг и backup перед изменениями</a:t>
            </a:r>
          </a:p>
          <a:p>
            <a:pPr>
              <a:defRPr sz="3600"/>
            </a:pPr>
            <a:r>
              <a:t>5. Диагностика ресурсов, ОС, сети, службы и приложения</a:t>
            </a:r>
          </a:p>
          <a:p>
            <a:pPr>
              <a:defRPr sz="3600"/>
            </a:pPr>
            <a:r>
              <a:t>6. Эксплуатационные, восстановительные и исполнительные документы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Студент готовит итоговый стенд для условной организации с доменом company.test</a:t>
            </a:r>
          </a:p>
          <a:p>
            <a:pPr>
              <a:defRPr sz="3600"/>
            </a:pPr>
            <a:r>
              <a:t>Стенд должен включать удаленный доступ, web-сервис, мониторинг, backup и документацию</a:t>
            </a:r>
          </a:p>
          <a:p>
            <a:pPr>
              <a:defRPr sz="3600"/>
            </a:pPr>
            <a:r>
              <a:t>Почта, Docker и отдельная backup network могут входить в полный или расширенный вариант</a:t>
            </a:r>
          </a:p>
          <a:p>
            <a:pPr>
              <a:defRPr sz="3600"/>
            </a:pPr>
            <a:r>
              <a:t>Проект оценивается не по факту установки служб, а по работе сценариев и восстановлению</a:t>
            </a:r>
          </a:p>
          <a:p>
            <a:pPr>
              <a:defRPr sz="3600"/>
            </a:pPr>
            <a:r>
              <a:t>Все имена, адреса, правила firewall и проверки должны совпадать с документацией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Обязательная и расширенная части уменьшают перегруз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Обязательное ядро: DNS, VPN, HAProxy, два web backend, Zabbix, backup, Git и Bash health check</a:t>
            </a:r>
          </a:p>
          <a:p>
            <a:pPr>
              <a:defRPr sz="3600"/>
            </a:pPr>
            <a:r>
              <a:t>Расширенная часть: Mailcow, отдельная backup network, Docker application, Keepalived и автоматизация</a:t>
            </a:r>
          </a:p>
          <a:p>
            <a:pPr>
              <a:defRPr sz="3600"/>
            </a:pPr>
            <a:r>
              <a:t>В индивидуальном проекте расширенная часть может оцениваться дополнительными баллами</a:t>
            </a:r>
          </a:p>
          <a:p>
            <a:pPr>
              <a:defRPr sz="3600"/>
            </a:pPr>
            <a:r>
              <a:t>Формат работы заранее фиксируется: индивидуально, в паре или в команде</a:t>
            </a:r>
          </a:p>
          <a:p>
            <a:pPr>
              <a:defRPr sz="3600"/>
            </a:pPr>
            <a:r>
              <a:t>Такой подход сохраняет профессиональный масштаб и делает оценивание объективным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Итоговый проект проверяет инфраструктуру как систему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Инфраструктура — это связанные серверы, сети, данные, правила доступа и процедуры сопровождения</a:t>
            </a:r>
          </a:p>
          <a:p>
            <a:pPr>
              <a:defRPr sz="3600"/>
            </a:pPr>
            <a:r>
              <a:t>Отдельно установленный сервис не считается завершенным без проверки зависимостей</a:t>
            </a:r>
          </a:p>
          <a:p>
            <a:pPr>
              <a:defRPr sz="3600"/>
            </a:pPr>
            <a:r>
              <a:t>Сервис должен запускаться после перезагрузки и восстанавливаться после типовой ошибки</a:t>
            </a:r>
          </a:p>
          <a:p>
            <a:pPr>
              <a:defRPr sz="3600"/>
            </a:pPr>
            <a:r>
              <a:t>Адресный план, DNS, firewall и мониторинг должны описывать один и тот же стенд</a:t>
            </a:r>
          </a:p>
          <a:p>
            <a:pPr>
              <a:defRPr sz="3600"/>
            </a:pPr>
            <a:r>
              <a:t>Итоговая защита показывает работу системы, а не набор скриншотов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Полный список узлов делает проект проверяемым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client01 — пользовательский или VPN-клиент для проверки доступа к сервисам</a:t>
            </a:r>
          </a:p>
          <a:p>
            <a:pPr>
              <a:defRPr sz="3600"/>
            </a:pPr>
            <a:r>
              <a:t>admin01 — административная рабочая станция для SSH, Git и management-доступа</a:t>
            </a:r>
          </a:p>
          <a:p>
            <a:pPr>
              <a:defRPr sz="3600"/>
            </a:pPr>
            <a:r>
              <a:t>dns01 — внутренний DNS-сервер зоны company.test</a:t>
            </a:r>
          </a:p>
          <a:p>
            <a:pPr>
              <a:defRPr sz="3600"/>
            </a:pPr>
            <a:r>
              <a:t>vpn01, lb01, web01 и web02 обеспечивают удаленный доступ и web-сервис</a:t>
            </a:r>
          </a:p>
          <a:p>
            <a:pPr>
              <a:defRPr sz="3600"/>
            </a:pPr>
            <a:r>
              <a:t>mail01, zabbix01, backup01 и git01 используются по выбранному варианту проекта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Naming standard устраняет путаницу между серверами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FQDN (Fully Qualified Domain Name) — полное доменное имя узла, например web01.company.test</a:t>
            </a:r>
          </a:p>
          <a:p>
            <a:pPr>
              <a:defRPr sz="3600"/>
            </a:pPr>
            <a:r>
              <a:t>Правило именования: роль плюс номер, затем домен company.test</a:t>
            </a:r>
          </a:p>
          <a:p>
            <a:pPr>
              <a:defRPr sz="3600"/>
            </a:pPr>
            <a:r>
              <a:t>DNS-запись, hostname, имя в Zabbix и имя в документации должны совпадать</a:t>
            </a:r>
          </a:p>
          <a:p>
            <a:pPr>
              <a:defRPr sz="3600"/>
            </a:pPr>
            <a:r>
              <a:t>Для почты можно использовать hostname mail01 и сервисное имя mail.company.test</a:t>
            </a:r>
          </a:p>
          <a:p>
            <a:pPr>
              <a:defRPr sz="3600"/>
            </a:pPr>
            <a:r>
              <a:t>Нельзя смешивать mail01.company.test и mail.company.test без явного объяснения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Адресный план показывает не только IP-адрес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Production network: 192.168.30.0/24, пользовательские сервисы и backend-серверы</a:t>
            </a:r>
          </a:p>
          <a:p>
            <a:pPr>
              <a:defRPr sz="3600"/>
            </a:pPr>
            <a:r>
              <a:t>Management network: 192.168.40.0/24, admin01, dns01, zabbix01 и SSH-доступ</a:t>
            </a:r>
          </a:p>
          <a:p>
            <a:pPr>
              <a:defRPr sz="3600"/>
            </a:pPr>
            <a:r>
              <a:t>Backup network: 192.168.50.0/24, backup01 и источники резервного копирования</a:t>
            </a:r>
          </a:p>
          <a:p>
            <a:pPr>
              <a:defRPr sz="3600"/>
            </a:pPr>
            <a:r>
              <a:t>VPN subnet: 10.8.0.0/24, адреса клиентов OpenVPN</a:t>
            </a:r>
          </a:p>
          <a:p>
            <a:pPr>
              <a:defRPr sz="3600"/>
            </a:pPr>
            <a:r>
              <a:t>В таблице для каждого узла указываются role, IP, gateway, DNS и доступные порты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Отдельная сеть может быть физической или логической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VirtualBox удобно использовать несколько Internal Network: prod-net, mgmt-net и backup-net</a:t>
            </a:r>
          </a:p>
          <a:p>
            <a:pPr>
              <a:defRPr sz="3600"/>
            </a:pPr>
            <a:r>
              <a:t>В реальной сети разделение обычно выполняется через VLAN и маршрутизацию</a:t>
            </a:r>
          </a:p>
          <a:p>
            <a:pPr>
              <a:defRPr sz="3600"/>
            </a:pPr>
            <a:r>
              <a:t>Если NIC мало, допускаются разные подсети и строгие firewall rules на одном маршрутизаторе</a:t>
            </a:r>
          </a:p>
          <a:p>
            <a:pPr>
              <a:defRPr sz="3600"/>
            </a:pPr>
            <a:r>
              <a:t>Разделение считается выполненным только при наличии правил Source и Destination</a:t>
            </a:r>
          </a:p>
          <a:p>
            <a:pPr>
              <a:defRPr sz="3600"/>
            </a:pPr>
            <a:r>
              <a:t>Студент должен объяснить, почему выбран именно такой способ разделения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Топология: итоговая архитектура Linux-инфраструктуры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FB4F3C0-57A8-1853-00DE-2BFA98005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DNS должен быть отдельной и понятной ролью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DNS (Domain Name System) — система преобразования имен серверов в IP-адреса</a:t>
            </a:r>
          </a:p>
          <a:p>
            <a:pPr>
              <a:defRPr sz="3600"/>
            </a:pPr>
            <a:r>
              <a:t>В итоговом стенде DNS разворачивается на dns01 или явно предоставляется преподавателем</a:t>
            </a:r>
          </a:p>
          <a:p>
            <a:pPr>
              <a:defRPr sz="3600"/>
            </a:pPr>
            <a:r>
              <a:t>Если DNS размещен на другом сервере, это нужно указать как совмещение ролей и SPOF</a:t>
            </a:r>
          </a:p>
          <a:p>
            <a:pPr>
              <a:defRPr sz="3600"/>
            </a:pPr>
            <a:r>
              <a:t>SPOF (Single Point of Failure) — единая точка отказа, от которой зависит несколько сервисов</a:t>
            </a:r>
          </a:p>
          <a:p>
            <a:pPr>
              <a:defRPr sz="3600"/>
            </a:pPr>
            <a:r>
              <a:t>Без определенного источника DNS невозможно объективно принять проект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DNS-проверка связывает имена с адресным планом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resolvectl query проверяет системное разрешение имени: $ resolvectl query web01.company.test</a:t>
            </a:r>
          </a:p>
          <a:p>
            <a:pPr>
              <a:defRPr sz="3600"/>
            </a:pPr>
            <a:r>
              <a:t>Ожидаемый результат: web01.company.test разрешается в адрес из таблицы проекта</a:t>
            </a:r>
          </a:p>
          <a:p>
            <a:pPr>
              <a:defRPr sz="3600"/>
            </a:pPr>
            <a:r>
              <a:t>Команда dig показывает конкретную DNS-запись: $ dig +short A lb01.company.test</a:t>
            </a:r>
          </a:p>
          <a:p>
            <a:pPr>
              <a:defRPr sz="3600"/>
            </a:pPr>
            <a:r>
              <a:t>Для почты MX указывает на имя mail.company.test, а не на IP-адрес</a:t>
            </a:r>
          </a:p>
          <a:p>
            <a:pPr>
              <a:defRPr sz="3600"/>
            </a:pPr>
            <a:r>
              <a:t>Если DNS не работает, сначала проверяют dns01, маршрут до него и firewall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Матрица зависимостей показывает последствия отказа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OpenVPN зависит от DNS, времени, CA, firewall и routing</a:t>
            </a:r>
          </a:p>
          <a:p>
            <a:pPr>
              <a:defRPr sz="3600"/>
            </a:pPr>
            <a:r>
              <a:t>HAProxy зависит от backend-серверов, DNS или IP-адресов и открытых портов</a:t>
            </a:r>
          </a:p>
          <a:p>
            <a:pPr>
              <a:defRPr sz="3600"/>
            </a:pPr>
            <a:r>
              <a:t>Mailcow зависит от Docker, DNS, TLS, disk space, database и времени</a:t>
            </a:r>
          </a:p>
          <a:p>
            <a:pPr>
              <a:defRPr sz="3600"/>
            </a:pPr>
            <a:r>
              <a:t>Zabbix зависит от базы данных, агентов, сети и актуальных items</a:t>
            </a:r>
          </a:p>
          <a:p>
            <a:pPr>
              <a:defRPr sz="3600"/>
            </a:pPr>
            <a:r>
              <a:t>Backup зависит от SSH, repository, свободного места, ключей и расписания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Мониторинг общей зависимости должен быть независимым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Zabbix проверяет все узлы только по DNS-именам, отказ DNS скрывает реальную картину</a:t>
            </a:r>
          </a:p>
          <a:p>
            <a:pPr>
              <a:defRPr sz="3600"/>
            </a:pPr>
            <a:r>
              <a:t>dns01 нужно контролировать по IP-адресу и отдельным DNS-запросом</a:t>
            </a:r>
          </a:p>
          <a:p>
            <a:pPr>
              <a:defRPr sz="3600"/>
            </a:pPr>
            <a:r>
              <a:t>Команда zabbix_get проверяет агент напрямую: $ zabbix_get -s 192.168.40.53 -k agent.ping</a:t>
            </a:r>
          </a:p>
          <a:p>
            <a:pPr>
              <a:defRPr sz="3600"/>
            </a:pPr>
            <a:r>
              <a:t>Ожидаемый ответ 1 означает, что агент доступен и item может получать данные</a:t>
            </a:r>
          </a:p>
          <a:p>
            <a:pPr>
              <a:defRPr sz="3600"/>
            </a:pPr>
            <a:r>
              <a:t>Для критичных сервисов полезен внешний check с client01 или admin01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Зависимости объясняют, почему симптом может быть обманчивым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Пользователь видит web недоступным, но причина может быть в VPN, DNS, HAProxy или backend</a:t>
            </a:r>
          </a:p>
          <a:p>
            <a:pPr>
              <a:defRPr sz="3600"/>
            </a:pPr>
            <a:r>
              <a:t>Почта может не доставляться из-за TLS, PTR, заполненного диска или контейнера Mailcow</a:t>
            </a:r>
          </a:p>
          <a:p>
            <a:pPr>
              <a:defRPr sz="3600"/>
            </a:pPr>
            <a:r>
              <a:t>Backup может считаться успешным, хотя исходный каталог не был смонтирован</a:t>
            </a:r>
          </a:p>
          <a:p>
            <a:pPr>
              <a:defRPr sz="3600"/>
            </a:pPr>
            <a:r>
              <a:t>Отсутствие Zabbix problems не доказывает исправность, если items перестали обновляться</a:t>
            </a:r>
          </a:p>
          <a:p>
            <a:pPr>
              <a:defRPr sz="3600"/>
            </a:pPr>
            <a:r>
              <a:t>Диагностика начинается с цепочки зависимостей, а не с случайной перезагрузки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матрица зависимостей итогового стенда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552F5F7-19C3-B335-5F1E-9F693D668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Traffic separation делает безопасность проверяемой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Production traffic — пользовательский доступ к web, mail и разрешенным внутренним ресурсам</a:t>
            </a:r>
          </a:p>
          <a:p>
            <a:pPr>
              <a:defRPr sz="3600"/>
            </a:pPr>
            <a:r>
              <a:t>Management traffic — SSH, Zabbix, Git, административные web-интерфейсы и управление сервисами</a:t>
            </a:r>
          </a:p>
          <a:p>
            <a:pPr>
              <a:defRPr sz="3600"/>
            </a:pPr>
            <a:r>
              <a:t>Backup traffic — копирование данных к backup01 и проверка repository</a:t>
            </a:r>
          </a:p>
          <a:p>
            <a:pPr>
              <a:defRPr sz="3600"/>
            </a:pPr>
            <a:r>
              <a:t>VPN traffic — внешний доступ клиентов к строго ограниченным внутренним направлениям</a:t>
            </a:r>
          </a:p>
          <a:p>
            <a:pPr>
              <a:defRPr sz="3600"/>
            </a:pPr>
            <a:r>
              <a:t>Разделение трафика подтверждается маршрутами, firewall rules и тестами доступа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Таблица потоков задает разрешенные Source и Destination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VPN Client -&gt; lb01 TCP 443: разрешить пользовательский доступ к web</a:t>
            </a:r>
          </a:p>
          <a:p>
            <a:pPr>
              <a:defRPr sz="3600"/>
            </a:pPr>
            <a:r>
              <a:t>VPN Client -&gt; web01 TCP 22: запретить прямое администрирование backend</a:t>
            </a:r>
          </a:p>
          <a:p>
            <a:pPr>
              <a:defRPr sz="3600"/>
            </a:pPr>
            <a:r>
              <a:t>admin01 -&gt; servers TCP 22: разрешить SSH только администраторам</a:t>
            </a:r>
          </a:p>
          <a:p>
            <a:pPr>
              <a:defRPr sz="3600"/>
            </a:pPr>
            <a:r>
              <a:t>zabbix01 -&gt; agents TCP 10050: разрешить passive checks при выбранной модели</a:t>
            </a:r>
          </a:p>
          <a:p>
            <a:pPr>
              <a:defRPr sz="3600"/>
            </a:pPr>
            <a:r>
              <a:t>servers -&gt; backup01 TCP 22: разрешить только по выбранной push или pull backup-модели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Таблица портов превращает firewall в проверяемую политику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OpenVPN: UDP 1194 от external client к vpn01</a:t>
            </a:r>
          </a:p>
          <a:p>
            <a:pPr>
              <a:defRPr sz="3600"/>
            </a:pPr>
            <a:r>
              <a:t>HTTPS: TCP 443 от users или VPN к lb01</a:t>
            </a:r>
          </a:p>
          <a:p>
            <a:pPr>
              <a:defRPr sz="3600"/>
            </a:pPr>
            <a:r>
              <a:t>HAProxy -&gt; Nginx: TCP 80 от lb01 к web01 и web02</a:t>
            </a:r>
          </a:p>
          <a:p>
            <a:pPr>
              <a:defRPr sz="3600"/>
            </a:pPr>
            <a:r>
              <a:t>Submission и IMAPS: TCP 587 и TCP 993 от clients к mail01</a:t>
            </a:r>
          </a:p>
          <a:p>
            <a:pPr>
              <a:defRPr sz="3600"/>
            </a:pPr>
            <a:r>
              <a:t>Zabbix active checks: TCP 10051 от agents к zabbix01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VPN проверяется разрешенным и запрещенным доступом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Валидный client certificate должен устанавливать tunnel до vpn01</a:t>
            </a:r>
          </a:p>
          <a:p>
            <a:pPr>
              <a:defRPr sz="3600"/>
            </a:pPr>
            <a:r>
              <a:t>VPN-клиент должен открыть web через lb01:443</a:t>
            </a:r>
          </a:p>
          <a:p>
            <a:pPr>
              <a:defRPr sz="3600"/>
            </a:pPr>
            <a:r>
              <a:t>VPN-клиент не должен получать SSH-доступ к web01 и web02</a:t>
            </a:r>
          </a:p>
          <a:p>
            <a:pPr>
              <a:defRPr sz="3600"/>
            </a:pPr>
            <a:r>
              <a:t>Отозванный certificate должен блокировать подключение до внутренней сети</a:t>
            </a:r>
          </a:p>
          <a:p>
            <a:pPr>
              <a:defRPr sz="3600"/>
            </a:pPr>
            <a:r>
              <a:t>Без VPN внутреннее имя web-сервиса не должно быть доступно из внешней сети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сетевые зоны и разрешенные firewall-потоки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555888A-5A20-8C61-7525-6F2100498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Развертывание начинается с проектирования, а не с установки пакетов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Сначала утверждаются роли, адреса, имена, сетевые зоны и обязательные сценарии приемки</a:t>
            </a:r>
          </a:p>
          <a:p>
            <a:pPr>
              <a:defRPr sz="3600"/>
            </a:pPr>
            <a:r>
              <a:t>Затем подготавливаются базовая ОС, SSH, время, DNS и management-доступ</a:t>
            </a:r>
          </a:p>
          <a:p>
            <a:pPr>
              <a:defRPr sz="3600"/>
            </a:pPr>
            <a:r>
              <a:t>После этого подключаются Git, backup и monitoring, чтобы изменения сразу фиксировались</a:t>
            </a:r>
          </a:p>
          <a:p>
            <a:pPr>
              <a:defRPr sz="3600"/>
            </a:pPr>
            <a:r>
              <a:t>Сложные сервисы разворачиваются только после появления наблюдаемости и восстановления</a:t>
            </a:r>
          </a:p>
          <a:p>
            <a:pPr>
              <a:defRPr sz="3600"/>
            </a:pPr>
            <a:r>
              <a:t>Финальный этап включает отказные тесты, reboot test, restore и документацию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Базовая ОС должна иметь устойчивые настройки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hostnamectl status показывает hostname и версию ОС: $ hostnamectl status</a:t>
            </a:r>
          </a:p>
          <a:p>
            <a:pPr>
              <a:defRPr sz="3600"/>
            </a:pPr>
            <a:r>
              <a:t>Ожидаемый hostname должен совпадать с naming standard и DNS-записью</a:t>
            </a:r>
          </a:p>
          <a:p>
            <a:pPr>
              <a:defRPr sz="3600"/>
            </a:pPr>
            <a:r>
              <a:t>Команда timedatectl status проверяет синхронизацию времени: $ timedatectl status</a:t>
            </a:r>
          </a:p>
          <a:p>
            <a:pPr>
              <a:defRPr sz="3600"/>
            </a:pPr>
            <a:r>
              <a:t>Для TLS, VPN, Kerberos-подобных механизмов и журналов важно корректное системное время</a:t>
            </a:r>
          </a:p>
          <a:p>
            <a:pPr>
              <a:defRPr sz="3600"/>
            </a:pPr>
            <a:r>
              <a:t>Сетевые адреса проверяются кратко: $ ip -br addr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Git фиксирует изменение только после проверки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git status показывает измененные файлы: $ git status</a:t>
            </a:r>
          </a:p>
          <a:p>
            <a:pPr>
              <a:defRPr sz="3600"/>
            </a:pPr>
            <a:r>
              <a:t>Перед commit администратор читает изменения: $ git diff</a:t>
            </a:r>
          </a:p>
          <a:p>
            <a:pPr>
              <a:defRPr sz="3600"/>
            </a:pPr>
            <a:r>
              <a:t>После staging нужно проверить подготовленное: $ git diff --staged</a:t>
            </a:r>
          </a:p>
          <a:p>
            <a:pPr>
              <a:defRPr sz="3600"/>
            </a:pPr>
            <a:r>
              <a:t>Commit-message должен объяснять сервис и смысл изменения</a:t>
            </a:r>
          </a:p>
          <a:p>
            <a:pPr>
              <a:defRPr sz="3600"/>
            </a:pPr>
            <a:r>
              <a:t>Нельзя коммитить конфигурацию, если она не прошла syntax check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Secret Check выполняется до git add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Secret — пароль, private key, token, .env, VPN profile или backup password</a:t>
            </a:r>
          </a:p>
          <a:p>
            <a:pPr>
              <a:defRPr sz="3600"/>
            </a:pPr>
            <a:r>
              <a:t>Команда git status не показывает секреты внутри файла, поэтому нужен ручной просмотр diff</a:t>
            </a:r>
          </a:p>
          <a:p>
            <a:pPr>
              <a:defRPr sz="3600"/>
            </a:pPr>
            <a:r>
              <a:t>Команда git diff помогает увидеть случайно добавленный пароль до фиксации</a:t>
            </a:r>
          </a:p>
          <a:p>
            <a:pPr>
              <a:defRPr sz="3600"/>
            </a:pPr>
            <a:r>
              <a:t>Файлы с секретами заменяются шаблонами с CHANGE_ME или REDACTED</a:t>
            </a:r>
          </a:p>
          <a:p>
            <a:pPr>
              <a:defRPr sz="3600"/>
            </a:pPr>
            <a:r>
              <a:t>.gitignore не удаляет секрет, который уже попал в историю репозитория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Backup перед изменением должен быть проверенным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RPO (Recovery Point Objective) — допустимая потеря данных по времени</a:t>
            </a:r>
          </a:p>
          <a:p>
            <a:pPr>
              <a:defRPr sz="3600"/>
            </a:pPr>
            <a:r>
              <a:t>Команда restic snapshots показывает доступные точки восстановления: $ restic snapshots</a:t>
            </a:r>
          </a:p>
          <a:p>
            <a:pPr>
              <a:defRPr sz="3600"/>
            </a:pPr>
            <a:r>
              <a:t>Команда restic check проверяет целостность repository: $ restic check</a:t>
            </a:r>
          </a:p>
          <a:p>
            <a:pPr>
              <a:defRPr sz="3600"/>
            </a:pPr>
            <a:r>
              <a:t>Нужно убедиться, что source был смонтирован и backup содержит нужные данные</a:t>
            </a:r>
          </a:p>
          <a:p>
            <a:pPr>
              <a:defRPr sz="3600"/>
            </a:pPr>
            <a:r>
              <a:t>Для критичных сервисов ранее должен быть выполнен test restore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Monitoring после изменения проверяет свежие данные, а не только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Отсутствие Problems не доказывает исправность, если items перестали получать данные</a:t>
            </a:r>
          </a:p>
          <a:p>
            <a:pPr>
              <a:defRPr sz="3600"/>
            </a:pPr>
            <a:r>
              <a:t>Нужно проверить свежесть метрик CPU, RAM, disk, network и service availability</a:t>
            </a:r>
          </a:p>
          <a:p>
            <a:pPr>
              <a:defRPr sz="3600"/>
            </a:pPr>
            <a:r>
              <a:t>Unsupported Item означает, что проверка есть, но фактически не работает</a:t>
            </a:r>
          </a:p>
          <a:p>
            <a:pPr>
              <a:defRPr sz="3600"/>
            </a:pPr>
            <a:r>
              <a:t>Host в Maintenance может скрыть настоящую проблему</a:t>
            </a:r>
          </a:p>
          <a:p>
            <a:pPr>
              <a:defRPr sz="3600"/>
            </a:pPr>
            <a:r>
              <a:t>После изменения обязательно выполняется пользовательский external test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RAID Failure Test выполняется безопасно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RAID (Redundant Array of Independent Disks) — массив дисков с выбранным уровнем отказоустойчивости</a:t>
            </a:r>
          </a:p>
          <a:p>
            <a:pPr>
              <a:defRPr sz="3600"/>
            </a:pPr>
            <a:r>
              <a:t>Отказ диска нельзя демонстрировать на основном хранилище критичных сервисов проекта</a:t>
            </a:r>
          </a:p>
          <a:p>
            <a:pPr>
              <a:defRPr sz="3600"/>
            </a:pPr>
            <a:r>
              <a:t>Лучше использовать отдельную storage VM или отдельный небольшой тестовый массив</a:t>
            </a:r>
          </a:p>
          <a:p>
            <a:pPr>
              <a:defRPr sz="3600"/>
            </a:pPr>
            <a:r>
              <a:t>Перед тестом нужен snapshot или заранее подготовленный учебный стенд</a:t>
            </a:r>
          </a:p>
          <a:p>
            <a:pPr>
              <a:defRPr sz="3600"/>
            </a:pPr>
            <a:r>
              <a:t>В основной инфраструктуре достаточно показать состояние массива и документацию rebuild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безопасный порядок развертывания итогового стенда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B8E2CF9-77BA-5D8A-9442-46C3BFA3F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Диагностика начинается с клиентского пути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Пользовательский путь: client -&gt; DNS -&gt; route/firewall/VPN -&gt; entry point -&gt; service -&gt; dependency -&gt; data</a:t>
            </a:r>
          </a:p>
          <a:p>
            <a:pPr>
              <a:defRPr sz="3600"/>
            </a:pPr>
            <a:r>
              <a:t>Если приложение работает локально, но недоступно пользователю, проверяется путь от клиента</a:t>
            </a:r>
          </a:p>
          <a:p>
            <a:pPr>
              <a:defRPr sz="3600"/>
            </a:pPr>
            <a:r>
              <a:t>Если путь работает, но функция нарушена, проверяются приложение, данные и зависимости</a:t>
            </a:r>
          </a:p>
          <a:p>
            <a:pPr>
              <a:defRPr sz="3600"/>
            </a:pPr>
            <a:r>
              <a:t>Такой порядок уменьшает хаотичные перезапуски служб</a:t>
            </a:r>
          </a:p>
          <a:p>
            <a:pPr>
              <a:defRPr sz="3600"/>
            </a:pPr>
            <a:r>
              <a:t>В отчете фиксируются симптом, гипотеза, проверка, исправление и подтверждение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Ресурсы и ОС проверяются до сложной диагностики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uptime показывает load average: $ uptime</a:t>
            </a:r>
          </a:p>
          <a:p>
            <a:pPr>
              <a:defRPr sz="3600"/>
            </a:pPr>
            <a:r>
              <a:t>Команда free -h помогает увидеть нехватку RAM и swap: $ free -h</a:t>
            </a:r>
          </a:p>
          <a:p>
            <a:pPr>
              <a:defRPr sz="3600"/>
            </a:pPr>
            <a:r>
              <a:t>Команда df -h показывает заполнение файловых систем: $ df -h</a:t>
            </a:r>
          </a:p>
          <a:p>
            <a:pPr>
              <a:defRPr sz="3600"/>
            </a:pPr>
            <a:r>
              <a:t>Команда df -i выявляет исчерпание inode: $ df -i</a:t>
            </a:r>
          </a:p>
          <a:p>
            <a:pPr>
              <a:defRPr sz="3600"/>
            </a:pPr>
            <a:r>
              <a:t>Команда systemctl --failed показывает службы, которые systemd считает отказавшими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Сеть проверяется по адресу, маршруту, DNS и firewall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ip -br addr показывает адреса интерфейсов: $ ip -br addr</a:t>
            </a:r>
          </a:p>
          <a:p>
            <a:pPr>
              <a:defRPr sz="3600"/>
            </a:pPr>
            <a:r>
              <a:t>Команда ip route показывает gateway и маршруты: $ ip route</a:t>
            </a:r>
          </a:p>
          <a:p>
            <a:pPr>
              <a:defRPr sz="3600"/>
            </a:pPr>
            <a:r>
              <a:t>Команда resolvectl query проверяет DNS глазами системы: $ resolvectl query lb01.company.test</a:t>
            </a:r>
          </a:p>
          <a:p>
            <a:pPr>
              <a:defRPr sz="3600"/>
            </a:pPr>
            <a:r>
              <a:t>Команда ss -lntup показывает слушающие TCP и UDP порты: $ sudo ss -lntup</a:t>
            </a:r>
          </a:p>
          <a:p>
            <a:pPr>
              <a:defRPr sz="3600"/>
            </a:pPr>
            <a:r>
              <a:t>Команда nft list ruleset помогает увидеть активные firewall rules: $ sudo nft list ruleset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Служба и приложение проверяются разными командами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systemctl status nginx показывает состояние службы: $ systemctl status nginx</a:t>
            </a:r>
          </a:p>
          <a:p>
            <a:pPr>
              <a:defRPr sz="3600"/>
            </a:pPr>
            <a:r>
              <a:t>Команда journalctl читает журнал службы: $ sudo journalctl -u nginx -n 50</a:t>
            </a:r>
          </a:p>
          <a:p>
            <a:pPr>
              <a:defRPr sz="3600"/>
            </a:pPr>
            <a:r>
              <a:t>Команда nginx -t проверяет синтаксис Nginx до перезапуска: $ sudo nginx -t</a:t>
            </a:r>
          </a:p>
          <a:p>
            <a:pPr>
              <a:defRPr sz="3600"/>
            </a:pPr>
            <a:r>
              <a:t>Команда haproxy -c проверяет конфигурацию балансировщика: $ sudo haproxy -c -f /etc/haproxy/haproxy.cfg</a:t>
            </a:r>
          </a:p>
          <a:p>
            <a:pPr>
              <a:defRPr sz="3600"/>
            </a:pPr>
            <a:r>
              <a:t>Команда docker compose ps показывает состояние контейнеров в текущем compose-проекте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External Test показывает реальный пользовательский результат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Проверка с сервера не заменяет проверку с client01 или admin01</a:t>
            </a:r>
          </a:p>
          <a:p>
            <a:pPr>
              <a:defRPr sz="3600"/>
            </a:pPr>
            <a:r>
              <a:t>Команда curl проверяет HTTP-ответ через entry point: $ curl -I https://web.company.test</a:t>
            </a:r>
          </a:p>
          <a:p>
            <a:pPr>
              <a:defRPr sz="3600"/>
            </a:pPr>
            <a:r>
              <a:t>Ожидаемый результат: код 200, 301 или другой заранее объясненный статус</a:t>
            </a:r>
          </a:p>
          <a:p>
            <a:pPr>
              <a:defRPr sz="3600"/>
            </a:pPr>
            <a:r>
              <a:t>Для Mailcow внутренний тест: user1@company.test отправляет письмо user2@company.test</a:t>
            </a:r>
          </a:p>
          <a:p>
            <a:pPr>
              <a:defRPr sz="3600"/>
            </a:pPr>
            <a:r>
              <a:t>Успех подтверждается доставкой, пустой deferred queue и журналом без критичных ошибок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Отказный тест должен быть безопасным и обратимым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Передусловия показывают, что остальные компоненты готовы к демонстрации</a:t>
            </a:r>
          </a:p>
          <a:p>
            <a:pPr>
              <a:defRPr sz="3600"/>
            </a:pPr>
            <a:r>
              <a:t>Действие отказа должно затрагивать только один заранее выбранный компонент</a:t>
            </a:r>
          </a:p>
          <a:p>
            <a:pPr>
              <a:defRPr sz="3600"/>
            </a:pPr>
            <a:r>
              <a:t>Ожидаемый симптом и Zabbix problem должны быть известны заранее</a:t>
            </a:r>
          </a:p>
          <a:p>
            <a:pPr>
              <a:defRPr sz="3600"/>
            </a:pPr>
            <a:r>
              <a:t>Recovery возвращает сервис в штатное состояние и закрывает проблему</a:t>
            </a:r>
          </a:p>
          <a:p>
            <a:pPr>
              <a:defRPr sz="3600"/>
            </a:pPr>
            <a:r>
              <a:t>После восстановления повторяется пользовательский сценарий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Отозванный VPN-сертификат — это контроль безопасности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Revoked certificate не является поломкой VPN-сервера</a:t>
            </a:r>
          </a:p>
          <a:p>
            <a:pPr>
              <a:defRPr sz="3600"/>
            </a:pPr>
            <a:r>
              <a:t>Это ожидаемый результат security policy, если клиент больше не должен подключаться</a:t>
            </a:r>
          </a:p>
          <a:p>
            <a:pPr>
              <a:defRPr sz="3600"/>
            </a:pPr>
            <a:r>
              <a:t>Пользователь может сообщить, что web01 недоступен, но причина находится до входа в tunnel</a:t>
            </a:r>
          </a:p>
          <a:p>
            <a:pPr>
              <a:defRPr sz="3600"/>
            </a:pPr>
            <a:r>
              <a:t>Диагностика проверяет VPN connection, certificate status, route и firewall</a:t>
            </a:r>
          </a:p>
          <a:p>
            <a:pPr>
              <a:defRPr sz="3600"/>
            </a:pPr>
            <a:r>
              <a:t>Успешный результат: валидный клиент подключается, отозванный клиент отклоняется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Web/HAProxy failure проверяется без остановки всей системы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Перед тестом нужно убедиться, что web02 работает и HAProxy видит оба backend</a:t>
            </a:r>
          </a:p>
          <a:p>
            <a:pPr>
              <a:defRPr sz="3600"/>
            </a:pPr>
            <a:r>
              <a:t>Команда останавливает только web01: $ sudo systemctl stop nginx</a:t>
            </a:r>
          </a:p>
          <a:p>
            <a:pPr>
              <a:defRPr sz="3600"/>
            </a:pPr>
            <a:r>
              <a:t>Ожидаемый результат: HAProxy помечает web01 как DOWN и продолжает отдавать web02</a:t>
            </a:r>
          </a:p>
          <a:p>
            <a:pPr>
              <a:defRPr sz="3600"/>
            </a:pPr>
            <a:r>
              <a:t>После теста служба возвращается: $ sudo systemctl start nginx</a:t>
            </a:r>
          </a:p>
          <a:p>
            <a:pPr>
              <a:defRPr sz="3600"/>
            </a:pPr>
            <a:r>
              <a:t>Recovery подтверждается curl-тестом, HAProxy status и закрытием Zabbix problem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Mailcow-сценарий должен быть конкретным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Отправитель: user1@company.test; получатель: user2@company.test</a:t>
            </a:r>
          </a:p>
          <a:p>
            <a:pPr>
              <a:defRPr sz="3600"/>
            </a:pPr>
            <a:r>
              <a:t>Способ отправки: Webmail или Submission 587 с аутентификацией</a:t>
            </a:r>
          </a:p>
          <a:p>
            <a:pPr>
              <a:defRPr sz="3600"/>
            </a:pPr>
            <a:r>
              <a:t>Ожидаемый результат: письмо появляется у user2 не позднее 60 секунд</a:t>
            </a:r>
          </a:p>
          <a:p>
            <a:pPr>
              <a:defRPr sz="3600"/>
            </a:pPr>
            <a:r>
              <a:t>Очередь не должна содержать Deferred Message после внутренней доставки</a:t>
            </a:r>
          </a:p>
          <a:p>
            <a:pPr>
              <a:defRPr sz="3600"/>
            </a:pPr>
            <a:r>
              <a:t>Проверка mailcow выполняется через supported UI, logs и docker compose ps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Reboot Test выявляет временные настройки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После перезагрузки должны сохраниться mount по UUID, IP forwarding, firewall и routes</a:t>
            </a:r>
          </a:p>
          <a:p>
            <a:pPr>
              <a:defRPr sz="3600"/>
            </a:pPr>
            <a:r>
              <a:t>OpenVPN, HAProxy, Zabbix Agent, Docker и Mailcow containers должны стартовать автоматически</a:t>
            </a:r>
          </a:p>
          <a:p>
            <a:pPr>
              <a:defRPr sz="3600"/>
            </a:pPr>
            <a:r>
              <a:t>Команда systemctl is-enabled проверяет автозапуск службы: $ systemctl is-enabled haproxy</a:t>
            </a:r>
          </a:p>
          <a:p>
            <a:pPr>
              <a:defRPr sz="3600"/>
            </a:pPr>
            <a:r>
              <a:t>Команда mount проверяет фактическое подключение файловых систем: $ mount</a:t>
            </a:r>
          </a:p>
          <a:p>
            <a:pPr>
              <a:defRPr sz="3600"/>
            </a:pPr>
            <a:r>
              <a:t>Проект не принимается, если работает только до первой перезагрузки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Полная остановка стенда требует порядка запуска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После shutdown всех VM сначала запускают DNS и базовую маршрутизацию</a:t>
            </a:r>
          </a:p>
          <a:p>
            <a:pPr>
              <a:defRPr sz="3600"/>
            </a:pPr>
            <a:r>
              <a:t>Затем поднимают storage, backup, zabbix01 и серверы приложений</a:t>
            </a:r>
          </a:p>
          <a:p>
            <a:pPr>
              <a:defRPr sz="3600"/>
            </a:pPr>
            <a:r>
              <a:t>После backend-сервисов запускаются HAProxy, Docker/Mailcow и клиенты</a:t>
            </a:r>
          </a:p>
          <a:p>
            <a:pPr>
              <a:defRPr sz="3600"/>
            </a:pPr>
            <a:r>
              <a:t>Если строгий порядок обязателен, он должен быть описан в документации</a:t>
            </a:r>
          </a:p>
          <a:p>
            <a:pPr>
              <a:defRPr sz="3600"/>
            </a:pPr>
            <a:r>
              <a:t>Идеальная инфраструктура выдерживает задержки зависимостей без ручной настройки каждой службы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диагностика от клиента до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567876-A16E-4069-D076-9582F5559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Эксплуатационная инструкция описывает ежедневное сопровождение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Эксплуатационная инструкция нужна администратору, который будет обслуживать стенд после автора</a:t>
            </a:r>
          </a:p>
          <a:p>
            <a:pPr>
              <a:defRPr sz="3600"/>
            </a:pPr>
            <a:r>
              <a:t>Она описывает назначение сервиса, сервер, IP, зависимости, порты и конфигурационные файлы</a:t>
            </a:r>
          </a:p>
          <a:p>
            <a:pPr>
              <a:defRPr sz="3600"/>
            </a:pPr>
            <a:r>
              <a:t>В ней указываются ежедневные проверки, журналы, типовые предупреждения Zabbix и rollback</a:t>
            </a:r>
          </a:p>
          <a:p>
            <a:pPr>
              <a:defRPr sz="3600"/>
            </a:pPr>
            <a:r>
              <a:t>Команды должны иметь назначение, ожидаемый результат и способ интерпретации</a:t>
            </a:r>
          </a:p>
          <a:p>
            <a:pPr>
              <a:defRPr sz="3600"/>
            </a:pPr>
            <a:r>
              <a:t>Документ должен совпадать с фактически настроенной системой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Шаблон эксплуатационной инструкции фиксирует одинаковый стандарт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Раздел 1: назначение сервиса, владелец, сервер, IP и доменное имя</a:t>
            </a:r>
          </a:p>
          <a:p>
            <a:pPr>
              <a:defRPr sz="3600"/>
            </a:pPr>
            <a:r>
              <a:t>Раздел 2: зависимости, порты, firewall rules и конфигурационные файлы</a:t>
            </a:r>
          </a:p>
          <a:p>
            <a:pPr>
              <a:defRPr sz="3600"/>
            </a:pPr>
            <a:r>
              <a:t>Раздел 3: команды ежедневной проверки и нормальные признаки работы</a:t>
            </a:r>
          </a:p>
          <a:p>
            <a:pPr>
              <a:defRPr sz="3600"/>
            </a:pPr>
            <a:r>
              <a:t>Раздел 4: журналы, типовые alerts, безопасное изменение и rollback</a:t>
            </a:r>
          </a:p>
          <a:p>
            <a:pPr>
              <a:defRPr sz="3600"/>
            </a:pPr>
            <a:r>
              <a:t>Раздел 5: эскалация, ограничения и связанные runbooks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Recovery Runbook нужен для каждого критичного сервиса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Runbook — пошаговая инструкция восстановления после известного отказа</a:t>
            </a:r>
          </a:p>
          <a:p>
            <a:pPr>
              <a:defRPr sz="3600"/>
            </a:pPr>
            <a:r>
              <a:t>Минимум нужны runbooks для DNS, VPN, Web/HAProxy, Backup, Zabbix и Mailcow при полном варианте</a:t>
            </a:r>
          </a:p>
          <a:p>
            <a:pPr>
              <a:defRPr sz="3600"/>
            </a:pPr>
            <a:r>
              <a:t>Каждый runbook содержит Preconditions, Failure Action, Symptoms, Diagnosis, Fix, Recovery и Confirmation</a:t>
            </a:r>
          </a:p>
          <a:p>
            <a:pPr>
              <a:defRPr sz="3600"/>
            </a:pPr>
            <a:r>
              <a:t>Для restore указываются backup source, repository, команда восстановления и проверка сервиса</a:t>
            </a:r>
          </a:p>
          <a:p>
            <a:pPr>
              <a:defRPr sz="3600"/>
            </a:pPr>
            <a:r>
              <a:t>Одна демонстрация restore полезна, но для итоговой документации одного сервиса недостаточно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Исполнительная документация показывает фактический стенд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As-built documentation — описание того, что реально развернуто, а не что планировалось</a:t>
            </a:r>
          </a:p>
          <a:p>
            <a:pPr>
              <a:defRPr sz="3600"/>
            </a:pPr>
            <a:r>
              <a:t>Она включает логическую схему, схему интерфейсов, адресный план и DNS Zone Table</a:t>
            </a:r>
          </a:p>
          <a:p>
            <a:pPr>
              <a:defRPr sz="3600"/>
            </a:pPr>
            <a:r>
              <a:t>Нужны firewall matrix, список портов, certificates, volumes, mounts и backup schedule</a:t>
            </a:r>
          </a:p>
          <a:p>
            <a:pPr>
              <a:defRPr sz="3600"/>
            </a:pPr>
            <a:r>
              <a:t>Отдельно фиксируются версии ПО, Zabbix items/triggers и известные ограничения</a:t>
            </a:r>
          </a:p>
          <a:p>
            <a:pPr>
              <a:defRPr sz="3600"/>
            </a:pPr>
            <a:r>
              <a:t>Без as-built документации восстановление и проверка проекта становятся догадкой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Таблица конфигурационных файлов ускоряет проверку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OpenVPN: /etc/openvpn/server/server.conf и проверка подключения клиента</a:t>
            </a:r>
          </a:p>
          <a:p>
            <a:pPr>
              <a:defRPr sz="3600"/>
            </a:pPr>
            <a:r>
              <a:t>HAProxy: /etc/haproxy/haproxy.cfg и проверка $ sudo haproxy -c -f /etc/haproxy/haproxy.cfg</a:t>
            </a:r>
          </a:p>
          <a:p>
            <a:pPr>
              <a:defRPr sz="3600"/>
            </a:pPr>
            <a:r>
              <a:t>Nginx: /etc/nginx/sites-enabled/ и проверка $ sudo nginx -t</a:t>
            </a:r>
          </a:p>
          <a:p>
            <a:pPr>
              <a:defRPr sz="3600"/>
            </a:pPr>
            <a:r>
              <a:t>Docker: compose.yaml и проверка $ docker compose config</a:t>
            </a:r>
          </a:p>
          <a:p>
            <a:pPr>
              <a:defRPr sz="3600"/>
            </a:pPr>
            <a:r>
              <a:t>Bash health check: /usr/local/sbin/server-health.sh и проверка $ bash -n server-health.sh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Инвентаризация версий делает проект воспроизводимым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Фиксируются OS version, kernel, OpenVPN, HAProxy, Docker Engine и Docker Compose</a:t>
            </a:r>
          </a:p>
          <a:p>
            <a:pPr>
              <a:defRPr sz="3600"/>
            </a:pPr>
            <a:r>
              <a:t>Для полного варианта фиксируются Mailcow release, Zabbix Server/Agent и backup tool</a:t>
            </a:r>
          </a:p>
          <a:p>
            <a:pPr>
              <a:defRPr sz="3600"/>
            </a:pPr>
            <a:r>
              <a:t>Команда uname -r показывает версию ядра: $ uname -r</a:t>
            </a:r>
          </a:p>
          <a:p>
            <a:pPr>
              <a:defRPr sz="3600"/>
            </a:pPr>
            <a:r>
              <a:t>Команда lsb_release -a или cat /etc/os-release показывает версию дистрибутива</a:t>
            </a:r>
          </a:p>
          <a:p>
            <a:pPr>
              <a:defRPr sz="3600"/>
            </a:pPr>
            <a:r>
              <a:t>Несовпадение версий может сломать restore, update или повторную сборку стенда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Change Record связывает Git, backup и проверку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Change Record содержит дату, сервис, причину, исполнителя и измененные файлы</a:t>
            </a:r>
          </a:p>
          <a:p>
            <a:pPr>
              <a:defRPr sz="3600"/>
            </a:pPr>
            <a:r>
              <a:t>Перед изменением указываются backup, syntax check и ожидаемый rollback</a:t>
            </a:r>
          </a:p>
          <a:p>
            <a:pPr>
              <a:defRPr sz="3600"/>
            </a:pPr>
            <a:r>
              <a:t>После изменения фиксируются Git commit, команды проверки и результат monitoring</a:t>
            </a:r>
          </a:p>
          <a:p>
            <a:pPr>
              <a:defRPr sz="3600"/>
            </a:pPr>
            <a:r>
              <a:t>Для командного проекта запись показывает вклад участника и ответственность</a:t>
            </a:r>
          </a:p>
          <a:p>
            <a:pPr>
              <a:defRPr sz="3600"/>
            </a:pPr>
            <a:r>
              <a:t>Без Change Record трудно объяснить, почему система сейчас настроена именно так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Матрица ответственности нужна даже в учебном проекте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каждого сервиса указывается владелец настройки и владелец восстановления</a:t>
            </a:r>
          </a:p>
          <a:p>
            <a:pPr>
              <a:defRPr sz="3600"/>
            </a:pPr>
            <a:r>
              <a:t>Отдельно определяется, кто управляет CA, firewall, backup repository и Git</a:t>
            </a:r>
          </a:p>
          <a:p>
            <a:pPr>
              <a:defRPr sz="3600"/>
            </a:pPr>
            <a:r>
              <a:t>Root-доступ и доступ к backup не должны быть общими без учета</a:t>
            </a:r>
          </a:p>
          <a:p>
            <a:pPr>
              <a:defRPr sz="3600"/>
            </a:pPr>
            <a:r>
              <a:t>Командный проект оценивает не только результат, но и вклад участников</a:t>
            </a:r>
          </a:p>
          <a:p>
            <a:pPr>
              <a:defRPr sz="3600"/>
            </a:pPr>
            <a:r>
              <a:t>Ответственность помогает понять, кто объясняет сервис на защите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Реальные секреты запрещены во всех сдаваемых артефактах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Секреты не должны попадать в screenshots, logs, shell history, PCAP и отчеты</a:t>
            </a:r>
          </a:p>
          <a:p>
            <a:pPr>
              <a:defRPr sz="3600"/>
            </a:pPr>
            <a:r>
              <a:t>.env, private keys, OpenVPN profiles и backup passwords заменяются шаблонами</a:t>
            </a:r>
          </a:p>
          <a:p>
            <a:pPr>
              <a:defRPr sz="3600"/>
            </a:pPr>
            <a:r>
              <a:t>Вместо значения используется REDACTED, CHANGE_ME или SECRET_STORED_SEPARATELY</a:t>
            </a:r>
          </a:p>
          <a:p>
            <a:pPr>
              <a:defRPr sz="3600"/>
            </a:pPr>
            <a:r>
              <a:t>Преподаватель проверяет факт настройки без публикации секретного значения</a:t>
            </a:r>
          </a:p>
          <a:p>
            <a:pPr>
              <a:defRPr sz="3600"/>
            </a:pPr>
            <a:r>
              <a:t>Секреты в Git или отчете являются критической ошибкой безопасности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Пакет сдачи должен быть полным и согласованным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Схема сети, address plan, DNS records и firewall matrix должны ссылаться на одни имена</a:t>
            </a:r>
          </a:p>
          <a:p>
            <a:pPr>
              <a:defRPr sz="3600"/>
            </a:pPr>
            <a:r>
              <a:t>Git repository должен содержать scripts, sanitized configs, README и Change Record</a:t>
            </a:r>
          </a:p>
          <a:p>
            <a:pPr>
              <a:defRPr sz="3600"/>
            </a:pPr>
            <a:r>
              <a:t>Backup documentation должна показывать RPO, schedule, retention и test restore</a:t>
            </a:r>
          </a:p>
          <a:p>
            <a:pPr>
              <a:defRPr sz="3600"/>
            </a:pPr>
            <a:r>
              <a:t>Zabbix documentation должна показывать hosts, items, triggers и проверенные scenarios</a:t>
            </a:r>
          </a:p>
          <a:p>
            <a:pPr>
              <a:defRPr sz="3600"/>
            </a:pPr>
            <a:r>
              <a:t>Журнал неисправностей фиксирует symptoms, hypothesis, commands, fix и confirmation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Система оценивания переводит проект в 100 баллов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Архитектура, naming и address plan — 10 баллов</a:t>
            </a:r>
          </a:p>
          <a:p>
            <a:pPr>
              <a:defRPr sz="3600"/>
            </a:pPr>
            <a:r>
              <a:t>DNS, VPN, Web/HAProxy, Bash/Git и Storage — по 10 баллов</a:t>
            </a:r>
          </a:p>
          <a:p>
            <a:pPr>
              <a:defRPr sz="3600"/>
            </a:pPr>
            <a:r>
              <a:t>Backup and Restore — 15 баллов, потому что restore подтверждает ценность backup</a:t>
            </a:r>
          </a:p>
          <a:p>
            <a:pPr>
              <a:defRPr sz="3600"/>
            </a:pPr>
            <a:r>
              <a:t>Zabbix — 10 баллов; Docker/Mailcow или расширенная часть — 10 баллов</a:t>
            </a:r>
          </a:p>
          <a:p>
            <a:pPr>
              <a:defRPr sz="3600"/>
            </a:pPr>
            <a:r>
              <a:t>Документация и защита — 5 баллов при отсутствии критических нарушений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Критические условия непринятия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Нет проверенного restore или студент не может объяснить процедуру восстановления</a:t>
            </a:r>
          </a:p>
          <a:p>
            <a:pPr>
              <a:defRPr sz="3600"/>
            </a:pPr>
            <a:r>
              <a:t>Реальные секреты опубликованы в Git, отчете, скриншотах или истории команд</a:t>
            </a:r>
          </a:p>
          <a:p>
            <a:pPr>
              <a:defRPr sz="3600"/>
            </a:pPr>
            <a:r>
              <a:t>Open Relay, полный admin-доступ из user network или отсутствующий firewall control</a:t>
            </a:r>
          </a:p>
          <a:p>
            <a:pPr>
              <a:defRPr sz="3600"/>
            </a:pPr>
            <a:r>
              <a:t>Невозможно объяснить address plan, DNS role или зависимости сервисов</a:t>
            </a:r>
          </a:p>
          <a:p>
            <a:pPr>
              <a:defRPr sz="3600"/>
            </a:pPr>
            <a:r>
              <a:t>Сервисы работают случайно и не восстанавливаются после reboot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Приемочные тесты штатной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DNS lookup всех серверов возвращает адреса из address plan</a:t>
            </a:r>
          </a:p>
          <a:p>
            <a:pPr>
              <a:defRPr sz="3600"/>
            </a:pPr>
            <a:r>
              <a:t>VPN valid certificate устанавливает tunnel, а внутренний web открывается через lb01</a:t>
            </a:r>
          </a:p>
          <a:p>
            <a:pPr>
              <a:defRPr sz="3600"/>
            </a:pPr>
            <a:r>
              <a:t>HAProxy распределяет трафик между web01 и web02</a:t>
            </a:r>
          </a:p>
          <a:p>
            <a:pPr>
              <a:defRPr sz="3600"/>
            </a:pPr>
            <a:r>
              <a:t>server-health.sh возвращает понятный output и корректный exit code</a:t>
            </a:r>
          </a:p>
          <a:p>
            <a:pPr>
              <a:defRPr sz="3600"/>
            </a:pPr>
            <a:r>
              <a:t>Mailcow в полном варианте доставляет письмо user1@company.test -&gt; user2@company.test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Приемочные тесты безопасности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VPN user может открыть разрешенный web, но не может зайти по SSH на backend</a:t>
            </a:r>
          </a:p>
          <a:p>
            <a:pPr>
              <a:defRPr sz="3600"/>
            </a:pPr>
            <a:r>
              <a:t>Revoked VPN certificate не устанавливает tunnel</a:t>
            </a:r>
          </a:p>
          <a:p>
            <a:pPr>
              <a:defRPr sz="3600"/>
            </a:pPr>
            <a:r>
              <a:t>Management UI доступны только с admin01 или management network</a:t>
            </a:r>
          </a:p>
          <a:p>
            <a:pPr>
              <a:defRPr sz="3600"/>
            </a:pPr>
            <a:r>
              <a:t>В Git и отчете нет реальных секретов, private keys и паролей</a:t>
            </a:r>
          </a:p>
          <a:p>
            <a:pPr>
              <a:defRPr sz="3600"/>
            </a:pPr>
            <a:r>
              <a:t>Firewall matrix совпадает с фактическими nftables или другими правилами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Приемочные тесты отказа и восстановления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Остановка web01 переводит backend в DOWN, но web продолжает работать через web02</a:t>
            </a:r>
          </a:p>
          <a:p>
            <a:pPr>
              <a:defRPr sz="3600"/>
            </a:pPr>
            <a:r>
              <a:t>Zabbix показывает problem и закрывает его после recovery</a:t>
            </a:r>
          </a:p>
          <a:p>
            <a:pPr>
              <a:defRPr sz="3600"/>
            </a:pPr>
            <a:r>
              <a:t>Test restore восстанавливает выбранный сервис и фиксирует фактический RTO</a:t>
            </a:r>
          </a:p>
          <a:p>
            <a:pPr>
              <a:defRPr sz="3600"/>
            </a:pPr>
            <a:r>
              <a:t>Docker container пересоздается без потери persistent data</a:t>
            </a:r>
          </a:p>
          <a:p>
            <a:pPr>
              <a:defRPr sz="3600"/>
            </a:pPr>
            <a:r>
              <a:t>Reboot всех ключевых узлов сохраняет работоспособность сервисов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Инфографика: матрица приемки итогового Linux-проекта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6BCAE32-EF8D-A4BB-1639-8D13E8D18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Итоговый проект оценивает связанную инфраструктуру, а не отдельные установленные службы</a:t>
            </a:r>
          </a:p>
          <a:p>
            <a:pPr>
              <a:defRPr sz="3600"/>
            </a:pPr>
            <a:r>
              <a:t>DNS, addressing, firewall matrix и dependency matrix делают стенд проверяемым</a:t>
            </a:r>
          </a:p>
          <a:p>
            <a:pPr>
              <a:defRPr sz="3600"/>
            </a:pPr>
            <a:r>
              <a:t>Git, backup и monitoring должны появиться до сложных изменений, а не после проблем</a:t>
            </a:r>
          </a:p>
          <a:p>
            <a:pPr>
              <a:defRPr sz="3600"/>
            </a:pPr>
            <a:r>
              <a:t>Диагностика идет от client path и базовых ресурсов к службам, приложениям и данным</a:t>
            </a:r>
          </a:p>
          <a:p>
            <a:pPr>
              <a:defRPr sz="3600"/>
            </a:pPr>
            <a:r>
              <a:t>Проект считается завершенным только после acceptance tests, reboot test и проверенного restore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Почему в итоговом проекте нужно явно определить, где находится DNS-сервер?</a:t>
            </a:r>
          </a:p>
          <a:p>
            <a:pPr>
              <a:defRPr sz="3600"/>
            </a:pPr>
            <a:r>
              <a:t>Чем отличается production traffic от management traffic и backup traffic?</a:t>
            </a:r>
          </a:p>
          <a:p>
            <a:pPr>
              <a:defRPr sz="3600"/>
            </a:pPr>
            <a:r>
              <a:t>Почему отсутствие Zabbix problems не всегда доказывает исправность сервиса?</a:t>
            </a:r>
          </a:p>
          <a:p>
            <a:pPr>
              <a:defRPr sz="3600"/>
            </a:pPr>
            <a:r>
              <a:t>Какие проверки нужно выполнить перед Git commit конфигурационного изменения?</a:t>
            </a:r>
          </a:p>
          <a:p>
            <a:pPr>
              <a:defRPr sz="3600"/>
            </a:pPr>
            <a:r>
              <a:t>Почему backup без test restore нельзя считать достаточным результатом?</a:t>
            </a:r>
          </a:p>
          <a:p>
            <a:pPr>
              <a:defRPr sz="3600"/>
            </a:pPr>
            <a:r>
              <a:t>Как проверить, что VPN дает разрешенный доступ и запрещает лишний?</a:t>
            </a:r>
          </a:p>
          <a:p>
            <a:pPr>
              <a:defRPr sz="3600"/>
            </a:pPr>
            <a:r>
              <a:t>Какие условия должны приводить к непринятию итогового проекта?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3551</Words>
  <Application>Microsoft Office PowerPoint</Application>
  <PresentationFormat>Широкоэкранный</PresentationFormat>
  <Paragraphs>328</Paragraphs>
  <Slides>60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2026-07-28T11:22:28Z</dcterms:modified>
  <cp:category/>
</cp:coreProperties>
</file>