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7. Централизованное управление обновлениями: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зачем организации нужен централизованный процесс обновлений</a:t>
            </a:r>
          </a:p>
          <a:p>
            <a:pPr>
              <a:defRPr sz="3600"/>
            </a:pPr>
            <a:r>
              <a:t>Объяснять архитектуру WSUS: служба, IIS, SUSDB, content directory и клиенты</a:t>
            </a:r>
          </a:p>
          <a:p>
            <a:pPr>
              <a:defRPr sz="3600"/>
            </a:pPr>
            <a:r>
              <a:t>Настраивать базовую модель rings: Pilot, Workstations и Servers</a:t>
            </a:r>
          </a:p>
          <a:p>
            <a:pPr>
              <a:defRPr sz="3600"/>
            </a:pPr>
            <a:r>
              <a:t>Проверять GPO, регистрацию клиента, approval, reports, cleanup и риски reboot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Риски обновлений, WSUS architecture и synchronization.</a:t>
            </a:r>
          </a:p>
          <a:p>
            <a:pPr>
              <a:defRPr sz="3600"/>
            </a:pPr>
            <a:r>
              <a:t>2. Products, classifications, languages и content storage.</a:t>
            </a:r>
          </a:p>
          <a:p>
            <a:pPr>
              <a:defRPr sz="3600"/>
            </a:pPr>
            <a:r>
              <a:t>3. Computer groups, Client-Side Targeting и update rings.</a:t>
            </a:r>
          </a:p>
          <a:p>
            <a:pPr>
              <a:defRPr sz="3600"/>
            </a:pPr>
            <a:r>
              <a:t>4. Approval, decline, removal, GPO и reboot deadlines.</a:t>
            </a:r>
          </a:p>
          <a:p>
            <a:pPr>
              <a:defRPr sz="3600"/>
            </a:pPr>
            <a:r>
              <a:t>5. Reports, cleanup, отсутствующие clients и риски critical servers.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WSUS01 устанавливается в доменной сети company.test</a:t>
            </a:r>
          </a:p>
          <a:p>
            <a:pPr>
              <a:defRPr sz="3600"/>
            </a:pPr>
            <a:r>
              <a:t>Content storage размещается на отдельном томе D:\WSUS</a:t>
            </a:r>
          </a:p>
          <a:p>
            <a:pPr>
              <a:defRPr sz="3600"/>
            </a:pPr>
            <a:r>
              <a:t>Клиенты CL-PILOT, CL-WORK01 и SRV-TEST01 получают настройки через GPO</a:t>
            </a:r>
          </a:p>
          <a:p>
            <a:pPr>
              <a:defRPr sz="3600"/>
            </a:pPr>
            <a:r>
              <a:t>Обновление сначала утверждается для Pilot, затем продвигается дальше по rings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Риски обновлений и место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Обновления закрывают уязвимости, исправляют ошибки и меняют компоненты ОС</a:t>
            </a:r>
          </a:p>
          <a:p>
            <a:pPr>
              <a:defRPr sz="3600"/>
            </a:pPr>
            <a:r>
              <a:t>То же обновление может вызвать несовместимость, сбой службы или неожиданный reboot</a:t>
            </a:r>
          </a:p>
          <a:p>
            <a:pPr>
              <a:defRPr sz="3600"/>
            </a:pPr>
            <a:r>
              <a:t>WSUS (Windows Server Update Services) превращает обновления в управляемый процесс</a:t>
            </a:r>
          </a:p>
          <a:p>
            <a:pPr>
              <a:defRPr sz="3600"/>
            </a:pPr>
            <a:r>
              <a:t>Задача администратора: тестировать, утверждать, контролировать и документировать изменения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нельзя обновлять весь парк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Одинаковое обновление может по-разному повлиять на рабочую станцию, сервер и приложение</a:t>
            </a:r>
          </a:p>
          <a:p>
            <a:pPr>
              <a:defRPr sz="3600"/>
            </a:pPr>
            <a:r>
              <a:t>Массовый reboot серверов способен остановить домен, почту, файлы или виртуальные машины</a:t>
            </a:r>
          </a:p>
          <a:p>
            <a:pPr>
              <a:defRPr sz="3600"/>
            </a:pPr>
            <a:r>
              <a:t>Без отчетов администратор не понимает, кто уже обновился, а кто остался уязвимым</a:t>
            </a:r>
          </a:p>
          <a:p>
            <a:pPr>
              <a:defRPr sz="3600"/>
            </a:pPr>
            <a:r>
              <a:t>Правильная модель: сначала Pilot, затем основная группа, затем критичные серверы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WSUS управляет жизненным циклом обновления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WSUS получает сведения об обновлениях от Microsoft Update</a:t>
            </a:r>
          </a:p>
          <a:p>
            <a:pPr>
              <a:defRPr sz="3600"/>
            </a:pPr>
            <a:r>
              <a:t>Затем администратор выбирает продукты, типы обновлений, языки и группы компьютеров</a:t>
            </a:r>
          </a:p>
          <a:p>
            <a:pPr>
              <a:defRPr sz="3600"/>
            </a:pPr>
            <a:r>
              <a:t>После approval клиент получает право скачать и установить конкретное обновление</a:t>
            </a:r>
          </a:p>
          <a:p>
            <a:pPr>
              <a:defRPr sz="3600"/>
            </a:pPr>
            <a:r>
              <a:t>Reports показывают Needed, Installed, Failed, No Status и другие состояния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Компоненты архитектуры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WSUS Service управляет синхронизацией, approval, группами и логикой обновлений</a:t>
            </a:r>
          </a:p>
          <a:p>
            <a:pPr>
              <a:defRPr sz="3600"/>
            </a:pPr>
            <a:r>
              <a:t>IIS (Internet Information Services) обслуживает HTTP/HTTPS-запросы клиентов</a:t>
            </a:r>
          </a:p>
          <a:p>
            <a:pPr>
              <a:defRPr sz="3600"/>
            </a:pPr>
            <a:r>
              <a:t>SUSDB хранит метаданные, approvals, группы, статусы и историю синхронизации</a:t>
            </a:r>
          </a:p>
          <a:p>
            <a:pPr>
              <a:defRPr sz="3600"/>
            </a:pPr>
            <a:r>
              <a:t>Content Directory хранит файлы обновлений, которые скачивают клиенты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архитектура WSUS в доменной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0F0860-ADC0-C0A6-1276-55A41F978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SUSDB и Content Directory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SUSDB — база данных WSUS: что утверждено, для кого, когда и с каким статусом</a:t>
            </a:r>
          </a:p>
          <a:p>
            <a:pPr>
              <a:defRPr sz="3600"/>
            </a:pPr>
            <a:r>
              <a:t>Content Directory — файловое хранилище пакетов обновлений, например D:\WSUS</a:t>
            </a:r>
          </a:p>
          <a:p>
            <a:pPr>
              <a:defRPr sz="3600"/>
            </a:pPr>
            <a:r>
              <a:t>Заполненный D:\WSUS ломает загрузку content, но не объясняет все ошибки WSUS</a:t>
            </a:r>
          </a:p>
          <a:p>
            <a:pPr>
              <a:defRPr sz="3600"/>
            </a:pPr>
            <a:r>
              <a:t>Проблемы также могут быть в SUSDB, IIS, синхронизации, DNS, GPO или службах клиента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WID или внешний SQL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WID (Windows Internal Database) — локальная встроенная база, достаточная для учебного стенда</a:t>
            </a:r>
          </a:p>
          <a:p>
            <a:pPr>
              <a:defRPr sz="3600"/>
            </a:pPr>
            <a:r>
              <a:t>SQL Server используют, если архитектура требует отдельную БД, масштабирование или отдельное обслуживание</a:t>
            </a:r>
          </a:p>
          <a:p>
            <a:pPr>
              <a:defRPr sz="3600"/>
            </a:pPr>
            <a:r>
              <a:t>В лаборатории фиксируем вариант: WSUS01 использует WID и локальное хранилище D:\WSUS</a:t>
            </a:r>
          </a:p>
          <a:p>
            <a:pPr>
              <a:defRPr sz="3600"/>
            </a:pPr>
            <a:r>
              <a:t>Смешивать варианты установки без плана нельзя: меняются зависимости и процедуры восстановления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Metadata Synchronization и Content Download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Metadata Synchronization загружает сведения: products, classifications, applicability rules, license terms</a:t>
            </a:r>
          </a:p>
          <a:p>
            <a:pPr>
              <a:defRPr sz="3600"/>
            </a:pPr>
            <a:r>
              <a:t>Content Download загружает сами файлы обновлений, которые потом скачивают клиенты</a:t>
            </a:r>
          </a:p>
          <a:p>
            <a:pPr>
              <a:defRPr sz="3600"/>
            </a:pPr>
            <a:r>
              <a:t>Успешная synchronization не доказывает, что approved update уже скачан</a:t>
            </a:r>
          </a:p>
          <a:p>
            <a:pPr>
              <a:defRPr sz="3600"/>
            </a:pPr>
            <a:r>
              <a:t>При приемке нужно различать: metadata получены, update approved, content downloaded, client installed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фиксировать после initial synchronization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Время начала и завершения синхронизации</a:t>
            </a:r>
          </a:p>
          <a:p>
            <a:pPr>
              <a:defRPr sz="3600"/>
            </a:pPr>
            <a:r>
              <a:t>Result: successful, failed или completed with warnings</a:t>
            </a:r>
          </a:p>
          <a:p>
            <a:pPr>
              <a:defRPr sz="3600"/>
            </a:pPr>
            <a:r>
              <a:t>Количество New Updates и Revised Updates</a:t>
            </a:r>
          </a:p>
          <a:p>
            <a:pPr>
              <a:defRPr sz="3600"/>
            </a:pPr>
            <a:r>
              <a:t>Ошибки, свободное место на D:\WSUS и состояние content download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лабораторная топология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DC01: AD DS, DNS и Group Policy</a:t>
            </a:r>
          </a:p>
          <a:p>
            <a:pPr>
              <a:defRPr sz="3600"/>
            </a:pPr>
            <a:r>
              <a:t>WSUS01: WSUS, IIS, WID и D:\WSUS</a:t>
            </a:r>
          </a:p>
          <a:p>
            <a:pPr>
              <a:defRPr sz="3600"/>
            </a:pPr>
            <a:r>
              <a:t>CL-PILOT: пилотная рабочая станция</a:t>
            </a:r>
          </a:p>
          <a:p>
            <a:pPr>
              <a:defRPr sz="3600"/>
            </a:pPr>
            <a:r>
              <a:t>CL-WORK01 и SRV-TEST01: обычный клиент и тестовый сервер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доступных компонентов 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Get-WindowsFeature *UpdateServices* — показывает компоненты роли WSUS</a:t>
            </a:r>
          </a:p>
          <a:p>
            <a:pPr>
              <a:defRPr sz="3600"/>
            </a:pPr>
            <a:r>
              <a:t>Пример: Get-WindowsFeature *UpdateServices*</a:t>
            </a:r>
          </a:p>
          <a:p>
            <a:pPr>
              <a:defRPr sz="3600"/>
            </a:pPr>
            <a:r>
              <a:t>Ожидаемый результат: видны UpdateServices, UpdateServices-WidDB и UpdateServices-Services</a:t>
            </a:r>
          </a:p>
          <a:p>
            <a:pPr>
              <a:defRPr sz="3600"/>
            </a:pPr>
            <a:r>
              <a:t>Эта проверка нужна до установки, чтобы студент видел реальные названия role services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WSUS с WID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Install-WindowsFeature — устанавливает роль и выбранные компоненты</a:t>
            </a:r>
          </a:p>
          <a:p>
            <a:pPr>
              <a:defRPr sz="3600"/>
            </a:pPr>
            <a:r>
              <a:t>Пример: Install-WindowsFeature -Name UpdateServices,UpdateServices-WidDB,UpdateServices-Services -IncludeManagementTools</a:t>
            </a:r>
          </a:p>
          <a:p>
            <a:pPr>
              <a:defRPr sz="3600"/>
            </a:pPr>
            <a:r>
              <a:t>Ожидаемый результат: роль установлена, доступны консоль WSUS и PowerShell-модуль UpdateServices</a:t>
            </a:r>
          </a:p>
          <a:p>
            <a:pPr>
              <a:defRPr sz="3600"/>
            </a:pPr>
            <a:r>
              <a:t>После установки обязательно выполняется post-install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Post-install выполняют полным путём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New-Item — заранее создает каталог для файлов обновлений</a:t>
            </a:r>
          </a:p>
          <a:p>
            <a:pPr>
              <a:defRPr sz="3600"/>
            </a:pPr>
            <a:r>
              <a:t>Пример: New-Item -ItemType Directory -Path D:\WSUS -Force</a:t>
            </a:r>
          </a:p>
          <a:p>
            <a:pPr>
              <a:defRPr sz="3600"/>
            </a:pPr>
            <a:r>
              <a:t>Команда: wsusutil.exe postinstall — связывает WSUS с content directory</a:t>
            </a:r>
          </a:p>
          <a:p>
            <a:pPr>
              <a:defRPr sz="3600"/>
            </a:pPr>
            <a:r>
              <a:t>Пример: &amp; 'C:\Program Files\Update Services\Tools\wsusutil.exe' postinstall CONTENT_DIR=D:\WSUS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установки и служб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Get-WindowsFeature — подтверждает установленные компоненты</a:t>
            </a:r>
          </a:p>
          <a:p>
            <a:pPr>
              <a:defRPr sz="3600"/>
            </a:pPr>
            <a:r>
              <a:t>Пример: Get-WindowsFeature *UpdateServices* | Where-Object {$_.InstallState -eq 'Installed'}</a:t>
            </a:r>
          </a:p>
          <a:p>
            <a:pPr>
              <a:defRPr sz="3600"/>
            </a:pPr>
            <a:r>
              <a:t>Команда: Get-Service — проверяет службы WSUS, IIS и BITS</a:t>
            </a:r>
          </a:p>
          <a:p>
            <a:pPr>
              <a:defRPr sz="3600"/>
            </a:pPr>
            <a:r>
              <a:t>Пример: Get-Service WsusService,W3SVC,BITS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IIS является обязательной частью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Windows Update Agent обращается к WSUS через IIS</a:t>
            </a:r>
          </a:p>
          <a:p>
            <a:pPr>
              <a:defRPr sz="3600"/>
            </a:pPr>
            <a:r>
              <a:t>Стандартный HTTP-порт WSUS: 8530, HTTPS-порт: 8531</a:t>
            </a:r>
          </a:p>
          <a:p>
            <a:pPr>
              <a:defRPr sz="3600"/>
            </a:pPr>
            <a:r>
              <a:t>Если IIS остановлен или application pool неисправен, клиенты не смогут получить обновления</a:t>
            </a:r>
          </a:p>
          <a:p>
            <a:pPr>
              <a:defRPr sz="3600"/>
            </a:pPr>
            <a:r>
              <a:t>Проверка WSUS без проверки IIS считается неполной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Products, classifications, languages и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Products отвечают на вопрос: какие продукты Microsoft обслуживает WSUS</a:t>
            </a:r>
          </a:p>
          <a:p>
            <a:pPr>
              <a:defRPr sz="3600"/>
            </a:pPr>
            <a:r>
              <a:t>Classifications отвечают на вопрос: какие типы обновлений попадут в процесс</a:t>
            </a:r>
          </a:p>
          <a:p>
            <a:pPr>
              <a:defRPr sz="3600"/>
            </a:pPr>
            <a:r>
              <a:t>Languages отвечают на вопрос: какие языковые версии файлов нужно хранить</a:t>
            </a:r>
          </a:p>
          <a:p>
            <a:pPr>
              <a:defRPr sz="3600"/>
            </a:pPr>
            <a:r>
              <a:t>Content storage отвечает на вопрос: где физически лежат пакеты обновлений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Products выбирают по реальному парку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стенда достаточно выбрать используемую клиентскую ОС: Windows 10 или Windows 11</a:t>
            </a:r>
          </a:p>
          <a:p>
            <a:pPr>
              <a:defRPr sz="3600"/>
            </a:pPr>
            <a:r>
              <a:t>Для серверной части выбрать Windows Server 2022, если именно он стоит в лаборатории</a:t>
            </a:r>
          </a:p>
          <a:p>
            <a:pPr>
              <a:defRPr sz="3600"/>
            </a:pPr>
            <a:r>
              <a:t>Для антивирусных баз выбрать Microsoft Defender Antivirus</a:t>
            </a:r>
          </a:p>
          <a:p>
            <a:pPr>
              <a:defRPr sz="3600"/>
            </a:pPr>
            <a:r>
              <a:t>Не нужно включать все версии Windows, все Office Products и устаревшие серверные продукты</a:t>
            </a:r>
          </a:p>
          <a:p>
            <a:pPr>
              <a:defRPr sz="3600"/>
            </a:pPr>
            <a:r>
              <a:t>Каждый лишний product увеличивает список updates, время синхронизации и нагрузку на консоль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Справочник classifications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Security Updates — исправления уязвимостей безопасности</a:t>
            </a:r>
          </a:p>
          <a:p>
            <a:pPr>
              <a:defRPr sz="3600"/>
            </a:pPr>
            <a:r>
              <a:t>Critical Updates — критичные исправления стабильности и надежности</a:t>
            </a:r>
          </a:p>
          <a:p>
            <a:pPr>
              <a:defRPr sz="3600"/>
            </a:pPr>
            <a:r>
              <a:t>Definition Updates — обновления сигнатур, например Microsoft Defender</a:t>
            </a:r>
          </a:p>
          <a:p>
            <a:pPr>
              <a:defRPr sz="3600"/>
            </a:pPr>
            <a:r>
              <a:t>Updates и Update Rollups — обычные исправления и накопительные пакеты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Upgrades, Drivers, Tools и Service Packs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Upgrades могут включать функциональные обновления Windows и требуют отдельного тестирования</a:t>
            </a:r>
          </a:p>
          <a:p>
            <a:pPr>
              <a:defRPr sz="3600"/>
            </a:pPr>
            <a:r>
              <a:t>Drivers через WSUS в базовой лаборатории лучше не включать: риск несовместимости выше</a:t>
            </a:r>
          </a:p>
          <a:p>
            <a:pPr>
              <a:defRPr sz="3600"/>
            </a:pPr>
            <a:r>
              <a:t>Tools и Feature Packs выбирают только при понятной необходимости</a:t>
            </a:r>
          </a:p>
          <a:p>
            <a:pPr>
              <a:defRPr sz="3600"/>
            </a:pPr>
            <a:r>
              <a:t>Service Packs актуальны не для всех современных продуктов, но термин нужно знать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Languages уменьшают объём хранилища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Languages определяют, какие языковые файлы updates будет хранить WSUS</a:t>
            </a:r>
          </a:p>
          <a:p>
            <a:pPr>
              <a:defRPr sz="3600"/>
            </a:pPr>
            <a:r>
              <a:t>Для стенда обычно выбирают Russian и English или только язык установленной ОС</a:t>
            </a:r>
          </a:p>
          <a:p>
            <a:pPr>
              <a:defRPr sz="3600"/>
            </a:pPr>
            <a:r>
              <a:t>Позднее добавление языка может потребовать новой синхронизации и скачивания content</a:t>
            </a:r>
          </a:p>
          <a:p>
            <a:pPr>
              <a:defRPr sz="3600"/>
            </a:pPr>
            <a:r>
              <a:t>Выбор языков лучше планировать до первой большой загрузки обновлений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Content storage размещают на отдельном томе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Том для D:\WSUS должен быть NTFS и иметь запас свободного места</a:t>
            </a:r>
          </a:p>
          <a:p>
            <a:pPr>
              <a:defRPr sz="3600"/>
            </a:pPr>
            <a:r>
              <a:t>Папка D:\WSUS не является обычным пользовательским сетевым ресурсом</a:t>
            </a:r>
          </a:p>
          <a:p>
            <a:pPr>
              <a:defRPr sz="3600"/>
            </a:pPr>
            <a:r>
              <a:t>Права на content directory не меняют вручную без необходимости</a:t>
            </a:r>
          </a:p>
          <a:p>
            <a:pPr>
              <a:defRPr sz="3600"/>
            </a:pPr>
            <a:r>
              <a:t>Команда контроля места: Get-Volume -DriveLetter D</a:t>
            </a:r>
          </a:p>
          <a:p>
            <a:pPr>
              <a:defRPr sz="3600"/>
            </a:pPr>
            <a:r>
              <a:t>Content можно повторно скачать, но это занимает время, трафик и требует живой SUSDB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metadata и content в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A1AAA5-2AE9-2AA6-0FC4-BD06310C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Computer groups, targeting и update 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Computer Groups в WSUS определяют, каким компьютерам будет утвержден update</a:t>
            </a:r>
          </a:p>
          <a:p>
            <a:pPr>
              <a:defRPr sz="3600"/>
            </a:pPr>
            <a:r>
              <a:t>Update Ring — волна развертывания обновлений с разным уровнем риска</a:t>
            </a:r>
          </a:p>
          <a:p>
            <a:pPr>
              <a:defRPr sz="3600"/>
            </a:pPr>
            <a:r>
              <a:t>Client-Side Targeting назначает группу через GPO на стороне клиента</a:t>
            </a:r>
          </a:p>
          <a:p>
            <a:pPr>
              <a:defRPr sz="3600"/>
            </a:pPr>
            <a:r>
              <a:t>Server-Side Targeting назначает группу вручную в консоли WSUS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модель update 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Pilot получает обновления первым и выявляет проблемы совместимости</a:t>
            </a:r>
          </a:p>
          <a:p>
            <a:pPr>
              <a:defRPr sz="3600"/>
            </a:pPr>
            <a:r>
              <a:t>Workstations получает update после проверки на Pilot</a:t>
            </a:r>
          </a:p>
          <a:p>
            <a:pPr>
              <a:defRPr sz="3600"/>
            </a:pPr>
            <a:r>
              <a:t>Servers обновляются отдельно, с backup, окном обслуживания и проверкой ролей</a:t>
            </a:r>
          </a:p>
          <a:p>
            <a:pPr>
              <a:defRPr sz="3600"/>
            </a:pPr>
            <a:r>
              <a:t>Servers лучше делить подробнее: Servers-Pilot, Servers-General и Servers-Critical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Pilot должен быть репрезентативным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Pilot включают не случайный идеальный компьютер, а образцы реального парка</a:t>
            </a:r>
          </a:p>
          <a:p>
            <a:pPr>
              <a:defRPr sz="3600"/>
            </a:pPr>
            <a:r>
              <a:t>Нужны разные версии Windows, модели ПК, драйверы, VPN-клиенты и офисные пакеты</a:t>
            </a:r>
          </a:p>
          <a:p>
            <a:pPr>
              <a:defRPr sz="3600"/>
            </a:pPr>
            <a:r>
              <a:t>Если в организации есть критичное приложение, оно должно проверяться в pilot-сценарии</a:t>
            </a:r>
          </a:p>
          <a:p>
            <a:pPr>
              <a:defRPr sz="3600"/>
            </a:pPr>
            <a:r>
              <a:t>Один чистый тестовый ПК не выявит большинство проблем обновлений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Серверы нельзя обновлять одной общей группой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Domain Controllers, Exchange Servers, Hyper-V Hosts и File Servers имеют разные риски</a:t>
            </a:r>
          </a:p>
          <a:p>
            <a:pPr>
              <a:defRPr sz="3600"/>
            </a:pPr>
            <a:r>
              <a:t>Для критичных ролей нужны отдельные rings и отдельные maintenance windows</a:t>
            </a:r>
          </a:p>
          <a:p>
            <a:pPr>
              <a:defRPr sz="3600"/>
            </a:pPr>
            <a:r>
              <a:t>Кластерные узлы обновляют по одному с проверкой кворума и ролей</a:t>
            </a:r>
          </a:p>
          <a:p>
            <a:pPr>
              <a:defRPr sz="3600"/>
            </a:pPr>
            <a:r>
              <a:t>Одна группа Servers для всего парка допустима только как учебное упрощение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AD OU и WSUS Group не одно и то же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 OU определяет, какая GPO применится к компьютеру</a:t>
            </a:r>
          </a:p>
          <a:p>
            <a:pPr>
              <a:defRPr sz="3600"/>
            </a:pPr>
            <a:r>
              <a:t>WSUS Group определяет, для какой группы утвержден update</a:t>
            </a:r>
          </a:p>
          <a:p>
            <a:pPr>
              <a:defRPr sz="3600"/>
            </a:pPr>
            <a:r>
              <a:t>Client-Side Targeting: имя группы задается через GPO и приходит с клиента</a:t>
            </a:r>
          </a:p>
          <a:p>
            <a:pPr>
              <a:defRPr sz="3600"/>
            </a:pPr>
            <a:r>
              <a:t>Server-Side Targeting: администратор вручную перемещает клиент в группе WSUS</a:t>
            </a:r>
          </a:p>
          <a:p>
            <a:pPr>
              <a:defRPr sz="3600"/>
            </a:pPr>
            <a:r>
              <a:t>Связь выглядит так: AD OU -&gt; GPO -&gt; TargetGroup -&gt; WSUS Computer Group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Client-Side Targeting требует нескольких настроек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WSUS нужно разрешить использование client-side targeting</a:t>
            </a:r>
          </a:p>
          <a:p>
            <a:pPr>
              <a:defRPr sz="3600"/>
            </a:pPr>
            <a:r>
              <a:t>В GPO нужно включить Enable client-side targeting</a:t>
            </a:r>
          </a:p>
          <a:p>
            <a:pPr>
              <a:defRPr sz="3600"/>
            </a:pPr>
            <a:r>
              <a:t>В GPO нужно указать точное имя target group: Pilot, Workstations или Servers</a:t>
            </a:r>
          </a:p>
          <a:p>
            <a:pPr>
              <a:defRPr sz="3600"/>
            </a:pPr>
            <a:r>
              <a:t>Частая ошибка: группа создана в WSUS, но политика targeting на клиенте не включена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реестра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Основной раздел: HKLM\Software\Policies\Microsoft\Windows\WindowsUpdate</a:t>
            </a:r>
          </a:p>
          <a:p>
            <a:pPr>
              <a:defRPr sz="3600"/>
            </a:pPr>
            <a:r>
              <a:t>Ключи: WUServer, WUStatusServer, TargetGroup, TargetGroupEnabled</a:t>
            </a:r>
          </a:p>
          <a:p>
            <a:pPr>
              <a:defRPr sz="3600"/>
            </a:pPr>
            <a:r>
              <a:t>Команда: Get-ItemProperty — читает примененные registry values политики</a:t>
            </a:r>
          </a:p>
          <a:p>
            <a:pPr>
              <a:defRPr sz="3600"/>
            </a:pPr>
            <a:r>
              <a:t>Пример: Get-ItemProperty 'HKLM:\Software\Policies\Microsoft\Windows\WindowsUpdate'</a:t>
            </a:r>
          </a:p>
          <a:p>
            <a:pPr>
              <a:defRPr sz="3600"/>
            </a:pPr>
            <a:r>
              <a:t>Дополнительный раздел AU проверяется командой: Get-ItemProperty 'HKLM:\Software\Policies\Microsoft\Windows\WindowsUpdate\AU'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URL WSUS указывается в двух полях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Specify intranet Microsoft update service location задает сервер обновлений и сервер статистики</a:t>
            </a:r>
          </a:p>
          <a:p>
            <a:pPr>
              <a:defRPr sz="3600"/>
            </a:pPr>
            <a:r>
              <a:t>Для лаборатории оба значения одинаковые: http://wsus01.company.test:8530</a:t>
            </a:r>
          </a:p>
          <a:p>
            <a:pPr>
              <a:defRPr sz="3600"/>
            </a:pPr>
            <a:r>
              <a:t>HTTP и HTTPS нельзя смешивать в этих двух полях</a:t>
            </a:r>
          </a:p>
          <a:p>
            <a:pPr>
              <a:defRPr sz="3600"/>
            </a:pPr>
            <a:r>
              <a:t>FQDN удобнее короткого имени: проще DNS-проверка, документация и будущий переход на TLS</a:t>
            </a:r>
          </a:p>
          <a:p>
            <a:pPr>
              <a:defRPr sz="3600"/>
            </a:pPr>
            <a:r>
              <a:t>Пример: Resolve-DnsName wsus01.company.test</a:t>
            </a:r>
          </a:p>
          <a:p>
            <a:pPr>
              <a:defRPr sz="3600"/>
            </a:pPr>
            <a:r>
              <a:t>Пример: Test-NetConnection wsus01.company.test -Port 8530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HTTPS для WSUS не включается простой заменой 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HTTPS нужен сертификат на имя WSUS, доверенный клиентами</a:t>
            </a:r>
          </a:p>
          <a:p>
            <a:pPr>
              <a:defRPr sz="3600"/>
            </a:pPr>
            <a:r>
              <a:t>Сертификат назначают в IIS и настраивают поддерживаемые WSUS virtual directories</a:t>
            </a:r>
          </a:p>
          <a:p>
            <a:pPr>
              <a:defRPr sz="3600"/>
            </a:pPr>
            <a:r>
              <a:t>После перехода на TLS меняют GPO URL на https://wsus01.company.test:8531</a:t>
            </a:r>
          </a:p>
          <a:p>
            <a:pPr>
              <a:defRPr sz="3600"/>
            </a:pPr>
            <a:r>
              <a:t>В базовой изолированной лаборатории HTTP 8530 допустим как учебное упрощение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Approval, GPO, reboot и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Approval разрешает установку update для конкретной WSUS group</a:t>
            </a:r>
          </a:p>
          <a:p>
            <a:pPr>
              <a:defRPr sz="3600"/>
            </a:pPr>
            <a:r>
              <a:t>Decline исключает update из обычного процесса развертывания</a:t>
            </a:r>
          </a:p>
          <a:p>
            <a:pPr>
              <a:defRPr sz="3600"/>
            </a:pPr>
            <a:r>
              <a:t>Removal возможен не для всех updates и не является универсальным откатом</a:t>
            </a:r>
          </a:p>
          <a:p>
            <a:pPr>
              <a:defRPr sz="3600"/>
            </a:pPr>
            <a:r>
              <a:t>GPO определяет, когда клиент сканирует, скачивает, устанавливает и перезагружается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Approval не означает мгновенную установку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Approval означает только разрешение для указанной группы</a:t>
            </a:r>
          </a:p>
          <a:p>
            <a:pPr>
              <a:defRPr sz="3600"/>
            </a:pPr>
            <a:r>
              <a:t>Установка зависит от applicability, client scan, schedule, deadline, content и reboot</a:t>
            </a:r>
          </a:p>
          <a:p>
            <a:pPr>
              <a:defRPr sz="3600"/>
            </a:pPr>
            <a:r>
              <a:t>Приемка должна различать Approved, Downloaded, Needed, Installed и Reported</a:t>
            </a:r>
          </a:p>
          <a:p>
            <a:pPr>
              <a:defRPr sz="3600"/>
            </a:pPr>
            <a:r>
              <a:t>Если update approved, но content не скачан, клиент не сможет установить файл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продвижения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выбрать безопасное тестовое обновление и утвердить только для Pilot</a:t>
            </a:r>
          </a:p>
          <a:p>
            <a:pPr>
              <a:defRPr sz="3600"/>
            </a:pPr>
            <a:r>
              <a:t>После установки проверить report, event logs и поведение приложений</a:t>
            </a:r>
          </a:p>
          <a:p>
            <a:pPr>
              <a:defRPr sz="3600"/>
            </a:pPr>
            <a:r>
              <a:t>Затем утвердить для Workstations</a:t>
            </a:r>
          </a:p>
          <a:p>
            <a:pPr>
              <a:defRPr sz="3600"/>
            </a:pPr>
            <a:r>
              <a:t>Servers переводить отдельно, только после backup и согласованного окна обслуживания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Auto-Approval применяют осторожно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Auto-Approval может быть полезен для Definition Updates Microsoft Defender</a:t>
            </a:r>
          </a:p>
          <a:p>
            <a:pPr>
              <a:defRPr sz="3600"/>
            </a:pPr>
            <a:r>
              <a:t>Для Security Updates его можно ограничить Pilot Group</a:t>
            </a:r>
          </a:p>
          <a:p>
            <a:pPr>
              <a:defRPr sz="3600"/>
            </a:pPr>
            <a:r>
              <a:t>Автоматически утверждать все Critical/Security updates для Servers опасно</a:t>
            </a:r>
          </a:p>
          <a:p>
            <a:pPr>
              <a:defRPr sz="3600"/>
            </a:pPr>
            <a:r>
              <a:t>Для базовой лаборатории основной сценарий — ручной approval и осознанная проверка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Deadline влияет не только на дату reboot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Deadline может задавать обязательную установку, срок restart, уведомления и grace period</a:t>
            </a:r>
          </a:p>
          <a:p>
            <a:pPr>
              <a:defRPr sz="3600"/>
            </a:pPr>
            <a:r>
              <a:t>Для рабочих станций deadline помогает не оставлять уязвимости надолго</a:t>
            </a:r>
          </a:p>
          <a:p>
            <a:pPr>
              <a:defRPr sz="3600"/>
            </a:pPr>
            <a:r>
              <a:t>Для серверов неверный deadline может вызвать незапланированный reboot</a:t>
            </a:r>
          </a:p>
          <a:p>
            <a:pPr>
              <a:defRPr sz="3600"/>
            </a:pPr>
            <a:r>
              <a:t>Политику deadline сначала проверяют на Pilot Server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GPO для Workstations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Configure Automatic Updates задает режим загрузки и установки</a:t>
            </a:r>
          </a:p>
          <a:p>
            <a:pPr>
              <a:defRPr sz="3600"/>
            </a:pPr>
            <a:r>
              <a:t>Active Hours и restart policies уменьшают риск перезагрузки во время работы пользователя</a:t>
            </a:r>
          </a:p>
          <a:p>
            <a:pPr>
              <a:defRPr sz="3600"/>
            </a:pPr>
            <a:r>
              <a:t>Deadlines помогают довести update до установки</a:t>
            </a:r>
          </a:p>
          <a:p>
            <a:pPr>
              <a:defRPr sz="3600"/>
            </a:pPr>
            <a:r>
              <a:t>Для рабочих станций допустима более автоматизированная модель, чем для серверов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GPO для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Серверы помещают в отдельные OU и связывают с отдельной GPO</a:t>
            </a:r>
          </a:p>
          <a:p>
            <a:pPr>
              <a:defRPr sz="3600"/>
            </a:pPr>
            <a:r>
              <a:t>Политика должна запрещать неожиданные перезагрузки в рабочее время</a:t>
            </a:r>
          </a:p>
          <a:p>
            <a:pPr>
              <a:defRPr sz="3600"/>
            </a:pPr>
            <a:r>
              <a:t>Установка выполняется в maintenance window после backup и health check</a:t>
            </a:r>
          </a:p>
          <a:p>
            <a:pPr>
              <a:defRPr sz="3600"/>
            </a:pPr>
            <a:r>
              <a:t>Для критичных серверов автоматизация не должна заменять проверку роли после reboot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Новые и старые политики Windows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Configure Automatic Updates и Specify intranet update service — базовые политики WSUS</a:t>
            </a:r>
          </a:p>
          <a:p>
            <a:pPr>
              <a:defRPr sz="3600"/>
            </a:pPr>
            <a:r>
              <a:t>No auto-restart и Active Hours управляют перезагрузкой</a:t>
            </a:r>
          </a:p>
          <a:p>
            <a:pPr>
              <a:defRPr sz="3600"/>
            </a:pPr>
            <a:r>
              <a:t>Deadlines задают крайние сроки установки и restart</a:t>
            </a:r>
          </a:p>
          <a:p>
            <a:pPr>
              <a:defRPr sz="3600"/>
            </a:pPr>
            <a:r>
              <a:t>Windows Update for Business и MDM settings нельзя смешивать с WSUS без понимания приоритета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gpupdate не запускает установку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gpupdate /force — применяет GPO на клиенте</a:t>
            </a:r>
          </a:p>
          <a:p>
            <a:pPr>
              <a:defRPr sz="3600"/>
            </a:pPr>
            <a:r>
              <a:t>Пример: gpupdate /force</a:t>
            </a:r>
          </a:p>
          <a:p>
            <a:pPr>
              <a:defRPr sz="3600"/>
            </a:pPr>
            <a:r>
              <a:t>Ожидаемый результат: клиент получает URL WSUS и TargetGroup в policy registry</a:t>
            </a:r>
          </a:p>
          <a:p>
            <a:pPr>
              <a:defRPr sz="3600"/>
            </a:pPr>
            <a:r>
              <a:t>После этого scan и status report выполняются отдельным циклом Windows Update Agent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примененной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gpresult — формирует отчет по примененным политикам</a:t>
            </a:r>
          </a:p>
          <a:p>
            <a:pPr>
              <a:defRPr sz="3600"/>
            </a:pPr>
            <a:r>
              <a:t>Пример: gpresult /h C:\Temp\wsus-gpo.html</a:t>
            </a:r>
          </a:p>
          <a:p>
            <a:pPr>
              <a:defRPr sz="3600"/>
            </a:pPr>
            <a:r>
              <a:t>Ожидаемый результат: в отчете видна WSUS GPO и отсутствие denied/filtering ошибок</a:t>
            </a:r>
          </a:p>
          <a:p>
            <a:pPr>
              <a:defRPr sz="3600"/>
            </a:pPr>
            <a:r>
              <a:t>Если GPO не применена, сначала проверяют OU, link, security filtering и WMI filter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Сканирование клиента и старые 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wuauclt /detectnow и wuauclt /reportnow — устаревшие команды с ограниченным поведением на новых Windows</a:t>
            </a:r>
          </a:p>
          <a:p>
            <a:pPr>
              <a:defRPr sz="3600"/>
            </a:pPr>
            <a:r>
              <a:t>UsoClient StartScan может запускать scan, но часто не показывает понятный вывод</a:t>
            </a:r>
          </a:p>
          <a:p>
            <a:pPr>
              <a:defRPr sz="3600"/>
            </a:pPr>
            <a:r>
              <a:t>Надежнее подтверждать состояние через Event Viewer, registry, reports и Windows Update UI</a:t>
            </a:r>
          </a:p>
          <a:p>
            <a:pPr>
              <a:defRPr sz="3600"/>
            </a:pPr>
            <a:r>
              <a:t>Нельзя обещать студентам одну магическую команду для мгновенной регистрации в WSUS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Decline, Removal и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Decline прекращает обычное предложение update через WSUS</a:t>
            </a:r>
          </a:p>
          <a:p>
            <a:pPr>
              <a:defRPr sz="3600"/>
            </a:pPr>
            <a:r>
              <a:t>Decline не удаляет уже установленный update с клиента</a:t>
            </a:r>
          </a:p>
          <a:p>
            <a:pPr>
              <a:defRPr sz="3600"/>
            </a:pPr>
            <a:r>
              <a:t>Removal поддерживается не всеми updates и может требовать reboot</a:t>
            </a:r>
          </a:p>
          <a:p>
            <a:pPr>
              <a:defRPr sz="3600"/>
            </a:pPr>
            <a:r>
              <a:t>Rollback Plan заранее определяет, что делать, если обновление сломало роль или приложение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Реальный rollback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Возможен uninstall update, если пакет это поддерживает</a:t>
            </a:r>
          </a:p>
          <a:p>
            <a:pPr>
              <a:defRPr sz="3600"/>
            </a:pPr>
            <a:r>
              <a:t>Для VM возможен учебный snapshot, но в production он не заменяет backup</a:t>
            </a:r>
          </a:p>
          <a:p>
            <a:pPr>
              <a:defRPr sz="3600"/>
            </a:pPr>
            <a:r>
              <a:t>Для критичных служб может потребоваться восстановление из backup или переключение на резервный узел</a:t>
            </a:r>
          </a:p>
          <a:p>
            <a:pPr>
              <a:defRPr sz="3600"/>
            </a:pPr>
            <a:r>
              <a:t>Иногда правильный rollback — vendor workaround, изоляция сервера или откат приложения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Critical servers обновляют по процедуре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Последовательность: backup и health check -&gt; update -&gt; reboot -&gt; проверка роли</a:t>
            </a:r>
          </a:p>
          <a:p>
            <a:pPr>
              <a:defRPr sz="3600"/>
            </a:pPr>
            <a:r>
              <a:t>Кластеры обновляют по одному узлу с контролем quorum и roles</a:t>
            </a:r>
          </a:p>
          <a:p>
            <a:pPr>
              <a:defRPr sz="3600"/>
            </a:pPr>
            <a:r>
              <a:t>Domain Controllers, Exchange, Hyper-V Hosts и Certificate Authorities требуют отдельных checklist</a:t>
            </a:r>
          </a:p>
          <a:p>
            <a:pPr>
              <a:defRPr sz="3600"/>
            </a:pPr>
            <a:r>
              <a:t>Статус Installed в WSUS не доказывает, что служба после reboot работает правильно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Domain Controller после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repadmin /replsummary — проверяет репликацию Active Directory</a:t>
            </a:r>
          </a:p>
          <a:p>
            <a:pPr>
              <a:defRPr sz="3600"/>
            </a:pPr>
            <a:r>
              <a:t>Пример: repadmin /replsummary</a:t>
            </a:r>
          </a:p>
          <a:p>
            <a:pPr>
              <a:defRPr sz="3600"/>
            </a:pPr>
            <a:r>
              <a:t>Команда: dcdiag — выполняет диагностику контроллера домена</a:t>
            </a:r>
          </a:p>
          <a:p>
            <a:pPr>
              <a:defRPr sz="3600"/>
            </a:pPr>
            <a:r>
              <a:t>После reboot также проверяют DNS, SYSVOL, NETLOGON, время и Event Logs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Exchange и Hyper-V после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Exchange проверяют services, mounted databases, OWA/EAC, mail flow, queues и certificates</a:t>
            </a:r>
          </a:p>
          <a:p>
            <a:pPr>
              <a:defRPr sz="3600"/>
            </a:pPr>
            <a:r>
              <a:t>Пример команды Exchange: Test-Mailflow</a:t>
            </a:r>
          </a:p>
          <a:p>
            <a:pPr>
              <a:defRPr sz="3600"/>
            </a:pPr>
            <a:r>
              <a:t>Для Hyper-V проверяют запуск VM, vSwitch, storage, network и состояние integration services</a:t>
            </a:r>
          </a:p>
          <a:p>
            <a:pPr>
              <a:defRPr sz="3600"/>
            </a:pPr>
            <a:r>
              <a:t>Для standalone host до reboot фиксируют состояние виртуальных машин и backup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Reports, cleanup и диагностика клиентов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Reports показывают не только факт установки, но и применимость, ошибки и отсутствие отчета</a:t>
            </a:r>
          </a:p>
          <a:p>
            <a:pPr>
              <a:defRPr sz="3600"/>
            </a:pPr>
            <a:r>
              <a:t>Cleanup уменьшает устаревшие данные, но не заменяет обслуживание SUSDB</a:t>
            </a:r>
          </a:p>
          <a:p>
            <a:pPr>
              <a:defRPr sz="3600"/>
            </a:pPr>
            <a:r>
              <a:t>Отсутствующий client диагностируется по цепочке GPO -&gt; DNS -&gt; port -&gt; services -&gt; logs -&gt; WSUS</a:t>
            </a:r>
          </a:p>
          <a:p>
            <a:pPr>
              <a:defRPr sz="3600"/>
            </a:pPr>
            <a:r>
              <a:t>WSUS нужно мониторить как отдельный инфраструктурный сервис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Статусы updates в отчетах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Needed — клиенту требуется update</a:t>
            </a:r>
          </a:p>
          <a:p>
            <a:pPr>
              <a:defRPr sz="3600"/>
            </a:pPr>
            <a:r>
              <a:t>Installed/Not Applicable — update установлен или не применим к клиенту</a:t>
            </a:r>
          </a:p>
          <a:p>
            <a:pPr>
              <a:defRPr sz="3600"/>
            </a:pPr>
            <a:r>
              <a:t>Failed — установка или проверка завершилась ошибкой</a:t>
            </a:r>
          </a:p>
          <a:p>
            <a:pPr>
              <a:defRPr sz="3600"/>
            </a:pPr>
            <a:r>
              <a:t>No Status не означает, что update не нужен: клиент мог еще не выполнить scan или status report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Last Contact и Last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Last Contact показывает, что клиент связывался с WSUS</a:t>
            </a:r>
          </a:p>
          <a:p>
            <a:pPr>
              <a:defRPr sz="3600"/>
            </a:pPr>
            <a:r>
              <a:t>Last Status Report показывает, когда клиент отправил состояние updates</a:t>
            </a:r>
          </a:p>
          <a:p>
            <a:pPr>
              <a:defRPr sz="3600"/>
            </a:pPr>
            <a:r>
              <a:t>Клиент может контактировать с WSUS, но не отправлять актуальный status из-за ошибки scan</a:t>
            </a:r>
          </a:p>
          <a:p>
            <a:pPr>
              <a:defRPr sz="3600"/>
            </a:pPr>
            <a:r>
              <a:t>В отчете нужно смотреть оба показателя, а не только наличие компьютера в группе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Полная цепочка диагностики отсутствующего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Компьютер в правильной OU, GPO linked/enabled, gpresult подтверждает применение</a:t>
            </a:r>
          </a:p>
          <a:p>
            <a:pPr>
              <a:defRPr sz="3600"/>
            </a:pPr>
            <a:r>
              <a:t>Registry содержит WUServer, WUStatusServer, TargetGroup и TargetGroupEnabled</a:t>
            </a:r>
          </a:p>
          <a:p>
            <a:pPr>
              <a:defRPr sz="3600"/>
            </a:pPr>
            <a:r>
              <a:t>DNS разрешает wsus01.company.test, TCP 8530 или 8531 доступен</a:t>
            </a:r>
          </a:p>
          <a:p>
            <a:pPr>
              <a:defRPr sz="3600"/>
            </a:pPr>
            <a:r>
              <a:t>Службы wuauserv, BITS и cryptsvc работают, Event Logs не содержат критичных ошибок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служб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Get-Service — показывает состояние служб Windows Update, BITS и Cryptographic Services</a:t>
            </a:r>
          </a:p>
          <a:p>
            <a:pPr>
              <a:defRPr sz="3600"/>
            </a:pPr>
            <a:r>
              <a:t>Пример: Get-Service wuauserv,bits,cryptsvc | Format-Table Name,Status,StartType</a:t>
            </a:r>
          </a:p>
          <a:p>
            <a:pPr>
              <a:defRPr sz="3600"/>
            </a:pPr>
            <a:r>
              <a:t>Ожидаемый результат: службы доступны, не отключены и могут выполнять scan/download</a:t>
            </a:r>
          </a:p>
          <a:p>
            <a:pPr>
              <a:defRPr sz="3600"/>
            </a:pPr>
            <a:r>
              <a:t>Не нужно автоматически сбрасывать Windows Update components до анализа журналов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Журналы клиента и сервера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Клиент: Microsoft-Windows-WindowsUpdateClient/Operational</a:t>
            </a:r>
          </a:p>
          <a:p>
            <a:pPr>
              <a:defRPr sz="3600"/>
            </a:pPr>
            <a:r>
              <a:t>Дополнительно: GroupPolicy, BITS-Client и DeliveryOptimization</a:t>
            </a:r>
          </a:p>
          <a:p>
            <a:pPr>
              <a:defRPr sz="3600"/>
            </a:pPr>
            <a:r>
              <a:t>WSUS01: Synchronization History, Application Log, WSUS Events и IIS Logs</a:t>
            </a:r>
          </a:p>
          <a:p>
            <a:pPr>
              <a:defRPr sz="3600"/>
            </a:pPr>
            <a:r>
              <a:t>IIS Logs в C:\inetpub\logs\LogFiles помогают доказать, обращался ли клиент к WSUS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Get-WindowsUpdateLog формирует диагностический файл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Get-WindowsUpdateLog — собирает читаемый лог из ETL-файлов</a:t>
            </a:r>
          </a:p>
          <a:p>
            <a:pPr>
              <a:defRPr sz="3600"/>
            </a:pPr>
            <a:r>
              <a:t>Пример: Get-WindowsUpdateLog -LogPath C:\Temp\WindowsUpdate.log</a:t>
            </a:r>
          </a:p>
          <a:p>
            <a:pPr>
              <a:defRPr sz="3600"/>
            </a:pPr>
            <a:r>
              <a:t>Ожидаемый результат: создан файл, который анализируют вместе с Event Viewer</a:t>
            </a:r>
          </a:p>
          <a:p>
            <a:pPr>
              <a:defRPr sz="3600"/>
            </a:pPr>
            <a:r>
              <a:t>Это не потоковый журнал реального времени, поэтому события нужно сопоставлять по времени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Дублированный WSUS Client 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 неправильном клонировании Windows несколько машин могут перезаписывать друг друга в WSUS</a:t>
            </a:r>
          </a:p>
          <a:p>
            <a:pPr>
              <a:defRPr sz="3600"/>
            </a:pPr>
            <a:r>
              <a:t>Причины: образ без Sysprep, копирование реестра, неверно подготовленный template</a:t>
            </a:r>
          </a:p>
          <a:p>
            <a:pPr>
              <a:defRPr sz="3600"/>
            </a:pPr>
            <a:r>
              <a:t>Симптом: в консоли появляется один объект вместо нескольких похожих клиентов</a:t>
            </a:r>
          </a:p>
          <a:p>
            <a:pPr>
              <a:defRPr sz="3600"/>
            </a:pPr>
            <a:r>
              <a:t>Исправление выполняют документированной процедурой после подтверждения причины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Термины cleanup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Superseded — обновление заменено более новым</a:t>
            </a:r>
          </a:p>
          <a:p>
            <a:pPr>
              <a:defRPr sz="3600"/>
            </a:pPr>
            <a:r>
              <a:t>Expired — издатель пометил update недействующим</a:t>
            </a:r>
          </a:p>
          <a:p>
            <a:pPr>
              <a:defRPr sz="3600"/>
            </a:pPr>
            <a:r>
              <a:t>Obsolete — объект больше не нужен системе WSUS</a:t>
            </a:r>
          </a:p>
          <a:p>
            <a:pPr>
              <a:defRPr sz="3600"/>
            </a:pPr>
            <a:r>
              <a:t>Declined — администратор отказал update в обычном развертывании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Cleanup Wizard не обслуживает всё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Cleanup удаляет часть obsolete updates, obsolete computers и unneeded content</a:t>
            </a:r>
          </a:p>
          <a:p>
            <a:pPr>
              <a:defRPr sz="3600"/>
            </a:pPr>
            <a:r>
              <a:t>Большому WSUS может потребоваться decline superseded updates, reindex SUSDB и проверка IIS application pool</a:t>
            </a:r>
          </a:p>
          <a:p>
            <a:pPr>
              <a:defRPr sz="3600"/>
            </a:pPr>
            <a:r>
              <a:t>Запуск всех cleanup options на старом WSUS может занять много времени или завершиться timeout</a:t>
            </a:r>
          </a:p>
          <a:p>
            <a:pPr>
              <a:defRPr sz="3600"/>
            </a:pPr>
            <a:r>
              <a:t>Лучше выполнять cleanup регулярно и поэтапно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ограниченной очистки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Import-Module UpdateServices — подключает командлеты WSUS</a:t>
            </a:r>
          </a:p>
          <a:p>
            <a:pPr>
              <a:defRPr sz="3600"/>
            </a:pPr>
            <a:r>
              <a:t>Пример подключения: $wsus = Get-WsusServer -Name WSUS01 -PortNumber 8530</a:t>
            </a:r>
          </a:p>
          <a:p>
            <a:pPr>
              <a:defRPr sz="3600"/>
            </a:pPr>
            <a:r>
              <a:t>Команда: Invoke-WsusServerCleanup — запускает выбранные операции очистки</a:t>
            </a:r>
          </a:p>
          <a:p>
            <a:pPr>
              <a:defRPr sz="3600"/>
            </a:pPr>
            <a:r>
              <a:t>Пример: Invoke-WsusServerCleanup -UpdateServer $wsus -CleanupObsoleteUpdates -CleanupUnneededContentFiles</a:t>
            </a:r>
          </a:p>
          <a:p>
            <a:pPr>
              <a:defRPr sz="3600"/>
            </a:pPr>
            <a:r>
              <a:t>После cleanup проверяют synchronization, reports и свободное место на D:\WSUS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wsusutil reset не является обычной cleanup-командой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wsusutil reset проверяет соответствие metadata и content и скачивает недостающие файлы</a:t>
            </a:r>
          </a:p>
          <a:p>
            <a:pPr>
              <a:defRPr sz="3600"/>
            </a:pPr>
            <a:r>
              <a:t>Команда может создать большую нагрузку и скачать значительный объем данных</a:t>
            </a:r>
          </a:p>
          <a:p>
            <a:pPr>
              <a:defRPr sz="3600"/>
            </a:pPr>
            <a:r>
              <a:t>Она не исправляет все проблемы SUSDB или IIS</a:t>
            </a:r>
          </a:p>
          <a:p>
            <a:pPr>
              <a:defRPr sz="3600"/>
            </a:pPr>
            <a:r>
              <a:t>Использовать reset нужно только при доказанной рассинхронизации content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диагностика клиента WSUS по цепочке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D12B04-FC77-779F-89DB-47B321EC6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Мониторинг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Last Synchronization Status и время последней успешной synchronization</a:t>
            </a:r>
          </a:p>
          <a:p>
            <a:pPr>
              <a:defRPr sz="3600"/>
            </a:pPr>
            <a:r>
              <a:t>Количество clients без contact, failed updates и content download errors</a:t>
            </a:r>
          </a:p>
          <a:p>
            <a:pPr>
              <a:defRPr sz="3600"/>
            </a:pPr>
            <a:r>
              <a:t>Свободное место content disk, состояние SUSDB, IIS, WsusService и application pool</a:t>
            </a:r>
          </a:p>
          <a:p>
            <a:pPr>
              <a:defRPr sz="3600"/>
            </a:pPr>
            <a:r>
              <a:t>Если используется HTTPS, контролируют срок действия сертификата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и recovery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Критичны SUSDB, configuration, approvals, groups, GPO и документация</a:t>
            </a:r>
          </a:p>
          <a:p>
            <a:pPr>
              <a:defRPr sz="3600"/>
            </a:pPr>
            <a:r>
              <a:t>Если используется HTTPS, нужно сохранять сертификат и цепочку доверия</a:t>
            </a:r>
          </a:p>
          <a:p>
            <a:pPr>
              <a:defRPr sz="3600"/>
            </a:pPr>
            <a:r>
              <a:t>Content directory можно повторно скачать, но это требует времени и трафика</a:t>
            </a:r>
          </a:p>
          <a:p>
            <a:pPr>
              <a:defRPr sz="3600"/>
            </a:pPr>
            <a:r>
              <a:t>Snapshot после первой синхронизации допустим как учебное ускорение, но не как production backup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Отказные сценарии в лаборатории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Неверный URL в GPO: registry не содержит правильный WUServer или клиент не обращается к WSUS</a:t>
            </a:r>
          </a:p>
          <a:p>
            <a:pPr>
              <a:defRPr sz="3600"/>
            </a:pPr>
            <a:r>
              <a:t>Закрыт порт 8530: Test-NetConnection показывает TcpTestSucceeded False</a:t>
            </a:r>
          </a:p>
          <a:p>
            <a:pPr>
              <a:defRPr sz="3600"/>
            </a:pPr>
            <a:r>
              <a:t>Неверное имя Target Group: клиент появляется не в той группе или в Unassigned Computers</a:t>
            </a:r>
          </a:p>
          <a:p>
            <a:pPr>
              <a:defRPr sz="3600"/>
            </a:pPr>
            <a:r>
              <a:t>Остановлен IIS или заполнен D:\WSUS: clients теряют доступ или content не скачивается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Приёмочная матрица WSUS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WSUS установлен с WID, postinstall завершен, IIS и службы работают</a:t>
            </a:r>
          </a:p>
          <a:p>
            <a:pPr>
              <a:defRPr sz="3600"/>
            </a:pPr>
            <a:r>
              <a:t>Products, classifications и languages соответствуют стенду, initial sync успешна</a:t>
            </a:r>
          </a:p>
          <a:p>
            <a:pPr>
              <a:defRPr sz="3600"/>
            </a:pPr>
            <a:r>
              <a:t>Pilot, Workstations и Servers созданы, GPO применена, registry содержит URL и TargetGroup</a:t>
            </a:r>
          </a:p>
          <a:p>
            <a:pPr>
              <a:defRPr sz="3600"/>
            </a:pPr>
            <a:r>
              <a:t>Pilot получил approved update, report подтверждает статус, Servers не обновились преждевременно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WSUS — это не просто загрузка patches, а управляемый процесс обновлений</a:t>
            </a:r>
          </a:p>
          <a:p>
            <a:pPr>
              <a:defRPr sz="3600"/>
            </a:pPr>
            <a:r>
              <a:t>Архитектура включает WSUS Service, IIS, SUSDB, content directory и Windows Update Agent</a:t>
            </a:r>
          </a:p>
          <a:p>
            <a:pPr>
              <a:defRPr sz="3600"/>
            </a:pPr>
            <a:r>
              <a:t>Products, classifications, languages, rings и GPO определяют безопасность процесса</a:t>
            </a:r>
          </a:p>
          <a:p>
            <a:pPr>
              <a:defRPr sz="3600"/>
            </a:pPr>
            <a:r>
              <a:t>Для критичных серверов update считается завершенным только после проверки роли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metadata synchronization отличается от content download?</a:t>
            </a:r>
          </a:p>
          <a:p>
            <a:pPr>
              <a:defRPr sz="3600"/>
            </a:pPr>
            <a:r>
              <a:t>Зачем в WSUS нужны IIS, SUSDB и отдельный content directory?</a:t>
            </a:r>
          </a:p>
          <a:p>
            <a:pPr>
              <a:defRPr sz="3600"/>
            </a:pPr>
            <a:r>
              <a:t>Почему Pilot Group должна быть репрезентативной?</a:t>
            </a:r>
          </a:p>
          <a:p>
            <a:pPr>
              <a:defRPr sz="3600"/>
            </a:pPr>
            <a:r>
              <a:t>Чем Approval отличается от Installed и Reported?</a:t>
            </a:r>
          </a:p>
          <a:p>
            <a:pPr>
              <a:defRPr sz="3600"/>
            </a:pPr>
            <a:r>
              <a:t>Почему gpupdate /force не устанавливает update немедленно?</a:t>
            </a:r>
          </a:p>
          <a:p>
            <a:pPr>
              <a:defRPr sz="3600"/>
            </a:pPr>
            <a:r>
              <a:t>Чем Decline отличается от Removal?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3345</Words>
  <Application>Microsoft Office PowerPoint</Application>
  <PresentationFormat>Широкоэкранный</PresentationFormat>
  <Paragraphs>344</Paragraphs>
  <Slides>70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2026-07-31T05:48:44Z</dcterms:modified>
  <cp:category/>
</cp:coreProperties>
</file>