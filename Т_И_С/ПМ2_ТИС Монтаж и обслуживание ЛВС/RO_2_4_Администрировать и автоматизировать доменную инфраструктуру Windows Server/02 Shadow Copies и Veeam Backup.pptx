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2. Shadow Copies и Veeam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Shadow Copies помогает быстро вернуть прошлую версию файла</a:t>
            </a:r>
          </a:p>
          <a:p>
            <a:pPr>
              <a:defRPr sz="3600"/>
            </a:pPr>
            <a:r>
              <a:t>Объяснять, почему теневые копии не заменяют независимый backup</a:t>
            </a:r>
          </a:p>
          <a:p>
            <a:pPr>
              <a:defRPr sz="3600"/>
            </a:pPr>
            <a:r>
              <a:t>Понимать архитектуру Veeam Backup &amp; Replication для Hyper-V</a:t>
            </a:r>
          </a:p>
          <a:p>
            <a:pPr>
              <a:defRPr sz="3600"/>
            </a:pPr>
            <a:r>
              <a:t>Выбирать способ восстановления: Previous Versions, file-level restore или full VM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Shadow Copies и Previous Versions, расписание, место и лимит хранения.</a:t>
            </a:r>
          </a:p>
          <a:p>
            <a:pPr>
              <a:defRPr sz="3600"/>
            </a:pPr>
            <a:r>
              <a:t>2. Отличие теневых копий от backup и самостоятельное восстановление.</a:t>
            </a:r>
          </a:p>
          <a:p>
            <a:pPr>
              <a:defRPr sz="3600"/>
            </a:pPr>
            <a:r>
              <a:t>3. Veeam: Backup Server, Proxy, Repository, Protected Infrastructure и Job.</a:t>
            </a:r>
          </a:p>
          <a:p>
            <a:pPr>
              <a:defRPr sz="3600"/>
            </a:pPr>
            <a:r>
              <a:t>4. Image backup ВМ, Recovery Point, Retention, Full/Incremental и Application-Aware Processing.</a:t>
            </a:r>
          </a:p>
          <a:p>
            <a:pPr>
              <a:defRPr sz="3600"/>
            </a:pPr>
            <a:r>
              <a:t>5. File-level и full VM recovery, журналы и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FS01 хранит пользовательские данные в D:\Shares и публикует SMB-ресурс \\FS01\Shares</a:t>
            </a:r>
          </a:p>
          <a:p>
            <a:pPr>
              <a:defRPr sz="3600"/>
            </a:pPr>
            <a:r>
              <a:t>CLIENT01 проверяет Previous Versions именно через сетевой доступ пользователя</a:t>
            </a:r>
          </a:p>
          <a:p>
            <a:pPr>
              <a:defRPr sz="3600"/>
            </a:pPr>
            <a:r>
              <a:t>VBR01 управляет backup для ВМ FS01 на Hyper-V host HV01</a:t>
            </a:r>
          </a:p>
          <a:p>
            <a:pPr>
              <a:defRPr sz="3600"/>
            </a:pPr>
            <a:r>
              <a:t>Repository хранит recovery points, а тестовое восстановление выполняется в изолированной сети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учебный стенд Shadow Copies и Veeam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8A93C0-4F03-004A-A3B2-3D78E9CC8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Shadow Copies: базовое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— теневые копии состояния тома Windows в определенный момент времени</a:t>
            </a:r>
          </a:p>
          <a:p>
            <a:pPr>
              <a:defRPr sz="3600"/>
            </a:pPr>
            <a:r>
              <a:t>Технология используется, когда пользователь удалил или перезаписал файл</a:t>
            </a:r>
          </a:p>
          <a:p>
            <a:pPr>
              <a:defRPr sz="3600"/>
            </a:pPr>
            <a:r>
              <a:t>Копия создается не для одной папки, а для всего тома: например, для D:</a:t>
            </a:r>
          </a:p>
          <a:p>
            <a:pPr>
              <a:defRPr sz="3600"/>
            </a:pPr>
            <a:r>
              <a:t>Если D:\Shares лежит на томе D:, Previous Versions будут связаны именно с томом 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VSS: механизм создания теневых копий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VSS (Volume Shadow Copy Service) — служба теневого копирования томов Windows</a:t>
            </a:r>
          </a:p>
          <a:p>
            <a:pPr>
              <a:defRPr sz="3600"/>
            </a:pPr>
            <a:r>
              <a:t>VSS фиксирует согласованное состояние данных на момент создания точки</a:t>
            </a:r>
          </a:p>
          <a:p>
            <a:pPr>
              <a:defRPr sz="3600"/>
            </a:pPr>
            <a:r>
              <a:t>Shadow Copy хранит не полную копию каждого файла, а изменения блоков тома</a:t>
            </a:r>
          </a:p>
          <a:p>
            <a:pPr>
              <a:defRPr sz="3600"/>
            </a:pPr>
            <a:r>
              <a:t>Чем активнее меняются файлы, тем быстрее расходуется Shadow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интенсивность изменений важнее размера папки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Большой архив документов может почти не расходовать Shadow Storage, если файлы не меняются</a:t>
            </a:r>
          </a:p>
          <a:p>
            <a:pPr>
              <a:defRPr sz="3600"/>
            </a:pPr>
            <a:r>
              <a:t>Один файл базы или образа размером 10 ГБ может быстро занять место, если он постоянно изменяется</a:t>
            </a:r>
          </a:p>
          <a:p>
            <a:pPr>
              <a:defRPr sz="3600"/>
            </a:pPr>
            <a:r>
              <a:t>Старые точки удаляются автоматически, когда Shadow Storage заполняется</a:t>
            </a:r>
          </a:p>
          <a:p>
            <a:pPr>
              <a:defRPr sz="3600"/>
            </a:pPr>
            <a:r>
              <a:t>Поэтому расписание и лимит хранения нельзя выбирать только по общему размеру папки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Previous Versions: пользовательский 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Previous Versions — вкладка Windows для просмотра прошлых версий файла или папки</a:t>
            </a:r>
          </a:p>
          <a:p>
            <a:pPr>
              <a:defRPr sz="3600"/>
            </a:pPr>
            <a:r>
              <a:t>Пользователь обычно открывает ее через SMB-путь \\FS01\Shares, а не через D:\Shares</a:t>
            </a:r>
          </a:p>
          <a:p>
            <a:pPr>
              <a:defRPr sz="3600"/>
            </a:pPr>
            <a:r>
              <a:t>Доступны действия Open, Copy и Restore</a:t>
            </a:r>
          </a:p>
          <a:p>
            <a:pPr>
              <a:defRPr sz="3600"/>
            </a:pPr>
            <a:r>
              <a:t>Для учебной работы безопаснее сначала Copy в отдельный каталог, затем Compare, и только потом Restore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Shadow Copies через 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Открыть свойства тома D: на FS01 и перейти на вкладку Shadow Copies</a:t>
            </a:r>
          </a:p>
          <a:p>
            <a:pPr>
              <a:defRPr sz="3600"/>
            </a:pPr>
            <a:r>
              <a:t>Выбрать том D:, включить Shadow Copies и настроить Schedule</a:t>
            </a:r>
          </a:p>
          <a:p>
            <a:pPr>
              <a:defRPr sz="3600"/>
            </a:pPr>
            <a:r>
              <a:t>Указать область хранения и лимит, чтобы не заполнить рабочий том</a:t>
            </a:r>
          </a:p>
          <a:p>
            <a:pPr>
              <a:defRPr sz="3600"/>
            </a:pPr>
            <a:r>
              <a:t>Ожидаемый результат: для тома D: появляются точки, доступные через Previous Versions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Shadow Storage командой vssadmin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показывает, где хранится область теневых копий и какой задан лимит</a:t>
            </a:r>
          </a:p>
          <a:p>
            <a:pPr>
              <a:defRPr sz="3600"/>
            </a:pPr>
            <a:r>
              <a:t>Пример использования: vssadmin list shadowstorage /for=D:</a:t>
            </a:r>
          </a:p>
          <a:p>
            <a:pPr>
              <a:defRPr sz="3600"/>
            </a:pPr>
            <a:r>
              <a:t>Ожидаемый результат: вывод содержит Used Shadow Copy Storage space и Maximum Shadow Copy Storage space</a:t>
            </a:r>
          </a:p>
          <a:p>
            <a:pPr>
              <a:defRPr sz="3600"/>
            </a:pPr>
            <a:r>
              <a:t>Если для D: нет настройки, нужно сначала включить Shadow Copies или задать Shadow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существующих теневых копий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 созданные точки Shadow Copy для выбранного тома</a:t>
            </a:r>
          </a:p>
          <a:p>
            <a:pPr>
              <a:defRPr sz="3600"/>
            </a:pPr>
            <a:r>
              <a:t>Пример использования: vssadmin list shadows /for=D:</a:t>
            </a:r>
          </a:p>
          <a:p>
            <a:pPr>
              <a:defRPr sz="3600"/>
            </a:pPr>
            <a:r>
              <a:t>Ожидаемый результат: список Shadow Copy ID, время создания и исходный том</a:t>
            </a:r>
          </a:p>
          <a:p>
            <a:pPr>
              <a:defRPr sz="3600"/>
            </a:pPr>
            <a:r>
              <a:t>Если список пустой, Previous Versions пользователю показать нечего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размера Shadow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задает максимальный размер области хранения теневых копий</a:t>
            </a:r>
          </a:p>
          <a:p>
            <a:pPr>
              <a:defRPr sz="3600"/>
            </a:pPr>
            <a:r>
              <a:t>Пример использования: vssadmin resize shadowstorage /for=D: /on=D: /maxsize=15%</a:t>
            </a:r>
          </a:p>
          <a:p>
            <a:pPr>
              <a:defRPr sz="3600"/>
            </a:pPr>
            <a:r>
              <a:t>Альтернатива: vssadmin resize shadowstorage /for=D: /on=E: /maxsize=40GB</a:t>
            </a:r>
          </a:p>
          <a:p>
            <a:pPr>
              <a:defRPr sz="3600"/>
            </a:pPr>
            <a:r>
              <a:t>Перед изменением нужно проверить, что том E: существует и на нем достаточно свободного места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Уменьшение Shadow Storage может удалить старые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новый лимит меньше текущего объема, Windows может удалить старые Shadow Copies</a:t>
            </a:r>
          </a:p>
          <a:p>
            <a:pPr>
              <a:defRPr sz="3600"/>
            </a:pPr>
            <a:r>
              <a:t>Перед уменьшением нужно выполнить: vssadmin list shadowstorage /for=D:</a:t>
            </a:r>
          </a:p>
          <a:p>
            <a:pPr>
              <a:defRPr sz="3600"/>
            </a:pPr>
            <a:r>
              <a:t>Затем проверить точки: vssadmin list shadows /for=D:</a:t>
            </a:r>
          </a:p>
          <a:p>
            <a:pPr>
              <a:defRPr sz="3600"/>
            </a:pPr>
            <a:r>
              <a:t>В отчете фиксируют, какие точки были до изменения и какие остались после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Ручное создание Shadow Copy для демонстрации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создает контрольную точку для тома без ожидания расписания</a:t>
            </a:r>
          </a:p>
          <a:p>
            <a:pPr>
              <a:defRPr sz="3600"/>
            </a:pPr>
            <a:r>
              <a:t>Пример использования: Invoke-CimMethod -ClassName Win32_ShadowCopy -MethodName Create -Arguments @{Volume='D:\'}</a:t>
            </a:r>
          </a:p>
          <a:p>
            <a:pPr>
              <a:defRPr sz="3600"/>
            </a:pPr>
            <a:r>
              <a:t>Ожидаемый результат: ReturnValue равен 0, а затем точка видна в vssadmin list shadows /for=D:</a:t>
            </a:r>
          </a:p>
          <a:p>
            <a:pPr>
              <a:defRPr sz="3600"/>
            </a:pPr>
            <a:r>
              <a:t>Если команда не сработала, проверяют запуск PowerShell от имени администратора и состояние VSS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Расписание Shadow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Расписание выбирают под реальные моменты риска, а не просто «каждый час»</a:t>
            </a:r>
          </a:p>
          <a:p>
            <a:pPr>
              <a:defRPr sz="3600"/>
            </a:pPr>
            <a:r>
              <a:t>Пример: 07:00 — состояние до начала работы, 12:00 — дневная точка, 17:00 — перед завершением дня</a:t>
            </a:r>
          </a:p>
          <a:p>
            <a:pPr>
              <a:defRPr sz="3600"/>
            </a:pPr>
            <a:r>
              <a:t>Слишком частые точки быстро расходуют Shadow Storage при активных изменениях</a:t>
            </a:r>
          </a:p>
          <a:p>
            <a:pPr>
              <a:defRPr sz="3600"/>
            </a:pPr>
            <a:r>
              <a:t>Слишком редкие точки не помогут, если ошибку заметили через несколько часов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Previous Versions с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CLIENT01 открыть \\FS01\Shares под учетной записью обычного пользователя</a:t>
            </a:r>
          </a:p>
          <a:p>
            <a:pPr>
              <a:defRPr sz="3600"/>
            </a:pPr>
            <a:r>
              <a:t>Создать тестовый файл, дождаться или вручную создать Shadow Copy, затем изменить файл</a:t>
            </a:r>
          </a:p>
          <a:p>
            <a:pPr>
              <a:defRPr sz="3600"/>
            </a:pPr>
            <a:r>
              <a:t>Открыть свойства файла или папки и вкладку Previous Versions</a:t>
            </a:r>
          </a:p>
          <a:p>
            <a:pPr>
              <a:defRPr sz="3600"/>
            </a:pPr>
            <a:r>
              <a:t>Ожидаемый результат: пользователь видит только версии доступных ему объектов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Previous Versions и модель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Previous Versions не должен обходить NTFS permissions</a:t>
            </a:r>
          </a:p>
          <a:p>
            <a:pPr>
              <a:defRPr sz="3600"/>
            </a:pPr>
            <a:r>
              <a:t>Share permissions не расширяют права, если NTFS доступ запрещает</a:t>
            </a:r>
          </a:p>
          <a:p>
            <a:pPr>
              <a:defRPr sz="3600"/>
            </a:pPr>
            <a:r>
              <a:t>Если включен Access-Based Enumeration, пользователь не должен видеть чужие закрытые папки</a:t>
            </a:r>
          </a:p>
          <a:p>
            <a:pPr>
              <a:defRPr sz="3600"/>
            </a:pPr>
            <a:r>
              <a:t>После восстановления нужно проверить, что ACL остались ожидаемыми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Shadow Copies на уровне тома и доступ через SMB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BA8E57-B664-EEEC-BF0B-AFCF21FC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Shadow Copies и backup решают разные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удобны при пользовательской ошибке на живом файловом сервере</a:t>
            </a:r>
          </a:p>
          <a:p>
            <a:pPr>
              <a:defRPr sz="3600"/>
            </a:pPr>
            <a:r>
              <a:t>Backup нужен, когда потерян сервер, диск, ВМ, storage или вся площадка</a:t>
            </a:r>
          </a:p>
          <a:p>
            <a:pPr>
              <a:defRPr sz="3600"/>
            </a:pPr>
            <a:r>
              <a:t>Обе технологии могут использовать VSS, но это не делает их взаимозаменяемыми</a:t>
            </a:r>
          </a:p>
          <a:p>
            <a:pPr>
              <a:defRPr sz="3600"/>
            </a:pPr>
            <a:r>
              <a:t>Правильный отчет всегда указывает, какой риск закрывает каждый механизм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Shadow Copies не являются полноценным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Теневые копии обычно находятся рядом с исходными данными</a:t>
            </a:r>
          </a:p>
          <a:p>
            <a:pPr>
              <a:defRPr sz="3600"/>
            </a:pPr>
            <a:r>
              <a:t>Отказ диска D: может уничтожить и данные, и локальные Previous Versions</a:t>
            </a:r>
          </a:p>
          <a:p>
            <a:pPr>
              <a:defRPr sz="3600"/>
            </a:pPr>
            <a:r>
              <a:t>Шифровальщик или администратор с высокими правами может удалить локальные точки</a:t>
            </a:r>
          </a:p>
          <a:p>
            <a:pPr>
              <a:defRPr sz="3600"/>
            </a:pPr>
            <a:r>
              <a:t>Shadow Copies дают быстрый откат, но не дают независимую копию инфраструктуры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Связь Shadow Copies, Windows Server Backup и Veeam через VSS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VSS может использоваться для локальных Shadow Copies</a:t>
            </a:r>
          </a:p>
          <a:p>
            <a:pPr>
              <a:defRPr sz="3600"/>
            </a:pPr>
            <a:r>
              <a:t>VSS помогает создавать согласованный snapshot для Windows Server Backup</a:t>
            </a:r>
          </a:p>
          <a:p>
            <a:pPr>
              <a:defRPr sz="3600"/>
            </a:pPr>
            <a:r>
              <a:t>VSS используется Veeam при Application-Aware Processing внутри Windows VM</a:t>
            </a:r>
          </a:p>
          <a:p>
            <a:pPr>
              <a:defRPr sz="3600"/>
            </a:pPr>
            <a:r>
              <a:t>Общий механизм VSS не отменяет разницу между локальной версией и независимым backup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Безопасный порядок самостоятельного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 — открыть старую версию и убедиться, что это нужный файл</a:t>
            </a:r>
          </a:p>
          <a:p>
            <a:pPr>
              <a:defRPr sz="3600"/>
            </a:pPr>
            <a:r>
              <a:t>Copy — скопировать в отдельный каталог, например C:\Restore-Test</a:t>
            </a:r>
          </a:p>
          <a:p>
            <a:pPr>
              <a:defRPr sz="3600"/>
            </a:pPr>
            <a:r>
              <a:t>Compare — сравнить содержимое, дату, размер и права</a:t>
            </a:r>
          </a:p>
          <a:p>
            <a:pPr>
              <a:defRPr sz="3600"/>
            </a:pPr>
            <a:r>
              <a:t>Restore — восстанавливать поверх исходного файла только после проверки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Матрица выбора способа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перезаписал документ сегодня: Previous Versions</a:t>
            </a:r>
          </a:p>
          <a:p>
            <a:pPr>
              <a:defRPr sz="3600"/>
            </a:pPr>
            <a:r>
              <a:t>Файл удален неделю назад, локальные версии исчезли: Veeam File-Level Restore</a:t>
            </a:r>
          </a:p>
          <a:p>
            <a:pPr>
              <a:defRPr sz="3600"/>
            </a:pPr>
            <a:r>
              <a:t>Поврежден виртуальный диск или ОС ВМ: VM или Disk Restore</a:t>
            </a:r>
          </a:p>
          <a:p>
            <a:pPr>
              <a:defRPr sz="3600"/>
            </a:pPr>
            <a:r>
              <a:t>Удален объект AD: сначала AD Recycle Bin, а не Full VM Restore контроллера домена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Veeam Backup &amp; Replication: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Veeam Backup &amp; Replication — централизованная система backup и restore виртуальной инфраструктуры</a:t>
            </a:r>
          </a:p>
          <a:p>
            <a:pPr>
              <a:defRPr sz="3600"/>
            </a:pPr>
            <a:r>
              <a:t>В лекции рассматривается учебный сценарий Hyper-V, а не VMware</a:t>
            </a:r>
          </a:p>
          <a:p>
            <a:pPr>
              <a:defRPr sz="3600"/>
            </a:pPr>
            <a:r>
              <a:t>Версию Veeam и платформу нужно фиксировать в отчете, потому что интерфейс может отличаться</a:t>
            </a:r>
          </a:p>
          <a:p>
            <a:pPr>
              <a:defRPr sz="3600"/>
            </a:pPr>
            <a:r>
              <a:t>Главная идея: Veeam управляет recovery points и восстановлением, а не просто копирует VHDX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Компоненты Veeam нужно разделять логически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Server управляет конфигурацией, заданиями, расписанием и восстановлением</a:t>
            </a:r>
          </a:p>
          <a:p>
            <a:pPr>
              <a:defRPr sz="3600"/>
            </a:pPr>
            <a:r>
              <a:t>Backup Proxy участвует в data path: получает, обрабатывает и передает поток данных</a:t>
            </a:r>
          </a:p>
          <a:p>
            <a:pPr>
              <a:defRPr sz="3600"/>
            </a:pPr>
            <a:r>
              <a:t>Backup Repository хранит backup chains и metadata восстановления</a:t>
            </a:r>
          </a:p>
          <a:p>
            <a:pPr>
              <a:defRPr sz="3600"/>
            </a:pPr>
            <a:r>
              <a:t>В лаборатории роли могут быть на одной ВМ, но Backup Server логически не обязан хранить backup-файлы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Proxy в Hyper-V-сценарии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Proxy выполняет работу с потоком данных и транспортным режимом</a:t>
            </a:r>
          </a:p>
          <a:p>
            <a:pPr>
              <a:defRPr sz="3600"/>
            </a:pPr>
            <a:r>
              <a:t>Он может выполнять обработку данных, сжатие, дедупликацию и передачу в Repository</a:t>
            </a:r>
          </a:p>
          <a:p>
            <a:pPr>
              <a:defRPr sz="3600"/>
            </a:pPr>
            <a:r>
              <a:t>Для Hyper-V детали отличаются от VMware, поэтому важно привязывать лекцию к платформе стенда</a:t>
            </a:r>
          </a:p>
          <a:p>
            <a:pPr>
              <a:defRPr sz="3600"/>
            </a:pPr>
            <a:r>
              <a:t>Если в лаборатории роли совмещены, студент все равно должен объяснить функцию Proxy отдельно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Protected Infrastructure: что добавляет администратор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Veeam получает управляемый доступ к Hyper-V host HV01 или кластеру</a:t>
            </a:r>
          </a:p>
          <a:p>
            <a:pPr>
              <a:defRPr sz="3600"/>
            </a:pPr>
            <a:r>
              <a:t>После добавления инфраструктуры Veeam обнаруживает защищаемые виртуальные машины</a:t>
            </a:r>
          </a:p>
          <a:p>
            <a:pPr>
              <a:defRPr sz="3600"/>
            </a:pPr>
            <a:r>
              <a:t>Название раздела интерфейса может меняться по версии, но сущность остается той же</a:t>
            </a:r>
          </a:p>
          <a:p>
            <a:pPr>
              <a:defRPr sz="3600"/>
            </a:pPr>
            <a:r>
              <a:t>В отчете фиксируют платформу, версию Veeam, добавленный host и учетную запись доступа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Credentials для Veeam требуют осторожности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Veeam получает высокие права на виртуальную инфраструктуру</a:t>
            </a:r>
          </a:p>
          <a:p>
            <a:pPr>
              <a:defRPr sz="3600"/>
            </a:pPr>
            <a:r>
              <a:t>Для лаборатории можно использовать отдельную административную учетную запись стенда</a:t>
            </a:r>
          </a:p>
          <a:p>
            <a:pPr>
              <a:defRPr sz="3600"/>
            </a:pPr>
            <a:r>
              <a:t>Пароли и секреты нельзя сохранять в отчете, Git или скриншотах</a:t>
            </a:r>
          </a:p>
          <a:p>
            <a:pPr>
              <a:defRPr sz="3600"/>
            </a:pPr>
            <a:r>
              <a:t>Доступ к Veeam Console ограничивают, потому что Backup Server относится к Management Plane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Repository является целью атаки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Злоумышленник часто пытается сначала удалить или зашифровать backup</a:t>
            </a:r>
          </a:p>
          <a:p>
            <a:pPr>
              <a:defRPr sz="3600"/>
            </a:pPr>
            <a:r>
              <a:t>Нужны отдельные credentials, минимальные сетевые разрешения и запрет обычного пользовательского доступа</a:t>
            </a:r>
          </a:p>
          <a:p>
            <a:pPr>
              <a:defRPr sz="3600"/>
            </a:pPr>
            <a:r>
              <a:t>Immutability — защита backup-файлов от изменения или удаления в заданный период</a:t>
            </a:r>
          </a:p>
          <a:p>
            <a:pPr>
              <a:defRPr sz="3600"/>
            </a:pPr>
            <a:r>
              <a:t>Hardened Repository — усиленный Linux repository с ограничением возможности удалить backup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3-2-1-1-0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3 экземпляра данных: production и дополнительные копии</a:t>
            </a:r>
          </a:p>
          <a:p>
            <a:pPr>
              <a:defRPr sz="3600"/>
            </a:pPr>
            <a:r>
              <a:t>2 разных типа хранения, чтобы отказ одного типа не уничтожил все копии</a:t>
            </a:r>
          </a:p>
          <a:p>
            <a:pPr>
              <a:defRPr sz="3600"/>
            </a:pPr>
            <a:r>
              <a:t>1 копия вне основной площадки</a:t>
            </a:r>
          </a:p>
          <a:p>
            <a:pPr>
              <a:defRPr sz="3600"/>
            </a:pPr>
            <a:r>
              <a:t>1 копия offline или immutable, 0 ошибок по результатам проверки восстановления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Job: единица настройки 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Job задает source, repository, schedule, retention и дополнительные параметры обработки</a:t>
            </a:r>
          </a:p>
          <a:p>
            <a:pPr>
              <a:defRPr sz="3600"/>
            </a:pPr>
            <a:r>
              <a:t>В учебном сценарии source — ВМ FS01 на Hyper-V host HV01</a:t>
            </a:r>
          </a:p>
          <a:p>
            <a:pPr>
              <a:defRPr sz="3600"/>
            </a:pPr>
            <a:r>
              <a:t>Один job не должен бездумно смешивать критичные серверы и тестовые ВМ</a:t>
            </a:r>
          </a:p>
          <a:p>
            <a:pPr>
              <a:defRPr sz="3600"/>
            </a:pPr>
            <a:r>
              <a:t>После создания job проверяют не только запуск, но и появление recovery point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Veeam Backup Server, Proxy, Repository и Hyper-V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84CA30-F476-71CE-2DDA-094E26F5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Image backup ВМ и recovery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Image-level backup защищает виртуальную машину как набор дисков, конфигурации и metadata</a:t>
            </a:r>
          </a:p>
          <a:p>
            <a:pPr>
              <a:defRPr sz="3600"/>
            </a:pPr>
            <a:r>
              <a:t>Recovery Point — логическая точка восстановления на определенное время</a:t>
            </a:r>
          </a:p>
          <a:p>
            <a:pPr>
              <a:defRPr sz="3600"/>
            </a:pPr>
            <a:r>
              <a:t>Recovery Point не всегда является отдельным полным backup-файлом</a:t>
            </a:r>
          </a:p>
          <a:p>
            <a:pPr>
              <a:defRPr sz="3600"/>
            </a:pPr>
            <a:r>
              <a:t>Для восстановления Veeam использует нужные файлы backup chain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Chain: полная и инкрементальные 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backup содержит полный набор данных для базовой точки цепочки</a:t>
            </a:r>
          </a:p>
          <a:p>
            <a:pPr>
              <a:defRPr sz="3600"/>
            </a:pPr>
            <a:r>
              <a:t>Incremental backup хранит изменения после предыдущей точки</a:t>
            </a:r>
          </a:p>
          <a:p>
            <a:pPr>
              <a:defRPr sz="3600"/>
            </a:pPr>
            <a:r>
              <a:t>Цепочка может выглядеть так: Full, Incremental 1, Incremental 2, Incremental 3</a:t>
            </a:r>
          </a:p>
          <a:p>
            <a:pPr>
              <a:defRPr sz="3600"/>
            </a:pPr>
            <a:r>
              <a:t>Повреждение элементов цепочки может повлиять на доступность последующих recovery points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Active Full и Synthetic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Active Full полностью читает данные с защищаемого source и создает новую полную копию</a:t>
            </a:r>
          </a:p>
          <a:p>
            <a:pPr>
              <a:defRPr sz="3600"/>
            </a:pPr>
            <a:r>
              <a:t>Synthetic Full формируется на repository из существующего full и incremental points</a:t>
            </a:r>
          </a:p>
          <a:p>
            <a:pPr>
              <a:defRPr sz="3600"/>
            </a:pPr>
            <a:r>
              <a:t>Synthetic Full снижает нагрузку на source, но требует места и производительности repository</a:t>
            </a:r>
          </a:p>
          <a:p>
            <a:pPr>
              <a:defRPr sz="3600"/>
            </a:pPr>
            <a:r>
              <a:t>Студент должен понимать тип full, чтобы оценить backup window и нагрузку на storage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Retention хранит recovery points, а не просто файлы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Retention определяет, сколько точек восстановления должно оставаться доступными</a:t>
            </a:r>
          </a:p>
          <a:p>
            <a:pPr>
              <a:defRPr sz="3600"/>
            </a:pPr>
            <a:r>
              <a:t>Удаление старой точки может требовать merge или пересборки части цепочки</a:t>
            </a:r>
          </a:p>
          <a:p>
            <a:pPr>
              <a:defRPr sz="3600"/>
            </a:pPr>
            <a:r>
              <a:t>Repository должен иметь запас места для synthetic full, merge и временных операций</a:t>
            </a:r>
          </a:p>
          <a:p>
            <a:pPr>
              <a:defRPr sz="3600"/>
            </a:pPr>
            <a:r>
              <a:t>Скорость изменений ВМ влияет на размер incremental и длительность хранения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GFS retention обзорно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GFS (Grandfather-Father-Son) — схема длительного хранения weekly, monthly и yearly точек</a:t>
            </a:r>
          </a:p>
          <a:p>
            <a:pPr>
              <a:defRPr sz="3600"/>
            </a:pPr>
            <a:r>
              <a:t>Для базовой лаборатории достаточно простого количества recovery points</a:t>
            </a:r>
          </a:p>
          <a:p>
            <a:pPr>
              <a:defRPr sz="3600"/>
            </a:pPr>
            <a:r>
              <a:t>GFS полезен, когда нужны отдельные долгосрочные точки для аудита или регламентов</a:t>
            </a:r>
          </a:p>
          <a:p>
            <a:pPr>
              <a:defRPr sz="3600"/>
            </a:pPr>
            <a:r>
              <a:t>Нельзя включать долгий retention без расчета места на repository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Application-Aware Processing: зачем он нужен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Application-Aware Processing готовит приложения внутри гостевой Windows VM к backup</a:t>
            </a:r>
          </a:p>
          <a:p>
            <a:pPr>
              <a:defRPr sz="3600"/>
            </a:pPr>
            <a:r>
              <a:t>Veeam подключается к Guest OS, взаимодействует с VSS и VSS Writers</a:t>
            </a:r>
          </a:p>
          <a:p>
            <a:pPr>
              <a:defRPr sz="3600"/>
            </a:pPr>
            <a:r>
              <a:t>Writers подготавливают приложения, затем создается согласованная точка</a:t>
            </a:r>
          </a:p>
          <a:p>
            <a:pPr>
              <a:defRPr sz="3600"/>
            </a:pPr>
            <a:r>
              <a:t>Для DC, SQL, Exchange и других серверных ролей этот режим особенно важен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Guest Credentials и VSS Writers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Guest Credentials нужны Veeam для доступа внутрь Windows VM</a:t>
            </a:r>
          </a:p>
          <a:p>
            <a:pPr>
              <a:defRPr sz="3600"/>
            </a:pPr>
            <a:r>
              <a:t>VSS Writer — компонент приложения или службы, который сообщает VSS, как подготовить данные</a:t>
            </a:r>
          </a:p>
          <a:p>
            <a:pPr>
              <a:defRPr sz="3600"/>
            </a:pPr>
            <a:r>
              <a:t>Пример проверки состояния Writers в гостевой ОС: vssadmin list writers</a:t>
            </a:r>
          </a:p>
          <a:p>
            <a:pPr>
              <a:defRPr sz="3600"/>
            </a:pPr>
            <a:r>
              <a:t>Ожидаемый результат: основные writers находятся в состоянии Stable и без ошибок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Crash-consistent и application-consistent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Crash-consistent backup похож на состояние после внезапного отключения питания</a:t>
            </a:r>
          </a:p>
          <a:p>
            <a:pPr>
              <a:defRPr sz="3600"/>
            </a:pPr>
            <a:r>
              <a:t>File-system-consistent backup согласует файловую систему, но не всегда приложение</a:t>
            </a:r>
          </a:p>
          <a:p>
            <a:pPr>
              <a:defRPr sz="3600"/>
            </a:pPr>
            <a:r>
              <a:t>Application-consistent backup подтверждает подготовку приложения через VSS Writers</a:t>
            </a:r>
          </a:p>
          <a:p>
            <a:pPr>
              <a:defRPr sz="3600"/>
            </a:pPr>
            <a:r>
              <a:t>Если Guest Processing failed, recovery point может существовать, но уровень согласованности ниже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Особенность Domain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VM Restore контроллера домена не является первым способом вернуть удаленного пользователя</a:t>
            </a:r>
          </a:p>
          <a:p>
            <a:pPr>
              <a:defRPr sz="3600"/>
            </a:pPr>
            <a:r>
              <a:t>Для отдельного удаленного объекта сначала рассматривают AD Recycle Bin</a:t>
            </a:r>
          </a:p>
          <a:p>
            <a:pPr>
              <a:defRPr sz="3600"/>
            </a:pPr>
            <a:r>
              <a:t>Для восстановления состояния AD нужен поддерживаемый AD Recovery Plan</a:t>
            </a:r>
          </a:p>
          <a:p>
            <a:pPr>
              <a:defRPr sz="3600"/>
            </a:pPr>
            <a:r>
              <a:t>Backup DC требует Application-Aware Processing и осторожной проверки в изолированной среде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Шифрование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encryption защищает данные backup при доступе к файлам repository</a:t>
            </a:r>
          </a:p>
          <a:p>
            <a:pPr>
              <a:defRPr sz="3600"/>
            </a:pPr>
            <a:r>
              <a:t>Пароль шифрования нельзя хранить в отчете, Git или открытых инструкциях</a:t>
            </a:r>
          </a:p>
          <a:p>
            <a:pPr>
              <a:defRPr sz="3600"/>
            </a:pPr>
            <a:r>
              <a:t>Потеря encryption password может сделать восстановление невозможным</a:t>
            </a:r>
          </a:p>
          <a:p>
            <a:pPr>
              <a:defRPr sz="3600"/>
            </a:pPr>
            <a:r>
              <a:t>В организации должен быть документированный password recovery process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Configuration Backup самого Veeam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Veeam Backup Server хранит jobs, credentials, repository settings и другие настройки</a:t>
            </a:r>
          </a:p>
          <a:p>
            <a:pPr>
              <a:defRPr sz="3600"/>
            </a:pPr>
            <a:r>
              <a:t>Потеря VBR01 не должна уничтожить понимание backup chains и расписаний</a:t>
            </a:r>
          </a:p>
          <a:p>
            <a:pPr>
              <a:defRPr sz="3600"/>
            </a:pPr>
            <a:r>
              <a:t>Configuration Backup сохраняет конфигурацию Veeam предусмотренным способом</a:t>
            </a:r>
          </a:p>
          <a:p>
            <a:pPr>
              <a:defRPr sz="3600"/>
            </a:pPr>
            <a:r>
              <a:t>В документации фиксируют список repository, jobs, расписаний и критичных параметров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и session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Job Status показывает общий результат задания</a:t>
            </a:r>
          </a:p>
          <a:p>
            <a:pPr>
              <a:defRPr sz="3600"/>
            </a:pPr>
            <a:r>
              <a:t>Per-VM Status показывает, что произошло с каждой защищаемой ВМ</a:t>
            </a:r>
          </a:p>
          <a:p>
            <a:pPr>
              <a:defRPr sz="3600"/>
            </a:pPr>
            <a:r>
              <a:t>Guest Processing Status отдельно подтверждает или опровергает application-aware часть</a:t>
            </a:r>
          </a:p>
          <a:p>
            <a:pPr>
              <a:defRPr sz="3600"/>
            </a:pPr>
            <a:r>
              <a:t>Warning по Guest Processing важнее для SQL, AD DS и Exchange, чем обычное уведомление о почте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Размер incremental нужно читать как сигнал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Большой incremental может быть следствием обновления ОС или массового изменения файлов</a:t>
            </a:r>
          </a:p>
          <a:p>
            <a:pPr>
              <a:defRPr sz="3600"/>
            </a:pPr>
            <a:r>
              <a:t>Также причиной может быть рост базы, журналов, сброс Changed Block Tracking или шифрование данных</a:t>
            </a:r>
          </a:p>
          <a:p>
            <a:pPr>
              <a:defRPr sz="3600"/>
            </a:pPr>
            <a:r>
              <a:t>Сам по себе размер не доказывает аварию, но требует объяснения</a:t>
            </a:r>
          </a:p>
          <a:p>
            <a:pPr>
              <a:defRPr sz="3600"/>
            </a:pPr>
            <a:r>
              <a:t>В отчете фиксируют необычный рост incremental и возможную причину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File-level recovery: когда использовать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File-level recovery извлекает отдельные файлы из recovery point ВМ</a:t>
            </a:r>
          </a:p>
          <a:p>
            <a:pPr>
              <a:defRPr sz="3600"/>
            </a:pPr>
            <a:r>
              <a:t>Подходит, если удален документ, конфигурационный файл или отдельный каталог</a:t>
            </a:r>
          </a:p>
          <a:p>
            <a:pPr>
              <a:defRPr sz="3600"/>
            </a:pPr>
            <a:r>
              <a:t>Это быстрее и безопаснее, чем восстанавливать всю ВМ ради одного файла</a:t>
            </a:r>
          </a:p>
          <a:p>
            <a:pPr>
              <a:defRPr sz="3600"/>
            </a:pPr>
            <a:r>
              <a:t>Для первой проверки лучше использовать Copy To в отдельный путь, а не Overwrite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Практический процесс file-level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Veeam выбрать Backups, нужную ВМ и recovery point</a:t>
            </a:r>
          </a:p>
          <a:p>
            <a:pPr>
              <a:defRPr sz="3600"/>
            </a:pPr>
            <a:r>
              <a:t>Запустить Guest Files Restore для Microsoft Windows и дождаться mount-сессии</a:t>
            </a:r>
          </a:p>
          <a:p>
            <a:pPr>
              <a:defRPr sz="3600"/>
            </a:pPr>
            <a:r>
              <a:t>Найти файл внутри смонтированной точки восстановления</a:t>
            </a:r>
          </a:p>
          <a:p>
            <a:pPr>
              <a:defRPr sz="3600"/>
            </a:pPr>
            <a:r>
              <a:t>Выполнить Copy To в отдельный каталог, затем проверить содержимое и ACL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Mount-сессия при file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Mount-сессия временно подключает содержимое recovery point для просмотра файлов</a:t>
            </a:r>
          </a:p>
          <a:p>
            <a:pPr>
              <a:defRPr sz="3600"/>
            </a:pPr>
            <a:r>
              <a:t>Пока сессия открыта, администратор выбирает нужный объект восстановления</a:t>
            </a:r>
          </a:p>
          <a:p>
            <a:pPr>
              <a:defRPr sz="3600"/>
            </a:pPr>
            <a:r>
              <a:t>После завершения восстановления сессию нужно закрыть корректно</a:t>
            </a:r>
          </a:p>
          <a:p>
            <a:pPr>
              <a:defRPr sz="3600"/>
            </a:pPr>
            <a:r>
              <a:t>Если mount не создается, проверяют repository, права и состояние recovery point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восстановленного файла через 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Get-FileHash вычисляет контрольную сумму файла для сравнения содержимого</a:t>
            </a:r>
          </a:p>
          <a:p>
            <a:pPr>
              <a:defRPr sz="3600"/>
            </a:pPr>
            <a:r>
              <a:t>Пример использования: Get-FileHash C:\Restore-Test\report.docx</a:t>
            </a:r>
          </a:p>
          <a:p>
            <a:pPr>
              <a:defRPr sz="3600"/>
            </a:pPr>
            <a:r>
              <a:t>Ожидаемый результат: вывод содержит Algorithm и Hash</a:t>
            </a:r>
          </a:p>
          <a:p>
            <a:pPr>
              <a:defRPr sz="3600"/>
            </a:pPr>
            <a:r>
              <a:t>Если исходный файл еще существует, сравнивают hash исходной и восстановленной копии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ACL после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Get-Acl показывает список прав доступа к файлу или папке</a:t>
            </a:r>
          </a:p>
          <a:p>
            <a:pPr>
              <a:defRPr sz="3600"/>
            </a:pPr>
            <a:r>
              <a:t>Пример использования: Get-Acl C:\Restore-Test\report.docx | Format-List</a:t>
            </a:r>
          </a:p>
          <a:p>
            <a:pPr>
              <a:defRPr sz="3600"/>
            </a:pPr>
            <a:r>
              <a:t>Ожидаемый результат: видны Owner, Access и наследование прав</a:t>
            </a:r>
          </a:p>
          <a:p>
            <a:pPr>
              <a:defRPr sz="3600"/>
            </a:pPr>
            <a:r>
              <a:t>Если ACL отличаются от ожидаемых, восстановление нельзя считать полностью проверенным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 VM Recovery: когда нужен полный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VM Recovery используют при повреждении ОС, виртуального диска или всей ВМ</a:t>
            </a:r>
          </a:p>
          <a:p>
            <a:pPr>
              <a:defRPr sz="3600"/>
            </a:pPr>
            <a:r>
              <a:t>Варианты восстановления могут включать original location, new location и different settings</a:t>
            </a:r>
          </a:p>
          <a:p>
            <a:pPr>
              <a:defRPr sz="3600"/>
            </a:pPr>
            <a:r>
              <a:t>Для первой лаборатории безопаснее выбирать new location или изолированную test network</a:t>
            </a:r>
          </a:p>
          <a:p>
            <a:pPr>
              <a:defRPr sz="3600"/>
            </a:pPr>
            <a:r>
              <a:t>Прямое восстановление поверх рабочей ВМ слишком рискованно для учебного стенда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Изоляция сети при восстановлении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Восстановленная ВМ может иметь тот же hostname, IP и machine account, что рабочий сервер</a:t>
            </a:r>
          </a:p>
          <a:p>
            <a:pPr>
              <a:defRPr sz="3600"/>
            </a:pPr>
            <a:r>
              <a:t>Перед запуском выбирают Not Connected или Isolated Virtual Switch</a:t>
            </a:r>
          </a:p>
          <a:p>
            <a:pPr>
              <a:defRPr sz="3600"/>
            </a:pPr>
            <a:r>
              <a:t>Network Mapping не должен автоматически подключить ВМ к production network без проверки</a:t>
            </a:r>
          </a:p>
          <a:p>
            <a:pPr>
              <a:defRPr sz="3600"/>
            </a:pPr>
            <a:r>
              <a:t>Особенно опасны DC, DHCP, DNS, mail server и серверы с scheduled tasks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Дубликат ВМ вызывает не только IP-конфликт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Возможны повторная регистрация в DNS, мониторинге и backup-системе</a:t>
            </a:r>
          </a:p>
          <a:p>
            <a:pPr>
              <a:defRPr sz="3600"/>
            </a:pPr>
            <a:r>
              <a:t>DHCP-сервер может начать выдавать адреса в production network</a:t>
            </a:r>
          </a:p>
          <a:p>
            <a:pPr>
              <a:defRPr sz="3600"/>
            </a:pPr>
            <a:r>
              <a:t>Mail server может повторно отправить письма, а scheduled tasks — выполнить действия второй раз</a:t>
            </a:r>
          </a:p>
          <a:p>
            <a:pPr>
              <a:defRPr sz="3600"/>
            </a:pPr>
            <a:r>
              <a:t>Поэтому временная смена IP не заменяет изоляцию восстановленной ВМ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SureBackup и регулярный test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Успешный job не доказывает, что восстановление реально работает</a:t>
            </a:r>
          </a:p>
          <a:p>
            <a:pPr>
              <a:defRPr sz="3600"/>
            </a:pPr>
            <a:r>
              <a:t>SureBackup — механизм автоматизированной проверки backup в изолированной virtual lab</a:t>
            </a:r>
          </a:p>
          <a:p>
            <a:pPr>
              <a:defRPr sz="3600"/>
            </a:pPr>
            <a:r>
              <a:t>Проверки могут включать загрузку ВМ, heartbeat, ping и application tests</a:t>
            </a:r>
          </a:p>
          <a:p>
            <a:pPr>
              <a:defRPr sz="3600"/>
            </a:pPr>
            <a:r>
              <a:t>Даже без SureBackup в лаборатории нужно вручную подтвердить file restore или test restore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уровни доказательства успешного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57D137-A447-ABC7-5361-C0C991E5A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Backup Server, Proxy и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Server: службы Veeam, конфигурационная база, последние успешные jobs</a:t>
            </a:r>
          </a:p>
          <a:p>
            <a:pPr>
              <a:defRPr sz="3600"/>
            </a:pPr>
            <a:r>
              <a:t>Proxy: CPU, RAM, concurrent tasks, transport errors и network throughput</a:t>
            </a:r>
          </a:p>
          <a:p>
            <a:pPr>
              <a:defRPr sz="3600"/>
            </a:pPr>
            <a:r>
              <a:t>Repository: free space, latency, immutability state и возраст последней точки</a:t>
            </a:r>
          </a:p>
          <a:p>
            <a:pPr>
              <a:defRPr sz="3600"/>
            </a:pPr>
            <a:r>
              <a:t>Недостаточная производительность увеличивает backup window и может наложить задания друг на друга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лабораторной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включены для нужного тома, а лимит и расписание зафиксированы</a:t>
            </a:r>
          </a:p>
          <a:p>
            <a:pPr>
              <a:defRPr sz="3600"/>
            </a:pPr>
            <a:r>
              <a:t>Previous Versions проверены с CLIENT01 через \\FS01\Shares</a:t>
            </a:r>
          </a:p>
          <a:p>
            <a:pPr>
              <a:defRPr sz="3600"/>
            </a:pPr>
            <a:r>
              <a:t>Veeam job создает recovery point в repository без необъясненных критичных warning</a:t>
            </a:r>
          </a:p>
          <a:p>
            <a:pPr>
              <a:defRPr sz="3600"/>
            </a:pPr>
            <a:r>
              <a:t>File restore выполнен в отдельный каталог, hash и ACL проверены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дают быстрый локальный возврат версий, но не являются независимым backup</a:t>
            </a:r>
          </a:p>
          <a:p>
            <a:pPr>
              <a:defRPr sz="3600"/>
            </a:pPr>
            <a:r>
              <a:t>Veeam строит централизованную защиту через source, proxy, repository, job и recovery points</a:t>
            </a:r>
          </a:p>
          <a:p>
            <a:pPr>
              <a:defRPr sz="3600"/>
            </a:pPr>
            <a:r>
              <a:t>Application-Aware Processing важен для серверных ролей и должен проверяться отдельно</a:t>
            </a:r>
          </a:p>
          <a:p>
            <a:pPr>
              <a:defRPr sz="3600"/>
            </a:pPr>
            <a:r>
              <a:t>Backup считается надежным только после проверки восстановления и анализа журналов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Shadow Copy отличается от полноценного backup?</a:t>
            </a:r>
          </a:p>
          <a:p>
            <a:pPr>
              <a:defRPr sz="3600"/>
            </a:pPr>
            <a:r>
              <a:t>Почему Shadow Copies включаются для тома, а не для отдельной SMB-папки?</a:t>
            </a:r>
          </a:p>
          <a:p>
            <a:pPr>
              <a:defRPr sz="3600"/>
            </a:pPr>
            <a:r>
              <a:t>Что произойдет при заполнении или уменьшении Shadow Storage?</a:t>
            </a:r>
          </a:p>
          <a:p>
            <a:pPr>
              <a:defRPr sz="3600"/>
            </a:pPr>
            <a:r>
              <a:t>Какие роли выполняют Veeam Backup Server, Backup Proxy и Backup Repository?</a:t>
            </a:r>
          </a:p>
          <a:p>
            <a:pPr>
              <a:defRPr sz="3600"/>
            </a:pPr>
            <a:r>
              <a:t>Когда выбирать Previous Versions, а когда Veeam File-Level Restore?</a:t>
            </a:r>
          </a:p>
          <a:p>
            <a:pPr>
              <a:defRPr sz="3600"/>
            </a:pPr>
            <a:r>
              <a:t>Зачем нужен Application-Aware Processing и Guest Credentials?</a:t>
            </a:r>
          </a:p>
          <a:p>
            <a:pPr>
              <a:defRPr sz="3600"/>
            </a:pPr>
            <a:r>
              <a:t>Почему successful job не доказывает возможность восстановления?</a:t>
            </a:r>
          </a:p>
          <a:p>
            <a:pPr>
              <a:defRPr sz="3600"/>
            </a:pPr>
            <a:r>
              <a:t>Почему восстановленную ВМ нельзя сразу подключать к production network?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2895</Words>
  <Application>Microsoft Office PowerPoint</Application>
  <PresentationFormat>Широкоэкранный</PresentationFormat>
  <Paragraphs>285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2026-07-31T05:38:20Z</dcterms:modified>
  <cp:category/>
</cp:coreProperties>
</file>