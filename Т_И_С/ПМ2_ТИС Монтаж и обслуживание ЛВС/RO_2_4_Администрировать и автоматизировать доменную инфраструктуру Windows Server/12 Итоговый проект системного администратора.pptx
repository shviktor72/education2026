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12. Итоговый проект «День системного администратора»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Тема: проектирование, проверка и передача доменной инфраструктуры Windows Server</a:t>
            </a:r>
          </a:p>
          <a:p>
            <a:pPr>
              <a:defRPr sz="3600"/>
            </a:pPr>
            <a:r>
              <a:t>Итоговый формат: инженерный стенд, демонстрация сценариев и защита решений</a:t>
            </a:r>
          </a:p>
          <a:p>
            <a:pPr>
              <a:defRPr sz="3600"/>
            </a:pPr>
            <a:r>
              <a:t>Проект объединяет Hyper-V, AD DS, DNS, DHCP, Exchange, WDS, WSUS, мониторинг, PowerShell, VPN и backup</a:t>
            </a:r>
          </a:p>
          <a:p>
            <a:pPr>
              <a:defRPr sz="3600"/>
            </a:pPr>
            <a:r>
              <a:t>Главный принцип: инфраструктура считается готовой только после проверки восстановления и документации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оформить итоговый проект не как набор скриншотов, а как инженерную систему</a:t>
            </a:r>
          </a:p>
          <a:p>
            <a:pPr>
              <a:defRPr sz="3600"/>
            </a:pPr>
            <a:r>
              <a:t>Уметь объяснить архитектуру, роли серверов, зависимости, риски и учебные упрощения</a:t>
            </a:r>
          </a:p>
          <a:p>
            <a:pPr>
              <a:defRPr sz="3600"/>
            </a:pPr>
            <a:r>
              <a:t>Уметь определить приемочные проверки, отказные сценарии, RPO, RTO и порядок восстановления</a:t>
            </a:r>
          </a:p>
          <a:p>
            <a:pPr>
              <a:defRPr sz="3600"/>
            </a:pPr>
            <a:r>
              <a:t>Уметь подготовить handover-пакет, по которому другой администратор сможет сопровождать стенд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Архитектура, server roles и virtualization.</a:t>
            </a:r>
          </a:p>
          <a:p>
            <a:pPr>
              <a:defRPr sz="3600"/>
            </a:pPr>
            <a:r>
              <a:t>2. AD DS, DNS, DHCP, time и Exchange.</a:t>
            </a:r>
          </a:p>
          <a:p>
            <a:pPr>
              <a:defRPr sz="3600"/>
            </a:pPr>
            <a:r>
              <a:t>3. WDS, WSUS, monitoring и automation.</a:t>
            </a:r>
          </a:p>
          <a:p>
            <a:pPr>
              <a:defRPr sz="3600"/>
            </a:pPr>
            <a:r>
              <a:t>4. Remote access, backup и disaster recovery.</a:t>
            </a:r>
          </a:p>
          <a:p>
            <a:pPr>
              <a:defRPr sz="3600"/>
            </a:pPr>
            <a:r>
              <a:t>5. Documentation и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Студент разворачивает стенд: DC01, FS01, EX01, DEPLOY01, RRAS01, BACKUP01 и CL01</a:t>
            </a:r>
          </a:p>
          <a:p>
            <a:pPr>
              <a:defRPr sz="3600"/>
            </a:pPr>
            <a:r>
              <a:t>Затем демонстрирует штатную работу, отказ, диагностику, restore и повторную проверку</a:t>
            </a:r>
          </a:p>
          <a:p>
            <a:pPr>
              <a:defRPr sz="3600"/>
            </a:pPr>
            <a:r>
              <a:t>После этого показывает Reboot Test: настройки должны сохраниться после перезапуска хоста</a:t>
            </a:r>
          </a:p>
          <a:p>
            <a:pPr>
              <a:defRPr sz="3600"/>
            </a:pPr>
            <a:r>
              <a:t>Финальный шаг: передает проект другому администратору через документы и инструкции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Границы проекта нужно зафиксировать заранее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проект входят virtualization, domain infrastructure, file services, Exchange, WDS, WSUS, RRAS/VPN и monitoring</a:t>
            </a:r>
          </a:p>
          <a:p>
            <a:pPr>
              <a:defRPr sz="3600"/>
            </a:pPr>
            <a:r>
              <a:t>Обязательны PowerShell automation, Git, backup, restore, incident handling и handover documentation</a:t>
            </a:r>
          </a:p>
          <a:p>
            <a:pPr>
              <a:defRPr sz="3600"/>
            </a:pPr>
            <a:r>
              <a:t>High Availability Exchange, Hyper-V Cluster, Production PKI, публичный DNS и реальная внешняя доставка почты рассматриваются обзорно</a:t>
            </a:r>
          </a:p>
          <a:p>
            <a:pPr>
              <a:defRPr sz="3600"/>
            </a:pPr>
            <a:r>
              <a:t>WDS используется как учебная реализация PXE, WinPE и WIM-развертывания, а не как полный современный endpoint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упрощения нужно назвать 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 Hyper-V Host, один DC, один Exchange и один Backup Repository допустимы в учебном стенде</a:t>
            </a:r>
          </a:p>
          <a:p>
            <a:pPr>
              <a:defRPr sz="3600"/>
            </a:pPr>
            <a:r>
              <a:t>Такая архитектура демонстрирует функции, но содержит Single Points of Failure</a:t>
            </a:r>
          </a:p>
          <a:p>
            <a:pPr>
              <a:defRPr sz="3600"/>
            </a:pPr>
            <a:r>
              <a:t>Single Point of Failure — компонент, отказ которого останавливает важную часть системы</a:t>
            </a:r>
          </a:p>
          <a:p>
            <a:pPr>
              <a:defRPr sz="3600"/>
            </a:pPr>
            <a:r>
              <a:t>В отчете студент обязан указать, какие риски остаются из-за учебного упрощения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итоговый стенд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D832F2-6CBE-16FB-BDCE-017DDBD21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Архитектура проекта начинается с ролей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Архитектура отвечает на вопрос: какие серверы существуют, зачем они нужны и от чего зависят</a:t>
            </a:r>
          </a:p>
          <a:p>
            <a:pPr>
              <a:defRPr sz="3600"/>
            </a:pPr>
            <a:r>
              <a:t>DC01 обслуживает AD DS, DNS, DHCP или часть доменных зависимостей по выбранному варианту</a:t>
            </a:r>
          </a:p>
          <a:p>
            <a:pPr>
              <a:defRPr sz="3600"/>
            </a:pPr>
            <a:r>
              <a:t>FS01 хранит общие папки, домашние каталоги, ACL и Shadow Copies</a:t>
            </a:r>
          </a:p>
          <a:p>
            <a:pPr>
              <a:defRPr sz="3600"/>
            </a:pPr>
            <a:r>
              <a:t>EX01 обслуживает Exchange, mail flow, OWA, certificates и Autodiscover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 roles должны быть однозначными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DEPLOY01 может совмещать WDS и WSUS, если это явно указано в проекте</a:t>
            </a:r>
          </a:p>
          <a:p>
            <a:pPr>
              <a:defRPr sz="3600"/>
            </a:pPr>
            <a:r>
              <a:t>RRAS01 выполняет роль gateway, NAT или VPN-сервера по сценарию</a:t>
            </a:r>
          </a:p>
          <a:p>
            <a:pPr>
              <a:defRPr sz="3600"/>
            </a:pPr>
            <a:r>
              <a:t>BACKUP01 хранит задания, repository, отчеты восстановления и backup configuration</a:t>
            </a:r>
          </a:p>
          <a:p>
            <a:pPr>
              <a:defRPr sz="3600"/>
            </a:pPr>
            <a:r>
              <a:t>CL01 показывает пользовательский сценарий: domain login, GPO, mail, shares, updates и VPN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DEPLOY01 и WSUS: выбрать один вариант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Вариант А: DEPLOY01 совмещает WDS и WSUS; это проще и требует меньше ВМ</a:t>
            </a:r>
          </a:p>
          <a:p>
            <a:pPr>
              <a:defRPr sz="3600"/>
            </a:pPr>
            <a:r>
              <a:t>Вариант Б: WDS01 и WSUS01 разделены; это чище архитектурно и ближе к крупной среде</a:t>
            </a:r>
          </a:p>
          <a:p>
            <a:pPr>
              <a:defRPr sz="3600"/>
            </a:pPr>
            <a:r>
              <a:t>При совмещении нужно проверить disk space, IIS, WSUS Content, WDS Images и backup</a:t>
            </a:r>
          </a:p>
          <a:p>
            <a:pPr>
              <a:defRPr sz="3600"/>
            </a:pPr>
            <a:r>
              <a:t>В защите нельзя оставлять неясность: где именно работает WSUS и где лежит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Единый address plan связывает весь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dc01.corp.test, 192.168.10.10, DNS 192.168.10.10, AD DS/DNS; FS01: 192.168.10.20, File Server</a:t>
            </a:r>
          </a:p>
          <a:p>
            <a:pPr>
              <a:defRPr sz="3600"/>
            </a:pPr>
            <a:r>
              <a:t>EX01: ex01.corp.test, 192.168.10.30, Exchange; DEPLOY01: 192.168.10.40, WDS/WSUS</a:t>
            </a:r>
          </a:p>
          <a:p>
            <a:pPr>
              <a:defRPr sz="3600"/>
            </a:pPr>
            <a:r>
              <a:t>BACKUP01: 192.168.10.50, Backup Repository; RRAS01 LAN: 192.168.10.1, gateway, NAT или VPN</a:t>
            </a:r>
          </a:p>
          <a:p>
            <a:pPr>
              <a:defRPr sz="3600"/>
            </a:pPr>
            <a:r>
              <a:t>DNS-записи, DHCP scope, certificates, firewall rules и отчеты должны ссылаться на те же адреса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Сетевые сегменты фиксируют назначение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Management: управление Hyper-V и серверами</a:t>
            </a:r>
          </a:p>
          <a:p>
            <a:pPr>
              <a:defRPr sz="3600"/>
            </a:pPr>
            <a:r>
              <a:t>Server LAN: DC, FS, EX, WDS, WSUS, Backup и внутренние сервисы</a:t>
            </a:r>
          </a:p>
          <a:p>
            <a:pPr>
              <a:defRPr sz="3600"/>
            </a:pPr>
            <a:r>
              <a:t>Client LAN: рабочие станции и проверка пользовательских сценариев</a:t>
            </a:r>
          </a:p>
          <a:p>
            <a:pPr>
              <a:defRPr sz="3600"/>
            </a:pPr>
            <a:r>
              <a:t>PXE Lab, VPN Pool и External/Transit выделяются отдельно, если этого требует стенд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сетевые сегменты итогового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31605D-DBA1-7603-6580-21B8A7DF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VM Passport превращает ВМ в управляемый объект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каждой ВМ указываются host name, OS version, generation, vCPU, RAM и VHDX</a:t>
            </a:r>
          </a:p>
          <a:p>
            <a:pPr>
              <a:defRPr sz="3600"/>
            </a:pPr>
            <a:r>
              <a:t>Отдельно фиксируются disk type, Secure Boot, static или dynamic memory и virtual switch</a:t>
            </a:r>
          </a:p>
          <a:p>
            <a:pPr>
              <a:defRPr sz="3600"/>
            </a:pPr>
            <a:r>
              <a:t>Для эксплуатации нужны criticality, backup job, checkpoint policy и owner</a:t>
            </a:r>
          </a:p>
          <a:p>
            <a:pPr>
              <a:defRPr sz="3600"/>
            </a:pPr>
            <a:r>
              <a:t>Паспорт ВМ помогает быстро восстановить сервер или передать его другому администратору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 Capacity Plan защищает от перегруза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Сумма ресурсов ВМ не должна механически равняться ресурсам физического хоста</a:t>
            </a:r>
          </a:p>
          <a:p>
            <a:pPr>
              <a:defRPr sz="3600"/>
            </a:pPr>
            <a:r>
              <a:t>Нужно оставить RAM для host OS, backup jobs, checkpoint merge и пикового I/O</a:t>
            </a:r>
          </a:p>
          <a:p>
            <a:pPr>
              <a:defRPr sz="3600"/>
            </a:pPr>
            <a:r>
              <a:t>Exchange обычно требует static memory и заметный запас RAM</a:t>
            </a:r>
          </a:p>
          <a:p>
            <a:pPr>
              <a:defRPr sz="3600"/>
            </a:pPr>
            <a:r>
              <a:t>WSUS Content, WDS Images и VHDX Growth быстро расходуют место на диске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учебного расчета ресурсов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2 vCPU, 4 GB RAM; FS01: 2 vCPU, 4 GB RAM</a:t>
            </a:r>
          </a:p>
          <a:p>
            <a:pPr>
              <a:defRPr sz="3600"/>
            </a:pPr>
            <a:r>
              <a:t>EX01: 4 vCPU, 12-16 GB RAM; DEPLOY01: 2-4 vCPU, 6-8 GB RAM</a:t>
            </a:r>
          </a:p>
          <a:p>
            <a:pPr>
              <a:defRPr sz="3600"/>
            </a:pPr>
            <a:r>
              <a:t>RRAS01: 2 vCPU, 2-4 GB RAM; BACKUP01: 4 vCPU, 8 GB RAM</a:t>
            </a:r>
          </a:p>
          <a:p>
            <a:pPr>
              <a:defRPr sz="3600"/>
            </a:pPr>
            <a:r>
              <a:t>CL01: 2 vCPU, 4 GB RAM; итоговый стенд требует заметного запаса памяти и диска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запуска ВМ задается архитектурой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Типовой порядок: DC01, FS01, EX01, DEPLOY01, BACKUP01, RRAS01, CL01</a:t>
            </a:r>
          </a:p>
          <a:p>
            <a:pPr>
              <a:defRPr sz="3600"/>
            </a:pPr>
            <a:r>
              <a:t>Exchange запускается после AD DS и DNS, иначе почтовые службы могут стартовать с ошибками</a:t>
            </a:r>
          </a:p>
          <a:p>
            <a:pPr>
              <a:defRPr sz="3600"/>
            </a:pPr>
            <a:r>
              <a:t>WDS и WSUS зависят от DNS, IIS, storage и сетевой доступности клиента</a:t>
            </a:r>
          </a:p>
          <a:p>
            <a:pPr>
              <a:defRPr sz="3600"/>
            </a:pPr>
            <a:r>
              <a:t>В Hyper-V можно указать Automatic Start и Startup Delay для зависимых ВМ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Reboot Test выявляет временные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перезагрузки фиксируются IP, routes, mounted databases, services, tasks и backup jobs</a:t>
            </a:r>
          </a:p>
          <a:p>
            <a:pPr>
              <a:defRPr sz="3600"/>
            </a:pPr>
            <a:r>
              <a:t>После reboot host сравниваются те же показатели и выполняются пользовательские тесты</a:t>
            </a:r>
          </a:p>
          <a:p>
            <a:pPr>
              <a:defRPr sz="3600"/>
            </a:pPr>
            <a:r>
              <a:t>Проверяются domain login, DNS, shares, mail flow, scheduled tasks, VPN routes и WDS/WSUS</a:t>
            </a:r>
          </a:p>
          <a:p>
            <a:pPr>
              <a:defRPr sz="3600"/>
            </a:pPr>
            <a:r>
              <a:t>Если стенд работает только до reboot, проект не считается завершенным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AD DS, DNS, DHCP и Time являются фундаментом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DS хранит учетные записи, группы, компьютеры, OU и политики доступа</a:t>
            </a:r>
          </a:p>
          <a:p>
            <a:pPr>
              <a:defRPr sz="3600"/>
            </a:pPr>
            <a:r>
              <a:t>DNS обеспечивает поиск контроллеров домена и серверных ролей через записи A, SRV и PTR</a:t>
            </a:r>
          </a:p>
          <a:p>
            <a:pPr>
              <a:defRPr sz="3600"/>
            </a:pPr>
            <a:r>
              <a:t>DHCP выдает клиенту IP, mask, gateway, DNS и параметры сети</a:t>
            </a:r>
          </a:p>
          <a:p>
            <a:pPr>
              <a:defRPr sz="3600"/>
            </a:pPr>
            <a:r>
              <a:t>Time synchronization поддерживает Kerberos и корректную последовательность событий в журналах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Один DC допустим только как учебное упрощение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Production-дизайн обычно требует минимум DC01 и DC02</a:t>
            </a:r>
          </a:p>
          <a:p>
            <a:pPr>
              <a:defRPr sz="3600"/>
            </a:pPr>
            <a:r>
              <a:t>Второй DC дает DNS redundancy, authentication redundancy и AD replication</a:t>
            </a:r>
          </a:p>
          <a:p>
            <a:pPr>
              <a:defRPr sz="3600"/>
            </a:pPr>
            <a:r>
              <a:t>Если в проекте только DC01, это нужно записать как SPOF и архитектурный риск</a:t>
            </a:r>
          </a:p>
          <a:p>
            <a:pPr>
              <a:defRPr sz="3600"/>
            </a:pPr>
            <a:r>
              <a:t>Команда `repadmin /replsummary` полезна для DC02; при одном DC ее результат ограничен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DHCP нужно разместить осознанно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Вариант А: DC01 выполняет AD DS, DNS и DHCP; это проще для учебного стенда</a:t>
            </a:r>
          </a:p>
          <a:p>
            <a:pPr>
              <a:defRPr sz="3600"/>
            </a:pPr>
            <a:r>
              <a:t>Минус варианта А: отказ DC01 одновременно ломает аутентификацию, DNS и выдачу адресов</a:t>
            </a:r>
          </a:p>
          <a:p>
            <a:pPr>
              <a:defRPr sz="3600"/>
            </a:pPr>
            <a:r>
              <a:t>Вариант Б: DHCP01 выделен отдельно; это чище, но требует дополнительной ВМ</a:t>
            </a:r>
          </a:p>
          <a:p>
            <a:pPr>
              <a:defRPr sz="3600"/>
            </a:pPr>
            <a:r>
              <a:t>Выбранный вариант должен быть отражен в topology, address plan, backup и документации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приемка AD и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`dcdiag /test:DNS /v` — проверяет DNS-тесты контроллера домена; успешный результат не содержит failed tests</a:t>
            </a:r>
          </a:p>
          <a:p>
            <a:pPr>
              <a:defRPr sz="3600"/>
            </a:pPr>
            <a:r>
              <a:t>`Resolve-DnsName -Type SRV _ldap._tcp.dc._msdcs.corp.test` — проверяет SRV-записи поиска DC</a:t>
            </a:r>
          </a:p>
          <a:p>
            <a:pPr>
              <a:defRPr sz="3600"/>
            </a:pPr>
            <a:r>
              <a:t>`w32tm /query /status` — показывает источник времени и состояние синхронизации</a:t>
            </a:r>
          </a:p>
          <a:p>
            <a:pPr>
              <a:defRPr sz="3600"/>
            </a:pPr>
            <a:r>
              <a:t>`nltest /dsgetdc:corp.test` — проверяет, что клиент находит контроллер домена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приемка клиента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`ipconfig /all` — показывает lease, gateway и DNS; DNS должен указывать на доменный DNS</a:t>
            </a:r>
          </a:p>
          <a:p>
            <a:pPr>
              <a:defRPr sz="3600"/>
            </a:pPr>
            <a:r>
              <a:t>`gpresult /r` — показывает примененные GPO; результат нужен для проверки политик</a:t>
            </a:r>
          </a:p>
          <a:p>
            <a:pPr>
              <a:defRPr sz="3600"/>
            </a:pPr>
            <a:r>
              <a:t>`Test-ComputerSecureChannel` — проверяет trust relationship клиента с доменом</a:t>
            </a:r>
          </a:p>
          <a:p>
            <a:pPr>
              <a:defRPr sz="3600"/>
            </a:pPr>
            <a:r>
              <a:t>`whoami /groups` — показывает доменные группы текущего пользователя и помогает проверить доступ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проверяется не только открытием OWA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OWA показывает доступ к веб-интерфейсу, но не доказывает доставку письма</a:t>
            </a:r>
          </a:p>
          <a:p>
            <a:pPr>
              <a:defRPr sz="3600"/>
            </a:pPr>
            <a:r>
              <a:t>Для mail flow нужен сценарий user1@corp.test отправляет письмо user2@corp.test</a:t>
            </a:r>
          </a:p>
          <a:p>
            <a:pPr>
              <a:defRPr sz="3600"/>
            </a:pPr>
            <a:r>
              <a:t>DNS должен содержать mail.corp.test и autodiscover.corp.test</a:t>
            </a:r>
          </a:p>
          <a:p>
            <a:pPr>
              <a:defRPr sz="3600"/>
            </a:pPr>
            <a:r>
              <a:t>Сертификат должен иметь правильные SAN-имена, иначе клиент получит ошибку доверия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Autodiscover — обязательная проверка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Autodiscover помогает Outlook автоматически найти почтовые настройки пользователя</a:t>
            </a:r>
          </a:p>
          <a:p>
            <a:pPr>
              <a:defRPr sz="3600"/>
            </a:pPr>
            <a:r>
              <a:t>Должны совпадать DNS-запись autodiscover.corp.test, SAN сертификата и Virtual Directory URLs</a:t>
            </a:r>
          </a:p>
          <a:p>
            <a:pPr>
              <a:defRPr sz="3600"/>
            </a:pPr>
            <a:r>
              <a:t>Autodiscover SCP хранится в Active Directory и используется доменными клиентами</a:t>
            </a:r>
          </a:p>
          <a:p>
            <a:pPr>
              <a:defRPr sz="3600"/>
            </a:pPr>
            <a:r>
              <a:t>Если OWA работает, но Autodiscover сломан, почтовый сервис нельзя считать полностью готовым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приемки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`Get-MailboxDatabase -Status` — показывает состояние баз; база должна быть mounted</a:t>
            </a:r>
          </a:p>
          <a:p>
            <a:pPr>
              <a:defRPr sz="3600"/>
            </a:pPr>
            <a:r>
              <a:t>`Get-Queue` — показывает очереди транспорта; необъясненный рост очереди означает проблему mail flow</a:t>
            </a:r>
          </a:p>
          <a:p>
            <a:pPr>
              <a:defRPr sz="3600"/>
            </a:pPr>
            <a:r>
              <a:t>`Get-MessageTrackingLog -Recipients user2@corp.test` — ищет факт доставки письма адресату</a:t>
            </a:r>
          </a:p>
          <a:p>
            <a:pPr>
              <a:defRPr sz="3600"/>
            </a:pPr>
            <a:r>
              <a:t>`Get-ExchangeCertificate` — показывает сертификаты; проверяются срок, services и имена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Backup должен быть application-aware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Application-aware backup учитывает VSS Writer Exchange и состояние базы</a:t>
            </a:r>
          </a:p>
          <a:p>
            <a:pPr>
              <a:defRPr sz="3600"/>
            </a:pPr>
            <a:r>
              <a:t>Простой Hyper-V checkpoint не является Exchange Backup</a:t>
            </a:r>
          </a:p>
          <a:p>
            <a:pPr>
              <a:defRPr sz="3600"/>
            </a:pPr>
            <a:r>
              <a:t>После backup проверяются job status, VSS Writer, log truncation и database mounted</a:t>
            </a:r>
          </a:p>
          <a:p>
            <a:pPr>
              <a:defRPr sz="3600"/>
            </a:pPr>
            <a:r>
              <a:t>Restore по возможности демонстрируется как file, item, VM или application restore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зависимости Exchange в доменной инфраструктуре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326B98-E190-1241-E0B6-AC5C3B2F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WDS и WSUS закрывают жизненный цикл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разворачивает Windows через PXE, WinPE и install image</a:t>
            </a:r>
          </a:p>
          <a:p>
            <a:pPr>
              <a:defRPr sz="3600"/>
            </a:pPr>
            <a:r>
              <a:t>После установки клиент получает имя, входит в домен и попадает в нужную OU</a:t>
            </a:r>
          </a:p>
          <a:p>
            <a:pPr>
              <a:defRPr sz="3600"/>
            </a:pPr>
            <a:r>
              <a:t>GPO направляет клиента на WSUS и задает параметры обновлений</a:t>
            </a:r>
          </a:p>
          <a:p>
            <a:pPr>
              <a:defRPr sz="3600"/>
            </a:pPr>
            <a:r>
              <a:t>WSUS показывает регистрацию клиента, approved updates и compliance report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WDS в проекте нужно описывать профессионально 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 используется как учебная реализация сетевого развертывания и работы с WIM</a:t>
            </a:r>
          </a:p>
          <a:p>
            <a:pPr>
              <a:defRPr sz="3600"/>
            </a:pPr>
            <a:r>
              <a:t>В современной производственной среде дополнительно оценивают актуальные средства управления клиентами</a:t>
            </a:r>
          </a:p>
          <a:p>
            <a:pPr>
              <a:defRPr sz="3600"/>
            </a:pPr>
            <a:r>
              <a:t>Для защиты важно показать PXE-цепочку, boot image, install image и сетевые зависимости</a:t>
            </a:r>
          </a:p>
          <a:p>
            <a:pPr>
              <a:defRPr sz="3600"/>
            </a:pPr>
            <a:r>
              <a:t>WDS не должен случайно отвечать в production LAN без ограничений и понимания последствий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WSUS требует минимум два 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Ring — волна обновления, через которую patches проходят от теста к широкой установке</a:t>
            </a:r>
          </a:p>
          <a:p>
            <a:pPr>
              <a:defRPr sz="3600"/>
            </a:pPr>
            <a:r>
              <a:t>Для проекта достаточно CL-PILOT и CL01, чтобы показать продвижение обновлений</a:t>
            </a:r>
          </a:p>
          <a:p>
            <a:pPr>
              <a:defRPr sz="3600"/>
            </a:pPr>
            <a:r>
              <a:t>Лучший вариант: Pilot, Workstations и Servers с разными правилами approval</a:t>
            </a:r>
          </a:p>
          <a:p>
            <a:pPr>
              <a:defRPr sz="3600"/>
            </a:pPr>
            <a:r>
              <a:t>Без rings студент не демонстрирует управление риском обновлений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приемка WDS и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WDS: новый клиент загружается по PXE и получает WinPE или installation wizard</a:t>
            </a:r>
          </a:p>
          <a:p>
            <a:pPr>
              <a:defRPr sz="3600"/>
            </a:pPr>
            <a:r>
              <a:t>Domain Join: клиент входит в corp.test и попадает в правильную OU</a:t>
            </a:r>
          </a:p>
          <a:p>
            <a:pPr>
              <a:defRPr sz="3600"/>
            </a:pPr>
            <a:r>
              <a:t>WSUS: клиент регистрируется, получает назначенную политику и виден в отчете</a:t>
            </a:r>
          </a:p>
          <a:p>
            <a:pPr>
              <a:defRPr sz="3600"/>
            </a:pPr>
            <a:r>
              <a:t>`gpresult /r` — подтверждает GPO WSUS; `wuauclt /detectnow` применяют только как учебный запуск проверки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PXE installation, domain join и WSUS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3A4C1C-6B11-0CE5-CC0E-65A49E36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Baseline должен быть привязан к роли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CPU, RAM, DNS, LDAP events и время отклика доменных служб</a:t>
            </a:r>
          </a:p>
          <a:p>
            <a:pPr>
              <a:defRPr sz="3600"/>
            </a:pPr>
            <a:r>
              <a:t>FS01: free space, disk latency, SMB sessions и ошибки доступа</a:t>
            </a:r>
          </a:p>
          <a:p>
            <a:pPr>
              <a:defRPr sz="3600"/>
            </a:pPr>
            <a:r>
              <a:t>EX01: CPU, RAM, queue, database state и transaction logs</a:t>
            </a:r>
          </a:p>
          <a:p>
            <a:pPr>
              <a:defRPr sz="3600"/>
            </a:pPr>
            <a:r>
              <a:t>DEPLOY01: IIS, WSUS sync, content disk, WDS images и PXE events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Monitoring должен содержать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Alert — условие, при котором система сообщает о проблеме или риске</a:t>
            </a:r>
          </a:p>
          <a:p>
            <a:pPr>
              <a:defRPr sz="3600"/>
            </a:pPr>
            <a:r>
              <a:t>Минимум: free space, critical service stopped, high disk latency и backup failure</a:t>
            </a:r>
          </a:p>
          <a:p>
            <a:pPr>
              <a:defRPr sz="3600"/>
            </a:pPr>
            <a:r>
              <a:t>Для Exchange добавляют queue growth; для WSUS — sync failure; для VPN — service down</a:t>
            </a:r>
          </a:p>
          <a:p>
            <a:pPr>
              <a:defRPr sz="3600"/>
            </a:pPr>
            <a:r>
              <a:t>Не обязательно строить enterprise monitoring, но пороги и реакции должны быть описаны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PowerShell Health Report делает проверку повторяемой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Скрипт читает список серверов из CSV и проверяет DNS, WinRM, uptime, OS и disks</a:t>
            </a:r>
          </a:p>
          <a:p>
            <a:pPr>
              <a:defRPr sz="3600"/>
            </a:pPr>
            <a:r>
              <a:t>Для ролей добавляются services, events, backup status и task scheduler checks</a:t>
            </a:r>
          </a:p>
          <a:p>
            <a:pPr>
              <a:defRPr sz="3600"/>
            </a:pPr>
            <a:r>
              <a:t>Результат формируется в CSV, HTML или JSON для защиты</a:t>
            </a:r>
          </a:p>
          <a:p>
            <a:pPr>
              <a:defRPr sz="3600"/>
            </a:pPr>
            <a:r>
              <a:t>Ошибка одного сервера не должна останавливать проверку остальных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Статусы отчета должны различать причину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OK — проверка выполнена и результат соответствует норме</a:t>
            </a:r>
          </a:p>
          <a:p>
            <a:pPr>
              <a:defRPr sz="3600"/>
            </a:pPr>
            <a:r>
              <a:t>WARNING — есть риск, но сервис еще может работать</a:t>
            </a:r>
          </a:p>
          <a:p>
            <a:pPr>
              <a:defRPr sz="3600"/>
            </a:pPr>
            <a:r>
              <a:t>CRITICAL — сервис или ключевая зависимость нарушены</a:t>
            </a:r>
          </a:p>
          <a:p>
            <a:pPr>
              <a:defRPr sz="3600"/>
            </a:pPr>
            <a:r>
              <a:t>UNKNOWN — проверка не выполнена, например из-за WinRM, DNS или прав доступа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Exit Code нужен для автоматизации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`exit 0` — все проверки OK; Task Scheduler может считать запуск успешным</a:t>
            </a:r>
          </a:p>
          <a:p>
            <a:pPr>
              <a:defRPr sz="3600"/>
            </a:pPr>
            <a:r>
              <a:t>`exit 1` — есть WARNING; администратор должен проверить отчет</a:t>
            </a:r>
          </a:p>
          <a:p>
            <a:pPr>
              <a:defRPr sz="3600"/>
            </a:pPr>
            <a:r>
              <a:t>`exit 2` — есть CRITICAL; требуется реакция</a:t>
            </a:r>
          </a:p>
          <a:p>
            <a:pPr>
              <a:defRPr sz="3600"/>
            </a:pPr>
            <a:r>
              <a:t>`exit 3` — ошибка самого скрипта; нужно исправлять automation, а не сервер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хранит код, но не секреты и не мусор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репозитории должны быть script, sample CSV без секретов, README и changelog</a:t>
            </a:r>
          </a:p>
          <a:p>
            <a:pPr>
              <a:defRPr sz="3600"/>
            </a:pPr>
            <a:r>
              <a:t>В `.gitignore` добавляют reports, logs, transcripts, *.credential.xml и config.private.psd1</a:t>
            </a:r>
          </a:p>
          <a:p>
            <a:pPr>
              <a:defRPr sz="3600"/>
            </a:pPr>
            <a:r>
              <a:t>Пароли, tokens, private keys и реальные credential-файлы запрещено публиковать</a:t>
            </a:r>
          </a:p>
          <a:p>
            <a:pPr>
              <a:defRPr sz="3600"/>
            </a:pPr>
            <a:r>
              <a:t>Git нужен для истории изменений, а не для складирования выходных отчетов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Remote Access отделяется от Management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 VPN дает пользователю доступ только к разрешенным ресурсам</a:t>
            </a:r>
          </a:p>
          <a:p>
            <a:pPr>
              <a:defRPr sz="3600"/>
            </a:pPr>
            <a:r>
              <a:t>Management Access дает администратору RDP, WinRM или консольное управление серверами</a:t>
            </a:r>
          </a:p>
          <a:p>
            <a:pPr>
              <a:defRPr sz="3600"/>
            </a:pPr>
            <a:r>
              <a:t>VPN-пользователь не должен автоматически получать доступ к DC, backup repository и admin shares</a:t>
            </a:r>
          </a:p>
          <a:p>
            <a:pPr>
              <a:defRPr sz="3600"/>
            </a:pPr>
            <a:r>
              <a:t>Администрирование разрешается только из admin segment, нужной группе и по нужным портам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Matrix делает безопасность проверяемой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Matrix содержит source, destination, port, protocol, purpose и decision</a:t>
            </a:r>
          </a:p>
          <a:p>
            <a:pPr>
              <a:defRPr sz="3600"/>
            </a:pPr>
            <a:r>
              <a:t>Пример allow: CL01 -&gt; DC01, 53 TCP/UDP, DNS lookup</a:t>
            </a:r>
          </a:p>
          <a:p>
            <a:pPr>
              <a:defRPr sz="3600"/>
            </a:pPr>
            <a:r>
              <a:t>Пример allow: VPN Pool -&gt; FS01, 445 TCP, approved file access</a:t>
            </a:r>
          </a:p>
          <a:p>
            <a:pPr>
              <a:defRPr sz="3600"/>
            </a:pPr>
            <a:r>
              <a:t>Правило Any -&gt; Any или полное отключение firewall блокирует приемку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проверяется положительным и отрицательным тестом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Разрешенный пользователь входит в VPN-Users, подключается, получает адрес и маршрут</a:t>
            </a:r>
          </a:p>
          <a:p>
            <a:pPr>
              <a:defRPr sz="3600"/>
            </a:pPr>
            <a:r>
              <a:t>После подключения он открывает только разрешенный ресурс, например share на FS01</a:t>
            </a:r>
          </a:p>
          <a:p>
            <a:pPr>
              <a:defRPr sz="3600"/>
            </a:pPr>
            <a:r>
              <a:t>Запрещенный пользователь не входит в группу и должен получить отказ или ограничение доступа</a:t>
            </a:r>
          </a:p>
          <a:p>
            <a:pPr>
              <a:defRPr sz="3600"/>
            </a:pPr>
            <a:r>
              <a:t>Обе попытки фиксируются в журналах, иначе политика доступа не доказана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оценивается через восстановимость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Job Success означает, что задание завершилось, но не доказывает восстановление</a:t>
            </a:r>
          </a:p>
          <a:p>
            <a:pPr>
              <a:defRPr sz="3600"/>
            </a:pPr>
            <a:r>
              <a:t>Backup Integrity показывает, что копия читается и не повреждена</a:t>
            </a:r>
          </a:p>
          <a:p>
            <a:pPr>
              <a:defRPr sz="3600"/>
            </a:pPr>
            <a:r>
              <a:t>Restore Test доказывает, что данные или сервис реально можно вернуть</a:t>
            </a:r>
          </a:p>
          <a:p>
            <a:pPr>
              <a:defRPr sz="3600"/>
            </a:pPr>
            <a:r>
              <a:t>Recovery Time и Recovered Data Point связывают backup с RTO и RPO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RTO и RPO нужно объяснять и измерять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RTO — сколько времени допустимо восстанавливать сервис</a:t>
            </a:r>
          </a:p>
          <a:p>
            <a:pPr>
              <a:defRPr sz="3600"/>
            </a:pPr>
            <a:r>
              <a:t>RPO — какой объем последних данных допустимо потерять</a:t>
            </a:r>
          </a:p>
          <a:p>
            <a:pPr>
              <a:defRPr sz="3600"/>
            </a:pPr>
            <a:r>
              <a:t>Пример RTO: восстановление началось 10:00, сервис доступен 10:24, фактический RTO 24 минуты</a:t>
            </a:r>
          </a:p>
          <a:p>
            <a:pPr>
              <a:defRPr sz="3600"/>
            </a:pPr>
            <a:r>
              <a:t>Пример RPO: файл изменен в 14:00, backup был в 12:00, потенциальная потеря 2 часа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Matrix связывает объект, инструмент и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FS01 Data: file или volume backup, daily, retention 14 days, file restore</a:t>
            </a:r>
          </a:p>
          <a:p>
            <a:pPr>
              <a:defRPr sz="3600"/>
            </a:pPr>
            <a:r>
              <a:t>DC01: System State и поддерживаемый AD-aware restore scenario</a:t>
            </a:r>
          </a:p>
          <a:p>
            <a:pPr>
              <a:defRPr sz="3600"/>
            </a:pPr>
            <a:r>
              <a:t>EX01: application-aware backup, VSS Writer, log truncation и mounted database после восстановления</a:t>
            </a:r>
          </a:p>
          <a:p>
            <a:pPr>
              <a:defRPr sz="3600"/>
            </a:pPr>
            <a:r>
              <a:t>Hyper-V VM: image backup, isolated full VM restore и проверка роли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Shadow Copies — не полноценный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полезны для Previous Versions и быстрого восстановления файла</a:t>
            </a:r>
          </a:p>
          <a:p>
            <a:pPr>
              <a:defRPr sz="3600"/>
            </a:pPr>
            <a:r>
              <a:t>Они находятся на том же сервере и зависят от того же storage</a:t>
            </a:r>
          </a:p>
          <a:p>
            <a:pPr>
              <a:defRPr sz="3600"/>
            </a:pPr>
            <a:r>
              <a:t>Они не защищают от потери сервера, диска, хоста или ransomware-сценария</a:t>
            </a:r>
          </a:p>
          <a:p>
            <a:pPr>
              <a:defRPr sz="3600"/>
            </a:pPr>
            <a:r>
              <a:t>В matrix их нужно отмечать как operational recovery, а не disaster backup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Restore Test должен включать разные уровни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Файл: удалить тестовый файл на FS01 и восстановить его с проверкой ACL</a:t>
            </a:r>
          </a:p>
          <a:p>
            <a:pPr>
              <a:defRPr sz="3600"/>
            </a:pPr>
            <a:r>
              <a:t>Объект или сервис: обзорно восстановить AD object, Exchange item или конфигурацию</a:t>
            </a:r>
          </a:p>
          <a:p>
            <a:pPr>
              <a:defRPr sz="3600"/>
            </a:pPr>
            <a:r>
              <a:t>Полная ВМ: восстановить копию в изолированную сеть и проверить загрузку роли</a:t>
            </a:r>
          </a:p>
          <a:p>
            <a:pPr>
              <a:defRPr sz="3600"/>
            </a:pPr>
            <a:r>
              <a:t>Три уровня показывают, что студент понимает разные recovery scenarios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 VM Restore выполняется в изоляции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запускать восстановленный DC, Exchange, DHCP, RRAS или WSUS рядом с исходной ВМ без плана</a:t>
            </a:r>
          </a:p>
          <a:p>
            <a:pPr>
              <a:defRPr sz="3600"/>
            </a:pPr>
            <a:r>
              <a:t>Риски: одинаковые IP, hostname, конкурирующий DHCP, AD replication и mail flow conflicts</a:t>
            </a:r>
          </a:p>
          <a:p>
            <a:pPr>
              <a:defRPr sz="3600"/>
            </a:pPr>
            <a:r>
              <a:t>Для теста используется Private или Isolated Switch</a:t>
            </a:r>
          </a:p>
          <a:p>
            <a:pPr>
              <a:defRPr sz="3600"/>
            </a:pPr>
            <a:r>
              <a:t>После проверки студент фиксирует RTO, результат и ограничения теста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Disaster Recovery требует приоритета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восстанавливают Hyper-V, storage и network</a:t>
            </a:r>
          </a:p>
          <a:p>
            <a:pPr>
              <a:defRPr sz="3600"/>
            </a:pPr>
            <a:r>
              <a:t>Затем поднимают DC, DNS, Time и authentication</a:t>
            </a:r>
          </a:p>
          <a:p>
            <a:pPr>
              <a:defRPr sz="3600"/>
            </a:pPr>
            <a:r>
              <a:t>После доменных зависимостей восстанавливают file, database и Exchange</a:t>
            </a:r>
          </a:p>
          <a:p>
            <a:pPr>
              <a:defRPr sz="3600"/>
            </a:pPr>
            <a:r>
              <a:t>WDS, WSUS, backup, monitoring и clients возвращают после базовых сервисов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Dependency Matrix определяет порядок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зависит от AD DS, DNS, Time, Certificate и Storage</a:t>
            </a:r>
          </a:p>
          <a:p>
            <a:pPr>
              <a:defRPr sz="3600"/>
            </a:pPr>
            <a:r>
              <a:t>WSUS зависит от DNS, IIS, SUSDB, Storage и Microsoft Update</a:t>
            </a:r>
          </a:p>
          <a:p>
            <a:pPr>
              <a:defRPr sz="3600"/>
            </a:pPr>
            <a:r>
              <a:t>WDS зависит от DHCP, Network, TFTP и Boot Image</a:t>
            </a:r>
          </a:p>
          <a:p>
            <a:pPr>
              <a:defRPr sz="3600"/>
            </a:pPr>
            <a:r>
              <a:t>Backup зависит от network, credentials, repository и VSS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Routine Restore, Incident и Disaster различаются масштабом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Routine Restore — удален один файл или нужно вернуть предыдущую версию</a:t>
            </a:r>
          </a:p>
          <a:p>
            <a:pPr>
              <a:defRPr sz="3600"/>
            </a:pPr>
            <a:r>
              <a:t>Incident Recovery — остановлена служба, заполнен диск, сломана route, DNS или GPO</a:t>
            </a:r>
          </a:p>
          <a:p>
            <a:pPr>
              <a:defRPr sz="3600"/>
            </a:pPr>
            <a:r>
              <a:t>Disaster Recovery — потерян сервер, хост, storage или площадка</a:t>
            </a:r>
          </a:p>
          <a:p>
            <a:pPr>
              <a:defRPr sz="3600"/>
            </a:pPr>
            <a:r>
              <a:t>Итоговый проект показывает минимум routine restore и incident recovery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Checkpoint DC нельзя использовать как обычный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VM-Generation ID снижает часть исторических рисков, но не превращает checkpoint в AD Backup</a:t>
            </a:r>
          </a:p>
          <a:p>
            <a:pPr>
              <a:defRPr sz="3600"/>
            </a:pPr>
            <a:r>
              <a:t>Для объектов лучше использовать AD Recycle Bin или поддерживаемую процедуру восстановления</a:t>
            </a:r>
          </a:p>
          <a:p>
            <a:pPr>
              <a:defRPr sz="3600"/>
            </a:pPr>
            <a:r>
              <a:t>Для DC нужен System State и понимание authoritative или non-authoritative restore</a:t>
            </a:r>
          </a:p>
          <a:p>
            <a:pPr>
              <a:defRPr sz="3600"/>
            </a:pPr>
            <a:r>
              <a:t>Restore DC должен учитывать наличие других контроллеров и состояние репликации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backup, restore и disaster recovery Windows-инфраструктуры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01B0D6-2AAB-B584-160B-E3DAE030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Documentation должна быть as-built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As-built — документация фактического стенда, а не первоначального плана</a:t>
            </a:r>
          </a:p>
          <a:p>
            <a:pPr>
              <a:defRPr sz="3600"/>
            </a:pPr>
            <a:r>
              <a:t>Нельзя сдавать старое имя сервера, планируемый IP, несуществующий route или несвязанную GPO</a:t>
            </a:r>
          </a:p>
          <a:p>
            <a:pPr>
              <a:defRPr sz="3600"/>
            </a:pPr>
            <a:r>
              <a:t>Документ должен совпадать с DNS, DHCP, firewall, backup, monitoring и реальными командами</a:t>
            </a:r>
          </a:p>
          <a:p>
            <a:pPr>
              <a:defRPr sz="3600"/>
            </a:pPr>
            <a:r>
              <a:t>На защите преподаватель может выборочно сверить документ с живой системой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Обязательный пакет документов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Executive Summary, As-built Diagram, Address Plan, Server Inventory и VM Passport</a:t>
            </a:r>
          </a:p>
          <a:p>
            <a:pPr>
              <a:defRPr sz="3600"/>
            </a:pPr>
            <a:r>
              <a:t>Dependency Matrix, Firewall Matrix, Backup Matrix, Monitoring Matrix и GPO List</a:t>
            </a:r>
          </a:p>
          <a:p>
            <a:pPr>
              <a:defRPr sz="3600"/>
            </a:pPr>
            <a:r>
              <a:t>Service Accounts List без паролей, Recovery Guide, Incident Log и Change Log</a:t>
            </a:r>
          </a:p>
          <a:p>
            <a:pPr>
              <a:defRPr sz="3600"/>
            </a:pPr>
            <a:r>
              <a:t>PowerShell README, Known Issues и Handover Checklist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 Inventory и Service Accounts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 Inventory содержит server, OS, role, IP, vCPU, RAM, disks, backup и owner</a:t>
            </a:r>
          </a:p>
          <a:p>
            <a:pPr>
              <a:defRPr sz="3600"/>
            </a:pPr>
            <a:r>
              <a:t>Service Accounts Register содержит имя, назначение, права, владельца и срок пересмотра</a:t>
            </a:r>
          </a:p>
          <a:p>
            <a:pPr>
              <a:defRPr sz="3600"/>
            </a:pPr>
            <a:r>
              <a:t>Для service account указывают, где она используется и запрещен ли interactive logon</a:t>
            </a:r>
          </a:p>
          <a:p>
            <a:pPr>
              <a:defRPr sz="3600"/>
            </a:pPr>
            <a:r>
              <a:t>Пароли, hashes, tokens, private keys и recovery codes в документ не включаются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Handover Package должен иметь стандартную структуру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01-Architecture: схема, address plan и dependency matrix</a:t>
            </a:r>
          </a:p>
          <a:p>
            <a:pPr>
              <a:defRPr sz="3600"/>
            </a:pPr>
            <a:r>
              <a:t>02-Servers: server inventory и VM passports</a:t>
            </a:r>
          </a:p>
          <a:p>
            <a:pPr>
              <a:defRPr sz="3600"/>
            </a:pPr>
            <a:r>
              <a:t>03-Security: firewall matrix, access groups и service accounts</a:t>
            </a:r>
          </a:p>
          <a:p>
            <a:pPr>
              <a:defRPr sz="3600"/>
            </a:pPr>
            <a:r>
              <a:t>04-Backup, 05-Monitoring, 06-Automation, 07-Incidents и 08-Handover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Known Issues и Ownership делают передачу честной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Known Issues фиксирует ограничения: один Hyper-V Host, нет DC02, internal-only Exchange или общий repository</a:t>
            </a:r>
          </a:p>
          <a:p>
            <a:pPr>
              <a:defRPr sz="3600"/>
            </a:pPr>
            <a:r>
              <a:t>Ownership показывает technical owner и business owner для AD, Exchange, FS, backup и VPN</a:t>
            </a:r>
          </a:p>
          <a:p>
            <a:pPr>
              <a:defRPr sz="3600"/>
            </a:pPr>
            <a:r>
              <a:t>Честно описанное ограничение лучше, чем скрытая архитектурная проблема</a:t>
            </a:r>
          </a:p>
          <a:p>
            <a:pPr>
              <a:defRPr sz="3600"/>
            </a:pPr>
            <a:r>
              <a:t>После передачи должно быть понятно, кто отвечает за сервис и кто принимает бизнес-решения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Handover Test проверяет качество документации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Другой студент получает документы и не получает устных подсказок</a:t>
            </a:r>
          </a:p>
          <a:p>
            <a:pPr>
              <a:defRPr sz="3600"/>
            </a:pPr>
            <a:r>
              <a:t>Он находит IP, роли, backup, health check script и recovery guide</a:t>
            </a:r>
          </a:p>
          <a:p>
            <a:pPr>
              <a:defRPr sz="3600"/>
            </a:pPr>
            <a:r>
              <a:t>Затем повторяет mail flow, file restore или выбранную приемочную проверку</a:t>
            </a:r>
          </a:p>
          <a:p>
            <a:pPr>
              <a:defRPr sz="3600"/>
            </a:pPr>
            <a:r>
              <a:t>Если проверка невозможна без автора проекта, handover считается неполным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делает защиту объективной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AD: domain login; DNS: SRV records; DHCP: correct lease; GPO: applied result</a:t>
            </a:r>
          </a:p>
          <a:p>
            <a:pPr>
              <a:defRPr sz="3600"/>
            </a:pPr>
            <a:r>
              <a:t>FS: allow и deny access; Shadow Copies: previous version restored</a:t>
            </a:r>
          </a:p>
          <a:p>
            <a:pPr>
              <a:defRPr sz="3600"/>
            </a:pPr>
            <a:r>
              <a:t>Exchange: mail flow и tracking; WDS: PXE; WSUS: approval и installed report</a:t>
            </a:r>
          </a:p>
          <a:p>
            <a:pPr>
              <a:defRPr sz="3600"/>
            </a:pPr>
            <a:r>
              <a:t>Monitoring, PowerShell, VPN, backup, reboot и handover проверяются отдельными доказательствами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Система баллов помогает оценивать не только клики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Architecture and topology — 10; AD/DNS/DHCP/Time — 15; File Services — 10</a:t>
            </a:r>
          </a:p>
          <a:p>
            <a:pPr>
              <a:defRPr sz="3600"/>
            </a:pPr>
            <a:r>
              <a:t>Exchange — 10; WDS/WSUS — 10; Monitoring/PowerShell — 10</a:t>
            </a:r>
          </a:p>
          <a:p>
            <a:pPr>
              <a:defRPr sz="3600"/>
            </a:pPr>
            <a:r>
              <a:t>RRAS/VPN/Security — 10; Backup/Restore/DR — 15; Documentation/Handover — 10</a:t>
            </a:r>
          </a:p>
          <a:p>
            <a:pPr>
              <a:defRPr sz="3600"/>
            </a:pPr>
            <a:r>
              <a:t>Итого 100 баллов, но блокирующие нарушения применяются отдельно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Критические ошибки блокируют защиту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Нет restore test, студент не может объяснить восстановление или backup хранится только рядом с оригиналом</a:t>
            </a:r>
          </a:p>
          <a:p>
            <a:pPr>
              <a:defRPr sz="3600"/>
            </a:pPr>
            <a:r>
              <a:t>Секреты опубликованы в Git, отчете, скриншотах, scripts или command history</a:t>
            </a:r>
          </a:p>
          <a:p>
            <a:pPr>
              <a:defRPr sz="3600"/>
            </a:pPr>
            <a:r>
              <a:t>Firewall отключен полностью, Everyone Full Control оставлен постоянно или VPN открыт для всех</a:t>
            </a:r>
          </a:p>
          <a:p>
            <a:pPr>
              <a:defRPr sz="3600"/>
            </a:pPr>
            <a:r>
              <a:t>Exchange transaction logs удалены вручную, включен open relay или WDS отвечает в production LAN без ограничений</a:t>
            </a:r>
          </a:p>
          <a:p>
            <a:pPr>
              <a:defRPr sz="3600"/>
            </a:pPr>
            <a:r>
              <a:t>DC восстановлен обычным snapshot без поддерживаемой процедуры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Блокирующая ошибка не обнуляет учебную работу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блокирующей ошибке итоговая оценка ограничивается уровнем 50-60 процентов до исправления</a:t>
            </a:r>
          </a:p>
          <a:p>
            <a:pPr>
              <a:defRPr sz="3600"/>
            </a:pPr>
            <a:r>
              <a:t>Студент должен устранить нарушение и повторно показать затронутый сценарий</a:t>
            </a:r>
          </a:p>
          <a:p>
            <a:pPr>
              <a:defRPr sz="3600"/>
            </a:pPr>
            <a:r>
              <a:t>Такой подход мотивирует исправлять архитектурные ошибки, а не скрывать их</a:t>
            </a:r>
          </a:p>
          <a:p>
            <a:pPr>
              <a:defRPr sz="3600"/>
            </a:pPr>
            <a:r>
              <a:t>После исправления преподаватель оценивает повторную демонстрацию и объяснение причины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 защите оценивается качество объяснения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выбрана такая архитектура и где остались Single Points of Failure</a:t>
            </a:r>
          </a:p>
          <a:p>
            <a:pPr>
              <a:defRPr sz="3600"/>
            </a:pPr>
            <a:r>
              <a:t>Почему Exchange зависит от AD, DNS, certificate, storage и time</a:t>
            </a:r>
          </a:p>
          <a:p>
            <a:pPr>
              <a:defRPr sz="3600"/>
            </a:pPr>
            <a:r>
              <a:t>Почему checkpoint не заменяет backup и почему full VM restore выполняется в изоляции</a:t>
            </a:r>
          </a:p>
          <a:p>
            <a:pPr>
              <a:defRPr sz="3600"/>
            </a:pPr>
            <a:r>
              <a:t>Что произойдет при потере DC01, EX01, RRAS01 или backup repository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Отказные сценарии нужны минимум трех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Служебный отказ: безопасно остановить выбранную службу и показать symptom</a:t>
            </a:r>
          </a:p>
          <a:p>
            <a:pPr>
              <a:defRPr sz="3600"/>
            </a:pPr>
            <a:r>
              <a:t>Конфигурационный отказ: изменить DNS, route, GPO или firewall rule в контролируемой зоне</a:t>
            </a:r>
          </a:p>
          <a:p>
            <a:pPr>
              <a:defRPr sz="3600"/>
            </a:pPr>
            <a:r>
              <a:t>Data Recovery: удалить тестовый файл и восстановить его</a:t>
            </a:r>
          </a:p>
          <a:p>
            <a:pPr>
              <a:defRPr sz="3600"/>
            </a:pPr>
            <a:r>
              <a:t>Дополнительно можно показать WSUS client issue, Exchange queue, VPN route или WDS image problem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Неисправности должны быть обратимыми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Каждый fault имеет способ внесения, ожидаемый симптом, команды диагностики и способ исправления</a:t>
            </a:r>
          </a:p>
          <a:p>
            <a:pPr>
              <a:defRPr sz="3600"/>
            </a:pPr>
            <a:r>
              <a:t>Обязательно описываются rollback, maximum time и ограничение зоны влияния</a:t>
            </a:r>
          </a:p>
          <a:p>
            <a:pPr>
              <a:defRPr sz="3600"/>
            </a:pPr>
            <a:r>
              <a:t>Нельзя вносить повреждение, которое требует полной перестройки стенда</a:t>
            </a:r>
          </a:p>
          <a:p>
            <a:pPr>
              <a:defRPr sz="3600"/>
            </a:pPr>
            <a:r>
              <a:t>После исправления выполняется confirmation test и запись в incident log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Incident Log связывает диагностику и защиту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Incident Log содержит Incident ID, time, symptom, impact и hypothesis</a:t>
            </a:r>
          </a:p>
          <a:p>
            <a:pPr>
              <a:defRPr sz="3600"/>
            </a:pPr>
            <a:r>
              <a:t>Далее фиксируются checks, root cause, fix, rollback и confirmation</a:t>
            </a:r>
          </a:p>
          <a:p>
            <a:pPr>
              <a:defRPr sz="3600"/>
            </a:pPr>
            <a:r>
              <a:t>В конце записывается preventive action: что изменить, чтобы проблема не повторилась</a:t>
            </a:r>
          </a:p>
          <a:p>
            <a:pPr>
              <a:defRPr sz="3600"/>
            </a:pPr>
            <a:r>
              <a:t>Так студент показывает профессиональную логику, а не только случайное исправление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Change Log и Recovery Guide нужны для сопровождения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Change Log содержит date, author, change, reason и result</a:t>
            </a:r>
          </a:p>
          <a:p>
            <a:pPr>
              <a:defRPr sz="3600"/>
            </a:pPr>
            <a:r>
              <a:t>Recovery Guide описывает действия пошагово: определить объект, выбрать recovery point и проверить результат</a:t>
            </a:r>
          </a:p>
          <a:p>
            <a:pPr>
              <a:defRPr sz="3600"/>
            </a:pPr>
            <a:r>
              <a:t>Для file restore проверяют содержимое, ACL и подтверждение пользователя</a:t>
            </a:r>
          </a:p>
          <a:p>
            <a:pPr>
              <a:defRPr sz="3600"/>
            </a:pPr>
            <a:r>
              <a:t>Для VM restore фиксируют isolated network, RTO, роль сервера и итог проверки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Итоговый проект оценивается по архитектуре, сценариям, восстановлению и handover</a:t>
            </a:r>
          </a:p>
          <a:p>
            <a:pPr>
              <a:defRPr sz="3600"/>
            </a:pPr>
            <a:r>
              <a:t>Служба считается настроенной только после проверки пользовательского сценария и зависимостей</a:t>
            </a:r>
          </a:p>
          <a:p>
            <a:pPr>
              <a:defRPr sz="3600"/>
            </a:pPr>
            <a:r>
              <a:t>Backup без restore test, monitoring без baseline и документация без as-built сверки неполны</a:t>
            </a:r>
          </a:p>
          <a:p>
            <a:pPr>
              <a:defRPr sz="3600"/>
            </a:pPr>
            <a:r>
              <a:t>Хороший проект честно показывает ограничения и оставляет систему понятной следующему администратору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роли входят в итоговый стенд и какие SPOF в нем остаются?</a:t>
            </a:r>
          </a:p>
          <a:p>
            <a:pPr>
              <a:defRPr sz="3600"/>
            </a:pPr>
            <a:r>
              <a:t>Чем RPO отличается от RTO и как измерить фактический RTO?</a:t>
            </a:r>
          </a:p>
          <a:p>
            <a:pPr>
              <a:defRPr sz="3600"/>
            </a:pPr>
            <a:r>
              <a:t>Почему Exchange зависит от AD, DNS, certificate и time?</a:t>
            </a:r>
          </a:p>
          <a:p>
            <a:pPr>
              <a:defRPr sz="3600"/>
            </a:pPr>
            <a:r>
              <a:t>Почему full VM restore выполняется в изолированной сети?</a:t>
            </a:r>
          </a:p>
          <a:p>
            <a:pPr>
              <a:defRPr sz="3600"/>
            </a:pPr>
            <a:r>
              <a:t>Что должно входить в handover package и какие сведения нельзя туда включать?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3819</Words>
  <Application>Microsoft Office PowerPoint</Application>
  <PresentationFormat>Широкоэкранный</PresentationFormat>
  <Paragraphs>333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2026-07-31T05:59:26Z</dcterms:modified>
  <cp:category/>
</cp:coreProperties>
</file>