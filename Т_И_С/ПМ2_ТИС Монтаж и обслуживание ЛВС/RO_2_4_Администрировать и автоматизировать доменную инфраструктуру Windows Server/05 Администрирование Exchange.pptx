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5. Администрирование и защита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Различать почтовые объекты Exchange и выбирать правильный тип для задачи</a:t>
            </a:r>
          </a:p>
          <a:p>
            <a:pPr>
              <a:defRPr sz="3600"/>
            </a:pPr>
            <a:r>
              <a:t>Назначать и проверять Full Access, Send As и Send on Behalf</a:t>
            </a:r>
          </a:p>
          <a:p>
            <a:pPr>
              <a:defRPr sz="3600"/>
            </a:pPr>
            <a:r>
              <a:t>Управлять forwarding, auto reply, quotas, mailbox databases и mailbox moves</a:t>
            </a:r>
          </a:p>
          <a:p>
            <a:pPr>
              <a:defRPr sz="3600"/>
            </a:pPr>
            <a:r>
              <a:t>Диагностировать mail flow через connectors, queue, tracking logs, rules и NDR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User, Shared, Room и Equipment Mailboxes; groups и contacts.</a:t>
            </a:r>
          </a:p>
          <a:p>
            <a:pPr>
              <a:defRPr sz="3600"/>
            </a:pPr>
            <a:r>
              <a:t>2. Full Access, Send As, Send on Behalf; forwarding, replies и quotas.</a:t>
            </a:r>
          </a:p>
          <a:p>
            <a:pPr>
              <a:defRPr sz="3600"/>
            </a:pPr>
            <a:r>
              <a:t>3. Databases и mailbox moves.</a:t>
            </a:r>
          </a:p>
          <a:p>
            <a:pPr>
              <a:defRPr sz="3600"/>
            </a:pPr>
            <a:r>
              <a:t>4. Accepted Domains, policies, connectors, queue и tracking.</a:t>
            </a:r>
          </a:p>
          <a:p>
            <a:pPr>
              <a:defRPr sz="3600"/>
            </a:pPr>
            <a:r>
              <a:t>5. Mail Flow Rules, limits, antispam, SPF, DKIM и DMARC.</a:t>
            </a:r>
          </a:p>
          <a:p>
            <a:pPr>
              <a:defRPr sz="3600"/>
            </a:pPr>
            <a:r>
              <a:t>6. Диагностика недоставленных сообщений.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домене corp.test администратор обслуживает Exchange Server EX01</a:t>
            </a:r>
          </a:p>
          <a:p>
            <a:pPr>
              <a:defRPr sz="3600"/>
            </a:pPr>
            <a:r>
              <a:t>Создаются ipetrov, support, room101, группа it и внешний contact partner@example.test</a:t>
            </a:r>
          </a:p>
          <a:p>
            <a:pPr>
              <a:defRPr sz="3600"/>
            </a:pPr>
            <a:r>
              <a:t>Проверяются права, forwarding, quotas, DB02, move request, queue и tracking</a:t>
            </a:r>
          </a:p>
          <a:p>
            <a:pPr>
              <a:defRPr sz="3600"/>
            </a:pPr>
            <a:r>
              <a:t>Итоговая проверка: user1@corp.test отправляет письмо user2@corp.test, а администратор доказывает доставку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объекты Exchange и задачи администратора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99F4A8-2727-BBBB-0C3A-27BBF4519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Тип почтового объекта выбирают по рабочей задаче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User Mailbox — личный почтовый ящик сотрудника, связанный с учетной записью Active Directory</a:t>
            </a:r>
          </a:p>
          <a:p>
            <a:pPr>
              <a:defRPr sz="3600"/>
            </a:pPr>
            <a:r>
              <a:t>Shared Mailbox — общий адрес отдела, например support@corp.test, доступный через делегирование</a:t>
            </a:r>
          </a:p>
          <a:p>
            <a:pPr>
              <a:defRPr sz="3600"/>
            </a:pPr>
            <a:r>
              <a:t>Room и Equipment Mailboxes — ресурсные ящики для переговорных и оборудования</a:t>
            </a:r>
          </a:p>
          <a:p>
            <a:pPr>
              <a:defRPr sz="3600"/>
            </a:pPr>
            <a:r>
              <a:t>Mail Contact, Mail User и группы нужны не для хранения личной почты, а для адресной книги и маршрутизации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Почтовые объекты различаются по наличию mailbox и AD-учётки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User Mailbox имеет mailbox и активную учетную запись пользователя</a:t>
            </a:r>
          </a:p>
          <a:p>
            <a:pPr>
              <a:defRPr sz="3600"/>
            </a:pPr>
            <a:r>
              <a:t>Shared Mailbox имеет mailbox, но обычно не используется для прямого интерактивного входа</a:t>
            </a:r>
          </a:p>
          <a:p>
            <a:pPr>
              <a:defRPr sz="3600"/>
            </a:pPr>
            <a:r>
              <a:t>Mail Contact не имеет mailbox и представляет внешний адрес в GAL (Global Address List)</a:t>
            </a:r>
          </a:p>
          <a:p>
            <a:pPr>
              <a:defRPr sz="3600"/>
            </a:pPr>
            <a:r>
              <a:t>Distribution Group не хранит почту, а рассылает сообщение участникам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New-Mailbox создаёт пользователя и mailbox одновременно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подходит, если учетная запись AD еще не создана</a:t>
            </a:r>
          </a:p>
          <a:p>
            <a:pPr>
              <a:defRPr sz="3600"/>
            </a:pPr>
            <a:r>
              <a:t>Пример использования: New-Mailbox -Name 'Ivan Petrov' -Alias ipetrov -UserPrincipalName ipetrov@corp.test -SamAccountName ipetrov -OrganizationalUnit 'corp.test/Corp/Users' -Password (Read-Host 'Password' -AsSecureString) -ResetPasswordOnNextLogon $true</a:t>
            </a:r>
          </a:p>
          <a:p>
            <a:pPr>
              <a:defRPr sz="3600"/>
            </a:pPr>
            <a:r>
              <a:t>Ожидаемый результат: появляется AD user ipetrov и mailbox с адресом ipetrov@corp.test</a:t>
            </a:r>
          </a:p>
          <a:p>
            <a:pPr>
              <a:defRPr sz="3600"/>
            </a:pPr>
            <a:r>
              <a:t>Путь OU (Organizational Unit) нужно брать из фактической структуры домена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Enable-Mailbox используется для существующего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Перед включением mailbox нужно убедиться, что выбран правильный AD user</a:t>
            </a:r>
          </a:p>
          <a:p>
            <a:pPr>
              <a:defRPr sz="3600"/>
            </a:pPr>
            <a:r>
              <a:t>Проверка пользователя: Get-User ipetrov</a:t>
            </a:r>
          </a:p>
          <a:p>
            <a:pPr>
              <a:defRPr sz="3600"/>
            </a:pPr>
            <a:r>
              <a:t>Проверка отсутствия mailbox: Get-Mailbox ipetrov -ErrorAction SilentlyContinue</a:t>
            </a:r>
          </a:p>
          <a:p>
            <a:pPr>
              <a:defRPr sz="3600"/>
            </a:pPr>
            <a:r>
              <a:t>Пример использования: Enable-Mailbox -Identity ipetrov -Database DB01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Shared Mailbox создаётся отдельной командой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Shared Mailbox предназначен для совместного доступа к общему адресу</a:t>
            </a:r>
          </a:p>
          <a:p>
            <a:pPr>
              <a:defRPr sz="3600"/>
            </a:pPr>
            <a:r>
              <a:t>Пример использования: New-Mailbox -Shared -Name 'Support' -DisplayName 'Support Department' -Alias support</a:t>
            </a:r>
          </a:p>
          <a:p>
            <a:pPr>
              <a:defRPr sz="3600"/>
            </a:pPr>
            <a:r>
              <a:t>Проверка: Get-Mailbox support | Select-Object Name,RecipientTypeDetails,PrimarySmtpAddress</a:t>
            </a:r>
          </a:p>
          <a:p>
            <a:pPr>
              <a:defRPr sz="3600"/>
            </a:pPr>
            <a:r>
              <a:t>Пользователям не сообщают пароль связанной учетной записи shared mailbox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Room и Equipment Mailboxes проверяются ресурсным сценарием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Room Mailbox бронирует переговорную комнату, Equipment Mailbox — оборудование</a:t>
            </a:r>
          </a:p>
          <a:p>
            <a:pPr>
              <a:defRPr sz="3600"/>
            </a:pPr>
            <a:r>
              <a:t>Пример комнаты: New-Mailbox -Room -Name 'Room 101' -Alias room101</a:t>
            </a:r>
          </a:p>
          <a:p>
            <a:pPr>
              <a:defRPr sz="3600"/>
            </a:pPr>
            <a:r>
              <a:t>Пример оборудования: New-Mailbox -Equipment -Name 'Projector 01' -Alias projector01</a:t>
            </a:r>
          </a:p>
          <a:p>
            <a:pPr>
              <a:defRPr sz="3600"/>
            </a:pPr>
            <a:r>
              <a:t>Создание ресурса подтверждается приглашением в календаре, а не только выводом Get-Mailbox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Calendar Processing управляет бронированием room mailbox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Set-CalendarProcessing задает автоматическую обработку приглашений</a:t>
            </a:r>
          </a:p>
          <a:p>
            <a:pPr>
              <a:defRPr sz="3600"/>
            </a:pPr>
            <a:r>
              <a:t>Пример использования: Set-CalendarProcessing -Identity room101 -AutomateProcessing AutoAccept</a:t>
            </a:r>
          </a:p>
          <a:p>
            <a:pPr>
              <a:defRPr sz="3600"/>
            </a:pPr>
            <a:r>
              <a:t>Проверка: Get-CalendarProcessing room101 | Format-List AutomateProcessing,AllBookInPolicy,BookingWindowInDays,MaximumDurationInMinutes</a:t>
            </a:r>
          </a:p>
          <a:p>
            <a:pPr>
              <a:defRPr sz="3600"/>
            </a:pPr>
            <a:r>
              <a:t>Ожидаемый результат: корректное приглашение принимается, конфликтующее — отклоняется или требует согласования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Группы Exchange бывают разного назначения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Distribution Group рассылает сообщение статическому списку участников</a:t>
            </a:r>
          </a:p>
          <a:p>
            <a:pPr>
              <a:defRPr sz="3600"/>
            </a:pPr>
            <a:r>
              <a:t>Dynamic Distribution Group формирует участников по фильтру получателей</a:t>
            </a:r>
          </a:p>
          <a:p>
            <a:pPr>
              <a:defRPr sz="3600"/>
            </a:pPr>
            <a:r>
              <a:t>Mail-enabled Security Group может использоваться и для прав, и для рассылки</a:t>
            </a:r>
          </a:p>
          <a:p>
            <a:pPr>
              <a:defRPr sz="3600"/>
            </a:pPr>
            <a:r>
              <a:t>Тип группы выбирают до настройки, чтобы не смешивать безопасность и коммуникацию без необходимости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Distribution Group создаётся и проверяется через 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EMS (Exchange Management Shell) позволяет создать группу и добавить участников повторяемо</a:t>
            </a:r>
          </a:p>
          <a:p>
            <a:pPr>
              <a:defRPr sz="3600"/>
            </a:pPr>
            <a:r>
              <a:t>Пример использования: New-DistributionGroup -Name 'IT Department' -Alias it -PrimarySmtpAddress it@corp.test</a:t>
            </a:r>
          </a:p>
          <a:p>
            <a:pPr>
              <a:defRPr sz="3600"/>
            </a:pPr>
            <a:r>
              <a:t>Добавление участника: Add-DistributionGroupMember -Identity 'IT Department' -Member ipetrov</a:t>
            </a:r>
          </a:p>
          <a:p>
            <a:pPr>
              <a:defRPr sz="3600"/>
            </a:pPr>
            <a:r>
              <a:t>Проверка: Get-DistributionGroupMember 'IT Department'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Mail Contact и Mail User решают разные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Mail Contact — объект контакта с внешним адресом без локальной учетной записи</a:t>
            </a:r>
          </a:p>
          <a:p>
            <a:pPr>
              <a:defRPr sz="3600"/>
            </a:pPr>
            <a:r>
              <a:t>Пример использования: New-MailContact -Name 'External Partner' -ExternalEmailAddress partner@example.test</a:t>
            </a:r>
          </a:p>
          <a:p>
            <a:pPr>
              <a:defRPr sz="3600"/>
            </a:pPr>
            <a:r>
              <a:t>Mail User имеет AD user, но почта хранится во внешней системе</a:t>
            </a:r>
          </a:p>
          <a:p>
            <a:pPr>
              <a:defRPr sz="3600"/>
            </a:pPr>
            <a:r>
              <a:t>Проверка контактов: Get-MailContact | Select-Object Name,ExternalEmailAddress,PrimarySmtpAddress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User Mailbox, Shared Mailbox, Contact и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9F677A-1414-AA24-324E-5AE3AF026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Права mailbox нельзя смешивать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Full Access дает доступ к содержимому mailbox</a:t>
            </a:r>
          </a:p>
          <a:p>
            <a:pPr>
              <a:defRPr sz="3600"/>
            </a:pPr>
            <a:r>
              <a:t>Send As делает письмо визуально отправленным от имени shared mailbox</a:t>
            </a:r>
          </a:p>
          <a:p>
            <a:pPr>
              <a:defRPr sz="3600"/>
            </a:pPr>
            <a:r>
              <a:t>Send on Behalf показывает делегата: «Ivan Petrov от имени Support»</a:t>
            </a:r>
          </a:p>
          <a:p>
            <a:pPr>
              <a:defRPr sz="3600"/>
            </a:pPr>
            <a:r>
              <a:t>Частая ошибка — назначить Full Access и ожидать автоматическое право отправки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Full Access назначается через Add-MailboxPermission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дает пользователю доступ к содержимому mailbox</a:t>
            </a:r>
          </a:p>
          <a:p>
            <a:pPr>
              <a:defRPr sz="3600"/>
            </a:pPr>
            <a:r>
              <a:t>Пример использования: Add-MailboxPermission -Identity support -User ipetrov -AccessRights FullAccess -InheritanceType All -AutoMapping $true</a:t>
            </a:r>
          </a:p>
          <a:p>
            <a:pPr>
              <a:defRPr sz="3600"/>
            </a:pPr>
            <a:r>
              <a:t>AutoMapping управляет автоматическим появлением mailbox в Outlook</a:t>
            </a:r>
          </a:p>
          <a:p>
            <a:pPr>
              <a:defRPr sz="3600"/>
            </a:pPr>
            <a:r>
              <a:t>Ожидаемый результат: ipetrov может открыть support mailbox после применения разрешения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Full Access нужно проверить и уметь удалить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Проверка: Get-MailboxPermission support | Where-Object {$_.User -like '*ipetrov*' -and $_.AccessRights -contains 'FullAccess'}</a:t>
            </a:r>
          </a:p>
          <a:p>
            <a:pPr>
              <a:defRPr sz="3600"/>
            </a:pPr>
            <a:r>
              <a:t>Удаление: Remove-MailboxPermission -Identity support -User ipetrov -AccessRights FullAccess -InheritanceType All -Confirm:$false</a:t>
            </a:r>
          </a:p>
          <a:p>
            <a:pPr>
              <a:defRPr sz="3600"/>
            </a:pPr>
            <a:r>
              <a:t>EMS-проверка подтверждает запись разрешения, но пользовательский тест подтверждает реальный доступ</a:t>
            </a:r>
          </a:p>
          <a:p>
            <a:pPr>
              <a:defRPr sz="3600"/>
            </a:pPr>
            <a:r>
              <a:t>Если доступ не появился сразу, учитывают AD replication, Autodiscover и клиентский кэш Outlook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Send As назначается отдельно от Full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Send As разрешает отправлять письмо так, будто отправитель — support@corp.test</a:t>
            </a:r>
          </a:p>
          <a:p>
            <a:pPr>
              <a:defRPr sz="3600"/>
            </a:pPr>
            <a:r>
              <a:t>Пример использования: Add-RecipientPermission -Identity support -Trustee ipetrov -AccessRights SendAs -Confirm:$false</a:t>
            </a:r>
          </a:p>
          <a:p>
            <a:pPr>
              <a:defRPr sz="3600"/>
            </a:pPr>
            <a:r>
              <a:t>Проверка: Get-RecipientPermission support | Where-Object {$_.Trustee -like '*ipetrov*' -and $_.AccessRights -contains 'SendAs'}</a:t>
            </a:r>
          </a:p>
          <a:p>
            <a:pPr>
              <a:defRPr sz="3600"/>
            </a:pPr>
            <a:r>
              <a:t>Удаление: Remove-RecipientPermission -Identity support -Trustee ipetrov -AccessRights SendAs -Confirm:$false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Send on Behalf показывает делегата отправки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Это право полезно, когда получатель должен видеть, кто фактически отправил письмо</a:t>
            </a:r>
          </a:p>
          <a:p>
            <a:pPr>
              <a:defRPr sz="3600"/>
            </a:pPr>
            <a:r>
              <a:t>Назначение: Set-Mailbox support -GrantSendOnBehalfTo @{Add='ipetrov'}</a:t>
            </a:r>
          </a:p>
          <a:p>
            <a:pPr>
              <a:defRPr sz="3600"/>
            </a:pPr>
            <a:r>
              <a:t>Проверка: Get-Mailbox support | Select-Object -ExpandProperty GrantSendOnBehalfTo</a:t>
            </a:r>
          </a:p>
          <a:p>
            <a:pPr>
              <a:defRPr sz="3600"/>
            </a:pPr>
            <a:r>
              <a:t>Удаление: Set-Mailbox support -GrantSendOnBehalfTo @{Remove='ipetrov'}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Приёмка делегирования выполняется реальным письмом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EMS должен показать назначенное разрешение</a:t>
            </a:r>
          </a:p>
          <a:p>
            <a:pPr>
              <a:defRPr sz="3600"/>
            </a:pPr>
            <a:r>
              <a:t>ipetrov должен войти в OWA или Outlook и открыть shared mailbox</a:t>
            </a:r>
          </a:p>
          <a:p>
            <a:pPr>
              <a:defRPr sz="3600"/>
            </a:pPr>
            <a:r>
              <a:t>Для Send As получатель должен видеть отправителем support@corp.test</a:t>
            </a:r>
          </a:p>
          <a:p>
            <a:pPr>
              <a:defRPr sz="3600"/>
            </a:pPr>
            <a:r>
              <a:t>Для Send on Behalf получатель должен видеть, что письмо отправлено делегатом от имени support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Forwarding бывает внутренним и внешним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ForwardingAddress указывает внутреннего получателя Exchange</a:t>
            </a:r>
          </a:p>
          <a:p>
            <a:pPr>
              <a:defRPr sz="3600"/>
            </a:pPr>
            <a:r>
              <a:t>Пример использования: Set-Mailbox ipetrov -ForwardingAddress support -DeliverToMailboxAndForward $true</a:t>
            </a:r>
          </a:p>
          <a:p>
            <a:pPr>
              <a:defRPr sz="3600"/>
            </a:pPr>
            <a:r>
              <a:t>ForwardingSmtpAddress указывает внешний SMTP-адрес</a:t>
            </a:r>
          </a:p>
          <a:p>
            <a:pPr>
              <a:defRPr sz="3600"/>
            </a:pPr>
            <a:r>
              <a:t>Пример использования: Set-Mailbox ipetrov -ForwardingSmtpAddress external@example.test -DeliverToMailboxAndForward $true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DeliverToMailboxAndForward влияет на хранение переписки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$true означает: письмо остается в исходном mailbox и копия пересылается дальше</a:t>
            </a:r>
          </a:p>
          <a:p>
            <a:pPr>
              <a:defRPr sz="3600"/>
            </a:pPr>
            <a:r>
              <a:t>$false означает: письмо пересылается, но в исходном mailbox может не сохраниться</a:t>
            </a:r>
          </a:p>
          <a:p>
            <a:pPr>
              <a:defRPr sz="3600"/>
            </a:pPr>
            <a:r>
              <a:t>Это критично для расследований, eDiscovery и требований хранения переписки</a:t>
            </a:r>
          </a:p>
          <a:p>
            <a:pPr>
              <a:defRPr sz="3600"/>
            </a:pPr>
            <a:r>
              <a:t>Внешняя автоматическая пересылка может быть запрещена политикой организации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Auto Reply настраивается штатным механизмом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Auto Reply сообщает отправителю о временном отсутствии или регламенте обработки</a:t>
            </a:r>
          </a:p>
          <a:p>
            <a:pPr>
              <a:defRPr sz="3600"/>
            </a:pPr>
            <a:r>
              <a:t>Пример использования: Set-MailboxAutoReplyConfiguration -Identity ipetrov -AutoReplyState Enabled -InternalMessage 'Пользователь временно отсутствует.' -ExternalMessage 'Your message has been received.' -ExternalAudience Known</a:t>
            </a:r>
          </a:p>
          <a:p>
            <a:pPr>
              <a:defRPr sz="3600"/>
            </a:pPr>
            <a:r>
              <a:t>Проверка: Get-MailboxAutoReplyConfiguration ipetrov</a:t>
            </a:r>
          </a:p>
          <a:p>
            <a:pPr>
              <a:defRPr sz="3600"/>
            </a:pPr>
            <a:r>
              <a:t>Состояния: Disabled, Enabled и Scheduled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Внешний auto reply не должен раскрывать лишнее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Во внешнем ответе не указывают внутренние телефоны, адреса систем и конфиденциальные инструкции</a:t>
            </a:r>
          </a:p>
          <a:p>
            <a:pPr>
              <a:defRPr sz="3600"/>
            </a:pPr>
            <a:r>
              <a:t>Не стоит раскрывать точные даты отсутствия руководителей и структуру организации</a:t>
            </a:r>
          </a:p>
          <a:p>
            <a:pPr>
              <a:defRPr sz="3600"/>
            </a:pPr>
            <a:r>
              <a:t>Для внешних отправителей текст должен быть минимальным и безопасным</a:t>
            </a:r>
          </a:p>
          <a:p>
            <a:pPr>
              <a:defRPr sz="3600"/>
            </a:pPr>
            <a:r>
              <a:t>Auto Reply проверяют тестовым письмом с внутреннего и внешнего сценария, если он доступен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Mailbox quotas задают три порога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IssueWarningQuota предупреждает пользователя о приближении к лимиту</a:t>
            </a:r>
          </a:p>
          <a:p>
            <a:pPr>
              <a:defRPr sz="3600"/>
            </a:pPr>
            <a:r>
              <a:t>ProhibitSendQuota запрещает отправку новых сообщений</a:t>
            </a:r>
          </a:p>
          <a:p>
            <a:pPr>
              <a:defRPr sz="3600"/>
            </a:pPr>
            <a:r>
              <a:t>ProhibitSendReceiveQuota запрещает отправку и прием</a:t>
            </a:r>
          </a:p>
          <a:p>
            <a:pPr>
              <a:defRPr sz="3600"/>
            </a:pPr>
            <a:r>
              <a:t>Порядок должен быть строгим: warning меньше prohibit send, а prohibit send меньше prohibit send/receive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Индивидуальные quota включаются явно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Mailbox может наследовать quota от database, поэтому индивидуальные значения не всегда действуют</a:t>
            </a:r>
          </a:p>
          <a:p>
            <a:pPr>
              <a:defRPr sz="3600"/>
            </a:pPr>
            <a:r>
              <a:t>Пример использования: Set-Mailbox ipetrov -UseDatabaseQuotaDefaults $false -IssueWarningQuota '1800MB' -ProhibitSendQuota '1900MB' -ProhibitSendReceiveQuota '2GB'</a:t>
            </a:r>
          </a:p>
          <a:p>
            <a:pPr>
              <a:defRPr sz="3600"/>
            </a:pPr>
            <a:r>
              <a:t>Проверка: Get-Mailbox ipetrov | Select-Object UseDatabaseQuotaDefaults,IssueWarningQuota,ProhibitSendQuota,ProhibitSendReceiveQuota</a:t>
            </a:r>
          </a:p>
          <a:p>
            <a:pPr>
              <a:defRPr sz="3600"/>
            </a:pPr>
            <a:r>
              <a:t>Ожидаемый результат: UseDatabaseQuotaDefaults равен False, а пороги идут в правильном порядке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Quota может наследоваться от mailbox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UseDatabaseQuotaDefaults равен True, фактически действуют настройки database</a:t>
            </a:r>
          </a:p>
          <a:p>
            <a:pPr>
              <a:defRPr sz="3600"/>
            </a:pPr>
            <a:r>
              <a:t>Проверка: Get-MailboxDatabase DB01 | Select-Object IssueWarningQuota,ProhibitSendQuota,ProhibitSendReceiveQuota</a:t>
            </a:r>
          </a:p>
          <a:p>
            <a:pPr>
              <a:defRPr sz="3600"/>
            </a:pPr>
            <a:r>
              <a:t>В отчете нужно показать источник quota: mailbox или database</a:t>
            </a:r>
          </a:p>
          <a:p>
            <a:pPr>
              <a:defRPr sz="3600"/>
            </a:pPr>
            <a:r>
              <a:t>Quota не гарантирует свободное место на диске, потому что растут logs, queues, indexes и recoverable items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External forwarding нужно регулярно искать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Проверка помогает найти забытые пересылки и возможную утечку данных</a:t>
            </a:r>
          </a:p>
          <a:p>
            <a:pPr>
              <a:defRPr sz="3600"/>
            </a:pPr>
            <a:r>
              <a:t>Пример использования: Get-Mailbox -ResultSize Unlimited | Where-Object {$_.ForwardingAddress -or $_.ForwardingSmtpAddress} | Select-Object Name,ForwardingAddress,ForwardingSmtpAddress,DeliverToMailboxAndForward</a:t>
            </a:r>
          </a:p>
          <a:p>
            <a:pPr>
              <a:defRPr sz="3600"/>
            </a:pPr>
            <a:r>
              <a:t>Ожидаемый результат: администратор видит все mailbox с включенной пересылкой</a:t>
            </a:r>
          </a:p>
          <a:p>
            <a:pPr>
              <a:defRPr sz="3600"/>
            </a:pPr>
            <a:r>
              <a:t>Найденные пересылки сверяют с владельцем процесса и политикой безопасности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делегирование, forwarding и quota в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4B25C1-D1B3-F847-D358-66B03D8E1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Mailbox database задаёт границу хранения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Database определяет EDB, log stream, mount/dismount и часть quota settings</a:t>
            </a:r>
          </a:p>
          <a:p>
            <a:pPr>
              <a:defRPr sz="3600"/>
            </a:pPr>
            <a:r>
              <a:t>EDB (Exchange Database) хранит данные mailbox, а transaction logs фиксируют изменения</a:t>
            </a:r>
          </a:p>
          <a:p>
            <a:pPr>
              <a:defRPr sz="3600"/>
            </a:pPr>
            <a:r>
              <a:t>Database является backup unit, но не изолирует автоматически права и mail flow</a:t>
            </a:r>
          </a:p>
          <a:p>
            <a:pPr>
              <a:defRPr sz="3600"/>
            </a:pPr>
            <a:r>
              <a:t>Администратор контролирует путь базы, путь журналов, mounted status и свободное место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Полная проверка mailbox databases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показывает состояние, расположение и размер баз</a:t>
            </a:r>
          </a:p>
          <a:p>
            <a:pPr>
              <a:defRPr sz="3600"/>
            </a:pPr>
            <a:r>
              <a:t>Пример использования: Get-MailboxDatabase -Status | Format-Table Name,Server,Mounted,EdbFilePath,LogFolderPath,DatabaseSize,AvailableNewMailboxSpace</a:t>
            </a:r>
          </a:p>
          <a:p>
            <a:pPr>
              <a:defRPr sz="3600"/>
            </a:pPr>
            <a:r>
              <a:t>Ожидаемый результат: рабочие базы mounted, пути EDB/logs понятны, размер зафиксирован</a:t>
            </a:r>
          </a:p>
          <a:p>
            <a:pPr>
              <a:defRPr sz="3600"/>
            </a:pPr>
            <a:r>
              <a:t>Дополнительно проверяют свободное место томов и количество mailbox в каждой database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DB02 требует подготовленных путей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Перед созданием database должны существовать диски и каталоги для EDB и logs</a:t>
            </a:r>
          </a:p>
          <a:p>
            <a:pPr>
              <a:defRPr sz="3600"/>
            </a:pPr>
            <a:r>
              <a:t>Пример использования: New-MailboxDatabase -Name DB02 -Server EX01 -EdbFilePath E:\ExchangeDatabases\DB02\DB02.edb -LogFolderPath F:\ExchangeLogs\DB02</a:t>
            </a:r>
          </a:p>
          <a:p>
            <a:pPr>
              <a:defRPr sz="3600"/>
            </a:pPr>
            <a:r>
              <a:t>После создания database нужно смонтировать: Mount-Database DB02</a:t>
            </a:r>
          </a:p>
          <a:p>
            <a:pPr>
              <a:defRPr sz="3600"/>
            </a:pPr>
            <a:r>
              <a:t>Ожидаемый результат: Get-MailboxDatabase -Status показывает DB02 в состоянии Mounted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Mailbox Move переносит ящик между databases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New-MoveRequest запускает перенос mailbox в целевую database</a:t>
            </a:r>
          </a:p>
          <a:p>
            <a:pPr>
              <a:defRPr sz="3600"/>
            </a:pPr>
            <a:r>
              <a:t>Пример использования: New-MoveRequest -Identity ipetrov -TargetDatabase DB02</a:t>
            </a:r>
          </a:p>
          <a:p>
            <a:pPr>
              <a:defRPr sz="3600"/>
            </a:pPr>
            <a:r>
              <a:t>Перенос создает нагрузку на disk I/O, CPU, logs, сеть и backup window</a:t>
            </a:r>
          </a:p>
          <a:p>
            <a:pPr>
              <a:defRPr sz="3600"/>
            </a:pPr>
            <a:r>
              <a:t>Не стоит запускать много переносов одновременно без оценки ресурсов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Move Request нужно сопровождать до конца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Проверка статуса: Get-MoveRequest ipetrov</a:t>
            </a:r>
          </a:p>
          <a:p>
            <a:pPr>
              <a:defRPr sz="3600"/>
            </a:pPr>
            <a:r>
              <a:t>Подробная статистика: Get-MoveRequestStatistics ipetrov | Format-List Status,PercentComplete,BytesTransferred,Message</a:t>
            </a:r>
          </a:p>
          <a:p>
            <a:pPr>
              <a:defRPr sz="3600"/>
            </a:pPr>
            <a:r>
              <a:t>Управление: Suspend-MoveRequest ipetrov и Resume-MoveRequest ipetrov</a:t>
            </a:r>
          </a:p>
          <a:p>
            <a:pPr>
              <a:defRPr sz="3600"/>
            </a:pPr>
            <a:r>
              <a:t>После Completed проверяют database пользователя и только потом удаляют request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Удаление Move Request не откатывает перенос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Проверка фактической базы: Get-Mailbox ipetrov | Select-Object Name,Database</a:t>
            </a:r>
          </a:p>
          <a:p>
            <a:pPr>
              <a:defRPr sz="3600"/>
            </a:pPr>
            <a:r>
              <a:t>Удаление завершенного запроса: Remove-MoveRequest ipetrov -Confirm:$false</a:t>
            </a:r>
          </a:p>
          <a:p>
            <a:pPr>
              <a:defRPr sz="3600"/>
            </a:pPr>
            <a:r>
              <a:t>Remove-MoveRequest удаляет сведения о запросе, а не возвращает mailbox обратно</a:t>
            </a:r>
          </a:p>
          <a:p>
            <a:pPr>
              <a:defRPr sz="3600"/>
            </a:pPr>
            <a:r>
              <a:t>Перед удалением проверяют вход пользователя, отправку, получение и отсутствие warning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Accepted Domain определяет ответственность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Authoritative — все получатели домена должны существовать в Exchange</a:t>
            </a:r>
          </a:p>
          <a:p>
            <a:pPr>
              <a:defRPr sz="3600"/>
            </a:pPr>
            <a:r>
              <a:t>Internal Relay — часть получателей в Exchange, часть в другой системе</a:t>
            </a:r>
          </a:p>
          <a:p>
            <a:pPr>
              <a:defRPr sz="3600"/>
            </a:pPr>
            <a:r>
              <a:t>External Relay — Exchange пересылает всю почту домена другой системе</a:t>
            </a:r>
          </a:p>
          <a:p>
            <a:pPr>
              <a:defRPr sz="3600"/>
            </a:pPr>
            <a:r>
              <a:t>Для лабораторного corp.test обычно нужен Authoritative Domain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Accepted Domains проверяются перед mail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показывает типы почтовых доменов организации</a:t>
            </a:r>
          </a:p>
          <a:p>
            <a:pPr>
              <a:defRPr sz="3600"/>
            </a:pPr>
            <a:r>
              <a:t>Пример использования: Get-AcceptedDomain | Format-Table Name,DomainName,DomainType,Default</a:t>
            </a:r>
          </a:p>
          <a:p>
            <a:pPr>
              <a:defRPr sz="3600"/>
            </a:pPr>
            <a:r>
              <a:t>Пример создания: New-AcceptedDomain -Name 'Corp Test' -DomainName corp.test -DomainType Authoritative</a:t>
            </a:r>
          </a:p>
          <a:p>
            <a:pPr>
              <a:defRPr sz="3600"/>
            </a:pPr>
            <a:r>
              <a:t>Если домен не принят Exchange, письма для него не будут обрабатываться как локальные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Email Address Policy формирует адреса получателей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Email Address Policy задает шаблон адресов для выбранных получателей</a:t>
            </a:r>
          </a:p>
          <a:p>
            <a:pPr>
              <a:defRPr sz="3600"/>
            </a:pPr>
            <a:r>
              <a:t>Проверка: Get-EmailAddressPolicy | Format-Table Name,Priority,RecipientFilter,EnabledEmailAddressTemplates</a:t>
            </a:r>
          </a:p>
          <a:p>
            <a:pPr>
              <a:defRPr sz="3600"/>
            </a:pPr>
            <a:r>
              <a:t>Шаблон может формировать адрес вида %alias%@corp.test</a:t>
            </a:r>
          </a:p>
          <a:p>
            <a:pPr>
              <a:defRPr sz="3600"/>
            </a:pPr>
            <a:r>
              <a:t>Массовое изменение policy выполняют только после анализа, потому что оно меняет адреса пользователей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Primary SMTP и proxy addresses различаются регистром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SMTP:ipetrov@corp.test с заглавными буквами означает primary SMTP address</a:t>
            </a:r>
          </a:p>
          <a:p>
            <a:pPr>
              <a:defRPr sz="3600"/>
            </a:pPr>
            <a:r>
              <a:t>smtp:ivan.petrov@corp.test со строчными буквами означает дополнительный proxy address</a:t>
            </a:r>
          </a:p>
          <a:p>
            <a:pPr>
              <a:defRPr sz="3600"/>
            </a:pPr>
            <a:r>
              <a:t>Проверка: Get-Mailbox ipetrov | Select-Object -ExpandProperty EmailAddresses</a:t>
            </a:r>
          </a:p>
          <a:p>
            <a:pPr>
              <a:defRPr sz="3600"/>
            </a:pPr>
            <a:r>
              <a:t>Ошибки proxy addresses часто приводят к NDR по неверному или старому адресу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Connectors показывают путь SMTP-доставки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SMTP (Simple Mail Transfer Protocol) используется для серверной передачи почты</a:t>
            </a:r>
          </a:p>
          <a:p>
            <a:pPr>
              <a:defRPr sz="3600"/>
            </a:pPr>
            <a:r>
              <a:t>Проверка Receive Connectors: Get-ReceiveConnector | Format-Table Name,TransportRole,Bindings,RemoteIPRanges</a:t>
            </a:r>
          </a:p>
          <a:p>
            <a:pPr>
              <a:defRPr sz="3600"/>
            </a:pPr>
            <a:r>
              <a:t>Проверка Send Connectors: Get-SendConnector | Format-Table Name,AddressSpaces,SmartHosts,DNSRoutingEnabled</a:t>
            </a:r>
          </a:p>
          <a:p>
            <a:pPr>
              <a:defRPr sz="3600"/>
            </a:pPr>
            <a:r>
              <a:t>При диагностике важно понять, какой connector принял письмо и какой address space используется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Relay для приложений настраивается отдельным connector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Стандартный Receive Connector не изменяют вслепую ради принтера или приложения</a:t>
            </a:r>
          </a:p>
          <a:p>
            <a:pPr>
              <a:defRPr sz="3600"/>
            </a:pPr>
            <a:r>
              <a:t>Отдельный App Relay задает конкретный remote IP, binding и минимальные permissions</a:t>
            </a:r>
          </a:p>
          <a:p>
            <a:pPr>
              <a:defRPr sz="3600"/>
            </a:pPr>
            <a:r>
              <a:t>Пример проверки: Get-ReceiveConnector 'EX01\App Relay' | Format-List Bindings,RemoteIPRanges,PermissionGroups</a:t>
            </a:r>
          </a:p>
          <a:p>
            <a:pPr>
              <a:defRPr sz="3600"/>
            </a:pPr>
            <a:r>
              <a:t>Нельзя разрешать relay всей подсети без документированной необходимости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Send Connector не нужен для внутренней доставки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Письма между mailbox одного Exchange проходят через внутренний transport pipeline</a:t>
            </a:r>
          </a:p>
          <a:p>
            <a:pPr>
              <a:defRPr sz="3600"/>
            </a:pPr>
            <a:r>
              <a:t>Для внешней отправки нужен Send Connector с DNS routing или smart host</a:t>
            </a:r>
          </a:p>
          <a:p>
            <a:pPr>
              <a:defRPr sz="3600"/>
            </a:pPr>
            <a:r>
              <a:t>Проверка: Get-SendConnector | Format-List Name,AddressSpaces,SmartHosts,DNSRoutingEnabled,SourceTransportServers</a:t>
            </a:r>
          </a:p>
          <a:p>
            <a:pPr>
              <a:defRPr sz="3600"/>
            </a:pPr>
            <a:r>
              <a:t>Для corp.test внешняя доставка имеет только учебный смысл, потому что домен не публичный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Queue показывает сообщения, которые ещё не доставлены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Get-Queue показывает состояние очередей транспорта Exchange</a:t>
            </a:r>
          </a:p>
          <a:p>
            <a:pPr>
              <a:defRPr sz="3600"/>
            </a:pPr>
            <a:r>
              <a:t>Пример использования: Get-Queue | Select-Object Identity,Status,MessageCount,NextHopDomain</a:t>
            </a:r>
          </a:p>
          <a:p>
            <a:pPr>
              <a:defRPr sz="3600"/>
            </a:pPr>
            <a:r>
              <a:t>Большой MessageCount сам по себе не доказывает аварию, но требует проверки LastError</a:t>
            </a:r>
          </a:p>
          <a:p>
            <a:pPr>
              <a:defRPr sz="3600"/>
            </a:pPr>
            <a:r>
              <a:t>Перед очисткой очереди нужно понять причину задержки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Retry требует анализа LastError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LastError помогает отличить DNS, connector, certificate и удаленную проблему</a:t>
            </a:r>
          </a:p>
          <a:p>
            <a:pPr>
              <a:defRPr sz="3600"/>
            </a:pPr>
            <a:r>
              <a:t>Пример использования: Get-Queue | Format-List Identity,Status,MessageCount,LastError,NextHopDomain</a:t>
            </a:r>
          </a:p>
          <a:p>
            <a:pPr>
              <a:defRPr sz="3600"/>
            </a:pPr>
            <a:r>
              <a:t>Для конкретной очереди используют: Get-Message -Queue &lt;QUEUE_ID&gt;</a:t>
            </a:r>
          </a:p>
          <a:p>
            <a:pPr>
              <a:defRPr sz="3600"/>
            </a:pPr>
            <a:r>
              <a:t>Не следует сразу перезапускать transport service без анализа ошибки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 queue выполняют только безопасные действия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Retry-Queue &lt;QUEUE_ID&gt; повторяет попытку доставки после устранения причины</a:t>
            </a:r>
          </a:p>
          <a:p>
            <a:pPr>
              <a:defRPr sz="3600"/>
            </a:pPr>
            <a:r>
              <a:t>Suspend-Queue и Resume-Queue временно останавливают и возобновляют обработку очереди</a:t>
            </a:r>
          </a:p>
          <a:p>
            <a:pPr>
              <a:defRPr sz="3600"/>
            </a:pPr>
            <a:r>
              <a:t>Suspend-Message и Resume-Message применяются к отдельным сообщениям</a:t>
            </a:r>
          </a:p>
          <a:p>
            <a:pPr>
              <a:defRPr sz="3600"/>
            </a:pPr>
            <a:r>
              <a:t>Remove-Message — необратимое действие, его нельзя использовать как первый шаг диагностики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Message Tracking отвечает, что сделал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Get-MessageTrackingLog ищет события обработки письма на transport server</a:t>
            </a:r>
          </a:p>
          <a:p>
            <a:pPr>
              <a:defRPr sz="3600"/>
            </a:pPr>
            <a:r>
              <a:t>Пример использования: Get-MessageTrackingLog -Sender user1@corp.test -Recipients user2@corp.test -Start (Get-Date).AddHours(-2)</a:t>
            </a:r>
          </a:p>
          <a:p>
            <a:pPr>
              <a:defRPr sz="3600"/>
            </a:pPr>
            <a:r>
              <a:t>Полезные поля: MessageId, MessageSubject, EventId, Source, ConnectorId и RecipientStatus</a:t>
            </a:r>
          </a:p>
          <a:p>
            <a:pPr>
              <a:defRPr sz="3600"/>
            </a:pPr>
            <a:r>
              <a:t>Точное время отправки резко ускоряет поиск нужного события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EventId показывает этап обработки письма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RECEIVE означает, что Exchange принял сообщение</a:t>
            </a:r>
          </a:p>
          <a:p>
            <a:pPr>
              <a:defRPr sz="3600"/>
            </a:pPr>
            <a:r>
              <a:t>SUBMIT показывает передачу сообщения в transport pipeline</a:t>
            </a:r>
          </a:p>
          <a:p>
            <a:pPr>
              <a:defRPr sz="3600"/>
            </a:pPr>
            <a:r>
              <a:t>DELIVER подтверждает доставку в mailbox получателя</a:t>
            </a:r>
          </a:p>
          <a:p>
            <a:pPr>
              <a:defRPr sz="3600"/>
            </a:pPr>
            <a:r>
              <a:t>FAIL, DEFER и DROP требуют анализа RecipientStatus, connector и policy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Tracking logs имеют ограниченный срок хранения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Старое письмо может не найтись, если tracking log уже удален по retention</a:t>
            </a:r>
          </a:p>
          <a:p>
            <a:pPr>
              <a:defRPr sz="3600"/>
            </a:pPr>
            <a:r>
              <a:t>В организации с несколькими transport servers события могут быть на разных серверах</a:t>
            </a:r>
          </a:p>
          <a:p>
            <a:pPr>
              <a:defRPr sz="3600"/>
            </a:pPr>
            <a:r>
              <a:t>Поиск начинают с sender, recipient, примерного времени и subject</a:t>
            </a:r>
          </a:p>
          <a:p>
            <a:pPr>
              <a:defRPr sz="3600"/>
            </a:pPr>
            <a:r>
              <a:t>Если DELIVER есть, но пользователь письма не видит, проблема может быть в клиенте или правилах mailbox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Accepted Domain, connectors, queue и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372552-886E-2BE2-9088-07C5A547E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Mail Flow Rules применяют политику к сообщениям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Mail Flow Rule обрабатывает сообщение по условию, исключению и действию</a:t>
            </a:r>
          </a:p>
          <a:p>
            <a:pPr>
              <a:defRPr sz="3600"/>
            </a:pPr>
            <a:r>
              <a:t>Правило может пометить письмо, заблокировать вложение или добавить disclaimer</a:t>
            </a:r>
          </a:p>
          <a:p>
            <a:pPr>
              <a:defRPr sz="3600"/>
            </a:pPr>
            <a:r>
              <a:t>Слишком широкое правило может затронуть всю организацию</a:t>
            </a:r>
          </a:p>
          <a:p>
            <a:pPr>
              <a:defRPr sz="3600"/>
            </a:pPr>
            <a:r>
              <a:t>После создания правило проверяют тестовым письмом и tracking log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Transport Rule сначала делают узким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лаборатории безопаснее правило по конкретному отправителю и получателю</a:t>
            </a:r>
          </a:p>
          <a:p>
            <a:pPr>
              <a:defRPr sz="3600"/>
            </a:pPr>
            <a:r>
              <a:t>Пример использования: New-TransportRule -Name 'Lab subject marker' -From user1@corp.test -SentTo user2@corp.test -PrependSubject '[LAB] ' -Priority 0 -Mode Audit</a:t>
            </a:r>
          </a:p>
          <a:p>
            <a:pPr>
              <a:defRPr sz="3600"/>
            </a:pPr>
            <a:r>
              <a:t>Проверка: Get-TransportRule 'Lab subject marker' | Format-List Name,State,Priority,Mode</a:t>
            </a:r>
          </a:p>
          <a:p>
            <a:pPr>
              <a:defRPr sz="3600"/>
            </a:pPr>
            <a:r>
              <a:t>Если нужно увидеть изменение subject, после проверки правило переводят в enforce-режим выбранной версии Exchange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Priority, exceptions и audit mode снижают риск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Transport Rules обрабатываются по priority, поэтому порядок правил важен</a:t>
            </a:r>
          </a:p>
          <a:p>
            <a:pPr>
              <a:defRPr sz="3600"/>
            </a:pPr>
            <a:r>
              <a:t>Исключения защищают служебные адреса и критичные сценарии от случайного блокирования</a:t>
            </a:r>
          </a:p>
          <a:p>
            <a:pPr>
              <a:defRPr sz="3600"/>
            </a:pPr>
            <a:r>
              <a:t>Audit или test mode используют там, где версия Exchange это поддерживает</a:t>
            </a:r>
          </a:p>
          <a:p>
            <a:pPr>
              <a:defRPr sz="3600"/>
            </a:pPr>
            <a:r>
              <a:t>Правило не считается принятым, пока тестовое письмо не подтвердит ожидаемое поведение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Disclaimer может повредить формат и подписи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Disclaimer изменяет тело письма и может нарушить HTML-форматирование</a:t>
            </a:r>
          </a:p>
          <a:p>
            <a:pPr>
              <a:defRPr sz="3600"/>
            </a:pPr>
            <a:r>
              <a:t>Он может повлиять на DKIM-подпись или signed/encrypted messages</a:t>
            </a:r>
          </a:p>
          <a:p>
            <a:pPr>
              <a:defRPr sz="3600"/>
            </a:pPr>
            <a:r>
              <a:t>При невозможности изменить тело Exchange может обработать сообщение особым образом</a:t>
            </a:r>
          </a:p>
          <a:p>
            <a:pPr>
              <a:defRPr sz="3600"/>
            </a:pPr>
            <a:r>
              <a:t>В лаборатории лучше начинать с изменения subject, а не с массового disclaimer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Message size limits проверяются на всём пути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Фактический лимит определяется самым строгим элементом маршрута</a:t>
            </a:r>
          </a:p>
          <a:p>
            <a:pPr>
              <a:defRPr sz="3600"/>
            </a:pPr>
            <a:r>
              <a:t>Проверка организации: Get-TransportConfig | Select-Object MaxSendSize,MaxReceiveSize</a:t>
            </a:r>
          </a:p>
          <a:p>
            <a:pPr>
              <a:defRPr sz="3600"/>
            </a:pPr>
            <a:r>
              <a:t>Проверка connectors: Get-ReceiveConnector | Select-Object Name,MaxMessageSize; Get-SendConnector | Select-Object Name,MaxMessageSize</a:t>
            </a:r>
          </a:p>
          <a:p>
            <a:pPr>
              <a:defRPr sz="3600"/>
            </a:pPr>
            <a:r>
              <a:t>Проверка mailbox: Get-Mailbox ipetrov | Select-Object MaxSendSize,MaxReceiveSize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Антиспам в on-prem Exchange зависит от архитектуры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Встроенные anti-spam agents могут использоваться в некоторых сценариях</a:t>
            </a:r>
          </a:p>
          <a:p>
            <a:pPr>
              <a:defRPr sz="3600"/>
            </a:pPr>
            <a:r>
              <a:t>Edge Transport, mail security gateway или cloud filtering часто закрывают внешнюю защиту лучше</a:t>
            </a:r>
          </a:p>
          <a:p>
            <a:pPr>
              <a:defRPr sz="3600"/>
            </a:pPr>
            <a:r>
              <a:t>Mailbox Role сама по себе не должна считаться полноценной современной системой защиты внешней почты</a:t>
            </a:r>
          </a:p>
          <a:p>
            <a:pPr>
              <a:defRPr sz="3600"/>
            </a:pPr>
            <a:r>
              <a:t>Архитектуру антиспама фиксируют в проекте, а не предполагают по умолчанию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SPF проверяет Envelope From, а не только видимый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SPF (Sender Policy Framework) проверяет, разрешен ли IP отправляющего сервера для домена envelope sender</a:t>
            </a:r>
          </a:p>
          <a:p>
            <a:pPr>
              <a:defRPr sz="3600"/>
            </a:pPr>
            <a:r>
              <a:t>Пример учебной записи: corp.example. TXT 'v=spf1 ip4:203.0.113.10 -all'</a:t>
            </a:r>
          </a:p>
          <a:p>
            <a:pPr>
              <a:defRPr sz="3600"/>
            </a:pPr>
            <a:r>
              <a:t>Видимый Header From может отличаться от SMTP Envelope From</a:t>
            </a:r>
          </a:p>
          <a:p>
            <a:pPr>
              <a:defRPr sz="3600"/>
            </a:pPr>
            <a:r>
              <a:t>Для corp.test публичная SPF-проверка имеет только учебный характер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DKIM и DMARC проверяют доверие к домену по-разному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DKIM (DomainKeys Identified Mail) подписывает письмо ключом домена отправителя</a:t>
            </a:r>
          </a:p>
          <a:p>
            <a:pPr>
              <a:defRPr sz="3600"/>
            </a:pPr>
            <a:r>
              <a:t>В on-prem Exchange DKIM обычно требует transport agent, gateway или внешний сервис</a:t>
            </a:r>
          </a:p>
          <a:p>
            <a:pPr>
              <a:defRPr sz="3600"/>
            </a:pPr>
            <a:r>
              <a:t>DMARC (Domain-based Message Authentication, Reporting and Conformance) проверяет alignment с Header From</a:t>
            </a:r>
          </a:p>
          <a:p>
            <a:pPr>
              <a:defRPr sz="3600"/>
            </a:pPr>
            <a:r>
              <a:t>DMARC проходит, если SPF aligned или DKIM aligned; внедрение начинают с p=none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Диагностика недоставки начинается с фактов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собирают sender, recipient, время отправки, subject и NDR</a:t>
            </a:r>
          </a:p>
          <a:p>
            <a:pPr>
              <a:defRPr sz="3600"/>
            </a:pPr>
            <a:r>
              <a:t>NDR (Non-Delivery Report) — отчет о недоставке с кодом и пояснением причины</a:t>
            </a:r>
          </a:p>
          <a:p>
            <a:pPr>
              <a:defRPr sz="3600"/>
            </a:pPr>
            <a:r>
              <a:t>Затем проверяют queue, tracking log, transport services, DNS, connectors и certificate</a:t>
            </a:r>
          </a:p>
          <a:p>
            <a:pPr>
              <a:defRPr sz="3600"/>
            </a:pPr>
            <a:r>
              <a:t>Диагностика не начинается с перезапуска всех служб Exchange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NDR-коды делятся на временные и постоянные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4.x.x обычно означает временную ошибку доставки</a:t>
            </a:r>
          </a:p>
          <a:p>
            <a:pPr>
              <a:defRPr sz="3600"/>
            </a:pPr>
            <a:r>
              <a:t>5.x.x обычно означает постоянную ошибку или запрет</a:t>
            </a:r>
          </a:p>
          <a:p>
            <a:pPr>
              <a:defRPr sz="3600"/>
            </a:pPr>
            <a:r>
              <a:t>Примеры: 5.1.1 — адрес не существует, 5.2.2 — mailbox переполнен, 5.7.1 — запрещено политикой или relay</a:t>
            </a:r>
          </a:p>
          <a:p>
            <a:pPr>
              <a:defRPr sz="3600"/>
            </a:pPr>
            <a:r>
              <a:t>Точная трактовка зависит от полного enhanced status code и текста NDR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DELIVER отделяет проблему Exchange от проблемы 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tracking показывает DELIVER, Exchange доставил письмо в mailbox</a:t>
            </a:r>
          </a:p>
          <a:p>
            <a:pPr>
              <a:defRPr sz="3600"/>
            </a:pPr>
            <a:r>
              <a:t>Дальше проверяют Junk Email, Inbox Rules, Focused Inbox, Cached Mode и mobile client</a:t>
            </a:r>
          </a:p>
          <a:p>
            <a:pPr>
              <a:defRPr sz="3600"/>
            </a:pPr>
            <a:r>
              <a:t>Также смотрят Deleted Items, search folders, client filters и права mailbox</a:t>
            </a:r>
          </a:p>
          <a:p>
            <a:pPr>
              <a:defRPr sz="3600"/>
            </a:pPr>
            <a:r>
              <a:t>Если DELIVER отсутствует, продолжают анализ transport, queue, connector и recipient status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отказ transport service должен быть контролируемым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Остановка transport service допустима только в учебном стенде и с фиксированным временем начала</a:t>
            </a:r>
          </a:p>
          <a:p>
            <a:pPr>
              <a:defRPr sz="3600"/>
            </a:pPr>
            <a:r>
              <a:t>Службу выбирают заранее: Microsoft Exchange Transport, service name MSExchangeTransport</a:t>
            </a:r>
          </a:p>
          <a:p>
            <a:pPr>
              <a:defRPr sz="3600"/>
            </a:pPr>
            <a:r>
              <a:t>Пример теста: Stop-Service MSExchangeTransport; проверить queue; Start-Service MSExchangeTransport</a:t>
            </a:r>
          </a:p>
          <a:p>
            <a:pPr>
              <a:defRPr sz="3600"/>
            </a:pPr>
            <a:r>
              <a:t>После восстановления подтверждают delivery тестового письма и уменьшение queue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диагностика недоставленного сообщения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5B7E92-5BE1-705A-7793-EEEFC8DB6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Приёмка: почтовые объекты и права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User mailbox входит в OWA, shared mailbox открывается делегатом</a:t>
            </a:r>
          </a:p>
          <a:p>
            <a:pPr>
              <a:defRPr sz="3600"/>
            </a:pPr>
            <a:r>
              <a:t>Full Access, Send As и Send on Behalf подтверждены EMS и реальным письмом</a:t>
            </a:r>
          </a:p>
          <a:p>
            <a:pPr>
              <a:defRPr sz="3600"/>
            </a:pPr>
            <a:r>
              <a:t>Room mailbox обработал запрос бронирования, distribution group доставила письмо участникам</a:t>
            </a:r>
          </a:p>
          <a:p>
            <a:pPr>
              <a:defRPr sz="3600"/>
            </a:pPr>
            <a:r>
              <a:t>Mail contact отображается в адресной книге и маршрутизирует письмо на внешний учебный адрес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Приёмка: поведение mailbox и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Forwarding соответствует DeliverToMailboxAndForward и политике безопасности</a:t>
            </a:r>
          </a:p>
          <a:p>
            <a:pPr>
              <a:defRPr sz="3600"/>
            </a:pPr>
            <a:r>
              <a:t>Auto Reply проверен внутренним и внешним сценарием, если внешний сценарий доступен</a:t>
            </a:r>
          </a:p>
          <a:p>
            <a:pPr>
              <a:defRPr sz="3600"/>
            </a:pPr>
            <a:r>
              <a:t>Quota показывает правильный источник: mailbox или database</a:t>
            </a:r>
          </a:p>
          <a:p>
            <a:pPr>
              <a:defRPr sz="3600"/>
            </a:pPr>
            <a:r>
              <a:t>ipetrov перенесен в DB02, move request завершен и удален только после проверки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Приёмка: mail flow и защита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Accepted Domain corp.test имеет правильный тип Authoritative</a:t>
            </a:r>
          </a:p>
          <a:p>
            <a:pPr>
              <a:defRPr sz="3600"/>
            </a:pPr>
            <a:r>
              <a:t>Queue не содержит необъяснимых Retry, LastError проанализирован при наличии задержки</a:t>
            </a:r>
          </a:p>
          <a:p>
            <a:pPr>
              <a:defRPr sz="3600"/>
            </a:pPr>
            <a:r>
              <a:t>Tracking показывает RECEIVE, SUBMIT и DELIVER для тестового письма</a:t>
            </a:r>
          </a:p>
          <a:p>
            <a:pPr>
              <a:defRPr sz="3600"/>
            </a:pPr>
            <a:r>
              <a:t>Transport Rule проверен узким тестом, а SPF/DKIM/DMARC объяснены без подмены реальной защиты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Почтовый объект Exchange выбирается по сценарию: пользователь, общий адрес, ресурс, контакт или группа</a:t>
            </a:r>
          </a:p>
          <a:p>
            <a:pPr>
              <a:defRPr sz="3600"/>
            </a:pPr>
            <a:r>
              <a:t>Доступ к mailbox и право отправки назначаются разными командами и проверяются реальным письмом</a:t>
            </a:r>
          </a:p>
          <a:p>
            <a:pPr>
              <a:defRPr sz="3600"/>
            </a:pPr>
            <a:r>
              <a:t>Mailbox move, quota и database требуют контроля состояния, а не только запуска команды</a:t>
            </a:r>
          </a:p>
          <a:p>
            <a:pPr>
              <a:defRPr sz="3600"/>
            </a:pPr>
            <a:r>
              <a:t>Недоставка диагностируется по NDR, queue, tracking events и границе между Exchange и клиентом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User Mailbox отличается от Shared Mailbox?</a:t>
            </a:r>
          </a:p>
          <a:p>
            <a:pPr>
              <a:defRPr sz="3600"/>
            </a:pPr>
            <a:r>
              <a:t>Чем Mail Contact отличается от Mail User?</a:t>
            </a:r>
          </a:p>
          <a:p>
            <a:pPr>
              <a:defRPr sz="3600"/>
            </a:pPr>
            <a:r>
              <a:t>Чем Full Access отличается от Send As?</a:t>
            </a:r>
          </a:p>
          <a:p>
            <a:pPr>
              <a:defRPr sz="3600"/>
            </a:pPr>
            <a:r>
              <a:t>Как отображается Send on Behalf у получателя?</a:t>
            </a:r>
          </a:p>
          <a:p>
            <a:pPr>
              <a:defRPr sz="3600"/>
            </a:pPr>
            <a:r>
              <a:t>Что делает DeliverToMailboxAndForward?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вопросы: администрирование и диагностика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Откуда mailbox получает quota, если UseDatabaseQuotaDefaults равен True?</a:t>
            </a:r>
          </a:p>
          <a:p>
            <a:pPr>
              <a:defRPr sz="3600"/>
            </a:pPr>
            <a:r>
              <a:t>Как проверить фактическую database пользователя после move request?</a:t>
            </a:r>
          </a:p>
          <a:p>
            <a:pPr>
              <a:defRPr sz="3600"/>
            </a:pPr>
            <a:r>
              <a:t>Какие типы Accepted Domain существуют?</a:t>
            </a:r>
          </a:p>
          <a:p>
            <a:pPr>
              <a:defRPr sz="3600"/>
            </a:pPr>
            <a:r>
              <a:t>Какие EventId в Message Tracking подтверждают доставку?</a:t>
            </a:r>
          </a:p>
          <a:p>
            <a:pPr>
              <a:defRPr sz="3600"/>
            </a:pPr>
            <a:r>
              <a:t>Как отличить проблему Exchange от проблемы Outlook?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3567</Words>
  <Application>Microsoft Office PowerPoint</Application>
  <PresentationFormat>Широкоэкранный</PresentationFormat>
  <Paragraphs>330</Paragraphs>
  <Slides>70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2026-07-31T05:45:09Z</dcterms:modified>
  <cp:category/>
</cp:coreProperties>
</file>