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9" r:id="rId3"/>
    <p:sldId id="292" r:id="rId4"/>
    <p:sldId id="261" r:id="rId5"/>
    <p:sldId id="293" r:id="rId6"/>
    <p:sldId id="294" r:id="rId7"/>
    <p:sldId id="299" r:id="rId8"/>
    <p:sldId id="300" r:id="rId9"/>
    <p:sldId id="301" r:id="rId10"/>
    <p:sldId id="302" r:id="rId11"/>
    <p:sldId id="303" r:id="rId12"/>
    <p:sldId id="298" r:id="rId13"/>
    <p:sldId id="304" r:id="rId14"/>
    <p:sldId id="306" r:id="rId15"/>
    <p:sldId id="307" r:id="rId16"/>
    <p:sldId id="308" r:id="rId17"/>
    <p:sldId id="309" r:id="rId18"/>
    <p:sldId id="310" r:id="rId19"/>
    <p:sldId id="311" r:id="rId20"/>
    <p:sldId id="312" r:id="rId21"/>
    <p:sldId id="305" r:id="rId22"/>
    <p:sldId id="313" r:id="rId23"/>
    <p:sldId id="314" r:id="rId24"/>
    <p:sldId id="316" r:id="rId25"/>
    <p:sldId id="317" r:id="rId26"/>
    <p:sldId id="318" r:id="rId27"/>
    <p:sldId id="319" r:id="rId28"/>
    <p:sldId id="315" r:id="rId29"/>
    <p:sldId id="320" r:id="rId30"/>
    <p:sldId id="321" r:id="rId31"/>
    <p:sldId id="323" r:id="rId32"/>
    <p:sldId id="324" r:id="rId33"/>
    <p:sldId id="325" r:id="rId34"/>
    <p:sldId id="326" r:id="rId35"/>
    <p:sldId id="322" r:id="rId36"/>
    <p:sldId id="327" r:id="rId37"/>
    <p:sldId id="329" r:id="rId38"/>
    <p:sldId id="330" r:id="rId39"/>
    <p:sldId id="331" r:id="rId40"/>
    <p:sldId id="332" r:id="rId41"/>
    <p:sldId id="328" r:id="rId42"/>
    <p:sldId id="333" r:id="rId43"/>
    <p:sldId id="335" r:id="rId44"/>
    <p:sldId id="336" r:id="rId45"/>
    <p:sldId id="337" r:id="rId46"/>
    <p:sldId id="338" r:id="rId47"/>
    <p:sldId id="334" r:id="rId48"/>
    <p:sldId id="339" r:id="rId49"/>
    <p:sldId id="341" r:id="rId50"/>
    <p:sldId id="342" r:id="rId51"/>
    <p:sldId id="343" r:id="rId52"/>
    <p:sldId id="344" r:id="rId53"/>
    <p:sldId id="340" r:id="rId54"/>
    <p:sldId id="346" r:id="rId55"/>
    <p:sldId id="347" r:id="rId56"/>
    <p:sldId id="348" r:id="rId57"/>
    <p:sldId id="295" r:id="rId58"/>
    <p:sldId id="350" r:id="rId59"/>
    <p:sldId id="345" r:id="rId60"/>
    <p:sldId id="351" r:id="rId61"/>
    <p:sldId id="349" r:id="rId62"/>
    <p:sldId id="296" r:id="rId63"/>
    <p:sldId id="352" r:id="rId64"/>
    <p:sldId id="297" r:id="rId65"/>
    <p:sldId id="288" r:id="rId66"/>
    <p:sldId id="289" r:id="rId6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83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93625" y="920299"/>
            <a:ext cx="9940029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 err="1"/>
              <a:t>Лекция</a:t>
            </a:r>
            <a:r>
              <a:rPr dirty="0"/>
              <a:t> 1. </a:t>
            </a:r>
            <a:r>
              <a:rPr lang="ru-RU" dirty="0"/>
              <a:t>Windows 10/11 в доменной инфраструктуре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Учебные вопросы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199" y="914400"/>
            <a:ext cx="11223523" cy="5212080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 marL="742950" indent="-742950">
              <a:buFont typeface="+mj-lt"/>
              <a:buAutoNum type="arabicPeriod"/>
              <a:defRPr sz="3600"/>
            </a:pPr>
            <a:r>
              <a:rPr lang="en-US" dirty="0"/>
              <a:t>Workgroup </a:t>
            </a:r>
            <a:r>
              <a:rPr lang="ru-RU" dirty="0"/>
              <a:t>и </a:t>
            </a:r>
            <a:r>
              <a:rPr lang="en-US" dirty="0"/>
              <a:t>Domain.</a:t>
            </a:r>
          </a:p>
          <a:p>
            <a:pPr marL="742950" indent="-742950">
              <a:buFont typeface="+mj-lt"/>
              <a:buAutoNum type="arabicPeriod"/>
              <a:defRPr sz="3600"/>
            </a:pPr>
            <a:r>
              <a:rPr lang="ru-RU" dirty="0"/>
              <a:t>Требования перед присоединением: </a:t>
            </a:r>
            <a:r>
              <a:rPr lang="en-US" dirty="0"/>
              <a:t>DNS, </a:t>
            </a:r>
            <a:r>
              <a:rPr lang="ru-RU" dirty="0"/>
              <a:t>время и доступность </a:t>
            </a:r>
            <a:r>
              <a:rPr lang="en-US" dirty="0"/>
              <a:t>DC.</a:t>
            </a:r>
          </a:p>
          <a:p>
            <a:pPr marL="742950" indent="-742950">
              <a:buFont typeface="+mj-lt"/>
              <a:buAutoNum type="arabicPeriod"/>
              <a:defRPr sz="3600"/>
            </a:pPr>
            <a:r>
              <a:rPr lang="ru-RU" dirty="0"/>
              <a:t>Присоединение </a:t>
            </a:r>
            <a:r>
              <a:rPr lang="en-US" dirty="0"/>
              <a:t>Windows 10/11 Pro/Enterprise </a:t>
            </a:r>
            <a:r>
              <a:rPr lang="ru-RU" dirty="0"/>
              <a:t>к домену.</a:t>
            </a:r>
          </a:p>
          <a:p>
            <a:pPr marL="742950" indent="-742950">
              <a:buFont typeface="+mj-lt"/>
              <a:buAutoNum type="arabicPeriod"/>
              <a:defRPr sz="3600"/>
            </a:pPr>
            <a:r>
              <a:rPr lang="en-US" dirty="0"/>
              <a:t>Domain User </a:t>
            </a:r>
            <a:r>
              <a:rPr lang="ru-RU" dirty="0"/>
              <a:t>и </a:t>
            </a:r>
            <a:r>
              <a:rPr lang="en-US" dirty="0"/>
              <a:t>Local User.</a:t>
            </a:r>
          </a:p>
          <a:p>
            <a:pPr marL="742950" indent="-742950">
              <a:buFont typeface="+mj-lt"/>
              <a:buAutoNum type="arabicPeriod"/>
              <a:defRPr sz="3600"/>
            </a:pPr>
            <a:r>
              <a:rPr lang="en-US" dirty="0"/>
              <a:t>Local Administrators.</a:t>
            </a:r>
          </a:p>
          <a:p>
            <a:pPr marL="742950" indent="-742950">
              <a:buFont typeface="+mj-lt"/>
              <a:buAutoNum type="arabicPeriod"/>
              <a:defRPr sz="3600"/>
            </a:pPr>
            <a:r>
              <a:rPr lang="ru-RU" dirty="0"/>
              <a:t>Проверка </a:t>
            </a:r>
            <a:r>
              <a:rPr lang="en-US" dirty="0"/>
              <a:t>Secure Channel.</a:t>
            </a:r>
          </a:p>
          <a:p>
            <a:pPr marL="742950" indent="-742950">
              <a:buFont typeface="+mj-lt"/>
              <a:buAutoNum type="arabicPeriod"/>
              <a:defRPr sz="3600"/>
            </a:pPr>
            <a:r>
              <a:rPr lang="ru-RU" dirty="0"/>
              <a:t>Получение и диагностика </a:t>
            </a:r>
            <a:r>
              <a:rPr lang="en-US" dirty="0"/>
              <a:t>GPO.</a:t>
            </a:r>
          </a:p>
          <a:p>
            <a:pPr marL="742950" indent="-742950">
              <a:buFont typeface="+mj-lt"/>
              <a:buAutoNum type="arabicPeriod"/>
              <a:defRPr sz="3600"/>
            </a:pPr>
            <a:r>
              <a:rPr lang="ru-RU" dirty="0"/>
              <a:t>Доступ к </a:t>
            </a:r>
            <a:r>
              <a:rPr lang="en-US" dirty="0"/>
              <a:t>SMB-</a:t>
            </a:r>
            <a:r>
              <a:rPr lang="ru-RU" dirty="0"/>
              <a:t>ресурсам.</a:t>
            </a:r>
          </a:p>
          <a:p>
            <a:pPr marL="742950" indent="-742950">
              <a:buFont typeface="+mj-lt"/>
              <a:buAutoNum type="arabicPeriod"/>
              <a:defRPr sz="3600"/>
            </a:pPr>
            <a:r>
              <a:rPr lang="ru-RU" dirty="0"/>
              <a:t>Удалённая помощь и </a:t>
            </a:r>
            <a:r>
              <a:rPr lang="en-US" dirty="0"/>
              <a:t>RDP.</a:t>
            </a:r>
          </a:p>
          <a:p>
            <a:pPr marL="742950" indent="-742950">
              <a:buFont typeface="+mj-lt"/>
              <a:buAutoNum type="arabicPeriod"/>
              <a:defRPr sz="3600"/>
            </a:pPr>
            <a:r>
              <a:rPr lang="ru-RU" dirty="0"/>
              <a:t>Вывод компьютера из домена и повторное присоединение.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F5DBC0-6A36-873F-B4C7-F0159ADEED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A686C7A-A0E9-AD99-A629-6BA962A392D9}"/>
              </a:ext>
            </a:extLst>
          </p:cNvPr>
          <p:cNvSpPr txBox="1"/>
          <p:nvPr/>
        </p:nvSpPr>
        <p:spPr>
          <a:xfrm>
            <a:off x="3950305" y="182880"/>
            <a:ext cx="426091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lang="en-US" dirty="0"/>
              <a:t>1. Workgroup </a:t>
            </a:r>
            <a:r>
              <a:rPr lang="ru-RU" dirty="0"/>
              <a:t>и </a:t>
            </a:r>
            <a:r>
              <a:rPr lang="en-US" dirty="0"/>
              <a:t>Domain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1C097F-0E6F-F9E1-7C94-44FD29E4C925}"/>
              </a:ext>
            </a:extLst>
          </p:cNvPr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pPr algn="ctr">
              <a:defRPr sz="3600"/>
            </a:pPr>
            <a:r>
              <a:rPr lang="ru-RU" b="1" dirty="0"/>
              <a:t>Организация компьютеров в сети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Windows-компьютеры могут работать: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автономно;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в рабочей группе — </a:t>
            </a:r>
            <a:r>
              <a:rPr lang="ru-RU" dirty="0" err="1"/>
              <a:t>Workgroup</a:t>
            </a:r>
            <a:r>
              <a:rPr lang="ru-RU" dirty="0"/>
              <a:t>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в доменной инфраструктуре — Domain.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Выбор модели определяет: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где хранятся учётные записи;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кто управляет компьютерами;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как пользователи проходят проверку;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как применяются настройки безопасности;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как предоставляется доступ к ресурсам.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314686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471948"/>
            <a:ext cx="10972800" cy="5654532"/>
          </a:xfrm>
          <a:prstGeom prst="rect">
            <a:avLst/>
          </a:prstGeom>
          <a:noFill/>
        </p:spPr>
        <p:txBody>
          <a:bodyPr wrap="square">
            <a:normAutofit fontScale="77500" lnSpcReduction="20000"/>
          </a:bodyPr>
          <a:lstStyle/>
          <a:p>
            <a:pPr algn="ctr">
              <a:defRPr sz="3600"/>
            </a:pPr>
            <a:r>
              <a:rPr lang="ru-RU" dirty="0"/>
              <a:t> </a:t>
            </a:r>
            <a:r>
              <a:rPr lang="ru-RU" b="1" dirty="0"/>
              <a:t>Рабочая группа — </a:t>
            </a:r>
            <a:r>
              <a:rPr lang="ru-RU" b="1" dirty="0" err="1"/>
              <a:t>Workgroup</a:t>
            </a:r>
            <a:endParaRPr lang="ru-RU" b="1" dirty="0"/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 err="1"/>
              <a:t>Workgroup</a:t>
            </a:r>
            <a:r>
              <a:rPr lang="ru-RU" dirty="0"/>
              <a:t> — одноранговая модель сети.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Основные особенности: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каждый компьютер управляется отдельно;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учётные записи хранятся локально;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общего сервера аутентификации нет;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настройки применяются на каждом ПК вручную;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компьютеры не подчиняются единому администратору;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подходит для небольшой сети.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Пример:</a:t>
            </a:r>
          </a:p>
          <a:p>
            <a:pPr>
              <a:defRPr sz="3600"/>
            </a:pPr>
            <a:r>
              <a:rPr lang="fr-FR" dirty="0"/>
              <a:t>PC-01       </a:t>
            </a:r>
            <a:r>
              <a:rPr lang="ru-RU" dirty="0"/>
              <a:t>   </a:t>
            </a:r>
            <a:r>
              <a:rPr lang="fr-FR" dirty="0"/>
              <a:t>PC-02       </a:t>
            </a:r>
            <a:r>
              <a:rPr lang="ru-RU" dirty="0"/>
              <a:t>   </a:t>
            </a:r>
            <a:r>
              <a:rPr lang="fr-FR" dirty="0"/>
              <a:t>PC-03</a:t>
            </a:r>
          </a:p>
          <a:p>
            <a:pPr>
              <a:defRPr sz="3600"/>
            </a:pPr>
            <a:r>
              <a:rPr lang="fr-FR" dirty="0" err="1"/>
              <a:t>LocalUser</a:t>
            </a:r>
            <a:r>
              <a:rPr lang="fr-FR" dirty="0"/>
              <a:t>   </a:t>
            </a:r>
            <a:r>
              <a:rPr lang="fr-FR" dirty="0" err="1"/>
              <a:t>LocalUser</a:t>
            </a:r>
            <a:r>
              <a:rPr lang="fr-FR" dirty="0"/>
              <a:t>   </a:t>
            </a:r>
            <a:r>
              <a:rPr lang="fr-FR" dirty="0" err="1"/>
              <a:t>LocalUser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DFD2BA-78FB-4A65-0A15-BCEA3FBF9B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C98FB7C-A18E-A650-0E86-9602DCBBC4E5}"/>
              </a:ext>
            </a:extLst>
          </p:cNvPr>
          <p:cNvSpPr txBox="1"/>
          <p:nvPr/>
        </p:nvSpPr>
        <p:spPr>
          <a:xfrm>
            <a:off x="457200" y="471948"/>
            <a:ext cx="10972800" cy="5654532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pPr algn="ctr">
              <a:defRPr sz="3600"/>
            </a:pPr>
            <a:r>
              <a:rPr lang="ru-RU" b="1" dirty="0"/>
              <a:t>Учётные записи в </a:t>
            </a:r>
            <a:r>
              <a:rPr lang="ru-RU" b="1" dirty="0" err="1"/>
              <a:t>Workgroup</a:t>
            </a:r>
            <a:endParaRPr lang="ru-RU" b="1" dirty="0"/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Каждый компьютер имеет собственную базу пользователей.</a:t>
            </a:r>
          </a:p>
          <a:p>
            <a:pPr>
              <a:defRPr sz="3600"/>
            </a:pPr>
            <a:r>
              <a:rPr lang="ru-RU" dirty="0"/>
              <a:t>Например: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PC-01\</a:t>
            </a:r>
            <a:r>
              <a:rPr lang="ru-RU" dirty="0" err="1"/>
              <a:t>Student</a:t>
            </a:r>
            <a:endParaRPr lang="ru-RU"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PC-02\</a:t>
            </a:r>
            <a:r>
              <a:rPr lang="ru-RU" dirty="0" err="1"/>
              <a:t>Student</a:t>
            </a:r>
            <a:endParaRPr lang="ru-RU" dirty="0"/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Это две разные учётные записи, даже если у них: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одинаковое имя;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одинаковый пароль;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одинаковые права.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Для доступа к другому компьютеру могут потребоваться учётные данные, существующие именно на удалённом ПК.</a:t>
            </a:r>
          </a:p>
          <a:p>
            <a:pPr>
              <a:defRPr sz="3600"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946074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39EB1F-F81D-FFE0-C1F6-7DF1843554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8FFD714-651E-273E-7264-C077D2F75A74}"/>
              </a:ext>
            </a:extLst>
          </p:cNvPr>
          <p:cNvSpPr txBox="1"/>
          <p:nvPr/>
        </p:nvSpPr>
        <p:spPr>
          <a:xfrm>
            <a:off x="457199" y="294969"/>
            <a:ext cx="11312013" cy="6238566"/>
          </a:xfrm>
          <a:prstGeom prst="rect">
            <a:avLst/>
          </a:prstGeom>
          <a:noFill/>
        </p:spPr>
        <p:txBody>
          <a:bodyPr wrap="square">
            <a:normAutofit fontScale="70000" lnSpcReduction="20000"/>
          </a:bodyPr>
          <a:lstStyle/>
          <a:p>
            <a:pPr algn="ctr">
              <a:defRPr sz="3600"/>
            </a:pPr>
            <a:r>
              <a:rPr lang="ru-RU" b="1" dirty="0"/>
              <a:t>Домен — Domain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Domain — централизованная модель управления компьютерами и пользователями.</a:t>
            </a:r>
          </a:p>
          <a:p>
            <a:pPr>
              <a:defRPr sz="3600"/>
            </a:pPr>
            <a:r>
              <a:rPr lang="ru-RU" dirty="0"/>
              <a:t>Основные компоненты: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Active Directory Domain Services;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контроллер домена — Domain </a:t>
            </a:r>
            <a:r>
              <a:rPr lang="ru-RU" dirty="0" err="1"/>
              <a:t>Controller</a:t>
            </a:r>
            <a:r>
              <a:rPr lang="ru-RU" dirty="0"/>
              <a:t>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доменные пользователи и группы;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доменные компьютеры;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DNS;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групповые политики — GPO.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Пример домена:</a:t>
            </a:r>
          </a:p>
          <a:p>
            <a:pPr>
              <a:defRPr sz="3600"/>
            </a:pPr>
            <a:r>
              <a:rPr lang="ru-RU" dirty="0" err="1"/>
              <a:t>corp.local</a:t>
            </a:r>
            <a:endParaRPr lang="ru-RU" dirty="0"/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Пример доменной учётной записи:</a:t>
            </a:r>
          </a:p>
          <a:p>
            <a:pPr>
              <a:defRPr sz="3600"/>
            </a:pPr>
            <a:r>
              <a:rPr lang="ru-RU" dirty="0"/>
              <a:t>CORP\</a:t>
            </a:r>
            <a:r>
              <a:rPr lang="ru-RU" dirty="0" err="1"/>
              <a:t>Student</a:t>
            </a:r>
            <a:endParaRPr lang="ru-RU" dirty="0"/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или:</a:t>
            </a:r>
          </a:p>
          <a:p>
            <a:pPr>
              <a:defRPr sz="3600"/>
            </a:pPr>
            <a:r>
              <a:rPr lang="ru-RU" dirty="0" err="1"/>
              <a:t>student@corp.local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985117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41D55F-5EFD-6C8E-EE0B-B0F18946EA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55FF726-1D59-AB57-43EC-DC2264D10DE5}"/>
              </a:ext>
            </a:extLst>
          </p:cNvPr>
          <p:cNvSpPr txBox="1"/>
          <p:nvPr/>
        </p:nvSpPr>
        <p:spPr>
          <a:xfrm>
            <a:off x="457200" y="471948"/>
            <a:ext cx="10972800" cy="5654532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 algn="ctr">
              <a:defRPr sz="3600"/>
            </a:pPr>
            <a:r>
              <a:rPr lang="ru-RU" b="1" dirty="0"/>
              <a:t>Централизованное управление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В домене администратор может централизованно: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создавать пользователей;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объединять пользователей в группы;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управлять компьютерами;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задавать политики безопасности;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предоставлять доступ к файлам и принтерам;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устанавливать ограничения;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управлять параметрами рабочих мест.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Пользователь может применять одну доменную учётную запись на разных разрешённых компьютерах.</a:t>
            </a:r>
          </a:p>
          <a:p>
            <a:pPr>
              <a:defRPr sz="3600"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060811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D1364-82C3-98ED-76B2-92BE92ED9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82F0231-22E2-3BC1-A9DE-885FF1A82FCB}"/>
              </a:ext>
            </a:extLst>
          </p:cNvPr>
          <p:cNvSpPr txBox="1"/>
          <p:nvPr/>
        </p:nvSpPr>
        <p:spPr>
          <a:xfrm>
            <a:off x="457200" y="471948"/>
            <a:ext cx="10972800" cy="56545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3600"/>
            </a:pPr>
            <a:r>
              <a:rPr lang="en-US" b="1" dirty="0"/>
              <a:t>Workgroup </a:t>
            </a:r>
            <a:r>
              <a:rPr lang="ru-RU" b="1" dirty="0"/>
              <a:t>и </a:t>
            </a:r>
            <a:r>
              <a:rPr lang="en-US" b="1" dirty="0"/>
              <a:t>Domain: </a:t>
            </a:r>
            <a:r>
              <a:rPr lang="ru-RU" b="1" dirty="0"/>
              <a:t>сравнение</a:t>
            </a:r>
            <a:endParaRPr b="1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5D1B4F4-FAC8-45F7-39FA-C61D737064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11350"/>
            <a:ext cx="11429907" cy="4089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30634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5E3CE7-3C4A-E816-4CAF-8E916FBCD0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FFF013C-A001-7A4F-B4EE-08F6978799E5}"/>
              </a:ext>
            </a:extLst>
          </p:cNvPr>
          <p:cNvSpPr txBox="1"/>
          <p:nvPr/>
        </p:nvSpPr>
        <p:spPr>
          <a:xfrm>
            <a:off x="457200" y="471948"/>
            <a:ext cx="10972800" cy="5987846"/>
          </a:xfrm>
          <a:prstGeom prst="rect">
            <a:avLst/>
          </a:prstGeom>
          <a:noFill/>
        </p:spPr>
        <p:txBody>
          <a:bodyPr wrap="square">
            <a:normAutofit fontScale="62500" lnSpcReduction="20000"/>
          </a:bodyPr>
          <a:lstStyle/>
          <a:p>
            <a:pPr algn="ctr">
              <a:defRPr sz="3600"/>
            </a:pPr>
            <a:r>
              <a:rPr lang="ru-RU" b="1" dirty="0"/>
              <a:t>Вход пользователя</a:t>
            </a:r>
          </a:p>
          <a:p>
            <a:pPr>
              <a:defRPr sz="3600"/>
            </a:pPr>
            <a:r>
              <a:rPr lang="ru-RU" dirty="0"/>
              <a:t>В рабочей группе</a:t>
            </a:r>
          </a:p>
          <a:p>
            <a:pPr>
              <a:defRPr sz="3600"/>
            </a:pPr>
            <a:r>
              <a:rPr lang="ru-RU" dirty="0"/>
              <a:t>→ Пользователь</a:t>
            </a:r>
          </a:p>
          <a:p>
            <a:pPr>
              <a:defRPr sz="3600"/>
            </a:pPr>
            <a:r>
              <a:rPr lang="ru-RU" dirty="0"/>
              <a:t>→ локальная база учётных записей</a:t>
            </a:r>
          </a:p>
          <a:p>
            <a:pPr>
              <a:defRPr sz="3600"/>
            </a:pPr>
            <a:r>
              <a:rPr lang="ru-RU" dirty="0"/>
              <a:t>→ вход на конкретный компьютер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Пример:</a:t>
            </a:r>
          </a:p>
          <a:p>
            <a:pPr>
              <a:defRPr sz="3600"/>
            </a:pPr>
            <a:r>
              <a:rPr lang="ru-RU" dirty="0"/>
              <a:t>PC-01\</a:t>
            </a:r>
            <a:r>
              <a:rPr lang="ru-RU" dirty="0" err="1"/>
              <a:t>Student</a:t>
            </a:r>
            <a:endParaRPr lang="ru-RU" dirty="0"/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В домене</a:t>
            </a:r>
          </a:p>
          <a:p>
            <a:pPr>
              <a:defRPr sz="3600"/>
            </a:pPr>
            <a:r>
              <a:rPr lang="ru-RU" dirty="0"/>
              <a:t>→ Пользователь</a:t>
            </a:r>
          </a:p>
          <a:p>
            <a:pPr>
              <a:defRPr sz="3600"/>
            </a:pPr>
            <a:r>
              <a:rPr lang="ru-RU" dirty="0"/>
              <a:t>→ контроллер домена</a:t>
            </a:r>
          </a:p>
          <a:p>
            <a:pPr>
              <a:defRPr sz="3600"/>
            </a:pPr>
            <a:r>
              <a:rPr lang="ru-RU" dirty="0"/>
              <a:t>→ проверка доменной учётной записи</a:t>
            </a:r>
          </a:p>
          <a:p>
            <a:pPr>
              <a:defRPr sz="3600"/>
            </a:pPr>
            <a:r>
              <a:rPr lang="ru-RU" dirty="0"/>
              <a:t>→ вход на рабочий компьютер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Пример:</a:t>
            </a:r>
          </a:p>
          <a:p>
            <a:pPr>
              <a:defRPr sz="3600"/>
            </a:pPr>
            <a:r>
              <a:rPr lang="ru-RU" dirty="0"/>
              <a:t>CORP\</a:t>
            </a:r>
            <a:r>
              <a:rPr lang="ru-RU" dirty="0" err="1"/>
              <a:t>Student</a:t>
            </a:r>
            <a:endParaRPr lang="ru-RU" dirty="0"/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После успешного доменного входа Windows может сохранить данные для последующего входа при временной недоступности контроллера домена.</a:t>
            </a:r>
          </a:p>
          <a:p>
            <a:pPr>
              <a:defRPr sz="3600"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850521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B2B38C-1602-5333-0BE1-7CBDCD8A6E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0A498A5-D34A-37E0-E031-F81C49A011AB}"/>
              </a:ext>
            </a:extLst>
          </p:cNvPr>
          <p:cNvSpPr txBox="1"/>
          <p:nvPr/>
        </p:nvSpPr>
        <p:spPr>
          <a:xfrm>
            <a:off x="457200" y="471948"/>
            <a:ext cx="11194026" cy="5943600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 algn="ctr">
              <a:defRPr sz="3600"/>
            </a:pPr>
            <a:r>
              <a:rPr lang="ru-RU" b="1" dirty="0"/>
              <a:t>Когда используется домен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Домен подходит организации, если требуется: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управлять большим количеством компьютеров;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использовать единые учётные записи;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назначать права через группы;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централизованно применять настройки;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контролировать безопасность;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предоставлять корпоративные ресурсы;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быстро блокировать доступ уволенного сотрудника.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Рабочая группа подходит для небольшой сети, где централизованное управление не требуется.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11680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C27763-A5E4-3254-F065-EF022AD832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2DF257C-AAD7-7068-B6EF-B0BE2C35AAC6}"/>
              </a:ext>
            </a:extLst>
          </p:cNvPr>
          <p:cNvSpPr txBox="1"/>
          <p:nvPr/>
        </p:nvSpPr>
        <p:spPr>
          <a:xfrm>
            <a:off x="457200" y="471948"/>
            <a:ext cx="10972800" cy="56545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rPr dirty="0" err="1"/>
              <a:t>рабочей</a:t>
            </a:r>
            <a:endParaRPr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3FDAF7C-51E8-1B14-D508-88BD4675F2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3236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34D860-728D-C679-E269-21AE2D9F4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7D767BA-B25E-7369-61CF-21D9D427872C}"/>
              </a:ext>
            </a:extLst>
          </p:cNvPr>
          <p:cNvSpPr txBox="1"/>
          <p:nvPr/>
        </p:nvSpPr>
        <p:spPr>
          <a:xfrm>
            <a:off x="728814" y="182880"/>
            <a:ext cx="1070389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lang="ru-RU" dirty="0"/>
              <a:t>2. Присоединение Windows 10/11 Pro/Enterprise к домену.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34E188-D3A0-906F-6A5B-671E9D6C6C8A}"/>
              </a:ext>
            </a:extLst>
          </p:cNvPr>
          <p:cNvSpPr txBox="1"/>
          <p:nvPr/>
        </p:nvSpPr>
        <p:spPr>
          <a:xfrm>
            <a:off x="457200" y="914400"/>
            <a:ext cx="10972800" cy="5760720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pPr algn="ctr">
              <a:defRPr sz="3600"/>
            </a:pPr>
            <a:r>
              <a:rPr lang="ru-RU" b="1" dirty="0"/>
              <a:t>Что происходит при присоединении?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После присоединения к домену: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компьютер становится объектом Active Directory;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контроллер домена распознаёт рабочую станцию;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пользователи могут входить с доменными учётными записями;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компьютер получает групповые политики;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становится доступно централизованное управление;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локальные учётные записи сохраняются.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Присоединение компьютера к локальному домену Active Directory поддерживается редакциями Windows Pro, Enterprise и Education.</a:t>
            </a:r>
          </a:p>
          <a:p>
            <a:pPr>
              <a:defRPr sz="3600"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789268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871602-2117-61B6-4632-25F63A36D4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2A93BB6-5654-6768-D1FF-B095EC4A8328}"/>
              </a:ext>
            </a:extLst>
          </p:cNvPr>
          <p:cNvSpPr txBox="1"/>
          <p:nvPr/>
        </p:nvSpPr>
        <p:spPr>
          <a:xfrm>
            <a:off x="457200" y="471947"/>
            <a:ext cx="10972800" cy="6076337"/>
          </a:xfrm>
          <a:prstGeom prst="rect">
            <a:avLst/>
          </a:prstGeom>
          <a:noFill/>
        </p:spPr>
        <p:txBody>
          <a:bodyPr wrap="square">
            <a:normAutofit fontScale="70000" lnSpcReduction="20000"/>
          </a:bodyPr>
          <a:lstStyle/>
          <a:p>
            <a:pPr algn="ctr">
              <a:defRPr sz="3600"/>
            </a:pPr>
            <a:r>
              <a:rPr lang="ru-RU" b="1" dirty="0"/>
              <a:t>Предварительная проверка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Перед присоединением проверяют: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Редакция Windows — Pro или Enterprise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Имя компьютера — уникальное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DNS — адрес доменного DNS-сервера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Время — синхронизировано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Контроллер домена — доступен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Доменное имя — разрешается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Примеры: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 err="1"/>
              <a:t>hostname</a:t>
            </a:r>
            <a:endParaRPr lang="ru-RU"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 err="1"/>
              <a:t>ipconfig</a:t>
            </a:r>
            <a:r>
              <a:rPr lang="ru-RU" dirty="0"/>
              <a:t> /</a:t>
            </a:r>
            <a:r>
              <a:rPr lang="ru-RU" dirty="0" err="1"/>
              <a:t>all</a:t>
            </a:r>
            <a:endParaRPr lang="ru-RU"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 err="1"/>
              <a:t>nslookup</a:t>
            </a:r>
            <a:r>
              <a:rPr lang="ru-RU" dirty="0"/>
              <a:t> </a:t>
            </a:r>
            <a:r>
              <a:rPr lang="ru-RU" dirty="0" err="1"/>
              <a:t>corp.local</a:t>
            </a:r>
            <a:endParaRPr lang="ru-RU"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 err="1"/>
              <a:t>ping</a:t>
            </a:r>
            <a:r>
              <a:rPr lang="ru-RU" dirty="0"/>
              <a:t> dc01.corp.local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Если клиент использует публичный DNS, он может не найти контроллер домена.</a:t>
            </a:r>
          </a:p>
          <a:p>
            <a:pPr>
              <a:defRPr sz="3600"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671895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0416BD-1C12-54C5-C2D0-4EB71F0F1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3F39A26-4879-C72F-DB8D-23ADCAB1B42C}"/>
              </a:ext>
            </a:extLst>
          </p:cNvPr>
          <p:cNvSpPr txBox="1"/>
          <p:nvPr/>
        </p:nvSpPr>
        <p:spPr>
          <a:xfrm>
            <a:off x="457200" y="471948"/>
            <a:ext cx="10972800" cy="5914104"/>
          </a:xfrm>
          <a:prstGeom prst="rect">
            <a:avLst/>
          </a:prstGeom>
          <a:noFill/>
        </p:spPr>
        <p:txBody>
          <a:bodyPr wrap="square">
            <a:normAutofit fontScale="70000" lnSpcReduction="20000"/>
          </a:bodyPr>
          <a:lstStyle/>
          <a:p>
            <a:pPr algn="ctr">
              <a:defRPr sz="3600"/>
            </a:pPr>
            <a:r>
              <a:rPr lang="ru-RU" b="1" dirty="0"/>
              <a:t>Присоединение через параметры Windows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Путь в Windows 10/11:</a:t>
            </a:r>
          </a:p>
          <a:p>
            <a:pPr>
              <a:defRPr sz="3600"/>
            </a:pPr>
            <a:r>
              <a:rPr lang="ru-RU" dirty="0"/>
              <a:t>→ Параметры</a:t>
            </a:r>
          </a:p>
          <a:p>
            <a:pPr>
              <a:defRPr sz="3600"/>
            </a:pPr>
            <a:r>
              <a:rPr lang="ru-RU" dirty="0"/>
              <a:t>→ Учётные записи</a:t>
            </a:r>
          </a:p>
          <a:p>
            <a:pPr>
              <a:defRPr sz="3600"/>
            </a:pPr>
            <a:r>
              <a:rPr lang="ru-RU" dirty="0"/>
              <a:t>→ Доступ к работе или учёбе</a:t>
            </a:r>
          </a:p>
          <a:p>
            <a:pPr>
              <a:defRPr sz="3600"/>
            </a:pPr>
            <a:r>
              <a:rPr lang="ru-RU" dirty="0"/>
              <a:t>→ Подключиться</a:t>
            </a:r>
          </a:p>
          <a:p>
            <a:pPr>
              <a:defRPr sz="3600"/>
            </a:pPr>
            <a:r>
              <a:rPr lang="ru-RU" dirty="0"/>
              <a:t>→ Присоединить это устройство</a:t>
            </a:r>
          </a:p>
          <a:p>
            <a:pPr>
              <a:defRPr sz="3600"/>
            </a:pPr>
            <a:r>
              <a:rPr lang="ru-RU" dirty="0"/>
              <a:t>   к локальному домену Active Directory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Далее необходимо: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указать полное имя домена;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ввести доменные учётные данные;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дождаться сообщения об успешном присоединении;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перезагрузить компьютер.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Такой путь присоединения описан в официальной документации Microsoft.</a:t>
            </a:r>
          </a:p>
          <a:p>
            <a:pPr>
              <a:defRPr sz="3600"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354753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5FE3F9-5F24-BB43-0050-9BAF9B878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891ADD1-1554-8C74-5C31-9B5A787A3F6F}"/>
              </a:ext>
            </a:extLst>
          </p:cNvPr>
          <p:cNvSpPr txBox="1"/>
          <p:nvPr/>
        </p:nvSpPr>
        <p:spPr>
          <a:xfrm>
            <a:off x="457199" y="471948"/>
            <a:ext cx="11297265" cy="5914104"/>
          </a:xfrm>
          <a:prstGeom prst="rect">
            <a:avLst/>
          </a:prstGeom>
          <a:noFill/>
        </p:spPr>
        <p:txBody>
          <a:bodyPr wrap="square">
            <a:normAutofit fontScale="70000" lnSpcReduction="20000"/>
          </a:bodyPr>
          <a:lstStyle/>
          <a:p>
            <a:pPr algn="ctr">
              <a:defRPr sz="3600"/>
            </a:pPr>
            <a:r>
              <a:rPr lang="ru-RU" b="1" dirty="0"/>
              <a:t>Присоединение через свойства системы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Классический способ:</a:t>
            </a:r>
          </a:p>
          <a:p>
            <a:pPr>
              <a:defRPr sz="3600"/>
            </a:pPr>
            <a:r>
              <a:rPr lang="ru-RU" dirty="0" err="1"/>
              <a:t>sysdm.cpl</a:t>
            </a:r>
            <a:endParaRPr lang="ru-RU" dirty="0"/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Последовательность:</a:t>
            </a:r>
          </a:p>
          <a:p>
            <a:pPr>
              <a:defRPr sz="3600"/>
            </a:pPr>
            <a:r>
              <a:rPr lang="ru-RU" dirty="0"/>
              <a:t>→ Имя компьютера</a:t>
            </a:r>
          </a:p>
          <a:p>
            <a:pPr>
              <a:defRPr sz="3600"/>
            </a:pPr>
            <a:r>
              <a:rPr lang="ru-RU" dirty="0"/>
              <a:t>→ Изменить</a:t>
            </a:r>
          </a:p>
          <a:p>
            <a:pPr>
              <a:defRPr sz="3600"/>
            </a:pPr>
            <a:r>
              <a:rPr lang="ru-RU" dirty="0"/>
              <a:t>→ Член домена</a:t>
            </a:r>
          </a:p>
          <a:p>
            <a:pPr>
              <a:defRPr sz="3600"/>
            </a:pPr>
            <a:r>
              <a:rPr lang="ru-RU" dirty="0"/>
              <a:t>→ указать имя домена</a:t>
            </a:r>
          </a:p>
          <a:p>
            <a:pPr>
              <a:defRPr sz="3600"/>
            </a:pPr>
            <a:r>
              <a:rPr lang="ru-RU" dirty="0"/>
              <a:t>→ ввести учётные данные</a:t>
            </a:r>
          </a:p>
          <a:p>
            <a:pPr>
              <a:defRPr sz="3600"/>
            </a:pPr>
            <a:r>
              <a:rPr lang="ru-RU" dirty="0"/>
              <a:t>→ перезагрузить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Пример домена:</a:t>
            </a:r>
          </a:p>
          <a:p>
            <a:pPr>
              <a:defRPr sz="3600"/>
            </a:pPr>
            <a:r>
              <a:rPr lang="ru-RU" dirty="0" err="1"/>
              <a:t>corp.local</a:t>
            </a:r>
            <a:endParaRPr lang="ru-RU" dirty="0"/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После успешного присоединения Windows выводит приветствие домена.</a:t>
            </a:r>
          </a:p>
          <a:p>
            <a:pPr>
              <a:defRPr sz="3600"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422048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0C02F0-4CD4-0D42-8EDF-E77EC1B787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89ED971-4A53-1F37-7011-37137AD1A579}"/>
              </a:ext>
            </a:extLst>
          </p:cNvPr>
          <p:cNvSpPr txBox="1"/>
          <p:nvPr/>
        </p:nvSpPr>
        <p:spPr>
          <a:xfrm>
            <a:off x="457200" y="471947"/>
            <a:ext cx="10972800" cy="6046839"/>
          </a:xfrm>
          <a:prstGeom prst="rect">
            <a:avLst/>
          </a:prstGeom>
          <a:noFill/>
        </p:spPr>
        <p:txBody>
          <a:bodyPr wrap="square">
            <a:normAutofit fontScale="77500" lnSpcReduction="20000"/>
          </a:bodyPr>
          <a:lstStyle/>
          <a:p>
            <a:pPr algn="ctr">
              <a:defRPr sz="3600"/>
            </a:pPr>
            <a:r>
              <a:rPr lang="ru-RU" b="1" dirty="0"/>
              <a:t>Присоединение через </a:t>
            </a:r>
            <a:r>
              <a:rPr lang="en-US" b="1" dirty="0"/>
              <a:t>PowerShell</a:t>
            </a:r>
          </a:p>
          <a:p>
            <a:pPr>
              <a:defRPr sz="3600"/>
            </a:pPr>
            <a:endParaRPr lang="en-US" dirty="0"/>
          </a:p>
          <a:p>
            <a:pPr>
              <a:defRPr sz="3600"/>
            </a:pPr>
            <a:r>
              <a:rPr lang="ru-RU" dirty="0"/>
              <a:t>Команда:</a:t>
            </a:r>
          </a:p>
          <a:p>
            <a:pPr>
              <a:defRPr sz="3600"/>
            </a:pPr>
            <a:r>
              <a:rPr lang="en-US" dirty="0">
                <a:solidFill>
                  <a:srgbClr val="002060"/>
                </a:solidFill>
              </a:rPr>
              <a:t>Add-Computer `</a:t>
            </a:r>
          </a:p>
          <a:p>
            <a:pPr>
              <a:defRPr sz="3600"/>
            </a:pPr>
            <a:r>
              <a:rPr lang="en-US" dirty="0">
                <a:solidFill>
                  <a:srgbClr val="002060"/>
                </a:solidFill>
              </a:rPr>
              <a:t>    -</a:t>
            </a:r>
            <a:r>
              <a:rPr lang="en-US" dirty="0" err="1">
                <a:solidFill>
                  <a:srgbClr val="002060"/>
                </a:solidFill>
              </a:rPr>
              <a:t>DomainName</a:t>
            </a:r>
            <a:r>
              <a:rPr lang="en-US" dirty="0">
                <a:solidFill>
                  <a:srgbClr val="002060"/>
                </a:solidFill>
              </a:rPr>
              <a:t> "</a:t>
            </a:r>
            <a:r>
              <a:rPr lang="en-US" dirty="0" err="1">
                <a:solidFill>
                  <a:srgbClr val="002060"/>
                </a:solidFill>
              </a:rPr>
              <a:t>corp.local</a:t>
            </a:r>
            <a:r>
              <a:rPr lang="en-US" dirty="0">
                <a:solidFill>
                  <a:srgbClr val="002060"/>
                </a:solidFill>
              </a:rPr>
              <a:t>" `</a:t>
            </a:r>
          </a:p>
          <a:p>
            <a:pPr>
              <a:defRPr sz="3600"/>
            </a:pPr>
            <a:r>
              <a:rPr lang="en-US" dirty="0">
                <a:solidFill>
                  <a:srgbClr val="002060"/>
                </a:solidFill>
              </a:rPr>
              <a:t>    -Credential (Get-Credential) `</a:t>
            </a:r>
          </a:p>
          <a:p>
            <a:pPr>
              <a:defRPr sz="3600"/>
            </a:pPr>
            <a:r>
              <a:rPr lang="en-US" dirty="0">
                <a:solidFill>
                  <a:srgbClr val="002060"/>
                </a:solidFill>
              </a:rPr>
              <a:t>    -Restart</a:t>
            </a:r>
          </a:p>
          <a:p>
            <a:pPr>
              <a:defRPr sz="3600"/>
            </a:pPr>
            <a:endParaRPr lang="en-US" dirty="0"/>
          </a:p>
          <a:p>
            <a:pPr>
              <a:defRPr sz="3600"/>
            </a:pPr>
            <a:r>
              <a:rPr lang="ru-RU" dirty="0"/>
              <a:t>С указанием организационного подразделения:</a:t>
            </a:r>
          </a:p>
          <a:p>
            <a:pPr>
              <a:defRPr sz="3600"/>
            </a:pPr>
            <a:r>
              <a:rPr lang="en-US" dirty="0">
                <a:solidFill>
                  <a:srgbClr val="002060"/>
                </a:solidFill>
              </a:rPr>
              <a:t>Add-Computer `</a:t>
            </a:r>
          </a:p>
          <a:p>
            <a:pPr>
              <a:defRPr sz="3600"/>
            </a:pPr>
            <a:r>
              <a:rPr lang="en-US" dirty="0">
                <a:solidFill>
                  <a:srgbClr val="002060"/>
                </a:solidFill>
              </a:rPr>
              <a:t>    -</a:t>
            </a:r>
            <a:r>
              <a:rPr lang="en-US" dirty="0" err="1">
                <a:solidFill>
                  <a:srgbClr val="002060"/>
                </a:solidFill>
              </a:rPr>
              <a:t>DomainName</a:t>
            </a:r>
            <a:r>
              <a:rPr lang="en-US" dirty="0">
                <a:solidFill>
                  <a:srgbClr val="002060"/>
                </a:solidFill>
              </a:rPr>
              <a:t> "</a:t>
            </a:r>
            <a:r>
              <a:rPr lang="en-US" dirty="0" err="1">
                <a:solidFill>
                  <a:srgbClr val="002060"/>
                </a:solidFill>
              </a:rPr>
              <a:t>corp.local</a:t>
            </a:r>
            <a:r>
              <a:rPr lang="en-US" dirty="0">
                <a:solidFill>
                  <a:srgbClr val="002060"/>
                </a:solidFill>
              </a:rPr>
              <a:t>" `</a:t>
            </a:r>
          </a:p>
          <a:p>
            <a:pPr>
              <a:defRPr sz="3600"/>
            </a:pPr>
            <a:r>
              <a:rPr lang="en-US" dirty="0">
                <a:solidFill>
                  <a:srgbClr val="002060"/>
                </a:solidFill>
              </a:rPr>
              <a:t>    -</a:t>
            </a:r>
            <a:r>
              <a:rPr lang="en-US" dirty="0" err="1">
                <a:solidFill>
                  <a:srgbClr val="002060"/>
                </a:solidFill>
              </a:rPr>
              <a:t>OUPath</a:t>
            </a:r>
            <a:r>
              <a:rPr lang="en-US" dirty="0">
                <a:solidFill>
                  <a:srgbClr val="002060"/>
                </a:solidFill>
              </a:rPr>
              <a:t> "OU=</a:t>
            </a:r>
            <a:r>
              <a:rPr lang="en-US" dirty="0" err="1">
                <a:solidFill>
                  <a:srgbClr val="002060"/>
                </a:solidFill>
              </a:rPr>
              <a:t>Computers,DC</a:t>
            </a:r>
            <a:r>
              <a:rPr lang="en-US" dirty="0">
                <a:solidFill>
                  <a:srgbClr val="002060"/>
                </a:solidFill>
              </a:rPr>
              <a:t>=</a:t>
            </a:r>
            <a:r>
              <a:rPr lang="en-US" dirty="0" err="1">
                <a:solidFill>
                  <a:srgbClr val="002060"/>
                </a:solidFill>
              </a:rPr>
              <a:t>corp,DC</a:t>
            </a:r>
            <a:r>
              <a:rPr lang="en-US" dirty="0">
                <a:solidFill>
                  <a:srgbClr val="002060"/>
                </a:solidFill>
              </a:rPr>
              <a:t>=local" `</a:t>
            </a:r>
          </a:p>
          <a:p>
            <a:pPr>
              <a:defRPr sz="3600"/>
            </a:pPr>
            <a:r>
              <a:rPr lang="en-US" dirty="0">
                <a:solidFill>
                  <a:srgbClr val="002060"/>
                </a:solidFill>
              </a:rPr>
              <a:t>    -Credential (Get-Credential) `</a:t>
            </a:r>
          </a:p>
          <a:p>
            <a:pPr>
              <a:defRPr sz="3600"/>
            </a:pPr>
            <a:r>
              <a:rPr lang="en-US" dirty="0">
                <a:solidFill>
                  <a:srgbClr val="002060"/>
                </a:solidFill>
              </a:rPr>
              <a:t>    -Restart</a:t>
            </a:r>
          </a:p>
          <a:p>
            <a:pPr>
              <a:defRPr sz="3600"/>
            </a:pPr>
            <a:endParaRPr lang="en-US" dirty="0"/>
          </a:p>
          <a:p>
            <a:pPr>
              <a:defRPr sz="3600"/>
            </a:pPr>
            <a:r>
              <a:rPr lang="ru-RU" dirty="0"/>
              <a:t>Команда </a:t>
            </a:r>
            <a:r>
              <a:rPr lang="en-US" dirty="0"/>
              <a:t>Add-Computer </a:t>
            </a:r>
            <a:r>
              <a:rPr lang="ru-RU" dirty="0"/>
              <a:t>присоединяет локальный или удалённый компьютер к домену либо рабочей группе.</a:t>
            </a:r>
          </a:p>
        </p:txBody>
      </p:sp>
    </p:spTree>
    <p:extLst>
      <p:ext uri="{BB962C8B-B14F-4D97-AF65-F5344CB8AC3E}">
        <p14:creationId xmlns:p14="http://schemas.microsoft.com/office/powerpoint/2010/main" val="7842523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41E629-4EE2-7648-4F23-3FB89A0433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A848E3-8420-0C96-1556-E69478ED70B3}"/>
              </a:ext>
            </a:extLst>
          </p:cNvPr>
          <p:cNvSpPr txBox="1"/>
          <p:nvPr/>
        </p:nvSpPr>
        <p:spPr>
          <a:xfrm>
            <a:off x="457200" y="471948"/>
            <a:ext cx="10972800" cy="6091084"/>
          </a:xfrm>
          <a:prstGeom prst="rect">
            <a:avLst/>
          </a:prstGeom>
          <a:noFill/>
        </p:spPr>
        <p:txBody>
          <a:bodyPr wrap="square">
            <a:normAutofit fontScale="77500" lnSpcReduction="20000"/>
          </a:bodyPr>
          <a:lstStyle/>
          <a:p>
            <a:pPr algn="ctr">
              <a:defRPr sz="3600"/>
            </a:pPr>
            <a:r>
              <a:rPr lang="ru-RU" b="1" dirty="0"/>
              <a:t>Учётные данные для присоединения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Для операции требуется доменная учётная запись, которой разрешено добавлять компьютеры в домен.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Форматы входа: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CORP\</a:t>
            </a:r>
            <a:r>
              <a:rPr lang="ru-RU" dirty="0" err="1"/>
              <a:t>Administrator</a:t>
            </a:r>
            <a:endParaRPr lang="ru-RU" dirty="0"/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или: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 err="1"/>
              <a:t>administrator@corp.local</a:t>
            </a:r>
            <a:endParaRPr lang="ru-RU" dirty="0"/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Важно: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пароль локального администратора не является доменным;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обычный доменный пользователь может не иметь нужных прав;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постоянное использование Domain </a:t>
            </a:r>
            <a:r>
              <a:rPr lang="ru-RU" dirty="0" err="1"/>
              <a:t>Admin</a:t>
            </a:r>
            <a:r>
              <a:rPr lang="ru-RU" dirty="0"/>
              <a:t> не рекомендуется;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в организации применяют отдельную административную учётную запись.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979427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070CBC-6218-B5BE-B4AD-C009729E3F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4D092F1-FD9C-9AD4-6BC1-76ACF59916C3}"/>
              </a:ext>
            </a:extLst>
          </p:cNvPr>
          <p:cNvSpPr txBox="1"/>
          <p:nvPr/>
        </p:nvSpPr>
        <p:spPr>
          <a:xfrm>
            <a:off x="457199" y="471947"/>
            <a:ext cx="11238271" cy="6032091"/>
          </a:xfrm>
          <a:prstGeom prst="rect">
            <a:avLst/>
          </a:prstGeom>
          <a:noFill/>
        </p:spPr>
        <p:txBody>
          <a:bodyPr wrap="square">
            <a:normAutofit fontScale="62500" lnSpcReduction="20000"/>
          </a:bodyPr>
          <a:lstStyle/>
          <a:p>
            <a:pPr algn="ctr">
              <a:defRPr sz="3600"/>
            </a:pPr>
            <a:r>
              <a:rPr lang="ru-RU" b="1" dirty="0"/>
              <a:t>Первый доменный вход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После перезагрузки на экране входа выбирают: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Другой пользователь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Вводят: CORP\</a:t>
            </a:r>
            <a:r>
              <a:rPr lang="ru-RU" dirty="0" err="1"/>
              <a:t>Student</a:t>
            </a:r>
            <a:endParaRPr lang="ru-RU" dirty="0"/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или: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 err="1"/>
              <a:t>student@corp.local</a:t>
            </a:r>
            <a:endParaRPr lang="ru-RU" dirty="0"/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После первого входа Windows: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проверяет пользователя через контроллер домена;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создаёт локальный профиль;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применяет доступные GPO;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получает пользовательские настройки;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сохраняет сведения для последующего входа.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Локальный вход остаётся доступен:</a:t>
            </a:r>
          </a:p>
          <a:p>
            <a:pPr>
              <a:defRPr sz="3600"/>
            </a:pPr>
            <a:r>
              <a:rPr lang="ru-RU" dirty="0"/>
              <a:t>.\</a:t>
            </a:r>
            <a:r>
              <a:rPr lang="ru-RU" dirty="0" err="1"/>
              <a:t>LocalAdmin</a:t>
            </a:r>
            <a:endParaRPr lang="ru-RU" dirty="0"/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или:</a:t>
            </a:r>
          </a:p>
          <a:p>
            <a:pPr>
              <a:defRPr sz="3600"/>
            </a:pPr>
            <a:r>
              <a:rPr lang="ru-RU" dirty="0"/>
              <a:t>WIN11-01\</a:t>
            </a:r>
            <a:r>
              <a:rPr lang="ru-RU" dirty="0" err="1"/>
              <a:t>LocalAdmin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04151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BC558E-2DC9-5E38-9DCA-774A7D1F34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050D7BC-5E56-BCF1-3278-3A0E453217C8}"/>
              </a:ext>
            </a:extLst>
          </p:cNvPr>
          <p:cNvSpPr txBox="1"/>
          <p:nvPr/>
        </p:nvSpPr>
        <p:spPr>
          <a:xfrm>
            <a:off x="457199" y="471947"/>
            <a:ext cx="11385755" cy="6061587"/>
          </a:xfrm>
          <a:prstGeom prst="rect">
            <a:avLst/>
          </a:prstGeom>
          <a:noFill/>
        </p:spPr>
        <p:txBody>
          <a:bodyPr wrap="square">
            <a:normAutofit fontScale="62500" lnSpcReduction="20000"/>
          </a:bodyPr>
          <a:lstStyle/>
          <a:p>
            <a:pPr algn="ctr">
              <a:defRPr sz="3600"/>
            </a:pPr>
            <a:r>
              <a:rPr lang="ru-RU" b="1" dirty="0"/>
              <a:t>Проверка результата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Проверить членство в домене:</a:t>
            </a:r>
          </a:p>
          <a:p>
            <a:pPr>
              <a:defRPr sz="3600"/>
            </a:pPr>
            <a:r>
              <a:rPr lang="ru-RU" dirty="0">
                <a:solidFill>
                  <a:srgbClr val="002060"/>
                </a:solidFill>
              </a:rPr>
              <a:t>Get-</a:t>
            </a:r>
            <a:r>
              <a:rPr lang="ru-RU" dirty="0" err="1">
                <a:solidFill>
                  <a:srgbClr val="002060"/>
                </a:solidFill>
              </a:rPr>
              <a:t>ComputerInfo</a:t>
            </a:r>
            <a:r>
              <a:rPr lang="ru-RU" dirty="0">
                <a:solidFill>
                  <a:srgbClr val="002060"/>
                </a:solidFill>
              </a:rPr>
              <a:t> |</a:t>
            </a:r>
          </a:p>
          <a:p>
            <a:pPr>
              <a:defRPr sz="3600"/>
            </a:pPr>
            <a:r>
              <a:rPr lang="ru-RU" dirty="0">
                <a:solidFill>
                  <a:srgbClr val="002060"/>
                </a:solidFill>
              </a:rPr>
              <a:t>    Select-Object </a:t>
            </a:r>
            <a:r>
              <a:rPr lang="ru-RU" dirty="0" err="1">
                <a:solidFill>
                  <a:srgbClr val="002060"/>
                </a:solidFill>
              </a:rPr>
              <a:t>CsName</a:t>
            </a:r>
            <a:r>
              <a:rPr lang="ru-RU" dirty="0">
                <a:solidFill>
                  <a:srgbClr val="002060"/>
                </a:solidFill>
              </a:rPr>
              <a:t>, </a:t>
            </a:r>
            <a:r>
              <a:rPr lang="ru-RU" dirty="0" err="1">
                <a:solidFill>
                  <a:srgbClr val="002060"/>
                </a:solidFill>
              </a:rPr>
              <a:t>CsDomain</a:t>
            </a:r>
            <a:r>
              <a:rPr lang="ru-RU" dirty="0">
                <a:solidFill>
                  <a:srgbClr val="002060"/>
                </a:solidFill>
              </a:rPr>
              <a:t>, </a:t>
            </a:r>
            <a:r>
              <a:rPr lang="ru-RU" dirty="0" err="1">
                <a:solidFill>
                  <a:srgbClr val="002060"/>
                </a:solidFill>
              </a:rPr>
              <a:t>CsPartOfDomain</a:t>
            </a:r>
            <a:endParaRPr lang="ru-RU" dirty="0">
              <a:solidFill>
                <a:srgbClr val="002060"/>
              </a:solidFill>
            </a:endParaRP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или:</a:t>
            </a:r>
          </a:p>
          <a:p>
            <a:pPr>
              <a:defRPr sz="3600"/>
            </a:pPr>
            <a:r>
              <a:rPr lang="ru-RU" dirty="0" err="1">
                <a:solidFill>
                  <a:srgbClr val="002060"/>
                </a:solidFill>
              </a:rPr>
              <a:t>systeminfo</a:t>
            </a:r>
            <a:endParaRPr lang="ru-RU" dirty="0">
              <a:solidFill>
                <a:srgbClr val="002060"/>
              </a:solidFill>
            </a:endParaRP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Проверить пользователя:</a:t>
            </a:r>
          </a:p>
          <a:p>
            <a:pPr>
              <a:defRPr sz="3600"/>
            </a:pPr>
            <a:r>
              <a:rPr lang="ru-RU" dirty="0" err="1">
                <a:solidFill>
                  <a:srgbClr val="002060"/>
                </a:solidFill>
              </a:rPr>
              <a:t>whoam</a:t>
            </a:r>
            <a:r>
              <a:rPr lang="ru-RU" dirty="0" err="1"/>
              <a:t>i</a:t>
            </a:r>
            <a:endParaRPr lang="ru-RU" dirty="0"/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Ожидаемый результат:</a:t>
            </a:r>
          </a:p>
          <a:p>
            <a:pPr>
              <a:defRPr sz="3600"/>
            </a:pPr>
            <a:r>
              <a:rPr lang="ru-RU" dirty="0" err="1">
                <a:solidFill>
                  <a:srgbClr val="002060"/>
                </a:solidFill>
              </a:rPr>
              <a:t>corp</a:t>
            </a:r>
            <a:r>
              <a:rPr lang="ru-RU" dirty="0">
                <a:solidFill>
                  <a:srgbClr val="002060"/>
                </a:solidFill>
              </a:rPr>
              <a:t>\</a:t>
            </a:r>
            <a:r>
              <a:rPr lang="ru-RU" dirty="0" err="1">
                <a:solidFill>
                  <a:srgbClr val="002060"/>
                </a:solidFill>
              </a:rPr>
              <a:t>student</a:t>
            </a:r>
            <a:endParaRPr lang="ru-RU" dirty="0">
              <a:solidFill>
                <a:srgbClr val="002060"/>
              </a:solidFill>
            </a:endParaRP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Также проверяют: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компьютер появился в Active Directory;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доменный пользователь может войти;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DNS настроен на доменный сервер;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после перезагрузки нет ошибок входа;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локальная административная учётная запись доступна.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539135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F63684-9962-68F6-E902-7AD1679090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D4A5A5C-8CB1-C659-0975-DC26E429B325}"/>
              </a:ext>
            </a:extLst>
          </p:cNvPr>
          <p:cNvSpPr txBox="1"/>
          <p:nvPr/>
        </p:nvSpPr>
        <p:spPr>
          <a:xfrm>
            <a:off x="457200" y="471948"/>
            <a:ext cx="10972800" cy="56545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rPr dirty="0" err="1"/>
              <a:t>рабочей</a:t>
            </a:r>
            <a:endParaRPr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443BBB4-BDB5-8E64-EFCF-9F1083D79E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45306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82E4A5-C5CD-C1D7-1137-95AA20B2A6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D8BF22F-5466-34C6-07B6-8B8E9B6BDDD2}"/>
              </a:ext>
            </a:extLst>
          </p:cNvPr>
          <p:cNvSpPr txBox="1"/>
          <p:nvPr/>
        </p:nvSpPr>
        <p:spPr>
          <a:xfrm>
            <a:off x="3561513" y="182880"/>
            <a:ext cx="5038495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lang="en-US" dirty="0"/>
              <a:t>3. Domain User </a:t>
            </a:r>
            <a:r>
              <a:rPr lang="ru-RU" dirty="0"/>
              <a:t>и </a:t>
            </a:r>
            <a:r>
              <a:rPr lang="en-US" dirty="0"/>
              <a:t>Local User.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0EBB7F-FF4A-B26A-3364-A6C590E9E421}"/>
              </a:ext>
            </a:extLst>
          </p:cNvPr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pPr algn="ctr">
              <a:defRPr sz="3600"/>
            </a:pPr>
            <a:r>
              <a:rPr lang="ru-RU" b="1" dirty="0"/>
              <a:t>Два типа учётных записей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На доменном компьютере могут использоваться: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локальные пользователи;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доменные пользователи;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локальные группы;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доменные группы.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Тип учётной записи определяет: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где она хранится;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кто проверяет пароль;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на каких компьютерах она действует;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какие права и политики получает пользователь.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809851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8ECD8C-606B-D4C4-DB14-6C9829C755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CFF238F-9B64-7934-7E8C-EC817E2FAD45}"/>
              </a:ext>
            </a:extLst>
          </p:cNvPr>
          <p:cNvSpPr txBox="1"/>
          <p:nvPr/>
        </p:nvSpPr>
        <p:spPr>
          <a:xfrm>
            <a:off x="457200" y="471948"/>
            <a:ext cx="10972800" cy="5928852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pPr algn="ctr">
              <a:defRPr sz="3600"/>
            </a:pPr>
            <a:r>
              <a:rPr lang="ru-RU" b="1" dirty="0"/>
              <a:t>Local User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Локальная учётная запись: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хранится на конкретном компьютере;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проверяется локальной системой Windows;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действует только на этом компьютере;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имеет собственный локальный профиль;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управляется через Local </a:t>
            </a:r>
            <a:r>
              <a:rPr lang="ru-RU" dirty="0" err="1"/>
              <a:t>Users</a:t>
            </a:r>
            <a:r>
              <a:rPr lang="ru-RU" dirty="0"/>
              <a:t> </a:t>
            </a:r>
            <a:r>
              <a:rPr lang="ru-RU" dirty="0" err="1"/>
              <a:t>and</a:t>
            </a:r>
            <a:r>
              <a:rPr lang="ru-RU" dirty="0"/>
              <a:t> </a:t>
            </a:r>
            <a:r>
              <a:rPr lang="ru-RU" dirty="0" err="1"/>
              <a:t>Groups</a:t>
            </a:r>
            <a:r>
              <a:rPr lang="ru-RU" dirty="0"/>
              <a:t>.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Форматы входа:</a:t>
            </a:r>
          </a:p>
          <a:p>
            <a:pPr>
              <a:defRPr sz="3600"/>
            </a:pPr>
            <a:r>
              <a:rPr lang="ru-RU" dirty="0"/>
              <a:t>.\</a:t>
            </a:r>
            <a:r>
              <a:rPr lang="ru-RU" dirty="0" err="1"/>
              <a:t>LocalAdmin</a:t>
            </a:r>
            <a:endParaRPr lang="ru-RU" dirty="0"/>
          </a:p>
          <a:p>
            <a:pPr>
              <a:defRPr sz="3600"/>
            </a:pPr>
            <a:r>
              <a:rPr lang="ru-RU" dirty="0"/>
              <a:t>WIN11-01\</a:t>
            </a:r>
            <a:r>
              <a:rPr lang="ru-RU" dirty="0" err="1"/>
              <a:t>LocalAdmin</a:t>
            </a:r>
            <a:endParaRPr lang="ru-RU" dirty="0"/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Просмотр локальных пользователей:</a:t>
            </a:r>
          </a:p>
          <a:p>
            <a:pPr>
              <a:defRPr sz="3600"/>
            </a:pPr>
            <a:r>
              <a:rPr lang="ru-RU" dirty="0">
                <a:solidFill>
                  <a:srgbClr val="002060"/>
                </a:solidFill>
              </a:rPr>
              <a:t>Get-</a:t>
            </a:r>
            <a:r>
              <a:rPr lang="ru-RU" dirty="0" err="1">
                <a:solidFill>
                  <a:srgbClr val="002060"/>
                </a:solidFill>
              </a:rPr>
              <a:t>LocalUser</a:t>
            </a:r>
            <a:endParaRPr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98465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2E1566-2E35-F312-18FA-57A1EB699F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9E7979D-60A3-655C-AD32-0369DD5AD53D}"/>
              </a:ext>
            </a:extLst>
          </p:cNvPr>
          <p:cNvSpPr txBox="1"/>
          <p:nvPr/>
        </p:nvSpPr>
        <p:spPr>
          <a:xfrm>
            <a:off x="457200" y="471948"/>
            <a:ext cx="10972800" cy="5654532"/>
          </a:xfrm>
          <a:prstGeom prst="rect">
            <a:avLst/>
          </a:prstGeom>
          <a:noFill/>
        </p:spPr>
        <p:txBody>
          <a:bodyPr wrap="square">
            <a:normAutofit fontScale="77500" lnSpcReduction="20000"/>
          </a:bodyPr>
          <a:lstStyle/>
          <a:p>
            <a:pPr algn="ctr">
              <a:defRPr sz="3600"/>
            </a:pPr>
            <a:r>
              <a:rPr lang="ru-RU" b="1" dirty="0"/>
              <a:t>Domain User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Доменная учётная запись: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хранится в Active Directory;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проверяется контроллером домена;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может использоваться на разных доменных компьютерах;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получает права через доменные группы;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получает пользовательские GPO;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централизованно блокируется администратором.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Форматы входа:</a:t>
            </a:r>
          </a:p>
          <a:p>
            <a:pPr>
              <a:defRPr sz="3600"/>
            </a:pPr>
            <a:r>
              <a:rPr lang="ru-RU" dirty="0"/>
              <a:t>CORP\</a:t>
            </a:r>
            <a:r>
              <a:rPr lang="ru-RU" dirty="0" err="1"/>
              <a:t>Student</a:t>
            </a:r>
            <a:endParaRPr lang="ru-RU" dirty="0"/>
          </a:p>
          <a:p>
            <a:pPr>
              <a:defRPr sz="3600"/>
            </a:pPr>
            <a:r>
              <a:rPr lang="ru-RU" dirty="0" err="1"/>
              <a:t>student@corp.local</a:t>
            </a:r>
            <a:endParaRPr lang="ru-RU" dirty="0"/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Проверка текущего пользователя:</a:t>
            </a:r>
          </a:p>
          <a:p>
            <a:pPr>
              <a:defRPr sz="3600"/>
            </a:pPr>
            <a:r>
              <a:rPr lang="ru-RU" dirty="0" err="1">
                <a:solidFill>
                  <a:srgbClr val="002060"/>
                </a:solidFill>
              </a:rPr>
              <a:t>whoami</a:t>
            </a:r>
            <a:endParaRPr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41758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673B2A-12E8-529A-E128-FFDAE32BB2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CCE41F7-0A2E-2B48-CFE5-8701E52D6FE7}"/>
              </a:ext>
            </a:extLst>
          </p:cNvPr>
          <p:cNvSpPr txBox="1"/>
          <p:nvPr/>
        </p:nvSpPr>
        <p:spPr>
          <a:xfrm>
            <a:off x="457200" y="471948"/>
            <a:ext cx="10972800" cy="56545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3600"/>
            </a:pPr>
            <a:r>
              <a:rPr lang="en-US" b="1" dirty="0"/>
              <a:t>Local User </a:t>
            </a:r>
            <a:r>
              <a:rPr lang="ru-RU" b="1" dirty="0"/>
              <a:t>и </a:t>
            </a:r>
            <a:r>
              <a:rPr lang="en-US" b="1" dirty="0"/>
              <a:t>Domain User</a:t>
            </a:r>
            <a:endParaRPr lang="ru-RU" b="1" dirty="0"/>
          </a:p>
          <a:p>
            <a:pPr algn="ctr">
              <a:defRPr sz="3600"/>
            </a:pPr>
            <a:endParaRPr lang="ru-RU" b="1" dirty="0"/>
          </a:p>
          <a:p>
            <a:pPr algn="ctr">
              <a:defRPr sz="3600"/>
            </a:pPr>
            <a:endParaRPr lang="ru-RU" b="1" dirty="0"/>
          </a:p>
          <a:p>
            <a:pPr algn="ctr">
              <a:defRPr sz="3600"/>
            </a:pPr>
            <a:endParaRPr lang="ru-RU" b="1" dirty="0"/>
          </a:p>
          <a:p>
            <a:pPr algn="ctr">
              <a:defRPr sz="3600"/>
            </a:pPr>
            <a:endParaRPr lang="ru-RU" b="1" dirty="0"/>
          </a:p>
          <a:p>
            <a:pPr algn="ctr">
              <a:defRPr sz="3600"/>
            </a:pPr>
            <a:endParaRPr lang="ru-RU" b="1" dirty="0"/>
          </a:p>
          <a:p>
            <a:pPr algn="ctr">
              <a:defRPr sz="3600"/>
            </a:pPr>
            <a:endParaRPr lang="ru-RU" b="1" dirty="0"/>
          </a:p>
          <a:p>
            <a:pPr algn="ctr">
              <a:defRPr sz="3600"/>
            </a:pPr>
            <a:endParaRPr lang="ru-RU" b="1" dirty="0"/>
          </a:p>
          <a:p>
            <a:pPr>
              <a:defRPr sz="3600"/>
            </a:pPr>
            <a:r>
              <a:rPr lang="ru-RU" dirty="0"/>
              <a:t>Одинаковое имя не делает учётные записи одинаковыми.</a:t>
            </a:r>
            <a:endParaRPr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15FF9F7-8DA5-B59D-8736-FCC5892B72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437" y="1257761"/>
            <a:ext cx="10525125" cy="3362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09819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C0AED5-31E0-31FC-B96A-37ABA3540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8BB901A-67D8-0E91-63D7-6608F6168944}"/>
              </a:ext>
            </a:extLst>
          </p:cNvPr>
          <p:cNvSpPr txBox="1"/>
          <p:nvPr/>
        </p:nvSpPr>
        <p:spPr>
          <a:xfrm>
            <a:off x="457199" y="471947"/>
            <a:ext cx="11297265" cy="5973097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pPr algn="ctr">
              <a:defRPr sz="3600"/>
            </a:pPr>
            <a:r>
              <a:rPr lang="ru-RU" b="1" dirty="0"/>
              <a:t>Профили пользователей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При первом входе Windows создаёт отдельный профиль.</a:t>
            </a:r>
          </a:p>
          <a:p>
            <a:pPr>
              <a:defRPr sz="3600"/>
            </a:pPr>
            <a:r>
              <a:rPr lang="ru-RU" dirty="0"/>
              <a:t>Пример:</a:t>
            </a:r>
          </a:p>
          <a:p>
            <a:pPr>
              <a:defRPr sz="3600"/>
            </a:pPr>
            <a:r>
              <a:rPr lang="ru-RU" dirty="0"/>
              <a:t>C:\Users\LocalAdmin</a:t>
            </a:r>
          </a:p>
          <a:p>
            <a:pPr>
              <a:defRPr sz="3600"/>
            </a:pPr>
            <a:r>
              <a:rPr lang="ru-RU" dirty="0"/>
              <a:t>C:\Users\Student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Важно: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локальный и доменный пользователь имеют разные идентификаторы SID;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их профили и настройки не объединяются автоматически;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файлы локального пользователя не появляются в доменном профиле;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перенос данных выполняют отдельно;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доступ к старому профилю зависит от разрешений.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3693643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743CEB-69BD-59AE-897C-DE7E07B721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66ADEE1-B216-E25C-7522-CFE7613D9F68}"/>
              </a:ext>
            </a:extLst>
          </p:cNvPr>
          <p:cNvSpPr txBox="1"/>
          <p:nvPr/>
        </p:nvSpPr>
        <p:spPr>
          <a:xfrm>
            <a:off x="457200" y="471947"/>
            <a:ext cx="11341510" cy="6032091"/>
          </a:xfrm>
          <a:prstGeom prst="rect">
            <a:avLst/>
          </a:prstGeom>
          <a:noFill/>
        </p:spPr>
        <p:txBody>
          <a:bodyPr wrap="square">
            <a:normAutofit fontScale="70000" lnSpcReduction="20000"/>
          </a:bodyPr>
          <a:lstStyle/>
          <a:p>
            <a:pPr algn="ctr">
              <a:defRPr sz="3600"/>
            </a:pPr>
            <a:r>
              <a:rPr lang="ru-RU" b="1" dirty="0"/>
              <a:t>Как выбрать тип входа</a:t>
            </a:r>
          </a:p>
          <a:p>
            <a:pPr>
              <a:defRPr sz="3600"/>
            </a:pPr>
            <a:r>
              <a:rPr lang="ru-RU" b="1" dirty="0"/>
              <a:t>Доменный вход</a:t>
            </a:r>
          </a:p>
          <a:p>
            <a:pPr>
              <a:defRPr sz="3600"/>
            </a:pPr>
            <a:r>
              <a:rPr lang="ru-RU" dirty="0"/>
              <a:t>CORP\</a:t>
            </a:r>
            <a:r>
              <a:rPr lang="ru-RU" dirty="0" err="1"/>
              <a:t>Student</a:t>
            </a:r>
            <a:endParaRPr lang="ru-RU" dirty="0"/>
          </a:p>
          <a:p>
            <a:pPr>
              <a:defRPr sz="3600"/>
            </a:pPr>
            <a:r>
              <a:rPr lang="ru-RU" dirty="0"/>
              <a:t>Используется для: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работы в организации;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применения GPO;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доступа к корпоративным ресурсам;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централизованного управления.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b="1" dirty="0"/>
              <a:t>Локальный вход</a:t>
            </a:r>
          </a:p>
          <a:p>
            <a:pPr>
              <a:defRPr sz="3600"/>
            </a:pPr>
            <a:r>
              <a:rPr lang="ru-RU" dirty="0"/>
              <a:t>.\</a:t>
            </a:r>
            <a:r>
              <a:rPr lang="ru-RU" dirty="0" err="1"/>
              <a:t>LocalAdmin</a:t>
            </a:r>
            <a:endParaRPr lang="ru-RU" dirty="0"/>
          </a:p>
          <a:p>
            <a:pPr>
              <a:defRPr sz="3600"/>
            </a:pPr>
            <a:r>
              <a:rPr lang="ru-RU" dirty="0"/>
              <a:t>Используется для: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локального администрирования;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диагностики проблем доменного входа;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работы при неисправности доменной инфраструктуры.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Главный вывод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Local User принадлежит конкретному компьютеру,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а Domain User — домену и управляется через Active Directory.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6378888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22916F-A298-2E30-7173-37A041F8C7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19A3195-0CE7-1E7A-DC26-44B3B4B487E2}"/>
              </a:ext>
            </a:extLst>
          </p:cNvPr>
          <p:cNvSpPr txBox="1"/>
          <p:nvPr/>
        </p:nvSpPr>
        <p:spPr>
          <a:xfrm>
            <a:off x="457200" y="471948"/>
            <a:ext cx="10972800" cy="56545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rPr dirty="0" err="1"/>
              <a:t>рабочей</a:t>
            </a:r>
            <a:endParaRPr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51475E9-6DF7-44B1-8203-1A4CFFDC2B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39653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C2D148-EBE8-EC73-E279-23416F86D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ED69D50-BD9E-801D-05F4-705FA0FCA4C3}"/>
              </a:ext>
            </a:extLst>
          </p:cNvPr>
          <p:cNvSpPr txBox="1"/>
          <p:nvPr/>
        </p:nvSpPr>
        <p:spPr>
          <a:xfrm>
            <a:off x="3987110" y="182880"/>
            <a:ext cx="418730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lang="en-US" dirty="0"/>
              <a:t>4. Local Administrators.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DF997F-039E-82D5-AECB-5DCE1DF7AB0D}"/>
              </a:ext>
            </a:extLst>
          </p:cNvPr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pPr algn="ctr">
              <a:defRPr sz="3600"/>
            </a:pPr>
            <a:r>
              <a:rPr lang="ru-RU" b="1" dirty="0"/>
              <a:t>Локальные администраторы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Группа </a:t>
            </a:r>
            <a:r>
              <a:rPr lang="ru-RU" dirty="0" err="1"/>
              <a:t>Administrators</a:t>
            </a:r>
            <a:r>
              <a:rPr lang="ru-RU" dirty="0"/>
              <a:t> определяет, кто может управлять конкретным компьютером.</a:t>
            </a:r>
          </a:p>
          <a:p>
            <a:pPr>
              <a:defRPr sz="3600"/>
            </a:pPr>
            <a:r>
              <a:rPr lang="ru-RU" dirty="0"/>
              <a:t>Участники группы могут: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устанавливать программы и драйверы;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изменять системные настройки;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управлять локальными пользователями;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запускать команды с повышенными правами;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получать доступ к защищённым разделам системы.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Проверка:</a:t>
            </a:r>
          </a:p>
          <a:p>
            <a:pPr>
              <a:defRPr sz="3600"/>
            </a:pPr>
            <a:r>
              <a:rPr lang="ru-RU" dirty="0">
                <a:solidFill>
                  <a:srgbClr val="002060"/>
                </a:solidFill>
              </a:rPr>
              <a:t>Get-</a:t>
            </a:r>
            <a:r>
              <a:rPr lang="ru-RU" dirty="0" err="1">
                <a:solidFill>
                  <a:srgbClr val="002060"/>
                </a:solidFill>
              </a:rPr>
              <a:t>LocalGroupMember</a:t>
            </a:r>
            <a:r>
              <a:rPr lang="ru-RU" dirty="0">
                <a:solidFill>
                  <a:srgbClr val="002060"/>
                </a:solidFill>
              </a:rPr>
              <a:t> </a:t>
            </a:r>
            <a:r>
              <a:rPr lang="ru-RU" dirty="0" err="1">
                <a:solidFill>
                  <a:srgbClr val="002060"/>
                </a:solidFill>
              </a:rPr>
              <a:t>Administrators</a:t>
            </a:r>
            <a:endParaRPr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481768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4DF686-8585-BA8C-430A-691D2DE3EF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29BE963-1DAF-73A0-3957-3B6514159DEF}"/>
              </a:ext>
            </a:extLst>
          </p:cNvPr>
          <p:cNvSpPr txBox="1"/>
          <p:nvPr/>
        </p:nvSpPr>
        <p:spPr>
          <a:xfrm>
            <a:off x="457200" y="471948"/>
            <a:ext cx="10972800" cy="5654532"/>
          </a:xfrm>
          <a:prstGeom prst="rect">
            <a:avLst/>
          </a:prstGeom>
          <a:noFill/>
        </p:spPr>
        <p:txBody>
          <a:bodyPr wrap="square">
            <a:normAutofit fontScale="62500" lnSpcReduction="20000"/>
          </a:bodyPr>
          <a:lstStyle/>
          <a:p>
            <a:pPr algn="ctr">
              <a:defRPr sz="3600"/>
            </a:pPr>
            <a:r>
              <a:rPr lang="ru-RU" b="1" dirty="0"/>
              <a:t>Кто может входить в группу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b="1" dirty="0"/>
              <a:t>В локальную группу </a:t>
            </a:r>
            <a:r>
              <a:rPr lang="ru-RU" b="1" dirty="0" err="1"/>
              <a:t>Administrators</a:t>
            </a:r>
            <a:r>
              <a:rPr lang="ru-RU" b="1" dirty="0"/>
              <a:t> можно добавить: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локального пользователя;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доменного пользователя;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доменную группу;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служебную учётную запись, если это требуется.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b="1" dirty="0"/>
              <a:t>Примеры: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WIN11-01\</a:t>
            </a:r>
            <a:r>
              <a:rPr lang="ru-RU" dirty="0" err="1"/>
              <a:t>LocalAdmin</a:t>
            </a:r>
            <a:endParaRPr lang="ru-RU"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CORP\IT-</a:t>
            </a:r>
            <a:r>
              <a:rPr lang="ru-RU" dirty="0" err="1"/>
              <a:t>Admin</a:t>
            </a:r>
            <a:endParaRPr lang="ru-RU"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CORP\</a:t>
            </a:r>
            <a:r>
              <a:rPr lang="ru-RU" dirty="0" err="1"/>
              <a:t>HelpDesk</a:t>
            </a:r>
            <a:endParaRPr lang="ru-RU" dirty="0"/>
          </a:p>
          <a:p>
            <a:pPr>
              <a:defRPr sz="3600"/>
            </a:pPr>
            <a:endParaRPr lang="ru-RU" b="1" dirty="0"/>
          </a:p>
          <a:p>
            <a:pPr>
              <a:defRPr sz="3600"/>
            </a:pPr>
            <a:r>
              <a:rPr lang="ru-RU" b="1" dirty="0"/>
              <a:t>Добавление доменной группы:</a:t>
            </a:r>
          </a:p>
          <a:p>
            <a:pPr>
              <a:defRPr sz="3600"/>
            </a:pPr>
            <a:r>
              <a:rPr lang="ru-RU" dirty="0" err="1">
                <a:solidFill>
                  <a:srgbClr val="002060"/>
                </a:solidFill>
              </a:rPr>
              <a:t>Add-LocalGroupMember</a:t>
            </a:r>
            <a:r>
              <a:rPr lang="ru-RU" dirty="0">
                <a:solidFill>
                  <a:srgbClr val="002060"/>
                </a:solidFill>
              </a:rPr>
              <a:t> `</a:t>
            </a:r>
          </a:p>
          <a:p>
            <a:pPr>
              <a:defRPr sz="3600"/>
            </a:pPr>
            <a:r>
              <a:rPr lang="ru-RU" dirty="0">
                <a:solidFill>
                  <a:srgbClr val="002060"/>
                </a:solidFill>
              </a:rPr>
              <a:t>    -Group "</a:t>
            </a:r>
            <a:r>
              <a:rPr lang="ru-RU" dirty="0" err="1">
                <a:solidFill>
                  <a:srgbClr val="002060"/>
                </a:solidFill>
              </a:rPr>
              <a:t>Administrators</a:t>
            </a:r>
            <a:r>
              <a:rPr lang="ru-RU" dirty="0">
                <a:solidFill>
                  <a:srgbClr val="002060"/>
                </a:solidFill>
              </a:rPr>
              <a:t>" `</a:t>
            </a:r>
          </a:p>
          <a:p>
            <a:pPr>
              <a:defRPr sz="3600"/>
            </a:pPr>
            <a:r>
              <a:rPr lang="ru-RU" dirty="0">
                <a:solidFill>
                  <a:srgbClr val="002060"/>
                </a:solidFill>
              </a:rPr>
              <a:t>    -</a:t>
            </a:r>
            <a:r>
              <a:rPr lang="ru-RU" dirty="0" err="1">
                <a:solidFill>
                  <a:srgbClr val="002060"/>
                </a:solidFill>
              </a:rPr>
              <a:t>Member</a:t>
            </a:r>
            <a:r>
              <a:rPr lang="ru-RU" dirty="0">
                <a:solidFill>
                  <a:srgbClr val="002060"/>
                </a:solidFill>
              </a:rPr>
              <a:t> "CORP\</a:t>
            </a:r>
            <a:r>
              <a:rPr lang="ru-RU" dirty="0" err="1">
                <a:solidFill>
                  <a:srgbClr val="002060"/>
                </a:solidFill>
              </a:rPr>
              <a:t>HelpDesk</a:t>
            </a:r>
            <a:r>
              <a:rPr lang="ru-RU" dirty="0">
                <a:solidFill>
                  <a:srgbClr val="002060"/>
                </a:solidFill>
              </a:rPr>
              <a:t>"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Предпочтительно назначать права через группы, а не отдельным пользователям.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6985686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3C847B-89B3-9696-8D80-E59D9B5246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D2D7247-59C9-F5CC-A83E-B4341624DE8B}"/>
              </a:ext>
            </a:extLst>
          </p:cNvPr>
          <p:cNvSpPr txBox="1"/>
          <p:nvPr/>
        </p:nvSpPr>
        <p:spPr>
          <a:xfrm>
            <a:off x="457200" y="471947"/>
            <a:ext cx="10972800" cy="6046839"/>
          </a:xfrm>
          <a:prstGeom prst="rect">
            <a:avLst/>
          </a:prstGeom>
          <a:noFill/>
        </p:spPr>
        <p:txBody>
          <a:bodyPr wrap="square">
            <a:normAutofit fontScale="77500" lnSpcReduction="20000"/>
          </a:bodyPr>
          <a:lstStyle/>
          <a:p>
            <a:pPr algn="ctr">
              <a:defRPr sz="3600"/>
            </a:pPr>
            <a:r>
              <a:rPr lang="ru-RU" b="1" dirty="0"/>
              <a:t>Domain </a:t>
            </a:r>
            <a:r>
              <a:rPr lang="ru-RU" b="1" dirty="0" err="1"/>
              <a:t>Admins</a:t>
            </a:r>
            <a:r>
              <a:rPr lang="ru-RU" b="1" dirty="0"/>
              <a:t> на клиентском ПК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После присоединения компьютера к домену группа Domain </a:t>
            </a:r>
            <a:r>
              <a:rPr lang="ru-RU" dirty="0" err="1"/>
              <a:t>Admins</a:t>
            </a:r>
            <a:r>
              <a:rPr lang="ru-RU" dirty="0"/>
              <a:t> обычно получает административные права на доменных компьютерах.</a:t>
            </a:r>
          </a:p>
          <a:p>
            <a:pPr>
              <a:defRPr sz="3600"/>
            </a:pPr>
            <a:r>
              <a:rPr lang="ru-RU" dirty="0"/>
              <a:t>Но для повседневного сопровождения лучше использовать: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CORP\</a:t>
            </a:r>
            <a:r>
              <a:rPr lang="ru-RU" dirty="0" err="1"/>
              <a:t>Workstation-Admins</a:t>
            </a:r>
            <a:endParaRPr lang="ru-RU"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CORP\</a:t>
            </a:r>
            <a:r>
              <a:rPr lang="ru-RU" dirty="0" err="1"/>
              <a:t>HelpDesk</a:t>
            </a:r>
            <a:endParaRPr lang="ru-RU" dirty="0"/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Преимущества отдельных групп: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соблюдение принципа минимальных прав;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ограничение области администрирования;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удобное добавление и удаление сотрудников;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снижение риска компрометации;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более понятный контроль доступа.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Обычного пользователя не следует включать в </a:t>
            </a:r>
            <a:r>
              <a:rPr lang="ru-RU" dirty="0" err="1"/>
              <a:t>Administrators</a:t>
            </a:r>
            <a:r>
              <a:rPr lang="ru-RU" dirty="0"/>
              <a:t>.</a:t>
            </a:r>
          </a:p>
          <a:p>
            <a:pPr>
              <a:defRPr sz="3600"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487194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4D66C2-A94A-2018-32EE-C3924983A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2A96524-A70A-3C02-4EA9-46D9B8EBC0E5}"/>
              </a:ext>
            </a:extLst>
          </p:cNvPr>
          <p:cNvSpPr txBox="1"/>
          <p:nvPr/>
        </p:nvSpPr>
        <p:spPr>
          <a:xfrm>
            <a:off x="457200" y="471948"/>
            <a:ext cx="10972800" cy="5654532"/>
          </a:xfrm>
          <a:prstGeom prst="rect">
            <a:avLst/>
          </a:prstGeom>
          <a:noFill/>
        </p:spPr>
        <p:txBody>
          <a:bodyPr wrap="square">
            <a:normAutofit fontScale="77500" lnSpcReduction="20000"/>
          </a:bodyPr>
          <a:lstStyle/>
          <a:p>
            <a:pPr algn="ctr">
              <a:defRPr sz="3600"/>
            </a:pPr>
            <a:r>
              <a:rPr lang="ru-RU" b="1" dirty="0"/>
              <a:t>UAC и административные права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Членство в </a:t>
            </a:r>
            <a:r>
              <a:rPr lang="ru-RU" dirty="0" err="1"/>
              <a:t>Administrators</a:t>
            </a:r>
            <a:r>
              <a:rPr lang="ru-RU" dirty="0"/>
              <a:t> не означает, что все программы постоянно работают с максимальными правами.</a:t>
            </a:r>
          </a:p>
          <a:p>
            <a:pPr>
              <a:defRPr sz="3600"/>
            </a:pPr>
            <a:r>
              <a:rPr lang="ru-RU" b="1" dirty="0"/>
              <a:t>UAC</a:t>
            </a:r>
            <a:r>
              <a:rPr lang="en-US" b="1" dirty="0"/>
              <a:t> </a:t>
            </a:r>
            <a:r>
              <a:rPr lang="ru-RU" b="1" dirty="0"/>
              <a:t>(User </a:t>
            </a:r>
            <a:r>
              <a:rPr lang="ru-RU" b="1" dirty="0" err="1"/>
              <a:t>Account</a:t>
            </a:r>
            <a:r>
              <a:rPr lang="ru-RU" b="1" dirty="0"/>
              <a:t> Control):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отделяет обычный запуск от повышенного;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запрашивает подтверждение или пароль;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снижает риск случайного изменения системы;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отображает запрос при административных действиях.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b="1" dirty="0"/>
              <a:t>Запуск:</a:t>
            </a:r>
          </a:p>
          <a:p>
            <a:pPr>
              <a:defRPr sz="3600"/>
            </a:pPr>
            <a:r>
              <a:rPr lang="ru-RU" dirty="0"/>
              <a:t>→ Правой кнопкой мыши</a:t>
            </a:r>
          </a:p>
          <a:p>
            <a:pPr>
              <a:defRPr sz="3600"/>
            </a:pPr>
            <a:r>
              <a:rPr lang="ru-RU" dirty="0"/>
              <a:t>→ Запуск от имени администратора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UAC не заменяет правильное распределение прав.</a:t>
            </a:r>
          </a:p>
          <a:p>
            <a:pPr>
              <a:defRPr sz="3600"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4445093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BE7A31-33E1-FE3A-7E39-4CEF2FA0EA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43A3EA2-5736-2E01-75C5-CA07729323C5}"/>
              </a:ext>
            </a:extLst>
          </p:cNvPr>
          <p:cNvSpPr txBox="1"/>
          <p:nvPr/>
        </p:nvSpPr>
        <p:spPr>
          <a:xfrm>
            <a:off x="457200" y="235974"/>
            <a:ext cx="10972800" cy="6150078"/>
          </a:xfrm>
          <a:prstGeom prst="rect">
            <a:avLst/>
          </a:prstGeom>
          <a:noFill/>
        </p:spPr>
        <p:txBody>
          <a:bodyPr wrap="square">
            <a:normAutofit fontScale="70000" lnSpcReduction="20000"/>
          </a:bodyPr>
          <a:lstStyle/>
          <a:p>
            <a:pPr algn="ctr">
              <a:defRPr sz="3600"/>
            </a:pPr>
            <a:r>
              <a:rPr lang="ru-RU" b="1" dirty="0"/>
              <a:t>Проверка и безопасное управление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Проверить текущего пользователя:</a:t>
            </a:r>
          </a:p>
          <a:p>
            <a:pPr>
              <a:defRPr sz="3600"/>
            </a:pPr>
            <a:r>
              <a:rPr lang="ru-RU" dirty="0" err="1">
                <a:solidFill>
                  <a:srgbClr val="002060"/>
                </a:solidFill>
              </a:rPr>
              <a:t>whoami</a:t>
            </a:r>
            <a:endParaRPr lang="ru-RU" dirty="0">
              <a:solidFill>
                <a:srgbClr val="002060"/>
              </a:solidFill>
            </a:endParaRP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Проверить членство и группы:</a:t>
            </a:r>
          </a:p>
          <a:p>
            <a:pPr>
              <a:defRPr sz="3600"/>
            </a:pPr>
            <a:r>
              <a:rPr lang="ru-RU" dirty="0" err="1">
                <a:solidFill>
                  <a:srgbClr val="002060"/>
                </a:solidFill>
              </a:rPr>
              <a:t>whoami</a:t>
            </a:r>
            <a:r>
              <a:rPr lang="ru-RU" dirty="0">
                <a:solidFill>
                  <a:srgbClr val="002060"/>
                </a:solidFill>
              </a:rPr>
              <a:t> /</a:t>
            </a:r>
            <a:r>
              <a:rPr lang="ru-RU" dirty="0" err="1">
                <a:solidFill>
                  <a:srgbClr val="002060"/>
                </a:solidFill>
              </a:rPr>
              <a:t>groups</a:t>
            </a:r>
            <a:endParaRPr lang="ru-RU" dirty="0">
              <a:solidFill>
                <a:srgbClr val="002060"/>
              </a:solidFill>
            </a:endParaRP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Удалить лишнего участника:</a:t>
            </a:r>
          </a:p>
          <a:p>
            <a:pPr>
              <a:defRPr sz="3600"/>
            </a:pPr>
            <a:r>
              <a:rPr lang="ru-RU" dirty="0" err="1">
                <a:solidFill>
                  <a:srgbClr val="002060"/>
                </a:solidFill>
              </a:rPr>
              <a:t>Remove-LocalGroupMember</a:t>
            </a:r>
            <a:r>
              <a:rPr lang="ru-RU" dirty="0">
                <a:solidFill>
                  <a:srgbClr val="002060"/>
                </a:solidFill>
              </a:rPr>
              <a:t> `</a:t>
            </a:r>
          </a:p>
          <a:p>
            <a:pPr>
              <a:defRPr sz="3600"/>
            </a:pPr>
            <a:r>
              <a:rPr lang="ru-RU" dirty="0">
                <a:solidFill>
                  <a:srgbClr val="002060"/>
                </a:solidFill>
              </a:rPr>
              <a:t>    -Group "</a:t>
            </a:r>
            <a:r>
              <a:rPr lang="ru-RU" dirty="0" err="1">
                <a:solidFill>
                  <a:srgbClr val="002060"/>
                </a:solidFill>
              </a:rPr>
              <a:t>Administrators</a:t>
            </a:r>
            <a:r>
              <a:rPr lang="ru-RU" dirty="0">
                <a:solidFill>
                  <a:srgbClr val="002060"/>
                </a:solidFill>
              </a:rPr>
              <a:t>" `</a:t>
            </a:r>
          </a:p>
          <a:p>
            <a:pPr>
              <a:defRPr sz="3600"/>
            </a:pPr>
            <a:r>
              <a:rPr lang="ru-RU" dirty="0">
                <a:solidFill>
                  <a:srgbClr val="002060"/>
                </a:solidFill>
              </a:rPr>
              <a:t>    -</a:t>
            </a:r>
            <a:r>
              <a:rPr lang="ru-RU" dirty="0" err="1">
                <a:solidFill>
                  <a:srgbClr val="002060"/>
                </a:solidFill>
              </a:rPr>
              <a:t>Member</a:t>
            </a:r>
            <a:r>
              <a:rPr lang="ru-RU" dirty="0">
                <a:solidFill>
                  <a:srgbClr val="002060"/>
                </a:solidFill>
              </a:rPr>
              <a:t> "CORP\</a:t>
            </a:r>
            <a:r>
              <a:rPr lang="ru-RU" dirty="0" err="1">
                <a:solidFill>
                  <a:srgbClr val="002060"/>
                </a:solidFill>
              </a:rPr>
              <a:t>Student</a:t>
            </a:r>
            <a:r>
              <a:rPr lang="ru-RU" dirty="0">
                <a:solidFill>
                  <a:srgbClr val="002060"/>
                </a:solidFill>
              </a:rPr>
              <a:t>"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После изменения проверяют: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кто остался в </a:t>
            </a:r>
            <a:r>
              <a:rPr lang="ru-RU" dirty="0" err="1"/>
              <a:t>Administrators</a:t>
            </a:r>
            <a:r>
              <a:rPr lang="ru-RU" dirty="0"/>
              <a:t>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может ли администратор войти;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появляется ли запрос UAC;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работает ли обычная учётная запись;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не потерян ли административный доступ.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7523052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FF616E-42F0-DAF7-C0E1-DE1A38634A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E096CED-2C9B-3D84-59CF-E185651657A1}"/>
              </a:ext>
            </a:extLst>
          </p:cNvPr>
          <p:cNvSpPr txBox="1"/>
          <p:nvPr/>
        </p:nvSpPr>
        <p:spPr>
          <a:xfrm>
            <a:off x="457200" y="471948"/>
            <a:ext cx="10972800" cy="56545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rPr lang="ru-RU" b="1" dirty="0"/>
              <a:t>Главный вывод:</a:t>
            </a:r>
          </a:p>
          <a:p>
            <a:pPr>
              <a:defRPr sz="3600"/>
            </a:pPr>
            <a:endParaRPr lang="ru-RU"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Local </a:t>
            </a:r>
            <a:r>
              <a:rPr lang="ru-RU" dirty="0" err="1"/>
              <a:t>Administrators</a:t>
            </a:r>
            <a:r>
              <a:rPr lang="ru-RU" dirty="0"/>
              <a:t> управляет правами на конкретном компьютере.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Административный доступ назначают только тем пользователям и группам, которым он действительно необходим.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5325563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FC64A8-8F3F-A9EB-BFD0-BBAA5B020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85AB00A-2605-390D-D288-9859E185F3C1}"/>
              </a:ext>
            </a:extLst>
          </p:cNvPr>
          <p:cNvSpPr txBox="1"/>
          <p:nvPr/>
        </p:nvSpPr>
        <p:spPr>
          <a:xfrm>
            <a:off x="457200" y="471948"/>
            <a:ext cx="10972800" cy="56545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rPr dirty="0" err="1"/>
              <a:t>рабочей</a:t>
            </a:r>
            <a:endParaRPr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E80EF78-D673-0884-8C2E-7D00FA0024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255343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75CE-9983-4A80-36B9-C4E2D81492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5AD748-3E51-E79E-8D76-1BDABCA1E784}"/>
              </a:ext>
            </a:extLst>
          </p:cNvPr>
          <p:cNvSpPr txBox="1"/>
          <p:nvPr/>
        </p:nvSpPr>
        <p:spPr>
          <a:xfrm>
            <a:off x="3507876" y="182880"/>
            <a:ext cx="5145769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lang="ru-RU" dirty="0"/>
              <a:t>5. Проверка </a:t>
            </a:r>
            <a:r>
              <a:rPr lang="en-US" dirty="0"/>
              <a:t>Secure Channel.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C09A17-80F2-FCDA-D3AE-EFD93CBA90EE}"/>
              </a:ext>
            </a:extLst>
          </p:cNvPr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pPr algn="ctr">
              <a:defRPr sz="3600"/>
            </a:pPr>
            <a:r>
              <a:rPr lang="ru-RU" b="1" dirty="0"/>
              <a:t>Что такое Secure Channel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Secure Channel — защищённый канал доверия между: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Доменный компьютер ↔ Контроллер домена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Он используется для: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подтверждения членства компьютера в домене;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взаимодействия с контроллером домена;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доменной аутентификации;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получения доменных политик и ресурсов.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Канал основан на доверительных отношениях между учётной записью компьютера и Active Directory.</a:t>
            </a:r>
          </a:p>
          <a:p>
            <a:pPr>
              <a:defRPr sz="3600"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820488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FF011A-C9FC-F317-F951-961F84D34B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A68CCD1-2563-1950-60DA-05DD30F858A6}"/>
              </a:ext>
            </a:extLst>
          </p:cNvPr>
          <p:cNvSpPr txBox="1"/>
          <p:nvPr/>
        </p:nvSpPr>
        <p:spPr>
          <a:xfrm>
            <a:off x="457200" y="471948"/>
            <a:ext cx="10972800" cy="5654532"/>
          </a:xfrm>
          <a:prstGeom prst="rect">
            <a:avLst/>
          </a:prstGeom>
          <a:noFill/>
        </p:spPr>
        <p:txBody>
          <a:bodyPr wrap="square">
            <a:normAutofit fontScale="77500" lnSpcReduction="20000"/>
          </a:bodyPr>
          <a:lstStyle/>
          <a:p>
            <a:pPr algn="ctr">
              <a:defRPr sz="3600"/>
            </a:pPr>
            <a:r>
              <a:rPr lang="ru-RU" b="1" dirty="0"/>
              <a:t>Признаки нарушения канала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b="1" dirty="0"/>
              <a:t>Типичные симптомы: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ошибка доверительных отношений;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доменный пользователь не может войти;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GPO не обновляются;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компьютер не обращается к доменным ресурсам;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команды проверки возвращают ошибку;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локальный вход при этом может работать.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b="1" dirty="0"/>
              <a:t>Возможные причины: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клиент не видит контроллер домена;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неверно настроен DNS;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нарушена синхронизация времени;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пароль учётной записи компьютера не совпадает с данными в Active Directory.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5089883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EFF03B-1849-ACD7-B25B-1E7A6B6034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69769B5-C3FF-C7E9-2CB6-F44AD5320B11}"/>
              </a:ext>
            </a:extLst>
          </p:cNvPr>
          <p:cNvSpPr txBox="1"/>
          <p:nvPr/>
        </p:nvSpPr>
        <p:spPr>
          <a:xfrm>
            <a:off x="457200" y="471947"/>
            <a:ext cx="10972800" cy="5973097"/>
          </a:xfrm>
          <a:prstGeom prst="rect">
            <a:avLst/>
          </a:prstGeom>
          <a:noFill/>
        </p:spPr>
        <p:txBody>
          <a:bodyPr wrap="square">
            <a:normAutofit fontScale="70000" lnSpcReduction="20000"/>
          </a:bodyPr>
          <a:lstStyle/>
          <a:p>
            <a:pPr algn="ctr">
              <a:defRPr sz="3600"/>
            </a:pPr>
            <a:r>
              <a:rPr lang="ru-RU" b="1" dirty="0"/>
              <a:t>Проверка </a:t>
            </a:r>
            <a:r>
              <a:rPr lang="en-US" b="1" dirty="0"/>
              <a:t>Secure Channel</a:t>
            </a:r>
          </a:p>
          <a:p>
            <a:pPr>
              <a:defRPr sz="3600"/>
            </a:pPr>
            <a:endParaRPr lang="en-US" dirty="0"/>
          </a:p>
          <a:p>
            <a:pPr>
              <a:defRPr sz="3600"/>
            </a:pPr>
            <a:r>
              <a:rPr lang="en-US" dirty="0"/>
              <a:t>PowerShell </a:t>
            </a:r>
            <a:r>
              <a:rPr lang="ru-RU" dirty="0"/>
              <a:t>запускают от имени администратора:</a:t>
            </a:r>
          </a:p>
          <a:p>
            <a:pPr>
              <a:defRPr sz="3600"/>
            </a:pPr>
            <a:r>
              <a:rPr lang="en-US" dirty="0">
                <a:solidFill>
                  <a:srgbClr val="002060"/>
                </a:solidFill>
              </a:rPr>
              <a:t>Test-</a:t>
            </a:r>
            <a:r>
              <a:rPr lang="en-US" dirty="0" err="1">
                <a:solidFill>
                  <a:srgbClr val="002060"/>
                </a:solidFill>
              </a:rPr>
              <a:t>ComputerSecureChannel</a:t>
            </a:r>
            <a:endParaRPr lang="en-US" dirty="0">
              <a:solidFill>
                <a:srgbClr val="002060"/>
              </a:solidFill>
            </a:endParaRPr>
          </a:p>
          <a:p>
            <a:pPr>
              <a:defRPr sz="3600"/>
            </a:pPr>
            <a:endParaRPr lang="en-US" dirty="0"/>
          </a:p>
          <a:p>
            <a:pPr>
              <a:defRPr sz="3600"/>
            </a:pPr>
            <a:r>
              <a:rPr lang="ru-RU" dirty="0"/>
              <a:t>Результаты:</a:t>
            </a:r>
          </a:p>
          <a:p>
            <a:pPr>
              <a:defRPr sz="3600"/>
            </a:pPr>
            <a:r>
              <a:rPr lang="en-US" dirty="0"/>
              <a:t>True  — </a:t>
            </a:r>
            <a:r>
              <a:rPr lang="ru-RU" dirty="0"/>
              <a:t>защищённый канал работает</a:t>
            </a:r>
          </a:p>
          <a:p>
            <a:pPr>
              <a:defRPr sz="3600"/>
            </a:pPr>
            <a:r>
              <a:rPr lang="en-US" dirty="0"/>
              <a:t>False — </a:t>
            </a:r>
            <a:r>
              <a:rPr lang="ru-RU" dirty="0"/>
              <a:t>канал нарушен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Подробный вывод:</a:t>
            </a:r>
          </a:p>
          <a:p>
            <a:pPr>
              <a:defRPr sz="3600"/>
            </a:pPr>
            <a:r>
              <a:rPr lang="en-US" dirty="0">
                <a:solidFill>
                  <a:srgbClr val="002060"/>
                </a:solidFill>
              </a:rPr>
              <a:t>Test-</a:t>
            </a:r>
            <a:r>
              <a:rPr lang="en-US" dirty="0" err="1">
                <a:solidFill>
                  <a:srgbClr val="002060"/>
                </a:solidFill>
              </a:rPr>
              <a:t>ComputerSecureChannel</a:t>
            </a:r>
            <a:r>
              <a:rPr lang="en-US" dirty="0">
                <a:solidFill>
                  <a:srgbClr val="002060"/>
                </a:solidFill>
              </a:rPr>
              <a:t> -Verbose</a:t>
            </a:r>
          </a:p>
          <a:p>
            <a:pPr>
              <a:defRPr sz="3600"/>
            </a:pPr>
            <a:endParaRPr lang="en-US" dirty="0"/>
          </a:p>
          <a:p>
            <a:pPr>
              <a:defRPr sz="3600"/>
            </a:pPr>
            <a:r>
              <a:rPr lang="ru-RU" dirty="0"/>
              <a:t>Проверка через конкретный контроллер:</a:t>
            </a:r>
          </a:p>
          <a:p>
            <a:pPr>
              <a:defRPr sz="3600"/>
            </a:pPr>
            <a:r>
              <a:rPr lang="en-US" dirty="0">
                <a:solidFill>
                  <a:srgbClr val="002060"/>
                </a:solidFill>
              </a:rPr>
              <a:t>Test-</a:t>
            </a:r>
            <a:r>
              <a:rPr lang="en-US" dirty="0" err="1">
                <a:solidFill>
                  <a:srgbClr val="002060"/>
                </a:solidFill>
              </a:rPr>
              <a:t>ComputerSecureChannel</a:t>
            </a:r>
            <a:r>
              <a:rPr lang="en-US" dirty="0">
                <a:solidFill>
                  <a:srgbClr val="002060"/>
                </a:solidFill>
              </a:rPr>
              <a:t> `</a:t>
            </a:r>
          </a:p>
          <a:p>
            <a:pPr>
              <a:defRPr sz="3600"/>
            </a:pPr>
            <a:r>
              <a:rPr lang="en-US" dirty="0">
                <a:solidFill>
                  <a:srgbClr val="002060"/>
                </a:solidFill>
              </a:rPr>
              <a:t>    -Server "DC01.corp.local</a:t>
            </a:r>
            <a:r>
              <a:rPr lang="en-US" dirty="0"/>
              <a:t>"</a:t>
            </a:r>
          </a:p>
          <a:p>
            <a:pPr>
              <a:defRPr sz="3600"/>
            </a:pPr>
            <a:endParaRPr lang="en-US" dirty="0"/>
          </a:p>
          <a:p>
            <a:pPr>
              <a:defRPr sz="3600"/>
            </a:pPr>
            <a:r>
              <a:rPr lang="ru-RU" dirty="0"/>
              <a:t>Команда предназначена для доменных компьютеров-клиентов и проверяет доверительные отношения через службу </a:t>
            </a:r>
            <a:r>
              <a:rPr lang="en-US" dirty="0" err="1"/>
              <a:t>Netlogon</a:t>
            </a:r>
            <a:r>
              <a:rPr lang="en-US" dirty="0"/>
              <a:t>.</a:t>
            </a:r>
          </a:p>
          <a:p>
            <a:pPr>
              <a:defRPr sz="3600"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963965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AF3A95-08DC-5666-8383-3B01BF9D5B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9704BFA-AA38-F10F-6DEF-A58962746ABB}"/>
              </a:ext>
            </a:extLst>
          </p:cNvPr>
          <p:cNvSpPr txBox="1"/>
          <p:nvPr/>
        </p:nvSpPr>
        <p:spPr>
          <a:xfrm>
            <a:off x="457200" y="471948"/>
            <a:ext cx="10972800" cy="5914104"/>
          </a:xfrm>
          <a:prstGeom prst="rect">
            <a:avLst/>
          </a:prstGeom>
          <a:noFill/>
        </p:spPr>
        <p:txBody>
          <a:bodyPr wrap="square">
            <a:normAutofit fontScale="62500" lnSpcReduction="20000"/>
          </a:bodyPr>
          <a:lstStyle/>
          <a:p>
            <a:pPr algn="ctr">
              <a:defRPr sz="3600"/>
            </a:pPr>
            <a:r>
              <a:rPr lang="ru-RU" b="1" dirty="0"/>
              <a:t>Проверка перед восстановлением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Если получено </a:t>
            </a:r>
            <a:r>
              <a:rPr lang="en-US" dirty="0"/>
              <a:t>False, </a:t>
            </a:r>
            <a:r>
              <a:rPr lang="ru-RU" dirty="0"/>
              <a:t>сначала проверяют: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en-US" dirty="0">
                <a:solidFill>
                  <a:srgbClr val="002060"/>
                </a:solidFill>
              </a:rPr>
              <a:t>ipconfig /all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en-US" dirty="0" err="1">
                <a:solidFill>
                  <a:srgbClr val="002060"/>
                </a:solidFill>
              </a:rPr>
              <a:t>nslookup</a:t>
            </a:r>
            <a:r>
              <a:rPr lang="en-US" dirty="0">
                <a:solidFill>
                  <a:srgbClr val="002060"/>
                </a:solidFill>
              </a:rPr>
              <a:t> </a:t>
            </a:r>
            <a:r>
              <a:rPr lang="en-US" dirty="0" err="1">
                <a:solidFill>
                  <a:srgbClr val="002060"/>
                </a:solidFill>
              </a:rPr>
              <a:t>corp.local</a:t>
            </a:r>
            <a:endParaRPr lang="en-US" dirty="0">
              <a:solidFill>
                <a:srgbClr val="002060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en-US" dirty="0">
                <a:solidFill>
                  <a:srgbClr val="002060"/>
                </a:solidFill>
              </a:rPr>
              <a:t>ping dc01.corp.local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en-US" dirty="0">
                <a:solidFill>
                  <a:srgbClr val="002060"/>
                </a:solidFill>
              </a:rPr>
              <a:t>w32tm /query /status</a:t>
            </a:r>
          </a:p>
          <a:p>
            <a:pPr>
              <a:defRPr sz="3600"/>
            </a:pPr>
            <a:endParaRPr lang="en-US" dirty="0"/>
          </a:p>
          <a:p>
            <a:pPr>
              <a:defRPr sz="3600"/>
            </a:pPr>
            <a:r>
              <a:rPr lang="ru-RU" dirty="0"/>
              <a:t>Дополнительная проверка: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en-US" dirty="0" err="1">
                <a:solidFill>
                  <a:srgbClr val="002060"/>
                </a:solidFill>
              </a:rPr>
              <a:t>nltest</a:t>
            </a:r>
            <a:r>
              <a:rPr lang="en-US" dirty="0">
                <a:solidFill>
                  <a:srgbClr val="002060"/>
                </a:solidFill>
              </a:rPr>
              <a:t> /</a:t>
            </a:r>
            <a:r>
              <a:rPr lang="en-US" dirty="0" err="1">
                <a:solidFill>
                  <a:srgbClr val="002060"/>
                </a:solidFill>
              </a:rPr>
              <a:t>sc_verify:corp.local</a:t>
            </a:r>
            <a:endParaRPr lang="en-US" dirty="0">
              <a:solidFill>
                <a:srgbClr val="002060"/>
              </a:solidFill>
            </a:endParaRPr>
          </a:p>
          <a:p>
            <a:pPr>
              <a:defRPr sz="3600"/>
            </a:pPr>
            <a:endParaRPr lang="en-US" dirty="0"/>
          </a:p>
          <a:p>
            <a:pPr>
              <a:defRPr sz="3600"/>
            </a:pPr>
            <a:r>
              <a:rPr lang="ru-RU" dirty="0"/>
              <a:t>Последовательность:</a:t>
            </a:r>
          </a:p>
          <a:p>
            <a:pPr>
              <a:defRPr sz="3600"/>
            </a:pPr>
            <a:r>
              <a:rPr lang="en-US" dirty="0"/>
              <a:t>→ DNS</a:t>
            </a:r>
          </a:p>
          <a:p>
            <a:pPr>
              <a:defRPr sz="3600"/>
            </a:pPr>
            <a:r>
              <a:rPr lang="en-US" dirty="0"/>
              <a:t>→ </a:t>
            </a:r>
            <a:r>
              <a:rPr lang="ru-RU" dirty="0"/>
              <a:t>доступность </a:t>
            </a:r>
            <a:r>
              <a:rPr lang="en-US" dirty="0"/>
              <a:t>DC</a:t>
            </a:r>
          </a:p>
          <a:p>
            <a:pPr>
              <a:defRPr sz="3600"/>
            </a:pPr>
            <a:r>
              <a:rPr lang="en-US" dirty="0"/>
              <a:t>→ </a:t>
            </a:r>
            <a:r>
              <a:rPr lang="ru-RU" dirty="0"/>
              <a:t>время</a:t>
            </a:r>
          </a:p>
          <a:p>
            <a:pPr>
              <a:defRPr sz="3600"/>
            </a:pPr>
            <a:r>
              <a:rPr lang="ru-RU" dirty="0"/>
              <a:t>→ служба </a:t>
            </a:r>
            <a:r>
              <a:rPr lang="en-US" dirty="0" err="1"/>
              <a:t>Netlogon</a:t>
            </a:r>
            <a:endParaRPr lang="en-US" dirty="0"/>
          </a:p>
          <a:p>
            <a:pPr>
              <a:defRPr sz="3600"/>
            </a:pPr>
            <a:r>
              <a:rPr lang="en-US" dirty="0"/>
              <a:t>→ Secure Channel</a:t>
            </a:r>
            <a:endParaRPr lang="ru-RU" dirty="0"/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Команда </a:t>
            </a:r>
            <a:r>
              <a:rPr lang="ru-RU" dirty="0" err="1"/>
              <a:t>nltest</a:t>
            </a:r>
            <a:r>
              <a:rPr lang="ru-RU" dirty="0"/>
              <a:t> /</a:t>
            </a:r>
            <a:r>
              <a:rPr lang="ru-RU" dirty="0" err="1"/>
              <a:t>sc_verify</a:t>
            </a:r>
            <a:r>
              <a:rPr lang="ru-RU" dirty="0"/>
              <a:t> проверяет состояние канала, установленного службой </a:t>
            </a:r>
            <a:r>
              <a:rPr lang="ru-RU" dirty="0" err="1"/>
              <a:t>Netlogon</a:t>
            </a:r>
            <a:r>
              <a:rPr lang="ru-RU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630232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67D164-BE44-1D7C-CABB-219D720362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05D8888-B7F6-6730-8D3E-FAD8B1E12AB1}"/>
              </a:ext>
            </a:extLst>
          </p:cNvPr>
          <p:cNvSpPr txBox="1"/>
          <p:nvPr/>
        </p:nvSpPr>
        <p:spPr>
          <a:xfrm>
            <a:off x="457199" y="471948"/>
            <a:ext cx="11326761" cy="6164826"/>
          </a:xfrm>
          <a:prstGeom prst="rect">
            <a:avLst/>
          </a:prstGeom>
          <a:noFill/>
        </p:spPr>
        <p:txBody>
          <a:bodyPr wrap="square">
            <a:normAutofit fontScale="62500" lnSpcReduction="20000"/>
          </a:bodyPr>
          <a:lstStyle/>
          <a:p>
            <a:pPr algn="ctr">
              <a:defRPr sz="3600"/>
            </a:pPr>
            <a:r>
              <a:rPr lang="ru-RU" b="1" dirty="0"/>
              <a:t>Восстановление канала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После устранения проблем DNS, сети и времени:</a:t>
            </a:r>
          </a:p>
          <a:p>
            <a:pPr>
              <a:defRPr sz="3600"/>
            </a:pPr>
            <a:r>
              <a:rPr lang="ru-RU" dirty="0">
                <a:solidFill>
                  <a:srgbClr val="002060"/>
                </a:solidFill>
              </a:rPr>
              <a:t>Test-</a:t>
            </a:r>
            <a:r>
              <a:rPr lang="ru-RU" dirty="0" err="1">
                <a:solidFill>
                  <a:srgbClr val="002060"/>
                </a:solidFill>
              </a:rPr>
              <a:t>ComputerSecureChannel</a:t>
            </a:r>
            <a:r>
              <a:rPr lang="ru-RU" dirty="0">
                <a:solidFill>
                  <a:srgbClr val="002060"/>
                </a:solidFill>
              </a:rPr>
              <a:t> `</a:t>
            </a:r>
          </a:p>
          <a:p>
            <a:pPr>
              <a:defRPr sz="3600"/>
            </a:pPr>
            <a:r>
              <a:rPr lang="ru-RU" dirty="0">
                <a:solidFill>
                  <a:srgbClr val="002060"/>
                </a:solidFill>
              </a:rPr>
              <a:t>    -</a:t>
            </a:r>
            <a:r>
              <a:rPr lang="ru-RU" dirty="0" err="1">
                <a:solidFill>
                  <a:srgbClr val="002060"/>
                </a:solidFill>
              </a:rPr>
              <a:t>Repair</a:t>
            </a:r>
            <a:r>
              <a:rPr lang="ru-RU" dirty="0">
                <a:solidFill>
                  <a:srgbClr val="002060"/>
                </a:solidFill>
              </a:rPr>
              <a:t> `</a:t>
            </a:r>
          </a:p>
          <a:p>
            <a:pPr>
              <a:defRPr sz="3600"/>
            </a:pPr>
            <a:r>
              <a:rPr lang="ru-RU" dirty="0">
                <a:solidFill>
                  <a:srgbClr val="002060"/>
                </a:solidFill>
              </a:rPr>
              <a:t>    -</a:t>
            </a:r>
            <a:r>
              <a:rPr lang="ru-RU" dirty="0" err="1">
                <a:solidFill>
                  <a:srgbClr val="002060"/>
                </a:solidFill>
              </a:rPr>
              <a:t>Credential</a:t>
            </a:r>
            <a:r>
              <a:rPr lang="ru-RU" dirty="0">
                <a:solidFill>
                  <a:srgbClr val="002060"/>
                </a:solidFill>
              </a:rPr>
              <a:t> (Get-</a:t>
            </a:r>
            <a:r>
              <a:rPr lang="ru-RU" dirty="0" err="1">
                <a:solidFill>
                  <a:srgbClr val="002060"/>
                </a:solidFill>
              </a:rPr>
              <a:t>Credential</a:t>
            </a:r>
            <a:r>
              <a:rPr lang="ru-RU" dirty="0">
                <a:solidFill>
                  <a:srgbClr val="002060"/>
                </a:solidFill>
              </a:rPr>
              <a:t>)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Затем выполняют:</a:t>
            </a:r>
          </a:p>
          <a:p>
            <a:pPr>
              <a:defRPr sz="3600"/>
            </a:pPr>
            <a:r>
              <a:rPr lang="ru-RU" dirty="0">
                <a:solidFill>
                  <a:srgbClr val="002060"/>
                </a:solidFill>
              </a:rPr>
              <a:t>Test-</a:t>
            </a:r>
            <a:r>
              <a:rPr lang="ru-RU" dirty="0" err="1">
                <a:solidFill>
                  <a:srgbClr val="002060"/>
                </a:solidFill>
              </a:rPr>
              <a:t>ComputerSecureChannel</a:t>
            </a:r>
            <a:endParaRPr lang="ru-RU" dirty="0">
              <a:solidFill>
                <a:srgbClr val="002060"/>
              </a:solidFill>
            </a:endParaRP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Ожидаемый результат:</a:t>
            </a:r>
          </a:p>
          <a:p>
            <a:pPr>
              <a:defRPr sz="3600"/>
            </a:pPr>
            <a:r>
              <a:rPr lang="ru-RU" dirty="0">
                <a:solidFill>
                  <a:srgbClr val="002060"/>
                </a:solidFill>
              </a:rPr>
              <a:t>True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Важно: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команда выполняется от имени администратора;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используются разрешённые доменные учётные данные;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компьютер не нужно сразу выводить из домена;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повторное присоединение используют, если обычное восстановление не помогло.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Параметр -</a:t>
            </a:r>
            <a:r>
              <a:rPr lang="ru-RU" dirty="0" err="1"/>
              <a:t>Repair</a:t>
            </a:r>
            <a:r>
              <a:rPr lang="ru-RU" dirty="0"/>
              <a:t> пытается восстановить доверительные отношения между клиентским компьютером и доменом.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4471257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1673D6-E37F-F252-EC9D-F4677918B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7158B01-CF7A-5F24-AD6B-B8BAB4ED7BB6}"/>
              </a:ext>
            </a:extLst>
          </p:cNvPr>
          <p:cNvSpPr txBox="1"/>
          <p:nvPr/>
        </p:nvSpPr>
        <p:spPr>
          <a:xfrm>
            <a:off x="457200" y="471948"/>
            <a:ext cx="10972800" cy="56545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rPr dirty="0" err="1"/>
              <a:t>рабочей</a:t>
            </a:r>
            <a:endParaRPr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AAA20DC-AD36-D65F-6C14-93240ED3C7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045570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83FF69-FB6E-E1C0-2D19-9C8BEF2B05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BAD6C1E-D623-A93F-40FF-73A447DB84F5}"/>
              </a:ext>
            </a:extLst>
          </p:cNvPr>
          <p:cNvSpPr txBox="1"/>
          <p:nvPr/>
        </p:nvSpPr>
        <p:spPr>
          <a:xfrm>
            <a:off x="3012740" y="182880"/>
            <a:ext cx="6136040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lang="ru-RU" dirty="0"/>
              <a:t>6. Получение и диагностика GPO.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6648EA-8342-7318-8D9C-C65B7BE36363}"/>
              </a:ext>
            </a:extLst>
          </p:cNvPr>
          <p:cNvSpPr txBox="1"/>
          <p:nvPr/>
        </p:nvSpPr>
        <p:spPr>
          <a:xfrm>
            <a:off x="457199" y="914400"/>
            <a:ext cx="11385755" cy="5633884"/>
          </a:xfrm>
          <a:prstGeom prst="rect">
            <a:avLst/>
          </a:prstGeom>
          <a:noFill/>
        </p:spPr>
        <p:txBody>
          <a:bodyPr wrap="square">
            <a:normAutofit fontScale="62500" lnSpcReduction="20000"/>
          </a:bodyPr>
          <a:lstStyle/>
          <a:p>
            <a:pPr algn="ctr">
              <a:defRPr sz="3600"/>
            </a:pPr>
            <a:r>
              <a:rPr lang="ru-RU" b="1" dirty="0"/>
              <a:t>Как клиент получает GPO </a:t>
            </a:r>
          </a:p>
          <a:p>
            <a:pPr>
              <a:defRPr sz="3600"/>
            </a:pPr>
            <a:r>
              <a:rPr lang="ru-RU" dirty="0"/>
              <a:t>GPO (Group Policy Object) — это объект групповой политики, набор настроек, который централизованно применяется к пользователям и/или компьютерам в домене Active Directory.</a:t>
            </a:r>
          </a:p>
          <a:p>
            <a:pPr>
              <a:defRPr sz="3600"/>
            </a:pPr>
            <a:r>
              <a:rPr lang="ru-RU" b="1" dirty="0"/>
              <a:t>После доменного входа Windows получает политики: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для компьютера;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для пользователя;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из Active Directory;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с файлового ресурса SYSVOL;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через контроллер домена.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b="1" dirty="0"/>
              <a:t>Общая последовательность:</a:t>
            </a:r>
          </a:p>
          <a:p>
            <a:pPr>
              <a:defRPr sz="3600"/>
            </a:pPr>
            <a:r>
              <a:rPr lang="ru-RU" dirty="0"/>
              <a:t>→ Контроллер домена</a:t>
            </a:r>
          </a:p>
          <a:p>
            <a:pPr>
              <a:defRPr sz="3600"/>
            </a:pPr>
            <a:r>
              <a:rPr lang="ru-RU" dirty="0"/>
              <a:t>→ определение применимых GPO</a:t>
            </a:r>
          </a:p>
          <a:p>
            <a:pPr>
              <a:defRPr sz="3600"/>
            </a:pPr>
            <a:r>
              <a:rPr lang="ru-RU" dirty="0"/>
              <a:t>→ получение настроек</a:t>
            </a:r>
          </a:p>
          <a:p>
            <a:pPr>
              <a:defRPr sz="3600"/>
            </a:pPr>
            <a:r>
              <a:rPr lang="ru-RU" dirty="0"/>
              <a:t>→ применение на клиентском ПК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Компьютерные политики применяются при запуске Windows, пользовательские — при входе пользователя.</a:t>
            </a:r>
          </a:p>
          <a:p>
            <a:pPr>
              <a:defRPr sz="3600"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7489290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6F4567-FABA-7356-61C6-B2B6BA964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B4E27D5-61B4-4972-254A-1A78E113FA1B}"/>
              </a:ext>
            </a:extLst>
          </p:cNvPr>
          <p:cNvSpPr txBox="1"/>
          <p:nvPr/>
        </p:nvSpPr>
        <p:spPr>
          <a:xfrm>
            <a:off x="457200" y="471948"/>
            <a:ext cx="10972800" cy="6076336"/>
          </a:xfrm>
          <a:prstGeom prst="rect">
            <a:avLst/>
          </a:prstGeom>
          <a:noFill/>
        </p:spPr>
        <p:txBody>
          <a:bodyPr wrap="square">
            <a:normAutofit fontScale="77500" lnSpcReduction="20000"/>
          </a:bodyPr>
          <a:lstStyle/>
          <a:p>
            <a:pPr algn="ctr">
              <a:defRPr sz="3600"/>
            </a:pPr>
            <a:r>
              <a:rPr lang="ru-RU" b="1" dirty="0"/>
              <a:t>Принудительное обновление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Обновление политик:</a:t>
            </a:r>
          </a:p>
          <a:p>
            <a:pPr>
              <a:defRPr sz="3600"/>
            </a:pPr>
            <a:r>
              <a:rPr lang="ru-RU" dirty="0" err="1">
                <a:solidFill>
                  <a:srgbClr val="002060"/>
                </a:solidFill>
              </a:rPr>
              <a:t>gpupdate</a:t>
            </a:r>
            <a:endParaRPr lang="ru-RU" dirty="0">
              <a:solidFill>
                <a:srgbClr val="002060"/>
              </a:solidFill>
            </a:endParaRP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Принудительная повторная обработка:</a:t>
            </a:r>
          </a:p>
          <a:p>
            <a:pPr>
              <a:defRPr sz="3600"/>
            </a:pPr>
            <a:r>
              <a:rPr lang="ru-RU" dirty="0" err="1"/>
              <a:t>gpupdate</a:t>
            </a:r>
            <a:r>
              <a:rPr lang="ru-RU" dirty="0"/>
              <a:t> /</a:t>
            </a:r>
            <a:r>
              <a:rPr lang="ru-RU" dirty="0" err="1"/>
              <a:t>force</a:t>
            </a:r>
            <a:endParaRPr lang="ru-RU" dirty="0"/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Обновление только компьютерной части:</a:t>
            </a:r>
          </a:p>
          <a:p>
            <a:pPr>
              <a:defRPr sz="3600"/>
            </a:pPr>
            <a:r>
              <a:rPr lang="ru-RU" dirty="0" err="1">
                <a:solidFill>
                  <a:srgbClr val="002060"/>
                </a:solidFill>
              </a:rPr>
              <a:t>gpupdate</a:t>
            </a:r>
            <a:r>
              <a:rPr lang="ru-RU" dirty="0">
                <a:solidFill>
                  <a:srgbClr val="002060"/>
                </a:solidFill>
              </a:rPr>
              <a:t> /</a:t>
            </a:r>
            <a:r>
              <a:rPr lang="ru-RU" dirty="0" err="1">
                <a:solidFill>
                  <a:srgbClr val="002060"/>
                </a:solidFill>
              </a:rPr>
              <a:t>target:computer</a:t>
            </a:r>
            <a:r>
              <a:rPr lang="ru-RU" dirty="0">
                <a:solidFill>
                  <a:srgbClr val="002060"/>
                </a:solidFill>
              </a:rPr>
              <a:t> /</a:t>
            </a:r>
            <a:r>
              <a:rPr lang="ru-RU" dirty="0" err="1">
                <a:solidFill>
                  <a:srgbClr val="002060"/>
                </a:solidFill>
              </a:rPr>
              <a:t>force</a:t>
            </a:r>
            <a:endParaRPr lang="ru-RU" dirty="0">
              <a:solidFill>
                <a:srgbClr val="002060"/>
              </a:solidFill>
            </a:endParaRP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Только пользовательской:</a:t>
            </a:r>
          </a:p>
          <a:p>
            <a:pPr>
              <a:defRPr sz="3600"/>
            </a:pPr>
            <a:r>
              <a:rPr lang="ru-RU" dirty="0" err="1">
                <a:solidFill>
                  <a:srgbClr val="002060"/>
                </a:solidFill>
              </a:rPr>
              <a:t>gpupdate</a:t>
            </a:r>
            <a:r>
              <a:rPr lang="ru-RU" dirty="0">
                <a:solidFill>
                  <a:srgbClr val="002060"/>
                </a:solidFill>
              </a:rPr>
              <a:t> /</a:t>
            </a:r>
            <a:r>
              <a:rPr lang="ru-RU" dirty="0" err="1">
                <a:solidFill>
                  <a:srgbClr val="002060"/>
                </a:solidFill>
              </a:rPr>
              <a:t>target:user</a:t>
            </a:r>
            <a:r>
              <a:rPr lang="ru-RU" dirty="0">
                <a:solidFill>
                  <a:srgbClr val="002060"/>
                </a:solidFill>
              </a:rPr>
              <a:t> /</a:t>
            </a:r>
            <a:r>
              <a:rPr lang="ru-RU" dirty="0" err="1">
                <a:solidFill>
                  <a:srgbClr val="002060"/>
                </a:solidFill>
              </a:rPr>
              <a:t>force</a:t>
            </a:r>
            <a:endParaRPr lang="ru-RU" dirty="0">
              <a:solidFill>
                <a:srgbClr val="002060"/>
              </a:solidFill>
            </a:endParaRP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Некоторые политики требуют выхода пользователя или перезагрузки.</a:t>
            </a:r>
          </a:p>
          <a:p>
            <a:pPr>
              <a:defRPr sz="3600"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9849752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0BA5E5-325F-6956-69FA-EBF9E83BB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DF102E5-D193-6591-B32F-316A9398CEA3}"/>
              </a:ext>
            </a:extLst>
          </p:cNvPr>
          <p:cNvSpPr txBox="1"/>
          <p:nvPr/>
        </p:nvSpPr>
        <p:spPr>
          <a:xfrm>
            <a:off x="457200" y="471948"/>
            <a:ext cx="10972800" cy="5654532"/>
          </a:xfrm>
          <a:prstGeom prst="rect">
            <a:avLst/>
          </a:prstGeom>
          <a:noFill/>
        </p:spPr>
        <p:txBody>
          <a:bodyPr wrap="square">
            <a:normAutofit fontScale="70000" lnSpcReduction="20000"/>
          </a:bodyPr>
          <a:lstStyle/>
          <a:p>
            <a:pPr algn="ctr">
              <a:defRPr sz="3600"/>
            </a:pPr>
            <a:r>
              <a:rPr lang="ru-RU" b="1" dirty="0"/>
              <a:t>Проверка применённых политик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Краткая информация:</a:t>
            </a:r>
          </a:p>
          <a:p>
            <a:pPr>
              <a:defRPr sz="3600"/>
            </a:pPr>
            <a:r>
              <a:rPr lang="ru-RU" dirty="0" err="1">
                <a:solidFill>
                  <a:srgbClr val="002060"/>
                </a:solidFill>
              </a:rPr>
              <a:t>gpresult</a:t>
            </a:r>
            <a:r>
              <a:rPr lang="ru-RU" dirty="0">
                <a:solidFill>
                  <a:srgbClr val="002060"/>
                </a:solidFill>
              </a:rPr>
              <a:t> /r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Отчёт в HTML:</a:t>
            </a:r>
          </a:p>
          <a:p>
            <a:pPr>
              <a:defRPr sz="3600"/>
            </a:pPr>
            <a:r>
              <a:rPr lang="ru-RU" dirty="0" err="1">
                <a:solidFill>
                  <a:srgbClr val="002060"/>
                </a:solidFill>
              </a:rPr>
              <a:t>gpresult</a:t>
            </a:r>
            <a:r>
              <a:rPr lang="ru-RU" dirty="0">
                <a:solidFill>
                  <a:srgbClr val="002060"/>
                </a:solidFill>
              </a:rPr>
              <a:t> /h C:\Temp\gpo-report.html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В отчёте проверяют: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применённые GPO;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 err="1"/>
              <a:t>неприменённые</a:t>
            </a:r>
            <a:r>
              <a:rPr lang="ru-RU" dirty="0"/>
              <a:t> GPO;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пользователя и компьютер;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членство в группах;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причины фильтрации;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источник политики.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Оснастка результирующей политики:</a:t>
            </a:r>
          </a:p>
          <a:p>
            <a:pPr>
              <a:defRPr sz="3600"/>
            </a:pPr>
            <a:r>
              <a:rPr lang="ru-RU" dirty="0" err="1">
                <a:solidFill>
                  <a:srgbClr val="002060"/>
                </a:solidFill>
              </a:rPr>
              <a:t>rsop.msc</a:t>
            </a:r>
            <a:endParaRPr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168340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FA9C52-0441-C06B-31E7-0EC087CFD6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35CEF9D-7B22-4E38-D721-F2A10913720D}"/>
              </a:ext>
            </a:extLst>
          </p:cNvPr>
          <p:cNvSpPr txBox="1"/>
          <p:nvPr/>
        </p:nvSpPr>
        <p:spPr>
          <a:xfrm>
            <a:off x="457200" y="471948"/>
            <a:ext cx="10972800" cy="5654532"/>
          </a:xfrm>
          <a:prstGeom prst="rect">
            <a:avLst/>
          </a:prstGeom>
          <a:noFill/>
        </p:spPr>
        <p:txBody>
          <a:bodyPr wrap="square">
            <a:normAutofit fontScale="70000" lnSpcReduction="20000"/>
          </a:bodyPr>
          <a:lstStyle/>
          <a:p>
            <a:pPr algn="ctr">
              <a:defRPr sz="3600"/>
            </a:pPr>
            <a:r>
              <a:rPr lang="ru-RU" b="1" dirty="0"/>
              <a:t>Если GPO не применяется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b="1" dirty="0"/>
              <a:t>Проверяют последовательно:</a:t>
            </a:r>
          </a:p>
          <a:p>
            <a:pPr>
              <a:defRPr sz="3600"/>
            </a:pPr>
            <a:r>
              <a:rPr lang="ru-RU" dirty="0"/>
              <a:t>→ DNS</a:t>
            </a:r>
          </a:p>
          <a:p>
            <a:pPr>
              <a:defRPr sz="3600"/>
            </a:pPr>
            <a:r>
              <a:rPr lang="ru-RU" dirty="0"/>
              <a:t>→ доступность контроллера домена</a:t>
            </a:r>
          </a:p>
          <a:p>
            <a:pPr>
              <a:defRPr sz="3600"/>
            </a:pPr>
            <a:r>
              <a:rPr lang="ru-RU" dirty="0"/>
              <a:t>→ Secure Channel</a:t>
            </a:r>
          </a:p>
          <a:p>
            <a:pPr>
              <a:defRPr sz="3600"/>
            </a:pPr>
            <a:r>
              <a:rPr lang="ru-RU" dirty="0"/>
              <a:t>→ членство в домене</a:t>
            </a:r>
          </a:p>
          <a:p>
            <a:pPr>
              <a:defRPr sz="3600"/>
            </a:pPr>
            <a:r>
              <a:rPr lang="ru-RU" dirty="0"/>
              <a:t>→ OU компьютера или пользователя</a:t>
            </a:r>
          </a:p>
          <a:p>
            <a:pPr>
              <a:defRPr sz="3600"/>
            </a:pPr>
            <a:r>
              <a:rPr lang="ru-RU" dirty="0"/>
              <a:t>→ </a:t>
            </a:r>
            <a:r>
              <a:rPr lang="ru-RU" dirty="0" err="1"/>
              <a:t>gpresult</a:t>
            </a:r>
            <a:endParaRPr lang="ru-RU" dirty="0"/>
          </a:p>
          <a:p>
            <a:pPr>
              <a:defRPr sz="3600"/>
            </a:pPr>
            <a:r>
              <a:rPr lang="ru-RU" dirty="0"/>
              <a:t>→ журнал </a:t>
            </a:r>
            <a:r>
              <a:rPr lang="ru-RU" dirty="0" err="1"/>
              <a:t>GroupPolicy</a:t>
            </a:r>
            <a:endParaRPr lang="ru-RU" dirty="0"/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b="1" dirty="0"/>
              <a:t>Типовые причины: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клиент использует неправильный DNS;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объект находится не в той OU;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политика не привязана к нужной OU;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GPO отфильтрована по безопасности;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пользователь или компьютер не входит в нужную группу;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политика требует перезагрузки или повторного входа.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5570158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37E565-0226-FEB2-A51C-F8987D702F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8CA5BC6-2112-CD04-4391-A8DFA6B38F2C}"/>
              </a:ext>
            </a:extLst>
          </p:cNvPr>
          <p:cNvSpPr txBox="1"/>
          <p:nvPr/>
        </p:nvSpPr>
        <p:spPr>
          <a:xfrm>
            <a:off x="457200" y="471947"/>
            <a:ext cx="10972800" cy="6061587"/>
          </a:xfrm>
          <a:prstGeom prst="rect">
            <a:avLst/>
          </a:prstGeom>
          <a:noFill/>
        </p:spPr>
        <p:txBody>
          <a:bodyPr wrap="square">
            <a:normAutofit fontScale="62500" lnSpcReduction="20000"/>
          </a:bodyPr>
          <a:lstStyle/>
          <a:p>
            <a:pPr algn="ctr">
              <a:defRPr sz="3600"/>
            </a:pPr>
            <a:r>
              <a:rPr lang="ru-RU" b="1" dirty="0"/>
              <a:t>Журнал </a:t>
            </a:r>
            <a:r>
              <a:rPr lang="en-US" b="1" dirty="0"/>
              <a:t>Group Policy</a:t>
            </a:r>
          </a:p>
          <a:p>
            <a:pPr>
              <a:defRPr sz="3600"/>
            </a:pPr>
            <a:endParaRPr lang="en-US" dirty="0"/>
          </a:p>
          <a:p>
            <a:pPr>
              <a:defRPr sz="3600"/>
            </a:pPr>
            <a:r>
              <a:rPr lang="ru-RU" dirty="0"/>
              <a:t>Открыть:</a:t>
            </a:r>
          </a:p>
          <a:p>
            <a:pPr>
              <a:defRPr sz="3600"/>
            </a:pPr>
            <a:r>
              <a:rPr lang="en-US" dirty="0" err="1">
                <a:solidFill>
                  <a:srgbClr val="002060"/>
                </a:solidFill>
              </a:rPr>
              <a:t>eventvwr.msc</a:t>
            </a:r>
            <a:endParaRPr lang="en-US" dirty="0">
              <a:solidFill>
                <a:srgbClr val="002060"/>
              </a:solidFill>
            </a:endParaRPr>
          </a:p>
          <a:p>
            <a:pPr>
              <a:defRPr sz="3600"/>
            </a:pPr>
            <a:endParaRPr lang="en-US" dirty="0"/>
          </a:p>
          <a:p>
            <a:pPr>
              <a:defRPr sz="3600"/>
            </a:pPr>
            <a:r>
              <a:rPr lang="ru-RU" dirty="0"/>
              <a:t>Путь:</a:t>
            </a:r>
          </a:p>
          <a:p>
            <a:pPr>
              <a:defRPr sz="3600"/>
            </a:pPr>
            <a:r>
              <a:rPr lang="en-US" dirty="0"/>
              <a:t>→ Applications and Services Logs</a:t>
            </a:r>
          </a:p>
          <a:p>
            <a:pPr>
              <a:defRPr sz="3600"/>
            </a:pPr>
            <a:r>
              <a:rPr lang="en-US" dirty="0"/>
              <a:t>→ Microsoft</a:t>
            </a:r>
          </a:p>
          <a:p>
            <a:pPr>
              <a:defRPr sz="3600"/>
            </a:pPr>
            <a:r>
              <a:rPr lang="en-US" dirty="0"/>
              <a:t>→ Windows</a:t>
            </a:r>
          </a:p>
          <a:p>
            <a:pPr>
              <a:defRPr sz="3600"/>
            </a:pPr>
            <a:r>
              <a:rPr lang="en-US" dirty="0"/>
              <a:t>→ GroupPolicy</a:t>
            </a:r>
          </a:p>
          <a:p>
            <a:pPr>
              <a:defRPr sz="3600"/>
            </a:pPr>
            <a:r>
              <a:rPr lang="en-US" dirty="0"/>
              <a:t>→ Operational</a:t>
            </a:r>
          </a:p>
          <a:p>
            <a:pPr>
              <a:defRPr sz="3600"/>
            </a:pPr>
            <a:endParaRPr lang="en-US" dirty="0"/>
          </a:p>
          <a:p>
            <a:pPr>
              <a:defRPr sz="3600"/>
            </a:pPr>
            <a:r>
              <a:rPr lang="ru-RU" dirty="0"/>
              <a:t>В журнале проверяют: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время обработки политики;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найденный контроллер домена;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ошибки чтения </a:t>
            </a:r>
            <a:r>
              <a:rPr lang="en-US" dirty="0"/>
              <a:t>GPO;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ошибки доступа к </a:t>
            </a:r>
            <a:r>
              <a:rPr lang="en-US" dirty="0"/>
              <a:t>SYSVOL;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завершение применения политики.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Главное правило:</a:t>
            </a:r>
          </a:p>
          <a:p>
            <a:pPr>
              <a:defRPr sz="3600"/>
            </a:pPr>
            <a:r>
              <a:rPr lang="en-US" dirty="0" err="1"/>
              <a:t>gpupdate</a:t>
            </a:r>
            <a:r>
              <a:rPr lang="en-US" dirty="0"/>
              <a:t> </a:t>
            </a:r>
            <a:r>
              <a:rPr lang="ru-RU" dirty="0"/>
              <a:t>запускает обработку,</a:t>
            </a:r>
            <a:r>
              <a:rPr lang="en-US" dirty="0"/>
              <a:t> </a:t>
            </a:r>
            <a:r>
              <a:rPr lang="ru-RU" dirty="0"/>
              <a:t>а </a:t>
            </a:r>
            <a:r>
              <a:rPr lang="en-US" dirty="0" err="1"/>
              <a:t>gpresult</a:t>
            </a:r>
            <a:r>
              <a:rPr lang="en-US" dirty="0"/>
              <a:t> </a:t>
            </a:r>
            <a:r>
              <a:rPr lang="ru-RU" dirty="0"/>
              <a:t>показывает результат.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0357494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AFDFCE-0CEB-F3DC-FA70-3A8CCFDDD3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E733123-002E-0CB5-7BC4-E93061DF7B17}"/>
              </a:ext>
            </a:extLst>
          </p:cNvPr>
          <p:cNvSpPr txBox="1"/>
          <p:nvPr/>
        </p:nvSpPr>
        <p:spPr>
          <a:xfrm>
            <a:off x="457200" y="471948"/>
            <a:ext cx="10972800" cy="56545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rPr dirty="0" err="1"/>
              <a:t>рабочей</a:t>
            </a:r>
            <a:endParaRPr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C037DF0-471F-2076-5535-72C1C61841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696656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B4C078-279B-506C-AE4A-7245E19DAE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8C4506E-A8DB-AC8C-5111-23C887F2EBAF}"/>
              </a:ext>
            </a:extLst>
          </p:cNvPr>
          <p:cNvSpPr txBox="1"/>
          <p:nvPr/>
        </p:nvSpPr>
        <p:spPr>
          <a:xfrm>
            <a:off x="3620407" y="182880"/>
            <a:ext cx="4920706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lang="ru-RU" dirty="0"/>
              <a:t>7. Доступ к </a:t>
            </a:r>
            <a:r>
              <a:rPr lang="en-US" dirty="0"/>
              <a:t>SMB-</a:t>
            </a:r>
            <a:r>
              <a:rPr lang="ru-RU" dirty="0"/>
              <a:t>ресурсам.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57B13A-FB9A-D4AC-07C9-D62318B76BD0}"/>
              </a:ext>
            </a:extLst>
          </p:cNvPr>
          <p:cNvSpPr txBox="1"/>
          <p:nvPr/>
        </p:nvSpPr>
        <p:spPr>
          <a:xfrm>
            <a:off x="457200" y="914400"/>
            <a:ext cx="10972800" cy="5560142"/>
          </a:xfrm>
          <a:prstGeom prst="rect">
            <a:avLst/>
          </a:prstGeom>
          <a:noFill/>
        </p:spPr>
        <p:txBody>
          <a:bodyPr wrap="square">
            <a:normAutofit fontScale="62500" lnSpcReduction="20000"/>
          </a:bodyPr>
          <a:lstStyle/>
          <a:p>
            <a:pPr>
              <a:defRPr sz="3600"/>
            </a:pPr>
            <a:r>
              <a:rPr lang="ru-RU" dirty="0"/>
              <a:t>Что такое SMB-ресурс</a:t>
            </a:r>
          </a:p>
          <a:p>
            <a:pPr>
              <a:defRPr sz="3600"/>
            </a:pPr>
            <a:r>
              <a:rPr lang="ru-RU" b="1" dirty="0"/>
              <a:t>SMB (Server Message Block) </a:t>
            </a:r>
            <a:r>
              <a:rPr lang="ru-RU" dirty="0"/>
              <a:t>— сетевой протокол прикладного уровня для общего доступа к файлам, принтерам, именованным каналам между компьютерами в сети. </a:t>
            </a:r>
          </a:p>
          <a:p>
            <a:pPr>
              <a:defRPr sz="3600"/>
            </a:pPr>
            <a:r>
              <a:rPr lang="ru-RU" b="1" dirty="0"/>
              <a:t>SMB-ресурс</a:t>
            </a:r>
            <a:r>
              <a:rPr lang="ru-RU" dirty="0"/>
              <a:t> — это конкретная папка (или принтер), опубликованная через SMB и доступная по сети как \\server\share.</a:t>
            </a:r>
          </a:p>
          <a:p>
            <a:pPr>
              <a:defRPr sz="3600"/>
            </a:pPr>
            <a:r>
              <a:rPr lang="ru-RU" b="1" dirty="0"/>
              <a:t>SMB используется для доступа к общим: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папкам;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файлам;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принтерам;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сетевым дискам.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b="1" dirty="0"/>
              <a:t>Путь к ресурсу записывается в формате UNC (Universal </a:t>
            </a:r>
            <a:r>
              <a:rPr lang="ru-RU" b="1" dirty="0" err="1"/>
              <a:t>Naming</a:t>
            </a:r>
            <a:r>
              <a:rPr lang="ru-RU" b="1" dirty="0"/>
              <a:t> </a:t>
            </a:r>
            <a:r>
              <a:rPr lang="ru-RU" b="1" dirty="0" err="1"/>
              <a:t>Convention</a:t>
            </a:r>
            <a:r>
              <a:rPr lang="ru-RU" b="1" dirty="0"/>
              <a:t>):</a:t>
            </a:r>
          </a:p>
          <a:p>
            <a:pPr>
              <a:defRPr sz="3600"/>
            </a:pPr>
            <a:r>
              <a:rPr lang="ru-RU" dirty="0"/>
              <a:t>\\FS01\Public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где: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FS01   — имя файлового сервера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Public — имя общего ресурса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4363073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DAC809-C8D1-FD57-47F2-09B6A27429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5D736FD-9514-2623-A944-98F69584FF2F}"/>
              </a:ext>
            </a:extLst>
          </p:cNvPr>
          <p:cNvSpPr txBox="1"/>
          <p:nvPr/>
        </p:nvSpPr>
        <p:spPr>
          <a:xfrm>
            <a:off x="457200" y="471948"/>
            <a:ext cx="10972800" cy="6164826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pPr algn="ctr">
              <a:defRPr sz="3600"/>
            </a:pPr>
            <a:r>
              <a:rPr lang="ru-RU" b="1" dirty="0"/>
              <a:t>Подключение к общей папке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Открыть ресурс можно через Проводник:</a:t>
            </a:r>
          </a:p>
          <a:p>
            <a:pPr>
              <a:defRPr sz="3600"/>
            </a:pPr>
            <a:r>
              <a:rPr lang="ru-RU" dirty="0"/>
              <a:t>\\</a:t>
            </a:r>
            <a:r>
              <a:rPr lang="en-US" dirty="0"/>
              <a:t>FS01\Public</a:t>
            </a:r>
          </a:p>
          <a:p>
            <a:pPr>
              <a:defRPr sz="3600"/>
            </a:pPr>
            <a:endParaRPr lang="en-US" dirty="0"/>
          </a:p>
          <a:p>
            <a:pPr>
              <a:defRPr sz="3600"/>
            </a:pPr>
            <a:r>
              <a:rPr lang="ru-RU" dirty="0"/>
              <a:t>Подключение сетевого диска:</a:t>
            </a:r>
          </a:p>
          <a:p>
            <a:pPr>
              <a:defRPr sz="3600"/>
            </a:pPr>
            <a:r>
              <a:rPr lang="en-US" dirty="0"/>
              <a:t>net use Z: \\FS01\Public</a:t>
            </a:r>
          </a:p>
          <a:p>
            <a:pPr>
              <a:defRPr sz="3600"/>
            </a:pPr>
            <a:endParaRPr lang="en-US" dirty="0"/>
          </a:p>
          <a:p>
            <a:pPr>
              <a:defRPr sz="3600"/>
            </a:pPr>
            <a:r>
              <a:rPr lang="ru-RU" dirty="0"/>
              <a:t>Подключение с доменной учётной записью:</a:t>
            </a:r>
          </a:p>
          <a:p>
            <a:pPr>
              <a:defRPr sz="3600"/>
            </a:pPr>
            <a:r>
              <a:rPr lang="en-US" dirty="0"/>
              <a:t>net use Z: \\FS01\Public /</a:t>
            </a:r>
            <a:r>
              <a:rPr lang="en-US" dirty="0" err="1"/>
              <a:t>user:CORP</a:t>
            </a:r>
            <a:r>
              <a:rPr lang="en-US" dirty="0"/>
              <a:t>\User *</a:t>
            </a:r>
          </a:p>
          <a:p>
            <a:pPr>
              <a:defRPr sz="3600"/>
            </a:pPr>
            <a:endParaRPr lang="en-US" dirty="0"/>
          </a:p>
          <a:p>
            <a:pPr>
              <a:defRPr sz="3600"/>
            </a:pPr>
            <a:r>
              <a:rPr lang="ru-RU" dirty="0"/>
              <a:t>Просмотр подключений:</a:t>
            </a:r>
          </a:p>
          <a:p>
            <a:pPr>
              <a:defRPr sz="3600"/>
            </a:pPr>
            <a:r>
              <a:rPr lang="en-US" dirty="0"/>
              <a:t>net use</a:t>
            </a:r>
          </a:p>
          <a:p>
            <a:pPr>
              <a:defRPr sz="3600"/>
            </a:pPr>
            <a:endParaRPr lang="en-US" dirty="0"/>
          </a:p>
          <a:p>
            <a:pPr>
              <a:defRPr sz="3600"/>
            </a:pPr>
            <a:r>
              <a:rPr lang="ru-RU" dirty="0"/>
              <a:t>Отключение:</a:t>
            </a:r>
          </a:p>
          <a:p>
            <a:pPr>
              <a:defRPr sz="3600"/>
            </a:pPr>
            <a:r>
              <a:rPr lang="en-US" dirty="0"/>
              <a:t>net use Z: /delete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9410912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34F5AD-91DE-5E10-B3A3-ED7209F12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1FE87AD-EFAE-03B2-E849-30AC525D364A}"/>
              </a:ext>
            </a:extLst>
          </p:cNvPr>
          <p:cNvSpPr txBox="1"/>
          <p:nvPr/>
        </p:nvSpPr>
        <p:spPr>
          <a:xfrm>
            <a:off x="457200" y="471947"/>
            <a:ext cx="10972800" cy="6061587"/>
          </a:xfrm>
          <a:prstGeom prst="rect">
            <a:avLst/>
          </a:prstGeom>
          <a:noFill/>
        </p:spPr>
        <p:txBody>
          <a:bodyPr wrap="square">
            <a:normAutofit fontScale="77500" lnSpcReduction="20000"/>
          </a:bodyPr>
          <a:lstStyle/>
          <a:p>
            <a:pPr algn="ctr">
              <a:defRPr sz="3600"/>
            </a:pPr>
            <a:r>
              <a:rPr lang="ru-RU" b="1" dirty="0"/>
              <a:t>Проверка доступа</a:t>
            </a:r>
          </a:p>
          <a:p>
            <a:pPr>
              <a:defRPr sz="3600"/>
            </a:pPr>
            <a:endParaRPr lang="ru-RU" b="1" dirty="0"/>
          </a:p>
          <a:p>
            <a:pPr>
              <a:defRPr sz="3600"/>
            </a:pPr>
            <a:r>
              <a:rPr lang="ru-RU" b="1" dirty="0"/>
              <a:t>Диагностику выполняют последовательно:</a:t>
            </a:r>
          </a:p>
          <a:p>
            <a:pPr>
              <a:defRPr sz="3600"/>
            </a:pPr>
            <a:r>
              <a:rPr lang="ru-RU" dirty="0"/>
              <a:t>→ Имя сервера</a:t>
            </a:r>
          </a:p>
          <a:p>
            <a:pPr>
              <a:defRPr sz="3600"/>
            </a:pPr>
            <a:r>
              <a:rPr lang="ru-RU" dirty="0"/>
              <a:t>→ сеть</a:t>
            </a:r>
          </a:p>
          <a:p>
            <a:pPr>
              <a:defRPr sz="3600"/>
            </a:pPr>
            <a:r>
              <a:rPr lang="ru-RU" dirty="0"/>
              <a:t>→ DNS</a:t>
            </a:r>
          </a:p>
          <a:p>
            <a:pPr>
              <a:defRPr sz="3600"/>
            </a:pPr>
            <a:r>
              <a:rPr lang="ru-RU" dirty="0"/>
              <a:t>→ TCP-порт 445</a:t>
            </a:r>
          </a:p>
          <a:p>
            <a:pPr>
              <a:defRPr sz="3600"/>
            </a:pPr>
            <a:r>
              <a:rPr lang="ru-RU" dirty="0"/>
              <a:t>→ учётная запись</a:t>
            </a:r>
          </a:p>
          <a:p>
            <a:pPr>
              <a:defRPr sz="3600"/>
            </a:pPr>
            <a:r>
              <a:rPr lang="ru-RU" dirty="0"/>
              <a:t>→ разрешения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b="1" dirty="0"/>
              <a:t>Команды: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 err="1">
                <a:solidFill>
                  <a:srgbClr val="002060"/>
                </a:solidFill>
              </a:rPr>
              <a:t>nslookup</a:t>
            </a:r>
            <a:r>
              <a:rPr lang="ru-RU" dirty="0">
                <a:solidFill>
                  <a:srgbClr val="002060"/>
                </a:solidFill>
              </a:rPr>
              <a:t> FS01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 err="1">
                <a:solidFill>
                  <a:srgbClr val="002060"/>
                </a:solidFill>
              </a:rPr>
              <a:t>ping</a:t>
            </a:r>
            <a:r>
              <a:rPr lang="ru-RU" dirty="0">
                <a:solidFill>
                  <a:srgbClr val="002060"/>
                </a:solidFill>
              </a:rPr>
              <a:t> FS01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>
                <a:solidFill>
                  <a:srgbClr val="002060"/>
                </a:solidFill>
              </a:rPr>
              <a:t>Test-</a:t>
            </a:r>
            <a:r>
              <a:rPr lang="ru-RU" dirty="0" err="1">
                <a:solidFill>
                  <a:srgbClr val="002060"/>
                </a:solidFill>
              </a:rPr>
              <a:t>NetConnection</a:t>
            </a:r>
            <a:r>
              <a:rPr lang="ru-RU" dirty="0">
                <a:solidFill>
                  <a:srgbClr val="002060"/>
                </a:solidFill>
              </a:rPr>
              <a:t> FS01 -Port 445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Если порт 445 недоступен, клиент не сможет установить SMB-соединение.</a:t>
            </a:r>
          </a:p>
          <a:p>
            <a:pPr>
              <a:defRPr sz="3600"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5892263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D94BF7-CCEF-5052-CF4A-2A47950BC9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9410978-664B-9347-A935-7043F6BB71C9}"/>
              </a:ext>
            </a:extLst>
          </p:cNvPr>
          <p:cNvSpPr txBox="1"/>
          <p:nvPr/>
        </p:nvSpPr>
        <p:spPr>
          <a:xfrm>
            <a:off x="457200" y="471948"/>
            <a:ext cx="10972800" cy="5654532"/>
          </a:xfrm>
          <a:prstGeom prst="rect">
            <a:avLst/>
          </a:prstGeom>
          <a:noFill/>
        </p:spPr>
        <p:txBody>
          <a:bodyPr wrap="square">
            <a:normAutofit fontScale="70000" lnSpcReduction="20000"/>
          </a:bodyPr>
          <a:lstStyle/>
          <a:p>
            <a:pPr algn="ctr">
              <a:defRPr sz="3600"/>
            </a:pPr>
            <a:r>
              <a:rPr lang="en-US" b="1" dirty="0"/>
              <a:t>Share </a:t>
            </a:r>
            <a:r>
              <a:rPr lang="ru-RU" b="1" dirty="0"/>
              <a:t>и </a:t>
            </a:r>
            <a:r>
              <a:rPr lang="en-US" b="1" dirty="0"/>
              <a:t>NTFS permissions</a:t>
            </a:r>
          </a:p>
          <a:p>
            <a:pPr>
              <a:defRPr sz="3600"/>
            </a:pPr>
            <a:endParaRPr lang="en-US" dirty="0"/>
          </a:p>
          <a:p>
            <a:pPr>
              <a:defRPr sz="3600"/>
            </a:pPr>
            <a:r>
              <a:rPr lang="ru-RU" b="1" dirty="0"/>
              <a:t>Доступ определяется двумя уровнями разрешений:</a:t>
            </a:r>
          </a:p>
          <a:p>
            <a:pPr>
              <a:defRPr sz="3600"/>
            </a:pPr>
            <a:r>
              <a:rPr lang="ru-RU" dirty="0"/>
              <a:t>Разрешения общего ресурса</a:t>
            </a:r>
          </a:p>
          <a:p>
            <a:pPr>
              <a:defRPr sz="3600"/>
            </a:pPr>
            <a:r>
              <a:rPr lang="ru-RU" dirty="0"/>
              <a:t>+</a:t>
            </a:r>
          </a:p>
          <a:p>
            <a:pPr>
              <a:defRPr sz="3600"/>
            </a:pPr>
            <a:r>
              <a:rPr lang="ru-RU" dirty="0"/>
              <a:t>Разрешения </a:t>
            </a:r>
            <a:r>
              <a:rPr lang="en-US" dirty="0"/>
              <a:t>NTFS</a:t>
            </a:r>
          </a:p>
          <a:p>
            <a:pPr>
              <a:defRPr sz="3600"/>
            </a:pPr>
            <a:r>
              <a:rPr lang="en-US" dirty="0"/>
              <a:t>=</a:t>
            </a:r>
          </a:p>
          <a:p>
            <a:pPr>
              <a:defRPr sz="3600"/>
            </a:pPr>
            <a:r>
              <a:rPr lang="ru-RU" dirty="0"/>
              <a:t>Итоговый доступ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При сетевом подключении действует более строгое ограничение.</a:t>
            </a:r>
          </a:p>
          <a:p>
            <a:pPr>
              <a:defRPr sz="3600"/>
            </a:pPr>
            <a:r>
              <a:rPr lang="ru-RU" dirty="0"/>
              <a:t>Пример: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en-US" dirty="0"/>
              <a:t>Share: Change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en-US" dirty="0"/>
              <a:t>NTFS: Read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Итог: </a:t>
            </a:r>
            <a:r>
              <a:rPr lang="en-US" dirty="0"/>
              <a:t>Read</a:t>
            </a:r>
          </a:p>
          <a:p>
            <a:pPr>
              <a:defRPr sz="3600"/>
            </a:pPr>
            <a:endParaRPr lang="en-US" dirty="0"/>
          </a:p>
          <a:p>
            <a:pPr>
              <a:defRPr sz="3600"/>
            </a:pPr>
            <a:r>
              <a:rPr lang="ru-RU" dirty="0"/>
              <a:t>Доступ лучше назначать доменным группам: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en-US" dirty="0"/>
              <a:t>CORP\File-Users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en-US" dirty="0"/>
              <a:t>CORP\File-Editors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8526376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BA20BD-6E67-1CBC-2C47-905609D603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B5AAAD8-4728-3D0A-FFD6-5BA633504EAA}"/>
              </a:ext>
            </a:extLst>
          </p:cNvPr>
          <p:cNvSpPr txBox="1"/>
          <p:nvPr/>
        </p:nvSpPr>
        <p:spPr>
          <a:xfrm>
            <a:off x="457200" y="471948"/>
            <a:ext cx="10972800" cy="6091084"/>
          </a:xfrm>
          <a:prstGeom prst="rect">
            <a:avLst/>
          </a:prstGeom>
          <a:noFill/>
        </p:spPr>
        <p:txBody>
          <a:bodyPr wrap="square">
            <a:normAutofit fontScale="70000" lnSpcReduction="20000"/>
          </a:bodyPr>
          <a:lstStyle/>
          <a:p>
            <a:pPr algn="ctr">
              <a:defRPr sz="3600"/>
            </a:pPr>
            <a:r>
              <a:rPr lang="ru-RU" b="1" dirty="0"/>
              <a:t>Если ресурс не открывается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b="1" dirty="0"/>
              <a:t>Типовые причины: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неверное имя сервера или ресурса;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DNS не разрешает имя;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порт TCP 445 недоступен;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используются неправильные учётные данные;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отсутствуют </a:t>
            </a:r>
            <a:r>
              <a:rPr lang="ru-RU" dirty="0" err="1"/>
              <a:t>Share</a:t>
            </a:r>
            <a:r>
              <a:rPr lang="ru-RU" dirty="0"/>
              <a:t> </a:t>
            </a:r>
            <a:r>
              <a:rPr lang="ru-RU" dirty="0" err="1"/>
              <a:t>permissions</a:t>
            </a:r>
            <a:r>
              <a:rPr lang="ru-RU" dirty="0"/>
              <a:t>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отсутствуют NTFS </a:t>
            </a:r>
            <a:r>
              <a:rPr lang="ru-RU" dirty="0" err="1"/>
              <a:t>permissions</a:t>
            </a:r>
            <a:r>
              <a:rPr lang="ru-RU" dirty="0"/>
              <a:t>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сохранены старые сетевые подключения.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b="1" dirty="0"/>
              <a:t>Проверка текущих SMB-подключений: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>
                <a:solidFill>
                  <a:srgbClr val="002060"/>
                </a:solidFill>
              </a:rPr>
              <a:t>Get-</a:t>
            </a:r>
            <a:r>
              <a:rPr lang="ru-RU" dirty="0" err="1">
                <a:solidFill>
                  <a:srgbClr val="002060"/>
                </a:solidFill>
              </a:rPr>
              <a:t>SmbConnection</a:t>
            </a:r>
            <a:endParaRPr lang="ru-RU" dirty="0">
              <a:solidFill>
                <a:srgbClr val="002060"/>
              </a:solidFill>
            </a:endParaRP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b="1" dirty="0"/>
              <a:t>Сохранённые подключения: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 err="1">
                <a:solidFill>
                  <a:srgbClr val="002060"/>
                </a:solidFill>
              </a:rPr>
              <a:t>net</a:t>
            </a:r>
            <a:r>
              <a:rPr lang="ru-RU" dirty="0">
                <a:solidFill>
                  <a:srgbClr val="002060"/>
                </a:solidFill>
              </a:rPr>
              <a:t> </a:t>
            </a:r>
            <a:r>
              <a:rPr lang="ru-RU" dirty="0" err="1">
                <a:solidFill>
                  <a:srgbClr val="002060"/>
                </a:solidFill>
              </a:rPr>
              <a:t>use</a:t>
            </a:r>
            <a:endParaRPr lang="ru-RU" dirty="0">
              <a:solidFill>
                <a:srgbClr val="002060"/>
              </a:solidFill>
            </a:endParaRP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После исправления нужно повторно открыть UNC-путь и проверить создание, чтение или изменение файла в пределах выданных прав.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6575397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111B5A-F5D0-10F4-A587-BC1B1C7F0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B7311EF-726C-2113-D811-33D12F70543E}"/>
              </a:ext>
            </a:extLst>
          </p:cNvPr>
          <p:cNvSpPr txBox="1"/>
          <p:nvPr/>
        </p:nvSpPr>
        <p:spPr>
          <a:xfrm>
            <a:off x="457200" y="471948"/>
            <a:ext cx="10972800" cy="56545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rPr dirty="0" err="1"/>
              <a:t>рабочей</a:t>
            </a:r>
            <a:endParaRPr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B192497-B8A3-C818-32EE-84281BC19D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394526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EB46AE-162A-53C1-97AD-96850FA97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F9FC597-0E53-D878-59D3-B78DBD69CD8F}"/>
              </a:ext>
            </a:extLst>
          </p:cNvPr>
          <p:cNvSpPr txBox="1"/>
          <p:nvPr/>
        </p:nvSpPr>
        <p:spPr>
          <a:xfrm>
            <a:off x="3448565" y="182880"/>
            <a:ext cx="5264390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lang="ru-RU" dirty="0"/>
              <a:t>8. Удалённая помощь и RDP.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BDAA70-CBDB-0D88-111D-80F898A659DA}"/>
              </a:ext>
            </a:extLst>
          </p:cNvPr>
          <p:cNvSpPr txBox="1"/>
          <p:nvPr/>
        </p:nvSpPr>
        <p:spPr>
          <a:xfrm>
            <a:off x="457200" y="914400"/>
            <a:ext cx="10972800" cy="5760720"/>
          </a:xfrm>
          <a:prstGeom prst="rect">
            <a:avLst/>
          </a:prstGeom>
          <a:noFill/>
        </p:spPr>
        <p:txBody>
          <a:bodyPr wrap="square">
            <a:normAutofit fontScale="70000" lnSpcReduction="20000"/>
          </a:bodyPr>
          <a:lstStyle/>
          <a:p>
            <a:pPr algn="ctr">
              <a:defRPr sz="3600"/>
            </a:pPr>
            <a:r>
              <a:rPr lang="ru-RU" b="1" dirty="0"/>
              <a:t>Два способа удалённого доступа:</a:t>
            </a:r>
          </a:p>
          <a:p>
            <a:pPr>
              <a:defRPr sz="3600"/>
            </a:pPr>
            <a:r>
              <a:rPr lang="ru-RU" b="1" dirty="0"/>
              <a:t>1. Quick Assist (Быстрая помощь)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Оба участника должны войти под учётной записью Microsoft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пользователь остаётся в своей сессии;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специалист видит его рабочий стол;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пользователь подтверждает подключение;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подходит для консультации и поддержки;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действия можно выполнять совместно.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b="1" dirty="0"/>
              <a:t>2. RDP (Remote Desktop Protocol)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RDP — протокол удалённого доступа от Microsoft, который передаёт графический интерфейс удалённого компьютера/сервера на клиент и принимает от клиента ввод (клавиатура, мышь, буфер обмена, звук, принтеры и т.д.). RDP даёт полноценную удалённую рабочую сессию.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создаёт удалённый сеанс входа;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используется для администрирования и удалённой работы;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требует разрешённой учётной записи;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на клиентских Windows обычно блокирует локальный экран пользователя.</a:t>
            </a:r>
          </a:p>
          <a:p>
            <a:pPr>
              <a:defRPr sz="3600"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8145677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F8B632-F969-D656-0500-3B8FF42AC9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71639B-3F35-8F96-ED47-5A8EE4582E8A}"/>
              </a:ext>
            </a:extLst>
          </p:cNvPr>
          <p:cNvSpPr txBox="1"/>
          <p:nvPr/>
        </p:nvSpPr>
        <p:spPr>
          <a:xfrm>
            <a:off x="457200" y="471948"/>
            <a:ext cx="10972800" cy="5654532"/>
          </a:xfrm>
          <a:prstGeom prst="rect">
            <a:avLst/>
          </a:prstGeom>
          <a:noFill/>
        </p:spPr>
        <p:txBody>
          <a:bodyPr wrap="square">
            <a:normAutofit fontScale="70000" lnSpcReduction="20000"/>
          </a:bodyPr>
          <a:lstStyle/>
          <a:p>
            <a:pPr algn="ctr">
              <a:defRPr sz="3600"/>
            </a:pPr>
            <a:r>
              <a:rPr lang="ru-RU" b="1" dirty="0"/>
              <a:t>Удалённая помощь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Для поддержки можно использовать Quick Assist — Быстрая помощь.</a:t>
            </a:r>
          </a:p>
          <a:p>
            <a:pPr>
              <a:defRPr sz="3600"/>
            </a:pPr>
            <a:r>
              <a:rPr lang="ru-RU" dirty="0"/>
              <a:t>Запуск:</a:t>
            </a:r>
          </a:p>
          <a:p>
            <a:pPr>
              <a:defRPr sz="3600"/>
            </a:pPr>
            <a:r>
              <a:rPr lang="ru-RU" dirty="0"/>
              <a:t>Пуск → Быстрая помощь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b="1" dirty="0"/>
              <a:t>Сценарий:</a:t>
            </a:r>
          </a:p>
          <a:p>
            <a:pPr>
              <a:defRPr sz="3600"/>
            </a:pPr>
            <a:r>
              <a:rPr lang="ru-RU" dirty="0"/>
              <a:t>→ Специалист создаёт код</a:t>
            </a:r>
          </a:p>
          <a:p>
            <a:pPr>
              <a:defRPr sz="3600"/>
            </a:pPr>
            <a:r>
              <a:rPr lang="ru-RU" dirty="0"/>
              <a:t>→ пользователь вводит код</a:t>
            </a:r>
          </a:p>
          <a:p>
            <a:pPr>
              <a:defRPr sz="3600"/>
            </a:pPr>
            <a:r>
              <a:rPr lang="ru-RU" dirty="0"/>
              <a:t>→ подтверждает подключение</a:t>
            </a:r>
          </a:p>
          <a:p>
            <a:pPr>
              <a:defRPr sz="3600"/>
            </a:pPr>
            <a:r>
              <a:rPr lang="ru-RU" dirty="0"/>
              <a:t>→ разрешает просмотр или управление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b="1" dirty="0"/>
              <a:t>Важно: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пользователь видит действия специалиста;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управление начинается только после подтверждения;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секретный код передают только доверенному сотруднику;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после работы сеанс завершают.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4693213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1CA248-65E9-B9EB-76E6-15A2B7091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E5CDA6C-D1A4-DA59-9BF5-7AF1EC2EB2C2}"/>
              </a:ext>
            </a:extLst>
          </p:cNvPr>
          <p:cNvSpPr txBox="1"/>
          <p:nvPr/>
        </p:nvSpPr>
        <p:spPr>
          <a:xfrm>
            <a:off x="457200" y="471948"/>
            <a:ext cx="10972800" cy="6002594"/>
          </a:xfrm>
          <a:prstGeom prst="rect">
            <a:avLst/>
          </a:prstGeom>
          <a:noFill/>
        </p:spPr>
        <p:txBody>
          <a:bodyPr wrap="square">
            <a:normAutofit fontScale="77500" lnSpcReduction="20000"/>
          </a:bodyPr>
          <a:lstStyle/>
          <a:p>
            <a:pPr algn="ctr">
              <a:defRPr sz="3600"/>
            </a:pPr>
            <a:r>
              <a:rPr lang="ru-RU" b="1" dirty="0"/>
              <a:t>Настройка RDP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b="1" dirty="0"/>
              <a:t>На удалённом компьютере требуется: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Windows Pro или Enterprise;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включённый удалённый рабочий стол;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работающая сеть;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разрешение Windows Firewall;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пользователь с паролем;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членство в разрешённой группе.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b="1" dirty="0"/>
              <a:t>Открытие настроек:</a:t>
            </a:r>
          </a:p>
          <a:p>
            <a:pPr>
              <a:defRPr sz="3600"/>
            </a:pPr>
            <a:r>
              <a:rPr lang="ru-RU" dirty="0"/>
              <a:t>→ Параметры</a:t>
            </a:r>
          </a:p>
          <a:p>
            <a:pPr>
              <a:defRPr sz="3600"/>
            </a:pPr>
            <a:r>
              <a:rPr lang="ru-RU" dirty="0"/>
              <a:t>→ Система</a:t>
            </a:r>
          </a:p>
          <a:p>
            <a:pPr>
              <a:defRPr sz="3600"/>
            </a:pPr>
            <a:r>
              <a:rPr lang="ru-RU" dirty="0"/>
              <a:t>→ Удалённый рабочий стол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b="1" dirty="0"/>
              <a:t>Запуск клиента:</a:t>
            </a:r>
          </a:p>
          <a:p>
            <a:pPr>
              <a:defRPr sz="3600"/>
            </a:pPr>
            <a:r>
              <a:rPr lang="ru-RU" dirty="0" err="1">
                <a:solidFill>
                  <a:srgbClr val="002060"/>
                </a:solidFill>
              </a:rPr>
              <a:t>mstsc</a:t>
            </a:r>
            <a:endParaRPr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687785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1C4232-852A-853E-3099-C9D580A54B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34E7EDE-525B-2552-8AA2-5D024983164A}"/>
              </a:ext>
            </a:extLst>
          </p:cNvPr>
          <p:cNvSpPr txBox="1"/>
          <p:nvPr/>
        </p:nvSpPr>
        <p:spPr>
          <a:xfrm>
            <a:off x="457200" y="471947"/>
            <a:ext cx="10972800" cy="5973097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pPr algn="ctr">
              <a:defRPr sz="3600"/>
            </a:pPr>
            <a:r>
              <a:rPr lang="ru-RU" b="1" dirty="0"/>
              <a:t>Пользователи и проверка RDP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Администраторы обычно имеют право входа по RDP.</a:t>
            </a:r>
          </a:p>
          <a:p>
            <a:pPr>
              <a:defRPr sz="3600"/>
            </a:pPr>
            <a:r>
              <a:rPr lang="ru-RU" dirty="0"/>
              <a:t>Других пользователей добавляют в группу: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Remote Desktop </a:t>
            </a:r>
            <a:r>
              <a:rPr lang="ru-RU" dirty="0" err="1"/>
              <a:t>Users</a:t>
            </a:r>
            <a:endParaRPr lang="ru-RU"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Пользователи удалённого рабочего стола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Проверка группы: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Get-</a:t>
            </a:r>
            <a:r>
              <a:rPr lang="ru-RU" dirty="0" err="1"/>
              <a:t>LocalGroupMember</a:t>
            </a:r>
            <a:r>
              <a:rPr lang="ru-RU" dirty="0"/>
              <a:t> "Remote Desktop </a:t>
            </a:r>
            <a:r>
              <a:rPr lang="ru-RU" dirty="0" err="1"/>
              <a:t>Users</a:t>
            </a:r>
            <a:r>
              <a:rPr lang="ru-RU" dirty="0"/>
              <a:t>"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Проверка порта с другого компьютера: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Test-</a:t>
            </a:r>
            <a:r>
              <a:rPr lang="ru-RU" dirty="0" err="1"/>
              <a:t>NetConnection</a:t>
            </a:r>
            <a:r>
              <a:rPr lang="ru-RU" dirty="0"/>
              <a:t> WIN11-01 -Port 3389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Успешный тест порта подтверждает сетевую доступность RDP, но не гарантирует наличие прав на вход.</a:t>
            </a:r>
          </a:p>
          <a:p>
            <a:pPr>
              <a:defRPr sz="3600"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1890868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1FA737-7D85-E4F2-9C3F-829C376033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DB5665E-6CF1-658B-AB96-4EDB6EE2E9CC}"/>
              </a:ext>
            </a:extLst>
          </p:cNvPr>
          <p:cNvSpPr txBox="1"/>
          <p:nvPr/>
        </p:nvSpPr>
        <p:spPr>
          <a:xfrm>
            <a:off x="457199" y="294969"/>
            <a:ext cx="11179277" cy="6223818"/>
          </a:xfrm>
          <a:prstGeom prst="rect">
            <a:avLst/>
          </a:prstGeom>
          <a:noFill/>
        </p:spPr>
        <p:txBody>
          <a:bodyPr wrap="square">
            <a:normAutofit fontScale="62500" lnSpcReduction="20000"/>
          </a:bodyPr>
          <a:lstStyle/>
          <a:p>
            <a:pPr algn="ctr">
              <a:defRPr sz="3600"/>
            </a:pPr>
            <a:r>
              <a:rPr lang="ru-RU" b="1" dirty="0"/>
              <a:t>Диагностика подключения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b="1" dirty="0"/>
              <a:t>Если RDP не работает, проверяют:</a:t>
            </a:r>
          </a:p>
          <a:p>
            <a:pPr>
              <a:defRPr sz="3600"/>
            </a:pPr>
            <a:r>
              <a:rPr lang="ru-RU" dirty="0"/>
              <a:t>→ Имя и DNS</a:t>
            </a:r>
          </a:p>
          <a:p>
            <a:pPr>
              <a:defRPr sz="3600"/>
            </a:pPr>
            <a:r>
              <a:rPr lang="ru-RU" dirty="0"/>
              <a:t>→ доступность компьютера</a:t>
            </a:r>
          </a:p>
          <a:p>
            <a:pPr>
              <a:defRPr sz="3600"/>
            </a:pPr>
            <a:r>
              <a:rPr lang="ru-RU" dirty="0"/>
              <a:t>→ TCP-порт 3389</a:t>
            </a:r>
          </a:p>
          <a:p>
            <a:pPr>
              <a:defRPr sz="3600"/>
            </a:pPr>
            <a:r>
              <a:rPr lang="ru-RU" dirty="0"/>
              <a:t>→ включение RDP</a:t>
            </a:r>
          </a:p>
          <a:p>
            <a:pPr>
              <a:defRPr sz="3600"/>
            </a:pPr>
            <a:r>
              <a:rPr lang="ru-RU" dirty="0"/>
              <a:t>→ Windows Firewall</a:t>
            </a:r>
          </a:p>
          <a:p>
            <a:pPr>
              <a:defRPr sz="3600"/>
            </a:pPr>
            <a:r>
              <a:rPr lang="ru-RU" dirty="0"/>
              <a:t>→ учётную запись и пароль</a:t>
            </a:r>
          </a:p>
          <a:p>
            <a:pPr>
              <a:defRPr sz="3600"/>
            </a:pPr>
            <a:r>
              <a:rPr lang="ru-RU" dirty="0"/>
              <a:t>→ право удалённого входа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b="1" dirty="0"/>
              <a:t>Дополнительные причины: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компьютер выключен;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служба удалённых рабочих столов недоступна;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подключение блокируется политикой;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пользователь не входит в разрешённую группу;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используется неверный формат имени пользователя.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b="1" dirty="0"/>
              <a:t>Формат доменной учётной записи: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CORP\User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 err="1"/>
              <a:t>user@corp.local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0325149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6C9E2B-EA50-ABBA-4551-A0FCBDAFE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699A365-0A63-EAE2-A06A-2CDD85E225E5}"/>
              </a:ext>
            </a:extLst>
          </p:cNvPr>
          <p:cNvSpPr txBox="1"/>
          <p:nvPr/>
        </p:nvSpPr>
        <p:spPr>
          <a:xfrm>
            <a:off x="457200" y="471948"/>
            <a:ext cx="10972800" cy="56545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rPr dirty="0" err="1"/>
              <a:t>рабочей</a:t>
            </a:r>
            <a:endParaRPr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B5F9FE0-7D45-D90A-A220-88222AEC88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231045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A181EB-5A2C-8C9E-C147-34E866D886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C0358EE-C4A2-6B8B-C2DF-16EF9CFF3696}"/>
              </a:ext>
            </a:extLst>
          </p:cNvPr>
          <p:cNvSpPr txBox="1"/>
          <p:nvPr/>
        </p:nvSpPr>
        <p:spPr>
          <a:xfrm>
            <a:off x="381732" y="182880"/>
            <a:ext cx="11398057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lang="ru-RU" dirty="0"/>
              <a:t>9. Вывод компьютера из домена и повторное присоединение.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29B2D7-BD0C-06CB-C401-DF0FD82214C4}"/>
              </a:ext>
            </a:extLst>
          </p:cNvPr>
          <p:cNvSpPr txBox="1"/>
          <p:nvPr/>
        </p:nvSpPr>
        <p:spPr>
          <a:xfrm>
            <a:off x="457200" y="914400"/>
            <a:ext cx="10972800" cy="5501148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pPr algn="ctr">
              <a:defRPr sz="3600"/>
            </a:pPr>
            <a:r>
              <a:rPr lang="ru-RU" b="1" dirty="0"/>
              <a:t>Когда компьютер выводят из домена?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Вывод из домена выполняют, если компьютер: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передаётся в другую организацию;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выводится из эксплуатации;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переносится в другой домен;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переустанавливается;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имеет повреждённые доверительные отношения, которые не удалось восстановить.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При обычной ошибке Secure Channel сначала используют: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b="1" dirty="0">
                <a:solidFill>
                  <a:srgbClr val="002060"/>
                </a:solidFill>
              </a:rPr>
              <a:t>Test-</a:t>
            </a:r>
            <a:r>
              <a:rPr lang="ru-RU" b="1" dirty="0" err="1">
                <a:solidFill>
                  <a:srgbClr val="002060"/>
                </a:solidFill>
              </a:rPr>
              <a:t>ComputerSecureChannel</a:t>
            </a:r>
            <a:r>
              <a:rPr lang="ru-RU" b="1" dirty="0">
                <a:solidFill>
                  <a:srgbClr val="002060"/>
                </a:solidFill>
              </a:rPr>
              <a:t> -</a:t>
            </a:r>
            <a:r>
              <a:rPr lang="ru-RU" b="1" dirty="0" err="1">
                <a:solidFill>
                  <a:srgbClr val="002060"/>
                </a:solidFill>
              </a:rPr>
              <a:t>Repair</a:t>
            </a:r>
            <a:endParaRPr lang="ru-RU" b="1" dirty="0">
              <a:solidFill>
                <a:srgbClr val="002060"/>
              </a:solidFill>
            </a:endParaRP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Повторное присоединение — не первое действие диагностики.</a:t>
            </a:r>
          </a:p>
        </p:txBody>
      </p:sp>
    </p:spTree>
    <p:extLst>
      <p:ext uri="{BB962C8B-B14F-4D97-AF65-F5344CB8AC3E}">
        <p14:creationId xmlns:p14="http://schemas.microsoft.com/office/powerpoint/2010/main" val="417384691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4C4C29-FB89-1CA8-AB8E-91984F1EF0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263E344-513E-4ED7-52CA-0394BC207008}"/>
              </a:ext>
            </a:extLst>
          </p:cNvPr>
          <p:cNvSpPr txBox="1"/>
          <p:nvPr/>
        </p:nvSpPr>
        <p:spPr>
          <a:xfrm>
            <a:off x="457200" y="471948"/>
            <a:ext cx="10972800" cy="6076336"/>
          </a:xfrm>
          <a:prstGeom prst="rect">
            <a:avLst/>
          </a:prstGeom>
          <a:noFill/>
        </p:spPr>
        <p:txBody>
          <a:bodyPr wrap="square">
            <a:normAutofit fontScale="77500" lnSpcReduction="20000"/>
          </a:bodyPr>
          <a:lstStyle/>
          <a:p>
            <a:pPr algn="ctr">
              <a:defRPr sz="3600"/>
            </a:pPr>
            <a:r>
              <a:rPr lang="ru-RU" b="1" dirty="0"/>
              <a:t>Подготовка к выводу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b="1" dirty="0"/>
              <a:t>Перед операцией необходимо: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проверить локальную учётную запись администратора;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убедиться, что известен её пароль;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сохранить важные данные пользователя;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закрыть программы и сетевые подключения;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проверить доступность DNS и контроллера домена;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подготовить учётные данные с необходимыми правами.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b="1" dirty="0"/>
              <a:t>Проверка локального администратора:</a:t>
            </a:r>
          </a:p>
          <a:p>
            <a:pPr>
              <a:defRPr sz="3600"/>
            </a:pPr>
            <a:r>
              <a:rPr lang="ru-RU" dirty="0"/>
              <a:t>Get-</a:t>
            </a:r>
            <a:r>
              <a:rPr lang="ru-RU" dirty="0" err="1"/>
              <a:t>LocalGroupMember</a:t>
            </a:r>
            <a:r>
              <a:rPr lang="ru-RU" dirty="0"/>
              <a:t> </a:t>
            </a:r>
            <a:r>
              <a:rPr lang="ru-RU" dirty="0" err="1"/>
              <a:t>Administrators</a:t>
            </a:r>
            <a:endParaRPr lang="ru-RU" dirty="0"/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b="1" dirty="0"/>
              <a:t>Локальный вход:</a:t>
            </a:r>
          </a:p>
          <a:p>
            <a:pPr>
              <a:defRPr sz="3600"/>
            </a:pPr>
            <a:r>
              <a:rPr lang="ru-RU" dirty="0"/>
              <a:t>.\</a:t>
            </a:r>
            <a:r>
              <a:rPr lang="ru-RU" dirty="0" err="1"/>
              <a:t>LocalAdmin</a:t>
            </a:r>
            <a:endParaRPr lang="ru-RU" dirty="0"/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После выхода из домена доменный вход станет недоступен.</a:t>
            </a:r>
          </a:p>
          <a:p>
            <a:pPr>
              <a:defRPr sz="3600"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4947401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55C72A-AA33-5174-C39C-C5812086CB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643DAE7-1C03-0340-6912-68EDEEDE679D}"/>
              </a:ext>
            </a:extLst>
          </p:cNvPr>
          <p:cNvSpPr txBox="1"/>
          <p:nvPr/>
        </p:nvSpPr>
        <p:spPr>
          <a:xfrm>
            <a:off x="457200" y="471947"/>
            <a:ext cx="10972800" cy="6135329"/>
          </a:xfrm>
          <a:prstGeom prst="rect">
            <a:avLst/>
          </a:prstGeom>
          <a:noFill/>
        </p:spPr>
        <p:txBody>
          <a:bodyPr wrap="square">
            <a:normAutofit fontScale="62500" lnSpcReduction="20000"/>
          </a:bodyPr>
          <a:lstStyle/>
          <a:p>
            <a:pPr algn="ctr">
              <a:defRPr sz="3600"/>
            </a:pPr>
            <a:r>
              <a:rPr lang="ru-RU" b="1" dirty="0"/>
              <a:t>Вывод компьютера из домена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b="1" dirty="0"/>
              <a:t>Через свойства системы:</a:t>
            </a:r>
          </a:p>
          <a:p>
            <a:pPr>
              <a:defRPr sz="3600"/>
            </a:pPr>
            <a:r>
              <a:rPr lang="en-US" dirty="0"/>
              <a:t>→ </a:t>
            </a:r>
            <a:r>
              <a:rPr lang="en-US" dirty="0" err="1"/>
              <a:t>sysdm.cpl</a:t>
            </a:r>
            <a:endParaRPr lang="en-US" dirty="0"/>
          </a:p>
          <a:p>
            <a:pPr>
              <a:defRPr sz="3600"/>
            </a:pPr>
            <a:r>
              <a:rPr lang="en-US" dirty="0"/>
              <a:t>→ </a:t>
            </a:r>
            <a:r>
              <a:rPr lang="ru-RU" dirty="0"/>
              <a:t>Имя компьютера</a:t>
            </a:r>
          </a:p>
          <a:p>
            <a:pPr>
              <a:defRPr sz="3600"/>
            </a:pPr>
            <a:r>
              <a:rPr lang="ru-RU" dirty="0"/>
              <a:t>→ Изменить</a:t>
            </a:r>
          </a:p>
          <a:p>
            <a:pPr>
              <a:defRPr sz="3600"/>
            </a:pPr>
            <a:r>
              <a:rPr lang="ru-RU" dirty="0"/>
              <a:t>→ Рабочая группа</a:t>
            </a:r>
          </a:p>
          <a:p>
            <a:pPr>
              <a:defRPr sz="3600"/>
            </a:pPr>
            <a:r>
              <a:rPr lang="ru-RU" dirty="0"/>
              <a:t>→ </a:t>
            </a:r>
            <a:r>
              <a:rPr lang="en-US" dirty="0"/>
              <a:t>WORKGROUP</a:t>
            </a:r>
          </a:p>
          <a:p>
            <a:pPr>
              <a:defRPr sz="3600"/>
            </a:pPr>
            <a:endParaRPr lang="en-US" dirty="0"/>
          </a:p>
          <a:p>
            <a:pPr>
              <a:defRPr sz="3600"/>
            </a:pPr>
            <a:r>
              <a:rPr lang="en-US" b="1" dirty="0"/>
              <a:t>PowerShell:</a:t>
            </a:r>
          </a:p>
          <a:p>
            <a:pPr>
              <a:defRPr sz="3600"/>
            </a:pPr>
            <a:r>
              <a:rPr lang="en-US" dirty="0">
                <a:solidFill>
                  <a:srgbClr val="002060"/>
                </a:solidFill>
              </a:rPr>
              <a:t>Remove-Computer `</a:t>
            </a:r>
          </a:p>
          <a:p>
            <a:pPr>
              <a:defRPr sz="3600"/>
            </a:pPr>
            <a:r>
              <a:rPr lang="en-US" dirty="0">
                <a:solidFill>
                  <a:srgbClr val="002060"/>
                </a:solidFill>
              </a:rPr>
              <a:t>    -</a:t>
            </a:r>
            <a:r>
              <a:rPr lang="en-US" dirty="0" err="1">
                <a:solidFill>
                  <a:srgbClr val="002060"/>
                </a:solidFill>
              </a:rPr>
              <a:t>WorkgroupName</a:t>
            </a:r>
            <a:r>
              <a:rPr lang="en-US" dirty="0">
                <a:solidFill>
                  <a:srgbClr val="002060"/>
                </a:solidFill>
              </a:rPr>
              <a:t> "WORKGROUP" `</a:t>
            </a:r>
          </a:p>
          <a:p>
            <a:pPr>
              <a:defRPr sz="3600"/>
            </a:pPr>
            <a:r>
              <a:rPr lang="en-US" dirty="0">
                <a:solidFill>
                  <a:srgbClr val="002060"/>
                </a:solidFill>
              </a:rPr>
              <a:t>    -Credential (Get-Credential) `</a:t>
            </a:r>
          </a:p>
          <a:p>
            <a:pPr>
              <a:defRPr sz="3600"/>
            </a:pPr>
            <a:r>
              <a:rPr lang="en-US" dirty="0">
                <a:solidFill>
                  <a:srgbClr val="002060"/>
                </a:solidFill>
              </a:rPr>
              <a:t>    -Restart</a:t>
            </a:r>
          </a:p>
          <a:p>
            <a:pPr>
              <a:defRPr sz="3600"/>
            </a:pPr>
            <a:endParaRPr lang="en-US" dirty="0"/>
          </a:p>
          <a:p>
            <a:pPr>
              <a:defRPr sz="3600"/>
            </a:pPr>
            <a:r>
              <a:rPr lang="ru-RU" dirty="0"/>
              <a:t>После перезагрузки входят под локальной учётной записью:</a:t>
            </a:r>
          </a:p>
          <a:p>
            <a:pPr>
              <a:defRPr sz="3600"/>
            </a:pPr>
            <a:r>
              <a:rPr lang="ru-RU" dirty="0"/>
              <a:t>.\</a:t>
            </a:r>
            <a:r>
              <a:rPr lang="en-US" dirty="0" err="1"/>
              <a:t>LocalAdmin</a:t>
            </a:r>
            <a:endParaRPr lang="en-US" dirty="0"/>
          </a:p>
          <a:p>
            <a:pPr>
              <a:defRPr sz="3600"/>
            </a:pPr>
            <a:endParaRPr lang="en-US" dirty="0"/>
          </a:p>
          <a:p>
            <a:pPr>
              <a:defRPr sz="3600"/>
            </a:pPr>
            <a:r>
              <a:rPr lang="ru-RU" dirty="0"/>
              <a:t>Компьютер перестаёт получать доменные </a:t>
            </a:r>
            <a:r>
              <a:rPr lang="en-US" dirty="0"/>
              <a:t>GPO </a:t>
            </a:r>
            <a:r>
              <a:rPr lang="ru-RU" dirty="0"/>
              <a:t>и использовать доменную аутентификацию.</a:t>
            </a:r>
          </a:p>
          <a:p>
            <a:pPr>
              <a:defRPr sz="3600"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4563936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F0C590-1A03-51AC-77CC-A2B108876F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8651439-F1AF-080F-EAFB-48D8C1C6726A}"/>
              </a:ext>
            </a:extLst>
          </p:cNvPr>
          <p:cNvSpPr txBox="1"/>
          <p:nvPr/>
        </p:nvSpPr>
        <p:spPr>
          <a:xfrm>
            <a:off x="457200" y="471948"/>
            <a:ext cx="10972800" cy="6076336"/>
          </a:xfrm>
          <a:prstGeom prst="rect">
            <a:avLst/>
          </a:prstGeom>
          <a:noFill/>
        </p:spPr>
        <p:txBody>
          <a:bodyPr wrap="square">
            <a:normAutofit fontScale="62500" lnSpcReduction="20000"/>
          </a:bodyPr>
          <a:lstStyle/>
          <a:p>
            <a:pPr algn="ctr">
              <a:defRPr sz="3600"/>
            </a:pPr>
            <a:r>
              <a:rPr lang="ru-RU" b="1" dirty="0"/>
              <a:t>Повторное присоединение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b="1" dirty="0"/>
              <a:t>Перед присоединением снова проверяют:</a:t>
            </a:r>
          </a:p>
          <a:p>
            <a:pPr>
              <a:defRPr sz="3600"/>
            </a:pPr>
            <a:r>
              <a:rPr lang="en-US" dirty="0"/>
              <a:t>→ DNS</a:t>
            </a:r>
          </a:p>
          <a:p>
            <a:pPr>
              <a:defRPr sz="3600"/>
            </a:pPr>
            <a:r>
              <a:rPr lang="en-US" dirty="0"/>
              <a:t>→ </a:t>
            </a:r>
            <a:r>
              <a:rPr lang="ru-RU" dirty="0"/>
              <a:t>время</a:t>
            </a:r>
          </a:p>
          <a:p>
            <a:pPr>
              <a:defRPr sz="3600"/>
            </a:pPr>
            <a:r>
              <a:rPr lang="ru-RU" dirty="0"/>
              <a:t>→ доступность </a:t>
            </a:r>
            <a:r>
              <a:rPr lang="en-US" dirty="0"/>
              <a:t>DC</a:t>
            </a:r>
          </a:p>
          <a:p>
            <a:pPr>
              <a:defRPr sz="3600"/>
            </a:pPr>
            <a:r>
              <a:rPr lang="en-US" dirty="0"/>
              <a:t>→ </a:t>
            </a:r>
            <a:r>
              <a:rPr lang="ru-RU" dirty="0"/>
              <a:t>разрешение имени домена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b="1" dirty="0"/>
              <a:t>Команды: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en-US" dirty="0">
                <a:solidFill>
                  <a:srgbClr val="002060"/>
                </a:solidFill>
              </a:rPr>
              <a:t>ipconfig /all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en-US" dirty="0" err="1">
                <a:solidFill>
                  <a:srgbClr val="002060"/>
                </a:solidFill>
              </a:rPr>
              <a:t>nslookup</a:t>
            </a:r>
            <a:r>
              <a:rPr lang="en-US" dirty="0">
                <a:solidFill>
                  <a:srgbClr val="002060"/>
                </a:solidFill>
              </a:rPr>
              <a:t> </a:t>
            </a:r>
            <a:r>
              <a:rPr lang="en-US" dirty="0" err="1">
                <a:solidFill>
                  <a:srgbClr val="002060"/>
                </a:solidFill>
              </a:rPr>
              <a:t>corp.local</a:t>
            </a:r>
            <a:endParaRPr lang="en-US" dirty="0">
              <a:solidFill>
                <a:srgbClr val="002060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en-US" dirty="0">
                <a:solidFill>
                  <a:srgbClr val="002060"/>
                </a:solidFill>
              </a:rPr>
              <a:t>ping dc01.corp.local</a:t>
            </a:r>
          </a:p>
          <a:p>
            <a:pPr>
              <a:defRPr sz="3600"/>
            </a:pPr>
            <a:endParaRPr lang="en-US" dirty="0"/>
          </a:p>
          <a:p>
            <a:pPr>
              <a:defRPr sz="3600"/>
            </a:pPr>
            <a:r>
              <a:rPr lang="ru-RU" b="1" dirty="0"/>
              <a:t>Присоединение:</a:t>
            </a:r>
          </a:p>
          <a:p>
            <a:pPr>
              <a:defRPr sz="3600"/>
            </a:pPr>
            <a:r>
              <a:rPr lang="en-US" dirty="0">
                <a:solidFill>
                  <a:srgbClr val="002060"/>
                </a:solidFill>
              </a:rPr>
              <a:t>Add-Computer `</a:t>
            </a:r>
          </a:p>
          <a:p>
            <a:pPr>
              <a:defRPr sz="3600"/>
            </a:pPr>
            <a:r>
              <a:rPr lang="en-US" dirty="0">
                <a:solidFill>
                  <a:srgbClr val="002060"/>
                </a:solidFill>
              </a:rPr>
              <a:t>    -</a:t>
            </a:r>
            <a:r>
              <a:rPr lang="en-US" dirty="0" err="1">
                <a:solidFill>
                  <a:srgbClr val="002060"/>
                </a:solidFill>
              </a:rPr>
              <a:t>DomainName</a:t>
            </a:r>
            <a:r>
              <a:rPr lang="en-US" dirty="0">
                <a:solidFill>
                  <a:srgbClr val="002060"/>
                </a:solidFill>
              </a:rPr>
              <a:t> "</a:t>
            </a:r>
            <a:r>
              <a:rPr lang="en-US" dirty="0" err="1">
                <a:solidFill>
                  <a:srgbClr val="002060"/>
                </a:solidFill>
              </a:rPr>
              <a:t>corp.local</a:t>
            </a:r>
            <a:r>
              <a:rPr lang="en-US" dirty="0">
                <a:solidFill>
                  <a:srgbClr val="002060"/>
                </a:solidFill>
              </a:rPr>
              <a:t>" `</a:t>
            </a:r>
          </a:p>
          <a:p>
            <a:pPr>
              <a:defRPr sz="3600"/>
            </a:pPr>
            <a:r>
              <a:rPr lang="en-US" dirty="0">
                <a:solidFill>
                  <a:srgbClr val="002060"/>
                </a:solidFill>
              </a:rPr>
              <a:t>    -Credential (Get-Credential) `</a:t>
            </a:r>
          </a:p>
          <a:p>
            <a:pPr>
              <a:defRPr sz="3600"/>
            </a:pPr>
            <a:r>
              <a:rPr lang="en-US" dirty="0">
                <a:solidFill>
                  <a:srgbClr val="002060"/>
                </a:solidFill>
              </a:rPr>
              <a:t>    -Restart</a:t>
            </a:r>
          </a:p>
          <a:p>
            <a:pPr>
              <a:defRPr sz="3600"/>
            </a:pPr>
            <a:endParaRPr lang="en-US" dirty="0"/>
          </a:p>
          <a:p>
            <a:pPr>
              <a:defRPr sz="3600"/>
            </a:pPr>
            <a:r>
              <a:rPr lang="ru-RU" b="1" dirty="0"/>
              <a:t>После перезагрузки выполняют доменный вход: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en-US" dirty="0">
                <a:solidFill>
                  <a:srgbClr val="002060"/>
                </a:solidFill>
              </a:rPr>
              <a:t>CORP\User</a:t>
            </a:r>
            <a:endParaRPr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573963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18FE66-D9A9-A178-9010-B9F6BF4A57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125D200-0DB3-06A8-9E8B-4936BADB613D}"/>
              </a:ext>
            </a:extLst>
          </p:cNvPr>
          <p:cNvSpPr txBox="1"/>
          <p:nvPr/>
        </p:nvSpPr>
        <p:spPr>
          <a:xfrm>
            <a:off x="457200" y="471947"/>
            <a:ext cx="10972800" cy="5958349"/>
          </a:xfrm>
          <a:prstGeom prst="rect">
            <a:avLst/>
          </a:prstGeom>
          <a:noFill/>
        </p:spPr>
        <p:txBody>
          <a:bodyPr wrap="square">
            <a:normAutofit fontScale="62500" lnSpcReduction="20000"/>
          </a:bodyPr>
          <a:lstStyle/>
          <a:p>
            <a:pPr algn="ctr">
              <a:defRPr sz="3600"/>
            </a:pPr>
            <a:r>
              <a:rPr lang="ru-RU" b="1" dirty="0"/>
              <a:t>Проверка результата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b="1" dirty="0"/>
              <a:t>Проверить членство в домене:</a:t>
            </a:r>
          </a:p>
          <a:p>
            <a:pPr>
              <a:defRPr sz="3600"/>
            </a:pPr>
            <a:r>
              <a:rPr lang="en-US" dirty="0">
                <a:solidFill>
                  <a:srgbClr val="002060"/>
                </a:solidFill>
              </a:rPr>
              <a:t>Get-</a:t>
            </a:r>
            <a:r>
              <a:rPr lang="en-US" dirty="0" err="1">
                <a:solidFill>
                  <a:srgbClr val="002060"/>
                </a:solidFill>
              </a:rPr>
              <a:t>ComputerInfo</a:t>
            </a:r>
            <a:r>
              <a:rPr lang="en-US" dirty="0">
                <a:solidFill>
                  <a:srgbClr val="002060"/>
                </a:solidFill>
              </a:rPr>
              <a:t> |</a:t>
            </a:r>
          </a:p>
          <a:p>
            <a:pPr>
              <a:defRPr sz="3600"/>
            </a:pPr>
            <a:r>
              <a:rPr lang="en-US" dirty="0">
                <a:solidFill>
                  <a:srgbClr val="002060"/>
                </a:solidFill>
              </a:rPr>
              <a:t>    Select-Object CsName, </a:t>
            </a:r>
            <a:r>
              <a:rPr lang="en-US" dirty="0" err="1">
                <a:solidFill>
                  <a:srgbClr val="002060"/>
                </a:solidFill>
              </a:rPr>
              <a:t>CsDomain</a:t>
            </a:r>
            <a:r>
              <a:rPr lang="en-US" dirty="0">
                <a:solidFill>
                  <a:srgbClr val="002060"/>
                </a:solidFill>
              </a:rPr>
              <a:t>, </a:t>
            </a:r>
            <a:r>
              <a:rPr lang="en-US" dirty="0" err="1">
                <a:solidFill>
                  <a:srgbClr val="002060"/>
                </a:solidFill>
              </a:rPr>
              <a:t>CsPartOfDomain</a:t>
            </a:r>
            <a:endParaRPr lang="en-US" dirty="0">
              <a:solidFill>
                <a:srgbClr val="002060"/>
              </a:solidFill>
            </a:endParaRPr>
          </a:p>
          <a:p>
            <a:pPr>
              <a:defRPr sz="3600"/>
            </a:pPr>
            <a:endParaRPr lang="en-US" dirty="0"/>
          </a:p>
          <a:p>
            <a:pPr>
              <a:defRPr sz="3600"/>
            </a:pPr>
            <a:r>
              <a:rPr lang="ru-RU" b="1" dirty="0"/>
              <a:t>Проверить </a:t>
            </a:r>
            <a:r>
              <a:rPr lang="en-US" b="1" dirty="0"/>
              <a:t>Secure Channel:</a:t>
            </a:r>
          </a:p>
          <a:p>
            <a:pPr>
              <a:defRPr sz="3600"/>
            </a:pPr>
            <a:r>
              <a:rPr lang="en-US" dirty="0"/>
              <a:t>Test-</a:t>
            </a:r>
            <a:r>
              <a:rPr lang="en-US" dirty="0" err="1"/>
              <a:t>ComputerSecureChannel</a:t>
            </a:r>
            <a:endParaRPr lang="en-US" dirty="0"/>
          </a:p>
          <a:p>
            <a:pPr>
              <a:defRPr sz="3600"/>
            </a:pPr>
            <a:endParaRPr lang="en-US" dirty="0"/>
          </a:p>
          <a:p>
            <a:pPr>
              <a:defRPr sz="3600"/>
            </a:pPr>
            <a:r>
              <a:rPr lang="ru-RU" b="1" dirty="0"/>
              <a:t>Проверить пользователя и </a:t>
            </a:r>
            <a:r>
              <a:rPr lang="en-US" b="1" dirty="0"/>
              <a:t>GPO: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en-US" dirty="0" err="1">
                <a:solidFill>
                  <a:srgbClr val="002060"/>
                </a:solidFill>
              </a:rPr>
              <a:t>whoami</a:t>
            </a:r>
            <a:endParaRPr lang="en-US" dirty="0">
              <a:solidFill>
                <a:srgbClr val="002060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en-US" dirty="0" err="1">
                <a:solidFill>
                  <a:srgbClr val="002060"/>
                </a:solidFill>
              </a:rPr>
              <a:t>gpupdate</a:t>
            </a:r>
            <a:r>
              <a:rPr lang="en-US" dirty="0">
                <a:solidFill>
                  <a:srgbClr val="002060"/>
                </a:solidFill>
              </a:rPr>
              <a:t> /force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en-US" dirty="0" err="1">
                <a:solidFill>
                  <a:srgbClr val="002060"/>
                </a:solidFill>
              </a:rPr>
              <a:t>gpresult</a:t>
            </a:r>
            <a:r>
              <a:rPr lang="en-US" dirty="0">
                <a:solidFill>
                  <a:srgbClr val="002060"/>
                </a:solidFill>
              </a:rPr>
              <a:t> /r</a:t>
            </a:r>
          </a:p>
          <a:p>
            <a:pPr>
              <a:defRPr sz="3600"/>
            </a:pPr>
            <a:endParaRPr lang="en-US" dirty="0"/>
          </a:p>
          <a:p>
            <a:pPr>
              <a:defRPr sz="3600"/>
            </a:pPr>
            <a:r>
              <a:rPr lang="ru-RU" b="1" dirty="0"/>
              <a:t>Также проверяют: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объект компьютера в </a:t>
            </a:r>
            <a:r>
              <a:rPr lang="en-US" dirty="0"/>
              <a:t>Active Directory;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доменный вход;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получение </a:t>
            </a:r>
            <a:r>
              <a:rPr lang="en-US" dirty="0"/>
              <a:t>GPO;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доступ к </a:t>
            </a:r>
            <a:r>
              <a:rPr lang="en-US" dirty="0"/>
              <a:t>SMB-</a:t>
            </a:r>
            <a:r>
              <a:rPr lang="ru-RU" dirty="0"/>
              <a:t>ресурсам;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работу </a:t>
            </a:r>
            <a:r>
              <a:rPr lang="en-US" dirty="0"/>
              <a:t>RDP </a:t>
            </a:r>
            <a:r>
              <a:rPr lang="ru-RU" dirty="0"/>
              <a:t>и корпоративных приложений.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1094157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B41AA2-C82E-96E8-8280-A0207058A2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B6E2151-9D73-E4BA-300B-70D97969521C}"/>
              </a:ext>
            </a:extLst>
          </p:cNvPr>
          <p:cNvSpPr txBox="1"/>
          <p:nvPr/>
        </p:nvSpPr>
        <p:spPr>
          <a:xfrm>
            <a:off x="457200" y="471948"/>
            <a:ext cx="10972800" cy="56545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rPr dirty="0" err="1"/>
              <a:t>рабочей</a:t>
            </a:r>
            <a:endParaRPr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D943BDA-9D72-61F1-EBC2-297F2CF617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170102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Итоги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545394"/>
          </a:xfrm>
          <a:prstGeom prst="rect">
            <a:avLst/>
          </a:prstGeom>
          <a:noFill/>
        </p:spPr>
        <p:txBody>
          <a:bodyPr wrap="square">
            <a:normAutofit fontScale="62500" lnSpcReduction="20000"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Домен обеспечивает централизованное управление пользователями, компьютерами и политиками.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Перед присоединением компьютера проверяют редакцию Windows, DNS, время и доступность контроллера домена.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Локальная и доменная учётные записи — разные объекты, даже если имеют одинаковое имя.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Административные права на клиентских ПК рекомендуется назначать через доменные группы.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Secure Channel подтверждает доверие между компьютером и доменом.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Получение GPO проверяют командами </a:t>
            </a:r>
            <a:r>
              <a:rPr lang="ru-RU" dirty="0" err="1"/>
              <a:t>gpupdate</a:t>
            </a:r>
            <a:r>
              <a:rPr lang="ru-RU" dirty="0"/>
              <a:t> и </a:t>
            </a:r>
            <a:r>
              <a:rPr lang="ru-RU" dirty="0" err="1"/>
              <a:t>gpresult</a:t>
            </a:r>
            <a:r>
              <a:rPr lang="ru-RU"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Доступ к SMB-ресурсу зависит от сети, порта 445, учётной записи и разрешений </a:t>
            </a:r>
            <a:r>
              <a:rPr lang="ru-RU" dirty="0" err="1"/>
              <a:t>Share</a:t>
            </a:r>
            <a:r>
              <a:rPr lang="ru-RU" dirty="0"/>
              <a:t> и NTFS.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Удалённая помощь применяется для совместной поддержки, RDP — для удалённого входа.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Перед выводом компьютера из домена обязательно проверяют локальную административную учётную запись.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После изменений проверяют доменный вход, Secure Channel, GPO и доступ к корпоративным ресурсам.</a:t>
            </a:r>
            <a:endParaRPr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Контрольные вопросы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501148"/>
          </a:xfrm>
          <a:prstGeom prst="rect">
            <a:avLst/>
          </a:prstGeom>
          <a:noFill/>
        </p:spPr>
        <p:txBody>
          <a:bodyPr wrap="square">
            <a:normAutofit fontScale="85000" lnSpcReduction="10000"/>
          </a:bodyPr>
          <a:lstStyle/>
          <a:p>
            <a:pPr marL="742950" indent="-742950">
              <a:buFont typeface="+mj-lt"/>
              <a:buAutoNum type="arabicPeriod"/>
              <a:defRPr sz="3600"/>
            </a:pPr>
            <a:r>
              <a:rPr lang="ru-RU" dirty="0"/>
              <a:t>Чем рабочая группа отличается от домена?</a:t>
            </a:r>
          </a:p>
          <a:p>
            <a:pPr marL="742950" indent="-742950">
              <a:buFont typeface="+mj-lt"/>
              <a:buAutoNum type="arabicPeriod"/>
              <a:defRPr sz="3600"/>
            </a:pPr>
            <a:r>
              <a:rPr lang="ru-RU" dirty="0"/>
              <a:t>Какие редакции Windows можно присоединить к домену?</a:t>
            </a:r>
          </a:p>
          <a:p>
            <a:pPr marL="742950" indent="-742950">
              <a:buFont typeface="+mj-lt"/>
              <a:buAutoNum type="arabicPeriod"/>
              <a:defRPr sz="3600"/>
            </a:pPr>
            <a:r>
              <a:rPr lang="ru-RU" dirty="0"/>
              <a:t>Что необходимо проверить перед присоединением компьютера?</a:t>
            </a:r>
          </a:p>
          <a:p>
            <a:pPr marL="742950" indent="-742950">
              <a:buFont typeface="+mj-lt"/>
              <a:buAutoNum type="arabicPeriod"/>
              <a:defRPr sz="3600"/>
            </a:pPr>
            <a:r>
              <a:rPr lang="ru-RU" dirty="0"/>
              <a:t>Чем Domain User отличается от Local User?</a:t>
            </a:r>
          </a:p>
          <a:p>
            <a:pPr marL="742950" indent="-742950">
              <a:buFont typeface="+mj-lt"/>
              <a:buAutoNum type="arabicPeriod"/>
              <a:defRPr sz="3600"/>
            </a:pPr>
            <a:r>
              <a:rPr lang="ru-RU" dirty="0"/>
              <a:t>Для чего используется локальная группа </a:t>
            </a:r>
            <a:r>
              <a:rPr lang="ru-RU" dirty="0" err="1"/>
              <a:t>Administrators</a:t>
            </a:r>
            <a:r>
              <a:rPr lang="ru-RU" dirty="0"/>
              <a:t>?</a:t>
            </a:r>
          </a:p>
          <a:p>
            <a:pPr marL="742950" indent="-742950">
              <a:buFont typeface="+mj-lt"/>
              <a:buAutoNum type="arabicPeriod"/>
              <a:defRPr sz="3600"/>
            </a:pPr>
            <a:r>
              <a:rPr lang="ru-RU" dirty="0"/>
              <a:t>Что показывает команда Test-</a:t>
            </a:r>
            <a:r>
              <a:rPr lang="ru-RU" dirty="0" err="1"/>
              <a:t>ComputerSecureChannel</a:t>
            </a:r>
            <a:r>
              <a:rPr lang="ru-RU" dirty="0"/>
              <a:t>?</a:t>
            </a:r>
          </a:p>
          <a:p>
            <a:pPr marL="742950" indent="-742950">
              <a:buFont typeface="+mj-lt"/>
              <a:buAutoNum type="arabicPeriod"/>
              <a:defRPr sz="3600"/>
            </a:pPr>
            <a:r>
              <a:rPr lang="ru-RU" dirty="0"/>
              <a:t>Чем отличаются команды </a:t>
            </a:r>
            <a:r>
              <a:rPr lang="ru-RU" dirty="0" err="1"/>
              <a:t>gpupdate</a:t>
            </a:r>
            <a:r>
              <a:rPr lang="ru-RU" dirty="0"/>
              <a:t> и </a:t>
            </a:r>
            <a:r>
              <a:rPr lang="ru-RU" dirty="0" err="1"/>
              <a:t>gpresult</a:t>
            </a:r>
            <a:r>
              <a:rPr lang="ru-RU" dirty="0"/>
              <a:t>?</a:t>
            </a:r>
          </a:p>
          <a:p>
            <a:pPr marL="742950" indent="-742950">
              <a:buFont typeface="+mj-lt"/>
              <a:buAutoNum type="arabicPeriod"/>
              <a:defRPr sz="3600"/>
            </a:pPr>
            <a:r>
              <a:rPr lang="ru-RU" dirty="0"/>
              <a:t>Какие условия необходимы для доступа к SMB-ресурсу?</a:t>
            </a:r>
          </a:p>
          <a:p>
            <a:pPr marL="742950" indent="-742950">
              <a:buFont typeface="+mj-lt"/>
              <a:buAutoNum type="arabicPeriod"/>
              <a:defRPr sz="3600"/>
            </a:pPr>
            <a:r>
              <a:rPr lang="ru-RU" dirty="0"/>
              <a:t>Чем удалённая помощь отличается от RDP?</a:t>
            </a:r>
          </a:p>
          <a:p>
            <a:pPr marL="742950" indent="-742950">
              <a:buFont typeface="+mj-lt"/>
              <a:buAutoNum type="arabicPeriod"/>
              <a:defRPr sz="3600"/>
            </a:pPr>
            <a:r>
              <a:rPr lang="ru-RU" dirty="0"/>
              <a:t>Что нужно проверить перед выводом компьютера из домена?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</TotalTime>
  <Words>3529</Words>
  <Application>Microsoft Office PowerPoint</Application>
  <PresentationFormat>Широкоэкранный</PresentationFormat>
  <Paragraphs>886</Paragraphs>
  <Slides>66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66</vt:i4>
      </vt:variant>
    </vt:vector>
  </HeadingPairs>
  <TitlesOfParts>
    <vt:vector size="69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user</dc:creator>
  <cp:keywords/>
  <dc:description>generated using python-pptx</dc:description>
  <cp:lastModifiedBy>user</cp:lastModifiedBy>
  <cp:revision>6</cp:revision>
  <dcterms:created xsi:type="dcterms:W3CDTF">2013-01-27T09:14:16Z</dcterms:created>
  <dcterms:modified xsi:type="dcterms:W3CDTF">2026-08-02T07:27:48Z</dcterms:modified>
  <cp:category/>
</cp:coreProperties>
</file>