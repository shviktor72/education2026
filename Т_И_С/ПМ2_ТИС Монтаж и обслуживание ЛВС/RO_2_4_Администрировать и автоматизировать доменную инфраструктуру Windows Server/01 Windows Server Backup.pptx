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7691" y="1760958"/>
            <a:ext cx="945181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1. </a:t>
            </a:r>
            <a:r>
              <a:rPr dirty="0" err="1"/>
              <a:t>Резервное</a:t>
            </a:r>
            <a:r>
              <a:rPr dirty="0"/>
              <a:t> </a:t>
            </a:r>
            <a:r>
              <a:rPr dirty="0" err="1"/>
              <a:t>копирование</a:t>
            </a:r>
            <a:r>
              <a:rPr dirty="0"/>
              <a:t> Windows Server: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Windows Server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Различать backup, replication, RAID, snapshot и Shadow Copies по назначению и рискам</a:t>
            </a:r>
          </a:p>
          <a:p>
            <a:pPr>
              <a:defRPr sz="3600"/>
            </a:pPr>
            <a:r>
              <a:t>Настраивать Windows Server Backup для тома, файловых данных и System State</a:t>
            </a:r>
          </a:p>
          <a:p>
            <a:pPr>
              <a:defRPr sz="3600"/>
            </a:pPr>
            <a:r>
              <a:t>Проверять VSS Writers, ход задания, версии backup и журналы Windows Server Backup</a:t>
            </a:r>
          </a:p>
          <a:p>
            <a:pPr>
              <a:defRPr sz="3600"/>
            </a:pPr>
            <a:r>
              <a:t>Выполнять безопасный file restore в альтернативный каталог с проверкой hash и ACL</a:t>
            </a:r>
          </a:p>
          <a:p>
            <a:pPr>
              <a:defRPr sz="3600"/>
            </a:pPr>
            <a:r>
              <a:t>Объяснять границы AD Recycle Bin, System State Restore и Bare Metal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Backup, replication, RAID, snapshot и Shadow Copies; full/incremental, 3-2-1, RPO и RTO.</a:t>
            </a:r>
          </a:p>
          <a:p>
            <a:pPr>
              <a:defRPr sz="3600"/>
            </a:pPr>
            <a:r>
              <a:t>2. Windows Server Backup: файлы, папки, тома, сервер, VSS, System State.</a:t>
            </a:r>
          </a:p>
          <a:p>
            <a:pPr>
              <a:defRPr sz="3600"/>
            </a:pPr>
            <a:r>
              <a:t>3. Разовые и плановые задания, места хранения и журналы.</a:t>
            </a:r>
          </a:p>
          <a:p>
            <a:pPr>
              <a:defRPr sz="3600"/>
            </a:pPr>
            <a:r>
              <a:t>4. Восстановление файлов, тома и системы; AD Recycle Bin и System State.</a:t>
            </a:r>
          </a:p>
          <a:p>
            <a:pPr>
              <a:defRPr sz="3600"/>
            </a:pPr>
            <a:r>
              <a:t>5. Проверка фактической возможности восстановления.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FS01 хранит общий ресурс D:\Shares с пользовательскими файлами</a:t>
            </a:r>
          </a:p>
          <a:p>
            <a:pPr>
              <a:defRPr sz="3600"/>
            </a:pPr>
            <a:r>
              <a:t>DC01 обслуживает домен corp.test и содержит тестового пользователя ipetrov</a:t>
            </a:r>
          </a:p>
          <a:p>
            <a:pPr>
              <a:defRPr sz="3600"/>
            </a:pPr>
            <a:r>
              <a:t>На FS01 добавлен новый пустой виртуальный диск E: для учебного backup target</a:t>
            </a:r>
          </a:p>
          <a:p>
            <a:pPr>
              <a:defRPr sz="3600"/>
            </a:pPr>
            <a:r>
              <a:t>Студент создает тестовый файл, сохраняет hash, выполняет backup и восстанавливает файл</a:t>
            </a:r>
          </a:p>
          <a:p>
            <a:pPr>
              <a:defRPr sz="3600"/>
            </a:pPr>
            <a:r>
              <a:t>Для DC01 разбираются AD Recycle Bin, System State Backup и ограничения восстановления домена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Backup нужен для восстановления, а не для красивого отчета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— резервная копия данных или состояния системы, из которой можно выполнить restore</a:t>
            </a:r>
          </a:p>
          <a:p>
            <a:pPr>
              <a:defRPr sz="3600"/>
            </a:pPr>
            <a:r>
              <a:t>Restore — восстановление файла, тома, роли, системного состояния или всего сервера</a:t>
            </a:r>
          </a:p>
          <a:p>
            <a:pPr>
              <a:defRPr sz="3600"/>
            </a:pPr>
            <a:r>
              <a:t>Администратор заранее определяет объект защиты, периодичность, место хранения и способ проверки</a:t>
            </a:r>
          </a:p>
          <a:p>
            <a:pPr>
              <a:defRPr sz="3600"/>
            </a:pPr>
            <a:r>
              <a:t>Если восстановление не проверялось, backup остается предположением, а не гарантией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RAID, replication, snapshot, Shadow Copies и backup закрывают разные риски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RAID защищает от отказа диска, но не от удаления, шифрования и ошибки администратора</a:t>
            </a:r>
          </a:p>
          <a:p>
            <a:pPr>
              <a:defRPr sz="3600"/>
            </a:pPr>
            <a:r>
              <a:t>Replication помогает быстро получить копию на другом узле, но реплицирует ошибку и удаление</a:t>
            </a:r>
          </a:p>
          <a:p>
            <a:pPr>
              <a:defRPr sz="3600"/>
            </a:pPr>
            <a:r>
              <a:t>Snapshot быстро возвращает состояние к точке времени, но часто хранится рядом с оригиналом</a:t>
            </a:r>
          </a:p>
          <a:p>
            <a:pPr>
              <a:defRPr sz="3600"/>
            </a:pPr>
            <a:r>
              <a:t>Shadow Copies дают Previous Versions, но обычно остаются на том же сервере или хранилище</a:t>
            </a:r>
          </a:p>
          <a:p>
            <a:pPr>
              <a:defRPr sz="3600"/>
            </a:pPr>
            <a:r>
              <a:t>Backup должен переживать потерю исходного тома и быть проверенным через restore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Shadow Copies полезны, но не являются внешней копией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Shadow Copies позволяют пользователю открыть Properties -&gt; Previous Versions</a:t>
            </a:r>
          </a:p>
          <a:p>
            <a:pPr>
              <a:defRPr sz="3600"/>
            </a:pPr>
            <a:r>
              <a:t>Они удобны при случайном удалении или перезаписи файла на файловом сервере</a:t>
            </a:r>
          </a:p>
          <a:p>
            <a:pPr>
              <a:defRPr sz="3600"/>
            </a:pPr>
            <a:r>
              <a:t>Повреждение тома может уничтожить и исходный файл, и его теневые копии</a:t>
            </a:r>
          </a:p>
          <a:p>
            <a:pPr>
              <a:defRPr sz="3600"/>
            </a:pPr>
            <a:r>
              <a:t>Retention Shadow Copies зависит от выделенного места и может быть короче ожиданий пользователя</a:t>
            </a:r>
          </a:p>
          <a:p>
            <a:pPr>
              <a:defRPr sz="3600"/>
            </a:pPr>
            <a:r>
              <a:t>Иерархия восстановления: Previous Versions -&gt; File Restore -&gt; Volume Restore -&gt; Bare Metal Recovery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RPO и RTO задают измеримые требования к восстановлению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RPO (Recovery Point Objective) — допустимая потеря данных по времени</a:t>
            </a:r>
          </a:p>
          <a:p>
            <a:pPr>
              <a:defRPr sz="3600"/>
            </a:pPr>
            <a:r>
              <a:t>RTO (Recovery Time Objective) — допустимое время простоя до восстановления сервиса</a:t>
            </a:r>
          </a:p>
          <a:p>
            <a:pPr>
              <a:defRPr sz="3600"/>
            </a:pPr>
            <a:r>
              <a:t>Для общего ресурса RPO может быть 24 часа, а для базы данных или почты — меньше</a:t>
            </a:r>
          </a:p>
          <a:p>
            <a:pPr>
              <a:defRPr sz="3600"/>
            </a:pPr>
            <a:r>
              <a:t>Расписание backup выбирают по требованиям к данным, а не по удобству администратора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Правило 3-2-1 требует независимости копий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3 копии: рабочие данные и две резервные копии</a:t>
            </a:r>
          </a:p>
          <a:p>
            <a:pPr>
              <a:defRPr sz="3600"/>
            </a:pPr>
            <a:r>
              <a:t>2 разных носителя или типа хранения уменьшают зависимость от одного сбоя</a:t>
            </a:r>
          </a:p>
          <a:p>
            <a:pPr>
              <a:defRPr sz="3600"/>
            </a:pPr>
            <a:r>
              <a:t>1 копия вне основного сервера защищает от потери всей машины или хранилища</a:t>
            </a:r>
          </a:p>
          <a:p>
            <a:pPr>
              <a:defRPr sz="3600"/>
            </a:pPr>
            <a:r>
              <a:t>Диск E: внутри той же ВМ подходит для изучения механики WSB, но не является полноценной внешней копией</a:t>
            </a:r>
          </a:p>
          <a:p>
            <a:pPr>
              <a:defRPr sz="3600"/>
            </a:pPr>
            <a:r>
              <a:t>Для реального приближения к 3-2-1 нужна независимая или неизменяемая копия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Full, incremental и retention нужно связывать с восстановлением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Full backup содержит полную точку восстановления выбранного объекта</a:t>
            </a:r>
          </a:p>
          <a:p>
            <a:pPr>
              <a:defRPr sz="3600"/>
            </a:pPr>
            <a:r>
              <a:t>Incremental backup хранит изменения после предыдущей точки и экономит место</a:t>
            </a:r>
          </a:p>
          <a:p>
            <a:pPr>
              <a:defRPr sz="3600"/>
            </a:pPr>
            <a:r>
              <a:t>Retention определяет, сколько версий доступно для восстановления</a:t>
            </a:r>
          </a:p>
          <a:p>
            <a:pPr>
              <a:defRPr sz="3600"/>
            </a:pPr>
            <a:r>
              <a:t>Если ошибку обнаружили через неделю, хранение только вчерашней копии может не помочь</a:t>
            </a:r>
          </a:p>
          <a:p>
            <a:pPr>
              <a:defRPr sz="3600"/>
            </a:pPr>
            <a:r>
              <a:t>Строгая GFS-retention обычно требует специализированной backup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механизмы защиты данных и их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48B55F-21FA-7DE4-2E67-2BC7ED82B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Windows Server Backup подходит для базовой защиты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Windows Server Backup — штатный компонент Windows Server для резервного копирования и восстановления</a:t>
            </a:r>
          </a:p>
          <a:p>
            <a:pPr>
              <a:defRPr sz="3600"/>
            </a:pPr>
            <a:r>
              <a:t>Он подходит для файлов, папок, томов, System State и отдельных локальных серверов</a:t>
            </a:r>
          </a:p>
          <a:p>
            <a:pPr>
              <a:defRPr sz="3600"/>
            </a:pPr>
            <a:r>
              <a:t>На FS01 надежнее демонстрировать backup всего тома D:, где расположен D:\Shares</a:t>
            </a:r>
          </a:p>
          <a:p>
            <a:pPr>
              <a:defRPr sz="3600"/>
            </a:pPr>
            <a:r>
              <a:t>Если нужно копировать только D:\Shares, поддержку такого сценария проверяют на конкретной версии Windows Server</a:t>
            </a:r>
          </a:p>
          <a:p>
            <a:pPr>
              <a:defRPr sz="3600"/>
            </a:pPr>
            <a:r>
              <a:t>Для крупных Hyper-V, Exchange, SQL и распределенных систем WSB не заменяет корпоративную backup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Windows Server Backup имеет важные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Нет полноценного централизованного управления большим числом серверов</a:t>
            </a:r>
          </a:p>
          <a:p>
            <a:pPr>
              <a:defRPr sz="3600"/>
            </a:pPr>
            <a:r>
              <a:t>Reporting и alerting ограничены по сравнению со специализированными системами</a:t>
            </a:r>
          </a:p>
          <a:p>
            <a:pPr>
              <a:defRPr sz="3600"/>
            </a:pPr>
            <a:r>
              <a:t>Retention зависит от выбранного backup target и не всегда задается как простая политика</a:t>
            </a:r>
          </a:p>
          <a:p>
            <a:pPr>
              <a:defRPr sz="3600"/>
            </a:pPr>
            <a:r>
              <a:t>Application-aware management ограничен возможностями VSS и конкретной роли</a:t>
            </a:r>
          </a:p>
          <a:p>
            <a:pPr>
              <a:defRPr sz="3600"/>
            </a:pPr>
            <a:r>
              <a:t>Для Exchange, SQL и больших Hyper-V-сред часто используют специализированные решения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target выбирают до запуска задания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Локальный выделенный диск удобен для первой лаборатории, но может быть переформатирован и скрыт WSB</a:t>
            </a:r>
          </a:p>
          <a:p>
            <a:pPr>
              <a:defRPr sz="3600"/>
            </a:pPr>
            <a:r>
              <a:t>Обычный том проще показать студентам, но его нельзя считать полноценной внешней копией</a:t>
            </a:r>
          </a:p>
          <a:p>
            <a:pPr>
              <a:defRPr sz="3600"/>
            </a:pPr>
            <a:r>
              <a:t>Network share приближает схему к независимому хранению, но имеет свои ограничения по версиям</a:t>
            </a:r>
          </a:p>
          <a:p>
            <a:pPr>
              <a:defRPr sz="3600"/>
            </a:pPr>
            <a:r>
              <a:t>Перед выбором target нужно убедиться, что на нем нет важных данных</a:t>
            </a:r>
          </a:p>
          <a:p>
            <a:pPr>
              <a:defRPr sz="3600"/>
            </a:pPr>
            <a:r>
              <a:t>Способ хранения влияет на количество версий, автоматическое управление местом и сценарий restore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Новый backup-диск проверяется до назначения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Get-Disk показывает физические и виртуальные диски сервера</a:t>
            </a:r>
          </a:p>
          <a:p>
            <a:pPr>
              <a:defRPr sz="3600"/>
            </a:pPr>
            <a:r>
              <a:t>На FS01: Get-Disk</a:t>
            </a:r>
          </a:p>
          <a:p>
            <a:pPr>
              <a:defRPr sz="3600"/>
            </a:pPr>
            <a:r>
              <a:t>Команда Get-Volume показывает буквы, файловые системы и свободное место томов</a:t>
            </a:r>
          </a:p>
          <a:p>
            <a:pPr>
              <a:defRPr sz="3600"/>
            </a:pPr>
            <a:r>
              <a:t>На FS01: Get-Volume</a:t>
            </a:r>
          </a:p>
          <a:p>
            <a:pPr>
              <a:defRPr sz="3600"/>
            </a:pPr>
            <a:r>
              <a:t>Если диск содержит важные данные, его нельзя использовать как учебный backup target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VSS готовит согласованную точку копирования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VSS (Volume Shadow Copy Service) — служба Windows для создания согласованных снимков данных</a:t>
            </a:r>
          </a:p>
          <a:p>
            <a:pPr>
              <a:defRPr sz="3600"/>
            </a:pPr>
            <a:r>
              <a:t>VSS Service координирует процесс создания снимка</a:t>
            </a:r>
          </a:p>
          <a:p>
            <a:pPr>
              <a:defRPr sz="3600"/>
            </a:pPr>
            <a:r>
              <a:t>VSS Provider создает snapshot на уровне хранилища или системы</a:t>
            </a:r>
          </a:p>
          <a:p>
            <a:pPr>
              <a:defRPr sz="3600"/>
            </a:pPr>
            <a:r>
              <a:t>VSS Writer приложения подготавливает данные конкретной роли или приложения</a:t>
            </a:r>
          </a:p>
          <a:p>
            <a:pPr>
              <a:defRPr sz="3600"/>
            </a:pPr>
            <a:r>
              <a:t>Backup Application, например Windows Server Backup, запускает операцию копирования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VSS Writers нужно проверять перед важным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vssadmin list writers показывает состояние VSS Writers</a:t>
            </a:r>
          </a:p>
          <a:p>
            <a:pPr>
              <a:defRPr sz="3600"/>
            </a:pPr>
            <a:r>
              <a:t>На FS01 или DC01: vssadmin list writers</a:t>
            </a:r>
          </a:p>
          <a:p>
            <a:pPr>
              <a:defRPr sz="3600"/>
            </a:pPr>
            <a:r>
              <a:t>Нормальный признак: State: [1] Stable и Last error: No error</a:t>
            </a:r>
          </a:p>
          <a:p>
            <a:pPr>
              <a:defRPr sz="3600"/>
            </a:pPr>
            <a:r>
              <a:t>Если writer находится в ошибке, backup может завершиться неуспешно или быть непригодным для роли</a:t>
            </a:r>
          </a:p>
          <a:p>
            <a:pPr>
              <a:defRPr sz="3600"/>
            </a:pPr>
            <a:r>
              <a:t>Для файлового ресурса D:\Shares VSS обычно достаточно, но для SQL или Exchange нужна поддерживаемая application-aware процедура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VSS не делает любое приложение автоматически восстанавливаемым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Открытые файлы файлового сервера обычно получают согласованную точку копирования</a:t>
            </a:r>
          </a:p>
          <a:p>
            <a:pPr>
              <a:defRPr sz="3600"/>
            </a:pPr>
            <a:r>
              <a:t>Активные базы данных требуют корректного VSS Writer и поддерживаемой процедуры восстановления</a:t>
            </a:r>
          </a:p>
          <a:p>
            <a:pPr>
              <a:defRPr sz="3600"/>
            </a:pPr>
            <a:r>
              <a:t>Простое включение тома с базой данных в backup не гарантирует прикладное восстановление</a:t>
            </a:r>
          </a:p>
          <a:p>
            <a:pPr>
              <a:defRPr sz="3600"/>
            </a:pPr>
            <a:r>
              <a:t>Для этой лекции основной практический объект — файловый ресурс D:\Shares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Компонент Windows Server Backup устанавливается через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Install-WindowsFeature добавляет функцию Windows Server Backup</a:t>
            </a:r>
          </a:p>
          <a:p>
            <a:pPr>
              <a:defRPr sz="3600"/>
            </a:pPr>
            <a:r>
              <a:t>На FS01: Install-WindowsFeature Windows-Server-Backup -IncludeManagementTools</a:t>
            </a:r>
          </a:p>
          <a:p>
            <a:pPr>
              <a:defRPr sz="3600"/>
            </a:pPr>
            <a:r>
              <a:t>Проверка установки: Get-WindowsFeature Windows-Server-Backup</a:t>
            </a:r>
          </a:p>
          <a:p>
            <a:pPr>
              <a:defRPr sz="3600"/>
            </a:pPr>
            <a:r>
              <a:t>Ожидаемый признак: Install State показывает Installed</a:t>
            </a:r>
          </a:p>
          <a:p>
            <a:pPr>
              <a:defRPr sz="3600"/>
            </a:pPr>
            <a:r>
              <a:t>Команды выполняются в PowerShell от имени администратора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Тот же компонент можно установить через Server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GUI-путь: Server Manager -&gt; Manage -&gt; Add Roles and Features</a:t>
            </a:r>
          </a:p>
          <a:p>
            <a:pPr>
              <a:defRPr sz="3600"/>
            </a:pPr>
            <a:r>
              <a:t>В разделе Features выбирается Windows Server Backup</a:t>
            </a:r>
          </a:p>
          <a:p>
            <a:pPr>
              <a:defRPr sz="3600"/>
            </a:pPr>
            <a:r>
              <a:t>После установки открывается Windows Server Backup console</a:t>
            </a:r>
          </a:p>
          <a:p>
            <a:pPr>
              <a:defRPr sz="3600"/>
            </a:pPr>
            <a:r>
              <a:t>GUI полезен для Wizard, а PowerShell — для повторяемой проверки и отчета</a:t>
            </a:r>
          </a:p>
          <a:p>
            <a:pPr>
              <a:defRPr sz="3600"/>
            </a:pPr>
            <a:r>
              <a:t>В лаборатории студент должен уметь объяснить оба способа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Тестовый файл создается до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копированием нужен объект, восстановление которого можно доказать</a:t>
            </a:r>
          </a:p>
          <a:p>
            <a:pPr>
              <a:defRPr sz="3600"/>
            </a:pPr>
            <a:r>
              <a:t>Создание каталога: New-Item -ItemType Directory -Path D:\Shares -Force</a:t>
            </a:r>
          </a:p>
          <a:p>
            <a:pPr>
              <a:defRPr sz="3600"/>
            </a:pPr>
            <a:r>
              <a:t>Создание файла: 'Windows Server Backup test file' | Set-Content D:\Shares\backup-test.txt</a:t>
            </a:r>
          </a:p>
          <a:p>
            <a:pPr>
              <a:defRPr sz="3600"/>
            </a:pPr>
            <a:r>
              <a:t>Контрольная сумма до удаления: Get-FileHash D:\Shares\backup-test.txt</a:t>
            </a:r>
          </a:p>
          <a:p>
            <a:pPr>
              <a:defRPr sz="3600"/>
            </a:pPr>
            <a:r>
              <a:t>Hash, путь, размер и время создания фиксируются в отчете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Разовый backup тома D: надежнее для учебной демонстрации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wbadmin start backup запускает разовое резервное копирование</a:t>
            </a:r>
          </a:p>
          <a:p>
            <a:pPr>
              <a:defRPr sz="3600"/>
            </a:pPr>
            <a:r>
              <a:t>На FS01: wbadmin start backup -backupTarget:E: -include:D: -vssFull -quiet</a:t>
            </a:r>
          </a:p>
          <a:p>
            <a:pPr>
              <a:defRPr sz="3600"/>
            </a:pPr>
            <a:r>
              <a:t>Параметр -include:D: защищает весь том D:, включая D:\Shares</a:t>
            </a:r>
          </a:p>
          <a:p>
            <a:pPr>
              <a:defRPr sz="3600"/>
            </a:pPr>
            <a:r>
              <a:t>Параметр -quiet убирает интерактивные подтверждения</a:t>
            </a:r>
          </a:p>
          <a:p>
            <a:pPr>
              <a:defRPr sz="3600"/>
            </a:pPr>
            <a:r>
              <a:t>Копирование отдельной папки D:\Shares нужно заранее проверить на версии Windows Server стенда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-vssFull и -vssCopy выбирают с пониманием последствий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-vssFull выполняет Full VSS Backup и может обновлять состояние backup для приложений</a:t>
            </a:r>
          </a:p>
          <a:p>
            <a:pPr>
              <a:defRPr sz="3600"/>
            </a:pPr>
            <a:r>
              <a:t>-vssCopy создает копию без изменения истории backup приложения</a:t>
            </a:r>
          </a:p>
          <a:p>
            <a:pPr>
              <a:defRPr sz="3600"/>
            </a:pPr>
            <a:r>
              <a:t>Для обычной лаборатории FS01 допустим -vssFull</a:t>
            </a:r>
          </a:p>
          <a:p>
            <a:pPr>
              <a:defRPr sz="3600"/>
            </a:pPr>
            <a:r>
              <a:t>Если на сервере работает другой backup-продукт, тип VSS backup нужно согласовать</a:t>
            </a:r>
          </a:p>
          <a:p>
            <a:pPr>
              <a:defRPr sz="3600"/>
            </a:pPr>
            <a:r>
              <a:t>Студент должен понимать параметр, а не просто копировать строку команды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Ход задания проверяется отдельно от списка версий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wbadmin get status показывает состояние выполняющегося задания</a:t>
            </a:r>
          </a:p>
          <a:p>
            <a:pPr>
              <a:defRPr sz="3600"/>
            </a:pPr>
            <a:r>
              <a:t>Во время работы: wbadmin get status</a:t>
            </a:r>
          </a:p>
          <a:p>
            <a:pPr>
              <a:defRPr sz="3600"/>
            </a:pPr>
            <a:r>
              <a:t>После завершения версии смотрят отдельно: wbadmin get versions -backupTarget:E:</a:t>
            </a:r>
          </a:p>
          <a:p>
            <a:pPr>
              <a:defRPr sz="3600"/>
            </a:pPr>
            <a:r>
              <a:t>Так администратор отличает выполняющееся задание от завершенного backup</a:t>
            </a:r>
          </a:p>
          <a:p>
            <a:pPr>
              <a:defRPr sz="3600"/>
            </a:pPr>
            <a:r>
              <a:t>Если version не появилась, нужно проверить target, VSS Writers и журнал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Version Identifier нельзя придумывать заранее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wbadmin get versions выводит фактический Version identifier</a:t>
            </a:r>
          </a:p>
          <a:p>
            <a:pPr>
              <a:defRPr sz="3600"/>
            </a:pPr>
            <a:r>
              <a:t>Пример формата: Version identifier: 07/29/2026-18:00</a:t>
            </a:r>
          </a:p>
          <a:p>
            <a:pPr>
              <a:defRPr sz="3600"/>
            </a:pPr>
            <a:r>
              <a:t>Этот идентификатор используется в команде восстановления через параметр -version</a:t>
            </a:r>
          </a:p>
          <a:p>
            <a:pPr>
              <a:defRPr sz="3600"/>
            </a:pPr>
            <a:r>
              <a:t>Значение берут из вывода конкретного сервера, а не из методички</a:t>
            </a:r>
          </a:p>
          <a:p>
            <a:pPr>
              <a:defRPr sz="3600"/>
            </a:pPr>
            <a:r>
              <a:t>В отчете фиксируются target, version, can recover и protected items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Плановый backup лучше настраивать через Wizard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Windows Server Backup Wizard явно показывает source, schedule и target</a:t>
            </a:r>
          </a:p>
          <a:p>
            <a:pPr>
              <a:defRPr sz="3600"/>
            </a:pPr>
            <a:r>
              <a:t>При выборе dedicated backup disk WSB может отформатировать диск и использовать его исключительно под backup</a:t>
            </a:r>
          </a:p>
          <a:p>
            <a:pPr>
              <a:defRPr sz="3600"/>
            </a:pPr>
            <a:r>
              <a:t>Такой диск может перестать отображаться как обычный том с буквой</a:t>
            </a:r>
          </a:p>
          <a:p>
            <a:pPr>
              <a:defRPr sz="3600"/>
            </a:pPr>
            <a:r>
              <a:t>Студент до настройки обязан убедиться, что target пустой и предназначен для лаборатории</a:t>
            </a:r>
          </a:p>
          <a:p>
            <a:pPr>
              <a:defRPr sz="3600"/>
            </a:pPr>
            <a:r>
              <a:t>В отчете фиксируются schedule, source, target и поведение хранения версий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Плановое задание можно показать через wbadmin enable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wbadmin enable backup создает или изменяет расписание WSB</a:t>
            </a:r>
          </a:p>
          <a:p>
            <a:pPr>
              <a:defRPr sz="3600"/>
            </a:pPr>
            <a:r>
              <a:t>Учебный пример для тома D:: wbadmin enable backup -addtarget:E: -schedule:21:00 -include:D: -quiet</a:t>
            </a:r>
          </a:p>
          <a:p>
            <a:pPr>
              <a:defRPr sz="3600"/>
            </a:pPr>
            <a:r>
              <a:t>Перед выполнением проверяют, что E: является утвержденным backup target</a:t>
            </a:r>
          </a:p>
          <a:p>
            <a:pPr>
              <a:defRPr sz="3600"/>
            </a:pPr>
            <a:r>
              <a:t>После настройки проверяют расписание в Windows Server Backup console</a:t>
            </a:r>
          </a:p>
          <a:p>
            <a:pPr>
              <a:defRPr sz="3600"/>
            </a:pPr>
            <a:r>
              <a:t>Если target выбран как выделенный диск, его поведение может отличаться от обычного тома E: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Network share как target имеет особые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Сетевой общий каталог лучше имитирует независимую копию, особенно если расположен на BACKUP01</a:t>
            </a:r>
          </a:p>
          <a:p>
            <a:pPr>
              <a:defRPr sz="3600"/>
            </a:pPr>
            <a:r>
              <a:t>Версионность и автоматическое управление местом отличаются от выделенного локального диска</a:t>
            </a:r>
          </a:p>
          <a:p>
            <a:pPr>
              <a:defRPr sz="3600"/>
            </a:pPr>
            <a:r>
              <a:t>В некоторых сценариях WSB хранит на share более ограниченное число версий</a:t>
            </a:r>
          </a:p>
          <a:p>
            <a:pPr>
              <a:defRPr sz="3600"/>
            </a:pPr>
            <a:r>
              <a:t>Для первой лаборатории проще использовать отдельный локальный виртуальный диск</a:t>
            </a:r>
          </a:p>
          <a:p>
            <a:pPr>
              <a:defRPr sz="3600"/>
            </a:pPr>
            <a:r>
              <a:t>Для объяснения 3-2-1 полезно обзорно показать вариант FS01 -&gt; BACKUP01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Журналы Windows Server Backup находятся в отдельном разделе Event 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GUI-путь: Applications and Services Logs -&gt; Microsoft -&gt; Windows -&gt; Backup -&gt; Operational</a:t>
            </a:r>
          </a:p>
          <a:p>
            <a:pPr>
              <a:defRPr sz="3600"/>
            </a:pPr>
            <a:r>
              <a:t>Также полезно смотреть события VSS и VolSnap</a:t>
            </a:r>
          </a:p>
          <a:p>
            <a:pPr>
              <a:defRPr sz="3600"/>
            </a:pPr>
            <a:r>
              <a:t>Доступные имена журналов проверяются на стенде: Get-WinEvent -ListLog *Backup*</a:t>
            </a:r>
          </a:p>
          <a:p>
            <a:pPr>
              <a:defRPr sz="3600"/>
            </a:pPr>
            <a:r>
              <a:t>Пример чтения последних событий: Get-WinEvent -LogName 'Microsoft-Windows-Backup' -MaxEvents 20</a:t>
            </a:r>
          </a:p>
          <a:p>
            <a:pPr>
              <a:defRPr sz="3600"/>
            </a:pPr>
            <a:r>
              <a:t>Event ID, source, time, final status и protected object важнее одной фразы Success или Warning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Warning в журнале не всегда делает копию бесполезной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Решение принимается по source, Event ID, времени, объекту защиты и final status</a:t>
            </a:r>
          </a:p>
          <a:p>
            <a:pPr>
              <a:defRPr sz="3600"/>
            </a:pPr>
            <a:r>
              <a:t>Некоторые warning не мешают восстановить нужный файл</a:t>
            </a:r>
          </a:p>
          <a:p>
            <a:pPr>
              <a:defRPr sz="3600"/>
            </a:pPr>
            <a:r>
              <a:t>Другие warning означают, что важный компонент или VSS Writer был исключен</a:t>
            </a:r>
          </a:p>
          <a:p>
            <a:pPr>
              <a:defRPr sz="3600"/>
            </a:pPr>
            <a:r>
              <a:t>Итоговая проверка всегда завершается test restore, а не только чтением журнала</a:t>
            </a:r>
          </a:p>
          <a:p>
            <a:pPr>
              <a:defRPr sz="3600"/>
            </a:pPr>
            <a:r>
              <a:t>В отчете нужно объяснить, почему событие принято или требует исправления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Мониторинг backup должен видеть возраст последней успешной копии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Контролируются время последнего успешного backup и возраст последней version</a:t>
            </a:r>
          </a:p>
          <a:p>
            <a:pPr>
              <a:defRPr sz="3600"/>
            </a:pPr>
            <a:r>
              <a:t>Проверяются длительность задания, состояние VSS Writers, доступность target и свободное место</a:t>
            </a:r>
          </a:p>
          <a:p>
            <a:pPr>
              <a:defRPr sz="3600"/>
            </a:pPr>
            <a:r>
              <a:t>Отдельно отслеживаются количество доступных версий и факт последнего test restore</a:t>
            </a:r>
          </a:p>
          <a:p>
            <a:pPr>
              <a:defRPr sz="3600"/>
            </a:pPr>
            <a:r>
              <a:t>Мониторинг можно строить через Event Viewer, PowerShell, Task Scheduler или Zabbix Agent</a:t>
            </a:r>
          </a:p>
          <a:p>
            <a:pPr>
              <a:defRPr sz="3600"/>
            </a:pPr>
            <a:r>
              <a:t>Backup без monitoring часто обнаруживают только после аварии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Восстановление файла начинается с безопасного выбора места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File restore возвращает отдельный файл или папку из выбранной версии backup</a:t>
            </a:r>
          </a:p>
          <a:p>
            <a:pPr>
              <a:defRPr sz="3600"/>
            </a:pPr>
            <a:r>
              <a:t>Первое восстановление выполняют в альтернативный каталог, например C:\Restore-Test</a:t>
            </a:r>
          </a:p>
          <a:p>
            <a:pPr>
              <a:defRPr sz="3600"/>
            </a:pPr>
            <a:r>
              <a:t>Это защищает от перезаписи более новой версии и ошибки выбора backup version</a:t>
            </a:r>
          </a:p>
          <a:p>
            <a:pPr>
              <a:defRPr sz="3600"/>
            </a:pPr>
            <a:r>
              <a:t>Только после проверки содержимого и ACL файл возвращают в рабочий путь</a:t>
            </a:r>
          </a:p>
          <a:p>
            <a:pPr>
              <a:defRPr sz="3600"/>
            </a:pPr>
            <a:r>
              <a:t>Restore на единственную рабочую копию данных без проверки создает новый риск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 восстанавливается командой wbadmin start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wbadmin start recovery выполняет восстановление из выбранной версии</a:t>
            </a:r>
          </a:p>
          <a:p>
            <a:pPr>
              <a:defRPr sz="3600"/>
            </a:pPr>
            <a:r>
              <a:t>Учебный пример: wbadmin start recovery -version:07/29/2026-18:00 -itemType:File -items:D:\Shares\backup-test.txt -recoveryTarget:C:\Restore-Test -backupTarget:E: -quiet</a:t>
            </a:r>
          </a:p>
          <a:p>
            <a:pPr>
              <a:defRPr sz="3600"/>
            </a:pPr>
            <a:r>
              <a:t>Version берется из фактического вывода wbadmin get versions</a:t>
            </a:r>
          </a:p>
          <a:p>
            <a:pPr>
              <a:defRPr sz="3600"/>
            </a:pPr>
            <a:r>
              <a:t>Синтаксис и поддержка восстановления конкретного файла проверяются на версии Windows Server стенда</a:t>
            </a:r>
          </a:p>
          <a:p>
            <a:pPr>
              <a:defRPr sz="3600"/>
            </a:pPr>
            <a:r>
              <a:t>Если оригинал был удален, сравнение выполняется с hash, сохраненным до удаления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Hash доказывает, что восстановлен правильный 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 удаления фиксируется hash исходного файла: Get-FileHash D:\Shares\backup-test.txt</a:t>
            </a:r>
          </a:p>
          <a:p>
            <a:pPr>
              <a:defRPr sz="3600"/>
            </a:pPr>
            <a:r>
              <a:t>После restore проверяется hash восстановленного файла: Get-FileHash C:\Restore-Test\backup-test.txt</a:t>
            </a:r>
          </a:p>
          <a:p>
            <a:pPr>
              <a:defRPr sz="3600"/>
            </a:pPr>
            <a:r>
              <a:t>Совпадение hash подтверждает, что содержимое восстановлено без изменений</a:t>
            </a:r>
          </a:p>
          <a:p>
            <a:pPr>
              <a:defRPr sz="3600"/>
            </a:pPr>
            <a:r>
              <a:t>Если оригинал не удален, можно дополнительно сравнить: fc /b D:\Shares\backup-test.txt C:\Restore-Test\backup-test.txt</a:t>
            </a:r>
          </a:p>
          <a:p>
            <a:pPr>
              <a:defRPr sz="3600"/>
            </a:pPr>
            <a:r>
              <a:t>В отчете указываются оба hash и выбранная backup version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ACL нужно проверять вместе с содержимым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(Access Control List) — список разрешений доступа к объекту файловой системы</a:t>
            </a:r>
          </a:p>
          <a:p>
            <a:pPr>
              <a:defRPr sz="3600"/>
            </a:pPr>
            <a:r>
              <a:t>Проверка исходного файла: Get-Acl D:\Shares\backup-test.txt | Format-List</a:t>
            </a:r>
          </a:p>
          <a:p>
            <a:pPr>
              <a:defRPr sz="3600"/>
            </a:pPr>
            <a:r>
              <a:t>Проверка восстановленного файла: Get-Acl C:\Restore-Test\backup-test.txt | Format-List</a:t>
            </a:r>
          </a:p>
          <a:p>
            <a:pPr>
              <a:defRPr sz="3600"/>
            </a:pPr>
            <a:r>
              <a:t>Для файлового сервера важны owner, access rules, inheritance и audit rules, если они применялись</a:t>
            </a:r>
          </a:p>
          <a:p>
            <a:pPr>
              <a:defRPr sz="3600"/>
            </a:pPr>
            <a:r>
              <a:t>Файл без правильных прав может восстановиться по содержимому, но остаться непригодным для пользователей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Volume restore и Bare Metal Recovery требуют отдельного плана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Volume restore восстанавливает весь том и может перезаписать более свежие данные</a:t>
            </a:r>
          </a:p>
          <a:p>
            <a:pPr>
              <a:defRPr sz="3600"/>
            </a:pPr>
            <a:r>
              <a:t>Bare Metal Recovery восстанавливает сервер на новое или очищенное оборудование</a:t>
            </a:r>
          </a:p>
          <a:p>
            <a:pPr>
              <a:defRPr sz="3600"/>
            </a:pPr>
            <a:r>
              <a:t>Для Bare Metal нужны critical volumes, Windows Recovery Environment, backup location и драйверы storage/network</a:t>
            </a:r>
          </a:p>
          <a:p>
            <a:pPr>
              <a:defRPr sz="3600"/>
            </a:pPr>
            <a:r>
              <a:t>Не любой file backup подходит для восстановления всего сервера</a:t>
            </a:r>
          </a:p>
          <a:p>
            <a:pPr>
              <a:defRPr sz="3600"/>
            </a:pPr>
            <a:r>
              <a:t>В первой лекции Bare Metal Recovery достаточно рассмотреть обзорно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System State зависит от ролей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System State включает registry, boot files и критичные системные компоненты</a:t>
            </a:r>
          </a:p>
          <a:p>
            <a:pPr>
              <a:defRPr sz="3600"/>
            </a:pPr>
            <a:r>
              <a:t>На контроллере домена в него входят Active Directory Database и SYSVOL</a:t>
            </a:r>
          </a:p>
          <a:p>
            <a:pPr>
              <a:defRPr sz="3600"/>
            </a:pPr>
            <a:r>
              <a:t>На CA может входить Certificate Services Database, а на других ролях — role-specific components</a:t>
            </a:r>
          </a:p>
          <a:p>
            <a:pPr>
              <a:defRPr sz="3600"/>
            </a:pPr>
            <a:r>
              <a:t>Состав System State зависит от установленных ролей Windows Server</a:t>
            </a:r>
          </a:p>
          <a:p>
            <a:pPr>
              <a:defRPr sz="3600"/>
            </a:pPr>
            <a:r>
              <a:t>Копировать NTDS.dit как обычный файл недостаточно для восстановления AD DS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System State Backup создается отдельной 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wbadmin start systemstatebackup запускает backup системного состояния</a:t>
            </a:r>
          </a:p>
          <a:p>
            <a:pPr>
              <a:defRPr sz="3600"/>
            </a:pPr>
            <a:r>
              <a:t>На DC01: wbadmin start systemstatebackup -backupTarget:E: -quiet</a:t>
            </a:r>
          </a:p>
          <a:p>
            <a:pPr>
              <a:defRPr sz="3600"/>
            </a:pPr>
            <a:r>
              <a:t>Версии проверяются так же: wbadmin get versions -backupTarget:E:</a:t>
            </a:r>
          </a:p>
          <a:p>
            <a:pPr>
              <a:defRPr sz="3600"/>
            </a:pPr>
            <a:r>
              <a:t>Для контроллера домена System State желательно хранить не только на другом томе той же ВМ</a:t>
            </a:r>
          </a:p>
          <a:p>
            <a:pPr>
              <a:defRPr sz="3600"/>
            </a:pPr>
            <a:r>
              <a:t>Практическое восстановление DC выполняется только по отдельному безопасному сценарию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AD Recycle Bin и System State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Удален один пользователь: обычно достаточно AD Recycle Bin</a:t>
            </a:r>
          </a:p>
          <a:p>
            <a:pPr>
              <a:defRPr sz="3600"/>
            </a:pPr>
            <a:r>
              <a:t>Удалена группа или простая OU: часто помогает AD Recycle Bin, но нужен контроль связей</a:t>
            </a:r>
          </a:p>
          <a:p>
            <a:pPr>
              <a:defRPr sz="3600"/>
            </a:pPr>
            <a:r>
              <a:t>Повреждена база AD: требуется System State или процедура forest/domain recovery</a:t>
            </a:r>
          </a:p>
          <a:p>
            <a:pPr>
              <a:defRPr sz="3600"/>
            </a:pPr>
            <a:r>
              <a:t>Поврежден SYSVOL: нужен специальный recovery plan</a:t>
            </a:r>
          </a:p>
          <a:p>
            <a:pPr>
              <a:defRPr sz="3600"/>
            </a:pPr>
            <a:r>
              <a:t>Потерян весь DC: рассматривают восстановление DC или развертывание нового контроллера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AD Recycle Bin включают только после проверки условий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Нужен достаточный forest functional level и права Enterprise Admin</a:t>
            </a:r>
          </a:p>
          <a:p>
            <a:pPr>
              <a:defRPr sz="3600"/>
            </a:pPr>
            <a:r>
              <a:t>Перед включением проверяют текущее состояние функции</a:t>
            </a:r>
          </a:p>
          <a:p>
            <a:pPr>
              <a:defRPr sz="3600"/>
            </a:pPr>
            <a:r>
              <a:t>Проверка: Get-ADOptionalFeature 'Recycle Bin Feature' | Select-Object Name,EnabledScopes</a:t>
            </a:r>
          </a:p>
          <a:p>
            <a:pPr>
              <a:defRPr sz="3600"/>
            </a:pPr>
            <a:r>
              <a:t>Включение AD Recycle Bin необратимо для леса</a:t>
            </a:r>
          </a:p>
          <a:p>
            <a:pPr>
              <a:defRPr sz="3600"/>
            </a:pPr>
            <a:r>
              <a:t>В лаборатории это действие выполняется осознанно и фиксируется в отчете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Включение AD Recycle Bin выполняется через Enable-ADOptionalFeature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включает функцию корзины Active Directory на уровне леса</a:t>
            </a:r>
          </a:p>
          <a:p>
            <a:pPr>
              <a:defRPr sz="3600"/>
            </a:pPr>
            <a:r>
              <a:t>Для corp.test: Enable-ADOptionalFeature 'Recycle Bin Feature' -Scope ForestOrConfigurationSet -Target corp.test</a:t>
            </a:r>
          </a:p>
          <a:p>
            <a:pPr>
              <a:defRPr sz="3600"/>
            </a:pPr>
            <a:r>
              <a:t>После включения повторно проверяют EnabledScopes</a:t>
            </a:r>
          </a:p>
          <a:p>
            <a:pPr>
              <a:defRPr sz="3600"/>
            </a:pPr>
            <a:r>
              <a:t>Если функция уже включена, повторное включение не требуется</a:t>
            </a:r>
          </a:p>
          <a:p>
            <a:pPr>
              <a:defRPr sz="3600"/>
            </a:pPr>
            <a:r>
              <a:t>Перед лабораторией преподаватель может подготовить стенд с уже включенной корзиной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Удаленный пользователь ищется по конкретному атрибуту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лаборатории безопаснее восстанавливать одного тестового пользователя, а не целую OU</a:t>
            </a:r>
          </a:p>
          <a:p>
            <a:pPr>
              <a:defRPr sz="3600"/>
            </a:pPr>
            <a:r>
              <a:t>Поиск: $deletedUser = Get-ADObject -Filter 'sAMAccountName -eq "ipetrov"' -IncludeDeletedObjects -Properties sAMAccountName,LastKnownParent,ObjectGUID</a:t>
            </a:r>
          </a:p>
          <a:p>
            <a:pPr>
              <a:defRPr sz="3600"/>
            </a:pPr>
            <a:r>
              <a:t>Просмотр найденного объекта: $deletedUser</a:t>
            </a:r>
          </a:p>
          <a:p>
            <a:pPr>
              <a:defRPr sz="3600"/>
            </a:pPr>
            <a:r>
              <a:t>LastKnownParent помогает понять, где объект находился до удаления</a:t>
            </a:r>
          </a:p>
          <a:p>
            <a:pPr>
              <a:defRPr sz="3600"/>
            </a:pPr>
            <a:r>
              <a:t>Если объект не найден, проверяют правильность атрибута, имя пользователя и включение AD Recycle Bin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Restore-ADObject возвращает объект, но проверка продолжается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Восстановление найденного объекта: $deletedUser | Restore-ADObject</a:t>
            </a:r>
          </a:p>
          <a:p>
            <a:pPr>
              <a:defRPr sz="3600"/>
            </a:pPr>
            <a:r>
              <a:t>Проверка пользователя: Get-ADUser ipetrov -Properties MemberOf,Enabled,HomeDirectory,ProfilePath</a:t>
            </a:r>
          </a:p>
          <a:p>
            <a:pPr>
              <a:defRPr sz="3600"/>
            </a:pPr>
            <a:r>
              <a:t>Для лаборатории достаточно проверить OU, group membership и вход пользователя</a:t>
            </a:r>
          </a:p>
          <a:p>
            <a:pPr>
              <a:defRPr sz="3600"/>
            </a:pPr>
            <a:r>
              <a:t>Дополнительно могут проверяться manager, department, profile path, home directory и delegation</a:t>
            </a:r>
          </a:p>
          <a:p>
            <a:pPr>
              <a:defRPr sz="3600"/>
            </a:pPr>
            <a:r>
              <a:t>Восстановленный объект не считается готовым, пока не проверен пользовательский сценарий входа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Восстановление OU сложнее восстановления одного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удалена OU с дочерними объектами, может потребоваться правильный порядок восстановления</a:t>
            </a:r>
          </a:p>
          <a:p>
            <a:pPr>
              <a:defRPr sz="3600"/>
            </a:pPr>
            <a:r>
              <a:t>Сначала восстанавливают parent OU, затем child OU, затем users, groups и computers</a:t>
            </a:r>
          </a:p>
          <a:p>
            <a:pPr>
              <a:defRPr sz="3600"/>
            </a:pPr>
            <a:r>
              <a:t>AD Recycle Bin помогает сохранить linked-value attributes, но результат нужно проверять</a:t>
            </a:r>
          </a:p>
          <a:p>
            <a:pPr>
              <a:defRPr sz="3600"/>
            </a:pPr>
            <a:r>
              <a:t>Для первой лаборатории безопаснее использовать одного тестового пользователя</a:t>
            </a:r>
          </a:p>
          <a:p>
            <a:pPr>
              <a:defRPr sz="3600"/>
            </a:pPr>
            <a:r>
              <a:t>Большие деревья OU оставляют для отдельной темы восстановления 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System State Restore контроллера домена выполняется не как обычный file 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Практическое восстановление AD DS обычно требует Directory Services Restore Mode</a:t>
            </a:r>
          </a:p>
          <a:p>
            <a:pPr>
              <a:defRPr sz="3600"/>
            </a:pPr>
            <a:r>
              <a:t>DSRM (Directory Services Restore Mode) — режим восстановления службы каталогов с отдельным паролем</a:t>
            </a:r>
          </a:p>
          <a:p>
            <a:pPr>
              <a:defRPr sz="3600"/>
            </a:pPr>
            <a:r>
              <a:t>В DSRM обычная работа AD DS недоступна, поэтому восстановление планируют на отдельном стенде</a:t>
            </a:r>
          </a:p>
          <a:p>
            <a:pPr>
              <a:defRPr sz="3600"/>
            </a:pPr>
            <a:r>
              <a:t>В среде с несколькими DC неправильное восстановление может нарушить репликацию</a:t>
            </a:r>
          </a:p>
          <a:p>
            <a:pPr>
              <a:defRPr sz="3600"/>
            </a:pPr>
            <a:r>
              <a:t>Для первой лекции достаточно обзорно понимать сценарий и риски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Non-authoritative и authoritative restore различаются ролью результата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Non-authoritative restore восстанавливает DC, после чего актуальные изменения приходят репликацией от других DC</a:t>
            </a:r>
          </a:p>
          <a:p>
            <a:pPr>
              <a:defRPr sz="3600"/>
            </a:pPr>
            <a:r>
              <a:t>Authoritative restore используется, когда восстановленный объект должен победить репликацию</a:t>
            </a:r>
          </a:p>
          <a:p>
            <a:pPr>
              <a:defRPr sz="3600"/>
            </a:pPr>
            <a:r>
              <a:t>Authoritative restore требует специальных действий и понимания последствий</a:t>
            </a:r>
          </a:p>
          <a:p>
            <a:pPr>
              <a:defRPr sz="3600"/>
            </a:pPr>
            <a:r>
              <a:t>Не стоит включать подробную практику ntdsutil в первую лабораторную работу</a:t>
            </a:r>
          </a:p>
          <a:p>
            <a:pPr>
              <a:defRPr sz="3600"/>
            </a:pPr>
            <a:r>
              <a:t>Студент должен запомнить: AD restore выбирают по сценарию, а не одной кнопкой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Snapshot DC не является основным способом защиты Active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Hypervisor snapshot может быть полезен в учебном стенде, но не заменяет backup AD</a:t>
            </a:r>
          </a:p>
          <a:p>
            <a:pPr>
              <a:defRPr sz="3600"/>
            </a:pPr>
            <a:r>
              <a:t>Контроллер домена участвует в репликации, поэтому откат snapshot может иметь последствия</a:t>
            </a:r>
          </a:p>
          <a:p>
            <a:pPr>
              <a:defRPr sz="3600"/>
            </a:pPr>
            <a:r>
              <a:t>Современные версии Windows учитывают VM-Generation ID, но это не повод игнорировать recovery plan</a:t>
            </a:r>
          </a:p>
          <a:p>
            <a:pPr>
              <a:defRPr sz="3600"/>
            </a:pPr>
            <a:r>
              <a:t>Основные средства защиты AD: AD Recycle Bin, System State Backup, несколько DC и документация</a:t>
            </a:r>
          </a:p>
          <a:p>
            <a:pPr>
              <a:defRPr sz="3600"/>
            </a:pPr>
            <a:r>
              <a:t>Перед изменением AD нельзя учить студентов просто делать snapshot как единственный план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восстановление файла, объекта AD и System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156345-FC39-02BE-83D2-A13923844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Test restore доказывает пригодность резервной копии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Test restore — контрольное восстановление в безопасный путь или изолированную среду</a:t>
            </a:r>
          </a:p>
          <a:p>
            <a:pPr>
              <a:defRPr sz="3600"/>
            </a:pPr>
            <a:r>
              <a:t>Для FS01 восстанавливается D:\Shares\backup-test.txt в C:\Restore-Test</a:t>
            </a:r>
          </a:p>
          <a:p>
            <a:pPr>
              <a:defRPr sz="3600"/>
            </a:pPr>
            <a:r>
              <a:t>Для DC01 безопаснее восстановить одного тестового пользователя через AD Recycle Bin</a:t>
            </a:r>
          </a:p>
          <a:p>
            <a:pPr>
              <a:defRPr sz="3600"/>
            </a:pPr>
            <a:r>
              <a:t>System State Restore контроллера домена разбирается обзорно или на отдельном стенде</a:t>
            </a:r>
          </a:p>
          <a:p>
            <a:pPr>
              <a:defRPr sz="3600"/>
            </a:pPr>
            <a:r>
              <a:t>Нельзя впервые учиться восстановлению во время настоящей аварии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Успешность backup проверяется на четырех уровнях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Job Success: задание завершено без необъяснимых критичных ошибок</a:t>
            </a:r>
          </a:p>
          <a:p>
            <a:pPr>
              <a:defRPr sz="3600"/>
            </a:pPr>
            <a:r>
              <a:t>Backup Version Exists: версия видна через wbadmin get versions</a:t>
            </a:r>
          </a:p>
          <a:p>
            <a:pPr>
              <a:defRPr sz="3600"/>
            </a:pPr>
            <a:r>
              <a:t>Expected Object Exists: нужный том или файл действительно попал в backup</a:t>
            </a:r>
          </a:p>
          <a:p>
            <a:pPr>
              <a:defRPr sz="3600"/>
            </a:pPr>
            <a:r>
              <a:t>Restore and Validation Successful: объект восстановлен и проверен hash, ACL или пользовательским сценарием</a:t>
            </a:r>
          </a:p>
          <a:p>
            <a:pPr>
              <a:defRPr sz="3600"/>
            </a:pPr>
            <a:r>
              <a:t>Только четвертый уровень доказывает практическую ценность backup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Retention Windows Server Backup зависит от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выделенном backup disk WSB может автоматически удалять старые версии при нехватке места</a:t>
            </a:r>
          </a:p>
          <a:p>
            <a:pPr>
              <a:defRPr sz="3600"/>
            </a:pPr>
            <a:r>
              <a:t>На обычном томе или network share поведение хранения версий отличается</a:t>
            </a:r>
          </a:p>
          <a:p>
            <a:pPr>
              <a:defRPr sz="3600"/>
            </a:pPr>
            <a:r>
              <a:t>Фактическое число версий проверяется командой wbadmin get versions</a:t>
            </a:r>
          </a:p>
          <a:p>
            <a:pPr>
              <a:defRPr sz="3600"/>
            </a:pPr>
            <a:r>
              <a:t>Свободное место target нужно контролировать отдельно</a:t>
            </a:r>
          </a:p>
          <a:p>
            <a:pPr>
              <a:defRPr sz="3600"/>
            </a:pPr>
            <a:r>
              <a:t>Если требуется строгая схема 7 Daily, 4 Weekly, обычно нужна специализированная backup system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Второй виртуальный диск той же ВМ не является полноценным 3-2-1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Два виртуальных диска могут физически лежать на одном SSD, в одной папке и одном snapshot</a:t>
            </a:r>
          </a:p>
          <a:p>
            <a:pPr>
              <a:defRPr sz="3600"/>
            </a:pPr>
            <a:r>
              <a:t>Потеря ВМ или хранилища гипервизора уничтожит оба диска</a:t>
            </a:r>
          </a:p>
          <a:p>
            <a:pPr>
              <a:defRPr sz="3600"/>
            </a:pPr>
            <a:r>
              <a:t>Шифровальщик с правами администратора может получить доступ к обоим томам</a:t>
            </a:r>
          </a:p>
          <a:p>
            <a:pPr>
              <a:defRPr sz="3600"/>
            </a:pPr>
            <a:r>
              <a:t>Для учебной механики E: подходит, но для архитектуры нужен независимый target</a:t>
            </a:r>
          </a:p>
          <a:p>
            <a:pPr>
              <a:defRPr sz="3600"/>
            </a:pPr>
            <a:r>
              <a:t>Расширенный вариант: FS01 -&gt; SMB share на BACKUP01 или отдельное backup-хранилище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Reboot Test входит в приемку планового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перезагрузки проверяют, что Windows Server Backup Feature остается установленной</a:t>
            </a:r>
          </a:p>
          <a:p>
            <a:pPr>
              <a:defRPr sz="3600"/>
            </a:pPr>
            <a:r>
              <a:t>Проверяется наличие schedule и доступность backup target</a:t>
            </a:r>
          </a:p>
          <a:p>
            <a:pPr>
              <a:defRPr sz="3600"/>
            </a:pPr>
            <a:r>
              <a:t>Проверяется, не изменились ли буквы томов или disk mapping</a:t>
            </a:r>
          </a:p>
          <a:p>
            <a:pPr>
              <a:defRPr sz="3600"/>
            </a:pPr>
            <a:r>
              <a:t>Проверяется состояние VSS Writers и запись событий backup</a:t>
            </a:r>
          </a:p>
          <a:p>
            <a:pPr>
              <a:defRPr sz="3600"/>
            </a:pPr>
            <a:r>
              <a:t>Для лаборатории достаточно перезагрузить FS01 и подтвердить сохранение конфигурации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 Windows Server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Feature установлен, backup target отдельный и не содержит важных данных</a:t>
            </a:r>
          </a:p>
          <a:p>
            <a:pPr>
              <a:defRPr sz="3600"/>
            </a:pPr>
            <a:r>
              <a:t>VSS Writers без критичных ошибок, backup job завершен, version identifier виден</a:t>
            </a:r>
          </a:p>
          <a:p>
            <a:pPr>
              <a:defRPr sz="3600"/>
            </a:pPr>
            <a:r>
              <a:t>Тестовый файл восстановлен в C:\Restore-Test, hash совпадает, ACL проверен</a:t>
            </a:r>
          </a:p>
          <a:p>
            <a:pPr>
              <a:defRPr sz="3600"/>
            </a:pPr>
            <a:r>
              <a:t>Scheduled job настроен через Wizard или объяснен через wbadmin enable backup</a:t>
            </a:r>
          </a:p>
          <a:p>
            <a:pPr>
              <a:defRPr sz="3600"/>
            </a:pPr>
            <a:r>
              <a:t>AD Recycle Bin проверен, тестовый пользователь найден и восстановлен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Лабораторный сценарий FS01 должен быть объективно проверяемым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Добавить новый пустой виртуальный диск и убедиться, что на нем нет важных данных</a:t>
            </a:r>
          </a:p>
          <a:p>
            <a:pPr>
              <a:defRPr sz="3600"/>
            </a:pPr>
            <a:r>
              <a:t>Создать D:\Shares и D:\Shares\backup-test.txt</a:t>
            </a:r>
          </a:p>
          <a:p>
            <a:pPr>
              <a:defRPr sz="3600"/>
            </a:pPr>
            <a:r>
              <a:t>Сохранить hash файла до backup</a:t>
            </a:r>
          </a:p>
          <a:p>
            <a:pPr>
              <a:defRPr sz="3600"/>
            </a:pPr>
            <a:r>
              <a:t>Выполнить backup тома D: на target E:</a:t>
            </a:r>
          </a:p>
          <a:p>
            <a:pPr>
              <a:defRPr sz="3600"/>
            </a:pPr>
            <a:r>
              <a:t>Удалить только тестовый файл, восстановить его в C:\Restore-Test и сравнить hash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Лабораторный сценарий DC01 должен оставаться безопасным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состояние AD Recycle Bin и включить его только если это предусмотрено сценарием</a:t>
            </a:r>
          </a:p>
          <a:p>
            <a:pPr>
              <a:defRPr sz="3600"/>
            </a:pPr>
            <a:r>
              <a:t>Создать тестового пользователя ipetrov и добавить его в тестовую группу</a:t>
            </a:r>
          </a:p>
          <a:p>
            <a:pPr>
              <a:defRPr sz="3600"/>
            </a:pPr>
            <a:r>
              <a:t>Удалить пользователя, найти deleted object и восстановить его</a:t>
            </a:r>
          </a:p>
          <a:p>
            <a:pPr>
              <a:defRPr sz="3600"/>
            </a:pPr>
            <a:r>
              <a:t>Проверить OU, group membership и возможность входа</a:t>
            </a:r>
          </a:p>
          <a:p>
            <a:pPr>
              <a:defRPr sz="3600"/>
            </a:pPr>
            <a:r>
              <a:t>System State Backup создать обзорно, а практический restore DC выполнять только на отдельном стенде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RAID, replication, snapshot, Shadow Copies и backup защищают от разных рисков</a:t>
            </a:r>
          </a:p>
          <a:p>
            <a:pPr>
              <a:defRPr sz="3600"/>
            </a:pPr>
            <a:r>
              <a:t>Windows Server Backup полезен для базового server backup, но имеет ограничения target, retention и reporting</a:t>
            </a:r>
          </a:p>
          <a:p>
            <a:pPr>
              <a:defRPr sz="3600"/>
            </a:pPr>
            <a:r>
              <a:t>VSS Writers, wbadmin get status, wbadmin get versions и Event Viewer обязательны для проверки задания</a:t>
            </a:r>
          </a:p>
          <a:p>
            <a:pPr>
              <a:defRPr sz="3600"/>
            </a:pPr>
            <a:r>
              <a:t>File restore сначала выполняют в альтернативный каталог и проверяют hash и ACL</a:t>
            </a:r>
          </a:p>
          <a:p>
            <a:pPr>
              <a:defRPr sz="3600"/>
            </a:pPr>
            <a:r>
              <a:t>AD Recycle Bin, System State Restore и Bare Metal Recovery применяются для разных сценариев восстановления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RAID и Shadow Copies не заменяют backup?</a:t>
            </a:r>
          </a:p>
          <a:p>
            <a:pPr>
              <a:defRPr sz="3600"/>
            </a:pPr>
            <a:r>
              <a:t>Чем RPO отличается от RTO?</a:t>
            </a:r>
          </a:p>
          <a:p>
            <a:pPr>
              <a:defRPr sz="3600"/>
            </a:pPr>
            <a:r>
              <a:t>Почему диск E: внутри той же ВМ не является полноценной внешней копией?</a:t>
            </a:r>
          </a:p>
          <a:p>
            <a:pPr>
              <a:defRPr sz="3600"/>
            </a:pPr>
            <a:r>
              <a:t>Для чего Windows Server Backup использует VSS Writers?</a:t>
            </a:r>
          </a:p>
          <a:p>
            <a:pPr>
              <a:defRPr sz="3600"/>
            </a:pPr>
            <a:r>
              <a:t>Что показывает wbadmin get status и чем он отличается от wbadmin get versions?</a:t>
            </a:r>
          </a:p>
          <a:p>
            <a:pPr>
              <a:defRPr sz="3600"/>
            </a:pPr>
            <a:r>
              <a:t>Почему version identifier нужно брать из фактического вывода?</a:t>
            </a:r>
          </a:p>
          <a:p>
            <a:pPr>
              <a:defRPr sz="3600"/>
            </a:pPr>
            <a:r>
              <a:t>Зачем file restore сначала выполнять в C:\Restore-Test?</a:t>
            </a:r>
          </a:p>
          <a:p>
            <a:pPr>
              <a:defRPr sz="3600"/>
            </a:pPr>
            <a:r>
              <a:t>Чем AD Recycle Bin отличается от System State Restore?</a:t>
            </a:r>
          </a:p>
          <a:p>
            <a:pPr>
              <a:defRPr sz="3600"/>
            </a:pPr>
            <a:r>
              <a:t>Почему System State Restore контроллера домена требует особой осторожности?</a:t>
            </a:r>
          </a:p>
          <a:p>
            <a:pPr>
              <a:defRPr sz="3600"/>
            </a:pPr>
            <a:r>
              <a:t>Какие проверки доказывают, что backup действительно пригоден к восстановлению?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3650</Words>
  <Application>Microsoft Office PowerPoint</Application>
  <PresentationFormat>Широкоэкранный</PresentationFormat>
  <Paragraphs>336</Paragraphs>
  <Slides>58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2026-07-31T05:35:27Z</dcterms:modified>
  <cp:category/>
</cp:coreProperties>
</file>