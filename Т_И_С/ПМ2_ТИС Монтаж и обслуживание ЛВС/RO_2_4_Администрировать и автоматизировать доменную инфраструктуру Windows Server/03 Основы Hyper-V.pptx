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3. Основы Hyper-V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архитектуру Hyper-V как гипервизора первого типа</a:t>
            </a:r>
          </a:p>
          <a:p>
            <a:pPr>
              <a:defRPr sz="3600"/>
            </a:pPr>
            <a:r>
              <a:t>Уметь выбрать поколение ВМ, диск, память, сеть и checkpoint policy</a:t>
            </a:r>
          </a:p>
          <a:p>
            <a:pPr>
              <a:defRPr sz="3600"/>
            </a:pPr>
            <a:r>
              <a:t>Проверять базовую конфигурацию Hyper-V через PowerShell</a:t>
            </a:r>
          </a:p>
          <a:p>
            <a:pPr>
              <a:defRPr sz="3600"/>
            </a:pPr>
            <a:r>
              <a:t>Безопасно экспортировать, импортировать и документировать виртуальные машины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Серверная виртуализация, гипервизоры и Hyper-V.</a:t>
            </a:r>
          </a:p>
          <a:p>
            <a:pPr>
              <a:defRPr sz="3600"/>
            </a:pPr>
            <a:r>
              <a:t>2. Требования, компоненты, Generation 1/2, VHD/VHDX и fixed/dynamic disks.</a:t>
            </a:r>
          </a:p>
          <a:p>
            <a:pPr>
              <a:defRPr sz="3600"/>
            </a:pPr>
            <a:r>
              <a:t>3. External, Internal и Private switches.</a:t>
            </a:r>
          </a:p>
          <a:p>
            <a:pPr>
              <a:defRPr sz="3600"/>
            </a:pPr>
            <a:r>
              <a:t>4. Static/Dynamic Memory и Integration Services.</a:t>
            </a:r>
          </a:p>
          <a:p>
            <a:pPr>
              <a:defRPr sz="3600"/>
            </a:pPr>
            <a:r>
              <a:t>5. Production/Standard Checkpoints и отличие checkpoint от backup.</a:t>
            </a:r>
          </a:p>
          <a:p>
            <a:pPr>
              <a:defRPr sz="3600"/>
            </a:pPr>
            <a:r>
              <a:t>6. Export, import, cloning и размещение ВМ.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HV01 устанавливается роль Hyper-V и проверяются требования хоста</a:t>
            </a:r>
          </a:p>
          <a:p>
            <a:pPr>
              <a:defRPr sz="3600"/>
            </a:pPr>
            <a:r>
              <a:t>Создается Generation 2 VM DC01 с VHDX, ISO, vCPU, памятью и External-LAN</a:t>
            </a:r>
          </a:p>
          <a:p>
            <a:pPr>
              <a:defRPr sz="3600"/>
            </a:pPr>
            <a:r>
              <a:t>Дополнительно разбираются Internal-NAT, Private-LAB, Production Checkpoint и Export/Import</a:t>
            </a:r>
          </a:p>
          <a:p>
            <a:pPr>
              <a:defRPr sz="3600"/>
            </a:pPr>
            <a:r>
              <a:t>Итогом становится паспорт ВМ и безопасный сценарий импортированной копии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архитектура Hyper-V Type-1 и Root Partition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2008446-B7AB-670D-B61B-1FF7577E3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Hyper-V как гипервизор первого типа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Hypervisor — слой, который распределяет CPU, RAM, disk и network между виртуальными машинами</a:t>
            </a:r>
          </a:p>
          <a:p>
            <a:pPr>
              <a:defRPr sz="3600"/>
            </a:pPr>
            <a:r>
              <a:t>Hyper-V после включения запускается непосредственно над аппаратным обеспечением</a:t>
            </a:r>
          </a:p>
          <a:p>
            <a:pPr>
              <a:defRPr sz="3600"/>
            </a:pPr>
            <a:r>
              <a:t>Windows Server на хосте работает в управляющем разделе: Parent или Root Partition</a:t>
            </a:r>
          </a:p>
          <a:p>
            <a:pPr>
              <a:defRPr sz="3600"/>
            </a:pPr>
            <a:r>
              <a:t>Виртуальные машины работают в дочерних разделах: Child Partitions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Root Partition управляет виртуальной инфраструктурой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Management OS содержит Hyper-V Manager, PowerShell-модуль Hyper-V и драйверы</a:t>
            </a:r>
          </a:p>
          <a:p>
            <a:pPr>
              <a:defRPr sz="3600"/>
            </a:pPr>
            <a:r>
              <a:t>Виртуальный коммутатор VMSwitch тоже обслуживается через управляющую ОС</a:t>
            </a:r>
          </a:p>
          <a:p>
            <a:pPr>
              <a:defRPr sz="3600"/>
            </a:pPr>
            <a:r>
              <a:t>Проблемы драйвера, сети или storage на хосте могут затронуть все ВМ</a:t>
            </a:r>
          </a:p>
          <a:p>
            <a:pPr>
              <a:defRPr sz="3600"/>
            </a:pPr>
            <a:r>
              <a:t>Администратор отвечает не только за гостевые ОС, но и за состояние самого HV01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Hyper-V Host не стоит без нужды совмещать с DC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лаборатории Hyper-V Host лучше делать отдельной системой</a:t>
            </a:r>
          </a:p>
          <a:p>
            <a:pPr>
              <a:defRPr sz="3600"/>
            </a:pPr>
            <a:r>
              <a:t>Совмещение DC01, File Server, Backup Server и Hyper-V Host увеличивает blast radius</a:t>
            </a:r>
          </a:p>
          <a:p>
            <a:pPr>
              <a:defRPr sz="3600"/>
            </a:pPr>
            <a:r>
              <a:t>При отказе такого узла сложнее восстановить домен и виртуальные серверы</a:t>
            </a:r>
          </a:p>
          <a:p>
            <a:pPr>
              <a:defRPr sz="3600"/>
            </a:pPr>
            <a:r>
              <a:t>Если роли совмещены в учебном стенде, это нужно прямо обозначить как упрощение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Аппаратные требования Hyper-V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CPU должен поддерживать аппаратную виртуализацию и VM Monitor Mode Extensions</a:t>
            </a:r>
          </a:p>
          <a:p>
            <a:pPr>
              <a:defRPr sz="3600"/>
            </a:pPr>
            <a:r>
              <a:t>SLAT (Second Level Address Translation) ускоряет работу памяти виртуальных машин</a:t>
            </a:r>
          </a:p>
          <a:p>
            <a:pPr>
              <a:defRPr sz="3600"/>
            </a:pPr>
            <a:r>
              <a:t>DEP (Data Execution Prevention) должен быть доступен и включен</a:t>
            </a:r>
          </a:p>
          <a:p>
            <a:pPr>
              <a:defRPr sz="3600"/>
            </a:pPr>
            <a:r>
              <a:t>В BIOS/UEFI должна быть включена виртуализация: Intel VT-x или AMD-V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требований Hyper-V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systeminfo.exe показывает готовность сервера к установке Hyper-V</a:t>
            </a:r>
          </a:p>
          <a:p>
            <a:pPr>
              <a:defRPr sz="3600"/>
            </a:pPr>
            <a:r>
              <a:t>Пример использования: systeminfo.exe</a:t>
            </a:r>
          </a:p>
          <a:p>
            <a:pPr>
              <a:defRPr sz="3600"/>
            </a:pPr>
            <a:r>
              <a:t>Пример использования: Get-ComputerInfo | Select-Object HyperVisorPresent, HyperVRequirementVirtualizationFirmwareEnabled, HyperVRequirementSecondLevelAddressTranslation</a:t>
            </a:r>
          </a:p>
          <a:p>
            <a:pPr>
              <a:defRPr sz="3600"/>
            </a:pPr>
            <a:r>
              <a:t>Ожидаемый результат: Hyper-V Requirements равны Yes, включенная виртуализация и доступный SLAT</a:t>
            </a:r>
          </a:p>
          <a:p>
            <a:pPr>
              <a:defRPr sz="3600"/>
            </a:pPr>
            <a:r>
              <a:t>Если VirtualizationFirmwareEnabled равен False, проверяют настройки BIOS/UEFI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и проверка роли Hyper-V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Install-WindowsFeature устанавливает роль Hyper-V и инструменты управления</a:t>
            </a:r>
          </a:p>
          <a:p>
            <a:pPr>
              <a:defRPr sz="3600"/>
            </a:pPr>
            <a:r>
              <a:t>Пример использования: Install-WindowsFeature Hyper-V -IncludeManagementTools -Restart</a:t>
            </a:r>
          </a:p>
          <a:p>
            <a:pPr>
              <a:defRPr sz="3600"/>
            </a:pPr>
            <a:r>
              <a:t>Проверка: Get-WindowsFeature Hyper-V; Get-Service vmms; Get-VMHost</a:t>
            </a:r>
          </a:p>
          <a:p>
            <a:pPr>
              <a:defRPr sz="3600"/>
            </a:pPr>
            <a:r>
              <a:t>Ожидаемый результат: Hyper-V Installed, vmms Running, команда Get-VMHost выполняется без ошибки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Nested Virtualization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Nested Virtualization — запуск Hyper-V Host внутри другой виртуальной машины</a:t>
            </a:r>
          </a:p>
          <a:p>
            <a:pPr>
              <a:defRPr sz="3600"/>
            </a:pPr>
            <a:r>
              <a:t>Одного физического CPU с виртуализацией недостаточно: внешний гипервизор должен передать расширения гостю</a:t>
            </a:r>
          </a:p>
          <a:p>
            <a:pPr>
              <a:defRPr sz="3600"/>
            </a:pPr>
            <a:r>
              <a:t>Пример для Hyper-V внутри Hyper-V: Set-VMProcessor -VMName Nested-HV01 -ExposeVirtualizationExtensions $true</a:t>
            </a:r>
          </a:p>
          <a:p>
            <a:pPr>
              <a:defRPr sz="3600"/>
            </a:pPr>
            <a:r>
              <a:t>Ограничения могут затронуть Dynamic Memory, Live Migration, производительность, MAC spoofing и NAT</a:t>
            </a:r>
          </a:p>
          <a:p>
            <a:pPr>
              <a:defRPr sz="3600"/>
            </a:pPr>
            <a:r>
              <a:t>В отчете нужно указать, где работает HV01: на железе или внутри другой ВМ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Generation 1 и Generation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Generation 1 использует Legacy BIOS и лучше подходит для старых ОС</a:t>
            </a:r>
          </a:p>
          <a:p>
            <a:pPr>
              <a:defRPr sz="3600"/>
            </a:pPr>
            <a:r>
              <a:t>Generation 2 использует UEFI, Secure Boot и современную виртуальную аппаратуру</a:t>
            </a:r>
          </a:p>
          <a:p>
            <a:pPr>
              <a:defRPr sz="3600"/>
            </a:pPr>
            <a:r>
              <a:t>Boot Disk: Generation 1 — IDE, Generation 2 — SCSI</a:t>
            </a:r>
          </a:p>
          <a:p>
            <a:pPr>
              <a:defRPr sz="3600"/>
            </a:pPr>
            <a:r>
              <a:t>Поколение выбирается при создании ВМ и в базовом курсе считается неизменяемым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Secure Boot и Linux-гости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Windows Server Generation 2 Secure Boot обычно работает без дополнительных действий</a:t>
            </a:r>
          </a:p>
          <a:p>
            <a:pPr>
              <a:defRPr sz="3600"/>
            </a:pPr>
            <a:r>
              <a:t>Некоторые Linux-дистрибутивы требуют шаблон Microsoft UEFI Certificate Authority</a:t>
            </a:r>
          </a:p>
          <a:p>
            <a:pPr>
              <a:defRPr sz="3600"/>
            </a:pPr>
            <a:r>
              <a:t>Пример проверки: Get-VMFirmware -VMName Linux01</a:t>
            </a:r>
          </a:p>
          <a:p>
            <a:pPr>
              <a:defRPr sz="3600"/>
            </a:pPr>
            <a:r>
              <a:t>Пример настройки: Set-VMFirmware -VMName Linux01 -SecureBootTemplate MicrosoftUEFICertificateAuthority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Каталог и создание ВМ через New-VM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New-VM не должен полагаться на случайные пути и папки по умолчанию</a:t>
            </a:r>
          </a:p>
          <a:p>
            <a:pPr>
              <a:defRPr sz="3600"/>
            </a:pPr>
            <a:r>
              <a:t>Пример использования: New-Item -ItemType Directory -Path D:\VMs\DC01\Virtual Hard Disks -Force</a:t>
            </a:r>
          </a:p>
          <a:p>
            <a:pPr>
              <a:defRPr sz="3600"/>
            </a:pPr>
            <a:r>
              <a:t>Пример использования: New-VM -Name DC01 -Generation 2 -MemoryStartupBytes 2GB -NewVHDPath D:\VMs\DC01\Virtual Hard Disks\DC01-OS.vhdx -NewVHDSizeBytes 80GB -SwitchName External-LAN</a:t>
            </a:r>
          </a:p>
          <a:p>
            <a:pPr>
              <a:defRPr sz="3600"/>
            </a:pPr>
            <a:r>
              <a:t>Ожидаемый результат: DC01 появляется в Hyper-V Manager и подключена к External-LAN</a:t>
            </a:r>
          </a:p>
          <a:p>
            <a:pPr>
              <a:defRPr sz="3600"/>
            </a:pPr>
            <a:r>
              <a:t>После создания отдельно настраивают vCPU, ISO, память, checkpoint policy и порядок загрузки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vCPU, ISO и порядок загрузки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vCPU планируют по нагрузке: нельзя выдавать каждой ВМ максимум логических процессоров хоста</a:t>
            </a:r>
          </a:p>
          <a:p>
            <a:pPr>
              <a:defRPr sz="3600"/>
            </a:pPr>
            <a:r>
              <a:t>Пример использования: Set-VMProcessor -VMName DC01 -Count 2</a:t>
            </a:r>
          </a:p>
          <a:p>
            <a:pPr>
              <a:defRPr sz="3600"/>
            </a:pPr>
            <a:r>
              <a:t>Пример использования: Add-VMDvdDrive -VMName DC01 -Path D:\ISO\WindowsServer2022.iso</a:t>
            </a:r>
          </a:p>
          <a:p>
            <a:pPr>
              <a:defRPr sz="3600"/>
            </a:pPr>
            <a:r>
              <a:t>Для Generation 2 можно задать первый загрузочный носитель через Get-VMDvdDrive и Set-VMFirmware</a:t>
            </a:r>
          </a:p>
          <a:p>
            <a:pPr>
              <a:defRPr sz="3600"/>
            </a:pPr>
            <a:r>
              <a:t>После установки ISO отключают: Set-VMDvdDrive -VMName DC01 -Path $null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VHDX как основной формат диска Hyper-V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VHDX — современный формат виртуального диска Hyper-V</a:t>
            </a:r>
          </a:p>
          <a:p>
            <a:pPr>
              <a:defRPr sz="3600"/>
            </a:pPr>
            <a:r>
              <a:t>Он поддерживает значительно большие диски, чем старый VHD</a:t>
            </a:r>
          </a:p>
          <a:p>
            <a:pPr>
              <a:defRPr sz="3600"/>
            </a:pPr>
            <a:r>
              <a:t>VHDX устойчивее к сбоям благодаря защите metadata и журналированию структурных изменений</a:t>
            </a:r>
          </a:p>
          <a:p>
            <a:pPr>
              <a:defRPr sz="3600"/>
            </a:pPr>
            <a:r>
              <a:t>Для новых Windows Server ВМ обычно выбирают VHDX, а не VHD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Dynamic и Fixed VHDX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Dynamic VHDX растет по мере записи данных гостевой ОС и экономит место на старте</a:t>
            </a:r>
          </a:p>
          <a:p>
            <a:pPr>
              <a:defRPr sz="3600"/>
            </a:pPr>
            <a:r>
              <a:t>Fixed VHDX сразу резервирует полный размер файла на хостовом storage</a:t>
            </a:r>
          </a:p>
          <a:p>
            <a:pPr>
              <a:defRPr sz="3600"/>
            </a:pPr>
            <a:r>
              <a:t>Современный Dynamic VHDX часто достаточно производителен для учебных и многих рабочих задач</a:t>
            </a:r>
          </a:p>
          <a:p>
            <a:pPr>
              <a:defRPr sz="3600"/>
            </a:pPr>
            <a:r>
              <a:t>Главный риск Dynamic VHDX — переполнение тома хоста, а не только производительность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Differencing Disk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Differencing Disk хранит изменения относительно родительского Parent VHDX</a:t>
            </a:r>
          </a:p>
          <a:p>
            <a:pPr>
              <a:defRPr sz="3600"/>
            </a:pPr>
            <a:r>
              <a:t>Он удобен для шаблонов и быстрых лабораторных стендов</a:t>
            </a:r>
          </a:p>
          <a:p>
            <a:pPr>
              <a:defRPr sz="3600"/>
            </a:pPr>
            <a:r>
              <a:t>Child disk не работает без Parent, а Parent нельзя изменять после создания дочерних дисков</a:t>
            </a:r>
          </a:p>
          <a:p>
            <a:pPr>
              <a:defRPr sz="3600"/>
            </a:pPr>
            <a:r>
              <a:t>Для обычных серверных ВМ лучше использовать самостоятельные VHDX без длинных зависимостей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Расширение VHDX не расширяет раздел в гостевой 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Resize-VHD увеличивает виртуальный диск на Hyper-V Host</a:t>
            </a:r>
          </a:p>
          <a:p>
            <a:pPr>
              <a:defRPr sz="3600"/>
            </a:pPr>
            <a:r>
              <a:t>Пример использования: Resize-VHD -Path D:\VMs\FS01\FS01-Data.vhdx -SizeBytes 200GB</a:t>
            </a:r>
          </a:p>
          <a:p>
            <a:pPr>
              <a:defRPr sz="3600"/>
            </a:pPr>
            <a:r>
              <a:t>Ожидаемый результат: файл VHDX получил больший виртуальный размер</a:t>
            </a:r>
          </a:p>
          <a:p>
            <a:pPr>
              <a:defRPr sz="3600"/>
            </a:pPr>
            <a:r>
              <a:t>После этого внутри Windows VM нужно расширить partition и volume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VHDX, differencing disk и checkpoint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6E4EB9-87B4-9AA3-92EC-E77CB2D88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Виртуальный switch определяет связность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External switch подключает ВМ к физической сети через NIC хоста</a:t>
            </a:r>
          </a:p>
          <a:p>
            <a:pPr>
              <a:defRPr sz="3600"/>
            </a:pPr>
            <a:r>
              <a:t>Internal switch связывает ВМ между собой и с Management OS, но не дает Интернет сам по себе</a:t>
            </a:r>
          </a:p>
          <a:p>
            <a:pPr>
              <a:defRPr sz="3600"/>
            </a:pPr>
            <a:r>
              <a:t>Private switch связывает только ВМ внутри одного Hyper-V Host</a:t>
            </a:r>
          </a:p>
          <a:p>
            <a:pPr>
              <a:defRPr sz="3600"/>
            </a:pPr>
            <a:r>
              <a:t>Default Switch встречается на клиентском Hyper-V, но для серверного стенда лучше создавать сети явно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физического адаптера перед External 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 созданием external switch нужно узнать точное имя NIC</a:t>
            </a:r>
          </a:p>
          <a:p>
            <a:pPr>
              <a:defRPr sz="3600"/>
            </a:pPr>
            <a:r>
              <a:t>Пример использования: Get-NetAdapter | Sort-Object Name | Format-Table Name, InterfaceDescription, Status, LinkSpeed</a:t>
            </a:r>
          </a:p>
          <a:p>
            <a:pPr>
              <a:defRPr sz="3600"/>
            </a:pPr>
            <a:r>
              <a:t>Ожидаемый результат: выбран правильный адаптер с активным линком</a:t>
            </a:r>
          </a:p>
          <a:p>
            <a:pPr>
              <a:defRPr sz="3600"/>
            </a:pPr>
            <a:r>
              <a:t>На удаленном сервере ошибка выбора NIC может оборвать управление хостом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External 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New-VMSwitch создает виртуальный коммутатор Hyper-V</a:t>
            </a:r>
          </a:p>
          <a:p>
            <a:pPr>
              <a:defRPr sz="3600"/>
            </a:pPr>
            <a:r>
              <a:t>Пример использования: New-VMSwitch -Name External-LAN -NetAdapterName Ethernet -AllowManagementOS $true</a:t>
            </a:r>
          </a:p>
          <a:p>
            <a:pPr>
              <a:defRPr sz="3600"/>
            </a:pPr>
            <a:r>
              <a:t>Ожидаемый результат: создан switch External-LAN, а Management OS получает vEthernet-адаптер</a:t>
            </a:r>
          </a:p>
          <a:p>
            <a:pPr>
              <a:defRPr sz="3600"/>
            </a:pPr>
            <a:r>
              <a:t>После создания проверяют Get-VMSwitch и Get-NetIPConfiguration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AllowManagementOS: что происходит с NIC хоста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Физический адаптер передается виртуальному коммутатору Hyper-V</a:t>
            </a:r>
          </a:p>
          <a:p>
            <a:pPr>
              <a:defRPr sz="3600"/>
            </a:pPr>
            <a:r>
              <a:t>Management OS получает виртуальный адаптер vEthernet (External-LAN)</a:t>
            </a:r>
          </a:p>
          <a:p>
            <a:pPr>
              <a:defRPr sz="3600"/>
            </a:pPr>
            <a:r>
              <a:t>Именно на vEthernet переходят IP-настройки управляющей ОС</a:t>
            </a:r>
          </a:p>
          <a:p>
            <a:pPr>
              <a:defRPr sz="3600"/>
            </a:pPr>
            <a:r>
              <a:t>Если -AllowManagementOS $false, хост не получает доступ в эту сеть через данный switch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Internal Switch и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Internal switch сам по себе не дает ВМ доступ в Интернет</a:t>
            </a:r>
          </a:p>
          <a:p>
            <a:pPr>
              <a:defRPr sz="3600"/>
            </a:pPr>
            <a:r>
              <a:t>Пример создания: New-VMSwitch -Name Internal-NAT -SwitchType Internal</a:t>
            </a:r>
          </a:p>
          <a:p>
            <a:pPr>
              <a:defRPr sz="3600"/>
            </a:pPr>
            <a:r>
              <a:t>Пример использования: New-NetIPAddress -InterfaceAlias 'vEthernet (Internal-NAT)' -IPAddress 172.20.0.1 -PrefixLength 24</a:t>
            </a:r>
          </a:p>
          <a:p>
            <a:pPr>
              <a:defRPr sz="3600"/>
            </a:pPr>
            <a:r>
              <a:t>Затем создают NAT: New-NetNat -Name Internal-NAT -InternalIPInterfaceAddressPrefix 172.20.0.0/24</a:t>
            </a:r>
          </a:p>
          <a:p>
            <a:pPr>
              <a:defRPr sz="3600"/>
            </a:pPr>
            <a:r>
              <a:t>ВМ получает адрес 172.20.0.10/24 и gateway 172.20.0.1; DHCP автоматически не появляется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Private Switch не является полной безопасностью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Private switch изолирует ВМ от Management OS и внешней сети</a:t>
            </a:r>
          </a:p>
          <a:p>
            <a:pPr>
              <a:defRPr sz="3600"/>
            </a:pPr>
            <a:r>
              <a:t>Но ВМ внутри private-сети могут атаковать друг друга и конфликтовать адресами</a:t>
            </a:r>
          </a:p>
          <a:p>
            <a:pPr>
              <a:defRPr sz="3600"/>
            </a:pPr>
            <a:r>
              <a:t>В такой сети возможны rogue DHCP, перехват незашифрованного трафика и вредоносная активность</a:t>
            </a:r>
          </a:p>
          <a:p>
            <a:pPr>
              <a:defRPr sz="3600"/>
            </a:pPr>
            <a:r>
              <a:t>Это изоляция канала связи, а не полноценная security segmentation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сетевые интерфейсы Hyper-V Host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85BDDFD-0A40-BEC8-5FFB-6981C9300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Static и Dynamic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Static Memory закрепляет за ВМ постоянный объем RAM</a:t>
            </a:r>
          </a:p>
          <a:p>
            <a:pPr>
              <a:defRPr sz="3600"/>
            </a:pPr>
            <a:r>
              <a:t>Dynamic Memory меняет выделенную память в заданных пределах</a:t>
            </a:r>
          </a:p>
          <a:p>
            <a:pPr>
              <a:defRPr sz="3600"/>
            </a:pPr>
            <a:r>
              <a:t>Hyper-V ориентируется на потребность Guest OS и доступность памяти хоста</a:t>
            </a:r>
          </a:p>
          <a:p>
            <a:pPr>
              <a:defRPr sz="3600"/>
            </a:pPr>
            <a:r>
              <a:t>Некоторые серверные приложения требуют отдельной проверки рекомендаций производителя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Параметры Dynamic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Startup RAM — память для запуска ВМ</a:t>
            </a:r>
          </a:p>
          <a:p>
            <a:pPr>
              <a:defRPr sz="3600"/>
            </a:pPr>
            <a:r>
              <a:t>Minimum RAM и Maximum RAM задают рабочие границы</a:t>
            </a:r>
          </a:p>
          <a:p>
            <a:pPr>
              <a:defRPr sz="3600"/>
            </a:pPr>
            <a:r>
              <a:t>Memory Buffer оставляет запас сверх текущей потребности гостевой ОС</a:t>
            </a:r>
          </a:p>
          <a:p>
            <a:pPr>
              <a:defRPr sz="3600"/>
            </a:pPr>
            <a:r>
              <a:t>Memory Weight влияет на приоритет ВМ при конкуренции за память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Dynamic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Set-VMMemory задает режим и границы памяти для ВМ</a:t>
            </a:r>
          </a:p>
          <a:p>
            <a:pPr>
              <a:defRPr sz="3600"/>
            </a:pPr>
            <a:r>
              <a:t>Пример использования: Set-VMMemory -VMName FS01 -DynamicMemoryEnabled $true -StartupBytes 4GB -MinimumBytes 2GB -MaximumBytes 8GB -Buffer 20</a:t>
            </a:r>
          </a:p>
          <a:p>
            <a:pPr>
              <a:defRPr sz="3600"/>
            </a:pPr>
            <a:r>
              <a:t>Проверка: Get-VMMemory -VMName FS01</a:t>
            </a:r>
          </a:p>
          <a:p>
            <a:pPr>
              <a:defRPr sz="3600"/>
            </a:pPr>
            <a:r>
              <a:t>Ожидаемый результат: параметры Dynamic Memory совпадают с паспортом ВМ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Memory Pressure и память хоста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Memory Pressure обычно относится к конкретной ВМ и показывает отношение Demand к Assigned Memory</a:t>
            </a:r>
          </a:p>
          <a:p>
            <a:pPr>
              <a:defRPr sz="3600"/>
            </a:pPr>
            <a:r>
              <a:t>Высокий pressure у ВМ и низкая свободная RAM хоста показывают конкуренцию за память</a:t>
            </a:r>
          </a:p>
          <a:p>
            <a:pPr>
              <a:defRPr sz="3600"/>
            </a:pPr>
            <a:r>
              <a:t>Хост контролируют через Assigned Memory всех ВМ, Performance Monitor и события Hyper-V</a:t>
            </a:r>
          </a:p>
          <a:p>
            <a:pPr>
              <a:defRPr sz="3600"/>
            </a:pPr>
            <a:r>
              <a:t>Для DC задают разумный Minimum RAM, чтобы DNS, AD DS и антивирус не страдали при нагрузке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Integration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Integration Services улучшают взаимодействие Hyper-V Host и гостевой ОС</a:t>
            </a:r>
          </a:p>
          <a:p>
            <a:pPr>
              <a:defRPr sz="3600"/>
            </a:pPr>
            <a:r>
              <a:t>Heartbeat показывает, отвечает ли гостевая ОС</a:t>
            </a:r>
          </a:p>
          <a:p>
            <a:pPr>
              <a:defRPr sz="3600"/>
            </a:pPr>
            <a:r>
              <a:t>Time Synchronization, Shutdown, Data Exchange и Backup integration важны для эксплуатации</a:t>
            </a:r>
          </a:p>
          <a:p>
            <a:pPr>
              <a:defRPr sz="3600"/>
            </a:pPr>
            <a:r>
              <a:t>Guest Service Interface часто отключен по умолчанию и не обязателен для базовой работы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Integration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Get-VMIntegrationService показывает состояние служб интеграции</a:t>
            </a:r>
          </a:p>
          <a:p>
            <a:pPr>
              <a:defRPr sz="3600"/>
            </a:pPr>
            <a:r>
              <a:t>Пример использования: Get-VMIntegrationService -VMName DC01 | Format-Table Name, Enabled, PrimaryStatusDescription</a:t>
            </a:r>
          </a:p>
          <a:p>
            <a:pPr>
              <a:defRPr sz="3600"/>
            </a:pPr>
            <a:r>
              <a:t>Ожидаемый результат: ключевые службы включены и имеют нормальный статус</a:t>
            </a:r>
          </a:p>
          <a:p>
            <a:pPr>
              <a:defRPr sz="3600"/>
            </a:pPr>
            <a:r>
              <a:t>Если Backup или Heartbeat не в порядке, проверяют гостевую ОС и компоненты интеграции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Time Synchronization для доменных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Kerberos важно корректное время между клиентами и контроллерами домена</a:t>
            </a:r>
          </a:p>
          <a:p>
            <a:pPr>
              <a:defRPr sz="3600"/>
            </a:pPr>
            <a:r>
              <a:t>Обычные domain members синхронизируются по иерархии домена</a:t>
            </a:r>
          </a:p>
          <a:p>
            <a:pPr>
              <a:defRPr sz="3600"/>
            </a:pPr>
            <a:r>
              <a:t>PDC Emulator корневого домена леса должен иметь надежный внешний источник времени</a:t>
            </a:r>
          </a:p>
          <a:p>
            <a:pPr>
              <a:defRPr sz="3600"/>
            </a:pPr>
            <a:r>
              <a:t>Нельзя бездумно заставлять PDC Emulator одновременно брать время от Hyper-V Host и внешнего NTP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Checkpoint фиксирует состояние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Checkpoint — точка возврата ВМ на уровне Hyper-V</a:t>
            </a:r>
          </a:p>
          <a:p>
            <a:pPr>
              <a:defRPr sz="3600"/>
            </a:pPr>
            <a:r>
              <a:t>Он удобен перед лабораторным изменением или рискованной настройкой</a:t>
            </a:r>
          </a:p>
          <a:p>
            <a:pPr>
              <a:defRPr sz="3600"/>
            </a:pPr>
            <a:r>
              <a:t>Checkpoint создает differencing disk и зависит от файлов ВМ на хосте</a:t>
            </a:r>
          </a:p>
          <a:p>
            <a:pPr>
              <a:defRPr sz="3600"/>
            </a:pPr>
            <a:r>
              <a:t>Checkpoint не является независимым backup и не имеет полноценной backup retention policy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Production и Standard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Production Checkpoint использует VSS для Windows Guest и безопаснее для серверных ролей</a:t>
            </a:r>
          </a:p>
          <a:p>
            <a:pPr>
              <a:defRPr sz="3600"/>
            </a:pPr>
            <a:r>
              <a:t>Для Linux возможен file system freeze при поддержке гостевой ОС и integration components</a:t>
            </a:r>
          </a:p>
          <a:p>
            <a:pPr>
              <a:defRPr sz="3600"/>
            </a:pPr>
            <a:r>
              <a:t>Standard Checkpoint сохраняет память, процессы и состояние устройств</a:t>
            </a:r>
          </a:p>
          <a:p>
            <a:pPr>
              <a:defRPr sz="3600"/>
            </a:pPr>
            <a:r>
              <a:t>Откат Standard Checkpoint рискован для AD, баз данных, кластеров и распределенных приложений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Checkpoint Policy для серверной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серверов предпочтительно явно запретить fallback к Standard Checkpoint</a:t>
            </a:r>
          </a:p>
          <a:p>
            <a:pPr>
              <a:defRPr sz="3600"/>
            </a:pPr>
            <a:r>
              <a:t>Пример использования: Set-VM -Name DC01 -CheckpointType ProductionOnly</a:t>
            </a:r>
          </a:p>
          <a:p>
            <a:pPr>
              <a:defRPr sz="3600"/>
            </a:pPr>
            <a:r>
              <a:t>Ожидаемый результат: если Production Checkpoint невозможен, операция завершится ошибкой</a:t>
            </a:r>
          </a:p>
          <a:p>
            <a:pPr>
              <a:defRPr sz="3600"/>
            </a:pPr>
            <a:r>
              <a:t>Так администратор не получит незаметно Standard Checkpoint для критичной серверной роли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и проверка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Checkpoint-VM создает точку возврата с понятным именем</a:t>
            </a:r>
          </a:p>
          <a:p>
            <a:pPr>
              <a:defRPr sz="3600"/>
            </a:pPr>
            <a:r>
              <a:t>Пример использования: Checkpoint-VM -Name DC01 -SnapshotName 'Before-AD-Change'</a:t>
            </a:r>
          </a:p>
          <a:p>
            <a:pPr>
              <a:defRPr sz="3600"/>
            </a:pPr>
            <a:r>
              <a:t>Проверка: Get-VMSnapshot -VMName DC01</a:t>
            </a:r>
          </a:p>
          <a:p>
            <a:pPr>
              <a:defRPr sz="3600"/>
            </a:pPr>
            <a:r>
              <a:t>Ожидаемый результат: в списке виден checkpoint с указанным именем и временем создания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Apply и Delete Checkpoint — разные действия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Apply возвращает ВМ к выбранной точке состояния</a:t>
            </a:r>
          </a:p>
          <a:p>
            <a:pPr>
              <a:defRPr sz="3600"/>
            </a:pPr>
            <a:r>
              <a:t>Delete удаляет checkpoint и запускает merge AVHDX с родительским диском</a:t>
            </a:r>
          </a:p>
          <a:p>
            <a:pPr>
              <a:defRPr sz="3600"/>
            </a:pPr>
            <a:r>
              <a:t>Delete Checkpoint Subtree удаляет ветку checkpoint-цепочки</a:t>
            </a:r>
          </a:p>
          <a:p>
            <a:pPr>
              <a:defRPr sz="3600"/>
            </a:pPr>
            <a:r>
              <a:t>Студенты не должны думать, что Delete означает откат изменений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Удаление checkpoint и запрет ручного удаления AVHDX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Remove-VMSnapshot удаляет checkpoint поддерживаемым способом</a:t>
            </a:r>
          </a:p>
          <a:p>
            <a:pPr>
              <a:defRPr sz="3600"/>
            </a:pPr>
            <a:r>
              <a:t>Пример использования: Remove-VMSnapshot -VMName DC01 -Name 'Before-AD-Change'</a:t>
            </a:r>
          </a:p>
          <a:p>
            <a:pPr>
              <a:defRPr sz="3600"/>
            </a:pPr>
            <a:r>
              <a:t>Ожидаемый результат: checkpoint исчезает из Get-VMSnapshot, а merge завершается штатно</a:t>
            </a:r>
          </a:p>
          <a:p>
            <a:pPr>
              <a:defRPr sz="3600"/>
            </a:pPr>
            <a:r>
              <a:t>Файлы *.avhdx нельзя удалять вручную через Explorer: можно повредить диск ВМ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Checkpoint для Domain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Современные DC учитывают VM-Generation ID, но checkpoint все равно требует осторожности</a:t>
            </a:r>
          </a:p>
          <a:p>
            <a:pPr>
              <a:defRPr sz="3600"/>
            </a:pPr>
            <a:r>
              <a:t>Для удаления одного объекта AD сначала используют AD Recycle Bin, а не откат всей ВМ</a:t>
            </a:r>
          </a:p>
          <a:p>
            <a:pPr>
              <a:defRPr sz="3600"/>
            </a:pPr>
            <a:r>
              <a:t>Checkpoint не заменяет System State Backup, второй DC и Forest Recovery Plan</a:t>
            </a:r>
          </a:p>
          <a:p>
            <a:pPr>
              <a:defRPr sz="3600"/>
            </a:pPr>
            <a:r>
              <a:t>Для DC особенно важно понимать внешние зависимости и состояние репликации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Storage для checkpoint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Checkpoint files обычно находятся рядом с файлами ВМ или в заданном SnapshotFileLocation</a:t>
            </a:r>
          </a:p>
          <a:p>
            <a:pPr>
              <a:defRPr sz="3600"/>
            </a:pPr>
            <a:r>
              <a:t>Пример использования: Set-VM -Name DC01 -SnapshotFileLocation D:\VMs\DC01\Snapshots</a:t>
            </a:r>
          </a:p>
          <a:p>
            <a:pPr>
              <a:defRPr sz="3600"/>
            </a:pPr>
            <a:r>
              <a:t>Если том заполнится во время активного checkpoint, ВМ может получить серьезные проблемы</a:t>
            </a:r>
          </a:p>
          <a:p>
            <a:pPr>
              <a:defRPr sz="3600"/>
            </a:pPr>
            <a:r>
              <a:t>Checkpoint Count и свободное место storage входят в регулярный контроль Hyper-V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Export и Import переносят ВМ как управляемый объект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Export сохраняет конфигурацию ВМ, виртуальные диски, checkpoints и связанные файлы состояния</a:t>
            </a:r>
          </a:p>
          <a:p>
            <a:pPr>
              <a:defRPr sz="3600"/>
            </a:pPr>
            <a:r>
              <a:t>Пример использования: Export-VM -Name WEB01 -Path E:\Exports</a:t>
            </a:r>
          </a:p>
          <a:p>
            <a:pPr>
              <a:defRPr sz="3600"/>
            </a:pPr>
            <a:r>
              <a:t>Перед чистым переносом лучше выключить ВМ и удалить ненужные checkpoints</a:t>
            </a:r>
          </a:p>
          <a:p>
            <a:pPr>
              <a:defRPr sz="3600"/>
            </a:pPr>
            <a:r>
              <a:t>Export удобен для переноса или учебного архива, но не заменяет backup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Три варианта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Register in-place использует ВМ из текущего каталога без копирования файлов</a:t>
            </a:r>
          </a:p>
          <a:p>
            <a:pPr>
              <a:defRPr sz="3600"/>
            </a:pPr>
            <a:r>
              <a:t>Restore копирует файлы в стандартное или выбранное расположение и сохраняет идентичность ВМ</a:t>
            </a:r>
          </a:p>
          <a:p>
            <a:pPr>
              <a:defRPr sz="3600"/>
            </a:pPr>
            <a:r>
              <a:t>Copy создает новую копию с новым уникальным ID</a:t>
            </a:r>
          </a:p>
          <a:p>
            <a:pPr>
              <a:defRPr sz="3600"/>
            </a:pPr>
            <a:r>
              <a:t>Для лабораторного клона обычно безопаснее Import как Copy и подключение к isolated network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Compare-VM перед импортом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Compare-VM показывает несовместимости импортируемой ВМ с текущим Hyper-V Host</a:t>
            </a:r>
          </a:p>
          <a:p>
            <a:pPr>
              <a:defRPr sz="3600"/>
            </a:pPr>
            <a:r>
              <a:t>Пример использования: Compare-VM -Path E:\Exports\WEB01\Virtual Machines\config-file.vmcx</a:t>
            </a:r>
          </a:p>
          <a:p>
            <a:pPr>
              <a:defRPr sz="3600"/>
            </a:pPr>
            <a:r>
              <a:t>Возможные проблемы: отсутствующий switch, другой путь, несовместимый адаптер или нехватка ресурсов</a:t>
            </a:r>
          </a:p>
          <a:p>
            <a:pPr>
              <a:defRPr sz="3600"/>
            </a:pPr>
            <a:r>
              <a:t>После анализа выбирают Register, Restore или Copy и исправляют incompatibilities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Клонирование Windows Server требует Sysprep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Простая смена hostname и IP не является полноценной подготовкой шаблона</a:t>
            </a:r>
          </a:p>
          <a:p>
            <a:pPr>
              <a:defRPr sz="3600"/>
            </a:pPr>
            <a:r>
              <a:t>Для шаблона ОС не вводят в домен, устанавливают обновления и очищают временные данные</a:t>
            </a:r>
          </a:p>
          <a:p>
            <a:pPr>
              <a:defRPr sz="3600"/>
            </a:pPr>
            <a:r>
              <a:t>Пример использования: sysprep /generalize /oobe /shutdown</a:t>
            </a:r>
          </a:p>
          <a:p>
            <a:pPr>
              <a:defRPr sz="3600"/>
            </a:pPr>
            <a:r>
              <a:t>После выключения ВМ экспортируют и импортируют как Copy, затем задают новое имя и IP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Контроллер домена нельзя клонировать как обычный сервер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Обычный сценарий Export DC01, Import Copy и смена имени не является корректным способом создать второй DC</a:t>
            </a:r>
          </a:p>
          <a:p>
            <a:pPr>
              <a:defRPr sz="3600"/>
            </a:pPr>
            <a:r>
              <a:t>Для DC существуют специальные механизмы Virtualized Domain Controller Cloning при выполнении требований AD DS</a:t>
            </a:r>
          </a:p>
          <a:p>
            <a:pPr>
              <a:defRPr sz="3600"/>
            </a:pPr>
            <a:r>
              <a:t>В базовом курсе обычное клонирование DC нужно считать запрещенным</a:t>
            </a:r>
          </a:p>
          <a:p>
            <a:pPr>
              <a:defRPr sz="3600"/>
            </a:pPr>
            <a:r>
              <a:t>Для нового DC безопаснее развернуть отдельный сервер и повысить его до контроллера домена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Размещение файлов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Рабочие VHDX не размещают на системном томе C: без крайней необходимости</a:t>
            </a:r>
          </a:p>
          <a:p>
            <a:pPr>
              <a:defRPr sz="3600"/>
            </a:pPr>
            <a:r>
              <a:t>Пример структуры: D:\VMs\DC01\Config и D:\VMs\DC01\Virtual Hard Disks</a:t>
            </a:r>
          </a:p>
          <a:p>
            <a:pPr>
              <a:defRPr sz="3600"/>
            </a:pPr>
            <a:r>
              <a:t>ISO, Exports и Temp лучше отделять от production storage</a:t>
            </a:r>
          </a:p>
          <a:p>
            <a:pPr>
              <a:defRPr sz="3600"/>
            </a:pPr>
            <a:r>
              <a:t>Заполнение C: или тома с VHDX может остановить службы, merge checkpoint и работу ВМ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Automatic Start и Stop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Automatic Start Action определяет, стартует ли ВМ после перезагрузки хоста</a:t>
            </a:r>
          </a:p>
          <a:p>
            <a:pPr>
              <a:defRPr sz="3600"/>
            </a:pPr>
            <a:r>
              <a:t>Startup Delay помогает задать порядок запуска DC, DNS, database и приложений</a:t>
            </a:r>
          </a:p>
          <a:p>
            <a:pPr>
              <a:defRPr sz="3600"/>
            </a:pPr>
            <a:r>
              <a:t>Пример использования: Set-VM -Name DC01 -AutomaticStartAction StartIfRunning -AutomaticStartDelay 30 -AutomaticStopAction ShutDown</a:t>
            </a:r>
          </a:p>
          <a:p>
            <a:pPr>
              <a:defRPr sz="3600"/>
            </a:pPr>
            <a:r>
              <a:t>Для серверной ОС обычно предпочтителен корректный ShutDown, если Integration Services работают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Resource Metering и базовый мониторинг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Resource Metering помогает измерять потребление ресурсов ВМ</a:t>
            </a:r>
          </a:p>
          <a:p>
            <a:pPr>
              <a:defRPr sz="3600"/>
            </a:pPr>
            <a:r>
              <a:t>Пример использования: Enable-VMResourceMetering -VMName DC01; Measure-VM -VMName DC01</a:t>
            </a:r>
          </a:p>
          <a:p>
            <a:pPr>
              <a:defRPr sz="3600"/>
            </a:pPr>
            <a:r>
              <a:t>Контролируют CPU Usage, Assigned Memory, disk latency, network throughput и host free space</a:t>
            </a:r>
          </a:p>
          <a:p>
            <a:pPr>
              <a:defRPr sz="3600"/>
            </a:pPr>
            <a:r>
              <a:t>Также проверяют checkpoint count, backup status и возраст последней успешной копии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итоговой конфигурации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Get-VM показывает состояние и базовые свойства ВМ</a:t>
            </a:r>
          </a:p>
          <a:p>
            <a:pPr>
              <a:defRPr sz="3600"/>
            </a:pPr>
            <a:r>
              <a:t>Пример использования: Get-VM -Name DC01 | Format-List *</a:t>
            </a:r>
          </a:p>
          <a:p>
            <a:pPr>
              <a:defRPr sz="3600"/>
            </a:pPr>
            <a:r>
              <a:t>Дополнительно: Get-VMProcessor, Get-VMMemory, Get-VMHardDiskDrive и Get-VMNetworkAdapter</a:t>
            </a:r>
          </a:p>
          <a:p>
            <a:pPr>
              <a:defRPr sz="3600"/>
            </a:pPr>
            <a:r>
              <a:t>Для checkpoint и интеграции используют Get-VMSnapshot и Get-VMIntegrationService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Паспорт ВМ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Паспорт фиксирует VM Name, Role, Host, Generation, vCPU, RAM и Dynamic Memory</a:t>
            </a:r>
          </a:p>
          <a:p>
            <a:pPr>
              <a:defRPr sz="3600"/>
            </a:pPr>
            <a:r>
              <a:t>Также указывают OS VHDX, Data VHDX, Switch, MAC, Checkpoint Policy и Backup Job</a:t>
            </a:r>
          </a:p>
          <a:p>
            <a:pPr>
              <a:defRPr sz="3600"/>
            </a:pPr>
            <a:r>
              <a:t>Обязательны paths, owner, automatic start, critical dependencies и назначение ВМ</a:t>
            </a:r>
          </a:p>
          <a:p>
            <a:pPr>
              <a:defRPr sz="3600"/>
            </a:pPr>
            <a:r>
              <a:t>Паспорт должен совпадать с фактической конфигурацией, проверенной PowerShell-командами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Безопасный лабораторный сценарий импорта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Выключить WEB01, удалить ненужные checkpoints и экспортировать в E:\Exports</a:t>
            </a:r>
          </a:p>
          <a:p>
            <a:pPr>
              <a:defRPr sz="3600"/>
            </a:pPr>
            <a:r>
              <a:t>Импортировать как Copy и назвать копию WEB01-TEST</a:t>
            </a:r>
          </a:p>
          <a:p>
            <a:pPr>
              <a:defRPr sz="3600"/>
            </a:pPr>
            <a:r>
              <a:t>Подключить WEB01-TEST к Private Switch или isolated network</a:t>
            </a:r>
          </a:p>
          <a:p>
            <a:pPr>
              <a:defRPr sz="3600"/>
            </a:pPr>
            <a:r>
              <a:t>После проверки сменить hostname/IP при необходимости и удалить тестовую копию после сдачи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жизненный цикл ВМ от создания до безопасного импорта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DE3DDD-89D3-4A53-46CF-4067B3C31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Приемочная матрица Hyper-V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Hyper-V Installed, vmms Running, External Switch создан на правильном NIC</a:t>
            </a:r>
          </a:p>
          <a:p>
            <a:pPr>
              <a:defRPr sz="3600"/>
            </a:pPr>
            <a:r>
              <a:t>Gen2 VM создана, Secure Boot соответствует Guest OS, ISO подключен и затем отключен</a:t>
            </a:r>
          </a:p>
          <a:p>
            <a:pPr>
              <a:defRPr sz="3600"/>
            </a:pPr>
            <a:r>
              <a:t>vCPU, Dynamic Memory, VHDX, switch и paths соответствуют паспорту</a:t>
            </a:r>
          </a:p>
          <a:p>
            <a:pPr>
              <a:defRPr sz="3600"/>
            </a:pPr>
            <a:r>
              <a:t>ProductionOnly задан, checkpoint создан и удален, бесконтрольной AVHDX-цепочки нет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Приемочная матрица: перенос и эксплуатация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Export завершен, import выполнен как Copy в изолированную сеть</a:t>
            </a:r>
          </a:p>
          <a:p>
            <a:pPr>
              <a:defRPr sz="3600"/>
            </a:pPr>
            <a:r>
              <a:t>Automatic Start/Stop Actions заданы для серверной роли</a:t>
            </a:r>
          </a:p>
          <a:p>
            <a:pPr>
              <a:defRPr sz="3600"/>
            </a:pPr>
            <a:r>
              <a:t>Resource Metering или базовый мониторинг включен для контроля нагрузки</a:t>
            </a:r>
          </a:p>
          <a:p>
            <a:pPr>
              <a:defRPr sz="3600"/>
            </a:pPr>
            <a:r>
              <a:t>В отчете прямо указано: Export и Checkpoint не являются заменой backup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Hyper-V — гипервизор первого типа, а Management OS является управляющим разделом</a:t>
            </a:r>
          </a:p>
          <a:p>
            <a:pPr>
              <a:defRPr sz="3600"/>
            </a:pPr>
            <a:r>
              <a:t>Generation, VHDX, switch, memory и checkpoint policy выбирают до установки серверной роли</a:t>
            </a:r>
          </a:p>
          <a:p>
            <a:pPr>
              <a:defRPr sz="3600"/>
            </a:pPr>
            <a:r>
              <a:t>Production Checkpoint безопаснее Standard, но все равно не заменяет backup</a:t>
            </a:r>
          </a:p>
          <a:p>
            <a:pPr>
              <a:defRPr sz="3600"/>
            </a:pPr>
            <a:r>
              <a:t>Экспорт, импорт и клонирование требуют изоляции сети, Sysprep и точной документации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Hyper-V как Type-1 hypervisor отличается от обычного приложения виртуализации?</a:t>
            </a:r>
          </a:p>
          <a:p>
            <a:pPr>
              <a:defRPr sz="3600"/>
            </a:pPr>
            <a:r>
              <a:t>Какие требования процессора и BIOS/UEFI нужны для Hyper-V?</a:t>
            </a:r>
          </a:p>
          <a:p>
            <a:pPr>
              <a:defRPr sz="3600"/>
            </a:pPr>
            <a:r>
              <a:t>Чем Generation 2 отличается от Generation 1?</a:t>
            </a:r>
          </a:p>
          <a:p>
            <a:pPr>
              <a:defRPr sz="3600"/>
            </a:pPr>
            <a:r>
              <a:t>Почему Dynamic VHDX может быть опасен при заполнении тома хоста?</a:t>
            </a:r>
          </a:p>
          <a:p>
            <a:pPr>
              <a:defRPr sz="3600"/>
            </a:pPr>
            <a:r>
              <a:t>Для чего используется AllowManagementOS при создании External Switch?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эксплуатация Hyper-V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Internal Switch отличается от Private Switch?</a:t>
            </a:r>
          </a:p>
          <a:p>
            <a:pPr>
              <a:defRPr sz="3600"/>
            </a:pPr>
            <a:r>
              <a:t>Какие параметры включает Dynamic Memory?</a:t>
            </a:r>
          </a:p>
          <a:p>
            <a:pPr>
              <a:defRPr sz="3600"/>
            </a:pPr>
            <a:r>
              <a:t>Чем Production Checkpoint отличается от Standard Checkpoint?</a:t>
            </a:r>
          </a:p>
          <a:p>
            <a:pPr>
              <a:defRPr sz="3600"/>
            </a:pPr>
            <a:r>
              <a:t>Что происходит при Delete Checkpoint и почему нельзя удалять AVHDX вручную?</a:t>
            </a:r>
          </a:p>
          <a:p>
            <a:pPr>
              <a:defRPr sz="3600"/>
            </a:pPr>
            <a:r>
              <a:t>Чем Register, Restore и Copy отличаются при импорте ВМ?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2872</Words>
  <Application>Microsoft Office PowerPoint</Application>
  <PresentationFormat>Широкоэкранный</PresentationFormat>
  <Paragraphs>289</Paragraphs>
  <Slides>60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2026-07-31T05:40:33Z</dcterms:modified>
  <cp:category/>
</cp:coreProperties>
</file>