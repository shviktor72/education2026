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10. Удалённый доступ и межсайтовая связь: RRAS, NAT и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 RRAS как маршрутизатор, NAT-шлюз и VPN-шлюз Windows Server</a:t>
            </a:r>
          </a:p>
          <a:p>
            <a:pPr>
              <a:defRPr sz="3600"/>
            </a:pPr>
            <a:r>
              <a:t>Проектировать адресацию Internal, External, VPN Pool и Branch LAN без пересечений</a:t>
            </a:r>
          </a:p>
          <a:p>
            <a:pPr>
              <a:defRPr sz="3600"/>
            </a:pPr>
            <a:r>
              <a:t>Различать Remote Access VPN, Site-to-Site VPN, SSTP, L2TP/IPsec и IKEv2</a:t>
            </a:r>
          </a:p>
          <a:p>
            <a:pPr>
              <a:defRPr sz="3600"/>
            </a:pPr>
            <a:r>
              <a:t>Проверять доступ по маршрутам, сертификатам, NPS-политикам, firewall и журналам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RRAS как router, internal/external interfaces, static routing и NAT.</a:t>
            </a:r>
          </a:p>
          <a:p>
            <a:pPr>
              <a:defRPr sz="3600"/>
            </a:pPr>
            <a:r>
              <a:t>2. Remote Access и Site-to-Site VPN.</a:t>
            </a:r>
          </a:p>
          <a:p>
            <a:pPr>
              <a:defRPr sz="3600"/>
            </a:pPr>
            <a:r>
              <a:t>3. SSTP, L2TP/IPsec, IKEv2 и устаревший PPTP.</a:t>
            </a:r>
          </a:p>
          <a:p>
            <a:pPr>
              <a:defRPr sz="3600"/>
            </a:pPr>
            <a:r>
              <a:t>4. Certificates, address pools, access rights и обзор NPS.</a:t>
            </a:r>
          </a:p>
          <a:p>
            <a:pPr>
              <a:defRPr sz="3600"/>
            </a:pPr>
            <a:r>
              <a:t>5. Split/Full Tunnel, routes, firewall, logs и intersite VPN.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RRAS-HQ получает два NIC: External для транзитной сети и Internal для HQ LAN</a:t>
            </a:r>
          </a:p>
          <a:p>
            <a:pPr>
              <a:defRPr sz="3600"/>
            </a:pPr>
            <a:r>
              <a:t>На RRAS-HQ включаются LAN Routing, NAT и Remote Access VPN для группы VPN-Users</a:t>
            </a:r>
          </a:p>
          <a:p>
            <a:pPr>
              <a:defRPr sz="3600"/>
            </a:pPr>
            <a:r>
              <a:t>На RRAS-BR создаётся Demand-Dial Site-to-Site VPN к HQ</a:t>
            </a:r>
          </a:p>
          <a:p>
            <a:pPr>
              <a:defRPr sz="3600"/>
            </a:pPr>
            <a:r>
              <a:t>Приёмка проверяет разрешённые и запрещённые потоки, маршруты, сертификаты и журналы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RRAS объединяет маршрутизацию, NAT и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RRAS (Routing and Remote Access Service) — роль Windows Server для маршрутизации, NAT и VPN</a:t>
            </a:r>
          </a:p>
          <a:p>
            <a:pPr>
              <a:defRPr sz="3600"/>
            </a:pPr>
            <a:r>
              <a:t>Router пересылает трафик между подсетями по таблице маршрутизации</a:t>
            </a:r>
          </a:p>
          <a:p>
            <a:pPr>
              <a:defRPr sz="3600"/>
            </a:pPr>
            <a:r>
              <a:t>NAT (Network Address Translation) заменяет адрес источника при выходе из внутренней сети</a:t>
            </a:r>
          </a:p>
          <a:p>
            <a:pPr>
              <a:defRPr sz="3600"/>
            </a:pPr>
            <a:r>
              <a:t>VPN (Virtual Private Network) создаёт защищённый туннель для пользователя или филиала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Адресный план должен быть понятен до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HQ LAN: 10.10.0.0/24, RRAS-HQ Internal: 10.10.0.1, DC01/DNS: 10.10.0.10</a:t>
            </a:r>
          </a:p>
          <a:p>
            <a:pPr>
              <a:defRPr sz="3600"/>
            </a:pPr>
            <a:r>
              <a:t>External/Transit HQ: 192.168.100.0/24, RRAS-HQ External: 192.168.100.10, gateway: 192.168.100.1</a:t>
            </a:r>
          </a:p>
          <a:p>
            <a:pPr>
              <a:defRPr sz="3600"/>
            </a:pPr>
            <a:r>
              <a:t>Remote VPN Pool: 10.10.250.10-10.10.250.100</a:t>
            </a:r>
          </a:p>
          <a:p>
            <a:pPr>
              <a:defRPr sz="3600"/>
            </a:pPr>
            <a:r>
              <a:t>Branch LAN: 10.20.0.0/24, RRAS-BR Internal: 10.20.0.1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RRAS-HQ, RRAS-BR, VPN-клиент и подсети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F56C9C-5E7A-BDB0-ADC0-F21A5FF58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Интерфейсы нужно переименовать до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Понятные имена External и Internal снижают риск перепутать Public и Private Interface</a:t>
            </a:r>
          </a:p>
          <a:p>
            <a:pPr>
              <a:defRPr sz="3600"/>
            </a:pPr>
            <a:r>
              <a:t>Команда: Rename-NetAdapter — переименовывает сетевой адаптер</a:t>
            </a:r>
          </a:p>
          <a:p>
            <a:pPr>
              <a:defRPr sz="3600"/>
            </a:pPr>
            <a:r>
              <a:t>Пример: Rename-NetAdapter -Name "Ethernet" -NewName "External"</a:t>
            </a:r>
          </a:p>
          <a:p>
            <a:pPr>
              <a:defRPr sz="3600"/>
            </a:pPr>
            <a:r>
              <a:t>Проверка: Get-NetAdapter | Format-Table Name,Status,MacAddress,LinkSpeed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Default Gateway обычно задают только на External 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External NIC получает gateway 192.168.100.1 для выхода во внешнюю сеть</a:t>
            </a:r>
          </a:p>
          <a:p>
            <a:pPr>
              <a:defRPr sz="3600"/>
            </a:pPr>
            <a:r>
              <a:t>Internal NIC обычно не имеет default gateway, чтобы не создавать два маршрута по умолчанию</a:t>
            </a:r>
          </a:p>
          <a:p>
            <a:pPr>
              <a:defRPr sz="3600"/>
            </a:pPr>
            <a:r>
              <a:t>Два gateway могут вызвать асимметричную маршрутизацию и неправильный ответный путь</a:t>
            </a:r>
          </a:p>
          <a:p>
            <a:pPr>
              <a:defRPr sz="3600"/>
            </a:pPr>
            <a:r>
              <a:t>Проверка: Get-NetIPConfiguration | Select InterfaceAlias,IPv4Address,IPv4DefaultGateway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External NIC не должен засорять доменную DNS-зону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внешний адрес RRAS зарегистрируется в DNS, клиенты могут получать неправильный IP</a:t>
            </a:r>
          </a:p>
          <a:p>
            <a:pPr>
              <a:defRPr sz="3600"/>
            </a:pPr>
            <a:r>
              <a:t>Проверка: Get-DnsClient | Select InterfaceAlias,RegisterThisConnectionsAddress</a:t>
            </a:r>
          </a:p>
          <a:p>
            <a:pPr>
              <a:defRPr sz="3600"/>
            </a:pPr>
            <a:r>
              <a:t>Пример: Set-DnsClient -InterfaceAlias "External" -RegisterThisConnectionsAddress $false</a:t>
            </a:r>
          </a:p>
          <a:p>
            <a:pPr>
              <a:defRPr sz="3600"/>
            </a:pPr>
            <a:r>
              <a:t>DNS-сервер для доменного сервера выбирают по проекту, но регистрация External обычно отключается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Роль Remote Access нужно установить явно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Install-WindowsFeature — устанавливает роль и role services</a:t>
            </a:r>
          </a:p>
          <a:p>
            <a:pPr>
              <a:defRPr sz="3600"/>
            </a:pPr>
            <a:r>
              <a:t>Пример: Install-WindowsFeature RemoteAccess,DirectAccess-VPN,Routing -IncludeManagementTools</a:t>
            </a:r>
          </a:p>
          <a:p>
            <a:pPr>
              <a:defRPr sz="3600"/>
            </a:pPr>
            <a:r>
              <a:t>Проверка: Get-WindowsFeature RemoteAccess,DirectAccess-VPN,Routing</a:t>
            </a:r>
          </a:p>
          <a:p>
            <a:pPr>
              <a:defRPr sz="3600"/>
            </a:pPr>
            <a:r>
              <a:t>Служба RemoteAccess появится, но сама установка роли ещё не включает RRAS-сценарий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 установки RRAS включают через мастер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Открывается Routing and Remote Access -&gt; Configure and Enable Routing and Remote Access</a:t>
            </a:r>
          </a:p>
          <a:p>
            <a:pPr>
              <a:defRPr sz="3600"/>
            </a:pPr>
            <a:r>
              <a:t>Для учебного сценария подходит Custom configuration</a:t>
            </a:r>
          </a:p>
          <a:p>
            <a:pPr>
              <a:defRPr sz="3600"/>
            </a:pPr>
            <a:r>
              <a:t>Выбираются VPN access, NAT и LAN routing</a:t>
            </a:r>
          </a:p>
          <a:p>
            <a:pPr>
              <a:defRPr sz="3600"/>
            </a:pPr>
            <a:r>
              <a:t>После завершения мастер запускает службу RRAS, которую проверяют командой Get-Service RemoteAccess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Static route и default route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Default route 0.0.0.0/0 используется, когда нет более точного маршрута</a:t>
            </a:r>
          </a:p>
          <a:p>
            <a:pPr>
              <a:defRPr sz="3600"/>
            </a:pPr>
            <a:r>
              <a:t>Static route вручную указывает путь к конкретной удалённой подсети</a:t>
            </a:r>
          </a:p>
          <a:p>
            <a:pPr>
              <a:defRPr sz="3600"/>
            </a:pPr>
            <a:r>
              <a:t>Windows выбирает самый длинный prefix, а затем меньшую metric</a:t>
            </a:r>
          </a:p>
          <a:p>
            <a:pPr>
              <a:defRPr sz="3600"/>
            </a:pPr>
            <a:r>
              <a:t>Проверка: Get-NetRoute | Sort-Object DestinationPrefix,RouteMetric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Постоянный маршрут создают через New-NetRoute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New-NetRoute — создаёт маршрут в таблице Windows</a:t>
            </a:r>
          </a:p>
          <a:p>
            <a:pPr>
              <a:defRPr sz="3600"/>
            </a:pPr>
            <a:r>
              <a:t>Пример: New-NetRoute -DestinationPrefix "10.20.0.0/24" -InterfaceAlias "Internal" -NextHop "10.10.0.254" -RouteMetric 10 -PolicyStore PersistentStore</a:t>
            </a:r>
          </a:p>
          <a:p>
            <a:pPr>
              <a:defRPr sz="3600"/>
            </a:pPr>
            <a:r>
              <a:t>Ожидаемый результат: маршрут сохраняется после перезагрузки</a:t>
            </a:r>
          </a:p>
          <a:p>
            <a:pPr>
              <a:defRPr sz="3600"/>
            </a:pPr>
            <a:r>
              <a:t>Проверка: Get-NetRoute -DestinationPrefix "10.20.0.0/24"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VPN route отличается от обычного LAN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Обычный static route указывает next hop IP следующего маршрутизатора</a:t>
            </a:r>
          </a:p>
          <a:p>
            <a:pPr>
              <a:defRPr sz="3600"/>
            </a:pPr>
            <a:r>
              <a:t>Site-to-Site RRAS route часто привязывается к Demand-Dial Interface</a:t>
            </a:r>
          </a:p>
          <a:p>
            <a:pPr>
              <a:defRPr sz="3600"/>
            </a:pPr>
            <a:r>
              <a:t>Если указать произвольный next hop, маршрут может не поднять туннель</a:t>
            </a:r>
          </a:p>
          <a:p>
            <a:pPr>
              <a:defRPr sz="3600"/>
            </a:pPr>
            <a:r>
              <a:t>Для Demand-Dial маршрута фиксируют удалённую подсеть и интерфейс To-BRANCH или To-HQ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RRAS NAT требует Public и Private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External Interface в RRAS NAT настраивается как Public Interface</a:t>
            </a:r>
          </a:p>
          <a:p>
            <a:pPr>
              <a:defRPr sz="3600"/>
            </a:pPr>
            <a:r>
              <a:t>На Public Interface включают NAT для исходящего трафика внутренней сети</a:t>
            </a:r>
          </a:p>
          <a:p>
            <a:pPr>
              <a:defRPr sz="3600"/>
            </a:pPr>
            <a:r>
              <a:t>Internal Interface настраивается как Private Interface</a:t>
            </a:r>
          </a:p>
          <a:p>
            <a:pPr>
              <a:defRPr sz="3600"/>
            </a:pPr>
            <a:r>
              <a:t>Если перепутать роли интерфейсов, NAT не заработает или будет опасно открыт наружу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LAN-клиент должен использовать RRAS как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HQ-CLIENT: IP 10.10.0.50, mask 255.255.255.0, gateway 10.10.0.1, DNS 10.10.0.10</a:t>
            </a:r>
          </a:p>
          <a:p>
            <a:pPr>
              <a:defRPr sz="3600"/>
            </a:pPr>
            <a:r>
              <a:t>Если gateway клиента указывает на другой маршрутизатор, трафик не пойдёт через RRAS NAT</a:t>
            </a:r>
          </a:p>
          <a:p>
            <a:pPr>
              <a:defRPr sz="3600"/>
            </a:pPr>
            <a:r>
              <a:t>Проверка DNS: Resolve-DnsName example.com</a:t>
            </a:r>
          </a:p>
          <a:p>
            <a:pPr>
              <a:defRPr sz="3600"/>
            </a:pPr>
            <a:r>
              <a:t>Проверка TCP: Test-NetConnection example.com -Port 443</a:t>
            </a:r>
          </a:p>
          <a:p>
            <a:pPr>
              <a:defRPr sz="3600"/>
            </a:pPr>
            <a:r>
              <a:t>Если ping 1.1.1.1 работает, а имя не открывается, вероятна проблема DNS</a:t>
            </a:r>
          </a:p>
          <a:p>
            <a:pPr>
              <a:defRPr sz="3600"/>
            </a:pPr>
            <a:r>
              <a:t>Если DNS разрешает имя, но TCP не подключается, проверяются route, NAT, firewall и приложение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RRAS NAT не заменяет firewall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NAT скрывает внутренние адреса, но не является полноценной политикой безопасности</a:t>
            </a:r>
          </a:p>
          <a:p>
            <a:pPr>
              <a:defRPr sz="3600"/>
            </a:pPr>
            <a:r>
              <a:t>Stateful Firewall, scope, local port и remote address задаются отдельными правилами</a:t>
            </a:r>
          </a:p>
          <a:p>
            <a:pPr>
              <a:defRPr sz="3600"/>
            </a:pPr>
            <a:r>
              <a:t>NAT не выполняет IDS/IPS и не заменяет сегментацию сети</a:t>
            </a:r>
          </a:p>
          <a:p>
            <a:pPr>
              <a:defRPr sz="3600"/>
            </a:pPr>
            <a:r>
              <a:t>Windows Defender Firewall должен иметь отдельные правила для management и VPN traffic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Remote Access VPN и Site-to-Site VPN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Remote Access VPN подключает отдельного пользователя к сети организации</a:t>
            </a:r>
          </a:p>
          <a:p>
            <a:pPr>
              <a:defRPr sz="3600"/>
            </a:pPr>
            <a:r>
              <a:t>Site-to-Site VPN связывает две подсети через VPN-шлюзы</a:t>
            </a:r>
          </a:p>
          <a:p>
            <a:pPr>
              <a:defRPr sz="3600"/>
            </a:pPr>
            <a:r>
              <a:t>Remote user получает адрес из VPN pool и маршруты к внутренним сетям</a:t>
            </a:r>
          </a:p>
          <a:p>
            <a:pPr>
              <a:defRPr sz="3600"/>
            </a:pPr>
            <a:r>
              <a:t>Branch gateway маршрутизирует трафик целой подсети филиала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Remote Access VPN и Site-to-Site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B488E2-F97E-5CB5-5546-6C27D824D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Remote Access проверяется по всей цепочке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Туннель установлен, клиент получил VPN IP и маршруты</a:t>
            </a:r>
          </a:p>
          <a:p>
            <a:pPr>
              <a:defRPr sz="3600"/>
            </a:pPr>
            <a:r>
              <a:t>DNS внутренних зон разрешает dc01.corp.test и fs01.corp.test</a:t>
            </a:r>
          </a:p>
          <a:p>
            <a:pPr>
              <a:defRPr sz="3600"/>
            </a:pPr>
            <a:r>
              <a:t>Разрешённый ресурс доступен, например FS01 по TCP 445</a:t>
            </a:r>
          </a:p>
          <a:p>
            <a:pPr>
              <a:defRPr sz="3600"/>
            </a:pPr>
            <a:r>
              <a:t>Запрещённый ресурс остаётся недоступным, а после отключения маршруты VPN удаляются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Dial-in Permission и группа VPN-Users не одно и то же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VPN-Users должна быть доменной Security Group</a:t>
            </a:r>
          </a:p>
          <a:p>
            <a:pPr>
              <a:defRPr sz="3600"/>
            </a:pPr>
            <a:r>
              <a:t>Пример: New-ADGroup -Name "VPN-Users" -GroupScope Global -GroupCategory Security -Path "OU=Groups,OU=Corp,DC=corp,DC=test"</a:t>
            </a:r>
          </a:p>
          <a:p>
            <a:pPr>
              <a:defRPr sz="3600"/>
            </a:pPr>
            <a:r>
              <a:t>Пример: Add-ADGroupMember -Identity "VPN-Users" -Members ipetrov</a:t>
            </a:r>
          </a:p>
          <a:p>
            <a:pPr>
              <a:defRPr sz="3600"/>
            </a:pPr>
            <a:r>
              <a:t>Современная модель: пользователь имеет Control access through NPS Network Policy, а NPS разрешает группу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NPS отделяет VPN-службу от политики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NPS (Network Policy Server) — сервер политик RADIUS для проверки доступа</a:t>
            </a:r>
          </a:p>
          <a:p>
            <a:pPr>
              <a:defRPr sz="3600"/>
            </a:pPr>
            <a:r>
              <a:t>Схема: VPN Client -&gt; RRAS -&gt; RADIUS Request -&gt; NPS -&gt; Allow или Deny</a:t>
            </a:r>
          </a:p>
          <a:p>
            <a:pPr>
              <a:defRPr sz="3600"/>
            </a:pPr>
            <a:r>
              <a:t>NPS проверяет группу, тип подключения, метод аутентификации, время и ограничения</a:t>
            </a:r>
          </a:p>
          <a:p>
            <a:pPr>
              <a:defRPr sz="3600"/>
            </a:pPr>
            <a:r>
              <a:t>Отрицательный тест пользователя вне VPN-Users обязателен для приёмки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Connection Request Policy и Network Policy имеют разные роли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Connection Request Policy решает, обрабатывает ли этот NPS запрос или пересылает его дальше</a:t>
            </a:r>
          </a:p>
          <a:p>
            <a:pPr>
              <a:defRPr sz="3600"/>
            </a:pPr>
            <a:r>
              <a:t>Network Policy решает, кто получает доступ и при каких условиях</a:t>
            </a:r>
          </a:p>
          <a:p>
            <a:pPr>
              <a:defRPr sz="3600"/>
            </a:pPr>
            <a:r>
              <a:t>Для базового стенда достаточно простой Network Policy для VPN-Users</a:t>
            </a:r>
          </a:p>
          <a:p>
            <a:pPr>
              <a:defRPr sz="3600"/>
            </a:pPr>
            <a:r>
              <a:t>Порядок NPS policies важен: слишком широкая политика выше узкой может разрешить лишний доступ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Site-to-Site использует Demand-Dial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Demand-Dial Interface логически представляет удалённый VPN-шлюз</a:t>
            </a:r>
          </a:p>
          <a:p>
            <a:pPr>
              <a:defRPr sz="3600"/>
            </a:pPr>
            <a:r>
              <a:t>Понятные имена: To-BRANCH на HQ и To-HQ на филиале</a:t>
            </a:r>
          </a:p>
          <a:p>
            <a:pPr>
              <a:defRPr sz="3600"/>
            </a:pPr>
            <a:r>
              <a:t>Интерфейс может поднимать туннель по трафику или работать как постоянное соединение</a:t>
            </a:r>
          </a:p>
          <a:p>
            <a:pPr>
              <a:defRPr sz="3600"/>
            </a:pPr>
            <a:r>
              <a:t>В документации фиксируют local endpoint, remote endpoint, protocol, route, authentication и firewall rules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Demand-Dial требует согласованных учётных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классическом RRAS имя интерфейса, username, password, domain и authentication method должны совпадать с проектом</a:t>
            </a:r>
          </a:p>
          <a:p>
            <a:pPr>
              <a:defRPr sz="3600"/>
            </a:pPr>
            <a:r>
              <a:t>Ошибка identity может выглядеть как IPsec или network failure</a:t>
            </a:r>
          </a:p>
          <a:p>
            <a:pPr>
              <a:defRPr sz="3600"/>
            </a:pPr>
            <a:r>
              <a:t>Секрет не пишут в отчёт открытым текстом, но фиксируют используемую identity</a:t>
            </a:r>
          </a:p>
          <a:p>
            <a:pPr>
              <a:defRPr sz="3600"/>
            </a:pPr>
            <a:r>
              <a:t>Для лаборатории отдельно проверяют успешную и неуспешную попытку Site-to-Site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Site-to-Site требует маршруты в обе стороны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HQ: 10.20.0.0/24 -&gt; To-BRANCH</a:t>
            </a:r>
          </a:p>
          <a:p>
            <a:pPr>
              <a:defRPr sz="3600"/>
            </a:pPr>
            <a:r>
              <a:t>Branch: 10.10.0.0/24 -&gt; To-HQ</a:t>
            </a:r>
          </a:p>
          <a:p>
            <a:pPr>
              <a:defRPr sz="3600"/>
            </a:pPr>
            <a:r>
              <a:t>Если RRAS не является default gateway всех узлов, внутренние LAN-шлюзы должны знать обратный маршрут</a:t>
            </a:r>
          </a:p>
          <a:p>
            <a:pPr>
              <a:defRPr sz="3600"/>
            </a:pPr>
            <a:r>
              <a:t>Иначе запрос дойдёт до сервера, но ответ уйдёт через другой gateway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Пересекающиеся подсети филиалов ломают маршрутизацию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HQ и Branch используют 192.168.1.0/24, маршрутизатор не различает локальный и удалённый адрес</a:t>
            </a:r>
          </a:p>
          <a:p>
            <a:pPr>
              <a:defRPr sz="3600"/>
            </a:pPr>
            <a:r>
              <a:t>Базовое правило: перед Site-to-Site VPN сети филиалов должны быть уникальными</a:t>
            </a:r>
          </a:p>
          <a:p>
            <a:pPr>
              <a:defRPr sz="3600"/>
            </a:pPr>
            <a:r>
              <a:t>Сложные обходы вроде NAT inside VPN или application proxy не подходят для базовой лаборатории</a:t>
            </a:r>
          </a:p>
          <a:p>
            <a:pPr>
              <a:defRPr sz="3600"/>
            </a:pPr>
            <a:r>
              <a:t>Адресный план филиалов проектируется до настройки туннеля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VPN-протокол выбирают по требованиям и ограничениям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SSTP использует TCP 443 и серверный сертификат, часто проще проходит через firewall</a:t>
            </a:r>
          </a:p>
          <a:p>
            <a:pPr>
              <a:defRPr sz="3600"/>
            </a:pPr>
            <a:r>
              <a:t>L2TP/IPsec использует UDP 500, 4500 и 1701, а защиту обеспечивает IPsec</a:t>
            </a:r>
          </a:p>
          <a:p>
            <a:pPr>
              <a:defRPr sz="3600"/>
            </a:pPr>
            <a:r>
              <a:t>IKEv2 использует UDP 500/4500 и подходит современным клиентам, но зависит от сертификатов и RRAS-конфигурации</a:t>
            </a:r>
          </a:p>
          <a:p>
            <a:pPr>
              <a:defRPr sz="3600"/>
            </a:pPr>
            <a:r>
              <a:t>PPTP является историческим антипримером и не выбирается для защищённого доступа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Сравнение VPN-протоколов нужно читать практически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SSTP: TCP 443, server certificate, типично Remote Access</a:t>
            </a:r>
          </a:p>
          <a:p>
            <a:pPr>
              <a:defRPr sz="3600"/>
            </a:pPr>
            <a:r>
              <a:t>L2TP/IPsec: UDP 500/4500/1701, PSK или certificates, сценарий совместимости</a:t>
            </a:r>
          </a:p>
          <a:p>
            <a:pPr>
              <a:defRPr sz="3600"/>
            </a:pPr>
            <a:r>
              <a:t>IKEv2: UDP 500/4500, NAT-T, современные клиенты и смена сети</a:t>
            </a:r>
          </a:p>
          <a:p>
            <a:pPr>
              <a:defRPr sz="3600"/>
            </a:pPr>
            <a:r>
              <a:t>PPTP: TCP 1723 и GRE, устаревшая защита, не использовать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SSTP зависит от сертификата и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Сертификат должен иметь private key, действительный срок, доверенную цепочку и SAN vpn.corp.test</a:t>
            </a:r>
          </a:p>
          <a:p>
            <a:pPr>
              <a:defRPr sz="3600"/>
            </a:pPr>
            <a:r>
              <a:t>EKU (Enhanced Key Usage) должен включать Server Authentication</a:t>
            </a:r>
          </a:p>
          <a:p>
            <a:pPr>
              <a:defRPr sz="3600"/>
            </a:pPr>
            <a:r>
              <a:t>Клиент подключается к сервисному имени vpn.corp.test, а не к случайному имени сервера</a:t>
            </a:r>
          </a:p>
          <a:p>
            <a:pPr>
              <a:defRPr sz="3600"/>
            </a:pPr>
            <a:r>
              <a:t>Перед настройкой проверяют конфликт TCP 443: Get-NetTCPConnection -LocalPort 443 -State Listen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Для SSTP важна доступность CRL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CRL (Certificate Revocation List) позволяет клиенту проверить, не отозван ли сертификат</a:t>
            </a:r>
          </a:p>
          <a:p>
            <a:pPr>
              <a:defRPr sz="3600"/>
            </a:pPr>
            <a:r>
              <a:t>Если CRL недоступен до установления VPN, подключение может задерживаться или завершаться ошибкой</a:t>
            </a:r>
          </a:p>
          <a:p>
            <a:pPr>
              <a:defRPr sz="3600"/>
            </a:pPr>
            <a:r>
              <a:t>Проверяются CDP в сертификате, DNS имени CA/Web CDP и срок действия CRL</a:t>
            </a:r>
          </a:p>
          <a:p>
            <a:pPr>
              <a:defRPr sz="3600"/>
            </a:pPr>
            <a:r>
              <a:t>Журнал CAPI2 помогает увидеть ошибку цепочки и проверки отзыва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L2TP и IPsec выполняют разные функции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L2TP создаёт туннель, а IPsec защищает трафик</a:t>
            </a:r>
          </a:p>
          <a:p>
            <a:pPr>
              <a:defRPr sz="3600"/>
            </a:pPr>
            <a:r>
              <a:t>UDP 500 используется для IKE, UDP 4500 — для NAT Traversal, UDP 1701 — для L2TP</a:t>
            </a:r>
          </a:p>
          <a:p>
            <a:pPr>
              <a:defRPr sz="3600"/>
            </a:pPr>
            <a:r>
              <a:t>PSK подходит только как ограниченное учебное упрощение</a:t>
            </a:r>
          </a:p>
          <a:p>
            <a:pPr>
              <a:defRPr sz="3600"/>
            </a:pPr>
            <a:r>
              <a:t>В production предпочтительнее сертификатная модель, если она поддерживается сценарием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IKEv2 и NAT-T нужно проверять отдельно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IKEv2 хорошо переносит смену сети и подходит современным мобильным клиентам</a:t>
            </a:r>
          </a:p>
          <a:p>
            <a:pPr>
              <a:defRPr sz="3600"/>
            </a:pPr>
            <a:r>
              <a:t>При NAT обмен начинается на UDP 500 и переходит на UDP 4500</a:t>
            </a:r>
          </a:p>
          <a:p>
            <a:pPr>
              <a:defRPr sz="3600"/>
            </a:pPr>
            <a:r>
              <a:t>CGNAT, промежуточные firewall и несколько уровней NAT усложняют диагностику</a:t>
            </a:r>
          </a:p>
          <a:p>
            <a:pPr>
              <a:defRPr sz="3600"/>
            </a:pPr>
            <a:r>
              <a:t>Совместимость зависит от клиента, сертификата, алгоритмов и конфигурации RRAS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Test-NetConnection проверяет не весь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Test-NetConnection vpn.corp.test -Port 443 подходит только для TCP-доступности SSTP</a:t>
            </a:r>
          </a:p>
          <a:p>
            <a:pPr>
              <a:defRPr sz="3600"/>
            </a:pPr>
            <a:r>
              <a:t>Он не проверяет сертификат, SSTP handshake, NPS policy и маршруты после подключения</a:t>
            </a:r>
          </a:p>
          <a:p>
            <a:pPr>
              <a:defRPr sz="3600"/>
            </a:pPr>
            <a:r>
              <a:t>Для UDP 500/4500/1701 нужны журналы, IPsec diagnostics или packet capture</a:t>
            </a:r>
          </a:p>
          <a:p>
            <a:pPr>
              <a:defRPr sz="3600"/>
            </a:pPr>
            <a:r>
              <a:t>VPN проверяется как процесс, а не одной командой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Сертификат описывает VPN-сервис, а не просто сервер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RRAS-HQ — имя сервера, vpn.corp.test — стабильное имя VPN-сервиса</a:t>
            </a:r>
          </a:p>
          <a:p>
            <a:pPr>
              <a:defRPr sz="3600"/>
            </a:pPr>
            <a:r>
              <a:t>DNS-запись vpn.corp.test указывает на внешний адрес VPN-сервера</a:t>
            </a:r>
          </a:p>
          <a:p>
            <a:pPr>
              <a:defRPr sz="3600"/>
            </a:pPr>
            <a:r>
              <a:t>SAN сертификата должен содержать vpn.corp.test</a:t>
            </a:r>
          </a:p>
          <a:p>
            <a:pPr>
              <a:defRPr sz="3600"/>
            </a:pPr>
            <a:r>
              <a:t>Так сервер можно заменить без изменения клиентских профилей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VPN Address Pool проектируется отдельно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Пул 10.10.250.10-10.10.250.100 не должен пересекаться с HQ LAN, Branch LAN, DHCP scope и инфраструктурными адресами</a:t>
            </a:r>
          </a:p>
          <a:p>
            <a:pPr>
              <a:defRPr sz="3600"/>
            </a:pPr>
            <a:r>
              <a:t>Статический пул проще для лаборатории и понятнее для firewall rules</a:t>
            </a:r>
          </a:p>
          <a:p>
            <a:pPr>
              <a:defRPr sz="3600"/>
            </a:pPr>
            <a:r>
              <a:t>DHCP-вариант требует доступности DHCP и понимания options, которые получает VPN-клиент</a:t>
            </a:r>
          </a:p>
          <a:p>
            <a:pPr>
              <a:defRPr sz="3600"/>
            </a:pPr>
            <a:r>
              <a:t>Размер пула должен учитывать одновременных пользователей и резерв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VPN Pool должен быть известен firewall и маршрутизаторам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Внутренний сервер видит VPN-клиента как источник из 10.10.250.0/24</a:t>
            </a:r>
          </a:p>
          <a:p>
            <a:pPr>
              <a:defRPr sz="3600"/>
            </a:pPr>
            <a:r>
              <a:t>Firewall должен разрешать нужные порты именно для VPN pool</a:t>
            </a:r>
          </a:p>
          <a:p>
            <a:pPr>
              <a:defRPr sz="3600"/>
            </a:pPr>
            <a:r>
              <a:t>Внутренние маршрутизаторы должны знать обратный путь к VPN pool через RRAS-HQ</a:t>
            </a:r>
          </a:p>
          <a:p>
            <a:pPr>
              <a:defRPr sz="3600"/>
            </a:pPr>
            <a:r>
              <a:t>Иначе туннель подключён, но ответный трафик уходит через другой gateway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 VPN-клиента проверяется после подключения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ipconfig /all показывает VPN IP, DNS Servers, DNS Suffix и interface metric</a:t>
            </a:r>
          </a:p>
          <a:p>
            <a:pPr>
              <a:defRPr sz="3600"/>
            </a:pPr>
            <a:r>
              <a:t>Пример: Resolve-DnsName dc01.corp.test</a:t>
            </a:r>
          </a:p>
          <a:p>
            <a:pPr>
              <a:defRPr sz="3600"/>
            </a:pPr>
            <a:r>
              <a:t>Пример: Resolve-DnsName fs01.corp.test</a:t>
            </a:r>
          </a:p>
          <a:p>
            <a:pPr>
              <a:defRPr sz="3600"/>
            </a:pPr>
            <a:r>
              <a:t>Если доступ по IP есть, а по имени нет, VPN работает, но DNS-настройка неполна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Успешная аутентификация не означает полный доступ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Сертификат подтверждает сервер и защищает туннель</a:t>
            </a:r>
          </a:p>
          <a:p>
            <a:pPr>
              <a:defRPr sz="3600"/>
            </a:pPr>
            <a:r>
              <a:t>User authentication проверяет пользователя</a:t>
            </a:r>
          </a:p>
          <a:p>
            <a:pPr>
              <a:defRPr sz="3600"/>
            </a:pPr>
            <a:r>
              <a:t>NPS policy решает, разрешить ли VPN-вход</a:t>
            </a:r>
          </a:p>
          <a:p>
            <a:pPr>
              <a:defRPr sz="3600"/>
            </a:pPr>
            <a:r>
              <a:t>Уровень 1: VPN Connection — пользователь вошёл в VPN</a:t>
            </a:r>
          </a:p>
          <a:p>
            <a:pPr>
              <a:defRPr sz="3600"/>
            </a:pPr>
            <a:r>
              <a:t>Уровень 2: Network Access — firewall разрешил направление и порт</a:t>
            </a:r>
          </a:p>
          <a:p>
            <a:pPr>
              <a:defRPr sz="3600"/>
            </a:pPr>
            <a:r>
              <a:t>Уровень 3: Resource Authorization — NTFS, share или приложение разрешили действие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Таблица разрешённых потоков делает доступ проверяемым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VPN Pool -&gt; DC01 DNS TCP/UDP 53: разрешено</a:t>
            </a:r>
          </a:p>
          <a:p>
            <a:pPr>
              <a:defRPr sz="3600"/>
            </a:pPr>
            <a:r>
              <a:t>VPN Pool -&gt; FS01 SMB TCP 445: разрешено для нужной группы</a:t>
            </a:r>
          </a:p>
          <a:p>
            <a:pPr>
              <a:defRPr sz="3600"/>
            </a:pPr>
            <a:r>
              <a:t>VPN Pool -&gt; EX01 Admin/EAC TCP 443: запрещено обычным VPN-Users</a:t>
            </a:r>
          </a:p>
          <a:p>
            <a:pPr>
              <a:defRPr sz="3600"/>
            </a:pPr>
            <a:r>
              <a:t>Branch LAN -&gt; HQ Application конкретный порт: разрешено; Branch LAN -&gt; вся HQ LAN any: запрещено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Split Tunnel и Full Tunnel меняют путь трафика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Split Tunnel отправляет через VPN только внутренние сети организации</a:t>
            </a:r>
          </a:p>
          <a:p>
            <a:pPr>
              <a:defRPr sz="3600"/>
            </a:pPr>
            <a:r>
              <a:t>Full Tunnel отправляет через VPN весь трафик клиента, включая интернет</a:t>
            </a:r>
          </a:p>
          <a:p>
            <a:pPr>
              <a:defRPr sz="3600"/>
            </a:pPr>
            <a:r>
              <a:t>Split снижает нагрузку на RRAS, но клиент одновременно находится во внешней и внутренней сети</a:t>
            </a:r>
          </a:p>
          <a:p>
            <a:pPr>
              <a:defRPr sz="3600"/>
            </a:pPr>
            <a:r>
              <a:t>Full усиливает контроль, но требует NAT, bandwidth, DNS и security policy на стороне организации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Split Tunnel и Full Tunnel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D57593-AC0A-BD82-F626-866D9DB09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Split Tunnel настраивается маршрутом VPN-профиля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Set-VpnConnection — включает split tunneling в профиле</a:t>
            </a:r>
          </a:p>
          <a:p>
            <a:pPr>
              <a:defRPr sz="3600"/>
            </a:pPr>
            <a:r>
              <a:t>Пример: Set-VpnConnection -Name "Corp VPN" -SplitTunneling $true</a:t>
            </a:r>
          </a:p>
          <a:p>
            <a:pPr>
              <a:defRPr sz="3600"/>
            </a:pPr>
            <a:r>
              <a:t>Команда: Add-VpnConnectionRoute добавляет внутреннюю сеть в профиль VPN</a:t>
            </a:r>
          </a:p>
          <a:p>
            <a:pPr>
              <a:defRPr sz="3600"/>
            </a:pPr>
            <a:r>
              <a:t>Пример: Add-VpnConnectionRoute -ConnectionName "Corp VPN" -DestinationPrefix "10.10.0.0/24"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Full Tunnel проверяется через default route и внешний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Full Tunnel RRAS должен маршрутизировать VPN traffic и выполнять NAT либо передавать его корпоративному firewall</a:t>
            </a:r>
          </a:p>
          <a:p>
            <a:pPr>
              <a:defRPr sz="3600"/>
            </a:pPr>
            <a:r>
              <a:t>После подключения проверяют route print, DNS, внешний IP и tracert</a:t>
            </a:r>
          </a:p>
          <a:p>
            <a:pPr>
              <a:defRPr sz="3600"/>
            </a:pPr>
            <a:r>
              <a:t>Простого доступа к внутренней папке недостаточно для подтверждения Full Tunnel</a:t>
            </a:r>
          </a:p>
          <a:p>
            <a:pPr>
              <a:defRPr sz="3600"/>
            </a:pPr>
            <a:r>
              <a:t>Нельзя создавать петлю default route через сам VPN-сервер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Firewall должен учитывать profile, scope и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Проверка: Get-NetFirewallProfile</a:t>
            </a:r>
          </a:p>
          <a:p>
            <a:pPr>
              <a:defRPr sz="3600"/>
            </a:pPr>
            <a:r>
              <a:t>Проверка: Get-NetFirewallRule -Enabled True</a:t>
            </a:r>
          </a:p>
          <a:p>
            <a:pPr>
              <a:defRPr sz="3600"/>
            </a:pPr>
            <a:r>
              <a:t>Для VPN важны Direction, LocalPort, RemoteAddress, InterfaceType и Profile</a:t>
            </a:r>
          </a:p>
          <a:p>
            <a:pPr>
              <a:defRPr sz="3600"/>
            </a:pPr>
            <a:r>
              <a:t>Правило Any-Any между VPN subnet и LAN не соответствует принципу минимального доступа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VPN идёт по уровням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DNS имени VPN -&gt; доступность внешнего порта -&gt; сертификат -&gt; tunnel establishment</a:t>
            </a:r>
          </a:p>
          <a:p>
            <a:pPr>
              <a:defRPr sz="3600"/>
            </a:pPr>
            <a:r>
              <a:t>Authentication -&gt; NPS policy -&gt; VPN IP -&gt; route table</a:t>
            </a:r>
          </a:p>
          <a:p>
            <a:pPr>
              <a:defRPr sz="3600"/>
            </a:pPr>
            <a:r>
              <a:t>Internal DNS -&gt; firewall -&gt; resource permissions -&gt; application</a:t>
            </a:r>
          </a:p>
          <a:p>
            <a:pPr>
              <a:defRPr sz="3600"/>
            </a:pPr>
            <a:r>
              <a:t>Начинать с перезапуска RRAS без диагностики — плохая эксплуатационная привычка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диагностика VPN по уровням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410AF7-4C26-AD20-2630-18293483A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Журналы RRAS и клиента нужно знать по именам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Network Policy and Access Services показывает события RRAS/NPS по роли сервера</a:t>
            </a:r>
          </a:p>
          <a:p>
            <a:pPr>
              <a:defRPr sz="3600"/>
            </a:pPr>
            <a:r>
              <a:t>RasClient/Operational полезен на клиенте для ошибок подключения</a:t>
            </a:r>
          </a:p>
          <a:p>
            <a:pPr>
              <a:defRPr sz="3600"/>
            </a:pPr>
            <a:r>
              <a:t>RemoteAccess, RasMan, NPS, Security, Schannel и Windows Firewall помогают разделить причину</a:t>
            </a:r>
          </a:p>
          <a:p>
            <a:pPr>
              <a:defRPr sz="3600"/>
            </a:pPr>
            <a:r>
              <a:t>Доступные каналы зависят от версии Windows Server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CAPI2 помогает при ошибках сертификата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Журнал: Applications and Services Logs -&gt; Microsoft -&gt; Windows -&gt; CAPI2 -&gt; Operational</a:t>
            </a:r>
          </a:p>
          <a:p>
            <a:pPr>
              <a:defRPr sz="3600"/>
            </a:pPr>
            <a:r>
              <a:t>Он показывает построение цепочки, недоверенный Root CA, просрочку и неверный EKU</a:t>
            </a:r>
          </a:p>
          <a:p>
            <a:pPr>
              <a:defRPr sz="3600"/>
            </a:pPr>
            <a:r>
              <a:t>Также помогает увидеть недоступный CRL</a:t>
            </a:r>
          </a:p>
          <a:p>
            <a:pPr>
              <a:defRPr sz="3600"/>
            </a:pPr>
            <a:r>
              <a:t>Это полезнее общего сообщения клиента «ошибка сертификата»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IPsec диагностируется через Security Associations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Get-NetIPsecMainModeSA — показывает main mode security associations</a:t>
            </a:r>
          </a:p>
          <a:p>
            <a:pPr>
              <a:defRPr sz="3600"/>
            </a:pPr>
            <a:r>
              <a:t>Команда: Get-NetIPsecQuickModeSA — показывает quick mode associations</a:t>
            </a:r>
          </a:p>
          <a:p>
            <a:pPr>
              <a:defRPr sz="3600"/>
            </a:pPr>
            <a:r>
              <a:t>Альтернатива: netsh advfirewall monitor show mmsa и show qmsa</a:t>
            </a:r>
          </a:p>
          <a:p>
            <a:pPr>
              <a:defRPr sz="3600"/>
            </a:pPr>
            <a:r>
              <a:t>Если IKE SA не создаётся, проблема находится до передачи обычного трафика через туннель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Packet capture показывает этап обмена, но не расшифровывает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Фильтры: tcp.port == 443, udp.port == 500, udp.port == 4500, udp.port == 1701</a:t>
            </a:r>
          </a:p>
          <a:p>
            <a:pPr>
              <a:defRPr sz="3600"/>
            </a:pPr>
            <a:r>
              <a:t>Можно увидеть, отвечает ли сервер и начинается ли TLS или IKE</a:t>
            </a:r>
          </a:p>
          <a:p>
            <a:pPr>
              <a:defRPr sz="3600"/>
            </a:pPr>
            <a:r>
              <a:t>Можно заметить переход IPsec на NAT-T через UDP 4500</a:t>
            </a:r>
          </a:p>
          <a:p>
            <a:pPr>
              <a:defRPr sz="3600"/>
            </a:pPr>
            <a:r>
              <a:t>Зашифрованное содержимое capture не показывает, но этап отказа становится понятнее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Ping не является универсальной проверкой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ICMP может быть запрещён, а приложение работает по TCP</a:t>
            </a:r>
          </a:p>
          <a:p>
            <a:pPr>
              <a:defRPr sz="3600"/>
            </a:pPr>
            <a:r>
              <a:t>Firewall может разрешить ping и заблокировать SMB или HTTPS</a:t>
            </a:r>
          </a:p>
          <a:p>
            <a:pPr>
              <a:defRPr sz="3600"/>
            </a:pPr>
            <a:r>
              <a:t>Проверка должна соответствовать реальному сервису</a:t>
            </a:r>
          </a:p>
          <a:p>
            <a:pPr>
              <a:defRPr sz="3600"/>
            </a:pPr>
            <a:r>
              <a:t>Примеры: Test-NetConnection fs01.corp.test -Port 445; Test-NetConnection app01.corp.test -Port 443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Site-to-Site и Remote Access требуют разных политик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Remote users используют пул 10.10.250.0/24 и получают пользовательские firewall rules</a:t>
            </a:r>
          </a:p>
          <a:p>
            <a:pPr>
              <a:defRPr sz="3600"/>
            </a:pPr>
            <a:r>
              <a:t>Branch LAN использует 10.20.0.0/24 и обслуживает сетевые потоки филиала</a:t>
            </a:r>
          </a:p>
          <a:p>
            <a:pPr>
              <a:defRPr sz="3600"/>
            </a:pPr>
            <a:r>
              <a:t>Branch gateway не должен автоматически получать права обычного VPN-пользователя</a:t>
            </a:r>
          </a:p>
          <a:p>
            <a:pPr>
              <a:defRPr sz="3600"/>
            </a:pPr>
            <a:r>
              <a:t>Policies для VPN Pool и Branch LAN документируются отдельно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RRAS нужно мониторить как критическую службу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Контролируются RemoteAccess, число подключений, ошибки authentication и NPS rejects</a:t>
            </a:r>
          </a:p>
          <a:p>
            <a:pPr>
              <a:defRPr sz="3600"/>
            </a:pPr>
            <a:r>
              <a:t>Проверяются адреса в пуле, срок сертификата, external interface и маршруты</a:t>
            </a:r>
          </a:p>
          <a:p>
            <a:pPr>
              <a:defRPr sz="3600"/>
            </a:pPr>
            <a:r>
              <a:t>Для Site-to-Site отслеживается время работы туннеля и неудачные подключения</a:t>
            </a:r>
          </a:p>
          <a:p>
            <a:pPr>
              <a:defRPr sz="3600"/>
            </a:pPr>
            <a:r>
              <a:t>Исчерпание VPN address pool является отдельным отказом, не связанным с паролем пользователя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Сертификат VPN должен иметь план продления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 истечения выпускают новый сертификат с правильным SAN и EKU</a:t>
            </a:r>
          </a:p>
          <a:p>
            <a:pPr>
              <a:defRPr sz="3600"/>
            </a:pPr>
            <a:r>
              <a:t>Новый сертификат назначают RRAS и проверяют SSTP до удаления старого</a:t>
            </a:r>
          </a:p>
          <a:p>
            <a:pPr>
              <a:defRPr sz="3600"/>
            </a:pPr>
            <a:r>
              <a:t>Клиенты должны доверять цепочке и иметь доступ к CRL</a:t>
            </a:r>
          </a:p>
          <a:p>
            <a:pPr>
              <a:defRPr sz="3600"/>
            </a:pPr>
            <a:r>
              <a:t>Просроченный сертификат может одновременно отключить всех SSTP-клиентов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RRAS-HQ является Single Point of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Один сервер может одновременно обеспечивать routing, NAT, remote access и site-to-site</a:t>
            </a:r>
          </a:p>
          <a:p>
            <a:pPr>
              <a:defRPr sz="3600"/>
            </a:pPr>
            <a:r>
              <a:t>Его отказ прекращает несколько сетевых сценариев сразу</a:t>
            </a:r>
          </a:p>
          <a:p>
            <a:pPr>
              <a:defRPr sz="3600"/>
            </a:pPr>
            <a:r>
              <a:t>В production рассматривают второй VPN-шлюз, резервную WAN-связь и план переключения</a:t>
            </a:r>
          </a:p>
          <a:p>
            <a:pPr>
              <a:defRPr sz="3600"/>
            </a:pPr>
            <a:r>
              <a:t>В лаборатории достаточно явно зафиксировать риск единственной точки отказа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RRAS — это не только checkpoint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Документируются interface names, IP configuration, static routes и NAT interfaces</a:t>
            </a:r>
          </a:p>
          <a:p>
            <a:pPr>
              <a:defRPr sz="3600"/>
            </a:pPr>
            <a:r>
              <a:t>Фиксируются VPN protocols, address pool, certificate thumbprints и NPS policies</a:t>
            </a:r>
          </a:p>
          <a:p>
            <a:pPr>
              <a:defRPr sz="3600"/>
            </a:pPr>
            <a:r>
              <a:t>Также нужны firewall rules, demand-dial interfaces, DNS records и client profiles</a:t>
            </a:r>
          </a:p>
          <a:p>
            <a:pPr>
              <a:defRPr sz="3600"/>
            </a:pPr>
            <a:r>
              <a:t>Checkpoint помогает в лаборатории, но не заменяет эксплуатационную документацию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Минимальная лабораторная топология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DC01: AD DS, DNS и NPS либо отдельный сервер NPS</a:t>
            </a:r>
          </a:p>
          <a:p>
            <a:pPr>
              <a:defRPr sz="3600"/>
            </a:pPr>
            <a:r>
              <a:t>RRAS-HQ: NAT, Remote Access VPN и Site-to-Site</a:t>
            </a:r>
          </a:p>
          <a:p>
            <a:pPr>
              <a:defRPr sz="3600"/>
            </a:pPr>
            <a:r>
              <a:t>RRAS-BR: branch VPN gateway; FS01: разрешённый ресурс; APP01: ограниченный ресурс</a:t>
            </a:r>
          </a:p>
          <a:p>
            <a:pPr>
              <a:defRPr sz="3600"/>
            </a:pPr>
            <a:r>
              <a:t>VPN-CLIENT, HQ-CLIENT и BR-CLIENT размещаются в логически изолированных virtual switches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Лабораторный сценарий начинается с RRAS-HQ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Добавить два NIC, переименовать External/Internal и назначить статические IP</a:t>
            </a:r>
          </a:p>
          <a:p>
            <a:pPr>
              <a:defRPr sz="3600"/>
            </a:pPr>
            <a:r>
              <a:t>Удалить gateway с Internal NIC и отключить DNS-регистрацию External NIC</a:t>
            </a:r>
          </a:p>
          <a:p>
            <a:pPr>
              <a:defRPr sz="3600"/>
            </a:pPr>
            <a:r>
              <a:t>Установить Remote Access/Routing и включить LAN Routing, NAT и VPN access</a:t>
            </a:r>
          </a:p>
          <a:p>
            <a:pPr>
              <a:defRPr sz="3600"/>
            </a:pPr>
            <a:r>
              <a:t>Назначить Public/Private NAT interfaces и проверить выход HQ-CLIENT наружу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Remote Access VPN проверяется положительно и отрицательно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Создать VPN-Users, разрешённого пользователя и пользователя вне группы</a:t>
            </a:r>
          </a:p>
          <a:p>
            <a:pPr>
              <a:defRPr sz="3600"/>
            </a:pPr>
            <a:r>
              <a:t>Выпустить сертификат vpn.corp.test и проверить SAN, EKU, trust, expiry и CRL</a:t>
            </a:r>
          </a:p>
          <a:p>
            <a:pPr>
              <a:defRPr sz="3600"/>
            </a:pPr>
            <a:r>
              <a:t>Настроить address pool, NPS policy и клиентский VPN-профиль</a:t>
            </a:r>
          </a:p>
          <a:p>
            <a:pPr>
              <a:defRPr sz="3600"/>
            </a:pPr>
            <a:r>
              <a:t>Проверить вход разрешённого пользователя, отказ пользователя вне группы, DNS, routes, FS01 и запрет к APP01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Site-to-Site VPN проверяется симметрично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Настроить RRAS-BR и Demand-Dial interfaces To-HQ и To-BRANCH</a:t>
            </a:r>
          </a:p>
          <a:p>
            <a:pPr>
              <a:defRPr sz="3600"/>
            </a:pPr>
            <a:r>
              <a:t>Согласовать authentication, protocol, routes HQ -&gt; Branch и Branch -&gt; HQ</a:t>
            </a:r>
          </a:p>
          <a:p>
            <a:pPr>
              <a:defRPr sz="3600"/>
            </a:pPr>
            <a:r>
              <a:t>Проверить обратные маршруты на конечных LAN-шлюзах</a:t>
            </a:r>
          </a:p>
          <a:p>
            <a:pPr>
              <a:defRPr sz="3600"/>
            </a:pPr>
            <a:r>
              <a:t>Проверить TCP-сервис в обе стороны и запрет лишнего направления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Отказные сценарии должны быть контролируемыми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Неверный DNS vpn.corp.test: клиент не находит сервер</a:t>
            </a:r>
          </a:p>
          <a:p>
            <a:pPr>
              <a:defRPr sz="3600"/>
            </a:pPr>
            <a:r>
              <a:t>TCP 443 закрыт: SSTP не начинает соединение</a:t>
            </a:r>
          </a:p>
          <a:p>
            <a:pPr>
              <a:defRPr sz="3600"/>
            </a:pPr>
            <a:r>
              <a:t>SAN не совпадает или CRL недоступен: ошибка TLS или задержка проверки</a:t>
            </a:r>
          </a:p>
          <a:p>
            <a:pPr>
              <a:defRPr sz="3600"/>
            </a:pPr>
            <a:r>
              <a:t>Нет обратного маршрута: туннель есть, но трафик работает только в одну сторону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 RRAS начинается с интерфейсов и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Интерфейсы подписаны External/Internal, gateway есть только на External</a:t>
            </a:r>
          </a:p>
          <a:p>
            <a:pPr>
              <a:defRPr sz="3600"/>
            </a:pPr>
            <a:r>
              <a:t>External не регистрирует лишний адрес в доменной DNS-зоне</a:t>
            </a:r>
          </a:p>
          <a:p>
            <a:pPr>
              <a:defRPr sz="3600"/>
            </a:pPr>
            <a:r>
              <a:t>RRAS role установлена, LAN Routing работает, NAT выпускает HQ-CLIENT наружу</a:t>
            </a:r>
          </a:p>
          <a:p>
            <a:pPr>
              <a:defRPr sz="3600"/>
            </a:pPr>
            <a:r>
              <a:t>NAT проверен отдельно от DNS и application firewall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 VPN требует разрешённых и запрещённых потоков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vpn.corp.test разрешается, сертификат имеет SAN/EKU/trust/expiry и доступный CRL</a:t>
            </a:r>
          </a:p>
          <a:p>
            <a:pPr>
              <a:defRPr sz="3600"/>
            </a:pPr>
            <a:r>
              <a:t>VPN-клиент получает ожидаемый IP, DNS, suffix и маршруты</a:t>
            </a:r>
          </a:p>
          <a:p>
            <a:pPr>
              <a:defRPr sz="3600"/>
            </a:pPr>
            <a:r>
              <a:t>VPN-Users подключается, пользователь вне группы отклоняется</a:t>
            </a:r>
          </a:p>
          <a:p>
            <a:pPr>
              <a:defRPr sz="3600"/>
            </a:pPr>
            <a:r>
              <a:t>Allowed Resource доступен, Forbidden Resource недоступен, logs содержат успешную и неуспешную попытки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Приёмка Site-to-Site фиксирует маршруты и запреты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HQ route ведёт к Branch LAN через To-BRANCH, Branch route ведёт к HQ LAN через To-HQ</a:t>
            </a:r>
          </a:p>
          <a:p>
            <a:pPr>
              <a:defRPr sz="3600"/>
            </a:pPr>
            <a:r>
              <a:t>Reverse path проверен на конечных LAN gateway</a:t>
            </a:r>
          </a:p>
          <a:p>
            <a:pPr>
              <a:defRPr sz="3600"/>
            </a:pPr>
            <a:r>
              <a:t>Firewall разрешает только нужные потоки, а не Any-Any между сетями</a:t>
            </a:r>
          </a:p>
          <a:p>
            <a:pPr>
              <a:defRPr sz="3600"/>
            </a:pPr>
            <a:r>
              <a:t>Документация содержит адреса, сертификаты, routes, NPS policies, firewall rules и demand-dial settings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RRAS работает корректно только при согласованных интерфейсах, gateway, маршрутах и DNS-регистрации</a:t>
            </a:r>
          </a:p>
          <a:p>
            <a:pPr>
              <a:defRPr sz="3600"/>
            </a:pPr>
            <a:r>
              <a:t>Remote Access VPN и Site-to-Site VPN требуют разных адресных пулов, маршрутов и firewall policies</a:t>
            </a:r>
          </a:p>
          <a:p>
            <a:pPr>
              <a:defRPr sz="3600"/>
            </a:pPr>
            <a:r>
              <a:t>SSTP, L2TP/IPsec и IKEv2 проверяются по сертификатам, портам, NPS и журналам, а не только по факту подключения</a:t>
            </a:r>
          </a:p>
          <a:p>
            <a:pPr>
              <a:defRPr sz="3600"/>
            </a:pPr>
            <a:r>
              <a:t>Приёмка VPN обязана включать разрешённый доступ, запрещённый доступ, обратные маршруты и диагностику отказов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Какие функции выполняет RRAS?</a:t>
            </a:r>
          </a:p>
          <a:p>
            <a:pPr>
              <a:defRPr sz="3600"/>
            </a:pPr>
            <a:r>
              <a:t>Почему default gateway обычно задают только на External NIC?</a:t>
            </a:r>
          </a:p>
          <a:p>
            <a:pPr>
              <a:defRPr sz="3600"/>
            </a:pPr>
            <a:r>
              <a:t>Почему внешний интерфейс не должен регистрироваться во внутренней DNS-зоне?</a:t>
            </a:r>
          </a:p>
          <a:p>
            <a:pPr>
              <a:defRPr sz="3600"/>
            </a:pPr>
            <a:r>
              <a:t>Чем static route отличается от default route?</a:t>
            </a:r>
          </a:p>
          <a:p>
            <a:pPr>
              <a:defRPr sz="3600"/>
            </a:pPr>
            <a:r>
              <a:t>Почему NAT не заменяет firewall?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VPN и безопасность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Remote Access VPN отличается от Site-to-Site VPN?</a:t>
            </a:r>
          </a:p>
          <a:p>
            <a:pPr>
              <a:defRPr sz="3600"/>
            </a:pPr>
            <a:r>
              <a:t>Почему VPN pool не должен пересекаться с LAN?</a:t>
            </a:r>
          </a:p>
          <a:p>
            <a:pPr>
              <a:defRPr sz="3600"/>
            </a:pPr>
            <a:r>
              <a:t>Какие требования предъявляются к сертификату SSTP?</a:t>
            </a:r>
          </a:p>
          <a:p>
            <a:pPr>
              <a:defRPr sz="3600"/>
            </a:pPr>
            <a:r>
              <a:t>Чем Connection Request Policy отличается от Network Policy?</a:t>
            </a:r>
          </a:p>
          <a:p>
            <a:pPr>
              <a:defRPr sz="3600"/>
            </a:pPr>
            <a:r>
              <a:t>Почему факт VPN-подключения не доказывает доступ к ресурсу?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Split Tunnel отличается от Full Tunnel?</a:t>
            </a:r>
          </a:p>
          <a:p>
            <a:pPr>
              <a:defRPr sz="3600"/>
            </a:pPr>
            <a:r>
              <a:t>Какие маршруты нужны для Site-to-Site VPN?</a:t>
            </a:r>
          </a:p>
          <a:p>
            <a:pPr>
              <a:defRPr sz="3600"/>
            </a:pPr>
            <a:r>
              <a:t>Почему ping недостаточен для проверки VPN?</a:t>
            </a:r>
          </a:p>
          <a:p>
            <a:pPr>
              <a:defRPr sz="3600"/>
            </a:pPr>
            <a:r>
              <a:t>Какие журналы проверяются при ошибке сертификата?</a:t>
            </a:r>
          </a:p>
          <a:p>
            <a:pPr>
              <a:defRPr sz="3600"/>
            </a:pPr>
            <a:r>
              <a:t>Как проверить IPsec Security Associations?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3449</Words>
  <Application>Microsoft Office PowerPoint</Application>
  <PresentationFormat>Широкоэкранный</PresentationFormat>
  <Paragraphs>338</Paragraphs>
  <Slides>70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2026-07-31T05:55:07Z</dcterms:modified>
  <cp:category/>
</cp:coreProperties>
</file>