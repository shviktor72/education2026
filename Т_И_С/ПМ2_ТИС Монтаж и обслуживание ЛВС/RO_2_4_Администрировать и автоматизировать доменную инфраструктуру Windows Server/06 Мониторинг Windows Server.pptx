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8. Мониторинг и анализ производительности Windows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 разницу между monitoring, alerting, diagnostics, baseline и capacity planning</a:t>
            </a:r>
          </a:p>
          <a:p>
            <a:pPr>
              <a:defRPr sz="3600"/>
            </a:pPr>
            <a:r>
              <a:t>Читать события Windows с учётом provider, level, Event ID, времени и соседних событий</a:t>
            </a:r>
          </a:p>
          <a:p>
            <a:pPr>
              <a:defRPr sz="3600"/>
            </a:pPr>
            <a:r>
              <a:t>Выбирать counters CPU, memory, disk и network без универсальных ложных порогов</a:t>
            </a:r>
          </a:p>
          <a:p>
            <a:pPr>
              <a:defRPr sz="3600"/>
            </a:pPr>
            <a:r>
              <a:t>Связывать пользовательский симптом с измерениями, журналами, гипотезами и действием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Monitoring, diagnostics и baseline; CPU, RAM, disk, network.</a:t>
            </a:r>
          </a:p>
          <a:p>
            <a:pPr>
              <a:defRPr sz="3600"/>
            </a:pPr>
            <a:r>
              <a:t>2. Event Logs, levels, Event ID, filters и Custom Views.</a:t>
            </a:r>
          </a:p>
          <a:p>
            <a:pPr>
              <a:defRPr sz="3600"/>
            </a:pPr>
            <a:r>
              <a:t>3. Task Manager, Resource Monitor и Performance Monitor.</a:t>
            </a:r>
          </a:p>
          <a:p>
            <a:pPr>
              <a:defRPr sz="3600"/>
            </a:pPr>
            <a:r>
              <a:t>4. Counters CPU, memory, paging, disk и network.</a:t>
            </a:r>
          </a:p>
          <a:p>
            <a:pPr>
              <a:defRPr sz="3600"/>
            </a:pPr>
            <a:r>
              <a:t>5. Data Collector Sets, thresholds и centralized events.</a:t>
            </a:r>
          </a:p>
          <a:p>
            <a:pPr>
              <a:defRPr sz="3600"/>
            </a:pPr>
            <a:r>
              <a:t>6. Симптом нагрузки и первопричина.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FS01 используется как основной сервер для baseline и моделирования нагрузки</a:t>
            </a:r>
          </a:p>
          <a:p>
            <a:pPr>
              <a:defRPr sz="3600"/>
            </a:pPr>
            <a:r>
              <a:t>ADMIN01 или MON01 используется как рабочее место администратора</a:t>
            </a:r>
          </a:p>
          <a:p>
            <a:pPr>
              <a:defRPr sz="3600"/>
            </a:pPr>
            <a:r>
              <a:t>WEC01 показывает идею централизованного сбора событий через WEF/WEC</a:t>
            </a:r>
          </a:p>
          <a:p>
            <a:pPr>
              <a:defRPr sz="3600"/>
            </a:pPr>
            <a:r>
              <a:t>Отчёт оформляется как цепочка: symptom -&gt; metrics -&gt; events -&gt; hypothesis -&gt;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Monitoring начинается до инцидента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Администратор не должен ждать жалобы пользователя, чтобы впервые посмотреть показатели сервера</a:t>
            </a:r>
          </a:p>
          <a:p>
            <a:pPr>
              <a:defRPr sz="3600"/>
            </a:pPr>
            <a:r>
              <a:t>Monitoring — постоянное наблюдение за состоянием ОС, служб и ресурсов</a:t>
            </a:r>
          </a:p>
          <a:p>
            <a:pPr>
              <a:defRPr sz="3600"/>
            </a:pPr>
            <a:r>
              <a:t>Diagnostics — поиск причины уже замеченной проблемы</a:t>
            </a:r>
          </a:p>
          <a:p>
            <a:pPr>
              <a:defRPr sz="3600"/>
            </a:pPr>
            <a:r>
              <a:t>Baseline — зафиксированное нормальное поведение сервера в понятных условиях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Alerting и capacity planning дополняют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Alerting — уведомление, когда показатель или событие вышли за заданное условие</a:t>
            </a:r>
          </a:p>
          <a:p>
            <a:pPr>
              <a:defRPr sz="3600"/>
            </a:pPr>
            <a:r>
              <a:t>Capacity Planning — прогноз, когда CPU, RAM, disk или network перестанут хватать</a:t>
            </a:r>
          </a:p>
          <a:p>
            <a:pPr>
              <a:defRPr sz="3600"/>
            </a:pPr>
            <a:r>
              <a:t>Monitoring отвечает на вопрос «что происходит сейчас и во времени»</a:t>
            </a:r>
          </a:p>
          <a:p>
            <a:pPr>
              <a:defRPr sz="3600"/>
            </a:pPr>
            <a:r>
              <a:t>Capacity planning отвечает на вопрос «когда нужен апгрейд или изменение архитектуры»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Baseline должен иметь контекст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Пример: Server FS01, роль File Server, обычный рабочий день, 09:00-17:00</a:t>
            </a:r>
          </a:p>
          <a:p>
            <a:pPr>
              <a:defRPr sz="3600"/>
            </a:pPr>
            <a:r>
              <a:t>Фиксируются пользователи, backup window, обновления, роль сервера и тип нагрузки</a:t>
            </a:r>
          </a:p>
          <a:p>
            <a:pPr>
              <a:defRPr sz="3600"/>
            </a:pPr>
            <a:r>
              <a:t>Показатели записываются как average, peak и длительность отклонения</a:t>
            </a:r>
          </a:p>
          <a:p>
            <a:pPr>
              <a:defRPr sz="3600"/>
            </a:pPr>
            <a:r>
              <a:t>Одно короткое измерение не является полноценным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Baseline собирают в разные периоды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Рабочее время показывает реальную пользовательскую нагрузку</a:t>
            </a:r>
          </a:p>
          <a:p>
            <a:pPr>
              <a:defRPr sz="3600"/>
            </a:pPr>
            <a:r>
              <a:t>Ночное время показывает backup, обслуживание, обновления и фоновые задачи</a:t>
            </a:r>
          </a:p>
          <a:p>
            <a:pPr>
              <a:defRPr sz="3600"/>
            </a:pPr>
            <a:r>
              <a:t>Пиковые периоды помогают увидеть пределы роли сервера</a:t>
            </a:r>
          </a:p>
          <a:p>
            <a:pPr>
              <a:defRPr sz="3600"/>
            </a:pPr>
            <a:r>
              <a:t>Высокий disk I/O в 02:00 может быть нормой, если в это время выполняется backup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USE-модель делает диагностику системной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USE означает Utilization, Saturation и Errors</a:t>
            </a:r>
          </a:p>
          <a:p>
            <a:pPr>
              <a:defRPr sz="3600"/>
            </a:pPr>
            <a:r>
              <a:t>Utilization показывает, насколько ресурс занят</a:t>
            </a:r>
          </a:p>
          <a:p>
            <a:pPr>
              <a:defRPr sz="3600"/>
            </a:pPr>
            <a:r>
              <a:t>Saturation показывает очередь, ожидание или нехватку ресурса</a:t>
            </a:r>
          </a:p>
          <a:p>
            <a:pPr>
              <a:defRPr sz="3600"/>
            </a:pPr>
            <a:r>
              <a:t>Errors показывают аппаратные, драйверные или программные ошибки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USE-модель анализа ресурсов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B7C4D1-9008-68A7-1396-F003701D2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CPU, RAM, disk и network анализируются 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Высокий CPU может быть самостоятельной причиной деградации</a:t>
            </a:r>
          </a:p>
          <a:p>
            <a:pPr>
              <a:defRPr sz="3600"/>
            </a:pPr>
            <a:r>
              <a:t>Высокая disk latency может существовать одновременно и указывать на другую проблему</a:t>
            </a:r>
          </a:p>
          <a:p>
            <a:pPr>
              <a:defRPr sz="3600"/>
            </a:pPr>
            <a:r>
              <a:t>Ожидание обычного I/O чаще блокирует поток, а не напрямую повышает CPU</a:t>
            </a:r>
          </a:p>
          <a:p>
            <a:pPr>
              <a:defRPr sz="3600"/>
            </a:pPr>
            <a:r>
              <a:t>Косвенный рост CPU возможен из-за retry, логирования, шифрования или обработки ошибок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Event Log хранит технический контекст инцидента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Event Log — журнал событий Windows с полями времени, источника, уровня и сообщения</a:t>
            </a:r>
          </a:p>
          <a:p>
            <a:pPr>
              <a:defRPr sz="3600"/>
            </a:pPr>
            <a:r>
              <a:t>Event ID без provider не является уникальным объяснением проблемы</a:t>
            </a:r>
          </a:p>
          <a:p>
            <a:pPr>
              <a:defRPr sz="3600"/>
            </a:pPr>
            <a:r>
              <a:t>Один и тот же Event ID у разных providers может означать разные события</a:t>
            </a:r>
          </a:p>
          <a:p>
            <a:pPr>
              <a:defRPr sz="3600"/>
            </a:pPr>
            <a:r>
              <a:t>Событие нужно сопоставлять с симптомом, изменением и соседними событиями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Поля события, которые нельзя игнорировать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Log Name показывает, в каком журнале находится событие</a:t>
            </a:r>
          </a:p>
          <a:p>
            <a:pPr>
              <a:defRPr sz="3600"/>
            </a:pPr>
            <a:r>
              <a:t>Provider или Source показывает компонент, который создал событие</a:t>
            </a:r>
          </a:p>
          <a:p>
            <a:pPr>
              <a:defRPr sz="3600"/>
            </a:pPr>
            <a:r>
              <a:t>Task Category и Keywords уточняют тип операции</a:t>
            </a:r>
          </a:p>
          <a:p>
            <a:pPr>
              <a:defRPr sz="3600"/>
            </a:pPr>
            <a:r>
              <a:t>Computer, User, TimeCreated и Correlation ID помогают связать события между собой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Уровни событий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Level 1 Critical — критический сбой, требующий срочного внимания</a:t>
            </a:r>
          </a:p>
          <a:p>
            <a:pPr>
              <a:defRPr sz="3600"/>
            </a:pPr>
            <a:r>
              <a:t>Level 2 Error — ошибка, которая могла нарушить работу компонента</a:t>
            </a:r>
          </a:p>
          <a:p>
            <a:pPr>
              <a:defRPr sz="3600"/>
            </a:pPr>
            <a:r>
              <a:t>Level 3 Warning — предупреждение, часто объясняющее будущую деградацию</a:t>
            </a:r>
          </a:p>
          <a:p>
            <a:pPr>
              <a:defRPr sz="3600"/>
            </a:pPr>
            <a:r>
              <a:t>Level 4 Information и Level 5 Verbose используются для обычных и подробных событий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поля события Windows Event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F1B016-6168-26D3-E9AC-732ADCD43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Get-WinEvent выбирает события по точным условиям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Get-WinEvent — читает журналы событий Windows через PowerShell</a:t>
            </a:r>
          </a:p>
          <a:p>
            <a:pPr>
              <a:defRPr sz="3600"/>
            </a:pPr>
            <a:r>
              <a:t>Пример: Get-WinEvent -FilterHashtable @{LogName='System'; Level=1,2; StartTime=(Get-Date).AddHours(-24)}</a:t>
            </a:r>
          </a:p>
          <a:p>
            <a:pPr>
              <a:defRPr sz="3600"/>
            </a:pPr>
            <a:r>
              <a:t>Ожидаемый результат: Critical и Error из System Log за последние 24 часа</a:t>
            </a:r>
          </a:p>
          <a:p>
            <a:pPr>
              <a:defRPr sz="3600"/>
            </a:pPr>
            <a:r>
              <a:t>Для системных журналов консоль лучше запускать от имени администратора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Фильтр по provider и Event ID уменьшает шум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ProviderName ограничивает выборку конкретным компонентом Windows</a:t>
            </a:r>
          </a:p>
          <a:p>
            <a:pPr>
              <a:defRPr sz="3600"/>
            </a:pPr>
            <a:r>
              <a:t>Пример: Get-WinEvent -FilterHashtable @{LogName='System'; ProviderName='Service Control Manager'; Id=7031,7034; StartTime=(Get-Date).AddHours(-2)}</a:t>
            </a:r>
          </a:p>
          <a:p>
            <a:pPr>
              <a:defRPr sz="3600"/>
            </a:pPr>
            <a:r>
              <a:t>Ожидаемый результат: события падения или аварийного завершения служб</a:t>
            </a:r>
          </a:p>
          <a:p>
            <a:pPr>
              <a:defRPr sz="3600"/>
            </a:pPr>
            <a:r>
              <a:t>Такой запрос полезнее, чем просмотр всех ошибок журнала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Дисковые события ищут по нескольким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диска проверяют providers disk, storport и Ntfs</a:t>
            </a:r>
          </a:p>
          <a:p>
            <a:pPr>
              <a:defRPr sz="3600"/>
            </a:pPr>
            <a:r>
              <a:t>Пример: Get-WinEvent -FilterHashtable @{LogName='System'; ProviderName='disk','storport','Ntfs'; Level=1,2,3; StartTime=(Get-Date).AddHours(-24)}</a:t>
            </a:r>
          </a:p>
          <a:p>
            <a:pPr>
              <a:defRPr sz="3600"/>
            </a:pPr>
            <a:r>
              <a:t>Ожидаемый результат: критические события, ошибки и предупреждения дисковой подсистемы</a:t>
            </a:r>
          </a:p>
          <a:p>
            <a:pPr>
              <a:defRPr sz="3600"/>
            </a:pPr>
            <a:r>
              <a:t>Набор providers нужно проверить на конкретном образе Windows Server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Экспорт событий делает отчёт повторяемым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Скриншот журнала хуже, чем файл с полями события</a:t>
            </a:r>
          </a:p>
          <a:p>
            <a:pPr>
              <a:defRPr sz="3600"/>
            </a:pPr>
            <a:r>
              <a:t>Пример: Get-WinEvent -FilterHashtable @{LogName='System'; Level=1,2,3; StartTime=(Get-Date).AddHours(-1)} | Select-Object TimeCreated,Id,ProviderName,LevelDisplayName,Message | Export-Csv C:\Temp\system-events.csv -NoTypeInformation -Encoding UTF8</a:t>
            </a:r>
          </a:p>
          <a:p>
            <a:pPr>
              <a:defRPr sz="3600"/>
            </a:pPr>
            <a:r>
              <a:t>Ожидаемый результат: CSV-файл с событиями для отчёта</a:t>
            </a:r>
          </a:p>
          <a:p>
            <a:pPr>
              <a:defRPr sz="3600"/>
            </a:pPr>
            <a:r>
              <a:t>Event Viewer также позволяет сохранить исходный журнал в формате .evtx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Custom View создаётся под диагностическую задачу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Custom View — сохранённое представление Event Viewer с выбранными фильтрами</a:t>
            </a:r>
          </a:p>
          <a:p>
            <a:pPr>
              <a:defRPr sz="3600"/>
            </a:pPr>
            <a:r>
              <a:t>Пример Service failures: System, Service Control Manager, Event ID 7031 и 7034, Level Error</a:t>
            </a:r>
          </a:p>
          <a:p>
            <a:pPr>
              <a:defRPr sz="3600"/>
            </a:pPr>
            <a:r>
              <a:t>Пример Disk warnings: System, disk/Ntfs/storport, Levels Critical, Error и Warning</a:t>
            </a:r>
          </a:p>
          <a:p>
            <a:pPr>
              <a:defRPr sz="3600"/>
            </a:pPr>
            <a:r>
              <a:t>Сохранённый view помогает другому администратору повторить проверку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Task Manager полезен только для быстрой оценки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Task Manager показывает текущие процессы, users, CPU, memory, disk и network</a:t>
            </a:r>
          </a:p>
          <a:p>
            <a:pPr>
              <a:defRPr sz="3600"/>
            </a:pPr>
            <a:r>
              <a:t>Он помогает быстро увидеть явный процесс-лидер по нагрузке</a:t>
            </a:r>
          </a:p>
          <a:p>
            <a:pPr>
              <a:defRPr sz="3600"/>
            </a:pPr>
            <a:r>
              <a:t>Короткий пик легко пропустить, потому что история почти не сохраняется</a:t>
            </a:r>
          </a:p>
          <a:p>
            <a:pPr>
              <a:defRPr sz="3600"/>
            </a:pPr>
            <a:r>
              <a:t>Task Manager не подходит для Server Core и не заменяет PerfMon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 Core требует консольных альтернатив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Get-Process — показывает процессы без графической оболочки</a:t>
            </a:r>
          </a:p>
          <a:p>
            <a:pPr>
              <a:defRPr sz="3600"/>
            </a:pPr>
            <a:r>
              <a:t>Пример: Get-Process | Sort-Object -Property CPU -Descending | Select-Object -First 10</a:t>
            </a:r>
          </a:p>
          <a:p>
            <a:pPr>
              <a:defRPr sz="3600"/>
            </a:pPr>
            <a:r>
              <a:t>Команда: Get-Counter — читает performance counters из PowerShell</a:t>
            </a:r>
          </a:p>
          <a:p>
            <a:pPr>
              <a:defRPr sz="3600"/>
            </a:pPr>
            <a:r>
              <a:t>Пример: Get-Counter '\Processor(_Total)\% Processor Time'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Resource Monitor связывает процесс с ресурсом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Resource Monitor показывает Disk Activity, TCP Connections, Listening Ports и Associated Handles</a:t>
            </a:r>
          </a:p>
          <a:p>
            <a:pPr>
              <a:defRPr sz="3600"/>
            </a:pPr>
            <a:r>
              <a:t>Он помогает понять, какой процесс читает файл или держит сетевое соединение</a:t>
            </a:r>
          </a:p>
          <a:p>
            <a:pPr>
              <a:defRPr sz="3600"/>
            </a:pPr>
            <a:r>
              <a:t>Hard Faults/sec означает обращение к странице, которой нет в RAM</a:t>
            </a:r>
          </a:p>
          <a:p>
            <a:pPr>
              <a:defRPr sz="3600"/>
            </a:pPr>
            <a:r>
              <a:t>Hard Fault не равен ошибке оборудования или повреждению памяти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Performance Monitor работает с объектом, счётчиком и экземпляром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Путь counter обычно выглядит как \Object(Instance)\Counter</a:t>
            </a:r>
          </a:p>
          <a:p>
            <a:pPr>
              <a:defRPr sz="3600"/>
            </a:pPr>
            <a:r>
              <a:t>Пример: \Processor(_Total)\% Processor Time</a:t>
            </a:r>
          </a:p>
          <a:p>
            <a:pPr>
              <a:defRPr sz="3600"/>
            </a:pPr>
            <a:r>
              <a:t>Object задаёт область измерения, counter — показатель, instance — конкретный объект</a:t>
            </a:r>
          </a:p>
          <a:p>
            <a:pPr>
              <a:defRPr sz="3600"/>
            </a:pPr>
            <a:r>
              <a:t>На русской Windows локализованные имена counters могут отличаться, поэтому команды проверяют на образе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путь Performance Monitor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A9CB12-2440-FC0C-8F2A-A2B2CBE09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CPU counters показывают занятость и очередь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\Processor(_Total)\% Processor Time показывает классическую загрузку CPU</a:t>
            </a:r>
          </a:p>
          <a:p>
            <a:pPr>
              <a:defRPr sz="3600"/>
            </a:pPr>
            <a:r>
              <a:t>\System\Processor Queue Length показывает очередь потоков, ожидающих CPU</a:t>
            </a:r>
          </a:p>
          <a:p>
            <a:pPr>
              <a:defRPr sz="3600"/>
            </a:pPr>
            <a:r>
              <a:t>_Total скрывает отдельные logical processors, поэтому при спорной ситуации смотрят instances</a:t>
            </a:r>
          </a:p>
          <a:p>
            <a:pPr>
              <a:defRPr sz="3600"/>
            </a:pPr>
            <a:r>
              <a:t>В новых сценариях может использоваться Processor Information, но классический Processor допустим для базы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Processor Queue Length нельзя оценивать одной цифрой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Очередь зависит от числа logical processors, виртуализации, типа нагрузки и длительности</a:t>
            </a:r>
          </a:p>
          <a:p>
            <a:pPr>
              <a:defRPr sz="3600"/>
            </a:pPr>
            <a:r>
              <a:t>Кратковременная очередь нормальна и не доказывает перегрузку CPU</a:t>
            </a:r>
          </a:p>
          <a:p>
            <a:pPr>
              <a:defRPr sz="3600"/>
            </a:pPr>
            <a:r>
              <a:t>Проблема вероятна, если CPU долго близок к максимуму, queue растёт и response time ухудшается</a:t>
            </a:r>
          </a:p>
          <a:p>
            <a:pPr>
              <a:defRPr sz="3600"/>
            </a:pPr>
            <a:r>
              <a:t>Правило «queue больше 2 всегда плохо» использовать нельзя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Виртуальную машину нужно анализировать вместе с Hyper-V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Гостевая Windows не видит всю конкуренцию за CPU, memory и storage на хосте</a:t>
            </a:r>
          </a:p>
          <a:p>
            <a:pPr>
              <a:defRPr sz="3600"/>
            </a:pPr>
            <a:r>
              <a:t>Причина задержки может быть в перегруженном host, vCPU oversubscription или checkpoint merge</a:t>
            </a:r>
          </a:p>
          <a:p>
            <a:pPr>
              <a:defRPr sz="3600"/>
            </a:pPr>
            <a:r>
              <a:t>Для Hyper-V полезны counters Hyper-V Hypervisor Virtual Processor и Hyper-V Dynamic Memory VM</a:t>
            </a:r>
          </a:p>
          <a:p>
            <a:pPr>
              <a:defRPr sz="3600"/>
            </a:pPr>
            <a:r>
              <a:t>Если проблема видна только в VM, проверка host всё равно обязательна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Memory counters нельзя читать по одному показателю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\Memory\Available MBytes показывает доступную физическую память</a:t>
            </a:r>
          </a:p>
          <a:p>
            <a:pPr>
              <a:defRPr sz="3600"/>
            </a:pPr>
            <a:r>
              <a:t>\Memory\% Committed Bytes In Use показывает использование commit относительно лимита</a:t>
            </a:r>
          </a:p>
          <a:p>
            <a:pPr>
              <a:defRPr sz="3600"/>
            </a:pPr>
            <a:r>
              <a:t>\Paging File(_Total)\% Usage показывает использование page file</a:t>
            </a:r>
          </a:p>
          <a:p>
            <a:pPr>
              <a:defRPr sz="3600"/>
            </a:pPr>
            <a:r>
              <a:t>Низкая Available RAM оценивается с учётом общей RAM, роли сервера, cache и длительности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Pages/sec не доказывает нехватку RAM сам по себе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\Memory\Pages/sec показывает чтение и запись страниц для hard page faults</a:t>
            </a:r>
          </a:p>
          <a:p>
            <a:pPr>
              <a:defRPr sz="3600"/>
            </a:pPr>
            <a:r>
              <a:t>Значение может включать page file, memory-mapped files, загрузку DLL и работу cache</a:t>
            </a:r>
          </a:p>
          <a:p>
            <a:pPr>
              <a:defRPr sz="3600"/>
            </a:pPr>
            <a:r>
              <a:t>Для вывода нужны Available MBytes, Committed Bytes, Page Reads/sec и Page Writes/sec</a:t>
            </a:r>
          </a:p>
          <a:p>
            <a:pPr>
              <a:defRPr sz="3600"/>
            </a:pPr>
            <a:r>
              <a:t>Высокий Pages/sec без контекста нельзя трактовать как однозначную нехватку памяти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Page Faults/sec и Pages/sec различаются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Page Faults/sec включает soft faults и hard faults</a:t>
            </a:r>
          </a:p>
          <a:p>
            <a:pPr>
              <a:defRPr sz="3600"/>
            </a:pPr>
            <a:r>
              <a:t>Soft fault может обслужиться из standby list без обращения к диску</a:t>
            </a:r>
          </a:p>
          <a:p>
            <a:pPr>
              <a:defRPr sz="3600"/>
            </a:pPr>
            <a:r>
              <a:t>Pages/sec связан с физическим I/O для hard faults</a:t>
            </a:r>
          </a:p>
          <a:p>
            <a:pPr>
              <a:defRPr sz="3600"/>
            </a:pPr>
            <a:r>
              <a:t>Page File нельзя отключать как универсальное ускорение: он нужен для commit, crash dump и стабильности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Disk latency читается в секундах и переводится в миллисекунды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\PhysicalDisk(*)\Avg. Disk sec/Read возвращает задержку чтения в секундах</a:t>
            </a:r>
          </a:p>
          <a:p>
            <a:pPr>
              <a:defRPr sz="3600"/>
            </a:pPr>
            <a:r>
              <a:t>\PhysicalDisk(*)\Avg. Disk sec/Write возвращает задержку записи в секундах</a:t>
            </a:r>
          </a:p>
          <a:p>
            <a:pPr>
              <a:defRPr sz="3600"/>
            </a:pPr>
            <a:r>
              <a:t>0.005 sec = 5 ms, 0.020 sec = 20 ms, 0.100 sec = 100 ms</a:t>
            </a:r>
          </a:p>
          <a:p>
            <a:pPr>
              <a:defRPr sz="3600"/>
            </a:pPr>
            <a:r>
              <a:t>Универсального порога latency нет: важны HDD, SSD, NVMe, SAN, RAID, cache и роль сервера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LogicalDisk и PhysicalDisk отвечают на разные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LogicalDisk относится к томам C:, D: и удобен для % Free Space и Free Megabytes</a:t>
            </a:r>
          </a:p>
          <a:p>
            <a:pPr>
              <a:defRPr sz="3600"/>
            </a:pPr>
            <a:r>
              <a:t>PhysicalDisk относится к диску, представленному ОС, и удобен для latency, queue и throughput</a:t>
            </a:r>
          </a:p>
          <a:p>
            <a:pPr>
              <a:defRPr sz="3600"/>
            </a:pPr>
            <a:r>
              <a:t>В виртуальной среде PhysicalDisk может быть абстракцией над VHDX, SAN или storage pool</a:t>
            </a:r>
          </a:p>
          <a:p>
            <a:pPr>
              <a:defRPr sz="3600"/>
            </a:pPr>
            <a:r>
              <a:t>Для заполнения диска проверяют процент и абсолютный остаток одновременно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Моделировать заполнение диска нужно безопасно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Нельзя заполнять системный C: почти до нуля</a:t>
            </a:r>
          </a:p>
          <a:p>
            <a:pPr>
              <a:defRPr sz="3600"/>
            </a:pPr>
            <a:r>
              <a:t>Лучше использовать отдельный тестовый том или ограниченный VHDX</a:t>
            </a:r>
          </a:p>
          <a:p>
            <a:pPr>
              <a:defRPr sz="3600"/>
            </a:pPr>
            <a:r>
              <a:t>После теста заранее известный test-file удаляется и проверяется Get-Volume</a:t>
            </a:r>
          </a:p>
          <a:p>
            <a:pPr>
              <a:defRPr sz="3600"/>
            </a:pPr>
            <a:r>
              <a:t>Сценарий нельзя проводить на диске Exchange logs, базы данных или production storage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Network throughput сравнивают со скоростью интерфейса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\Network Interface(*)\Bytes Total/sec показывает общий сетевой трафик</a:t>
            </a:r>
          </a:p>
          <a:p>
            <a:pPr>
              <a:defRPr sz="3600"/>
            </a:pPr>
            <a:r>
              <a:t>\Network Interface(*)\Current Bandwidth показывает скорость интерфейса в bits per second</a:t>
            </a:r>
          </a:p>
          <a:p>
            <a:pPr>
              <a:defRPr sz="3600"/>
            </a:pPr>
            <a:r>
              <a:t>Utilization примерно равен Bytes Total/sec * 8 / Current Bandwidth * 100%</a:t>
            </a:r>
          </a:p>
          <a:p>
            <a:pPr>
              <a:defRPr sz="3600"/>
            </a:pPr>
            <a:r>
              <a:t>80 MB/s много для 1 Gbit/s, но обычно мало для 10 Gbit/s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Ошибки сети важны даже при нормальной скорости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Packets Received Errors и Packets Outbound Errors показывают ошибки приема и передачи</a:t>
            </a:r>
          </a:p>
          <a:p>
            <a:pPr>
              <a:defRPr sz="3600"/>
            </a:pPr>
            <a:r>
              <a:t>Packets Received Discarded и Packets Outbound Discarded показывают отброшенные пакеты</a:t>
            </a:r>
          </a:p>
          <a:p>
            <a:pPr>
              <a:defRPr sz="3600"/>
            </a:pPr>
            <a:r>
              <a:t>Output Queue Length помогает увидеть очередь на отправку</a:t>
            </a:r>
          </a:p>
          <a:p>
            <a:pPr>
              <a:defRPr sz="3600"/>
            </a:pPr>
            <a:r>
              <a:t>Команда: Get-NetAdapterStatistics — быстро показывает статистику адаптера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Network saturation может находиться вне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Проблема может быть на switch port, uplink, WAN, VPN, firewall или load balancer</a:t>
            </a:r>
          </a:p>
          <a:p>
            <a:pPr>
              <a:defRPr sz="3600"/>
            </a:pPr>
            <a:r>
              <a:t>В Hyper-V отдельным местом проверки становится virtual switch</a:t>
            </a:r>
          </a:p>
          <a:p>
            <a:pPr>
              <a:defRPr sz="3600"/>
            </a:pPr>
            <a:r>
              <a:t>Локальный counter сервера не показывает всю сетевую цепочку</a:t>
            </a:r>
          </a:p>
          <a:p>
            <a:pPr>
              <a:defRPr sz="3600"/>
            </a:pPr>
            <a:r>
              <a:t>Если ошибок на сервере нет, проверяют соседние сетевые устройства и маршрут трафика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Минимальный набор counters для quick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CPU: \Processor(_Total)\% Processor Time и \System\Processor Queue Length</a:t>
            </a:r>
          </a:p>
          <a:p>
            <a:pPr>
              <a:defRPr sz="3600"/>
            </a:pPr>
            <a:r>
              <a:t>Memory: \Memory\Available MBytes, \Memory\% Committed Bytes In Use и \Memory\Pages/sec</a:t>
            </a:r>
          </a:p>
          <a:p>
            <a:pPr>
              <a:defRPr sz="3600"/>
            </a:pPr>
            <a:r>
              <a:t>Disk: \PhysicalDisk(_Total)\Avg. Disk sec/Read и Avg. Disk sec/Write</a:t>
            </a:r>
          </a:p>
          <a:p>
            <a:pPr>
              <a:defRPr sz="3600"/>
            </a:pPr>
            <a:r>
              <a:t>Network: \Network Interface(*)\Bytes Total/sec и error/discard counters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Get-Counter может собрать несколько показателей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Get-Counter — собирает counters с заданным интервалом и числом samples</a:t>
            </a:r>
          </a:p>
          <a:p>
            <a:pPr>
              <a:defRPr sz="3600"/>
            </a:pPr>
            <a:r>
              <a:t>Пример: $counters = @('\Processor(_Total)\% Processor Time','\Memory\Available MBytes','\Memory\Pages/sec','\PhysicalDisk(_Total)\Avg. Disk sec/Read')</a:t>
            </a:r>
          </a:p>
          <a:p>
            <a:pPr>
              <a:defRPr sz="3600"/>
            </a:pPr>
            <a:r>
              <a:t>Пример: Get-Counter -Counter $counters -SampleInterval 5 -MaxSamples 12</a:t>
            </a:r>
          </a:p>
          <a:p>
            <a:pPr>
              <a:defRPr sz="3600"/>
            </a:pPr>
            <a:r>
              <a:t>Ожидаемый результат: минута наблюдения; это quick check, но ещё не полноценный baseline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Data Collector Set собирает проблему во времени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Data Collector Set (DCS) — набор counters и правил записи в Performance Monitor</a:t>
            </a:r>
          </a:p>
          <a:p>
            <a:pPr>
              <a:defRPr sz="3600"/>
            </a:pPr>
            <a:r>
              <a:t>DCS нужен, если проблема появляется ночью, при backup или без администратора рядом</a:t>
            </a:r>
          </a:p>
          <a:p>
            <a:pPr>
              <a:defRPr sz="3600"/>
            </a:pPr>
            <a:r>
              <a:t>В DCS задаются counters, sample interval, duration, path, format и правила хранения</a:t>
            </a:r>
          </a:p>
          <a:p>
            <a:pPr>
              <a:defRPr sz="3600"/>
            </a:pPr>
            <a:r>
              <a:t>Для учебной лаборатории удобно писать BLG-файл на отдельный том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Sample Interval меняет качество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 second ловит короткие пики, но создаёт большой log</a:t>
            </a:r>
          </a:p>
          <a:p>
            <a:pPr>
              <a:defRPr sz="3600"/>
            </a:pPr>
            <a:r>
              <a:t>5-15 seconds — хороший учебный компромисс для лаборатории</a:t>
            </a:r>
          </a:p>
          <a:p>
            <a:pPr>
              <a:defRPr sz="3600"/>
            </a:pPr>
            <a:r>
              <a:t>60 seconds подходит для длительного trend</a:t>
            </a:r>
          </a:p>
          <a:p>
            <a:pPr>
              <a:defRPr sz="3600"/>
            </a:pPr>
            <a:r>
              <a:t>5 minutes может пропустить короткий инцидент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DCS должен иметь безопасный path и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BLG — компактный формат, который удобно открывать в PerfMon</a:t>
            </a:r>
          </a:p>
          <a:p>
            <a:pPr>
              <a:defRPr sz="3600"/>
            </a:pPr>
            <a:r>
              <a:t>Пример пути: D:\PerfLogs\FS01-Baseline</a:t>
            </a:r>
          </a:p>
          <a:p>
            <a:pPr>
              <a:defRPr sz="3600"/>
            </a:pPr>
            <a:r>
              <a:t>PerfLogs не размещают на почти заполненном системном диске</a:t>
            </a:r>
          </a:p>
          <a:p>
            <a:pPr>
              <a:defRPr sz="3600"/>
            </a:pPr>
            <a:r>
              <a:t>Настраивают maximum size, subdirectory format, расписание и удаление старых logs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Threshold должен учитывать baseline и длительность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Threshold — порог, при котором система записывает событие или запускает действие</a:t>
            </a:r>
          </a:p>
          <a:p>
            <a:pPr>
              <a:defRPr sz="3600"/>
            </a:pPr>
            <a:r>
              <a:t>Порог CPU &gt; 80% один раз создаёт шум и не доказывает инцидент</a:t>
            </a:r>
          </a:p>
          <a:p>
            <a:pPr>
              <a:defRPr sz="3600"/>
            </a:pPr>
            <a:r>
              <a:t>Практичнее условие: CPU &gt; 80% в течение 5 минут или latency выше baseline несколько samples подряд</a:t>
            </a:r>
          </a:p>
          <a:p>
            <a:pPr>
              <a:defRPr sz="3600"/>
            </a:pPr>
            <a:r>
              <a:t>PerfMon threshold полезен для обучения, но не заменяет SCOM, Zabbix, PRTG или Azure Monitor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Data Collector Set от counters к BLG-отчёту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DC2005-7B19-433B-018B-AF502CF90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Centralized events в Windows — это WEF и WEC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WEF (Windows Event Forwarding) — пересылка событий с источников на collector</a:t>
            </a:r>
          </a:p>
          <a:p>
            <a:pPr>
              <a:defRPr sz="3600"/>
            </a:pPr>
            <a:r>
              <a:t>WEC (Windows Event Collector) — сервер, принимающий forwarded events</a:t>
            </a:r>
          </a:p>
          <a:p>
            <a:pPr>
              <a:defRPr sz="3600"/>
            </a:pPr>
            <a:r>
              <a:t>WinRM обеспечивает удалённое взаимодействие для подписок</a:t>
            </a:r>
          </a:p>
          <a:p>
            <a:pPr>
              <a:defRPr sz="3600"/>
            </a:pPr>
            <a:r>
              <a:t>Forwarded Events Log хранит события, пришедшие от source computers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Source-initiated и collector-initiated subscriptions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Collector-initiated: collector сам подключается к заданным серверам</a:t>
            </a:r>
          </a:p>
          <a:p>
            <a:pPr>
              <a:defRPr sz="3600"/>
            </a:pPr>
            <a:r>
              <a:t>Source-initiated: серверы получают адрес collector через GPO и отправляют события</a:t>
            </a:r>
          </a:p>
          <a:p>
            <a:pPr>
              <a:defRPr sz="3600"/>
            </a:pPr>
            <a:r>
              <a:t>Для домена source-initiated обычно масштабируется удобнее</a:t>
            </a:r>
          </a:p>
          <a:p>
            <a:pPr>
              <a:defRPr sz="3600"/>
            </a:pPr>
            <a:r>
              <a:t>Собирать все события нельзя: фильтр должен соответствовать роли и задаче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WEF требует WinRM, collector и фильтр событий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collector выполняют wecutil qc для первичной настройки Event Collector</a:t>
            </a:r>
          </a:p>
          <a:p>
            <a:pPr>
              <a:defRPr sz="3600"/>
            </a:pPr>
            <a:r>
              <a:t>На источниках WinRM можно подготовить через GPO или командой winrm quickconfig</a:t>
            </a:r>
          </a:p>
          <a:p>
            <a:pPr>
              <a:defRPr sz="3600"/>
            </a:pPr>
            <a:r>
              <a:t>Перед лабораторией проверяют firewall, права чтения журналов и доступность WinRM</a:t>
            </a:r>
          </a:p>
          <a:p>
            <a:pPr>
              <a:defRPr sz="3600"/>
            </a:pPr>
            <a:r>
              <a:t>WEF не является полноценным SIEM: нет полноценной корреляции, нормализации и расследования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WEF/WEC и журнал Forwarded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F82D93-80B5-2B88-5E40-B70E8389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Симптом нагрузки ещё не является причиной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 — то, что видит пользователь или служба: медленный вход, timeout, зависание</a:t>
            </a:r>
          </a:p>
          <a:p>
            <a:pPr>
              <a:defRPr sz="3600"/>
            </a:pPr>
            <a:r>
              <a:t>Причина — доказанный ресурс, событие, изменение или ошибка конфигурации</a:t>
            </a:r>
          </a:p>
          <a:p>
            <a:pPr>
              <a:defRPr sz="3600"/>
            </a:pPr>
            <a:r>
              <a:t>Показатель без времени и контекста не доказывает root cause</a:t>
            </a:r>
          </a:p>
          <a:p>
            <a:pPr>
              <a:defRPr sz="3600"/>
            </a:pPr>
            <a:r>
              <a:t>Диагностика строится через гипотезы и проверяемые признаки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Таблица гипотез помогает не угадывать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Симптом: медленный вход пользователя</a:t>
            </a:r>
          </a:p>
          <a:p>
            <a:pPr>
              <a:defRPr sz="3600"/>
            </a:pPr>
            <a:r>
              <a:t>Гипотеза DNS: проверка Resolve-DnsName и DC Locator</a:t>
            </a:r>
          </a:p>
          <a:p>
            <a:pPr>
              <a:defRPr sz="3600"/>
            </a:pPr>
            <a:r>
              <a:t>Гипотеза GPO: проверка gpresult и GroupPolicy events</a:t>
            </a:r>
          </a:p>
          <a:p>
            <a:pPr>
              <a:defRPr sz="3600"/>
            </a:pPr>
            <a:r>
              <a:t>Гипотеза disk или profile: проверка latency, User Profile events и размера профиля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Последнее изменение часто указывает направление поиска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Нужно выяснить, что изменилось, когда и кем</a:t>
            </a:r>
          </a:p>
          <a:p>
            <a:pPr>
              <a:defRPr sz="3600"/>
            </a:pPr>
            <a:r>
              <a:t>Проверяются updates, GPO, backup schedule, приложение, reboot и рост нагрузки</a:t>
            </a:r>
          </a:p>
          <a:p>
            <a:pPr>
              <a:defRPr sz="3600"/>
            </a:pPr>
            <a:r>
              <a:t>Связка incident time и change time часто быстрее приводит к причине</a:t>
            </a:r>
          </a:p>
          <a:p>
            <a:pPr>
              <a:defRPr sz="3600"/>
            </a:pPr>
            <a:r>
              <a:t>Если время изменения совпадает с началом симптома, гипотеза получает приоритет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Моделирование CPU load должно быть безопасным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Тест выполняется только в изолированной учебной ВМ или на тестовом сервере</a:t>
            </a:r>
          </a:p>
          <a:p>
            <a:pPr>
              <a:defRPr sz="3600"/>
            </a:pPr>
            <a:r>
              <a:t>Нагрузка должна иметь ограниченную продолжительность и известную команду остановки</a:t>
            </a:r>
          </a:p>
          <a:p>
            <a:pPr>
              <a:defRPr sz="3600"/>
            </a:pPr>
            <a:r>
              <a:t>Baseline фиксируется до теста, а recovery проверяется после остановки нагрузки</a:t>
            </a:r>
          </a:p>
          <a:p>
            <a:pPr>
              <a:defRPr sz="3600"/>
            </a:pPr>
            <a:r>
              <a:t>Бесконтрольный бесконечный цикл не подходит для лабораторной работы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Отказ службы моделируют на безопасной службе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демонстрации можно использовать тестовую или некритичную службу, например Spooler на отдельном сервере</a:t>
            </a:r>
          </a:p>
          <a:p>
            <a:pPr>
              <a:defRPr sz="3600"/>
            </a:pPr>
            <a:r>
              <a:t>Пример: Stop-Service Spooler</a:t>
            </a:r>
          </a:p>
          <a:p>
            <a:pPr>
              <a:defRPr sz="3600"/>
            </a:pPr>
            <a:r>
              <a:t>Проверка: Get-Service Spooler</a:t>
            </a:r>
          </a:p>
          <a:p>
            <a:pPr>
              <a:defRPr sz="3600"/>
            </a:pPr>
            <a:r>
              <a:t>Нельзя без отдельного сценария останавливать AD DS, DNS на единственном DC, Exchange Store или Hyper-V Management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Recovery и root cause analysis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Recovery быстро возвращает сервис: запустить службу, освободить место, переключить backend</a:t>
            </a:r>
          </a:p>
          <a:p>
            <a:pPr>
              <a:defRPr sz="3600"/>
            </a:pPr>
            <a:r>
              <a:t>Root Cause Analysis объясняет, почему проблема возникла и как не повторить её</a:t>
            </a:r>
          </a:p>
          <a:p>
            <a:pPr>
              <a:defRPr sz="3600"/>
            </a:pPr>
            <a:r>
              <a:t>Перезагрузка может снять симптом, но скрыть первопричину</a:t>
            </a:r>
          </a:p>
          <a:p>
            <a:pPr>
              <a:defRPr sz="3600"/>
            </a:pPr>
            <a:r>
              <a:t>После действия всегда выполняется повторная проверка counters и events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Мониторинг связывается с ролями предыдущих лекций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Exchange: queues, mounted databases, transaction log disk, services и certificates</a:t>
            </a:r>
          </a:p>
          <a:p>
            <a:pPr>
              <a:defRPr sz="3600"/>
            </a:pPr>
            <a:r>
              <a:t>WSUS: synchronization, SUSDB/IIS, content disk и client contact</a:t>
            </a:r>
          </a:p>
          <a:p>
            <a:pPr>
              <a:defRPr sz="3600"/>
            </a:pPr>
            <a:r>
              <a:t>Hyper-V: host RAM, vCPU, VHDX storage, checkpoints и vSwitch</a:t>
            </a:r>
          </a:p>
          <a:p>
            <a:pPr>
              <a:defRPr sz="3600"/>
            </a:pPr>
            <a:r>
              <a:t>File Server: disk latency, SMB sessions, free space и NTFS events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от пользовательского симптома к 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45A2CA-D76C-4AA0-ED3B-56128DB68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Отчёт должен содержать временную шкалу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10:00 — начат baseline collection</a:t>
            </a:r>
          </a:p>
          <a:p>
            <a:pPr>
              <a:defRPr sz="3600"/>
            </a:pPr>
            <a:r>
              <a:t>10:05 — запущена тестовая нагрузка</a:t>
            </a:r>
          </a:p>
          <a:p>
            <a:pPr>
              <a:defRPr sz="3600"/>
            </a:pPr>
            <a:r>
              <a:t>10:07 — CPU достиг 92% и вырос response time</a:t>
            </a:r>
          </a:p>
          <a:p>
            <a:pPr>
              <a:defRPr sz="3600"/>
            </a:pPr>
            <a:r>
              <a:t>10:11 — нагрузка остановлена, показатели вернулись к baseline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лабораторная топология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ADMIN01 или MON01: администрирование и централизованный collector</a:t>
            </a:r>
          </a:p>
          <a:p>
            <a:pPr>
              <a:defRPr sz="3600"/>
            </a:pPr>
            <a:r>
              <a:t>FS01: основной объект мониторинга и baseline</a:t>
            </a:r>
          </a:p>
          <a:p>
            <a:pPr>
              <a:defRPr sz="3600"/>
            </a:pPr>
            <a:r>
              <a:t>DC01: role-specific events и пример доменной роли</a:t>
            </a:r>
          </a:p>
          <a:p>
            <a:pPr>
              <a:defRPr sz="3600"/>
            </a:pPr>
            <a:r>
              <a:t>CLIENT01 и test disk: пользовательский симптом и безопасное моделирование заполнения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Измеримая приёмка мониторинга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Baseline содержит роль сервера, период, условия, counters и путь к BLG</a:t>
            </a:r>
          </a:p>
          <a:p>
            <a:pPr>
              <a:defRPr sz="3600"/>
            </a:pPr>
            <a:r>
              <a:t>Custom View создан под конкретную задачу и повторяет нужный фильтр</a:t>
            </a:r>
          </a:p>
          <a:p>
            <a:pPr>
              <a:defRPr sz="3600"/>
            </a:pPr>
            <a:r>
              <a:t>DCS имеет interval, duration, log format и безопасный log path</a:t>
            </a:r>
          </a:p>
          <a:p>
            <a:pPr>
              <a:defRPr sz="3600"/>
            </a:pPr>
            <a:r>
              <a:t>Отчёт содержит symptom, hypothesis, metrics, events, action и повторную проверку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Monitoring без baseline превращается в набор случайных чисел</a:t>
            </a:r>
          </a:p>
          <a:p>
            <a:pPr>
              <a:defRPr sz="3600"/>
            </a:pPr>
            <a:r>
              <a:t>Event ID читается только вместе с provider, временем, уровнем и соседними событиями</a:t>
            </a:r>
          </a:p>
          <a:p>
            <a:pPr>
              <a:defRPr sz="3600"/>
            </a:pPr>
            <a:r>
              <a:t>CPU, memory, disk и network оцениваются по utilization, saturation и errors</a:t>
            </a:r>
          </a:p>
          <a:p>
            <a:pPr>
              <a:defRPr sz="3600"/>
            </a:pPr>
            <a:r>
              <a:t>DCS и WEF помогают видеть проблему во времени и на нескольких серверах</a:t>
            </a:r>
          </a:p>
          <a:p>
            <a:pPr>
              <a:defRPr sz="3600"/>
            </a:pPr>
            <a:r>
              <a:t>Root cause подтверждается измерениями, журналами и повторной проверкой после действия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monitoring отличается от diagnostics?</a:t>
            </a:r>
          </a:p>
          <a:p>
            <a:pPr>
              <a:defRPr sz="3600"/>
            </a:pPr>
            <a:r>
              <a:t>Что должно входить в baseline сервера?</a:t>
            </a:r>
          </a:p>
          <a:p>
            <a:pPr>
              <a:defRPr sz="3600"/>
            </a:pPr>
            <a:r>
              <a:t>Почему один Event ID нельзя оценивать без provider?</a:t>
            </a:r>
          </a:p>
          <a:p>
            <a:pPr>
              <a:defRPr sz="3600"/>
            </a:pPr>
            <a:r>
              <a:t>Что означает Level=2 в Get-WinEvent?</a:t>
            </a:r>
          </a:p>
          <a:p>
            <a:pPr>
              <a:defRPr sz="3600"/>
            </a:pPr>
            <a:r>
              <a:t>Чем Custom View отличается от обычного ручного просмотра журнала?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counters и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высокий Pages/sec не всегда доказывает нехватку RAM?</a:t>
            </a:r>
          </a:p>
          <a:p>
            <a:pPr>
              <a:defRPr sz="3600"/>
            </a:pPr>
            <a:r>
              <a:t>В каких единицах измеряется Avg. Disk sec/Read?</a:t>
            </a:r>
          </a:p>
          <a:p>
            <a:pPr>
              <a:defRPr sz="3600"/>
            </a:pPr>
            <a:r>
              <a:t>Чем LogicalDisk отличается от PhysicalDisk?</a:t>
            </a:r>
          </a:p>
          <a:p>
            <a:pPr>
              <a:defRPr sz="3600"/>
            </a:pPr>
            <a:r>
              <a:t>Как определить загрузку сетевого интерфейса в процентах?</a:t>
            </a:r>
          </a:p>
          <a:p>
            <a:pPr>
              <a:defRPr sz="3600"/>
            </a:pPr>
            <a:r>
              <a:t>Чем WEF отличается от полноценной SIEM-системы?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3023</Words>
  <Application>Microsoft Office PowerPoint</Application>
  <PresentationFormat>Широкоэкранный</PresentationFormat>
  <Paragraphs>287</Paragraphs>
  <Slides>62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2026-07-31T05:51:11Z</dcterms:modified>
  <cp:category/>
</cp:coreProperties>
</file>