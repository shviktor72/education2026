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4. Развёртывание Microsoft Exchange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как Exchange зависит от Active Directory, DNS, сертификатов и дисков</a:t>
            </a:r>
          </a:p>
          <a:p>
            <a:pPr>
              <a:defRPr sz="3600"/>
            </a:pPr>
            <a:r>
              <a:t>Объяснять порядок подготовки AD и установки Mailbox Role</a:t>
            </a:r>
          </a:p>
          <a:p>
            <a:pPr>
              <a:defRPr sz="3600"/>
            </a:pPr>
            <a:r>
              <a:t>Проверять базовую работу базы, транспорта, Autodiscover, EAC и EMS</a:t>
            </a:r>
          </a:p>
          <a:p>
            <a:pPr>
              <a:defRPr sz="3600"/>
            </a:pPr>
            <a:r>
              <a:t>Отличать успешное открытие EAC от реальной приёмки почтовой системы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Корпоративная почта, участники и SMTP, HTTPS, MAPI, IMAP.</a:t>
            </a:r>
          </a:p>
          <a:p>
            <a:pPr>
              <a:defRPr sz="3600"/>
            </a:pPr>
            <a:r>
              <a:t>2. Exchange и AD, подготовка schema, службы и Mailbox role.</a:t>
            </a:r>
          </a:p>
          <a:p>
            <a:pPr>
              <a:defRPr sz="3600"/>
            </a:pPr>
            <a:r>
              <a:t>3. Database EDB, transaction logs, mailbox и Mail Flow.</a:t>
            </a:r>
          </a:p>
          <a:p>
            <a:pPr>
              <a:defRPr sz="3600"/>
            </a:pPr>
            <a:r>
              <a:t>4. Receive/Send Connectors и Accepted Domains.</a:t>
            </a:r>
          </a:p>
          <a:p>
            <a:pPr>
              <a:defRPr sz="3600"/>
            </a:pPr>
            <a:r>
              <a:t>5. EAC и EMS; DNS, certificates, names и virtual directory URLs.</a:t>
            </a:r>
          </a:p>
          <a:p>
            <a:pPr>
              <a:defRPr sz="3600"/>
            </a:pPr>
            <a:r>
              <a:t>6. Ресурсные требования.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Внутренний домен стенда: corp.test, а не публичный почтовый домен</a:t>
            </a:r>
          </a:p>
          <a:p>
            <a:pPr>
              <a:defRPr sz="3600"/>
            </a:pPr>
            <a:r>
              <a:t>EX01 — отдельный member server с Exchange Mailbox Role</a:t>
            </a:r>
          </a:p>
          <a:p>
            <a:pPr>
              <a:defRPr sz="3600"/>
            </a:pPr>
            <a:r>
              <a:t>Сервисные имена: mail.corp.test и autodiscover.corp.test</a:t>
            </a:r>
          </a:p>
          <a:p>
            <a:pPr>
              <a:defRPr sz="3600"/>
            </a:pPr>
            <a:r>
              <a:t>Приёмка завершается отправкой письма user1@corp.test → user2@corp.test и проверкой очереди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минимальная лабораторная топология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91A2DE-660D-5B14-5314-FEEDF31A5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Версия Exchange фиксируется до установки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Exchange нельзя устанавливать по абстрактной инструкции «для современных версий»</a:t>
            </a:r>
          </a:p>
          <a:p>
            <a:pPr>
              <a:defRPr sz="3600"/>
            </a:pPr>
            <a:r>
              <a:t>В отчёте фиксируют точный продукт, CU или Subscription Edition, build number и ISO</a:t>
            </a:r>
          </a:p>
          <a:p>
            <a:pPr>
              <a:defRPr sz="3600"/>
            </a:pPr>
            <a:r>
              <a:t>От версии зависят поддерживаемая Windows Server, .NET, компоненты, EAC и параметры Setup</a:t>
            </a:r>
          </a:p>
          <a:p>
            <a:pPr>
              <a:defRPr sz="3600"/>
            </a:pPr>
            <a:r>
              <a:t>Команда проверки после установки: Get-ExchangeServer | Format-List Name,AdminDisplayVersion,ServerRole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Exchange обслуживает корпоративную почту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Exchange Server — on-premises платформа корпоративной почты и календарей</a:t>
            </a:r>
          </a:p>
          <a:p>
            <a:pPr>
              <a:defRPr sz="3600"/>
            </a:pPr>
            <a:r>
              <a:t>MUA (Mail User Agent) — клиент пользователя: Outlook, OWA или мобильный клиент</a:t>
            </a:r>
          </a:p>
          <a:p>
            <a:pPr>
              <a:defRPr sz="3600"/>
            </a:pPr>
            <a:r>
              <a:t>MTA (Mail Transfer Agent) — серверный компонент, передающий сообщения между системами</a:t>
            </a:r>
          </a:p>
          <a:p>
            <a:pPr>
              <a:defRPr sz="3600"/>
            </a:pPr>
            <a:r>
              <a:t>Mailbox — почтовый ящик, связанный с объектом каталога</a:t>
            </a:r>
          </a:p>
          <a:p>
            <a:pPr>
              <a:defRPr sz="3600"/>
            </a:pPr>
            <a:r>
              <a:t>Почтовая система считается рабочей только после проверки клиента, доставки и журналов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SMTP, HTTPS, MAPI, IMAP и POP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SMTP 25 используется для межсерверного mail flow</a:t>
            </a:r>
          </a:p>
          <a:p>
            <a:pPr>
              <a:defRPr sz="3600"/>
            </a:pPr>
            <a:r>
              <a:t>SMTP Submission 587 применяется для аутентифицированной отправки клиентами при соответствующей настройке</a:t>
            </a:r>
          </a:p>
          <a:p>
            <a:pPr>
              <a:defRPr sz="3600"/>
            </a:pPr>
            <a:r>
              <a:t>MAPI over HTTP — основной современный протокол Outlook для Exchange mailbox</a:t>
            </a:r>
          </a:p>
          <a:p>
            <a:pPr>
              <a:defRPr sz="3600"/>
            </a:pPr>
            <a:r>
              <a:t>IMAP 143/993 и POP3 110/995 нужны для совместимости, но не дают полного набора функций Outlook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OWA и EAC нельзя смешивать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OWA (Outlook on the web) — пользовательский web-клиент для почты</a:t>
            </a:r>
          </a:p>
          <a:p>
            <a:pPr>
              <a:defRPr sz="3600"/>
            </a:pPr>
            <a:r>
              <a:t>EAC (Exchange Admin Center) — административная web-консоль</a:t>
            </a:r>
          </a:p>
          <a:p>
            <a:pPr>
              <a:defRPr sz="3600"/>
            </a:pPr>
            <a:r>
              <a:t>ECP virtual directory исторически связан с административными функциями Exchange</a:t>
            </a:r>
          </a:p>
          <a:p>
            <a:pPr>
              <a:defRPr sz="3600"/>
            </a:pPr>
            <a:r>
              <a:t>Публикация OWA для пользователей не означает, что EAC должен быть доступен из Интернета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Exchange хранит конфигурацию в Active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Schema Partition содержит классы и атрибуты Exchange</a:t>
            </a:r>
          </a:p>
          <a:p>
            <a:pPr>
              <a:defRPr sz="3600"/>
            </a:pPr>
            <a:r>
              <a:t>Configuration Partition хранит организацию Exchange, серверы, connectors и policies</a:t>
            </a:r>
          </a:p>
          <a:p>
            <a:pPr>
              <a:defRPr sz="3600"/>
            </a:pPr>
            <a:r>
              <a:t>Domain Partition содержит пользователей, группы и mail-enabled objects</a:t>
            </a:r>
          </a:p>
          <a:p>
            <a:pPr>
              <a:defRPr sz="3600"/>
            </a:pPr>
            <a:r>
              <a:t>Переустановка EX01 не очищает всё: часть состояния Exchange уже записана в 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Prerequisites проверяются по выбранной версии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Нужны поддерживаемая Windows Server, обновления ОС и статический IP</a:t>
            </a:r>
          </a:p>
          <a:p>
            <a:pPr>
              <a:defRPr sz="3600"/>
            </a:pPr>
            <a:r>
              <a:t>Проверяются .NET Framework, Visual C++ Runtime, Windows Features и другие компоненты версии</a:t>
            </a:r>
          </a:p>
          <a:p>
            <a:pPr>
              <a:defRPr sz="3600"/>
            </a:pPr>
            <a:r>
              <a:t>EX01 должен быть членом домена и использовать внутренний DNS AD, например DC01</a:t>
            </a:r>
          </a:p>
          <a:p>
            <a:pPr>
              <a:defRPr sz="3600"/>
            </a:pPr>
            <a:r>
              <a:t>Конкретный список prerequisites берут из документации именно выбранного Exchange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EX01 должен быть отдельным member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EX01 не разворачивают AD DS и роль контроллера домена</a:t>
            </a:r>
          </a:p>
          <a:p>
            <a:pPr>
              <a:defRPr sz="3600"/>
            </a:pPr>
            <a:r>
              <a:t>Совмещение Exchange и DC усложняет безопасность, обслуживание и восстановление</a:t>
            </a:r>
          </a:p>
          <a:p>
            <a:pPr>
              <a:defRPr sz="3600"/>
            </a:pPr>
            <a:r>
              <a:t>Exchange требует стабильного DNS, времени, доменной связности и достаточных ресурсов</a:t>
            </a:r>
          </a:p>
          <a:p>
            <a:pPr>
              <a:defRPr sz="3600"/>
            </a:pPr>
            <a:r>
              <a:t>Если в учебном стенде есть упрощение, оно должно быть явно указано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здоровья AD перед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dcdiag проверяет состояние контроллеров домена</a:t>
            </a:r>
          </a:p>
          <a:p>
            <a:pPr>
              <a:defRPr sz="3600"/>
            </a:pPr>
            <a:r>
              <a:t>Пример использования: dcdiag</a:t>
            </a:r>
          </a:p>
          <a:p>
            <a:pPr>
              <a:defRPr sz="3600"/>
            </a:pPr>
            <a:r>
              <a:t>repadmin /replsummary показывает общее состояние репликации</a:t>
            </a:r>
          </a:p>
          <a:p>
            <a:pPr>
              <a:defRPr sz="3600"/>
            </a:pPr>
            <a:r>
              <a:t>Пример использования: Get-ADForest | Select-Object SchemaMaster,DomainNamingMaster</a:t>
            </a:r>
          </a:p>
          <a:p>
            <a:pPr>
              <a:defRPr sz="3600"/>
            </a:pPr>
            <a:r>
              <a:t>Пример использования: Get-ADDomain | Select-Object PDCEmulator,RIDMaster,InfrastructureMaster</a:t>
            </a:r>
          </a:p>
          <a:p>
            <a:pPr>
              <a:defRPr sz="3600"/>
            </a:pPr>
            <a:r>
              <a:t>Ожидаемый результат: нет критичных ошибок DNS/репликации, а Schema Master известен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Подготовка AD состоит из нескольких этапов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PrepareSchema расширяет схему леса Exchange-классами и атрибутами</a:t>
            </a:r>
          </a:p>
          <a:p>
            <a:pPr>
              <a:defRPr sz="3600"/>
            </a:pPr>
            <a:r>
              <a:t>PrepareAD создает организацию Exchange в Configuration Partition</a:t>
            </a:r>
          </a:p>
          <a:p>
            <a:pPr>
              <a:defRPr sz="3600"/>
            </a:pPr>
            <a:r>
              <a:t>PrepareAllDomains или PrepareDomain готовит домены для почтовых объектов</a:t>
            </a:r>
          </a:p>
          <a:p>
            <a:pPr>
              <a:defRPr sz="3600"/>
            </a:pPr>
            <a:r>
              <a:t>Установка Mailbox Role выполняется только после подготовки AD и проверки репликации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Права для подготовки AD выдаются временно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PrepareSchema требует прав Schema Admins и Enterprise Admins</a:t>
            </a:r>
          </a:p>
          <a:p>
            <a:pPr>
              <a:defRPr sz="3600"/>
            </a:pPr>
            <a:r>
              <a:t>PrepareAD обычно требует Enterprise Admins, а подготовка домена — Domain Admins</a:t>
            </a:r>
          </a:p>
          <a:p>
            <a:pPr>
              <a:defRPr sz="3600"/>
            </a:pPr>
            <a:r>
              <a:t>Установка на EX01 требует локального администратора и нужных прав Exchange setup</a:t>
            </a:r>
          </a:p>
          <a:p>
            <a:pPr>
              <a:defRPr sz="3600"/>
            </a:pPr>
            <a:r>
              <a:t>Повышенные права выдают на время операции, а не оставляют постоянно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PrepareSchema выполняется как изменение леса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расширяет схему Active Directory и влияет на весь лес</a:t>
            </a:r>
          </a:p>
          <a:p>
            <a:pPr>
              <a:defRPr sz="3600"/>
            </a:pPr>
            <a:r>
              <a:t>Пример использования: Setup.exe /PrepareSchema /IAcceptExchangeServerLicenseTerms_DiagnosticDataOFF</a:t>
            </a:r>
          </a:p>
          <a:p>
            <a:pPr>
              <a:defRPr sz="3600"/>
            </a:pPr>
            <a:r>
              <a:t>Ожидаемый результат: Setup завершается без Error, а изменения реплицируются на DC</a:t>
            </a:r>
          </a:p>
          <a:p>
            <a:pPr>
              <a:defRPr sz="3600"/>
            </a:pPr>
            <a:r>
              <a:t>Snapshot только EX01 не откатывает PrepareSchema, потому что изменяется 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PrepareAD и PrepareAllDomains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PrepareAD создает организацию Exchange и базовую конфигурацию в AD</a:t>
            </a:r>
          </a:p>
          <a:p>
            <a:pPr>
              <a:defRPr sz="3600"/>
            </a:pPr>
            <a:r>
              <a:t>Пример использования: Setup.exe /PrepareAD /OrganizationName:"Corp" /IAcceptExchangeServerLicenseTerms_DiagnosticDataOFF</a:t>
            </a:r>
          </a:p>
          <a:p>
            <a:pPr>
              <a:defRPr sz="3600"/>
            </a:pPr>
            <a:r>
              <a:t>PrepareAllDomains готовит все домены леса: Setup.exe /PrepareAllDomains /IAcceptExchangeServerLicenseTerms_DiagnosticDataOFF</a:t>
            </a:r>
          </a:p>
          <a:p>
            <a:pPr>
              <a:defRPr sz="3600"/>
            </a:pPr>
            <a:r>
              <a:t>Для отдельного домена можно использовать PrepareDomain:corp.test, если это соответствует структуре леса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 подготовки AD проверяется репликация и Setup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Exchange Setup Logs обычно находятся в C:\ExchangeSetupLogs\</a:t>
            </a:r>
          </a:p>
          <a:p>
            <a:pPr>
              <a:defRPr sz="3600"/>
            </a:pPr>
            <a:r>
              <a:t>Ключевой файл: ExchangeSetup.log, дополнительные журналы зависят от этапа и версии</a:t>
            </a:r>
          </a:p>
          <a:p>
            <a:pPr>
              <a:defRPr sz="3600"/>
            </a:pPr>
            <a:r>
              <a:t>Пример проверки репликации: repadmin /replsummary</a:t>
            </a:r>
          </a:p>
          <a:p>
            <a:pPr>
              <a:defRPr sz="3600"/>
            </a:pPr>
            <a:r>
              <a:t>В отчёт включают этап, дату, команду, status, warning/error и версию установочного носителя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Mailbox Role содержит несколько логических служб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актуальной on-premises архитектуре основные функции сосредоточены в Mailbox Role</a:t>
            </a:r>
          </a:p>
          <a:p>
            <a:pPr>
              <a:defRPr sz="3600"/>
            </a:pPr>
            <a:r>
              <a:t>Логически внутри есть Client Access Services, Transport, Mailbox Database и IIS-компоненты</a:t>
            </a:r>
          </a:p>
          <a:p>
            <a:pPr>
              <a:defRPr sz="3600"/>
            </a:pPr>
            <a:r>
              <a:t>Transport Pipeline включает Front End Transport, Transport Service и Mailbox Transport</a:t>
            </a:r>
          </a:p>
          <a:p>
            <a:pPr>
              <a:defRPr sz="3600"/>
            </a:pPr>
            <a:r>
              <a:t>Одна роль на сервере не означает, что почтовый поток состоит из одного процесса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Mailbox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Setup.exe в unattended-режиме устанавливает роль Exchange на EX01</a:t>
            </a:r>
          </a:p>
          <a:p>
            <a:pPr>
              <a:defRPr sz="3600"/>
            </a:pPr>
            <a:r>
              <a:t>Пример использования: Setup.exe /Mode:Install /Roles:Mailbox /IAcceptExchangeServerLicenseTerms_DiagnosticDataOFF</a:t>
            </a:r>
          </a:p>
          <a:p>
            <a:pPr>
              <a:defRPr sz="3600"/>
            </a:pPr>
            <a:r>
              <a:t>Ожидаемый результат: установка завершается успешно, сервер перезагружается при необходимости</a:t>
            </a:r>
          </a:p>
          <a:p>
            <a:pPr>
              <a:defRPr sz="3600"/>
            </a:pPr>
            <a:r>
              <a:t>После установки проверяют Get-ExchangeServer и службы Exchange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служб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Get-Service показывает состояние служб Exchange на EX01</a:t>
            </a:r>
          </a:p>
          <a:p>
            <a:pPr>
              <a:defRPr sz="3600"/>
            </a:pPr>
            <a:r>
              <a:t>Пример использования: Get-Service *Exchange* | Sort-Object Status,Name</a:t>
            </a:r>
          </a:p>
          <a:p>
            <a:pPr>
              <a:defRPr sz="3600"/>
            </a:pPr>
            <a:r>
              <a:t>Критичны Active Directory Topology, Transport, Frontend Transport, Information Store и Service Host</a:t>
            </a:r>
          </a:p>
          <a:p>
            <a:pPr>
              <a:defRPr sz="3600"/>
            </a:pPr>
            <a:r>
              <a:t>Не все службы обязаны быть Running в любой версии, поэтому результат сравнивают с ролью и документацией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Exchange, Active Directory и Transport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9FB06B-2DF8-C6EB-8AB0-B2C934953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EDB и Transaction Logs работают вместе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EDB — файл mailbox database, где хранятся почтовые данные</a:t>
            </a:r>
          </a:p>
          <a:p>
            <a:pPr>
              <a:defRPr sz="3600"/>
            </a:pPr>
            <a:r>
              <a:t>Transaction Logs фиксируют изменения до записи в базу и нужны для восстановления</a:t>
            </a:r>
          </a:p>
          <a:p>
            <a:pPr>
              <a:defRPr sz="3600"/>
            </a:pPr>
            <a:r>
              <a:t>Нельзя удалять logs вручную ради освобождения места</a:t>
            </a:r>
          </a:p>
          <a:p>
            <a:pPr>
              <a:defRPr sz="3600"/>
            </a:pPr>
            <a:r>
              <a:t>Для восстановления важны EDB, Logs, Checkpoint File и состояние database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путей базы и журналов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Get-MailboxDatabase показывает расположение EDB и transaction logs</a:t>
            </a:r>
          </a:p>
          <a:p>
            <a:pPr>
              <a:defRPr sz="3600"/>
            </a:pPr>
            <a:r>
              <a:t>Пример использования: Get-MailboxDatabase | Format-Table Name,Server,EdbFilePath,LogFolderPath</a:t>
            </a:r>
          </a:p>
          <a:p>
            <a:pPr>
              <a:defRPr sz="3600"/>
            </a:pPr>
            <a:r>
              <a:t>Ожидаемый результат: пути базы и журналов понятны и совпадают с проектом</a:t>
            </a:r>
          </a:p>
          <a:p>
            <a:pPr>
              <a:defRPr sz="3600"/>
            </a:pPr>
            <a:r>
              <a:t>В production EDB и logs часто разделяют по томам; в лаборатории допустимо упрощение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Mounted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База должна быть смонтирована, иначе ящики не обслуживаются</a:t>
            </a:r>
          </a:p>
          <a:p>
            <a:pPr>
              <a:defRPr sz="3600"/>
            </a:pPr>
            <a:r>
              <a:t>Пример использования: Get-MailboxDatabase -Status | Format-Table Name,Mounted,DatabaseSize,AvailableNewMailboxSpace</a:t>
            </a:r>
          </a:p>
          <a:p>
            <a:pPr>
              <a:defRPr sz="3600"/>
            </a:pPr>
            <a:r>
              <a:t>Ожидаемый результат: Mounted равен True для рабочей database</a:t>
            </a:r>
          </a:p>
          <a:p>
            <a:pPr>
              <a:defRPr sz="3600"/>
            </a:pPr>
            <a:r>
              <a:t>Если база dismounted, проверяют Event Viewer, свободное место, logs и службы Exchange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Перемещение базы выполняется средствами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EDB нельзя просто переносить через Explorer как обычный файл</a:t>
            </a:r>
          </a:p>
          <a:p>
            <a:pPr>
              <a:defRPr sz="3600"/>
            </a:pPr>
            <a:r>
              <a:t>Пример использования: Move-DatabasePath -Identity DB01 -EdbFilePath E:\ExchangeDatabases\DB01\DB01.edb -LogFolderPath F:\ExchangeLogs\DB01</a:t>
            </a:r>
          </a:p>
          <a:p>
            <a:pPr>
              <a:defRPr sz="3600"/>
            </a:pPr>
            <a:r>
              <a:t>Ожидаемый результат: база перемещается в указанные пути, возможен dismount и простой</a:t>
            </a:r>
          </a:p>
          <a:p>
            <a:pPr>
              <a:defRPr sz="3600"/>
            </a:pPr>
            <a:r>
              <a:t>Перед операцией нужны backup, свободное место, окно обслуживания и проверка результата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Circular Logging — не способ скрыть нехватку места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Circular Logging повторно использует transaction logs и снижает расход диска</a:t>
            </a:r>
          </a:p>
          <a:p>
            <a:pPr>
              <a:defRPr sz="3600"/>
            </a:pPr>
            <a:r>
              <a:t>Он сокращает возможности восстановления и влияет на backup strategy</a:t>
            </a:r>
          </a:p>
          <a:p>
            <a:pPr>
              <a:defRPr sz="3600"/>
            </a:pPr>
            <a:r>
              <a:t>Проверка: Get-MailboxDatabase | Select-Object Name,CircularLoggingEnabled</a:t>
            </a:r>
          </a:p>
          <a:p>
            <a:pPr>
              <a:defRPr sz="3600"/>
            </a:pPr>
            <a:r>
              <a:t>В базовой лаборатории Circular Logging лучше оставить выключенным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Log Truncation требует application-aware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 любой snapshot или file backup корректно очищает Exchange logs</a:t>
            </a:r>
          </a:p>
          <a:p>
            <a:pPr>
              <a:defRPr sz="3600"/>
            </a:pPr>
            <a:r>
              <a:t>Нужен поддерживаемый VSS/Application-Aware backup с Exchange VSS Writer</a:t>
            </a:r>
          </a:p>
          <a:p>
            <a:pPr>
              <a:defRPr sz="3600"/>
            </a:pPr>
            <a:r>
              <a:t>После успешного backup система может выполнить truncation устаревших logs</a:t>
            </a:r>
          </a:p>
          <a:p>
            <a:pPr>
              <a:defRPr sz="3600"/>
            </a:pPr>
            <a:r>
              <a:t>Простое копирование EDB и Logs не является поддерживаемой backup strategy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Типы почтовых объектов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User Mailbox принадлежит пользователю AD и содержит почтовый ящик</a:t>
            </a:r>
          </a:p>
          <a:p>
            <a:pPr>
              <a:defRPr sz="3600"/>
            </a:pPr>
            <a:r>
              <a:t>Shared Mailbox используется через делегирование; прямой интерактивный вход не является штатным сценарием</a:t>
            </a:r>
          </a:p>
          <a:p>
            <a:pPr>
              <a:defRPr sz="3600"/>
            </a:pPr>
            <a:r>
              <a:t>Room и Equipment Mailboxes используются для бронирования ресурсов</a:t>
            </a:r>
          </a:p>
          <a:p>
            <a:pPr>
              <a:defRPr sz="3600"/>
            </a:pPr>
            <a:r>
              <a:t>Mail User, Mail Contact и Distribution Groups могут иметь адрес, но не всегда имеют mailbox в Exchange</a:t>
            </a:r>
          </a:p>
          <a:p>
            <a:pPr>
              <a:defRPr sz="3600"/>
            </a:pPr>
            <a:r>
              <a:t>Права Shared Mailbox независимы: Full Access, Send As и Send on Behalf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Внутренний mail flow проверяется двумя пользователями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Минимум нужны user1@corp.test и user2@corp.test</a:t>
            </a:r>
          </a:p>
          <a:p>
            <a:pPr>
              <a:defRPr sz="3600"/>
            </a:pPr>
            <a:r>
              <a:t>Если AD users уже созданы, mailbox можно включить командой Enable-Mailbox -Identity user1 -Database DB01</a:t>
            </a:r>
          </a:p>
          <a:p>
            <a:pPr>
              <a:defRPr sz="3600"/>
            </a:pPr>
            <a:r>
              <a:t>Сценарий: user1 входит в OWA, отправляет письмо user2, user2 получает и отвечает</a:t>
            </a:r>
          </a:p>
          <a:p>
            <a:pPr>
              <a:defRPr sz="3600"/>
            </a:pPr>
            <a:r>
              <a:t>Открытый OWA без отправки письма не доказывает исправность Exchange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Connectors определяют границы транспорта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Receive Connector принимает SMTP-соединения от клиентов, серверов или устройств</a:t>
            </a:r>
          </a:p>
          <a:p>
            <a:pPr>
              <a:defRPr sz="3600"/>
            </a:pPr>
            <a:r>
              <a:t>Send Connector задает путь исходящей почты во внешние домены или на smart host</a:t>
            </a:r>
          </a:p>
          <a:p>
            <a:pPr>
              <a:defRPr sz="3600"/>
            </a:pPr>
            <a:r>
              <a:t>Accepted Domain сообщает Exchange, какие домены он обслуживает</a:t>
            </a:r>
          </a:p>
          <a:p>
            <a:pPr>
              <a:defRPr sz="3600"/>
            </a:pPr>
            <a:r>
              <a:t>Ошибки connector могут создать отказ доставки или опасный open relay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Receive Connectors нельзя править вслепую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Exchange имеет несколько стандартных Receive Connectors: Frontend, Client Frontend, Default и другие</a:t>
            </a:r>
          </a:p>
          <a:p>
            <a:pPr>
              <a:defRPr sz="3600"/>
            </a:pPr>
            <a:r>
              <a:t>Для принтеров и приложений лучше создавать отдельный connector с конкретной целью</a:t>
            </a:r>
          </a:p>
          <a:p>
            <a:pPr>
              <a:defRPr sz="3600"/>
            </a:pPr>
            <a:r>
              <a:t>Проверка: Get-ReceiveConnector | Format-Table Name,Server,Bindings,RemoteIPRanges,PermissionGroups</a:t>
            </a:r>
          </a:p>
          <a:p>
            <a:pPr>
              <a:defRPr sz="3600"/>
            </a:pPr>
            <a:r>
              <a:t>Ожидаемый результат: видны bindings, remote IP ranges и группы разрешений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Relay Restrictions защищают организацию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Open relay — сервер принимает почту от постороннего отправителя к постороннему получателю</a:t>
            </a:r>
          </a:p>
          <a:p>
            <a:pPr>
              <a:defRPr sz="3600"/>
            </a:pPr>
            <a:r>
              <a:t>Такой сервер быстро попадет в спам-листы и станет точкой атаки</a:t>
            </a:r>
          </a:p>
          <a:p>
            <a:pPr>
              <a:defRPr sz="3600"/>
            </a:pPr>
            <a:r>
              <a:t>Для устройств создают connector с ограниченными Remote IP Ranges и документированной целью</a:t>
            </a:r>
          </a:p>
          <a:p>
            <a:pPr>
              <a:defRPr sz="3600"/>
            </a:pPr>
            <a:r>
              <a:t>Тест: внешний неаутентифицированный отправитель не должен отправить письмо внешнему получателю через EX01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Accepted Domains имеют разные типы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Authoritative — Exchange является окончательным получателем домена и отклоняет неизвестных адресатов</a:t>
            </a:r>
          </a:p>
          <a:p>
            <a:pPr>
              <a:defRPr sz="3600"/>
            </a:pPr>
            <a:r>
              <a:t>Internal Relay — часть получателей находится в Exchange, часть в другой системе</a:t>
            </a:r>
          </a:p>
          <a:p>
            <a:pPr>
              <a:defRPr sz="3600"/>
            </a:pPr>
            <a:r>
              <a:t>External Relay — Exchange пересылает всю почту домена другому серверу</a:t>
            </a:r>
          </a:p>
          <a:p>
            <a:pPr>
              <a:defRPr sz="3600"/>
            </a:pPr>
            <a:r>
              <a:t>Для лабораторного corp.test обычно нужен Authoritative Domain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Accepted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показывает домены, которые Exchange считает обслуживаемыми</a:t>
            </a:r>
          </a:p>
          <a:p>
            <a:pPr>
              <a:defRPr sz="3600"/>
            </a:pPr>
            <a:r>
              <a:t>Пример использования: Get-AcceptedDomain | Format-Table Name,DomainName,DomainType,Default</a:t>
            </a:r>
          </a:p>
          <a:p>
            <a:pPr>
              <a:defRPr sz="3600"/>
            </a:pPr>
            <a:r>
              <a:t>Пример создания: New-AcceptedDomain -Name "Corp Test" -DomainName corp.test -DomainType Authoritative</a:t>
            </a:r>
          </a:p>
          <a:p>
            <a:pPr>
              <a:defRPr sz="3600"/>
            </a:pPr>
            <a:r>
              <a:t>Ожидаемый результат: corp.test имеет тип Authoritative и используется для учебных mailbox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Send Connector нужен для внешней отправки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внутренней доставки между mailbox одного Exchange Internet Send Connector не нужен</a:t>
            </a:r>
          </a:p>
          <a:p>
            <a:pPr>
              <a:defRPr sz="3600"/>
            </a:pPr>
            <a:r>
              <a:t>Для внешней почты нужны DNS routing или smart host, source transport servers и address space</a:t>
            </a:r>
          </a:p>
          <a:p>
            <a:pPr>
              <a:defRPr sz="3600"/>
            </a:pPr>
            <a:r>
              <a:t>Проверка: Get-SendConnector | Format-List Name,AddressSpaces,SmartHosts,DNSRoutingEnabled,SourceTransportServers</a:t>
            </a:r>
          </a:p>
          <a:p>
            <a:pPr>
              <a:defRPr sz="3600"/>
            </a:pPr>
            <a:r>
              <a:t>Для corp.test внешнюю доставку лучше не реализовывать: это учебный внутренний домен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Queue показывает реальное состояние транспорта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Get-Queue показывает очереди доставки и зависшие сообщения</a:t>
            </a:r>
          </a:p>
          <a:p>
            <a:pPr>
              <a:defRPr sz="3600"/>
            </a:pPr>
            <a:r>
              <a:t>Пример использования: Get-Queue | Format-Table Identity,Status,MessageCount,NextHopDomain</a:t>
            </a:r>
          </a:p>
          <a:p>
            <a:pPr>
              <a:defRPr sz="3600"/>
            </a:pPr>
            <a:r>
              <a:t>Важные состояния: Submission, Delivery, Retry, Suspended, Unreachable</a:t>
            </a:r>
          </a:p>
          <a:p>
            <a:pPr>
              <a:defRPr sz="3600"/>
            </a:pPr>
            <a:r>
              <a:t>Если очередь в Retry, открытый EAC не означает исправный mail flow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Test-Mailflow и реальное письмо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Test-Mailflow выполняет встроенную проверку транспортной подсистемы Exchange</a:t>
            </a:r>
          </a:p>
          <a:p>
            <a:pPr>
              <a:defRPr sz="3600"/>
            </a:pPr>
            <a:r>
              <a:t>Пример использования: Test-Mailflow</a:t>
            </a:r>
          </a:p>
          <a:p>
            <a:pPr>
              <a:defRPr sz="3600"/>
            </a:pPr>
            <a:r>
              <a:t>Дополнительно отправляют реальное письмо user1@corp.test → user2@corp.test</a:t>
            </a:r>
          </a:p>
          <a:p>
            <a:pPr>
              <a:defRPr sz="3600"/>
            </a:pPr>
            <a:r>
              <a:t>Ожидаемый результат: письмо доставлено, очередь не зависла, transport errors отсутствуют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Message Tracking показывает путь письма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Get-MessageTrackingLog ищет события доставки сообщения</a:t>
            </a:r>
          </a:p>
          <a:p>
            <a:pPr>
              <a:defRPr sz="3600"/>
            </a:pPr>
            <a:r>
              <a:t>Пример использования: Get-MessageTrackingLog -Sender user1@corp.test -Recipients user2@corp.test -Start (Get-Date).AddHours(-1)</a:t>
            </a:r>
          </a:p>
          <a:p>
            <a:pPr>
              <a:defRPr sz="3600"/>
            </a:pPr>
            <a:r>
              <a:t>Возможные события: RECEIVE, SUBMIT, SEND, DELIVER, FAIL, DEFER</a:t>
            </a:r>
          </a:p>
          <a:p>
            <a:pPr>
              <a:defRPr sz="3600"/>
            </a:pPr>
            <a:r>
              <a:t>Это важнее простого скриншота письма, потому что показывает серверный путь доставки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внутренний mail flow и проверка очереди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FC65E8-B654-8B70-6F86-6BC6B34C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EAC и EMS используют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RBAC (Role Based Access Control) задает административные роли Exchange</a:t>
            </a:r>
          </a:p>
          <a:p>
            <a:pPr>
              <a:defRPr sz="3600"/>
            </a:pPr>
            <a:r>
              <a:t>Organization Management не нужен каждому администратору</a:t>
            </a:r>
          </a:p>
          <a:p>
            <a:pPr>
              <a:defRPr sz="3600"/>
            </a:pPr>
            <a:r>
              <a:t>Recipient Management можно отделить от Server Management</a:t>
            </a:r>
          </a:p>
          <a:p>
            <a:pPr>
              <a:defRPr sz="3600"/>
            </a:pPr>
            <a:r>
              <a:t>Административные действия выполняют под персональной учетной записью, а не общим аккаунтом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EAC доступен — это ещё не вся приёмка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EAC показывает административную консоль, но не доказывает доставку почты</a:t>
            </a:r>
          </a:p>
          <a:p>
            <a:pPr>
              <a:defRPr sz="3600"/>
            </a:pPr>
            <a:r>
              <a:t>EMS нужен для точных проверок свойств и повторяемого отчета</a:t>
            </a:r>
          </a:p>
          <a:p>
            <a:pPr>
              <a:defRPr sz="3600"/>
            </a:pPr>
            <a:r>
              <a:t>EAC в production не публикуют бесконтрольно наружу</a:t>
            </a:r>
          </a:p>
          <a:p>
            <a:pPr>
              <a:defRPr sz="3600"/>
            </a:pPr>
            <a:r>
              <a:t>Доступ к EAC ограничивают management network, VPN, admin accounts и журналированием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DNS-записи для внутреннего стенда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ex01.corp.test A 192.168.30.20 — имя сервера</a:t>
            </a:r>
          </a:p>
          <a:p>
            <a:pPr>
              <a:defRPr sz="3600"/>
            </a:pPr>
            <a:r>
              <a:t>mail.corp.test A 192.168.30.20 — стабильное имя сервиса</a:t>
            </a:r>
          </a:p>
          <a:p>
            <a:pPr>
              <a:defRPr sz="3600"/>
            </a:pPr>
            <a:r>
              <a:t>autodiscover.corp.test A 192.168.30.20 — автоматическая настройка клиентов</a:t>
            </a:r>
          </a:p>
          <a:p>
            <a:pPr>
              <a:defRPr sz="3600"/>
            </a:pPr>
            <a:r>
              <a:t>На сетевом интерфейсе EX01 должен быть DNS домена, а не случайный публичный DNS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corp.test подходит только для лаборатории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Домен .test зарезервирован для тестирования и не используется как публичная почтовая зона</a:t>
            </a:r>
          </a:p>
          <a:p>
            <a:pPr>
              <a:defRPr sz="3600"/>
            </a:pPr>
            <a:r>
              <a:t>Для corp.test нельзя получить обычный публичный сертификат CA</a:t>
            </a:r>
          </a:p>
          <a:p>
            <a:pPr>
              <a:defRPr sz="3600"/>
            </a:pPr>
            <a:r>
              <a:t>MX, PTR, SPF, DKIM и DMARC будут учебными или внутренними</a:t>
            </a:r>
          </a:p>
          <a:p>
            <a:pPr>
              <a:defRPr sz="3600"/>
            </a:pPr>
            <a:r>
              <a:t>Для production используют реальный домен и при необходимости Split DNS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Сертификат должен содержать нужные имена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Клиенты проверяют SAN (Subject Alternative Name), а не только Subject</a:t>
            </a:r>
          </a:p>
          <a:p>
            <a:pPr>
              <a:defRPr sz="3600"/>
            </a:pPr>
            <a:r>
              <a:t>Для лаборатории SAN должен включать mail.corp.test и autodiscover.corp.test</a:t>
            </a:r>
          </a:p>
          <a:p>
            <a:pPr>
              <a:defRPr sz="3600"/>
            </a:pPr>
            <a:r>
              <a:t>Пример использования: Get-ExchangeCertificate | Format-Table Thumbprint,Subject,CertificateDomains,Services,NotAfter</a:t>
            </a:r>
          </a:p>
          <a:p>
            <a:pPr>
              <a:defRPr sz="3600"/>
            </a:pPr>
            <a:r>
              <a:t>Назначение: Enable-ExchangeCertificate -Thumbprint &lt;THUMBPRINT&gt; -Services IIS,SMTP</a:t>
            </a:r>
          </a:p>
          <a:p>
            <a:pPr>
              <a:defRPr sz="3600"/>
            </a:pPr>
            <a:r>
              <a:t>Self-signed сертификат Exchange подходит только для начального стенда и вызывает предупреждения клиентов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Virtual Directory URLs проверяются комплектом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Проверяют OWA, ECP, EWS, MAPI, ActiveSync, OAB и Client Access Service</a:t>
            </a:r>
          </a:p>
          <a:p>
            <a:pPr>
              <a:defRPr sz="3600"/>
            </a:pPr>
            <a:r>
              <a:t>Пример использования: Get-OwaVirtualDirectory | Select-Object Name,InternalUrl,ExternalUrl</a:t>
            </a:r>
          </a:p>
          <a:p>
            <a:pPr>
              <a:defRPr sz="3600"/>
            </a:pPr>
            <a:r>
              <a:t>Также используют Get-EcpVirtualDirectory, Get-WebServicesVirtualDirectory и Get-MapiVirtualDirectory</a:t>
            </a:r>
          </a:p>
          <a:p>
            <a:pPr>
              <a:defRPr sz="3600"/>
            </a:pPr>
            <a:r>
              <a:t>URL должны совпадать с DNS-именем и SAN сертификата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настройки OWA 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Set-OwaVirtualDirectory задает внутренний и внешний URL для OWA</a:t>
            </a:r>
          </a:p>
          <a:p>
            <a:pPr>
              <a:defRPr sz="3600"/>
            </a:pPr>
            <a:r>
              <a:t>Пример использования: Set-OwaVirtualDirectory "EX01\owa (Default Web Site)" -InternalUrl https://mail.corp.test/owa -ExternalUrl https://mail.corp.test/owa</a:t>
            </a:r>
          </a:p>
          <a:p>
            <a:pPr>
              <a:defRPr sz="3600"/>
            </a:pPr>
            <a:r>
              <a:t>Ожидаемый результат: пользователь открывает OWA по стабильному имени mail.corp.test</a:t>
            </a:r>
          </a:p>
          <a:p>
            <a:pPr>
              <a:defRPr sz="3600"/>
            </a:pPr>
            <a:r>
              <a:t>Identity нужно брать из фактического вывода Get-OwaVirtualDirectory, а не вводить вслепую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Autodiscover связывает Outlook с правильными 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Autodiscover помогает Outlook найти mailbox, server settings и service URLs</a:t>
            </a:r>
          </a:p>
          <a:p>
            <a:pPr>
              <a:defRPr sz="3600"/>
            </a:pPr>
            <a:r>
              <a:t>Внутри домена важен SCP (Service Connection Point) в Active Directory</a:t>
            </a:r>
          </a:p>
          <a:p>
            <a:pPr>
              <a:defRPr sz="3600"/>
            </a:pPr>
            <a:r>
              <a:t>Снаружи обычно используется DNS-имя autodiscover.domain</a:t>
            </a:r>
          </a:p>
          <a:p>
            <a:pPr>
              <a:defRPr sz="3600"/>
            </a:pPr>
            <a:r>
              <a:t>Ошибки DNS, SAN сертификата или SCP ломают автоматическую настройку Outlook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и настройка Autodiscover SCP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показывает внутренний URI Autodiscover для Client Access Service</a:t>
            </a:r>
          </a:p>
          <a:p>
            <a:pPr>
              <a:defRPr sz="3600"/>
            </a:pPr>
            <a:r>
              <a:t>Пример использования: Get-ClientAccessService | Select-Object Name,AutoDiscoverServiceInternalUri</a:t>
            </a:r>
          </a:p>
          <a:p>
            <a:pPr>
              <a:defRPr sz="3600"/>
            </a:pPr>
            <a:r>
              <a:t>Пример настройки: Set-ClientAccessService -Identity EX01 -AutoDiscoverServiceInternalUri https://autodiscover.corp.test/Autodiscover/Autodiscover.xml</a:t>
            </a:r>
          </a:p>
          <a:p>
            <a:pPr>
              <a:defRPr sz="3600"/>
            </a:pPr>
            <a:r>
              <a:t>Ожидаемый результат: Outlook получает правильный внутренний Autodiscover URL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IIS участвует в OWA, EAC и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OWA и EAC зависят от IIS, bindings, certificates и application pools</a:t>
            </a:r>
          </a:p>
          <a:p>
            <a:pPr>
              <a:defRPr sz="3600"/>
            </a:pPr>
            <a:r>
              <a:t>Проверка служб: Get-Service W3SVC,WAS</a:t>
            </a:r>
          </a:p>
          <a:p>
            <a:pPr>
              <a:defRPr sz="3600"/>
            </a:pPr>
            <a:r>
              <a:t>Пример использования: iisreset /status показывает состояние IIS, но не является универсальным исправлением</a:t>
            </a:r>
          </a:p>
          <a:p>
            <a:pPr>
              <a:defRPr sz="3600"/>
            </a:pPr>
            <a:r>
              <a:t>Диагностику начинают с Event Viewer, IIS logs, HTTP proxy logs, сертификата и virtual directories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DNS, сертификат, URLs и Autodiscover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1B6674-CA4C-EE4A-383A-3415C3CB3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Ресурсы учебной ВМ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Учебный минимум нужно фиксировать отдельно от production sizing</a:t>
            </a:r>
          </a:p>
          <a:p>
            <a:pPr>
              <a:defRPr sz="3600"/>
            </a:pPr>
            <a:r>
              <a:t>Пример стенда: 4 vCPU, 12–16 ГБ RAM, OS disk 120 ГБ, отдельный диск под database/logs</a:t>
            </a:r>
          </a:p>
          <a:p>
            <a:pPr>
              <a:defRPr sz="3600"/>
            </a:pPr>
            <a:r>
              <a:t>Для Exchange в учебном стенде предпочтительна Static Memory, а не Dynamic Memory</a:t>
            </a:r>
          </a:p>
          <a:p>
            <a:pPr>
              <a:defRPr sz="3600"/>
            </a:pPr>
            <a:r>
              <a:t>Производственные требования берут из официального sizing для выбранной версии Exchange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Системный диск и Page File тоже критичны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Exchange Setup использует C: для временных файлов, setup logs и компонентов</a:t>
            </a:r>
          </a:p>
          <a:p>
            <a:pPr>
              <a:defRPr sz="3600"/>
            </a:pPr>
            <a:r>
              <a:t>Нужны свободное место на C:, корректный Page File и место для transport queue</a:t>
            </a:r>
          </a:p>
          <a:p>
            <a:pPr>
              <a:defRPr sz="3600"/>
            </a:pPr>
            <a:r>
              <a:t>Нельзя выделить весь storage только под EDB и забыть системный том</a:t>
            </a:r>
          </a:p>
          <a:p>
            <a:pPr>
              <a:defRPr sz="3600"/>
            </a:pPr>
            <a:r>
              <a:t>Заполненный log volume способен остановить mail flow и dismount базы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Snapshot — только вспомогательный инструмент лаборатории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Snapshot ускоряет повторение долгой учебной установки, но не является backup Exchange</a:t>
            </a:r>
          </a:p>
          <a:p>
            <a:pPr>
              <a:defRPr sz="3600"/>
            </a:pPr>
            <a:r>
              <a:t>Долго хранить snapshot работающего Exchange с активной базой опасно</a:t>
            </a:r>
          </a:p>
          <a:p>
            <a:pPr>
              <a:defRPr sz="3600"/>
            </a:pPr>
            <a:r>
              <a:t>Snapshot EX01 не отменяет изменения PrepareSchema в Active Directory</a:t>
            </a:r>
          </a:p>
          <a:p>
            <a:pPr>
              <a:defRPr sz="3600"/>
            </a:pPr>
            <a:r>
              <a:t>Для эксплуатации нужен application-aware backup и понятный план восстановления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Журналы Exchange нужно классифицировать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Setup logs: C:\ExchangeSetupLogs\</a:t>
            </a:r>
          </a:p>
          <a:p>
            <a:pPr>
              <a:defRPr sz="3600"/>
            </a:pPr>
            <a:r>
              <a:t>Windows Event Viewer показывает ошибки служб, IIS и базы</a:t>
            </a:r>
          </a:p>
          <a:p>
            <a:pPr>
              <a:defRPr sz="3600"/>
            </a:pPr>
            <a:r>
              <a:t>Message Tracking Logs показывают путь конкретного письма</a:t>
            </a:r>
          </a:p>
          <a:p>
            <a:pPr>
              <a:defRPr sz="3600"/>
            </a:pPr>
            <a:r>
              <a:t>Transport Queue, IIS/HTTP Proxy logs и database events входят в базовую диагностику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Минимальная топология стенда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DC01: AD DS и DNS, адрес 192.168.30.10</a:t>
            </a:r>
          </a:p>
          <a:p>
            <a:pPr>
              <a:defRPr sz="3600"/>
            </a:pPr>
            <a:r>
              <a:t>EX01: Exchange Mailbox Server, адрес 192.168.30.20</a:t>
            </a:r>
          </a:p>
          <a:p>
            <a:pPr>
              <a:defRPr sz="3600"/>
            </a:pPr>
            <a:r>
              <a:t>CLIENT01: браузер или Outlook, адрес 192.168.30.100</a:t>
            </a:r>
          </a:p>
          <a:p>
            <a:pPr>
              <a:defRPr sz="3600"/>
            </a:pPr>
            <a:r>
              <a:t>CA01 или учебный AD CS выпускает сертификат для mail.corp.test и autodiscover.corp.test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Приёмка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Версия Exchange, Windows Server и build number зафиксированы</a:t>
            </a:r>
          </a:p>
          <a:p>
            <a:pPr>
              <a:defRPr sz="3600"/>
            </a:pPr>
            <a:r>
              <a:t>AD health, DNS, время и репликация проверены до PrepareSchema</a:t>
            </a:r>
          </a:p>
          <a:p>
            <a:pPr>
              <a:defRPr sz="3600"/>
            </a:pPr>
            <a:r>
              <a:t>PrepareSchema, PrepareAD и PrepareAllDomains завершены без критичных errors</a:t>
            </a:r>
          </a:p>
          <a:p>
            <a:pPr>
              <a:defRPr sz="3600"/>
            </a:pPr>
            <a:r>
              <a:t>DNS mail.corp.test и autodiscover.corp.test разрешаются во внутренний IP EX01</a:t>
            </a:r>
          </a:p>
          <a:p>
            <a:pPr>
              <a:defRPr sz="3600"/>
            </a:pPr>
            <a:r>
              <a:t>Certificate имеет SAN, trust, private key, срок действия и назначение IIS/SMTP</a:t>
            </a:r>
          </a:p>
          <a:p>
            <a:pPr>
              <a:defRPr sz="3600"/>
            </a:pPr>
            <a:r>
              <a:t>Database mounted, EDB/log paths зафиксированы, queue без необъяснимых Retry</a:t>
            </a:r>
          </a:p>
          <a:p>
            <a:pPr>
              <a:defRPr sz="3600"/>
            </a:pPr>
            <a:r>
              <a:t>user1 отправил письмо user2, Message Tracking показывает RECEIVE/SUBMIT/DELIVER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Exchange разворачивается только после подготовки AD, DNS, сертификатов, дисков и ресурсов</a:t>
            </a:r>
          </a:p>
          <a:p>
            <a:pPr>
              <a:defRPr sz="3600"/>
            </a:pPr>
            <a:r>
              <a:t>EAC и OWA важны, но приёмка требует EMS, базы, очереди, mail flow и журналов</a:t>
            </a:r>
          </a:p>
          <a:p>
            <a:pPr>
              <a:defRPr sz="3600"/>
            </a:pPr>
            <a:r>
              <a:t>corp.test подходит для внутреннего учебного стенда, но не для публичной почты</a:t>
            </a:r>
          </a:p>
          <a:p>
            <a:pPr>
              <a:defRPr sz="3600"/>
            </a:pPr>
            <a:r>
              <a:t>Snapshot и export помогают в лаборатории, но не заменяют application-aware backup Exchange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Exchange зависит от Active Directory?</a:t>
            </a:r>
          </a:p>
          <a:p>
            <a:pPr>
              <a:defRPr sz="3600"/>
            </a:pPr>
            <a:r>
              <a:t>Какие этапы включает подготовка AD перед установкой Exchange?</a:t>
            </a:r>
          </a:p>
          <a:p>
            <a:pPr>
              <a:defRPr sz="3600"/>
            </a:pPr>
            <a:r>
              <a:t>Почему EX01 должен быть отдельным member server?</a:t>
            </a:r>
          </a:p>
          <a:p>
            <a:pPr>
              <a:defRPr sz="3600"/>
            </a:pPr>
            <a:r>
              <a:t>Что хранится в EDB и зачем нужны transaction logs?</a:t>
            </a:r>
          </a:p>
          <a:p>
            <a:pPr>
              <a:defRPr sz="3600"/>
            </a:pPr>
            <a:r>
              <a:t>Почему нельзя удалять Exchange logs вручную?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проверка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Receive Connector отличается от Send Connector?</a:t>
            </a:r>
          </a:p>
          <a:p>
            <a:pPr>
              <a:defRPr sz="3600"/>
            </a:pPr>
            <a:r>
              <a:t>Какие типы Accepted Domain существуют и какой нужен для corp.test?</a:t>
            </a:r>
          </a:p>
          <a:p>
            <a:pPr>
              <a:defRPr sz="3600"/>
            </a:pPr>
            <a:r>
              <a:t>Для чего нужны mail.corp.test и autodiscover.corp.test?</a:t>
            </a:r>
          </a:p>
          <a:p>
            <a:pPr>
              <a:defRPr sz="3600"/>
            </a:pPr>
            <a:r>
              <a:t>Как проверить состояние mailbox database и transport queue?</a:t>
            </a:r>
          </a:p>
          <a:p>
            <a:pPr>
              <a:defRPr sz="3600"/>
            </a:pPr>
            <a:r>
              <a:t>Почему открытый EAC ещё не доказывает исправный mail flow?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3022</Words>
  <Application>Microsoft Office PowerPoint</Application>
  <PresentationFormat>Широкоэкранный</PresentationFormat>
  <Paragraphs>292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2026-07-31T05:42:49Z</dcterms:modified>
  <cp:category/>
</cp:coreProperties>
</file>