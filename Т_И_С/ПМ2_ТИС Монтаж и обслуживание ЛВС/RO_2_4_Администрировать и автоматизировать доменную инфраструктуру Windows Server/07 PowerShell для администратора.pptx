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5" r:id="rId7"/>
    <p:sldId id="296" r:id="rId8"/>
    <p:sldId id="301" r:id="rId9"/>
    <p:sldId id="297" r:id="rId10"/>
    <p:sldId id="304" r:id="rId11"/>
    <p:sldId id="303" r:id="rId12"/>
    <p:sldId id="298" r:id="rId13"/>
    <p:sldId id="302" r:id="rId14"/>
    <p:sldId id="305" r:id="rId15"/>
    <p:sldId id="306" r:id="rId16"/>
    <p:sldId id="299" r:id="rId17"/>
    <p:sldId id="300" r:id="rId18"/>
    <p:sldId id="307" r:id="rId19"/>
    <p:sldId id="312" r:id="rId20"/>
    <p:sldId id="313" r:id="rId21"/>
    <p:sldId id="314" r:id="rId22"/>
    <p:sldId id="315" r:id="rId23"/>
    <p:sldId id="316" r:id="rId24"/>
    <p:sldId id="308" r:id="rId25"/>
    <p:sldId id="309" r:id="rId26"/>
    <p:sldId id="317" r:id="rId27"/>
    <p:sldId id="318" r:id="rId28"/>
    <p:sldId id="310" r:id="rId29"/>
    <p:sldId id="319" r:id="rId30"/>
    <p:sldId id="320" r:id="rId31"/>
    <p:sldId id="311" r:id="rId32"/>
    <p:sldId id="321" r:id="rId33"/>
    <p:sldId id="322" r:id="rId34"/>
    <p:sldId id="323" r:id="rId35"/>
    <p:sldId id="325" r:id="rId36"/>
    <p:sldId id="324" r:id="rId37"/>
    <p:sldId id="327" r:id="rId38"/>
    <p:sldId id="328" r:id="rId39"/>
    <p:sldId id="326" r:id="rId40"/>
    <p:sldId id="329" r:id="rId41"/>
    <p:sldId id="330" r:id="rId42"/>
    <p:sldId id="291" r:id="rId43"/>
    <p:sldId id="292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790455"/>
            <a:ext cx="11394594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9. </a:t>
            </a:r>
            <a:endParaRPr lang="en-US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Практический</a:t>
            </a:r>
            <a:r>
              <a:rPr dirty="0"/>
              <a:t> PowerShell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Windows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 отличие PowerShell от CMD и текстовых оболочек</a:t>
            </a:r>
          </a:p>
          <a:p>
            <a:pPr>
              <a:defRPr sz="3600"/>
            </a:pPr>
            <a:r>
              <a:t>Самостоятельно находить и изучать командлеты через встроенную справку</a:t>
            </a:r>
          </a:p>
          <a:p>
            <a:pPr>
              <a:defRPr sz="3600"/>
            </a:pPr>
            <a:r>
              <a:t>Использовать базовые команды администратора и объектный pipeline</a:t>
            </a:r>
          </a:p>
          <a:p>
            <a:pPr>
              <a:defRPr sz="3600"/>
            </a:pPr>
            <a:r>
              <a:t>Создавать простой безопасный скрипт проверки инфраструктуры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Введение</a:t>
            </a:r>
            <a:r>
              <a:rPr dirty="0"/>
              <a:t> в PowerShell и </a:t>
            </a:r>
            <a:r>
              <a:rPr dirty="0" err="1"/>
              <a:t>объектную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.NET</a:t>
            </a:r>
          </a:p>
          <a:p>
            <a:pPr>
              <a:defRPr sz="3600"/>
            </a:pPr>
            <a:r>
              <a:rPr dirty="0"/>
              <a:t>2. </a:t>
            </a:r>
            <a:r>
              <a:rPr dirty="0" err="1"/>
              <a:t>Анатомия</a:t>
            </a:r>
            <a:r>
              <a:rPr dirty="0"/>
              <a:t> </a:t>
            </a:r>
            <a:r>
              <a:rPr dirty="0" err="1"/>
              <a:t>командлетов</a:t>
            </a:r>
            <a:r>
              <a:rPr dirty="0"/>
              <a:t> и «</a:t>
            </a:r>
            <a:r>
              <a:rPr dirty="0" err="1"/>
              <a:t>Святая</a:t>
            </a:r>
            <a:r>
              <a:rPr dirty="0"/>
              <a:t> </a:t>
            </a:r>
            <a:r>
              <a:rPr dirty="0" err="1"/>
              <a:t>троица</a:t>
            </a:r>
            <a:r>
              <a:rPr dirty="0"/>
              <a:t>» </a:t>
            </a:r>
            <a:r>
              <a:rPr dirty="0" err="1"/>
              <a:t>самодокументирования</a:t>
            </a:r>
            <a:endParaRPr dirty="0"/>
          </a:p>
          <a:p>
            <a:pPr>
              <a:defRPr sz="3600"/>
            </a:pPr>
            <a:r>
              <a:rPr dirty="0"/>
              <a:t>3. </a:t>
            </a:r>
            <a:r>
              <a:rPr dirty="0" err="1"/>
              <a:t>Джентльменский</a:t>
            </a:r>
            <a:r>
              <a:rPr dirty="0"/>
              <a:t>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сисадмина</a:t>
            </a:r>
            <a:endParaRPr dirty="0"/>
          </a:p>
          <a:p>
            <a:pPr>
              <a:defRPr sz="3600"/>
            </a:pPr>
            <a:r>
              <a:rPr dirty="0"/>
              <a:t>4. </a:t>
            </a:r>
            <a:r>
              <a:rPr dirty="0" err="1"/>
              <a:t>Объектный</a:t>
            </a:r>
            <a:r>
              <a:rPr dirty="0"/>
              <a:t> pipeline и </a:t>
            </a:r>
            <a:r>
              <a:rPr dirty="0" err="1"/>
              <a:t>фильтрация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>
              <a:defRPr sz="3600"/>
            </a:pPr>
            <a:r>
              <a:rPr dirty="0"/>
              <a:t>5. </a:t>
            </a:r>
            <a:r>
              <a:rPr dirty="0" err="1"/>
              <a:t>Основы</a:t>
            </a:r>
            <a:r>
              <a:rPr dirty="0"/>
              <a:t> </a:t>
            </a:r>
            <a:r>
              <a:rPr dirty="0" err="1"/>
              <a:t>скриптинга</a:t>
            </a:r>
            <a:r>
              <a:rPr dirty="0"/>
              <a:t> и </a:t>
            </a:r>
            <a:r>
              <a:rPr dirty="0" err="1"/>
              <a:t>автоматизация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инфраструктуры</a:t>
            </a:r>
            <a:endParaRPr dirty="0"/>
          </a:p>
          <a:p>
            <a:pPr>
              <a:defRPr sz="3600"/>
            </a:pPr>
            <a:r>
              <a:rPr dirty="0"/>
              <a:t>6. </a:t>
            </a:r>
            <a:r>
              <a:rPr dirty="0" err="1"/>
              <a:t>Эксплуатация</a:t>
            </a:r>
            <a:r>
              <a:rPr dirty="0"/>
              <a:t> и </a:t>
            </a:r>
            <a:r>
              <a:rPr dirty="0" err="1"/>
              <a:t>безопасность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Администратор получает список серверов и должен быстро проверить их состояние</a:t>
            </a:r>
          </a:p>
          <a:p>
            <a:pPr>
              <a:defRPr sz="3600"/>
            </a:pPr>
            <a:r>
              <a:t>Сначала он находит нужные команды, затем проверяет службы, сеть, диски и события</a:t>
            </a:r>
          </a:p>
          <a:p>
            <a:pPr>
              <a:defRPr sz="3600"/>
            </a:pPr>
            <a:r>
              <a:t>После ручных проверок он собирает повторяемый скрипт Get-InfrastructureHealth.ps1</a:t>
            </a:r>
          </a:p>
          <a:p>
            <a:pPr>
              <a:defRPr sz="3600"/>
            </a:pPr>
            <a:r>
              <a:t>Скрипт читает servers.csv, формирует report.csv и безопасно запускается по расписанию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8648" y="182880"/>
            <a:ext cx="93442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1. Введение в </a:t>
            </a:r>
            <a:r>
              <a:rPr lang="ru-RU" dirty="0" err="1"/>
              <a:t>PowerShell</a:t>
            </a:r>
            <a:r>
              <a:rPr lang="ru-RU" dirty="0"/>
              <a:t> и объектную модель .NET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76072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3600"/>
            </a:pPr>
            <a:r>
              <a:rPr lang="ru-RU" dirty="0"/>
              <a:t>Почему сисадмин без автоматизации — это «дорогой оператор мышки»?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Современная IT-инфраструктура — это сотни виртуальных машин, тысячи пользователей и терабайты логов. Если сисадмин выполняет повседневные задачи (создание учеток, проверку дисков, перезапуск служб) руками через графический интерфейс (GUI) — он тратит время компании впустую.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Пример из жизни: Представьте, что в понедельник утром вам нужно создать 50 новых пользователей в системе, присвоить им пароли и создать персональные папки. Обычный пользователь потратит на это половину рабочего дня, кликая мышкой. Программирующий сисадмин напишет скрипт из пары строк, который сделает это за 3 секунды.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Главная мысль: Автоматизация — это не роскошь, это единственный способ выжить в профессии и не выгореть от рутины.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E155C-47D6-7B2A-12C0-94B21BDA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C994A6-57CB-CDA5-5BF7-5526FE8B28A1}"/>
              </a:ext>
            </a:extLst>
          </p:cNvPr>
          <p:cNvSpPr txBox="1"/>
          <p:nvPr/>
        </p:nvSpPr>
        <p:spPr>
          <a:xfrm>
            <a:off x="457200" y="294968"/>
            <a:ext cx="10972800" cy="6415548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3600"/>
            </a:pPr>
            <a:r>
              <a:rPr lang="ru-RU" dirty="0"/>
              <a:t>Почему CMD мертва, а </a:t>
            </a:r>
            <a:r>
              <a:rPr lang="ru-RU" dirty="0" err="1"/>
              <a:t>PowerShell</a:t>
            </a:r>
            <a:r>
              <a:rPr lang="ru-RU" dirty="0"/>
              <a:t> стал стандартом?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Проблема старой CMD (Command </a:t>
            </a:r>
            <a:r>
              <a:rPr lang="ru-RU" dirty="0" err="1"/>
              <a:t>Prompt</a:t>
            </a:r>
            <a:r>
              <a:rPr lang="ru-RU" dirty="0"/>
              <a:t>): Командная строка Windows (CMD) застряла в эпохе MS-DOS. Она не менялась десятилетиями, не поддерживает сложные типы данных, не умеет гибко работать с сетью и современными API. Использовать CMD сегодня для администрирования серверов — это как пытаться починить современный электромобиль разводным ключом.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Рождение </a:t>
            </a:r>
            <a:r>
              <a:rPr lang="ru-RU" dirty="0" err="1"/>
              <a:t>PowerShell</a:t>
            </a:r>
            <a:r>
              <a:rPr lang="ru-RU" dirty="0"/>
              <a:t> (PS): В 2006 году Microsoft выпустила </a:t>
            </a:r>
            <a:r>
              <a:rPr lang="ru-RU" dirty="0" err="1"/>
              <a:t>PowerShell</a:t>
            </a:r>
            <a:r>
              <a:rPr lang="ru-RU" dirty="0"/>
              <a:t> как совершенно новую оболочку. Это не просто обновление CMD, это полноценная среда автоматизации.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Кроссплатформенность: Долгое время PS был только для Windows. Но с выходом </a:t>
            </a:r>
            <a:r>
              <a:rPr lang="ru-RU" dirty="0" err="1"/>
              <a:t>PowerShell</a:t>
            </a:r>
            <a:r>
              <a:rPr lang="ru-RU" dirty="0"/>
              <a:t> Core (на базе .NET Core) он стал кроссплатформенным. Сегодня </a:t>
            </a:r>
            <a:r>
              <a:rPr lang="ru-RU" dirty="0" err="1"/>
              <a:t>PowerShell</a:t>
            </a:r>
            <a:r>
              <a:rPr lang="ru-RU" dirty="0"/>
              <a:t> официально работает и активно используется в Linux (Ubuntu, </a:t>
            </a:r>
            <a:r>
              <a:rPr lang="ru-RU" dirty="0" err="1"/>
              <a:t>CentOS</a:t>
            </a:r>
            <a:r>
              <a:rPr lang="ru-RU" dirty="0"/>
              <a:t>, </a:t>
            </a:r>
            <a:r>
              <a:rPr lang="ru-RU" dirty="0" err="1"/>
              <a:t>RedHat</a:t>
            </a:r>
            <a:r>
              <a:rPr lang="ru-RU" dirty="0"/>
              <a:t>) и </a:t>
            </a:r>
            <a:r>
              <a:rPr lang="ru-RU" dirty="0" err="1"/>
              <a:t>macOS</a:t>
            </a:r>
            <a:r>
              <a:rPr lang="ru-RU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Зачем сисадмину универсальность? Изучив один инструмент, вы получаете возможность одинаково эффективно управлять и контроллером домена на Windows Server, и веб-сервером на Linux </a:t>
            </a:r>
            <a:r>
              <a:rPr lang="ru-RU" dirty="0" err="1"/>
              <a:t>Nginx</a:t>
            </a:r>
            <a:r>
              <a:rPr lang="ru-RU" dirty="0"/>
              <a:t>, используя одни и те же конструкции.</a:t>
            </a:r>
          </a:p>
        </p:txBody>
      </p:sp>
    </p:spTree>
    <p:extLst>
      <p:ext uri="{BB962C8B-B14F-4D97-AF65-F5344CB8AC3E}">
        <p14:creationId xmlns:p14="http://schemas.microsoft.com/office/powerpoint/2010/main" val="2536524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FD00E-F6F7-775F-2524-DDC7D7C0B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8D5C2A-99D7-5A48-4C8A-3407130F2DFB}"/>
              </a:ext>
            </a:extLst>
          </p:cNvPr>
          <p:cNvSpPr txBox="1"/>
          <p:nvPr/>
        </p:nvSpPr>
        <p:spPr>
          <a:xfrm>
            <a:off x="457199" y="221225"/>
            <a:ext cx="11312013" cy="6636775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3600"/>
            </a:pPr>
            <a:r>
              <a:rPr lang="ru-RU" dirty="0"/>
              <a:t>Главный секрет: Текстовый поток (Linux </a:t>
            </a:r>
            <a:r>
              <a:rPr lang="ru-RU" dirty="0" err="1"/>
              <a:t>Bash</a:t>
            </a:r>
            <a:r>
              <a:rPr lang="ru-RU" dirty="0"/>
              <a:t>/CMD) </a:t>
            </a:r>
            <a:r>
              <a:rPr lang="ru-RU" dirty="0" err="1"/>
              <a:t>vs</a:t>
            </a:r>
            <a:r>
              <a:rPr lang="ru-RU" dirty="0"/>
              <a:t>. Объекты .NET (</a:t>
            </a:r>
            <a:r>
              <a:rPr lang="ru-RU" dirty="0" err="1"/>
              <a:t>PowerShell</a:t>
            </a:r>
            <a:r>
              <a:rPr lang="ru-RU" dirty="0"/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Это фундаментальное различие, которое нужно понять. Как работают классические CLI (Linux </a:t>
            </a:r>
            <a:r>
              <a:rPr lang="ru-RU" dirty="0" err="1"/>
              <a:t>Bash</a:t>
            </a:r>
            <a:r>
              <a:rPr lang="ru-RU" dirty="0"/>
              <a:t>, Windows CMD)?Они общаются текстом.</a:t>
            </a:r>
          </a:p>
          <a:p>
            <a:pPr marL="530225">
              <a:defRPr sz="3600"/>
            </a:pPr>
            <a:r>
              <a:rPr lang="ru-RU" dirty="0"/>
              <a:t>Пример: Вы запрашиваете список процессов в Linux с помощью </a:t>
            </a:r>
            <a:r>
              <a:rPr lang="ru-RU" dirty="0" err="1"/>
              <a:t>ps</a:t>
            </a:r>
            <a:r>
              <a:rPr lang="ru-RU" dirty="0"/>
              <a:t> </a:t>
            </a:r>
            <a:r>
              <a:rPr lang="ru-RU" dirty="0" err="1"/>
              <a:t>aux</a:t>
            </a:r>
            <a:r>
              <a:rPr lang="ru-RU" dirty="0"/>
              <a:t>. Команда возвращает огромный текстовый массив (строки и пробелы). </a:t>
            </a:r>
          </a:p>
          <a:p>
            <a:pPr marL="530225">
              <a:defRPr sz="3600"/>
            </a:pPr>
            <a:r>
              <a:rPr lang="ru-RU" dirty="0"/>
              <a:t>Если вам нужно вытащить оттуда только процессы, которые занимают много памяти, вам приходится вызывать сторонние утилиты (</a:t>
            </a:r>
            <a:r>
              <a:rPr lang="ru-RU" dirty="0" err="1"/>
              <a:t>grep</a:t>
            </a:r>
            <a:r>
              <a:rPr lang="ru-RU" dirty="0"/>
              <a:t>, </a:t>
            </a:r>
            <a:r>
              <a:rPr lang="ru-RU" dirty="0" err="1"/>
              <a:t>awk</a:t>
            </a:r>
            <a:r>
              <a:rPr lang="ru-RU" dirty="0"/>
              <a:t>, </a:t>
            </a:r>
            <a:r>
              <a:rPr lang="ru-RU" dirty="0" err="1"/>
              <a:t>sed</a:t>
            </a:r>
            <a:r>
              <a:rPr lang="ru-RU" dirty="0"/>
              <a:t>) и писать сложные регулярные выражения (</a:t>
            </a:r>
            <a:r>
              <a:rPr lang="ru-RU" dirty="0" err="1"/>
              <a:t>RegEx</a:t>
            </a:r>
            <a:r>
              <a:rPr lang="ru-RU" dirty="0"/>
              <a:t>), чтобы «отрезать» ненужные буквы и пробелы. </a:t>
            </a:r>
          </a:p>
          <a:p>
            <a:pPr marL="530225">
              <a:defRPr sz="3600"/>
            </a:pPr>
            <a:r>
              <a:rPr lang="ru-RU" dirty="0"/>
              <a:t>Стоит формату вывода команды чуть-чуть измениться после обновления ОС — и ваш текстовый скрипт «ломается».</a:t>
            </a:r>
          </a:p>
        </p:txBody>
      </p:sp>
    </p:spTree>
    <p:extLst>
      <p:ext uri="{BB962C8B-B14F-4D97-AF65-F5344CB8AC3E}">
        <p14:creationId xmlns:p14="http://schemas.microsoft.com/office/powerpoint/2010/main" val="4024861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ADC4-8F57-8D5A-62A8-EEADD2C5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48267F-5793-3958-811F-F62CA622910A}"/>
              </a:ext>
            </a:extLst>
          </p:cNvPr>
          <p:cNvSpPr txBox="1"/>
          <p:nvPr/>
        </p:nvSpPr>
        <p:spPr>
          <a:xfrm>
            <a:off x="457199" y="221225"/>
            <a:ext cx="11312013" cy="6636775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3600"/>
            </a:pPr>
            <a:r>
              <a:rPr lang="ru-RU" dirty="0"/>
              <a:t>Главный секрет: Текстовый поток (Linux </a:t>
            </a:r>
            <a:r>
              <a:rPr lang="ru-RU" dirty="0" err="1"/>
              <a:t>Bash</a:t>
            </a:r>
            <a:r>
              <a:rPr lang="ru-RU" dirty="0"/>
              <a:t>/CMD) </a:t>
            </a:r>
            <a:r>
              <a:rPr lang="ru-RU" dirty="0" err="1"/>
              <a:t>vs</a:t>
            </a:r>
            <a:r>
              <a:rPr lang="ru-RU" dirty="0"/>
              <a:t>. Объекты .NET (</a:t>
            </a:r>
            <a:r>
              <a:rPr lang="ru-RU" dirty="0" err="1"/>
              <a:t>PowerShell</a:t>
            </a:r>
            <a:r>
              <a:rPr lang="ru-RU" dirty="0"/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Как работает </a:t>
            </a:r>
            <a:r>
              <a:rPr lang="ru-RU" dirty="0" err="1"/>
              <a:t>PowerShell</a:t>
            </a:r>
            <a:r>
              <a:rPr lang="ru-RU" dirty="0"/>
              <a:t>?</a:t>
            </a:r>
          </a:p>
          <a:p>
            <a:pPr marL="633413">
              <a:defRPr sz="3600"/>
            </a:pPr>
            <a:r>
              <a:rPr lang="ru-RU" dirty="0" err="1"/>
              <a:t>PowerShell</a:t>
            </a:r>
            <a:r>
              <a:rPr lang="ru-RU" dirty="0"/>
              <a:t> полностью построен на базе платформы .NET. Команды </a:t>
            </a:r>
            <a:r>
              <a:rPr lang="ru-RU" dirty="0" err="1"/>
              <a:t>PowerShell</a:t>
            </a:r>
            <a:r>
              <a:rPr lang="ru-RU" dirty="0"/>
              <a:t> общаются между собой объектами.</a:t>
            </a:r>
          </a:p>
          <a:p>
            <a:pPr marL="633413">
              <a:defRPr sz="3600"/>
            </a:pPr>
            <a:r>
              <a:rPr lang="ru-RU" dirty="0"/>
              <a:t>Что такое объект? Объект — это структурированная сущность, у которой есть Свойства (Properties) (данные, характеристики) и Методы (</a:t>
            </a:r>
            <a:r>
              <a:rPr lang="ru-RU" dirty="0" err="1"/>
              <a:t>Methods</a:t>
            </a:r>
            <a:r>
              <a:rPr lang="ru-RU" dirty="0"/>
              <a:t>) (действия, которые с ним можно совершить). </a:t>
            </a:r>
          </a:p>
          <a:p>
            <a:pPr marL="633413">
              <a:defRPr sz="3600"/>
            </a:pPr>
            <a:endParaRPr lang="ru-RU" dirty="0"/>
          </a:p>
          <a:p>
            <a:pPr indent="354013">
              <a:tabLst>
                <a:tab pos="0" algn="l"/>
              </a:tabLst>
              <a:defRPr sz="3600"/>
            </a:pPr>
            <a:r>
              <a:rPr lang="ru-RU" dirty="0"/>
              <a:t>Когда вы вводите Get-Process, </a:t>
            </a:r>
            <a:r>
              <a:rPr lang="ru-RU" dirty="0" err="1"/>
              <a:t>PowerShell</a:t>
            </a:r>
            <a:r>
              <a:rPr lang="ru-RU" dirty="0"/>
              <a:t> не генерирует текст. Он летит в ядро ОС, собирает там живые объекты процессов и передает их дальше.</a:t>
            </a:r>
          </a:p>
          <a:p>
            <a:pPr indent="354013">
              <a:tabLst>
                <a:tab pos="0" algn="l"/>
              </a:tabLst>
              <a:defRPr sz="3600"/>
            </a:pPr>
            <a:r>
              <a:rPr lang="ru-RU" dirty="0"/>
              <a:t>У объекта процесса есть свойство .Name (имя), .CPU (нагрузка), .</a:t>
            </a:r>
            <a:r>
              <a:rPr lang="ru-RU" dirty="0" err="1"/>
              <a:t>Id</a:t>
            </a:r>
            <a:r>
              <a:rPr lang="ru-RU" dirty="0"/>
              <a:t> (идентификатор).</a:t>
            </a:r>
          </a:p>
          <a:p>
            <a:pPr indent="354013">
              <a:tabLst>
                <a:tab pos="0" algn="l"/>
              </a:tabLst>
              <a:defRPr sz="3600"/>
            </a:pPr>
            <a:r>
              <a:rPr lang="ru-RU" dirty="0"/>
              <a:t>У него есть метод .</a:t>
            </a:r>
            <a:r>
              <a:rPr lang="ru-RU" dirty="0" err="1"/>
              <a:t>Kill</a:t>
            </a:r>
            <a:r>
              <a:rPr lang="ru-RU" dirty="0"/>
              <a:t>() (завершить процесс).</a:t>
            </a:r>
          </a:p>
          <a:p>
            <a:pPr indent="354013">
              <a:tabLst>
                <a:tab pos="0" algn="l"/>
              </a:tabLst>
              <a:defRPr sz="3600"/>
            </a:pPr>
            <a:r>
              <a:rPr lang="ru-RU" dirty="0"/>
              <a:t>Вам больше не нужно </a:t>
            </a:r>
            <a:r>
              <a:rPr lang="ru-RU" dirty="0" err="1"/>
              <a:t>парсить</a:t>
            </a:r>
            <a:r>
              <a:rPr lang="ru-RU" dirty="0"/>
              <a:t> текст! Вы просто говорите: «Возьми свойство Name» или «Вызови метод </a:t>
            </a:r>
            <a:r>
              <a:rPr lang="ru-RU" dirty="0" err="1"/>
              <a:t>Kill</a:t>
            </a:r>
            <a:r>
              <a:rPr lang="ru-RU" dirty="0"/>
              <a:t>()»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336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F3253-67E2-2555-0721-39235C0CD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B03778-F1EC-C7F2-0C3D-EA798E75AB41}"/>
              </a:ext>
            </a:extLst>
          </p:cNvPr>
          <p:cNvSpPr txBox="1"/>
          <p:nvPr/>
        </p:nvSpPr>
        <p:spPr>
          <a:xfrm>
            <a:off x="4828366" y="182880"/>
            <a:ext cx="25047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1. PowerShell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5C487-33E4-CBED-4AD4-9BD66656D467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CMD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EAF983-859C-3186-44E8-29A9BD0A5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55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68D4A-10AB-47FC-090F-4E327306F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DF7BC9-F0ED-A3FC-B6A5-E2C5212AF4DB}"/>
              </a:ext>
            </a:extLst>
          </p:cNvPr>
          <p:cNvSpPr txBox="1"/>
          <p:nvPr/>
        </p:nvSpPr>
        <p:spPr>
          <a:xfrm>
            <a:off x="1908175" y="182880"/>
            <a:ext cx="834516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2. Анатомия командлетов и «Святая троица» 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 err="1"/>
              <a:t>самодокументирования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3B6A95-E9B0-D23E-AC46-82201B236DE9}"/>
              </a:ext>
            </a:extLst>
          </p:cNvPr>
          <p:cNvSpPr txBox="1"/>
          <p:nvPr/>
        </p:nvSpPr>
        <p:spPr>
          <a:xfrm>
            <a:off x="457200" y="1260098"/>
            <a:ext cx="10972800" cy="5415022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>
              <a:defRPr sz="3600"/>
            </a:pPr>
            <a:r>
              <a:rPr lang="ru-RU" dirty="0"/>
              <a:t>Анатомия команд (</a:t>
            </a:r>
            <a:r>
              <a:rPr lang="ru-RU" dirty="0" err="1"/>
              <a:t>Cmdlets</a:t>
            </a:r>
            <a:r>
              <a:rPr lang="ru-RU" dirty="0"/>
              <a:t>): Концепция «Глагол-Существительное» (</a:t>
            </a:r>
            <a:r>
              <a:rPr lang="ru-RU" dirty="0" err="1"/>
              <a:t>Verb-Noun</a:t>
            </a:r>
            <a:r>
              <a:rPr lang="ru-RU" dirty="0"/>
              <a:t>)</a:t>
            </a:r>
          </a:p>
          <a:p>
            <a:pPr>
              <a:defRPr sz="3600"/>
            </a:pPr>
            <a:r>
              <a:rPr lang="ru-RU" dirty="0"/>
              <a:t>	В отличие от CMD или </a:t>
            </a:r>
            <a:r>
              <a:rPr lang="ru-RU" dirty="0" err="1"/>
              <a:t>Bash</a:t>
            </a:r>
            <a:r>
              <a:rPr lang="ru-RU" dirty="0"/>
              <a:t>, где названия команд нужно просто зазубривать (почему </a:t>
            </a:r>
            <a:r>
              <a:rPr lang="ru-RU" dirty="0" err="1"/>
              <a:t>ls</a:t>
            </a:r>
            <a:r>
              <a:rPr lang="ru-RU" dirty="0"/>
              <a:t>, а не </a:t>
            </a:r>
            <a:r>
              <a:rPr lang="ru-RU" dirty="0" err="1"/>
              <a:t>dir</a:t>
            </a:r>
            <a:r>
              <a:rPr lang="ru-RU" dirty="0"/>
              <a:t>? почему </a:t>
            </a:r>
            <a:r>
              <a:rPr lang="ru-RU" dirty="0" err="1"/>
              <a:t>cat</a:t>
            </a:r>
            <a:r>
              <a:rPr lang="ru-RU" dirty="0"/>
              <a:t> отвечает за вывод файла?), в </a:t>
            </a:r>
            <a:r>
              <a:rPr lang="ru-RU" dirty="0" err="1"/>
              <a:t>PowerShell</a:t>
            </a:r>
            <a:r>
              <a:rPr lang="ru-RU" dirty="0"/>
              <a:t> все команды построены по строгому, интуитивно понятному стандарту.</a:t>
            </a:r>
          </a:p>
          <a:p>
            <a:pPr>
              <a:defRPr sz="3600"/>
            </a:pPr>
            <a:r>
              <a:rPr lang="ru-RU" dirty="0"/>
              <a:t>	Правило </a:t>
            </a:r>
            <a:r>
              <a:rPr lang="ru-RU" dirty="0" err="1"/>
              <a:t>Verb-Noun</a:t>
            </a:r>
            <a:r>
              <a:rPr lang="ru-RU" dirty="0"/>
              <a:t>: Любая родная команда </a:t>
            </a:r>
            <a:r>
              <a:rPr lang="ru-RU" dirty="0" err="1"/>
              <a:t>PowerShell</a:t>
            </a:r>
            <a:r>
              <a:rPr lang="ru-RU" dirty="0"/>
              <a:t> (она называется командлет или </a:t>
            </a:r>
            <a:r>
              <a:rPr lang="ru-RU" dirty="0" err="1"/>
              <a:t>cmdlet</a:t>
            </a:r>
            <a:r>
              <a:rPr lang="ru-RU" dirty="0"/>
              <a:t>) состоит из двух частей, разделенных дефисом:</a:t>
            </a:r>
          </a:p>
          <a:p>
            <a:pPr>
              <a:defRPr sz="3600"/>
            </a:pPr>
            <a:r>
              <a:rPr lang="ru-RU" b="1" dirty="0"/>
              <a:t>"[Глагол]"-"[Существительное в единственном числе]" </a:t>
            </a:r>
          </a:p>
          <a:p>
            <a:pPr>
              <a:defRPr sz="3600"/>
            </a:pPr>
            <a:r>
              <a:rPr lang="ru-RU" dirty="0"/>
              <a:t>	Глагол (</a:t>
            </a:r>
            <a:r>
              <a:rPr lang="ru-RU" dirty="0" err="1"/>
              <a:t>Verb</a:t>
            </a:r>
            <a:r>
              <a:rPr lang="ru-RU" dirty="0"/>
              <a:t>): Отвечает на вопрос «Что делать?» (действие). Количество </a:t>
            </a:r>
            <a:r>
              <a:rPr lang="ru-RU" dirty="0" err="1"/>
              <a:t>глагов</a:t>
            </a:r>
            <a:r>
              <a:rPr lang="ru-RU" dirty="0"/>
              <a:t> строго ограничено системой (стандартные глаголы можно посмотреть командой Get-</a:t>
            </a:r>
            <a:r>
              <a:rPr lang="ru-RU" dirty="0" err="1"/>
              <a:t>Verb</a:t>
            </a:r>
            <a:r>
              <a:rPr lang="ru-RU" dirty="0"/>
              <a:t>).</a:t>
            </a:r>
          </a:p>
          <a:p>
            <a:pPr>
              <a:defRPr sz="3600"/>
            </a:pPr>
            <a:r>
              <a:rPr lang="ru-RU" dirty="0"/>
              <a:t>	Существительное (</a:t>
            </a:r>
            <a:r>
              <a:rPr lang="ru-RU" dirty="0" err="1"/>
              <a:t>Noun</a:t>
            </a:r>
            <a:r>
              <a:rPr lang="ru-RU" dirty="0"/>
              <a:t>): Отвечает на вопрос «С чем делать?» (объект управления).</a:t>
            </a:r>
          </a:p>
          <a:p>
            <a:pPr>
              <a:defRPr sz="3600"/>
            </a:pPr>
            <a:r>
              <a:rPr lang="ru-RU" dirty="0"/>
              <a:t>	Примеры :</a:t>
            </a:r>
          </a:p>
          <a:p>
            <a:pPr>
              <a:defRPr sz="3600"/>
            </a:pPr>
            <a:r>
              <a:rPr lang="ru-RU" dirty="0"/>
              <a:t>	</a:t>
            </a:r>
            <a:r>
              <a:rPr lang="ru-RU" dirty="0">
                <a:solidFill>
                  <a:srgbClr val="002060"/>
                </a:solidFill>
              </a:rPr>
              <a:t>Get-Process</a:t>
            </a:r>
            <a:r>
              <a:rPr lang="ru-RU" dirty="0"/>
              <a:t> — Получить [информацию о] Процессе.</a:t>
            </a:r>
          </a:p>
          <a:p>
            <a:pPr>
              <a:defRPr sz="3600"/>
            </a:pPr>
            <a:r>
              <a:rPr lang="ru-RU" dirty="0"/>
              <a:t>	</a:t>
            </a:r>
            <a:r>
              <a:rPr lang="ru-RU" sz="3600" dirty="0">
                <a:solidFill>
                  <a:srgbClr val="002060"/>
                </a:solidFill>
              </a:rPr>
              <a:t>Stop-Service</a:t>
            </a:r>
            <a:r>
              <a:rPr lang="ru-RU" dirty="0"/>
              <a:t> — Остановить Службу.</a:t>
            </a:r>
          </a:p>
          <a:p>
            <a:pPr>
              <a:defRPr sz="3600"/>
            </a:pPr>
            <a:r>
              <a:rPr lang="ru-RU" dirty="0"/>
              <a:t>	</a:t>
            </a:r>
            <a:r>
              <a:rPr lang="ru-RU" sz="3600" dirty="0">
                <a:solidFill>
                  <a:srgbClr val="002060"/>
                </a:solidFill>
              </a:rPr>
              <a:t>New-</a:t>
            </a:r>
            <a:r>
              <a:rPr lang="ru-RU" sz="3600" dirty="0" err="1">
                <a:solidFill>
                  <a:srgbClr val="002060"/>
                </a:solidFill>
              </a:rPr>
              <a:t>Item</a:t>
            </a:r>
            <a:r>
              <a:rPr lang="ru-RU" dirty="0"/>
              <a:t> — Создать Элемент (файл или папку).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3085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D8AE0-1351-D5EF-1832-9A2FE74DE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660C26-FCC3-899F-B6CF-0E1737C332C0}"/>
              </a:ext>
            </a:extLst>
          </p:cNvPr>
          <p:cNvSpPr txBox="1"/>
          <p:nvPr/>
        </p:nvSpPr>
        <p:spPr>
          <a:xfrm>
            <a:off x="4828366" y="182880"/>
            <a:ext cx="25047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1. PowerShell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62FFE-D554-8D13-2760-13098B5AB36F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CMD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CFD545-B058-8EBA-C40B-56E3B9E2C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26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C8B53-D3B2-9381-E879-113DF9BE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26DF2D-9043-976A-5249-FF24667EB679}"/>
              </a:ext>
            </a:extLst>
          </p:cNvPr>
          <p:cNvSpPr txBox="1"/>
          <p:nvPr/>
        </p:nvSpPr>
        <p:spPr>
          <a:xfrm>
            <a:off x="457200" y="353960"/>
            <a:ext cx="11371006" cy="6341807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3600"/>
            </a:pPr>
            <a:r>
              <a:rPr lang="ru-RU" b="1" dirty="0"/>
              <a:t>Святая Троица </a:t>
            </a:r>
            <a:r>
              <a:rPr lang="ru-RU" b="1" dirty="0" err="1"/>
              <a:t>PowerShell</a:t>
            </a:r>
            <a:r>
              <a:rPr lang="ru-RU" b="1" dirty="0"/>
              <a:t>: Как </a:t>
            </a:r>
            <a:r>
              <a:rPr lang="ru-RU" b="1" dirty="0" err="1"/>
              <a:t>админить</a:t>
            </a:r>
            <a:r>
              <a:rPr lang="ru-RU" b="1" dirty="0"/>
              <a:t> без гугла</a:t>
            </a:r>
          </a:p>
          <a:p>
            <a:pPr>
              <a:defRPr sz="3600"/>
            </a:pPr>
            <a:r>
              <a:rPr lang="ru-RU" dirty="0"/>
              <a:t>•	Запомнить тысячи команд невозможно. Хороший сисадмин отличается от плохого не тем, что знает все наизусть, а тем, что умеет пользоваться встроенной системой </a:t>
            </a:r>
            <a:r>
              <a:rPr lang="ru-RU" dirty="0" err="1"/>
              <a:t>самодокументирования</a:t>
            </a:r>
            <a:r>
              <a:rPr lang="ru-RU" dirty="0"/>
              <a:t>. </a:t>
            </a:r>
            <a:endParaRPr lang="en-US" dirty="0"/>
          </a:p>
          <a:p>
            <a:pPr>
              <a:defRPr sz="3600"/>
            </a:pPr>
            <a:r>
              <a:rPr lang="ru-RU" dirty="0"/>
              <a:t>В </a:t>
            </a:r>
            <a:r>
              <a:rPr lang="ru-RU" dirty="0" err="1"/>
              <a:t>PowerShell</a:t>
            </a:r>
            <a:r>
              <a:rPr lang="ru-RU" dirty="0"/>
              <a:t> есть три команды, которые позволяют найти и изучить любой инструмент прямо из консоли.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Команда 1. </a:t>
            </a:r>
            <a:r>
              <a:rPr lang="ru-RU" dirty="0">
                <a:solidFill>
                  <a:srgbClr val="002060"/>
                </a:solidFill>
              </a:rPr>
              <a:t>Get-Help</a:t>
            </a:r>
            <a:r>
              <a:rPr lang="ru-RU" dirty="0"/>
              <a:t> — Бортовой журнал и инструкция</a:t>
            </a:r>
          </a:p>
          <a:p>
            <a:pPr>
              <a:defRPr sz="3600"/>
            </a:pPr>
            <a:r>
              <a:rPr lang="ru-RU" dirty="0"/>
              <a:t>•	Зачем нужна: Это замена поисковикам. Выводит полную справку по любому командлету.</a:t>
            </a:r>
          </a:p>
          <a:p>
            <a:pPr>
              <a:defRPr sz="3600"/>
            </a:pPr>
            <a:r>
              <a:rPr lang="ru-RU" dirty="0"/>
              <a:t>•	Флаги-лайфхаки для демонстрации:</a:t>
            </a:r>
          </a:p>
          <a:p>
            <a:pPr indent="354013">
              <a:defRPr sz="3600"/>
            </a:pPr>
            <a:r>
              <a:rPr lang="ru-RU" dirty="0"/>
              <a:t>o	Get-Help Service — найдет всё, что связано со справкой по службам.</a:t>
            </a:r>
          </a:p>
          <a:p>
            <a:pPr indent="354013">
              <a:defRPr sz="3600"/>
            </a:pPr>
            <a:r>
              <a:rPr lang="ru-RU" dirty="0"/>
              <a:t>o	Get-Help Get-Service -</a:t>
            </a:r>
            <a:r>
              <a:rPr lang="ru-RU" dirty="0" err="1"/>
              <a:t>Examples</a:t>
            </a:r>
            <a:r>
              <a:rPr lang="ru-RU" dirty="0"/>
              <a:t> — самый важный флаг для студентов. Показывает готовые практические примеры использования команды, которые можно скопировать и запустить.</a:t>
            </a:r>
          </a:p>
          <a:p>
            <a:pPr indent="354013">
              <a:defRPr sz="3600"/>
            </a:pPr>
            <a:r>
              <a:rPr lang="ru-RU" dirty="0"/>
              <a:t>o	Get-Help Get-Service -Online — открывает актуальную документацию Microsoft в браузере.</a:t>
            </a:r>
          </a:p>
        </p:txBody>
      </p:sp>
    </p:spTree>
    <p:extLst>
      <p:ext uri="{BB962C8B-B14F-4D97-AF65-F5344CB8AC3E}">
        <p14:creationId xmlns:p14="http://schemas.microsoft.com/office/powerpoint/2010/main" val="732043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ED778-DFD4-0C66-AB35-E997CC9AA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2945E2-E47A-8AEC-68B0-EA2FDE25B1F4}"/>
              </a:ext>
            </a:extLst>
          </p:cNvPr>
          <p:cNvSpPr txBox="1"/>
          <p:nvPr/>
        </p:nvSpPr>
        <p:spPr>
          <a:xfrm>
            <a:off x="457200" y="442452"/>
            <a:ext cx="10972800" cy="568402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lang="ru-RU" dirty="0"/>
              <a:t>Команда 2. </a:t>
            </a:r>
            <a:r>
              <a:rPr lang="ru-RU" dirty="0">
                <a:solidFill>
                  <a:srgbClr val="002060"/>
                </a:solidFill>
              </a:rPr>
              <a:t>Get-Command</a:t>
            </a:r>
            <a:r>
              <a:rPr lang="ru-RU" dirty="0"/>
              <a:t> — Компас для поиска команд</a:t>
            </a:r>
          </a:p>
          <a:p>
            <a:pPr>
              <a:defRPr sz="3600"/>
            </a:pPr>
            <a:r>
              <a:rPr lang="ru-RU" dirty="0"/>
              <a:t>•	Зачем нужна: Помогает найти название нужного командлета, если вы забыли его, но знаете, с чем хотите поработать. Поддерживает маски (</a:t>
            </a:r>
            <a:r>
              <a:rPr lang="ru-RU" dirty="0" err="1"/>
              <a:t>wildcards</a:t>
            </a:r>
            <a:r>
              <a:rPr lang="ru-RU" dirty="0"/>
              <a:t> *).</a:t>
            </a:r>
          </a:p>
          <a:p>
            <a:pPr>
              <a:defRPr sz="3600"/>
            </a:pPr>
            <a:r>
              <a:rPr lang="ru-RU" dirty="0"/>
              <a:t>•	Примеры:</a:t>
            </a:r>
          </a:p>
          <a:p>
            <a:pPr marL="442913">
              <a:defRPr sz="3600"/>
            </a:pPr>
            <a:r>
              <a:rPr lang="ru-RU" dirty="0"/>
              <a:t>o	Get-Command *Service* — покажет вообще все команды системы (</a:t>
            </a:r>
            <a:r>
              <a:rPr lang="ru-RU" dirty="0" err="1"/>
              <a:t>cmdlets</a:t>
            </a:r>
            <a:r>
              <a:rPr lang="ru-RU" dirty="0"/>
              <a:t>, функции, </a:t>
            </a:r>
            <a:r>
              <a:rPr lang="ru-RU" dirty="0" err="1"/>
              <a:t>алиасы</a:t>
            </a:r>
            <a:r>
              <a:rPr lang="ru-RU" dirty="0"/>
              <a:t>), в имени которых есть слово "Service".</a:t>
            </a:r>
          </a:p>
          <a:p>
            <a:pPr marL="442913">
              <a:defRPr sz="3600"/>
            </a:pPr>
            <a:r>
              <a:rPr lang="ru-RU" dirty="0"/>
              <a:t>o	Get-Command -</a:t>
            </a:r>
            <a:r>
              <a:rPr lang="ru-RU" dirty="0" err="1"/>
              <a:t>Verb</a:t>
            </a:r>
            <a:r>
              <a:rPr lang="ru-RU" dirty="0"/>
              <a:t> New — выведет все команды, которые что-то создают.</a:t>
            </a:r>
          </a:p>
          <a:p>
            <a:pPr marL="442913">
              <a:defRPr sz="3600"/>
            </a:pPr>
            <a:r>
              <a:rPr lang="ru-RU" dirty="0"/>
              <a:t>o	Get-Command -</a:t>
            </a:r>
            <a:r>
              <a:rPr lang="ru-RU" dirty="0" err="1"/>
              <a:t>Noun</a:t>
            </a:r>
            <a:r>
              <a:rPr lang="ru-RU" dirty="0"/>
              <a:t> Disk — выведет все команды для работы с дисками.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4275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5E78D-0DAA-4130-9820-DEBEBFEE3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DB1B6E-ED78-EA3D-1CC3-F353406B9864}"/>
              </a:ext>
            </a:extLst>
          </p:cNvPr>
          <p:cNvSpPr txBox="1"/>
          <p:nvPr/>
        </p:nvSpPr>
        <p:spPr>
          <a:xfrm>
            <a:off x="457200" y="442452"/>
            <a:ext cx="10972800" cy="5684028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3600"/>
            </a:pPr>
            <a:r>
              <a:rPr lang="ru-RU" dirty="0"/>
              <a:t>Команда 3. </a:t>
            </a:r>
            <a:r>
              <a:rPr lang="ru-RU" dirty="0">
                <a:solidFill>
                  <a:srgbClr val="002060"/>
                </a:solidFill>
              </a:rPr>
              <a:t>Get-</a:t>
            </a:r>
            <a:r>
              <a:rPr lang="ru-RU" dirty="0" err="1">
                <a:solidFill>
                  <a:srgbClr val="002060"/>
                </a:solidFill>
              </a:rPr>
              <a:t>Member</a:t>
            </a:r>
            <a:r>
              <a:rPr lang="ru-RU" dirty="0"/>
              <a:t> — Рентген-аппарат для объектов</a:t>
            </a:r>
          </a:p>
          <a:p>
            <a:pPr>
              <a:defRPr sz="3600"/>
            </a:pPr>
            <a:r>
              <a:rPr lang="ru-RU" dirty="0"/>
              <a:t>•	Зачем нужна: Как мы выяснили в первом вопросе, </a:t>
            </a:r>
            <a:r>
              <a:rPr lang="ru-RU" dirty="0" err="1"/>
              <a:t>PowerShell</a:t>
            </a:r>
            <a:r>
              <a:rPr lang="ru-RU" dirty="0"/>
              <a:t> возвращает объекты. Но как узнать, какие именно Свойства (Properties) и Методы (</a:t>
            </a:r>
            <a:r>
              <a:rPr lang="ru-RU" dirty="0" err="1"/>
              <a:t>Methods</a:t>
            </a:r>
            <a:r>
              <a:rPr lang="ru-RU" dirty="0"/>
              <a:t>) есть у этого объекта? Для этого объект по конвейеру (|) передают в Get-</a:t>
            </a:r>
            <a:r>
              <a:rPr lang="ru-RU" dirty="0" err="1"/>
              <a:t>Member</a:t>
            </a:r>
            <a:r>
              <a:rPr lang="ru-RU" dirty="0"/>
              <a:t>. </a:t>
            </a:r>
          </a:p>
          <a:p>
            <a:pPr>
              <a:defRPr sz="3600"/>
            </a:pPr>
            <a:r>
              <a:rPr lang="ru-RU" dirty="0"/>
              <a:t>•	Пример для демонстрации:</a:t>
            </a:r>
          </a:p>
          <a:p>
            <a:pPr marL="354013">
              <a:defRPr sz="3600"/>
            </a:pPr>
            <a:r>
              <a:rPr lang="ru-RU" dirty="0">
                <a:solidFill>
                  <a:srgbClr val="002060"/>
                </a:solidFill>
              </a:rPr>
              <a:t>Get-Service | Get-</a:t>
            </a:r>
            <a:r>
              <a:rPr lang="ru-RU" dirty="0" err="1">
                <a:solidFill>
                  <a:srgbClr val="002060"/>
                </a:solidFill>
              </a:rPr>
              <a:t>Member</a:t>
            </a:r>
            <a:endParaRPr lang="ru-RU" dirty="0">
              <a:solidFill>
                <a:srgbClr val="002060"/>
              </a:solidFill>
            </a:endParaRPr>
          </a:p>
          <a:p>
            <a:pPr marL="354013">
              <a:defRPr sz="3600"/>
            </a:pPr>
            <a:r>
              <a:rPr lang="ru-RU" dirty="0"/>
              <a:t>Консоль выдаст таблицу, где студент увидит свойства .</a:t>
            </a:r>
            <a:r>
              <a:rPr lang="ru-RU" dirty="0" err="1"/>
              <a:t>Status</a:t>
            </a:r>
            <a:r>
              <a:rPr lang="ru-RU" dirty="0"/>
              <a:t> (запущена/остановлена), .</a:t>
            </a:r>
            <a:r>
              <a:rPr lang="ru-RU" dirty="0" err="1"/>
              <a:t>DisplayName</a:t>
            </a:r>
            <a:r>
              <a:rPr lang="ru-RU" dirty="0"/>
              <a:t> (читаемое имя) и методы .Start(), .Stop(). </a:t>
            </a:r>
          </a:p>
        </p:txBody>
      </p:sp>
    </p:spTree>
    <p:extLst>
      <p:ext uri="{BB962C8B-B14F-4D97-AF65-F5344CB8AC3E}">
        <p14:creationId xmlns:p14="http://schemas.microsoft.com/office/powerpoint/2010/main" val="3950363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CDA34-6E12-DDE8-0F1F-28F9C109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517526-A6F2-BDCA-79BB-5A76FD514EE1}"/>
              </a:ext>
            </a:extLst>
          </p:cNvPr>
          <p:cNvSpPr txBox="1"/>
          <p:nvPr/>
        </p:nvSpPr>
        <p:spPr>
          <a:xfrm>
            <a:off x="457200" y="442452"/>
            <a:ext cx="10972800" cy="5684028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3600"/>
            </a:pPr>
            <a:r>
              <a:rPr lang="ru-RU" dirty="0"/>
              <a:t>Табуляция (</a:t>
            </a:r>
            <a:r>
              <a:rPr lang="ru-RU" dirty="0">
                <a:solidFill>
                  <a:srgbClr val="002060"/>
                </a:solidFill>
              </a:rPr>
              <a:t>Tab </a:t>
            </a:r>
            <a:r>
              <a:rPr lang="ru-RU" dirty="0" err="1">
                <a:solidFill>
                  <a:srgbClr val="002060"/>
                </a:solidFill>
              </a:rPr>
              <a:t>Completion</a:t>
            </a:r>
            <a:r>
              <a:rPr lang="ru-RU" dirty="0"/>
              <a:t>): Защита от опечаток</a:t>
            </a:r>
          </a:p>
          <a:p>
            <a:pPr>
              <a:defRPr sz="3600"/>
            </a:pPr>
            <a:r>
              <a:rPr lang="ru-RU" dirty="0"/>
              <a:t>•	Никогда не пишите длинные команды и имена параметров вручную от начала и до конца.</a:t>
            </a:r>
          </a:p>
          <a:p>
            <a:pPr>
              <a:defRPr sz="3600"/>
            </a:pPr>
            <a:r>
              <a:rPr lang="ru-RU" dirty="0"/>
              <a:t>•	Правило админа: Нажали пару букв — нажимайте Tab.</a:t>
            </a:r>
          </a:p>
          <a:p>
            <a:pPr>
              <a:defRPr sz="3600"/>
            </a:pPr>
            <a:r>
              <a:rPr lang="ru-RU" dirty="0"/>
              <a:t>•	Как это работает: </a:t>
            </a:r>
            <a:r>
              <a:rPr lang="ru-RU" dirty="0" err="1"/>
              <a:t>PowerShell</a:t>
            </a:r>
            <a:r>
              <a:rPr lang="ru-RU" dirty="0"/>
              <a:t> автоматически дописывает названия командлетов, пути к файлам и имена параметров. Если вариантов несколько, повторное нажатие Tab будет циклически их перебирать (а в современном </a:t>
            </a:r>
            <a:r>
              <a:rPr lang="ru-RU" dirty="0" err="1"/>
              <a:t>PowerShell</a:t>
            </a:r>
            <a:r>
              <a:rPr lang="ru-RU" dirty="0"/>
              <a:t> Core нажатие Ctrl + Space откроет интерактивное меню выбора). Это экономит 70% времени и страхует от синтаксических ошибок.</a:t>
            </a:r>
          </a:p>
        </p:txBody>
      </p:sp>
    </p:spTree>
    <p:extLst>
      <p:ext uri="{BB962C8B-B14F-4D97-AF65-F5344CB8AC3E}">
        <p14:creationId xmlns:p14="http://schemas.microsoft.com/office/powerpoint/2010/main" val="2433030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97EC-2FF8-EFA9-B00B-9DA08C136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02D440-D97C-0744-8D51-A53451601624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Рабочий цикл «Святой Троицы» 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EDDFE1-034A-2F2E-EE85-C91FC060D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49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527A3-4688-7E28-75FB-9B9A3C4F0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3CAE01-7FA2-097D-5BD5-E2F59C59A4D5}"/>
              </a:ext>
            </a:extLst>
          </p:cNvPr>
          <p:cNvSpPr txBox="1"/>
          <p:nvPr/>
        </p:nvSpPr>
        <p:spPr>
          <a:xfrm>
            <a:off x="2603077" y="182880"/>
            <a:ext cx="6955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3. Джентльменский набор сисадмина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795861-D6EE-35CA-D15F-A810F93E1472}"/>
              </a:ext>
            </a:extLst>
          </p:cNvPr>
          <p:cNvSpPr txBox="1"/>
          <p:nvPr/>
        </p:nvSpPr>
        <p:spPr>
          <a:xfrm>
            <a:off x="457200" y="1666568"/>
            <a:ext cx="10972800" cy="4459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dirty="0"/>
              <a:t>Системные службы и управление процессами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6021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B727-0379-2996-58DD-94E8E4567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46C7ED-461A-A91F-5D72-96239A0E3128}"/>
              </a:ext>
            </a:extLst>
          </p:cNvPr>
          <p:cNvSpPr txBox="1"/>
          <p:nvPr/>
        </p:nvSpPr>
        <p:spPr>
          <a:xfrm>
            <a:off x="457199" y="294967"/>
            <a:ext cx="11474245" cy="6459794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3600"/>
            </a:pPr>
            <a:r>
              <a:rPr lang="ru-RU" b="1" dirty="0"/>
              <a:t>Управление ОС: Контроль служб и «убийство» зависших процессов</a:t>
            </a:r>
          </a:p>
          <a:p>
            <a:pPr>
              <a:defRPr sz="3600"/>
            </a:pPr>
            <a:r>
              <a:rPr lang="ru-RU" dirty="0"/>
              <a:t>•	Службы (</a:t>
            </a:r>
            <a:r>
              <a:rPr lang="en-US" dirty="0"/>
              <a:t>Services) — </a:t>
            </a:r>
            <a:r>
              <a:rPr lang="ru-RU" dirty="0"/>
              <a:t>сердце </a:t>
            </a:r>
            <a:r>
              <a:rPr lang="en-US" dirty="0"/>
              <a:t>Windows: </a:t>
            </a:r>
            <a:r>
              <a:rPr lang="ru-RU" dirty="0"/>
              <a:t>Для просмотра и управления фоновыми службами используются командлеты </a:t>
            </a:r>
            <a:r>
              <a:rPr lang="en-US" dirty="0"/>
              <a:t>Get-Service, Start-Service, Stop-Service </a:t>
            </a:r>
            <a:r>
              <a:rPr lang="ru-RU" dirty="0"/>
              <a:t>и </a:t>
            </a:r>
            <a:r>
              <a:rPr lang="en-US" dirty="0"/>
              <a:t>Restart-Service.</a:t>
            </a:r>
          </a:p>
          <a:p>
            <a:pPr>
              <a:defRPr sz="3600"/>
            </a:pPr>
            <a:r>
              <a:rPr lang="ru-RU" dirty="0"/>
              <a:t>Пример: Быстрый перезапуск зависшего диспетчера печати: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Restart-Service -Name Spooler</a:t>
            </a:r>
          </a:p>
          <a:p>
            <a:pPr>
              <a:defRPr sz="3600"/>
            </a:pPr>
            <a:r>
              <a:rPr lang="en-US" dirty="0"/>
              <a:t>•	</a:t>
            </a:r>
            <a:r>
              <a:rPr lang="ru-RU" dirty="0"/>
              <a:t>Процессы (</a:t>
            </a:r>
            <a:r>
              <a:rPr lang="en-US" dirty="0"/>
              <a:t>Processes) — </a:t>
            </a:r>
            <a:r>
              <a:rPr lang="ru-RU" dirty="0"/>
              <a:t>управление ресурсами: Командлет </a:t>
            </a:r>
            <a:r>
              <a:rPr lang="en-US" dirty="0"/>
              <a:t>Get-Process </a:t>
            </a:r>
            <a:r>
              <a:rPr lang="ru-RU" dirty="0"/>
              <a:t>показывает активные программы, а </a:t>
            </a:r>
            <a:r>
              <a:rPr lang="en-US" dirty="0"/>
              <a:t>Stop-Process </a:t>
            </a:r>
            <a:r>
              <a:rPr lang="ru-RU" dirty="0"/>
              <a:t>принудительно завершает их. Это аналог Диспетчера задач.</a:t>
            </a:r>
          </a:p>
          <a:p>
            <a:pPr>
              <a:defRPr sz="3600"/>
            </a:pPr>
            <a:r>
              <a:rPr lang="ru-RU" dirty="0"/>
              <a:t>Пример: Принудительно «убить» зависший браузер </a:t>
            </a:r>
            <a:r>
              <a:rPr lang="en-US" dirty="0"/>
              <a:t>Chrome </a:t>
            </a:r>
            <a:r>
              <a:rPr lang="ru-RU" dirty="0"/>
              <a:t>по его имени: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Stop-Process -Name chrome -Force</a:t>
            </a:r>
          </a:p>
          <a:p>
            <a:pPr>
              <a:defRPr sz="3600"/>
            </a:pPr>
            <a:r>
              <a:rPr lang="en-US" dirty="0"/>
              <a:t>•	</a:t>
            </a:r>
            <a:r>
              <a:rPr lang="ru-RU" dirty="0"/>
              <a:t>Управление пользователями: Командлеты </a:t>
            </a:r>
            <a:r>
              <a:rPr lang="en-US" dirty="0"/>
              <a:t>Get-</a:t>
            </a:r>
            <a:r>
              <a:rPr lang="en-US" dirty="0" err="1"/>
              <a:t>LocalUser</a:t>
            </a:r>
            <a:r>
              <a:rPr lang="en-US" dirty="0"/>
              <a:t>, New-</a:t>
            </a:r>
            <a:r>
              <a:rPr lang="en-US" dirty="0" err="1"/>
              <a:t>LocalUser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Set-</a:t>
            </a:r>
            <a:r>
              <a:rPr lang="en-US" dirty="0" err="1"/>
              <a:t>LocalUser</a:t>
            </a:r>
            <a:r>
              <a:rPr lang="en-US" dirty="0"/>
              <a:t> </a:t>
            </a:r>
            <a:r>
              <a:rPr lang="ru-RU" dirty="0"/>
              <a:t>позволяют мгновенно создавать учетные записи локальных администраторов или сбрасывать забытые пароли пользователей без кликов в </a:t>
            </a:r>
            <a:r>
              <a:rPr lang="en-US" dirty="0"/>
              <a:t>GUI.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5851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91205-FCAA-BA36-37EA-1FCD849C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26280B-2C91-88B9-2282-29DF9B719E1B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dirty="0"/>
              <a:t>Работа с файловой системой и логами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3138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8F1F9-4950-B822-BA29-7BFF1F0E6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F03C96-8F58-A46A-CA3E-B8428217BBB8}"/>
              </a:ext>
            </a:extLst>
          </p:cNvPr>
          <p:cNvSpPr txBox="1"/>
          <p:nvPr/>
        </p:nvSpPr>
        <p:spPr>
          <a:xfrm>
            <a:off x="457200" y="353961"/>
            <a:ext cx="11282516" cy="6268065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>
              <a:defRPr sz="3600"/>
            </a:pPr>
            <a:r>
              <a:rPr lang="ru-RU" b="1" dirty="0"/>
              <a:t>Файловый аудит: Быстрая навигация, поиск и чтение «живых» логов</a:t>
            </a:r>
          </a:p>
          <a:p>
            <a:pPr>
              <a:defRPr sz="3600"/>
            </a:pPr>
            <a:r>
              <a:rPr lang="ru-RU" dirty="0"/>
              <a:t>•	</a:t>
            </a:r>
            <a:r>
              <a:rPr lang="ru-RU" dirty="0" err="1"/>
              <a:t>Алиасы</a:t>
            </a:r>
            <a:r>
              <a:rPr lang="ru-RU" dirty="0"/>
              <a:t> (Псевдонимы): Студенты могут использовать привычные </a:t>
            </a:r>
            <a:r>
              <a:rPr lang="ru-RU" dirty="0" err="1"/>
              <a:t>dir</a:t>
            </a:r>
            <a:r>
              <a:rPr lang="ru-RU" dirty="0"/>
              <a:t> или </a:t>
            </a:r>
            <a:r>
              <a:rPr lang="ru-RU" dirty="0" err="1"/>
              <a:t>ls</a:t>
            </a:r>
            <a:r>
              <a:rPr lang="ru-RU" dirty="0"/>
              <a:t> — в </a:t>
            </a:r>
            <a:r>
              <a:rPr lang="ru-RU" dirty="0" err="1"/>
              <a:t>PowerShell</a:t>
            </a:r>
            <a:r>
              <a:rPr lang="ru-RU" dirty="0"/>
              <a:t> это встроенные псевдонимы для мощного командлета Get-</a:t>
            </a:r>
            <a:r>
              <a:rPr lang="ru-RU" dirty="0" err="1"/>
              <a:t>ChildItem</a:t>
            </a:r>
            <a:r>
              <a:rPr lang="ru-RU" dirty="0"/>
              <a:t>.</a:t>
            </a:r>
          </a:p>
          <a:p>
            <a:pPr>
              <a:defRPr sz="3600"/>
            </a:pPr>
            <a:r>
              <a:rPr lang="ru-RU" dirty="0"/>
              <a:t>•	Рекурсивный поиск: Get-</a:t>
            </a:r>
            <a:r>
              <a:rPr lang="ru-RU" dirty="0" err="1"/>
              <a:t>ChildItem</a:t>
            </a:r>
            <a:r>
              <a:rPr lang="ru-RU" dirty="0"/>
              <a:t> -</a:t>
            </a:r>
            <a:r>
              <a:rPr lang="ru-RU" dirty="0" err="1"/>
              <a:t>Recurse</a:t>
            </a:r>
            <a:r>
              <a:rPr lang="ru-RU" dirty="0"/>
              <a:t> позволяет мгновенно найти файл во всех вложенных папках.</a:t>
            </a:r>
          </a:p>
          <a:p>
            <a:pPr>
              <a:defRPr sz="3600"/>
            </a:pPr>
            <a:r>
              <a:rPr lang="ru-RU" dirty="0"/>
              <a:t>•	Утилиты автоматизации файлового ввода-вывода:</a:t>
            </a:r>
          </a:p>
          <a:p>
            <a:pPr marL="354013">
              <a:defRPr sz="3600"/>
            </a:pPr>
            <a:r>
              <a:rPr lang="ru-RU" dirty="0"/>
              <a:t>o	Test-</a:t>
            </a:r>
            <a:r>
              <a:rPr lang="ru-RU" dirty="0" err="1"/>
              <a:t>Path</a:t>
            </a:r>
            <a:r>
              <a:rPr lang="ru-RU" dirty="0"/>
              <a:t> — проверяет, существует ли файл или директория по указанному пути, возвращая $</a:t>
            </a:r>
            <a:r>
              <a:rPr lang="ru-RU" dirty="0" err="1"/>
              <a:t>true</a:t>
            </a:r>
            <a:r>
              <a:rPr lang="ru-RU" dirty="0"/>
              <a:t> или $</a:t>
            </a:r>
            <a:r>
              <a:rPr lang="ru-RU" dirty="0" err="1"/>
              <a:t>false</a:t>
            </a:r>
            <a:r>
              <a:rPr lang="ru-RU" dirty="0"/>
              <a:t> (незаменимо для условий в скриптах).</a:t>
            </a:r>
          </a:p>
          <a:p>
            <a:pPr marL="354013">
              <a:defRPr sz="3600"/>
            </a:pPr>
            <a:r>
              <a:rPr lang="ru-RU" dirty="0"/>
              <a:t>o	Get-Content, </a:t>
            </a:r>
            <a:r>
              <a:rPr lang="ru-RU" dirty="0" err="1"/>
              <a:t>Add</a:t>
            </a:r>
            <a:r>
              <a:rPr lang="ru-RU" dirty="0"/>
              <a:t>-Content, </a:t>
            </a:r>
            <a:r>
              <a:rPr lang="ru-RU" dirty="0" err="1"/>
              <a:t>Set</a:t>
            </a:r>
            <a:r>
              <a:rPr lang="ru-RU" dirty="0"/>
              <a:t>-Content — чтение и запись текстовых файлов.</a:t>
            </a:r>
          </a:p>
          <a:p>
            <a:pPr>
              <a:defRPr sz="3600"/>
            </a:pPr>
            <a:r>
              <a:rPr lang="ru-RU" dirty="0"/>
              <a:t>•	Лайфхак для сисадмина — Чтение «живых» логов: Вместо открытия тяжелого Блокнота используем: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Get-Content C:\logs\app.log -</a:t>
            </a:r>
            <a:r>
              <a:rPr lang="ru-RU" dirty="0" err="1">
                <a:solidFill>
                  <a:srgbClr val="002060"/>
                </a:solidFill>
              </a:rPr>
              <a:t>Wait</a:t>
            </a:r>
            <a:r>
              <a:rPr lang="ru-RU" dirty="0">
                <a:solidFill>
                  <a:srgbClr val="002060"/>
                </a:solidFill>
              </a:rPr>
              <a:t> -</a:t>
            </a:r>
            <a:r>
              <a:rPr lang="ru-RU" dirty="0" err="1">
                <a:solidFill>
                  <a:srgbClr val="002060"/>
                </a:solidFill>
              </a:rPr>
              <a:t>Tail</a:t>
            </a:r>
            <a:r>
              <a:rPr lang="ru-RU" dirty="0">
                <a:solidFill>
                  <a:srgbClr val="002060"/>
                </a:solidFill>
              </a:rPr>
              <a:t> 10</a:t>
            </a:r>
          </a:p>
          <a:p>
            <a:pPr>
              <a:defRPr sz="3600"/>
            </a:pPr>
            <a:r>
              <a:rPr lang="ru-RU" dirty="0"/>
              <a:t>Параметр -</a:t>
            </a:r>
            <a:r>
              <a:rPr lang="ru-RU" dirty="0" err="1"/>
              <a:t>Wait</a:t>
            </a:r>
            <a:r>
              <a:rPr lang="ru-RU" dirty="0"/>
              <a:t> заставляет </a:t>
            </a:r>
            <a:r>
              <a:rPr lang="ru-RU" dirty="0" err="1"/>
              <a:t>PowerShell</a:t>
            </a:r>
            <a:r>
              <a:rPr lang="ru-RU" dirty="0"/>
              <a:t> «слушать» файл и выводить новые строки на экран в реальном времени (полный аналог команды </a:t>
            </a:r>
            <a:r>
              <a:rPr lang="ru-RU" dirty="0" err="1"/>
              <a:t>tail</a:t>
            </a:r>
            <a:r>
              <a:rPr lang="ru-RU" dirty="0"/>
              <a:t> -f в Linux).</a:t>
            </a:r>
          </a:p>
          <a:p>
            <a:pPr>
              <a:defRPr sz="3600"/>
            </a:pPr>
            <a:r>
              <a:rPr lang="ru-RU" dirty="0"/>
              <a:t>•	Анализ системных журналов: Командлеты Get-</a:t>
            </a:r>
            <a:r>
              <a:rPr lang="ru-RU" dirty="0" err="1"/>
              <a:t>EventLog</a:t>
            </a:r>
            <a:r>
              <a:rPr lang="ru-RU" dirty="0"/>
              <a:t> и Get-</a:t>
            </a:r>
            <a:r>
              <a:rPr lang="ru-RU" dirty="0" err="1"/>
              <a:t>WinEvent</a:t>
            </a:r>
            <a:r>
              <a:rPr lang="ru-RU" dirty="0"/>
              <a:t> позволяют отфильтровать критические ошибки Windows (Event </a:t>
            </a:r>
            <a:r>
              <a:rPr lang="ru-RU" dirty="0" err="1"/>
              <a:t>Viewer</a:t>
            </a:r>
            <a:r>
              <a:rPr lang="ru-RU" dirty="0"/>
              <a:t>) прямо в консоли за секунды.</a:t>
            </a:r>
          </a:p>
        </p:txBody>
      </p:sp>
    </p:spTree>
    <p:extLst>
      <p:ext uri="{BB962C8B-B14F-4D97-AF65-F5344CB8AC3E}">
        <p14:creationId xmlns:p14="http://schemas.microsoft.com/office/powerpoint/2010/main" val="3421894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57B26-80F1-B790-86F6-E769FB8E7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A097E6-09A7-FF08-6336-86D1DF922C52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dirty="0"/>
              <a:t>Сетевой аудит и диагностика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1485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0820-9FE1-EAD9-DBC7-95E80963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28DC48-1974-FC43-48F7-E6E56B0E0E9B}"/>
              </a:ext>
            </a:extLst>
          </p:cNvPr>
          <p:cNvSpPr txBox="1"/>
          <p:nvPr/>
        </p:nvSpPr>
        <p:spPr>
          <a:xfrm>
            <a:off x="457200" y="442451"/>
            <a:ext cx="10972800" cy="6238567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Сетевой швейцарский нож: Замена устаревшим </a:t>
            </a:r>
            <a:r>
              <a:rPr lang="ru-RU" dirty="0" err="1">
                <a:solidFill>
                  <a:srgbClr val="002060"/>
                </a:solidFill>
              </a:rPr>
              <a:t>Ping</a:t>
            </a:r>
            <a:r>
              <a:rPr lang="ru-RU" dirty="0">
                <a:solidFill>
                  <a:srgbClr val="002060"/>
                </a:solidFill>
              </a:rPr>
              <a:t>, </a:t>
            </a:r>
            <a:r>
              <a:rPr lang="ru-RU" dirty="0" err="1">
                <a:solidFill>
                  <a:srgbClr val="002060"/>
                </a:solidFill>
              </a:rPr>
              <a:t>Telnet</a:t>
            </a:r>
            <a:r>
              <a:rPr lang="ru-RU" dirty="0">
                <a:solidFill>
                  <a:srgbClr val="002060"/>
                </a:solidFill>
              </a:rPr>
              <a:t> и </a:t>
            </a:r>
            <a:r>
              <a:rPr lang="ru-RU" dirty="0" err="1">
                <a:solidFill>
                  <a:srgbClr val="002060"/>
                </a:solidFill>
              </a:rPr>
              <a:t>Curl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lang="ru-RU" dirty="0"/>
              <a:t>•	Командлет Test-</a:t>
            </a:r>
            <a:r>
              <a:rPr lang="ru-RU" dirty="0" err="1"/>
              <a:t>NetConnection</a:t>
            </a:r>
            <a:r>
              <a:rPr lang="ru-RU" dirty="0"/>
              <a:t> (</a:t>
            </a:r>
            <a:r>
              <a:rPr lang="ru-RU" dirty="0" err="1"/>
              <a:t>алиас</a:t>
            </a:r>
            <a:r>
              <a:rPr lang="ru-RU" dirty="0"/>
              <a:t>: </a:t>
            </a:r>
            <a:r>
              <a:rPr lang="ru-RU" dirty="0" err="1"/>
              <a:t>tnc</a:t>
            </a:r>
            <a:r>
              <a:rPr lang="ru-RU" dirty="0"/>
              <a:t>): Это главный инструмент сетевой диагностики в арсенале сисадмина. Он делает обычный ICMP-</a:t>
            </a:r>
            <a:r>
              <a:rPr lang="ru-RU" dirty="0" err="1"/>
              <a:t>пинг</a:t>
            </a:r>
            <a:r>
              <a:rPr lang="ru-RU" dirty="0"/>
              <a:t>, но его главная фишка — проверка доступности конкретного TCP-порта.</a:t>
            </a:r>
          </a:p>
          <a:p>
            <a:pPr marL="354013">
              <a:defRPr sz="3600"/>
            </a:pPr>
            <a:r>
              <a:rPr lang="ru-RU" dirty="0"/>
              <a:t>o	Пример проверки RDP на сервере:</a:t>
            </a:r>
          </a:p>
          <a:p>
            <a:pPr marL="354013">
              <a:defRPr sz="3600"/>
            </a:pPr>
            <a:r>
              <a:rPr lang="ru-RU" dirty="0">
                <a:solidFill>
                  <a:srgbClr val="002060"/>
                </a:solidFill>
              </a:rPr>
              <a:t>Test-</a:t>
            </a:r>
            <a:r>
              <a:rPr lang="ru-RU" dirty="0" err="1">
                <a:solidFill>
                  <a:srgbClr val="002060"/>
                </a:solidFill>
              </a:rPr>
              <a:t>NetConnection</a:t>
            </a:r>
            <a:r>
              <a:rPr lang="ru-RU" dirty="0">
                <a:solidFill>
                  <a:srgbClr val="002060"/>
                </a:solidFill>
              </a:rPr>
              <a:t> 192.168.1.50 -Port 3389</a:t>
            </a:r>
          </a:p>
          <a:p>
            <a:pPr>
              <a:defRPr sz="3600"/>
            </a:pPr>
            <a:r>
              <a:rPr lang="ru-RU" dirty="0"/>
              <a:t>Больше не нужен сторонний утилиты вроде </a:t>
            </a:r>
            <a:r>
              <a:rPr lang="ru-RU" dirty="0" err="1"/>
              <a:t>Telnet</a:t>
            </a:r>
            <a:r>
              <a:rPr lang="ru-RU" dirty="0"/>
              <a:t>, чтобы понять, закрыт ли порт файрволом.</a:t>
            </a:r>
          </a:p>
          <a:p>
            <a:pPr>
              <a:defRPr sz="3600"/>
            </a:pPr>
            <a:r>
              <a:rPr lang="ru-RU" dirty="0"/>
              <a:t>•	Анализ конфигурации интерфейсов: Забудьте про </a:t>
            </a:r>
            <a:r>
              <a:rPr lang="ru-RU" dirty="0" err="1"/>
              <a:t>ipconfig</a:t>
            </a:r>
            <a:r>
              <a:rPr lang="ru-RU" dirty="0"/>
              <a:t>. Командлет Get-</a:t>
            </a:r>
            <a:r>
              <a:rPr lang="ru-RU" dirty="0" err="1"/>
              <a:t>NetIPAddress</a:t>
            </a:r>
            <a:r>
              <a:rPr lang="ru-RU" dirty="0"/>
              <a:t> возвращает подробные объекты сетевых настроек, а Get-</a:t>
            </a:r>
            <a:r>
              <a:rPr lang="ru-RU" dirty="0" err="1"/>
              <a:t>NetRoute</a:t>
            </a:r>
            <a:r>
              <a:rPr lang="ru-RU" dirty="0"/>
              <a:t> — текущую таблицу маршрутизации.</a:t>
            </a:r>
          </a:p>
          <a:p>
            <a:pPr>
              <a:defRPr sz="3600"/>
            </a:pPr>
            <a:r>
              <a:rPr lang="ru-RU" dirty="0"/>
              <a:t>•	Взаимодействие с веб-серверами: Командлет </a:t>
            </a:r>
            <a:r>
              <a:rPr lang="ru-RU" dirty="0" err="1"/>
              <a:t>Invoke-WebRequest</a:t>
            </a:r>
            <a:r>
              <a:rPr lang="ru-RU" dirty="0"/>
              <a:t> отправляет HTTP/HTTPS-запросы. С его помощью можно прямо из консоли проверить, отвечает ли корпоративный сайт, или скачать дистрибутив программы по ссылке.</a:t>
            </a:r>
          </a:p>
        </p:txBody>
      </p:sp>
    </p:spTree>
    <p:extLst>
      <p:ext uri="{BB962C8B-B14F-4D97-AF65-F5344CB8AC3E}">
        <p14:creationId xmlns:p14="http://schemas.microsoft.com/office/powerpoint/2010/main" val="2837883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2C60C-C302-8EC7-8A18-3E6D0A256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00AFAC-1CF2-A3E2-3FB1-497CA9D5AE8A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 err="1"/>
              <a:t>нтерактивная</a:t>
            </a:r>
            <a:r>
              <a:rPr lang="ru-RU" dirty="0"/>
              <a:t> шпаргалка-карта (</a:t>
            </a:r>
            <a:r>
              <a:rPr lang="ru-RU" dirty="0" err="1"/>
              <a:t>Cheatsheet</a:t>
            </a:r>
            <a:r>
              <a:rPr lang="ru-RU" dirty="0"/>
              <a:t> </a:t>
            </a:r>
            <a:r>
              <a:rPr lang="ru-RU" dirty="0" err="1"/>
              <a:t>Dashboard</a:t>
            </a:r>
            <a:r>
              <a:rPr lang="ru-RU" dirty="0"/>
              <a:t>).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4C9AD8-E0BC-2417-D8DD-17FEF7FA1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8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58B86-7476-94A6-86A3-1DD266274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CD8FF-30E7-603B-BC62-5C8F1BC87132}"/>
              </a:ext>
            </a:extLst>
          </p:cNvPr>
          <p:cNvSpPr txBox="1"/>
          <p:nvPr/>
        </p:nvSpPr>
        <p:spPr>
          <a:xfrm>
            <a:off x="2009165" y="182880"/>
            <a:ext cx="81431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4. Объектный </a:t>
            </a:r>
            <a:r>
              <a:rPr lang="ru-RU" dirty="0" err="1"/>
              <a:t>pipeline</a:t>
            </a:r>
            <a:r>
              <a:rPr lang="ru-RU" dirty="0"/>
              <a:t> и фильтрация данных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72C3A2-955C-788D-72D9-F05F5D762CD2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3600"/>
            </a:pPr>
            <a:r>
              <a:rPr lang="ru-RU" b="1" dirty="0"/>
              <a:t>Конвейер (</a:t>
            </a:r>
            <a:r>
              <a:rPr lang="ru-RU" b="1" dirty="0" err="1"/>
              <a:t>Pipeline</a:t>
            </a:r>
            <a:r>
              <a:rPr lang="ru-RU" b="1" dirty="0"/>
              <a:t>): передача объектов, а не текста</a:t>
            </a:r>
          </a:p>
          <a:p>
            <a:pPr>
              <a:defRPr sz="3600"/>
            </a:pPr>
            <a:r>
              <a:rPr lang="ru-RU" dirty="0"/>
              <a:t>•	Символ конвейера (|): перенаправляет вывод одной команды на вход другой. </a:t>
            </a:r>
          </a:p>
          <a:p>
            <a:pPr>
              <a:defRPr sz="3600"/>
            </a:pPr>
            <a:r>
              <a:rPr lang="ru-RU" dirty="0"/>
              <a:t>•	В чем отличие от Linux/CMD: в классических CLI передается плоский текст. </a:t>
            </a:r>
          </a:p>
          <a:p>
            <a:pPr>
              <a:defRPr sz="3600"/>
            </a:pPr>
            <a:r>
              <a:rPr lang="ru-RU" dirty="0"/>
              <a:t>•	В </a:t>
            </a:r>
            <a:r>
              <a:rPr lang="ru-RU" dirty="0" err="1"/>
              <a:t>PowerShell</a:t>
            </a:r>
            <a:r>
              <a:rPr lang="ru-RU" dirty="0"/>
              <a:t> по конвейеру передаются живые объекты .NET. </a:t>
            </a:r>
          </a:p>
          <a:p>
            <a:pPr>
              <a:defRPr sz="3600"/>
            </a:pPr>
            <a:r>
              <a:rPr lang="ru-RU" dirty="0"/>
              <a:t>•	Объект сохраняет структуру, все свои свойства и методы. </a:t>
            </a:r>
          </a:p>
          <a:p>
            <a:pPr>
              <a:defRPr sz="3600"/>
            </a:pPr>
            <a:r>
              <a:rPr lang="ru-RU" dirty="0"/>
              <a:t>•	Пример: Get-Service генерирует объекты служб и передает их дальше. </a:t>
            </a:r>
          </a:p>
          <a:p>
            <a:pPr>
              <a:defRPr sz="3600"/>
            </a:pPr>
            <a:r>
              <a:rPr lang="ru-RU" dirty="0"/>
              <a:t>•	Следующей команде не нужно </a:t>
            </a:r>
            <a:r>
              <a:rPr lang="ru-RU" dirty="0" err="1"/>
              <a:t>парсить</a:t>
            </a:r>
            <a:r>
              <a:rPr lang="ru-RU" dirty="0"/>
              <a:t> строки, она сразу видит свойства.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0088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55CB9-BC0C-8F2C-B79F-6A6E5F954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BF8A91-0BF7-0AE2-A5DC-DDE0E4AE4645}"/>
              </a:ext>
            </a:extLst>
          </p:cNvPr>
          <p:cNvSpPr txBox="1"/>
          <p:nvPr/>
        </p:nvSpPr>
        <p:spPr>
          <a:xfrm>
            <a:off x="457199" y="516194"/>
            <a:ext cx="11238271" cy="4689987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3600"/>
            </a:pPr>
            <a:r>
              <a:rPr lang="ru-RU" b="1" dirty="0"/>
              <a:t>Фильтрация данных: выбираем только то, что нужно</a:t>
            </a:r>
          </a:p>
          <a:p>
            <a:pPr>
              <a:defRPr sz="3600"/>
            </a:pPr>
            <a:r>
              <a:rPr lang="ru-RU" dirty="0"/>
              <a:t>•	Командлет </a:t>
            </a:r>
            <a:r>
              <a:rPr lang="ru-RU" dirty="0" err="1"/>
              <a:t>Where</a:t>
            </a:r>
            <a:r>
              <a:rPr lang="ru-RU" dirty="0"/>
              <a:t>-Object (</a:t>
            </a:r>
            <a:r>
              <a:rPr lang="ru-RU" dirty="0" err="1"/>
              <a:t>алиас</a:t>
            </a:r>
            <a:r>
              <a:rPr lang="ru-RU" dirty="0"/>
              <a:t>: ?) фильтрует объекты по условию. </a:t>
            </a:r>
          </a:p>
          <a:p>
            <a:pPr>
              <a:defRPr sz="3600"/>
            </a:pPr>
            <a:r>
              <a:rPr lang="ru-RU" dirty="0"/>
              <a:t>•	Переменная $_ обозначает текущий объект в конвейере. </a:t>
            </a:r>
          </a:p>
          <a:p>
            <a:pPr>
              <a:defRPr sz="3600"/>
            </a:pPr>
            <a:r>
              <a:rPr lang="ru-RU" dirty="0"/>
              <a:t>•	Особенность PS: операторы сравнения пишутся через дефис. </a:t>
            </a:r>
          </a:p>
          <a:p>
            <a:pPr>
              <a:defRPr sz="3600"/>
            </a:pPr>
            <a:r>
              <a:rPr lang="ru-RU" dirty="0"/>
              <a:t>•	Используются -</a:t>
            </a:r>
            <a:r>
              <a:rPr lang="ru-RU" dirty="0" err="1"/>
              <a:t>eq</a:t>
            </a:r>
            <a:r>
              <a:rPr lang="ru-RU" dirty="0"/>
              <a:t> (равно), -</a:t>
            </a:r>
            <a:r>
              <a:rPr lang="ru-RU" dirty="0" err="1"/>
              <a:t>ne</a:t>
            </a:r>
            <a:r>
              <a:rPr lang="ru-RU" dirty="0"/>
              <a:t> (не равно), -</a:t>
            </a:r>
            <a:r>
              <a:rPr lang="ru-RU" dirty="0" err="1"/>
              <a:t>gt</a:t>
            </a:r>
            <a:r>
              <a:rPr lang="ru-RU" dirty="0"/>
              <a:t> (больше), -</a:t>
            </a:r>
            <a:r>
              <a:rPr lang="ru-RU" dirty="0" err="1"/>
              <a:t>like</a:t>
            </a:r>
            <a:r>
              <a:rPr lang="ru-RU" dirty="0"/>
              <a:t> (поиск по маске). </a:t>
            </a:r>
          </a:p>
          <a:p>
            <a:pPr>
              <a:defRPr sz="3600"/>
            </a:pPr>
            <a:r>
              <a:rPr lang="ru-RU" dirty="0"/>
              <a:t>•	Пример: ищем только остановленные службы: </a:t>
            </a:r>
          </a:p>
          <a:p>
            <a:pPr>
              <a:defRPr sz="3600"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7DCAF1-5988-8892-D129-A04301892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87" y="5243052"/>
            <a:ext cx="10903052" cy="93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693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A6D15-E099-6859-F09A-C7F2B463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919C69-A430-8CEC-C25B-0718A4A5DA33}"/>
              </a:ext>
            </a:extLst>
          </p:cNvPr>
          <p:cNvSpPr txBox="1"/>
          <p:nvPr/>
        </p:nvSpPr>
        <p:spPr>
          <a:xfrm>
            <a:off x="457199" y="516194"/>
            <a:ext cx="11238271" cy="5610286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lang="ru-RU" b="1" dirty="0"/>
              <a:t>Выборка свойств и золотое правило вывода данных</a:t>
            </a:r>
          </a:p>
          <a:p>
            <a:pPr>
              <a:defRPr sz="3600"/>
            </a:pPr>
            <a:r>
              <a:rPr lang="ru-RU" dirty="0"/>
              <a:t>•	Командлет Select-Object оставляет только нужные свойства объекта. </a:t>
            </a:r>
          </a:p>
          <a:p>
            <a:pPr>
              <a:defRPr sz="3600"/>
            </a:pPr>
            <a:r>
              <a:rPr lang="ru-RU" dirty="0"/>
              <a:t>•	Помогает избавиться от «каши» в консоли и разгрузить вывод. </a:t>
            </a:r>
          </a:p>
          <a:p>
            <a:pPr>
              <a:defRPr sz="3600"/>
            </a:pPr>
            <a:r>
              <a:rPr lang="ru-RU" dirty="0"/>
              <a:t>•	Пример: оставить только имя службы и её статус: 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•	⚠️ Золотое правило админа: Format-</a:t>
            </a:r>
            <a:r>
              <a:rPr lang="ru-RU" dirty="0" err="1"/>
              <a:t>Table</a:t>
            </a:r>
            <a:r>
              <a:rPr lang="ru-RU" dirty="0"/>
              <a:t> и Format-List меняют объект на текст. </a:t>
            </a:r>
          </a:p>
          <a:p>
            <a:pPr>
              <a:defRPr sz="3600"/>
            </a:pPr>
            <a:r>
              <a:rPr lang="ru-RU" dirty="0"/>
              <a:t>•	Применяйте команды форматирования только в самом конце конвейера для человека. 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2388DC-BD05-F367-C151-5411324F6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20" y="3321336"/>
            <a:ext cx="9291638" cy="78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786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693F9-464C-78DE-ECED-5CD01C722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FEC071-8966-2E0B-E89F-34AEE0A5B9B3}"/>
              </a:ext>
            </a:extLst>
          </p:cNvPr>
          <p:cNvSpPr txBox="1"/>
          <p:nvPr/>
        </p:nvSpPr>
        <p:spPr>
          <a:xfrm>
            <a:off x="457199" y="516194"/>
            <a:ext cx="11238271" cy="5043948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3600"/>
            </a:pPr>
            <a:r>
              <a:rPr lang="ru-RU" b="1" dirty="0"/>
              <a:t>Удаленный сбор данных через CIM и службу </a:t>
            </a:r>
            <a:r>
              <a:rPr lang="ru-RU" b="1" dirty="0" err="1"/>
              <a:t>WinRM</a:t>
            </a:r>
            <a:endParaRPr lang="ru-RU" b="1" dirty="0"/>
          </a:p>
          <a:p>
            <a:pPr>
              <a:defRPr sz="3600"/>
            </a:pPr>
            <a:r>
              <a:rPr lang="ru-RU" dirty="0"/>
              <a:t>•	CIM (Common Information Model): модель описания объектов системы. </a:t>
            </a:r>
          </a:p>
          <a:p>
            <a:pPr>
              <a:defRPr sz="3600"/>
            </a:pPr>
            <a:r>
              <a:rPr lang="ru-RU" dirty="0"/>
              <a:t>•	Командлет Get-</a:t>
            </a:r>
            <a:r>
              <a:rPr lang="ru-RU" dirty="0" err="1"/>
              <a:t>CimInstance</a:t>
            </a:r>
            <a:r>
              <a:rPr lang="ru-RU" dirty="0"/>
              <a:t> собирает данные о дисках, ОС и железе. </a:t>
            </a:r>
          </a:p>
          <a:p>
            <a:pPr>
              <a:defRPr sz="3600"/>
            </a:pPr>
            <a:r>
              <a:rPr lang="ru-RU" dirty="0"/>
              <a:t>•	Заменяет старый Get-</a:t>
            </a:r>
            <a:r>
              <a:rPr lang="ru-RU" dirty="0" err="1"/>
              <a:t>WmiObject</a:t>
            </a:r>
            <a:r>
              <a:rPr lang="ru-RU" dirty="0"/>
              <a:t>, который работал медленно и небезопасно. </a:t>
            </a:r>
          </a:p>
          <a:p>
            <a:pPr>
              <a:defRPr sz="3600"/>
            </a:pPr>
            <a:r>
              <a:rPr lang="ru-RU" dirty="0"/>
              <a:t>•	</a:t>
            </a:r>
            <a:r>
              <a:rPr lang="ru-RU" dirty="0" err="1"/>
              <a:t>WinRM</a:t>
            </a:r>
            <a:r>
              <a:rPr lang="ru-RU" dirty="0"/>
              <a:t> (Windows Remote Management): служба удаленного управления. </a:t>
            </a:r>
          </a:p>
          <a:p>
            <a:pPr>
              <a:defRPr sz="3600"/>
            </a:pPr>
            <a:r>
              <a:rPr lang="ru-RU" dirty="0"/>
              <a:t>•	Работает по стандартным портам: TCP 5985 (HTTP) и TCP 5986 (HTTPS). </a:t>
            </a:r>
          </a:p>
          <a:p>
            <a:pPr>
              <a:defRPr sz="3600"/>
            </a:pPr>
            <a:r>
              <a:rPr lang="ru-RU" dirty="0"/>
              <a:t>•	Пример: опрос дисков удаленного сервера через CIM: 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4D6BE3-6281-5B62-A8A2-C939ED68B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30" y="5345829"/>
            <a:ext cx="11198940" cy="91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81706-5A96-2943-AF3C-27C958DC2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20DE3E-E17B-B5A6-E7E0-F47382768E78}"/>
              </a:ext>
            </a:extLst>
          </p:cNvPr>
          <p:cNvSpPr txBox="1"/>
          <p:nvPr/>
        </p:nvSpPr>
        <p:spPr>
          <a:xfrm>
            <a:off x="4828366" y="182880"/>
            <a:ext cx="25047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1. PowerShell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492921-FD44-CB1B-CCC9-17825A6DEE5A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CMD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269F74-834F-1591-5F99-B422E2DDA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34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B217-100F-99E5-C620-60898C806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D199C-2D03-29B9-9191-43FA6015D490}"/>
              </a:ext>
            </a:extLst>
          </p:cNvPr>
          <p:cNvSpPr txBox="1"/>
          <p:nvPr/>
        </p:nvSpPr>
        <p:spPr>
          <a:xfrm>
            <a:off x="4828366" y="182880"/>
            <a:ext cx="25047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1. PowerShell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B158D-048B-B76C-833E-C17ED712C855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dirty="0"/>
              <a:t>Схема удаленного опроса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3C87B3-BF42-9B77-3D81-63193ACAF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89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EA55E-D2F0-424F-3B87-2EB6623B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FD5CD7-209B-00AE-F464-26DB0C554DE4}"/>
              </a:ext>
            </a:extLst>
          </p:cNvPr>
          <p:cNvSpPr txBox="1"/>
          <p:nvPr/>
        </p:nvSpPr>
        <p:spPr>
          <a:xfrm>
            <a:off x="41895" y="182880"/>
            <a:ext cx="1207773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5. Основы </a:t>
            </a:r>
            <a:r>
              <a:rPr lang="ru-RU" dirty="0" err="1"/>
              <a:t>скриптинга</a:t>
            </a:r>
            <a:r>
              <a:rPr lang="ru-RU" dirty="0"/>
              <a:t> и автоматизация проверки инфраструктуры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19A94-9ADA-850E-A730-CE77CD89F40E}"/>
              </a:ext>
            </a:extLst>
          </p:cNvPr>
          <p:cNvSpPr txBox="1"/>
          <p:nvPr/>
        </p:nvSpPr>
        <p:spPr>
          <a:xfrm>
            <a:off x="457200" y="914400"/>
            <a:ext cx="11430000" cy="461624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3600"/>
            </a:pPr>
            <a:r>
              <a:rPr lang="ru-RU" dirty="0"/>
              <a:t>Переход к автоматизации: запуск скриптов .ps1</a:t>
            </a:r>
          </a:p>
          <a:p>
            <a:pPr>
              <a:defRPr sz="3600"/>
            </a:pPr>
            <a:r>
              <a:rPr lang="ru-RU" dirty="0"/>
              <a:t>•	Скрипт </a:t>
            </a:r>
            <a:r>
              <a:rPr lang="ru-RU" dirty="0" err="1"/>
              <a:t>PowerShell</a:t>
            </a:r>
            <a:r>
              <a:rPr lang="ru-RU" dirty="0"/>
              <a:t> — это текстовый файл с расширением .ps1. </a:t>
            </a:r>
          </a:p>
          <a:p>
            <a:pPr>
              <a:defRPr sz="3600"/>
            </a:pPr>
            <a:r>
              <a:rPr lang="ru-RU" dirty="0"/>
              <a:t>•	Содержит последовательность команд, которая выполняется сверху вниз.</a:t>
            </a:r>
          </a:p>
          <a:p>
            <a:pPr>
              <a:defRPr sz="3600"/>
            </a:pPr>
            <a:r>
              <a:rPr lang="ru-RU" dirty="0"/>
              <a:t>•	⚠️ Защита Windows: по умолчанию выполнение скриптов в системе заблокировано.</a:t>
            </a:r>
          </a:p>
          <a:p>
            <a:pPr>
              <a:defRPr sz="3600"/>
            </a:pPr>
            <a:r>
              <a:rPr lang="ru-RU" dirty="0"/>
              <a:t>•	За это отвечает политика безопасности </a:t>
            </a:r>
            <a:r>
              <a:rPr lang="ru-RU" dirty="0" err="1"/>
              <a:t>ExecutionPolicy</a:t>
            </a:r>
            <a:r>
              <a:rPr lang="ru-RU" dirty="0"/>
              <a:t>. </a:t>
            </a:r>
          </a:p>
          <a:p>
            <a:pPr>
              <a:defRPr sz="3600"/>
            </a:pPr>
            <a:r>
              <a:rPr lang="ru-RU" dirty="0"/>
              <a:t>•	При попытке запуска новичок увидит красную ошибку блокировки.</a:t>
            </a:r>
          </a:p>
          <a:p>
            <a:pPr>
              <a:defRPr sz="3600"/>
            </a:pPr>
            <a:r>
              <a:rPr lang="ru-RU" dirty="0"/>
              <a:t>•	Решение: разрешить запуск локальных скриптов перед началом работы: 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44EF06-E632-2D51-B23F-EA176F6CC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1" y="5258290"/>
            <a:ext cx="11145019" cy="90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59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54993-8A34-B845-C6BB-43AB10B81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1F0267-5621-7E11-45C8-73C60C4DC895}"/>
              </a:ext>
            </a:extLst>
          </p:cNvPr>
          <p:cNvSpPr txBox="1"/>
          <p:nvPr/>
        </p:nvSpPr>
        <p:spPr>
          <a:xfrm>
            <a:off x="457200" y="457200"/>
            <a:ext cx="10972800" cy="4689987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lang="ru-RU" b="1" dirty="0"/>
              <a:t>Чтение конфигурации инфраструктуры и циклы</a:t>
            </a:r>
          </a:p>
          <a:p>
            <a:pPr>
              <a:defRPr sz="3600"/>
            </a:pPr>
            <a:r>
              <a:rPr lang="ru-RU" dirty="0"/>
              <a:t>•	Сисадмины не прописывают имена серверов «намертво» внутри кода.</a:t>
            </a:r>
          </a:p>
          <a:p>
            <a:pPr>
              <a:defRPr sz="3600"/>
            </a:pPr>
            <a:r>
              <a:rPr lang="ru-RU" dirty="0"/>
              <a:t>•	Список серверов и их роли хранятся отдельно в файле servers.csv. </a:t>
            </a:r>
          </a:p>
          <a:p>
            <a:pPr>
              <a:defRPr sz="3600"/>
            </a:pPr>
            <a:r>
              <a:rPr lang="ru-RU" dirty="0"/>
              <a:t>•	Командлет </a:t>
            </a:r>
            <a:r>
              <a:rPr lang="ru-RU" dirty="0" err="1"/>
              <a:t>Import-Csv</a:t>
            </a:r>
            <a:r>
              <a:rPr lang="ru-RU" dirty="0"/>
              <a:t> читает этот файл и превращает строки в объекты. </a:t>
            </a:r>
          </a:p>
          <a:p>
            <a:pPr>
              <a:defRPr sz="3600"/>
            </a:pPr>
            <a:r>
              <a:rPr lang="ru-RU" dirty="0"/>
              <a:t>•	Для перебора серверов из списка используется цикл </a:t>
            </a:r>
            <a:r>
              <a:rPr lang="ru-RU" dirty="0" err="1"/>
              <a:t>foreach</a:t>
            </a:r>
            <a:r>
              <a:rPr lang="ru-RU" dirty="0"/>
              <a:t>. </a:t>
            </a:r>
          </a:p>
          <a:p>
            <a:pPr>
              <a:defRPr sz="3600"/>
            </a:pPr>
            <a:r>
              <a:rPr lang="ru-RU" dirty="0"/>
              <a:t>•	Пример базовой структуры автоматизации проверки: 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099A5C-E6FF-4061-4A6A-ABD4C6F83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040415"/>
            <a:ext cx="10476270" cy="171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256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8EE29-0A28-B4A8-41A2-7A228FF5C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413F77-A20B-07DE-89CC-81A0996A8AD0}"/>
              </a:ext>
            </a:extLst>
          </p:cNvPr>
          <p:cNvSpPr txBox="1"/>
          <p:nvPr/>
        </p:nvSpPr>
        <p:spPr>
          <a:xfrm>
            <a:off x="457199" y="486697"/>
            <a:ext cx="11164529" cy="5639783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3600"/>
            </a:pPr>
            <a:r>
              <a:rPr lang="ru-RU" b="1" dirty="0"/>
              <a:t>Логика ветвления </a:t>
            </a:r>
            <a:r>
              <a:rPr lang="ru-RU" b="1" dirty="0" err="1"/>
              <a:t>if</a:t>
            </a:r>
            <a:r>
              <a:rPr lang="ru-RU" b="1" dirty="0"/>
              <a:t>/</a:t>
            </a:r>
            <a:r>
              <a:rPr lang="ru-RU" b="1" dirty="0" err="1"/>
              <a:t>else</a:t>
            </a:r>
            <a:r>
              <a:rPr lang="ru-RU" b="1" dirty="0"/>
              <a:t> и модель статусов</a:t>
            </a:r>
          </a:p>
          <a:p>
            <a:pPr>
              <a:defRPr sz="3600"/>
            </a:pPr>
            <a:r>
              <a:rPr lang="ru-RU" dirty="0"/>
              <a:t>•	Конструкция </a:t>
            </a:r>
            <a:r>
              <a:rPr lang="ru-RU" dirty="0" err="1">
                <a:solidFill>
                  <a:srgbClr val="002060"/>
                </a:solidFill>
              </a:rPr>
              <a:t>if</a:t>
            </a:r>
            <a:r>
              <a:rPr lang="ru-RU" dirty="0">
                <a:solidFill>
                  <a:srgbClr val="002060"/>
                </a:solidFill>
              </a:rPr>
              <a:t>/</a:t>
            </a:r>
            <a:r>
              <a:rPr lang="ru-RU" dirty="0" err="1">
                <a:solidFill>
                  <a:srgbClr val="002060"/>
                </a:solidFill>
              </a:rPr>
              <a:t>else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/>
              <a:t>проверяет метрики системы на соответствие порогам. </a:t>
            </a:r>
          </a:p>
          <a:p>
            <a:pPr>
              <a:defRPr sz="3600"/>
            </a:pPr>
            <a:r>
              <a:rPr lang="ru-RU" dirty="0"/>
              <a:t>•	Ошибка одного сервера не должна </a:t>
            </a:r>
            <a:r>
              <a:rPr lang="ru-RU" dirty="0" err="1"/>
              <a:t>аварийно</a:t>
            </a:r>
            <a:r>
              <a:rPr lang="ru-RU" dirty="0"/>
              <a:t> прерывать работу всего скрипта. </a:t>
            </a:r>
          </a:p>
          <a:p>
            <a:pPr>
              <a:defRPr sz="3600"/>
            </a:pPr>
            <a:r>
              <a:rPr lang="ru-RU" dirty="0"/>
              <a:t>•	Классическая четырехуровневая модель статусов в отчете: </a:t>
            </a:r>
          </a:p>
          <a:p>
            <a:pPr marL="354013">
              <a:defRPr sz="3600"/>
            </a:pPr>
            <a:r>
              <a:rPr lang="ru-RU" dirty="0"/>
              <a:t>o	🟢 OK: проверка выполнена успешно, пороговые значения в норме. </a:t>
            </a:r>
          </a:p>
          <a:p>
            <a:pPr marL="354013">
              <a:defRPr sz="3600"/>
            </a:pPr>
            <a:r>
              <a:rPr lang="ru-RU" dirty="0"/>
              <a:t>o	🟡 WARNING: обнаружено отклонение или скорый дефицит ресурсов. </a:t>
            </a:r>
          </a:p>
          <a:p>
            <a:pPr marL="354013">
              <a:defRPr sz="3600"/>
            </a:pPr>
            <a:r>
              <a:rPr lang="ru-RU" dirty="0"/>
              <a:t>o	🔴 CRITICAL: зафиксирован критический сбой или остановка роли. </a:t>
            </a:r>
          </a:p>
          <a:p>
            <a:pPr marL="354013">
              <a:defRPr sz="3600"/>
            </a:pPr>
            <a:r>
              <a:rPr lang="ru-RU" dirty="0"/>
              <a:t>o	⚪ UNKNOWN: сервер недоступен по сети, данные не собраны.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13105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9D754-B289-209F-3656-86BBAA88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5A7703-62FB-D997-DD82-0E6C227DFF7E}"/>
              </a:ext>
            </a:extLst>
          </p:cNvPr>
          <p:cNvSpPr txBox="1"/>
          <p:nvPr/>
        </p:nvSpPr>
        <p:spPr>
          <a:xfrm>
            <a:off x="457200" y="294968"/>
            <a:ext cx="10972800" cy="5088193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3600"/>
            </a:pPr>
            <a:r>
              <a:rPr lang="ru-RU" b="1" dirty="0"/>
              <a:t>Безопасный перехват сбоев и освобождение ресурсов</a:t>
            </a:r>
          </a:p>
          <a:p>
            <a:pPr>
              <a:defRPr sz="3600"/>
            </a:pPr>
            <a:r>
              <a:rPr lang="ru-RU" dirty="0"/>
              <a:t>•	Блок </a:t>
            </a:r>
            <a:r>
              <a:rPr lang="ru-RU" dirty="0" err="1"/>
              <a:t>try</a:t>
            </a:r>
            <a:r>
              <a:rPr lang="ru-RU" dirty="0"/>
              <a:t> { ... } содержит код, который потенциально может завершиться сбоем. </a:t>
            </a:r>
          </a:p>
          <a:p>
            <a:pPr>
              <a:defRPr sz="3600"/>
            </a:pPr>
            <a:r>
              <a:rPr lang="ru-RU" dirty="0"/>
              <a:t>•	Если в </a:t>
            </a:r>
            <a:r>
              <a:rPr lang="ru-RU" dirty="0" err="1"/>
              <a:t>try</a:t>
            </a:r>
            <a:r>
              <a:rPr lang="ru-RU" dirty="0"/>
              <a:t> падает критическая ошибка, управление мгновенно передается в </a:t>
            </a:r>
            <a:r>
              <a:rPr lang="ru-RU" dirty="0" err="1"/>
              <a:t>catch</a:t>
            </a:r>
            <a:r>
              <a:rPr lang="ru-RU" dirty="0"/>
              <a:t>. </a:t>
            </a:r>
          </a:p>
          <a:p>
            <a:pPr>
              <a:defRPr sz="3600"/>
            </a:pPr>
            <a:r>
              <a:rPr lang="ru-RU" dirty="0"/>
              <a:t>•	Блок </a:t>
            </a:r>
            <a:r>
              <a:rPr lang="ru-RU" dirty="0" err="1"/>
              <a:t>catch</a:t>
            </a:r>
            <a:r>
              <a:rPr lang="ru-RU" dirty="0"/>
              <a:t> { ... } перехватывает исключение и записывает его причину в отчет. </a:t>
            </a:r>
          </a:p>
          <a:p>
            <a:pPr>
              <a:defRPr sz="3600"/>
            </a:pPr>
            <a:r>
              <a:rPr lang="ru-RU" dirty="0"/>
              <a:t>•	⚠️ Важно: для перехвата сбоев командлетам нужен флаг -</a:t>
            </a:r>
            <a:r>
              <a:rPr lang="ru-RU" dirty="0" err="1"/>
              <a:t>ErrorAction</a:t>
            </a:r>
            <a:r>
              <a:rPr lang="ru-RU" dirty="0"/>
              <a:t> Stop. </a:t>
            </a:r>
          </a:p>
          <a:p>
            <a:pPr>
              <a:defRPr sz="3600"/>
            </a:pPr>
            <a:r>
              <a:rPr lang="ru-RU" dirty="0"/>
              <a:t>•	Блок </a:t>
            </a:r>
            <a:r>
              <a:rPr lang="ru-RU" dirty="0" err="1"/>
              <a:t>finally</a:t>
            </a:r>
            <a:r>
              <a:rPr lang="ru-RU" dirty="0"/>
              <a:t> { ... } выполняется ВСЕГДА — там закрывают сессии и удаляют временные файлы. </a:t>
            </a:r>
          </a:p>
          <a:p>
            <a:pPr>
              <a:defRPr sz="3600"/>
            </a:pPr>
            <a:r>
              <a:rPr lang="ru-RU" dirty="0"/>
              <a:t>•	Пример:</a:t>
            </a: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A8EF0D-9DAC-4C6A-98E4-E0462E2B6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83162"/>
            <a:ext cx="11562735" cy="95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67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01350-601D-DA02-EEB5-584BFC697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A43C35-9DF8-03EC-CE27-B50DED253207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Инфографика к Слайду 3: Логика назначения статусов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9BA681-9DA3-3162-67F1-2B0535DA3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59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A2C17-9362-C07E-8595-83B85DC70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99EDC5-BAD6-F43C-9EC2-56C6DD251523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Инфографика к Слайду 4: Контейнер безопасности </a:t>
            </a:r>
            <a:r>
              <a:rPr lang="ru-RU" dirty="0" err="1"/>
              <a:t>Try-Catch-Finally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E85C47-CAE2-E9B1-D600-4B91BD8ED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393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F553B-7DFD-EE1C-E09E-153F99A2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67E420-7E2E-330A-5F13-33AA9D84FAD6}"/>
              </a:ext>
            </a:extLst>
          </p:cNvPr>
          <p:cNvSpPr txBox="1"/>
          <p:nvPr/>
        </p:nvSpPr>
        <p:spPr>
          <a:xfrm>
            <a:off x="3150310" y="182880"/>
            <a:ext cx="58609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6. Эксплуатация и безопасность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4BA40-63F0-B9E2-1999-40A6EE1FFB82}"/>
              </a:ext>
            </a:extLst>
          </p:cNvPr>
          <p:cNvSpPr txBox="1"/>
          <p:nvPr/>
        </p:nvSpPr>
        <p:spPr>
          <a:xfrm>
            <a:off x="457200" y="914400"/>
            <a:ext cx="10972800" cy="5633884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3600"/>
            </a:pPr>
            <a:r>
              <a:rPr lang="ru-RU" b="1" dirty="0"/>
              <a:t>Проблема хранения секретов и паролей в коде.</a:t>
            </a:r>
          </a:p>
          <a:p>
            <a:pPr>
              <a:defRPr sz="3600"/>
            </a:pPr>
            <a:r>
              <a:rPr lang="ru-RU" b="1" dirty="0"/>
              <a:t>Безопасность учетных данных (</a:t>
            </a:r>
            <a:r>
              <a:rPr lang="ru-RU" b="1" dirty="0" err="1"/>
              <a:t>Credentials</a:t>
            </a:r>
            <a:r>
              <a:rPr lang="ru-RU" b="1" dirty="0"/>
              <a:t>) в автоматизации.</a:t>
            </a:r>
          </a:p>
          <a:p>
            <a:pPr>
              <a:defRPr sz="3600"/>
            </a:pPr>
            <a:r>
              <a:rPr lang="ru-RU" dirty="0"/>
              <a:t>	Скрипты проверки инфраструктуры работают от имени администратора. </a:t>
            </a:r>
          </a:p>
          <a:p>
            <a:pPr>
              <a:defRPr sz="3600"/>
            </a:pPr>
            <a:r>
              <a:rPr lang="ru-RU" dirty="0"/>
              <a:t>	❌ Главный грех админа: жестко прописывать пароли (</a:t>
            </a:r>
            <a:r>
              <a:rPr lang="ru-RU" dirty="0" err="1"/>
              <a:t>hardcode</a:t>
            </a:r>
            <a:r>
              <a:rPr lang="ru-RU" dirty="0"/>
              <a:t>) текстом внутри кода. </a:t>
            </a:r>
          </a:p>
          <a:p>
            <a:pPr>
              <a:defRPr sz="3600"/>
            </a:pPr>
            <a:r>
              <a:rPr lang="ru-RU" dirty="0"/>
              <a:t>	Такие пароли мгновенно утекают в </a:t>
            </a:r>
            <a:r>
              <a:rPr lang="ru-RU" dirty="0" err="1"/>
              <a:t>Git</a:t>
            </a:r>
            <a:r>
              <a:rPr lang="ru-RU" dirty="0"/>
              <a:t>, видны в логах и отчетах. </a:t>
            </a:r>
          </a:p>
          <a:p>
            <a:pPr>
              <a:defRPr sz="3600"/>
            </a:pPr>
            <a:r>
              <a:rPr lang="ru-RU" dirty="0"/>
              <a:t>	Интерактивная команда Get-</a:t>
            </a:r>
            <a:r>
              <a:rPr lang="ru-RU" dirty="0" err="1"/>
              <a:t>Credential</a:t>
            </a:r>
            <a:r>
              <a:rPr lang="ru-RU" dirty="0"/>
              <a:t> безопасна, но блокирует автозапуск. </a:t>
            </a:r>
          </a:p>
          <a:p>
            <a:pPr>
              <a:defRPr sz="3600"/>
            </a:pPr>
            <a:r>
              <a:rPr lang="ru-RU" dirty="0"/>
              <a:t>	Локальное решение: </a:t>
            </a:r>
            <a:r>
              <a:rPr lang="ru-RU" dirty="0" err="1"/>
              <a:t>Export-Clixml</a:t>
            </a:r>
            <a:r>
              <a:rPr lang="ru-RU" dirty="0"/>
              <a:t> шифрует пароль с помощью ключа DPAPI. </a:t>
            </a:r>
          </a:p>
          <a:p>
            <a:pPr>
              <a:defRPr sz="3600"/>
            </a:pPr>
            <a:r>
              <a:rPr lang="ru-RU" dirty="0"/>
              <a:t>	Такой файл доступен только автору на текущем ПК и не переносится. </a:t>
            </a:r>
          </a:p>
          <a:p>
            <a:pPr>
              <a:defRPr sz="3600"/>
            </a:pPr>
            <a:r>
              <a:rPr lang="ru-RU" dirty="0"/>
              <a:t>	Best </a:t>
            </a:r>
            <a:r>
              <a:rPr lang="ru-RU" dirty="0" err="1"/>
              <a:t>Practice</a:t>
            </a:r>
            <a:r>
              <a:rPr lang="ru-RU" dirty="0"/>
              <a:t>: использование </a:t>
            </a:r>
            <a:r>
              <a:rPr lang="ru-RU" dirty="0" err="1"/>
              <a:t>gMSA</a:t>
            </a:r>
            <a:r>
              <a:rPr lang="ru-RU" dirty="0"/>
              <a:t> (управляемых доменных учеток). </a:t>
            </a:r>
          </a:p>
          <a:p>
            <a:pPr>
              <a:defRPr sz="3600"/>
            </a:pPr>
            <a:r>
              <a:rPr lang="ru-RU" dirty="0"/>
              <a:t>	Пароли </a:t>
            </a:r>
            <a:r>
              <a:rPr lang="ru-RU" dirty="0" err="1"/>
              <a:t>gMSA</a:t>
            </a:r>
            <a:r>
              <a:rPr lang="ru-RU" dirty="0"/>
              <a:t> ротируются самой Active Directory, их нет в коде.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229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9BE11-D475-E42E-A704-62AD374C6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F27239-F895-97C3-DC28-56A8CC02A266}"/>
              </a:ext>
            </a:extLst>
          </p:cNvPr>
          <p:cNvSpPr txBox="1"/>
          <p:nvPr/>
        </p:nvSpPr>
        <p:spPr>
          <a:xfrm>
            <a:off x="457200" y="530942"/>
            <a:ext cx="10972800" cy="588460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3600"/>
            </a:pPr>
            <a:r>
              <a:rPr lang="ru-RU" b="1" dirty="0"/>
              <a:t>Настройка планировщика задач (Task </a:t>
            </a:r>
            <a:r>
              <a:rPr lang="ru-RU" b="1" dirty="0" err="1"/>
              <a:t>Scheduler</a:t>
            </a:r>
            <a:r>
              <a:rPr lang="ru-RU" b="1" dirty="0"/>
              <a:t>)</a:t>
            </a:r>
          </a:p>
          <a:p>
            <a:pPr>
              <a:defRPr sz="3600"/>
            </a:pPr>
            <a:r>
              <a:rPr lang="ru-RU" b="1" dirty="0"/>
              <a:t>Автономный запуск скриптов по расписанию</a:t>
            </a:r>
          </a:p>
          <a:p>
            <a:pPr>
              <a:defRPr sz="3600"/>
            </a:pPr>
            <a:r>
              <a:rPr lang="ru-RU" dirty="0"/>
              <a:t>	Для регулярного аудита скрипт настраивается в </a:t>
            </a:r>
            <a:r>
              <a:rPr lang="en-US" dirty="0"/>
              <a:t>Task Scheduler. </a:t>
            </a:r>
          </a:p>
          <a:p>
            <a:pPr>
              <a:defRPr sz="3600"/>
            </a:pPr>
            <a:r>
              <a:rPr lang="en-US" dirty="0"/>
              <a:t>	</a:t>
            </a:r>
            <a:r>
              <a:rPr lang="ru-RU" dirty="0"/>
              <a:t>В поле </a:t>
            </a:r>
            <a:r>
              <a:rPr lang="en-US" dirty="0"/>
              <a:t>Program/script </a:t>
            </a:r>
            <a:r>
              <a:rPr lang="ru-RU" dirty="0"/>
              <a:t>указывается путь к </a:t>
            </a:r>
            <a:r>
              <a:rPr lang="en-US" dirty="0"/>
              <a:t>powershell.exe. </a:t>
            </a:r>
          </a:p>
          <a:p>
            <a:pPr>
              <a:defRPr sz="3600"/>
            </a:pPr>
            <a:r>
              <a:rPr lang="en-US" dirty="0"/>
              <a:t>	⚠️ </a:t>
            </a:r>
            <a:r>
              <a:rPr lang="ru-RU" dirty="0"/>
              <a:t>Важные аргументы запуска (</a:t>
            </a:r>
            <a:r>
              <a:rPr lang="en-US" dirty="0"/>
              <a:t>Arguments):</a:t>
            </a:r>
          </a:p>
          <a:p>
            <a:pPr>
              <a:defRPr sz="3600"/>
            </a:pPr>
            <a:r>
              <a:rPr lang="en-US" dirty="0"/>
              <a:t>-</a:t>
            </a:r>
            <a:r>
              <a:rPr lang="en-US" dirty="0" err="1"/>
              <a:t>NoProfile</a:t>
            </a:r>
            <a:r>
              <a:rPr lang="en-US" dirty="0"/>
              <a:t> -</a:t>
            </a:r>
            <a:r>
              <a:rPr lang="en-US" dirty="0" err="1"/>
              <a:t>NonInteractive</a:t>
            </a:r>
            <a:r>
              <a:rPr lang="en-US" dirty="0"/>
              <a:t> -</a:t>
            </a:r>
            <a:r>
              <a:rPr lang="en-US" dirty="0" err="1"/>
              <a:t>ExecutionPolicy</a:t>
            </a:r>
            <a:r>
              <a:rPr lang="en-US" dirty="0"/>
              <a:t> </a:t>
            </a:r>
            <a:r>
              <a:rPr lang="en-US" dirty="0" err="1"/>
              <a:t>RemoteSigned</a:t>
            </a:r>
            <a:r>
              <a:rPr lang="en-US" dirty="0"/>
              <a:t> -File "C:\Scripts\Check.ps1"</a:t>
            </a:r>
          </a:p>
          <a:p>
            <a:pPr>
              <a:defRPr sz="3600"/>
            </a:pPr>
            <a:r>
              <a:rPr lang="en-US" dirty="0"/>
              <a:t>	</a:t>
            </a:r>
            <a:r>
              <a:rPr lang="ru-RU" dirty="0"/>
              <a:t>Флаг -</a:t>
            </a:r>
            <a:r>
              <a:rPr lang="en-US" dirty="0" err="1"/>
              <a:t>NoProfile</a:t>
            </a:r>
            <a:r>
              <a:rPr lang="en-US" dirty="0"/>
              <a:t> </a:t>
            </a:r>
            <a:r>
              <a:rPr lang="ru-RU" dirty="0"/>
              <a:t>ускоряет запуск, игнорируя профили пользователей.</a:t>
            </a:r>
          </a:p>
          <a:p>
            <a:pPr>
              <a:defRPr sz="3600"/>
            </a:pPr>
            <a:r>
              <a:rPr lang="ru-RU" dirty="0"/>
              <a:t>	Флаг -</a:t>
            </a:r>
            <a:r>
              <a:rPr lang="en-US" dirty="0" err="1"/>
              <a:t>NonInteractive</a:t>
            </a:r>
            <a:r>
              <a:rPr lang="en-US" dirty="0"/>
              <a:t> </a:t>
            </a:r>
            <a:r>
              <a:rPr lang="ru-RU" dirty="0"/>
              <a:t>запрещает скрипту всплывать с окнами ввода.</a:t>
            </a:r>
          </a:p>
          <a:p>
            <a:pPr>
              <a:defRPr sz="3600"/>
            </a:pPr>
            <a:r>
              <a:rPr lang="ru-RU" dirty="0"/>
              <a:t>	Обязательно заполняйте поле </a:t>
            </a:r>
            <a:r>
              <a:rPr lang="en-US" dirty="0"/>
              <a:t>Start in (</a:t>
            </a:r>
            <a:r>
              <a:rPr lang="ru-RU" dirty="0"/>
              <a:t>Рабочая папка). </a:t>
            </a:r>
          </a:p>
          <a:p>
            <a:pPr>
              <a:defRPr sz="3600"/>
            </a:pPr>
            <a:r>
              <a:rPr lang="ru-RU" dirty="0"/>
              <a:t>	Без него относительные пути вроде .\</a:t>
            </a:r>
            <a:r>
              <a:rPr lang="en-US" dirty="0"/>
              <a:t>servers.csv </a:t>
            </a:r>
            <a:r>
              <a:rPr lang="ru-RU" dirty="0"/>
              <a:t>сломаются.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2039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27CC7-9BB9-8E55-76D8-CD15EC11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DAB06A-CCC2-8886-C6F0-4890E64F6428}"/>
              </a:ext>
            </a:extLst>
          </p:cNvPr>
          <p:cNvSpPr txBox="1"/>
          <p:nvPr/>
        </p:nvSpPr>
        <p:spPr>
          <a:xfrm>
            <a:off x="457200" y="368709"/>
            <a:ext cx="10972800" cy="6076335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3600"/>
            </a:pPr>
            <a:r>
              <a:rPr lang="ru-RU" b="1" dirty="0"/>
              <a:t>Коды возврата и отслеживание сбоев.</a:t>
            </a:r>
          </a:p>
          <a:p>
            <a:pPr>
              <a:defRPr sz="3600"/>
            </a:pPr>
            <a:r>
              <a:rPr lang="ru-RU" b="1" dirty="0"/>
              <a:t>Логика </a:t>
            </a:r>
            <a:r>
              <a:rPr lang="ru-RU" b="1" dirty="0" err="1"/>
              <a:t>Exit</a:t>
            </a:r>
            <a:r>
              <a:rPr lang="ru-RU" b="1" dirty="0"/>
              <a:t> </a:t>
            </a:r>
            <a:r>
              <a:rPr lang="ru-RU" b="1" dirty="0" err="1"/>
              <a:t>Codes</a:t>
            </a:r>
            <a:r>
              <a:rPr lang="ru-RU" b="1" dirty="0"/>
              <a:t> для внешних систем мониторинга.</a:t>
            </a:r>
          </a:p>
          <a:p>
            <a:pPr>
              <a:defRPr sz="3600"/>
            </a:pPr>
            <a:r>
              <a:rPr lang="ru-RU" dirty="0"/>
              <a:t>	Внешние планировщики и системы мониторинга не умеют читать HTML-отчеты.</a:t>
            </a:r>
          </a:p>
          <a:p>
            <a:pPr>
              <a:defRPr sz="3600"/>
            </a:pPr>
            <a:r>
              <a:rPr lang="ru-RU" dirty="0"/>
              <a:t>	Они определяют статус выполнения по цифровому коду возврата (</a:t>
            </a:r>
            <a:r>
              <a:rPr lang="ru-RU" dirty="0" err="1"/>
              <a:t>Exit</a:t>
            </a:r>
            <a:r>
              <a:rPr lang="ru-RU" dirty="0"/>
              <a:t> Code). </a:t>
            </a:r>
          </a:p>
          <a:p>
            <a:pPr>
              <a:defRPr sz="3600"/>
            </a:pPr>
            <a:r>
              <a:rPr lang="ru-RU" dirty="0"/>
              <a:t>	В конце скрипта сисадмин должен явно прописать логику завершения (</a:t>
            </a:r>
            <a:r>
              <a:rPr lang="ru-RU" dirty="0" err="1"/>
              <a:t>exit</a:t>
            </a:r>
            <a:r>
              <a:rPr lang="ru-RU" dirty="0"/>
              <a:t>). </a:t>
            </a:r>
          </a:p>
          <a:p>
            <a:pPr>
              <a:defRPr sz="3600"/>
            </a:pPr>
            <a:r>
              <a:rPr lang="ru-RU" dirty="0"/>
              <a:t>	Стандартная схема кодов для инфраструктурного скрипта: </a:t>
            </a:r>
          </a:p>
          <a:p>
            <a:pPr>
              <a:defRPr sz="3600"/>
            </a:pPr>
            <a:r>
              <a:rPr lang="ru-RU" dirty="0"/>
              <a:t>	</a:t>
            </a:r>
            <a:r>
              <a:rPr lang="ru-RU" dirty="0" err="1"/>
              <a:t>exit</a:t>
            </a:r>
            <a:r>
              <a:rPr lang="ru-RU" dirty="0"/>
              <a:t> 0 → Инфраструктура полностью здорова (OK). </a:t>
            </a:r>
          </a:p>
          <a:p>
            <a:pPr>
              <a:defRPr sz="3600"/>
            </a:pPr>
            <a:r>
              <a:rPr lang="ru-RU" dirty="0"/>
              <a:t>	</a:t>
            </a:r>
            <a:r>
              <a:rPr lang="ru-RU" dirty="0" err="1"/>
              <a:t>exit</a:t>
            </a:r>
            <a:r>
              <a:rPr lang="ru-RU" dirty="0"/>
              <a:t> 1 → Обнаружены предупреждения (WARNING). </a:t>
            </a:r>
          </a:p>
          <a:p>
            <a:pPr>
              <a:defRPr sz="3600"/>
            </a:pPr>
            <a:r>
              <a:rPr lang="ru-RU" dirty="0"/>
              <a:t>	</a:t>
            </a:r>
            <a:r>
              <a:rPr lang="ru-RU" dirty="0" err="1"/>
              <a:t>exit</a:t>
            </a:r>
            <a:r>
              <a:rPr lang="ru-RU" dirty="0"/>
              <a:t> 2 → Зафиксирован критический сбой (CRITICAL). </a:t>
            </a:r>
          </a:p>
          <a:p>
            <a:pPr>
              <a:defRPr sz="3600"/>
            </a:pPr>
            <a:r>
              <a:rPr lang="ru-RU" dirty="0"/>
              <a:t>	</a:t>
            </a:r>
            <a:r>
              <a:rPr lang="ru-RU" dirty="0" err="1"/>
              <a:t>exit</a:t>
            </a:r>
            <a:r>
              <a:rPr lang="ru-RU" dirty="0"/>
              <a:t> 3 → Ошибка самого скрипта или CSV-файла (UNKNOWN). </a:t>
            </a:r>
          </a:p>
          <a:p>
            <a:pPr>
              <a:defRPr sz="3600"/>
            </a:pPr>
            <a:r>
              <a:rPr lang="ru-RU" dirty="0"/>
              <a:t>	Это позволяет </a:t>
            </a:r>
            <a:r>
              <a:rPr lang="ru-RU" dirty="0" err="1"/>
              <a:t>Zabbix</a:t>
            </a:r>
            <a:r>
              <a:rPr lang="ru-RU" dirty="0"/>
              <a:t> или </a:t>
            </a:r>
            <a:r>
              <a:rPr lang="ru-RU" dirty="0" err="1"/>
              <a:t>Nagios</a:t>
            </a:r>
            <a:r>
              <a:rPr lang="ru-RU" dirty="0"/>
              <a:t> мгновенно реагировать на результат.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0303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2AFBA-9B0B-47A2-5263-6E488D8C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6B5154-7009-4081-8746-1C2FD5FC46A7}"/>
              </a:ext>
            </a:extLst>
          </p:cNvPr>
          <p:cNvSpPr txBox="1"/>
          <p:nvPr/>
        </p:nvSpPr>
        <p:spPr>
          <a:xfrm>
            <a:off x="457200" y="383457"/>
            <a:ext cx="10972800" cy="6120581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defRPr sz="3600"/>
            </a:pPr>
            <a:r>
              <a:rPr lang="ru-RU" b="1" dirty="0"/>
              <a:t>Правила гигиены при работе с </a:t>
            </a:r>
            <a:r>
              <a:rPr lang="ru-RU" b="1" dirty="0" err="1"/>
              <a:t>Git</a:t>
            </a:r>
            <a:r>
              <a:rPr lang="ru-RU" b="1" dirty="0"/>
              <a:t>.</a:t>
            </a:r>
          </a:p>
          <a:p>
            <a:pPr>
              <a:defRPr sz="3600"/>
            </a:pPr>
            <a:r>
              <a:rPr lang="ru-RU" b="1" dirty="0"/>
              <a:t>Контроль версий скриптов без утечки данных.</a:t>
            </a:r>
          </a:p>
          <a:p>
            <a:pPr>
              <a:defRPr sz="3600"/>
            </a:pPr>
            <a:r>
              <a:rPr lang="ru-RU" dirty="0"/>
              <a:t>	Код автоматизации должен храниться в репозитории </a:t>
            </a:r>
            <a:r>
              <a:rPr lang="ru-RU" dirty="0" err="1"/>
              <a:t>Git</a:t>
            </a:r>
            <a:r>
              <a:rPr lang="ru-RU" dirty="0"/>
              <a:t>. </a:t>
            </a:r>
          </a:p>
          <a:p>
            <a:pPr>
              <a:defRPr sz="3600"/>
            </a:pPr>
            <a:r>
              <a:rPr lang="ru-RU" dirty="0"/>
              <a:t>	В </a:t>
            </a:r>
            <a:r>
              <a:rPr lang="ru-RU" dirty="0" err="1"/>
              <a:t>Git</a:t>
            </a:r>
            <a:r>
              <a:rPr lang="ru-RU" dirty="0"/>
              <a:t> отправляется только чистая логика кода и README.md. </a:t>
            </a:r>
          </a:p>
          <a:p>
            <a:pPr>
              <a:defRPr sz="3600"/>
            </a:pPr>
            <a:r>
              <a:rPr lang="ru-RU" dirty="0"/>
              <a:t>	Файл .</a:t>
            </a:r>
            <a:r>
              <a:rPr lang="ru-RU" dirty="0" err="1"/>
              <a:t>gitignore</a:t>
            </a:r>
            <a:r>
              <a:rPr lang="ru-RU" dirty="0"/>
              <a:t>: главный инструмент защиты репозитория. </a:t>
            </a:r>
          </a:p>
          <a:p>
            <a:pPr>
              <a:defRPr sz="3600"/>
            </a:pPr>
            <a:r>
              <a:rPr lang="ru-RU" dirty="0"/>
              <a:t>	Он должен жестко блокировать попадание отчетов и логов в сеть. </a:t>
            </a:r>
          </a:p>
          <a:p>
            <a:pPr>
              <a:defRPr sz="3600"/>
            </a:pPr>
            <a:r>
              <a:rPr lang="ru-RU" dirty="0"/>
              <a:t>	Шаблон правильного .</a:t>
            </a:r>
            <a:r>
              <a:rPr lang="ru-RU" dirty="0" err="1"/>
              <a:t>gitignore</a:t>
            </a:r>
            <a:r>
              <a:rPr lang="ru-RU" dirty="0"/>
              <a:t> для проекта: 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	Помните: .</a:t>
            </a:r>
            <a:r>
              <a:rPr lang="ru-RU" dirty="0" err="1"/>
              <a:t>gitignore</a:t>
            </a:r>
            <a:r>
              <a:rPr lang="ru-RU" dirty="0"/>
              <a:t> не удалит пароль, если он уже попал в историю коммитов. 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062FC4-6CDE-D758-E7B6-DDCE2C56C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738" y="3852862"/>
            <a:ext cx="9434359" cy="15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963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DE75D-EB5E-C23C-E814-D178056D5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4A7316-959D-16BC-2E0E-74150AD8611D}"/>
              </a:ext>
            </a:extLst>
          </p:cNvPr>
          <p:cNvSpPr txBox="1"/>
          <p:nvPr/>
        </p:nvSpPr>
        <p:spPr>
          <a:xfrm>
            <a:off x="4828366" y="182880"/>
            <a:ext cx="25047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1. PowerShell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BE08B-9B52-6D26-5173-CDC30308B182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Пирамида зрелости хранения секретов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BD6234-9CE6-AC03-CAD5-5D40DBF12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753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93C8C-9C6E-3751-68A6-F28BB6FFC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8502AD-28F5-376C-4D88-1C2F83D28B83}"/>
              </a:ext>
            </a:extLst>
          </p:cNvPr>
          <p:cNvSpPr txBox="1"/>
          <p:nvPr/>
        </p:nvSpPr>
        <p:spPr>
          <a:xfrm>
            <a:off x="4828366" y="182880"/>
            <a:ext cx="25047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1. PowerShell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74C71-E7FA-26A2-7B2F-AB9B1DB29D73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Граница безопасности репозитория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ED3C96-73E7-B3F7-B0A7-4ACD3E624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115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PowerShell </a:t>
            </a:r>
            <a:r>
              <a:rPr dirty="0" err="1"/>
              <a:t>работает</a:t>
            </a:r>
            <a:r>
              <a:rPr dirty="0"/>
              <a:t> с </a:t>
            </a:r>
            <a:r>
              <a:rPr dirty="0" err="1"/>
              <a:t>объектами</a:t>
            </a:r>
            <a:r>
              <a:rPr dirty="0"/>
              <a:t> .NET,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фильтровать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разбора</a:t>
            </a:r>
            <a:r>
              <a:rPr dirty="0"/>
              <a:t> </a:t>
            </a:r>
            <a:r>
              <a:rPr dirty="0" err="1"/>
              <a:t>текста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`Get-Command`, `Get-Help` и `Get-Member` </a:t>
            </a:r>
            <a:r>
              <a:rPr dirty="0" err="1"/>
              <a:t>позволяют</a:t>
            </a:r>
            <a:r>
              <a:rPr dirty="0"/>
              <a:t> </a:t>
            </a:r>
            <a:r>
              <a:rPr dirty="0" err="1"/>
              <a:t>самостоятельно</a:t>
            </a:r>
            <a:r>
              <a:rPr dirty="0"/>
              <a:t> </a:t>
            </a:r>
            <a:r>
              <a:rPr dirty="0" err="1"/>
              <a:t>изучать</a:t>
            </a:r>
            <a:r>
              <a:rPr dirty="0"/>
              <a:t> </a:t>
            </a:r>
            <a:r>
              <a:rPr dirty="0" err="1"/>
              <a:t>команды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Pipeline </a:t>
            </a:r>
            <a:r>
              <a:rPr dirty="0" err="1"/>
              <a:t>объединяет</a:t>
            </a:r>
            <a:r>
              <a:rPr dirty="0"/>
              <a:t> </a:t>
            </a:r>
            <a:r>
              <a:rPr dirty="0" err="1"/>
              <a:t>простые</a:t>
            </a:r>
            <a:r>
              <a:rPr dirty="0"/>
              <a:t> </a:t>
            </a:r>
            <a:r>
              <a:rPr dirty="0" err="1"/>
              <a:t>командлеты</a:t>
            </a:r>
            <a:r>
              <a:rPr dirty="0"/>
              <a:t> в </a:t>
            </a:r>
            <a:r>
              <a:rPr dirty="0" err="1"/>
              <a:t>полноценную</a:t>
            </a:r>
            <a:r>
              <a:rPr dirty="0"/>
              <a:t> </a:t>
            </a:r>
            <a:r>
              <a:rPr dirty="0" err="1"/>
              <a:t>административную</a:t>
            </a:r>
            <a:r>
              <a:rPr dirty="0"/>
              <a:t> </a:t>
            </a:r>
            <a:r>
              <a:rPr dirty="0" err="1"/>
              <a:t>проверку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Безопасная</a:t>
            </a:r>
            <a:r>
              <a:rPr dirty="0"/>
              <a:t> </a:t>
            </a:r>
            <a:r>
              <a:rPr dirty="0" err="1"/>
              <a:t>автоматизация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обработки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, </a:t>
            </a:r>
            <a:r>
              <a:rPr dirty="0" err="1"/>
              <a:t>статуса</a:t>
            </a:r>
            <a:r>
              <a:rPr dirty="0"/>
              <a:t> UNKNOWN, </a:t>
            </a:r>
            <a:r>
              <a:rPr dirty="0" err="1"/>
              <a:t>минимальных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, Exit Codes и </a:t>
            </a:r>
            <a:r>
              <a:rPr dirty="0" err="1"/>
              <a:t>отсутствия</a:t>
            </a:r>
            <a:r>
              <a:rPr dirty="0"/>
              <a:t> </a:t>
            </a:r>
            <a:r>
              <a:rPr dirty="0" err="1"/>
              <a:t>секретов</a:t>
            </a:r>
            <a:r>
              <a:rPr dirty="0"/>
              <a:t> в </a:t>
            </a:r>
            <a:r>
              <a:rPr dirty="0" err="1"/>
              <a:t>коде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вопросы: основы и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76072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PowerShell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CMD?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передаётся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PowerShell pipeline?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каких</a:t>
            </a:r>
            <a:r>
              <a:rPr dirty="0"/>
              <a:t> </a:t>
            </a:r>
            <a:r>
              <a:rPr dirty="0" err="1"/>
              <a:t>частей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командлета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используются</a:t>
            </a:r>
            <a:r>
              <a:rPr dirty="0"/>
              <a:t> `Get-Command`, `Get-Help` и `Get-Member`?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`$_`?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`Where-Object`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`Select-Object`?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`Format-Table` </a:t>
            </a:r>
            <a:r>
              <a:rPr dirty="0" err="1"/>
              <a:t>используют</a:t>
            </a:r>
            <a:r>
              <a:rPr dirty="0"/>
              <a:t> в </a:t>
            </a:r>
            <a:r>
              <a:rPr dirty="0" err="1"/>
              <a:t>конце</a:t>
            </a:r>
            <a:r>
              <a:rPr dirty="0"/>
              <a:t> pipeline?</a:t>
            </a:r>
            <a:endParaRPr lang="ru-RU" dirty="0"/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Почему </a:t>
            </a:r>
            <a:r>
              <a:rPr lang="ru-RU" dirty="0" err="1"/>
              <a:t>ping</a:t>
            </a:r>
            <a:r>
              <a:rPr lang="ru-RU" dirty="0"/>
              <a:t> не доказывает доступность службы?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Для чего используется `Test-</a:t>
            </a:r>
            <a:r>
              <a:rPr lang="ru-RU" dirty="0" err="1"/>
              <a:t>WSMan</a:t>
            </a:r>
            <a:r>
              <a:rPr lang="ru-RU" dirty="0"/>
              <a:t>`?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Почему `</a:t>
            </a:r>
            <a:r>
              <a:rPr lang="ru-RU" dirty="0" err="1"/>
              <a:t>try</a:t>
            </a:r>
            <a:r>
              <a:rPr lang="ru-RU" dirty="0"/>
              <a:t>/</a:t>
            </a:r>
            <a:r>
              <a:rPr lang="ru-RU" dirty="0" err="1"/>
              <a:t>catch</a:t>
            </a:r>
            <a:r>
              <a:rPr lang="ru-RU" dirty="0"/>
              <a:t>` требует `-</a:t>
            </a:r>
            <a:r>
              <a:rPr lang="ru-RU" dirty="0" err="1"/>
              <a:t>ErrorAction</a:t>
            </a:r>
            <a:r>
              <a:rPr lang="ru-RU" dirty="0"/>
              <a:t> Stop`?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Зачем нужен статус UNKNOWN?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Почему функция должна возвращать объект, а не текст?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Почему пароль нельзя хранить в скрипте?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Для чего Task </a:t>
            </a:r>
            <a:r>
              <a:rPr lang="ru-RU" dirty="0" err="1"/>
              <a:t>Scheduler</a:t>
            </a:r>
            <a:r>
              <a:rPr lang="ru-RU" dirty="0"/>
              <a:t> нужен </a:t>
            </a:r>
            <a:r>
              <a:rPr lang="ru-RU" dirty="0" err="1"/>
              <a:t>Exit</a:t>
            </a:r>
            <a:r>
              <a:rPr lang="ru-RU" dirty="0"/>
              <a:t> Code?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Что должно находиться в `.</a:t>
            </a:r>
            <a:r>
              <a:rPr lang="ru-RU" dirty="0" err="1"/>
              <a:t>gitignore</a:t>
            </a:r>
            <a:r>
              <a:rPr lang="ru-RU" dirty="0"/>
              <a:t>`?</a:t>
            </a:r>
          </a:p>
          <a:p>
            <a:pPr marL="742950" indent="-742950">
              <a:buFont typeface="+mj-lt"/>
              <a:buAutoNum type="arabicPeriod"/>
              <a:defRPr sz="36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3107</Words>
  <Application>Microsoft Office PowerPoint</Application>
  <PresentationFormat>Широкоэкранный</PresentationFormat>
  <Paragraphs>248</Paragraphs>
  <Slides>43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2026-07-31T07:47:45Z</dcterms:modified>
  <cp:category/>
</cp:coreProperties>
</file>