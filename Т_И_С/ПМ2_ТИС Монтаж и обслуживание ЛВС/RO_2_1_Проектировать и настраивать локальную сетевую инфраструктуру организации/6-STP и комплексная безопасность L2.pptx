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6. Протокол STP и комплексная безопасность 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почему избыточные L2-соединения создают риск коммутационных петель</a:t>
            </a:r>
          </a:p>
          <a:p>
            <a:pPr>
              <a:defRPr sz="3600"/>
            </a:pPr>
            <a:r>
              <a:t>Объяснять выбор Root Bridge и роли портов STP</a:t>
            </a:r>
          </a:p>
          <a:p>
            <a:pPr>
              <a:defRPr sz="3600"/>
            </a:pPr>
            <a:r>
              <a:t>Настраивать Rapid PVST+ и базовые механизмы защиты STP</a:t>
            </a:r>
          </a:p>
          <a:p>
            <a:pPr>
              <a:defRPr sz="3600"/>
            </a:pPr>
            <a:r>
              <a:t>Понимать назначение DHCP Snooping и Dynamic ARP Inspection для защиты канального уровня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Петли коммутации, широковещательный шторм и нестабильность таблицы MAC-адресов</a:t>
            </a:r>
          </a:p>
          <a:p>
            <a:pPr>
              <a:defRPr sz="3600"/>
            </a:pPr>
            <a:r>
              <a:t>2. Алгоритм STP: выбор Root Bridge, роли и состояния портов</a:t>
            </a:r>
          </a:p>
          <a:p>
            <a:pPr>
              <a:defRPr sz="3600"/>
            </a:pPr>
            <a:r>
              <a:t>3. Стандарт Rapid PVST+ IEEE 802.1w</a:t>
            </a:r>
          </a:p>
          <a:p>
            <a:pPr>
              <a:defRPr sz="3600"/>
            </a:pPr>
            <a:r>
              <a:t>4. Защита инфраструктуры коммутации: PortFast, BPDU Guard, BPDU Filter, Root Guard, Loop Guard</a:t>
            </a:r>
          </a:p>
          <a:p>
            <a:pPr>
              <a:defRPr sz="3600"/>
            </a:pPr>
            <a:r>
              <a:t>5. Защита от L2-атак: DHCP Snooping, Rogue DHCP, Dynamic ARP Inspection и ARP-spoofing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Избыточность без контроля превращается в L2-петлю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L2-петля возникает, когда кадры Ethernet могут бесконечно циркулировать между коммутаторами</a:t>
            </a:r>
          </a:p>
          <a:p>
            <a:pPr>
              <a:defRPr sz="3600"/>
            </a:pPr>
            <a:r>
              <a:t>Ethernet-кадр не имеет поля TTL, поэтому сам по себе не исчезает из петли</a:t>
            </a:r>
          </a:p>
          <a:p>
            <a:pPr>
              <a:defRPr sz="3600"/>
            </a:pPr>
            <a:r>
              <a:t>Избыточные связи нужны для отказоустойчивости, но должны управляться протоколом предотвращения петель</a:t>
            </a:r>
          </a:p>
          <a:p>
            <a:pPr>
              <a:defRPr sz="3600"/>
            </a:pPr>
            <a:r>
              <a:t>STP (Spanning Tree Protocol) — протокол, который строит петлевую L2-топологию без активных петель</a:t>
            </a:r>
          </a:p>
          <a:p>
            <a:pPr>
              <a:defRPr sz="3600"/>
            </a:pPr>
            <a:r>
              <a:t>Задача STP — оставить резервные пути, но временно заблокировать лишние направления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Широковещательный шторм быстро перегружает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Broadcast flood — массовое распространение широковещательных кадров по всем портам VLAN</a:t>
            </a:r>
          </a:p>
          <a:p>
            <a:pPr>
              <a:defRPr sz="3600"/>
            </a:pPr>
            <a:r>
              <a:t>В петле broadcast-кадры копируются снова и снова, занимая полосу и процессорное время устройств</a:t>
            </a:r>
          </a:p>
          <a:p>
            <a:pPr>
              <a:defRPr sz="3600"/>
            </a:pPr>
            <a:r>
              <a:t>Пользователи видят потерю связи, задержки, невозможность получить DHCP-адрес и обрывы сервисов</a:t>
            </a:r>
          </a:p>
          <a:p>
            <a:pPr>
              <a:defRPr sz="3600"/>
            </a:pPr>
            <a:r>
              <a:t>Коммутаторы могут перестать отвечать на управление из-за перегрузки контрольной плоскости</a:t>
            </a:r>
          </a:p>
          <a:p>
            <a:pPr>
              <a:defRPr sz="3600"/>
            </a:pPr>
            <a:r>
              <a:t>Поэтому петля L2 считается одной из самых опасных ошибок в коммутационной сети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Нестабильность MAC-таблицы указывает на петлю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MAC-таблица должна связывать MAC-адрес с одним ожидаемым портом внутри VLAN</a:t>
            </a:r>
          </a:p>
          <a:p>
            <a:pPr>
              <a:defRPr sz="3600"/>
            </a:pPr>
            <a:r>
              <a:t>При петле один и тот же MAC-адрес может постоянно появляться на разных портах</a:t>
            </a:r>
          </a:p>
          <a:p>
            <a:pPr>
              <a:defRPr sz="3600"/>
            </a:pPr>
            <a:r>
              <a:t>Такое состояние называют MAC flapping или нестабильностью CAM-таблицы</a:t>
            </a:r>
          </a:p>
          <a:p>
            <a:pPr>
              <a:defRPr sz="3600"/>
            </a:pPr>
            <a:r>
              <a:t>Признаки видны в логах коммутатора и в изменяющемся выводе show mac address-table</a:t>
            </a:r>
          </a:p>
          <a:p>
            <a:pPr>
              <a:defRPr sz="3600"/>
            </a:pPr>
            <a:r>
              <a:t>Если MAC-адрес прыгает между uplink-портами, нужно срочно проверить L2-топологию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L2-петля и широковещательный шторм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9D8450-0884-CCC7-54FA-A2247302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STP выбирает один логический путь через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STP строит дерево без петель внутри каждого широковещательного домена</a:t>
            </a:r>
          </a:p>
          <a:p>
            <a:pPr>
              <a:defRPr sz="3600"/>
            </a:pPr>
            <a:r>
              <a:t>Root Bridge — корневой коммутатор, относительно которого рассчитываются лучшие пути</a:t>
            </a:r>
          </a:p>
          <a:p>
            <a:pPr>
              <a:defRPr sz="3600"/>
            </a:pPr>
            <a:r>
              <a:t>Все остальные коммутаторы выбирают лучший путь к Root Bridge</a:t>
            </a:r>
          </a:p>
          <a:p>
            <a:pPr>
              <a:defRPr sz="3600"/>
            </a:pPr>
            <a:r>
              <a:t>Избыточные порты, которые могли бы создать петлю, переводятся в блокирующее состояние</a:t>
            </a:r>
          </a:p>
          <a:p>
            <a:pPr>
              <a:defRPr sz="3600"/>
            </a:pPr>
            <a:r>
              <a:t>Правильный выбор Root Bridge должен быть управляемым, а не случайным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BPDU передает служебную информацию STP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BPDU (Bridge Protocol Data Unit) — служебный кадр STP для обмена информацией между коммутаторами</a:t>
            </a:r>
          </a:p>
          <a:p>
            <a:pPr>
              <a:defRPr sz="3600"/>
            </a:pPr>
            <a:r>
              <a:t>Через BPDU коммутаторы узнают Bridge ID соседей и параметры выбора корня</a:t>
            </a:r>
          </a:p>
          <a:p>
            <a:pPr>
              <a:defRPr sz="3600"/>
            </a:pPr>
            <a:r>
              <a:t>Bridge ID включает приоритет коммутатора и MAC-адрес</a:t>
            </a:r>
          </a:p>
          <a:p>
            <a:pPr>
              <a:defRPr sz="3600"/>
            </a:pPr>
            <a:r>
              <a:t>Коммутатор с наименьшим Bridge ID становится Root Bridge</a:t>
            </a:r>
          </a:p>
          <a:p>
            <a:pPr>
              <a:defRPr sz="3600"/>
            </a:pPr>
            <a:r>
              <a:t>Если приоритеты одинаковые, решающим становится MAC-адрес, что редко совпадает с проектной логикой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Выбор Root Bridge нужно задавать вручную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Коммутатор распределения обычно лучше подходит на роль Root Bridge, чем коммутатор доступа</a:t>
            </a:r>
          </a:p>
          <a:p>
            <a:pPr>
              <a:defRPr sz="3600"/>
            </a:pPr>
            <a:r>
              <a:t>Команда spanning-tree vlan 10 root primary автоматически снижает приоритет для VLAN 10</a:t>
            </a:r>
          </a:p>
          <a:p>
            <a:pPr>
              <a:defRPr sz="3600"/>
            </a:pPr>
            <a:r>
              <a:t>Команда spanning-tree vlan 10 root secondary задает резервного кандидата</a:t>
            </a:r>
          </a:p>
          <a:p>
            <a:pPr>
              <a:defRPr sz="3600"/>
            </a:pPr>
            <a:r>
              <a:t>Макрос root primary обычно снижает приоритет до 24576, а root secondary — до 28672 при дефолтном корне</a:t>
            </a:r>
          </a:p>
          <a:p>
            <a:pPr>
              <a:defRPr sz="3600"/>
            </a:pPr>
            <a:r>
              <a:t>Для жесткой фиксации дизайна можно указать число явно: spanning-tree vlan 10 priority 4096</a:t>
            </a:r>
          </a:p>
          <a:p>
            <a:pPr>
              <a:defRPr sz="3600"/>
            </a:pPr>
            <a:r>
              <a:t>Пример: SW-DIST-01 становится root primary для VLAN 10, а SW-DIST-02 — root secondary</a:t>
            </a:r>
          </a:p>
          <a:p>
            <a:pPr>
              <a:defRPr sz="3600"/>
            </a:pPr>
            <a:r>
              <a:t>Результат проверяется show spanning-tree vlan 10: в выводе должно быть This bridge is the root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Роли портов показывают место порта в дереве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Root Port — порт некорневого коммутатора с лучшим путем к Root Bridge</a:t>
            </a:r>
          </a:p>
          <a:p>
            <a:pPr>
              <a:defRPr sz="3600"/>
            </a:pPr>
            <a:r>
              <a:t>Designated Port — порт сегмента, который пересылает трафик в сторону этого сегмента</a:t>
            </a:r>
          </a:p>
          <a:p>
            <a:pPr>
              <a:defRPr sz="3600"/>
            </a:pPr>
            <a:r>
              <a:t>Blocking или Alternate Port — резервный порт, который не пересылает обычный трафик, чтобы не создать петлю</a:t>
            </a:r>
          </a:p>
          <a:p>
            <a:pPr>
              <a:defRPr sz="3600"/>
            </a:pPr>
            <a:r>
              <a:t>На Root Bridge все рабочие порты обычно являются Designated</a:t>
            </a:r>
          </a:p>
          <a:p>
            <a:pPr>
              <a:defRPr sz="3600"/>
            </a:pPr>
            <a:r>
              <a:t>Команда show spanning-tree показывает роли портов для каждой VLAN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портов объясняют задержку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Классический STP проходит состояния Blocking, Listening, Learning и Forwarding</a:t>
            </a:r>
          </a:p>
          <a:p>
            <a:pPr>
              <a:defRPr sz="3600"/>
            </a:pPr>
            <a:r>
              <a:t>В состоянии Learning коммутатор изучает MAC-адреса, но еще не пересылает пользовательский трафик</a:t>
            </a:r>
          </a:p>
          <a:p>
            <a:pPr>
              <a:defRPr sz="3600"/>
            </a:pPr>
            <a:r>
              <a:t>Forwarding означает, что порт пересылает кадры и участвует в рабочей топологии</a:t>
            </a:r>
          </a:p>
          <a:p>
            <a:pPr>
              <a:defRPr sz="3600"/>
            </a:pPr>
            <a:r>
              <a:t>Из-за переходных состояний классический STP может восстанавливаться медленно</a:t>
            </a:r>
          </a:p>
          <a:p>
            <a:pPr>
              <a:defRPr sz="3600"/>
            </a:pPr>
            <a:r>
              <a:t>Именно поэтому в современных сетях используют Rapid STP и Rapid PVST+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выбор Root Bridge и ролей портов STP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05516C-77FC-280B-BFB1-95EDA7C7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Rapid PVST+ ускоряет восстановление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RSTP (Rapid Spanning Tree Protocol) — ускоренная версия STP, стандартизованная как IEEE 802.1w</a:t>
            </a:r>
          </a:p>
          <a:p>
            <a:pPr>
              <a:defRPr sz="3600"/>
            </a:pPr>
            <a:r>
              <a:t>Rapid PVST+ — реализация Cisco, где отдельное дерево STP строится для каждой VLAN</a:t>
            </a:r>
          </a:p>
          <a:p>
            <a:pPr>
              <a:defRPr sz="3600"/>
            </a:pPr>
            <a:r>
              <a:t>Rapid PVST+ быстрее переводит безопасные порты в рабочее состояние</a:t>
            </a:r>
          </a:p>
          <a:p>
            <a:pPr>
              <a:defRPr sz="3600"/>
            </a:pPr>
            <a:r>
              <a:t>Отдельные деревья по VLAN позволяют балансировать root-роли между коммутаторами распределения</a:t>
            </a:r>
          </a:p>
          <a:p>
            <a:pPr>
              <a:defRPr sz="3600"/>
            </a:pPr>
            <a:r>
              <a:t>Например, SW-DIST-01 может быть root для VLAN 10, а SW-DIST-02 — root для VLAN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Включение Rapid PVST+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spanning-tree mode rapid-pvst включает Rapid PVST+ глобально на коммутаторе</a:t>
            </a:r>
          </a:p>
          <a:p>
            <a:pPr>
              <a:defRPr sz="3600"/>
            </a:pPr>
            <a:r>
              <a:t>Пример выполняется на всех коммутаторах одной L2-топологии, чтобы режимы были согласованы</a:t>
            </a:r>
          </a:p>
          <a:p>
            <a:pPr>
              <a:defRPr sz="3600"/>
            </a:pPr>
            <a:r>
              <a:t>Команда show spanning-tree summary показывает включенный режим spanning tree</a:t>
            </a:r>
          </a:p>
          <a:p>
            <a:pPr>
              <a:defRPr sz="3600"/>
            </a:pPr>
            <a:r>
              <a:t>Команда show spanning-tree vlan 10 показывает root, роли портов и состояние VLAN 10</a:t>
            </a:r>
          </a:p>
          <a:p>
            <a:pPr>
              <a:defRPr sz="3600"/>
            </a:pPr>
            <a:r>
              <a:t>После смены режима нужно проверять не только один коммутатор, а всю избыточную топологию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Балансировка Root Bridge по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многовлановой сети можно распределить активные пути между двумя коммутаторами распределения</a:t>
            </a:r>
          </a:p>
          <a:p>
            <a:pPr>
              <a:defRPr sz="3600"/>
            </a:pPr>
            <a:r>
              <a:t>Пример: SW-DIST-01 root primary для VLAN 10 и root secondary для VLAN 20</a:t>
            </a:r>
          </a:p>
          <a:p>
            <a:pPr>
              <a:defRPr sz="3600"/>
            </a:pPr>
            <a:r>
              <a:t>Пример: SW-DIST-02 root primary для VLAN 20 и root secondary для VLAN 10</a:t>
            </a:r>
          </a:p>
          <a:p>
            <a:pPr>
              <a:defRPr sz="3600"/>
            </a:pPr>
            <a:r>
              <a:t>Такой подход использует оба коммутатора распределения, а не держит один только резервным</a:t>
            </a:r>
          </a:p>
          <a:p>
            <a:pPr>
              <a:defRPr sz="3600"/>
            </a:pPr>
            <a:r>
              <a:t>Важно согласовать STP-root с HSRP-шлюзом, чтобы трафик не шел лишним путем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PortFast применяют только на клиентских портах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PortFast — функция Cisco, которая быстро переводит клиентский порт в forwarding</a:t>
            </a:r>
          </a:p>
          <a:p>
            <a:pPr>
              <a:defRPr sz="3600"/>
            </a:pPr>
            <a:r>
              <a:t>PortFast нужен для ПК, принтеров, телефонов и точек доступа, где не ожидается коммутатор</a:t>
            </a:r>
          </a:p>
          <a:p>
            <a:pPr>
              <a:defRPr sz="3600"/>
            </a:pPr>
            <a:r>
              <a:t>Команда spanning-tree portfast включается на access-порту конечного устройства</a:t>
            </a:r>
          </a:p>
          <a:p>
            <a:pPr>
              <a:defRPr sz="3600"/>
            </a:pPr>
            <a:r>
              <a:t>Пример: interface gigabitEthernet0/10, spanning-tree portfast ускоряет старт клиента</a:t>
            </a:r>
          </a:p>
          <a:p>
            <a:pPr>
              <a:defRPr sz="3600"/>
            </a:pPr>
            <a:r>
              <a:t>На trunk между коммутаторами PortFast применять нельзя без точного понимания последствий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BPDU Guard защищает клиентские порты от случайного коммутатора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BPDU Guard отключает порт, если на PortFast-порту получен BPDU</a:t>
            </a:r>
          </a:p>
          <a:p>
            <a:pPr>
              <a:defRPr sz="3600"/>
            </a:pPr>
            <a:r>
              <a:t>Это защищает сеть от подключения домашнего коммутатора или неправильного патчирования</a:t>
            </a:r>
          </a:p>
          <a:p>
            <a:pPr>
              <a:defRPr sz="3600"/>
            </a:pPr>
            <a:r>
              <a:t>Команда spanning-tree bpduguard enable включается на клиентском интерфейсе</a:t>
            </a:r>
          </a:p>
          <a:p>
            <a:pPr>
              <a:defRPr sz="3600"/>
            </a:pPr>
            <a:r>
              <a:t>Пример: если студент подключит второй коммутатор к клиентскому порту, порт уйдет в err-disabled</a:t>
            </a:r>
          </a:p>
          <a:p>
            <a:pPr>
              <a:defRPr sz="3600"/>
            </a:pPr>
            <a:r>
              <a:t>Результат проверяется show interfaces status и журналом событий коммутатора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BPDU Filter нужно применять осторожно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BPDU Filter подавляет отправку или обработку BPDU на интерфейсе в зависимости от режима настройки</a:t>
            </a:r>
          </a:p>
          <a:p>
            <a:pPr>
              <a:defRPr sz="3600"/>
            </a:pPr>
            <a:r>
              <a:t>Неправильное применение может скрыть петлю от STP и сделать сеть опаснее</a:t>
            </a:r>
          </a:p>
          <a:p>
            <a:pPr>
              <a:defRPr sz="3600"/>
            </a:pPr>
            <a:r>
              <a:t>В базовой корпоративной практике для клиентских портов чаще используют PortFast вместе с BPDU Guard</a:t>
            </a:r>
          </a:p>
          <a:p>
            <a:pPr>
              <a:defRPr sz="3600"/>
            </a:pPr>
            <a:r>
              <a:t>BPDU Filter рассматривают как специальный инструмент, а не универсальную защиту</a:t>
            </a:r>
          </a:p>
          <a:p>
            <a:pPr>
              <a:defRPr sz="3600"/>
            </a:pPr>
            <a:r>
              <a:t>Студент должен понимать риск: скрытый BPDU может означать скрытую проблему топологии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Root Guard не дает нижнему коммутатору стать корнем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Root Guard защищает проектный выбор Root Bridge на портах в сторону access-уровня</a:t>
            </a:r>
          </a:p>
          <a:p>
            <a:pPr>
              <a:defRPr sz="3600"/>
            </a:pPr>
            <a:r>
              <a:t>Если порт получает лучший BPDU, он переводится в состояние root-inconsistent</a:t>
            </a:r>
          </a:p>
          <a:p>
            <a:pPr>
              <a:defRPr sz="3600"/>
            </a:pPr>
            <a:r>
              <a:t>Команда spanning-tree guard root включается на интерфейсе, где root быть не должен</a:t>
            </a:r>
          </a:p>
          <a:p>
            <a:pPr>
              <a:defRPr sz="3600"/>
            </a:pPr>
            <a:r>
              <a:t>Пример: на порту distribution-коммутатора к access-коммутатору Root Guard блокирует попытку перехвата root-роли</a:t>
            </a:r>
          </a:p>
          <a:p>
            <a:pPr>
              <a:defRPr sz="3600"/>
            </a:pPr>
            <a:r>
              <a:t>После исчезновения неправильных BPDU порт может восстановиться автоматически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Loop Guard защищает от односторонних сбоев BPDU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Loop Guard предотвращает переход резервного порта в forwarding при пропаже BPDU</a:t>
            </a:r>
          </a:p>
          <a:p>
            <a:pPr>
              <a:defRPr sz="3600"/>
            </a:pPr>
            <a:r>
              <a:t>Функция полезна на избыточных линках и аплинках, где потеря BPDU может создать петлю</a:t>
            </a:r>
          </a:p>
          <a:p>
            <a:pPr>
              <a:defRPr sz="3600"/>
            </a:pPr>
            <a:r>
              <a:t>Команда spanning-tree guard loop включается на интерфейсе или глобально в зависимости от политики</a:t>
            </a:r>
          </a:p>
          <a:p>
            <a:pPr>
              <a:defRPr sz="3600"/>
            </a:pPr>
            <a:r>
              <a:t>Состояние loop-inconsistent указывает, что порт заблокирован для предотвращения петли</a:t>
            </a:r>
          </a:p>
          <a:p>
            <a:pPr>
              <a:defRPr sz="3600"/>
            </a:pPr>
            <a:r>
              <a:t>Loop Guard не заменяет UDLD и физическую диагностику кабеля, но снижает риск L2-аварии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где применять PortFast, BPDU Guard, Root Guard и Loop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6FE77E-31FE-E918-D3B0-6A657F73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DHCP Snooping защищает клиентов от ложного DHCP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DHCP Snooping — функция коммутатора, которая фильтрует DHCP-сообщения на недоверенных портах</a:t>
            </a:r>
          </a:p>
          <a:p>
            <a:pPr>
              <a:defRPr sz="3600"/>
            </a:pPr>
            <a:r>
              <a:t>Rogue DHCP — несанкционированный DHCP-сервер, который выдает клиентам неправильные сетевые параметры</a:t>
            </a:r>
          </a:p>
          <a:p>
            <a:pPr>
              <a:defRPr sz="3600"/>
            </a:pPr>
            <a:r>
              <a:t>Клиентский порт считается untrusted и не должен отправлять DHCP Offer</a:t>
            </a:r>
          </a:p>
          <a:p>
            <a:pPr>
              <a:defRPr sz="3600"/>
            </a:pPr>
            <a:r>
              <a:t>Порт к настоящему DHCP-серверу или аплинк к нему назначают trusted</a:t>
            </a:r>
          </a:p>
          <a:p>
            <a:pPr>
              <a:defRPr sz="3600"/>
            </a:pPr>
            <a:r>
              <a:t>Коммутатор строит binding table: связь MAC-адреса, IP-адреса, VLAN и порта клиента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DHCP Snooping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dhcp snooping включает функцию DHCP Snooping глобально</a:t>
            </a:r>
          </a:p>
          <a:p>
            <a:pPr>
              <a:defRPr sz="3600"/>
            </a:pPr>
            <a:r>
              <a:t>Команда ip dhcp snooping vlan 10,20 включает защиту для выбранных VLAN</a:t>
            </a:r>
          </a:p>
          <a:p>
            <a:pPr>
              <a:defRPr sz="3600"/>
            </a:pPr>
            <a:r>
              <a:t>В учебной лаборатории команда no ip dhcp snooping information option отключает автоматическую вставку Option 82</a:t>
            </a:r>
          </a:p>
          <a:p>
            <a:pPr>
              <a:defRPr sz="3600"/>
            </a:pPr>
            <a:r>
              <a:t>На порту к легитимному DHCP-серверу команда ip dhcp snooping trust делает порт доверенным</a:t>
            </a:r>
          </a:p>
          <a:p>
            <a:pPr>
              <a:defRPr sz="3600"/>
            </a:pPr>
            <a:r>
              <a:t>Пример: клиентский порт без trust не сможет отправлять DHCP Offer в сеть</a:t>
            </a:r>
          </a:p>
          <a:p>
            <a:pPr>
              <a:defRPr sz="3600"/>
            </a:pPr>
            <a:r>
              <a:t>Команда show ip dhcp snooping binding показывает изученные соответствия клиентов</a:t>
            </a:r>
          </a:p>
          <a:p>
            <a:pPr>
              <a:defRPr sz="3600"/>
            </a:pPr>
            <a:r>
              <a:t>Если клиенты перестали получать адреса после включения snooping, проверьте trust-порты и поведение Option 82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Dynamic ARP Inspection защищает от подмены 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ARP (Address Resolution Protocol) — протокол поиска MAC-адреса по IPv4-адресу в локальной сети</a:t>
            </a:r>
          </a:p>
          <a:p>
            <a:pPr>
              <a:defRPr sz="3600"/>
            </a:pPr>
            <a:r>
              <a:t>ARP-spoofing — атака, при которой злоумышленник отправляет ложные ARP-ответы и подменяет связку IP-MAC</a:t>
            </a:r>
          </a:p>
          <a:p>
            <a:pPr>
              <a:defRPr sz="3600"/>
            </a:pPr>
            <a:r>
              <a:t>DAI (Dynamic ARP Inspection) — проверка ARP-пакетов коммутатором перед их пересылкой</a:t>
            </a:r>
          </a:p>
          <a:p>
            <a:pPr>
              <a:defRPr sz="3600"/>
            </a:pPr>
            <a:r>
              <a:t>DAI использует DHCP Snooping binding table как источник доверенных соответствий</a:t>
            </a:r>
          </a:p>
          <a:p>
            <a:pPr>
              <a:defRPr sz="3600"/>
            </a:pPr>
            <a:r>
              <a:t>Если ARP-пакет не совпадает с binding table, коммутатор его отбрасывает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arp inspection vlan 10,20 включает DAI для выбранных VLAN</a:t>
            </a:r>
          </a:p>
          <a:p>
            <a:pPr>
              <a:defRPr sz="3600"/>
            </a:pPr>
            <a:r>
              <a:t>Аплинки к доверенным сетевым устройствам обычно получают ip arp inspection trust</a:t>
            </a:r>
          </a:p>
          <a:p>
            <a:pPr>
              <a:defRPr sz="3600"/>
            </a:pPr>
            <a:r>
              <a:t>Клиентские порты остаются недоверенными и проверяются по binding table</a:t>
            </a:r>
          </a:p>
          <a:p>
            <a:pPr>
              <a:defRPr sz="3600"/>
            </a:pPr>
            <a:r>
              <a:t>Команда show ip arp inspection показывает включенные VLAN и доверенные интерфейсы</a:t>
            </a:r>
          </a:p>
          <a:p>
            <a:pPr>
              <a:defRPr sz="3600"/>
            </a:pPr>
            <a:r>
              <a:t>Если у хоста статический IP, для него может потребоваться статическая ARP ACL или отдельное проектное решение</a:t>
            </a:r>
          </a:p>
          <a:p>
            <a:pPr>
              <a:defRPr sz="3600"/>
            </a:pPr>
            <a:r>
              <a:t>Пример для статического сервера: arp access-list STATIC_HOSTS, permit ip 192.168.10.5 mac host 0011.2233.4455, ip arp inspection filter STATIC_HOSTS vlan 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DHCP Snooping как основа для 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BFDD31-E3E9-8719-DB6B-F7EE198A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L2-защиты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BPDU Guard включен на uplink-порту и отключает нормальное межкоммутаторное соединение</a:t>
            </a:r>
          </a:p>
          <a:p>
            <a:pPr>
              <a:defRPr sz="3600"/>
            </a:pPr>
            <a:r>
              <a:t>DHCP Snooping включен, но порт к реальному DHCP-серверу не назначен trusted</a:t>
            </a:r>
          </a:p>
          <a:p>
            <a:pPr>
              <a:defRPr sz="3600"/>
            </a:pPr>
            <a:r>
              <a:t>DAI включен без binding table, и клиенты со статическими адресами теряют связь</a:t>
            </a:r>
          </a:p>
          <a:p>
            <a:pPr>
              <a:defRPr sz="3600"/>
            </a:pPr>
            <a:r>
              <a:t>Root Guard поставлен не на тот порт и блокирует проектный путь к корню</a:t>
            </a:r>
          </a:p>
          <a:p>
            <a:pPr>
              <a:defRPr sz="3600"/>
            </a:pPr>
            <a:r>
              <a:t>Защита включена без проверки логов, поэтому причина блокировки остается непонятной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итоговой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spanning-tree vlan 10 показывает root, роли портов и заблокированные направления</a:t>
            </a:r>
          </a:p>
          <a:p>
            <a:pPr>
              <a:defRPr sz="3600"/>
            </a:pPr>
            <a:r>
              <a:t>show spanning-tree summary подтверждает режим Rapid PVST+ и глобальные параметры</a:t>
            </a:r>
          </a:p>
          <a:p>
            <a:pPr>
              <a:defRPr sz="3600"/>
            </a:pPr>
            <a:r>
              <a:t>show interfaces status показывает err-disabled и физическое состояние портов</a:t>
            </a:r>
          </a:p>
          <a:p>
            <a:pPr>
              <a:defRPr sz="3600"/>
            </a:pPr>
            <a:r>
              <a:t>show ip dhcp snooping binding показывает IP-MAC-VLAN-port соответствия клиентов</a:t>
            </a:r>
          </a:p>
          <a:p>
            <a:pPr>
              <a:defRPr sz="3600"/>
            </a:pPr>
            <a:r>
              <a:t>show ip arp inspection statistics помогает увидеть, отбрасываются ли подозрительные ARP-пакеты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STP позволяет использовать резервные L2-соединения без активных коммутационных петель</a:t>
            </a:r>
          </a:p>
          <a:p>
            <a:pPr>
              <a:defRPr sz="3600"/>
            </a:pPr>
            <a:r>
              <a:t>Root Bridge должен выбираться по проекту, а не случайным MAC-адресом</a:t>
            </a:r>
          </a:p>
          <a:p>
            <a:pPr>
              <a:defRPr sz="3600"/>
            </a:pPr>
            <a:r>
              <a:t>Rapid PVST+ ускоряет восстановление и позволяет строить отдельное дерево для каждой VLAN</a:t>
            </a:r>
          </a:p>
          <a:p>
            <a:pPr>
              <a:defRPr sz="3600"/>
            </a:pPr>
            <a:r>
              <a:t>PortFast, BPDU Guard, Root Guard и Loop Guard защищают разные точки L2-топологии</a:t>
            </a:r>
          </a:p>
          <a:p>
            <a:pPr>
              <a:defRPr sz="3600"/>
            </a:pPr>
            <a:r>
              <a:t>DHCP Snooping и DAI уменьшают риск ложного DHCP и ARP-spoofing внутри локальной сети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Ethernet-петля опаснее обычной ошибки IP-настройки?</a:t>
            </a:r>
          </a:p>
          <a:p>
            <a:pPr>
              <a:defRPr sz="3600"/>
            </a:pPr>
            <a:r>
              <a:t>Как STP выбирает Root Bridge и почему его лучше назначать вручную?</a:t>
            </a:r>
          </a:p>
          <a:p>
            <a:pPr>
              <a:defRPr sz="3600"/>
            </a:pPr>
            <a:r>
              <a:t>Чем Root Port отличается от Designated Port?</a:t>
            </a:r>
          </a:p>
          <a:p>
            <a:pPr>
              <a:defRPr sz="3600"/>
            </a:pPr>
            <a:r>
              <a:t>Где можно включать PortFast, а где нельзя?</a:t>
            </a:r>
          </a:p>
          <a:p>
            <a:pPr>
              <a:defRPr sz="3600"/>
            </a:pPr>
            <a:r>
              <a:t>Как BPDU Guard помогает защитить клиентский порт?</a:t>
            </a:r>
          </a:p>
          <a:p>
            <a:pPr>
              <a:defRPr sz="3600"/>
            </a:pPr>
            <a:r>
              <a:t>Почему DHCP Snooping требует доверенных и недоверенных портов?</a:t>
            </a:r>
          </a:p>
          <a:p>
            <a:pPr>
              <a:defRPr sz="3600"/>
            </a:pPr>
            <a:r>
              <a:t>Как Dynamic ARP Inspection использует таблицу DHCP Snooping?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1800</Words>
  <Application>Microsoft Office PowerPoint</Application>
  <PresentationFormat>Широкоэкранный</PresentationFormat>
  <Paragraphs>167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2026-07-26T08:52:44Z</dcterms:modified>
  <cp:category/>
</cp:coreProperties>
</file>