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2. Протоколы обнаружения соседей L2 Discovery и диагностика каналов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как коммутаторы обнаруживают соседние устройства на канальном уровне</a:t>
            </a:r>
          </a:p>
          <a:p>
            <a:pPr>
              <a:defRPr sz="3600"/>
            </a:pPr>
            <a:r>
              <a:t>Различать CDP и LLDP, их пользу для администрирования и риски информационной безопасности</a:t>
            </a:r>
          </a:p>
          <a:p>
            <a:pPr>
              <a:defRPr sz="3600"/>
            </a:pPr>
            <a:r>
              <a:t>Проверять состояние физических и канальных соединений по интерфейсным признакам</a:t>
            </a:r>
          </a:p>
          <a:p>
            <a:pPr>
              <a:defRPr sz="3600"/>
            </a:pPr>
            <a:r>
              <a:t>Читать CAM-таблицу и объяснять поведение коммутатора при неизвестном MAC-адресе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Протоколы канального уровня для обнаружения топологии: CDP и LLDP, TLV-структура, риски ИБ и отключение на клиентских портах</a:t>
            </a:r>
          </a:p>
          <a:p>
            <a:pPr>
              <a:defRPr sz="3600"/>
            </a:pPr>
            <a:r>
              <a:t>2. Методология диагностики неисправностей L1 и L2: интерфейсные ошибки, speed/duplex mismatch, коллизии</a:t>
            </a:r>
          </a:p>
          <a:p>
            <a:pPr>
              <a:defRPr sz="3600"/>
            </a:pPr>
            <a:r>
              <a:t>3. Управление таблицей MAC-адресов: CAM-таблица, динамические записи и unknown unicast flooding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L2 Discovery помогает восстановить реальную карту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L2 Discovery — обнаружение соседних сетевых устройств на канальном уровне модели OSI</a:t>
            </a:r>
          </a:p>
          <a:p>
            <a:pPr>
              <a:defRPr sz="3600"/>
            </a:pPr>
            <a:r>
              <a:t>Администратор часто получает сеть без актуальной схемы и должен понять, какие порты куда подключены</a:t>
            </a:r>
          </a:p>
          <a:p>
            <a:pPr>
              <a:defRPr sz="3600"/>
            </a:pPr>
            <a:r>
              <a:t>Протоколы обнаружения передают сведения о соседях без IP-маршрутизации между устройствами</a:t>
            </a:r>
          </a:p>
          <a:p>
            <a:pPr>
              <a:defRPr sz="3600"/>
            </a:pPr>
            <a:r>
              <a:t>Такая диагностика особенно полезна при подключении новых коммутаторов и проверке патч-панелей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CDP показывает соседей в сетях Cisco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CDP (Cisco Discovery Protocol) — проприетарный протокол Cisco для обмена сведениями о соседях</a:t>
            </a:r>
          </a:p>
          <a:p>
            <a:pPr>
              <a:defRPr sz="3600"/>
            </a:pPr>
            <a:r>
              <a:t>CDP сообщает имя устройства, модель, порт подключения, IP-адрес управления и возможности устройства</a:t>
            </a:r>
          </a:p>
          <a:p>
            <a:pPr>
              <a:defRPr sz="3600"/>
            </a:pPr>
            <a:r>
              <a:t>Команда show cdp neighbors показывает краткую таблицу соседей и локальные интерфейсы</a:t>
            </a:r>
          </a:p>
          <a:p>
            <a:pPr>
              <a:defRPr sz="3600"/>
            </a:pPr>
            <a:r>
              <a:t>Команда show cdp neighbors detail выводит подробности, включая IP-адрес и платформу соседа</a:t>
            </a:r>
          </a:p>
          <a:p>
            <a:pPr>
              <a:defRPr sz="3600"/>
            </a:pPr>
            <a:r>
              <a:t>Пример: show cdp neighbors detail помогает понять, что SW-ACC-01 подключен к SW-DIST-01 через Gi0/1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LLDP нужен для смешанной 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LLDP (Link Layer Discovery Protocol) — открытый стандарт IEEE 802.1AB для обнаружения соседей</a:t>
            </a:r>
          </a:p>
          <a:p>
            <a:pPr>
              <a:defRPr sz="3600"/>
            </a:pPr>
            <a:r>
              <a:t>LLDP удобен, когда в сети есть Cisco, MikroTik, HP, Huawei, серверы и IP-телефоны разных производителей</a:t>
            </a:r>
          </a:p>
          <a:p>
            <a:pPr>
              <a:defRPr sz="3600"/>
            </a:pPr>
            <a:r>
              <a:t>Команда lldp run включает LLDP глобально на Cisco IOS, если он выключен</a:t>
            </a:r>
          </a:p>
          <a:p>
            <a:pPr>
              <a:defRPr sz="3600"/>
            </a:pPr>
            <a:r>
              <a:t>Команда show lldp neighbors показывает соседние устройства, порты и типы возможностей</a:t>
            </a:r>
          </a:p>
          <a:p>
            <a:pPr>
              <a:defRPr sz="3600"/>
            </a:pPr>
            <a:r>
              <a:t>Пример: show lldp neighbors detail помогает увидеть описание порта и management address соседа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TLV-структура объясняет, какие сведения передаются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TLV (Type-Length-Value) — формат передачи данных, где каждое поле имеет тип, длину и значение</a:t>
            </a:r>
          </a:p>
          <a:p>
            <a:pPr>
              <a:defRPr sz="3600"/>
            </a:pPr>
            <a:r>
              <a:t>Type определяет смысл поля: имя устройства, порт, VLAN, питание или возможности</a:t>
            </a:r>
          </a:p>
          <a:p>
            <a:pPr>
              <a:defRPr sz="3600"/>
            </a:pPr>
            <a:r>
              <a:t>Length показывает длину значения, чтобы получатель корректно разобрал сообщение</a:t>
            </a:r>
          </a:p>
          <a:p>
            <a:pPr>
              <a:defRPr sz="3600"/>
            </a:pPr>
            <a:r>
              <a:t>Value содержит конкретные данные, например имя SW-ACC-01 или порт GigabitEthernet0/1</a:t>
            </a:r>
          </a:p>
          <a:p>
            <a:pPr>
              <a:defRPr sz="3600"/>
            </a:pPr>
            <a:r>
              <a:t>Именно TLV делает LLDP расширяемым и полезным для IP-телефонии и PoE-устройств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обмен CDP и LLDP между соседними коммутаторами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095004-0D64-7B49-BF2E-49580C503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L2 Discovery нельзя оставлять везде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CDP и LLDP раскрывают имя устройства, модель, порт, версию ПО и адрес управления</a:t>
            </a:r>
          </a:p>
          <a:p>
            <a:pPr>
              <a:defRPr sz="3600"/>
            </a:pPr>
            <a:r>
              <a:t>На пользовательском порту эти сведения могут помочь атакующему построить карту сети</a:t>
            </a:r>
          </a:p>
          <a:p>
            <a:pPr>
              <a:defRPr sz="3600"/>
            </a:pPr>
            <a:r>
              <a:t>На магистралях между сетевыми устройствами discovery обычно полезен для эксплуатации</a:t>
            </a:r>
          </a:p>
          <a:p>
            <a:pPr>
              <a:defRPr sz="3600"/>
            </a:pPr>
            <a:r>
              <a:t>На портах конечных пользователей discovery часто отключают политикой безопасности</a:t>
            </a:r>
          </a:p>
          <a:p>
            <a:pPr>
              <a:defRPr sz="3600"/>
            </a:pPr>
            <a:r>
              <a:t>Решение зависит от роли порта: uplink, access-порт, порт телефона или порт точки доступа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Отключение discovery на клиентском порту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no cdp enable отключает CDP на выбранном интерфейсе</a:t>
            </a:r>
          </a:p>
          <a:p>
            <a:pPr>
              <a:defRPr sz="3600"/>
            </a:pPr>
            <a:r>
              <a:t>Пример: interface gigabitEthernet0/10, затем no cdp enable — клиентский ПК больше не получает CDP-сведения</a:t>
            </a:r>
          </a:p>
          <a:p>
            <a:pPr>
              <a:defRPr sz="3600"/>
            </a:pPr>
            <a:r>
              <a:t>Команда no lldp transmit запрещает передачу LLDP-объявлений с интерфейса</a:t>
            </a:r>
          </a:p>
          <a:p>
            <a:pPr>
              <a:defRPr sz="3600"/>
            </a:pPr>
            <a:r>
              <a:t>Команда no lldp receive запрещает прием LLDP-объявлений на интерфейсе</a:t>
            </a:r>
          </a:p>
          <a:p>
            <a:pPr>
              <a:defRPr sz="3600"/>
            </a:pPr>
            <a:r>
              <a:t>Результат проверяется командами show cdp interface и show lldp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Discovery не заменяет документацию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Протоколы обнаружения показывают текущую топологию, но не объясняют назначение порта</a:t>
            </a:r>
          </a:p>
          <a:p>
            <a:pPr>
              <a:defRPr sz="3600"/>
            </a:pPr>
            <a:r>
              <a:t>Описание интерфейса description помогает связать технический порт с задачей подключения</a:t>
            </a:r>
          </a:p>
          <a:p>
            <a:pPr>
              <a:defRPr sz="3600"/>
            </a:pPr>
            <a:r>
              <a:t>Пример: description Uplink_to_SW-DIST-01_Gi0/1 делает вывод show interfaces status понятнее</a:t>
            </a:r>
          </a:p>
          <a:p>
            <a:pPr>
              <a:defRPr sz="3600"/>
            </a:pPr>
            <a:r>
              <a:t>После изменения кабеля или роли порта описание нужно обновлять сразу</a:t>
            </a:r>
          </a:p>
          <a:p>
            <a:pPr>
              <a:defRPr sz="3600"/>
            </a:pPr>
            <a:r>
              <a:t>Хорошая практика: сначала описание, затем настройка, затем проверка и фиксация в схеме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Диагностика канала начинается с уровня 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L1 (Layer 1) — физический уровень: кабель, разъем, оптический модуль, питание и электрический сигнал</a:t>
            </a:r>
          </a:p>
          <a:p>
            <a:pPr>
              <a:defRPr sz="3600"/>
            </a:pPr>
            <a:r>
              <a:t>Если физический уровень не работает, VLAN, IP-адреса и маршруты не помогут</a:t>
            </a:r>
          </a:p>
          <a:p>
            <a:pPr>
              <a:defRPr sz="3600"/>
            </a:pPr>
            <a:r>
              <a:t>Первый признак проблемы — состояние интерфейса: connected, notconnect, disabled или err-disabled</a:t>
            </a:r>
          </a:p>
          <a:p>
            <a:pPr>
              <a:defRPr sz="3600"/>
            </a:pPr>
            <a:r>
              <a:t>Команда show interfaces status показывает состояние порта, VLAN, duplex, speed и тип среды</a:t>
            </a:r>
          </a:p>
          <a:p>
            <a:pPr>
              <a:defRPr sz="3600"/>
            </a:pPr>
            <a:r>
              <a:t>Пример: show interfaces status быстро показывает, что Gi0/12 физически не поднят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интерфейса нужно читать буквально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connected означает, что линк поднят и коммутатор видит электрический или оптический сигнал</a:t>
            </a:r>
          </a:p>
          <a:p>
            <a:pPr>
              <a:defRPr sz="3600"/>
            </a:pPr>
            <a:r>
              <a:t>notconnect обычно указывает на отсутствие подключенного устройства, неисправный кабель или выключенный порт на другой стороне</a:t>
            </a:r>
          </a:p>
          <a:p>
            <a:pPr>
              <a:defRPr sz="3600"/>
            </a:pPr>
            <a:r>
              <a:t>disabled означает административное выключение командой shutdown</a:t>
            </a:r>
          </a:p>
          <a:p>
            <a:pPr>
              <a:defRPr sz="3600"/>
            </a:pPr>
            <a:r>
              <a:t>err-disabled означает защитное отключение порта после нарушения, например BPDU Guard или port-security</a:t>
            </a:r>
          </a:p>
          <a:p>
            <a:pPr>
              <a:defRPr sz="3600"/>
            </a:pPr>
            <a:r>
              <a:t>После устранения причины err-disabled порт включают командами shutdown и no shutdown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L2-диагностика проверяет кадры и ошибки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L2 (Layer 2) — канальный уровень: Ethernet-кадры, MAC-адреса, VLAN и работа коммутатора</a:t>
            </a:r>
          </a:p>
          <a:p>
            <a:pPr>
              <a:defRPr sz="3600"/>
            </a:pPr>
            <a:r>
              <a:t>Команда show interfaces gigabitEthernet0/1 показывает счетчики ошибок, перегрузку и состояние линии</a:t>
            </a:r>
          </a:p>
          <a:p>
            <a:pPr>
              <a:defRPr sz="3600"/>
            </a:pPr>
            <a:r>
              <a:t>CRC-ошибки часто связаны с кабелем, модулем, помехами или несовпадением duplex</a:t>
            </a:r>
          </a:p>
          <a:p>
            <a:pPr>
              <a:defRPr sz="3600"/>
            </a:pPr>
            <a:r>
              <a:t>Input errors и output errors показывают, что проблема есть не только на уровне IP</a:t>
            </a:r>
          </a:p>
          <a:p>
            <a:pPr>
              <a:defRPr sz="3600"/>
            </a:pPr>
            <a:r>
              <a:t>Результат сравнивают с соседним портом и с состоянием интерфейса на другой стороне линка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диагностики L1 и 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409C2B-7EA9-3892-7E06-6075441D7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Speed и duplex должны согласоваться одинаково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Speed — скорость интерфейса, например 100 Мбит/с или 1 Гбит/с</a:t>
            </a:r>
          </a:p>
          <a:p>
            <a:pPr>
              <a:defRPr sz="3600"/>
            </a:pPr>
            <a:r>
              <a:t>Duplex — режим передачи: half-duplex передает по очереди, full-duplex передает и принимает одновременно</a:t>
            </a:r>
          </a:p>
          <a:p>
            <a:pPr>
              <a:defRPr sz="3600"/>
            </a:pPr>
            <a:r>
              <a:t>Speed/duplex mismatch возникает, когда стороны линка выбрали несовместимые параметры</a:t>
            </a:r>
          </a:p>
          <a:p>
            <a:pPr>
              <a:defRPr sz="3600"/>
            </a:pPr>
            <a:r>
              <a:t>Признаки: низкая скорость, коллизии, CRC-ошибки, нестабильная передача данных</a:t>
            </a:r>
          </a:p>
          <a:p>
            <a:pPr>
              <a:defRPr sz="3600"/>
            </a:pPr>
            <a:r>
              <a:t>В современных сетях чаще используют auto negotiation, но на отдельных стыках параметры могут задаваться вручную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для speed и duplex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speed auto включает автоматическое согласование скорости на интерфейсе</a:t>
            </a:r>
          </a:p>
          <a:p>
            <a:pPr>
              <a:defRPr sz="3600"/>
            </a:pPr>
            <a:r>
              <a:t>Команда duplex auto включает автоматическое согласование duplex-режима</a:t>
            </a:r>
          </a:p>
          <a:p>
            <a:pPr>
              <a:defRPr sz="3600"/>
            </a:pPr>
            <a:r>
              <a:t>Пример: interface gigabitEthernet0/1, speed auto, duplex auto возвращает порт к типовой настройке</a:t>
            </a:r>
          </a:p>
          <a:p>
            <a:pPr>
              <a:defRPr sz="3600"/>
            </a:pPr>
            <a:r>
              <a:t>Команда show interfaces gigabitEthernet0/1 status показывает текущие speed и duplex</a:t>
            </a:r>
          </a:p>
          <a:p>
            <a:pPr>
              <a:defRPr sz="3600"/>
            </a:pPr>
            <a:r>
              <a:t>Если параметры задаются вручную, одинаковые значения должны быть настроены на обоих концах линка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Интерфейсные счетчики помогают найти деградацию канала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interfaces counters errors выводит сводку ошибок по портам</a:t>
            </a:r>
          </a:p>
          <a:p>
            <a:pPr>
              <a:defRPr sz="3600"/>
            </a:pPr>
            <a:r>
              <a:t>Пример: рост CRC на Gi0/2 после замены патч-корда указывает на физическую проблему линии</a:t>
            </a:r>
          </a:p>
          <a:p>
            <a:pPr>
              <a:defRPr sz="3600"/>
            </a:pPr>
            <a:r>
              <a:t>Collisions в full-duplex сети являются подозрительным признаком неправильного duplex</a:t>
            </a:r>
          </a:p>
          <a:p>
            <a:pPr>
              <a:defRPr sz="3600"/>
            </a:pPr>
            <a:r>
              <a:t>Runts и giants указывают на кадры некорректного размера</a:t>
            </a:r>
          </a:p>
          <a:p>
            <a:pPr>
              <a:defRPr sz="3600"/>
            </a:pPr>
            <a:r>
              <a:t>Счетчики важны в динамике: один старый счетчик не всегда означает текущую аварию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TDR помогает проверить медный кабель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TDR (Time Domain Reflectometer) — диагностика медной линии по отражению сигнала</a:t>
            </a:r>
          </a:p>
          <a:p>
            <a:pPr>
              <a:defRPr sz="3600"/>
            </a:pPr>
            <a:r>
              <a:t>Команда test cable-diagnostics tdr interface gigabitEthernet0/1 запускает тест кабеля на поддерживаемых коммутаторах</a:t>
            </a:r>
          </a:p>
          <a:p>
            <a:pPr>
              <a:defRPr sz="3600"/>
            </a:pPr>
            <a:r>
              <a:t>Команда show cable-diagnostics tdr interface gigabitEthernet0/1 показывает результат теста</a:t>
            </a:r>
          </a:p>
          <a:p>
            <a:pPr>
              <a:defRPr sz="3600"/>
            </a:pPr>
            <a:r>
              <a:t>В выводе можно увидеть пары, длину и признаки open или short</a:t>
            </a:r>
          </a:p>
          <a:p>
            <a:pPr>
              <a:defRPr sz="3600"/>
            </a:pPr>
            <a:r>
              <a:t>Внимание: запуск TDR-теста временно прерывает передачу данных по порту</a:t>
            </a:r>
          </a:p>
          <a:p>
            <a:pPr>
              <a:defRPr sz="3600"/>
            </a:pPr>
            <a:r>
              <a:t>Нельзя запускать TDR удаленно на uplink-порту, через который идет текущая SSH-сессия администратора</a:t>
            </a:r>
          </a:p>
          <a:p>
            <a:pPr>
              <a:defRPr sz="3600"/>
            </a:pPr>
            <a:r>
              <a:t>TDR не заменяет кабельный тестер, но помогает быстро отличить портовую проблему от кабельной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Коллизии важны как симптом неправильного режима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Коллизия — столкновение кадров при одновременной передаче в half-duplex среде</a:t>
            </a:r>
          </a:p>
          <a:p>
            <a:pPr>
              <a:defRPr sz="3600"/>
            </a:pPr>
            <a:r>
              <a:t>В современной коммутируемой full-duplex сети коллизий на рабочих портах быть не должно</a:t>
            </a:r>
          </a:p>
          <a:p>
            <a:pPr>
              <a:defRPr sz="3600"/>
            </a:pPr>
            <a:r>
              <a:t>Late collisions часто указывают на duplex mismatch или проблему физического сегмента</a:t>
            </a:r>
          </a:p>
          <a:p>
            <a:pPr>
              <a:defRPr sz="3600"/>
            </a:pPr>
            <a:r>
              <a:t>Если коллизии растут, сначала проверяют duplex, кабель и устройство на другой стороне</a:t>
            </a:r>
          </a:p>
          <a:p>
            <a:pPr>
              <a:defRPr sz="3600"/>
            </a:pPr>
            <a:r>
              <a:t>Команда clear counters interface gigabitEthernet0/1 обнуляет счетчики перед повторным наблюдением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CAM-таблица связывает MAC-адрес с портом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CAM (Content Addressable Memory) — аппаратная память коммутатора для быстрого поиска MAC-адресов</a:t>
            </a:r>
          </a:p>
          <a:p>
            <a:pPr>
              <a:defRPr sz="3600"/>
            </a:pPr>
            <a:r>
              <a:t>MAC-адрес — аппаратный адрес сетевого интерфейса Ethernet внутри локального сегмента</a:t>
            </a:r>
          </a:p>
          <a:p>
            <a:pPr>
              <a:defRPr sz="3600"/>
            </a:pPr>
            <a:r>
              <a:t>Коммутатор запоминает исходный MAC-адрес кадра и порт, с которого кадр пришел</a:t>
            </a:r>
          </a:p>
          <a:p>
            <a:pPr>
              <a:defRPr sz="3600"/>
            </a:pPr>
            <a:r>
              <a:t>После обучения коммутатор отправляет кадры только в нужный порт, а не во все порты</a:t>
            </a:r>
          </a:p>
          <a:p>
            <a:pPr>
              <a:defRPr sz="3600"/>
            </a:pPr>
            <a:r>
              <a:t>CAM-таблица является основой нормальной работы L2-коммутации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обучение MAC-адресов коммутатором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A9AD45-CC8A-E992-9862-8401313EA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MAC-адресов на 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mac address-table выводит изученные MAC-адреса, VLAN и порты</a:t>
            </a:r>
          </a:p>
          <a:p>
            <a:pPr>
              <a:defRPr sz="3600"/>
            </a:pPr>
            <a:r>
              <a:t>Пример: show mac address-table dynamic показывает только динамически изученные записи</a:t>
            </a:r>
          </a:p>
          <a:p>
            <a:pPr>
              <a:defRPr sz="3600"/>
            </a:pPr>
            <a:r>
              <a:t>Команда show mac address-table interface gigabitEthernet0/10 фильтрует записи по порту</a:t>
            </a:r>
          </a:p>
          <a:p>
            <a:pPr>
              <a:defRPr sz="3600"/>
            </a:pPr>
            <a:r>
              <a:t>Если MAC-адрес клиента виден не на том порту, нужно проверить кабельную схему и подключение</a:t>
            </a:r>
          </a:p>
          <a:p>
            <a:pPr>
              <a:defRPr sz="3600"/>
            </a:pPr>
            <a:r>
              <a:t>Если MAC-адрес не появляется, клиент может молчать, порт может быть не в той VLAN или линк не поднят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Unknown unicast flooding появляется до изучения адреса назначения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Unknown unicast — кадр с известным форматом Ethernet, но неизвестным для коммутатора MAC-адресом назначения</a:t>
            </a:r>
          </a:p>
          <a:p>
            <a:pPr>
              <a:defRPr sz="3600"/>
            </a:pPr>
            <a:r>
              <a:t>Если адреса назначения нет в CAM-таблице, коммутатор рассылает кадр по портам той же VLAN</a:t>
            </a:r>
          </a:p>
          <a:p>
            <a:pPr>
              <a:defRPr sz="3600"/>
            </a:pPr>
            <a:r>
              <a:t>Такое поведение нормально для нового адреса, но опасно при постоянном переполнении CAM-таблицы</a:t>
            </a:r>
          </a:p>
          <a:p>
            <a:pPr>
              <a:defRPr sz="3600"/>
            </a:pPr>
            <a:r>
              <a:t>После ответа получателя коммутатор изучает его MAC-адрес и прекращает flooding для этого направления</a:t>
            </a:r>
          </a:p>
          <a:p>
            <a:pPr>
              <a:defRPr sz="3600"/>
            </a:pPr>
            <a:r>
              <a:t>Именно поэтому диагностику L2 часто начинают с таблицы MAC-адресов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Очистка CAM-таблицы используется для учебного наблюдения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clear mac address-table dynamic удаляет динамически изученные MAC-записи</a:t>
            </a:r>
          </a:p>
          <a:p>
            <a:pPr>
              <a:defRPr sz="3600"/>
            </a:pPr>
            <a:r>
              <a:t>Пример: clear mac address-table dynamic позволяет заново увидеть процесс обучения адресов после ping</a:t>
            </a:r>
          </a:p>
          <a:p>
            <a:pPr>
              <a:defRPr sz="3600"/>
            </a:pPr>
            <a:r>
              <a:t>После очистки первый кадр к неизвестному адресу может быть разослан по VLAN</a:t>
            </a:r>
          </a:p>
          <a:p>
            <a:pPr>
              <a:defRPr sz="3600"/>
            </a:pPr>
            <a:r>
              <a:t>Команда show mac address-table dynamic после трафика показывает новые изученные записи</a:t>
            </a:r>
          </a:p>
          <a:p>
            <a:pPr>
              <a:defRPr sz="3600"/>
            </a:pPr>
            <a:r>
              <a:t>В рабочей сети очистку выполняют осторожно, потому что она временно увеличивает flooding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связать CDP, интерфейсы и CAM в одну диагностику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CDP или LLDP показывает, какое сетевое устройство подключено к порту</a:t>
            </a:r>
          </a:p>
          <a:p>
            <a:pPr>
              <a:defRPr sz="3600"/>
            </a:pPr>
            <a:r>
              <a:t>show interfaces status показывает, поднят ли линк и какие speed/duplex выбраны</a:t>
            </a:r>
          </a:p>
          <a:p>
            <a:pPr>
              <a:defRPr sz="3600"/>
            </a:pPr>
            <a:r>
              <a:t>show interfaces counters errors показывает, есть ли физические или канальные ошибки</a:t>
            </a:r>
          </a:p>
          <a:p>
            <a:pPr>
              <a:defRPr sz="3600"/>
            </a:pPr>
            <a:r>
              <a:t>show mac address-table показывает, видит ли коммутатор конечные MAC-адреса в нужной VLAN</a:t>
            </a:r>
          </a:p>
          <a:p>
            <a:pPr>
              <a:defRPr sz="3600"/>
            </a:pPr>
            <a:r>
              <a:t>Если все четыре проверки согласованы, проблема обычно находится выше канального уровня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ситуации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Порт notconnect: проверить кабель, розетку, питание устройства и порт на другой стороне</a:t>
            </a:r>
          </a:p>
          <a:p>
            <a:pPr>
              <a:defRPr sz="3600"/>
            </a:pPr>
            <a:r>
              <a:t>Порт connected, но нет MAC-адреса: проверить VLAN, клиентское устройство и наличие трафика</a:t>
            </a:r>
          </a:p>
          <a:p>
            <a:pPr>
              <a:defRPr sz="3600"/>
            </a:pPr>
            <a:r>
              <a:t>Растут CRC-ошибки: заменить патч-корд, проверить модуль, помехи и duplex</a:t>
            </a:r>
          </a:p>
          <a:p>
            <a:pPr>
              <a:defRPr sz="3600"/>
            </a:pPr>
            <a:r>
              <a:t>CDP показывает неожиданного соседа: сверить патч-панель, маркировку и схему подключения</a:t>
            </a:r>
          </a:p>
          <a:p>
            <a:pPr>
              <a:defRPr sz="3600"/>
            </a:pPr>
            <a:r>
              <a:t>Порт err-disabled: выяснить причину защиты и только потом включать порт обратно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оформить карту соседей после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таблицу заносят локальное устройство, локальный порт, соседнее устройство и соседний порт</a:t>
            </a:r>
          </a:p>
          <a:p>
            <a:pPr>
              <a:defRPr sz="3600"/>
            </a:pPr>
            <a:r>
              <a:t>Отдельно фиксируют протокол обнаружения: CDP, LLDP или оба протокола</a:t>
            </a:r>
          </a:p>
          <a:p>
            <a:pPr>
              <a:defRPr sz="3600"/>
            </a:pPr>
            <a:r>
              <a:t>Management IP соседа помогает быстро перейти к удаленной проверке устройства</a:t>
            </a:r>
          </a:p>
          <a:p>
            <a:pPr>
              <a:defRPr sz="3600"/>
            </a:pPr>
            <a:r>
              <a:t>Если сведения discovery не совпадают с кабельным журналом, приоритет имеет фактическая проверка</a:t>
            </a:r>
          </a:p>
          <a:p>
            <a:pPr>
              <a:defRPr sz="3600"/>
            </a:pPr>
            <a:r>
              <a:t>После исправления патчировки обновляют и схему, и description на интерфейсах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пользовательский порт не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Шаг 1: show interfaces status показывает, поднят ли порт физически</a:t>
            </a:r>
          </a:p>
          <a:p>
            <a:pPr>
              <a:defRPr sz="3600"/>
            </a:pPr>
            <a:r>
              <a:t>Шаг 2: show interfaces counters errors проверяет, нет ли ошибок кабеля или duplex</a:t>
            </a:r>
          </a:p>
          <a:p>
            <a:pPr>
              <a:defRPr sz="3600"/>
            </a:pPr>
            <a:r>
              <a:t>Шаг 3: show vlan brief подтверждает, что порт находится в нужной VLAN</a:t>
            </a:r>
          </a:p>
          <a:p>
            <a:pPr>
              <a:defRPr sz="3600"/>
            </a:pPr>
            <a:r>
              <a:t>Шаг 4: show mac address-table interface gigabitEthernet0/10 показывает, изучен ли MAC клиента</a:t>
            </a:r>
          </a:p>
          <a:p>
            <a:pPr>
              <a:defRPr sz="3600"/>
            </a:pPr>
            <a:r>
              <a:t>Вывод: если L1 и L2 исправны, дальнейшую диагностику переносят на IP-уровень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CDP и LLDP помогают быстро восстановить карту соседних устройств, но раскрывают чувствительную информацию</a:t>
            </a:r>
          </a:p>
          <a:p>
            <a:pPr>
              <a:defRPr sz="3600"/>
            </a:pPr>
            <a:r>
              <a:t>Диагностика канала начинается с физического состояния интерфейса, а не с IP-настроек</a:t>
            </a:r>
          </a:p>
          <a:p>
            <a:pPr>
              <a:defRPr sz="3600"/>
            </a:pPr>
            <a:r>
              <a:t>Speed/duplex mismatch и рост ошибок интерфейса указывают на проблему L1 или L2</a:t>
            </a:r>
          </a:p>
          <a:p>
            <a:pPr>
              <a:defRPr sz="3600"/>
            </a:pPr>
            <a:r>
              <a:t>CAM-таблица показывает, какие MAC-адреса коммутатор изучил в конкретной VLAN</a:t>
            </a:r>
          </a:p>
          <a:p>
            <a:pPr>
              <a:defRPr sz="3600"/>
            </a:pPr>
            <a:r>
              <a:t>Нормальная диагностика соединяет данные discovery, состояния порта, счетчиков ошибок и MAC-таблицы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CDP отличается от LLDP и почему LLDP удобен в смешанной сети?</a:t>
            </a:r>
          </a:p>
          <a:p>
            <a:pPr>
              <a:defRPr sz="3600"/>
            </a:pPr>
            <a:r>
              <a:t>Какие данные может раскрыть протокол обнаружения соседей на клиентском порту?</a:t>
            </a:r>
          </a:p>
          <a:p>
            <a:pPr>
              <a:defRPr sz="3600"/>
            </a:pPr>
            <a:r>
              <a:t>Почему диагностику сетевой проблемы нужно начинать с состояния интерфейса?</a:t>
            </a:r>
          </a:p>
          <a:p>
            <a:pPr>
              <a:defRPr sz="3600"/>
            </a:pPr>
            <a:r>
              <a:t>Что означает err-disabled и почему нельзя просто включать порт без анализа причины?</a:t>
            </a:r>
          </a:p>
          <a:p>
            <a:pPr>
              <a:defRPr sz="3600"/>
            </a:pPr>
            <a:r>
              <a:t>Какие признаки указывают на speed/duplex mismatch?</a:t>
            </a:r>
          </a:p>
          <a:p>
            <a:pPr>
              <a:defRPr sz="3600"/>
            </a:pPr>
            <a:r>
              <a:t>Как коммутатор заполняет CAM-таблицу?</a:t>
            </a:r>
          </a:p>
          <a:p>
            <a:pPr>
              <a:defRPr sz="3600"/>
            </a:pPr>
            <a:r>
              <a:t>Почему unknown unicast временно рассылается по портам VLAN?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1866</Words>
  <Application>Microsoft Office PowerPoint</Application>
  <PresentationFormat>Широкоэкранный</PresentationFormat>
  <Paragraphs>166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2026-07-26T08:44:20Z</dcterms:modified>
  <cp:category/>
</cp:coreProperties>
</file>